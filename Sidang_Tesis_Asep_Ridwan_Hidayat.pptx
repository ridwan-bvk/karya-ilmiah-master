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Proporsi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8FF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Surah Makki (86)</c:v>
                </c:pt>
                <c:pt idx="1">
                  <c:v>Surah Madani (28)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</c:v>
                </c:pt>
                <c:pt idx="1">
                  <c:v>28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8CDE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Perbandingan C_V Coherence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C_V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A3C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BERTopic</c:v>
                  </c:pt>
                  <c:pt idx="1">
                    <c:v>CTM (K=14)</c:v>
                  </c:pt>
                  <c:pt idx="2">
                    <c:v>LDA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0.5735</c:v>
                </c:pt>
                <c:pt idx="1">
                  <c:v>0.5</c:v>
                </c:pt>
                <c:pt idx="2">
                  <c:v>0.45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D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4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D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Distribusi Topik (%)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4E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DD9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C85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4ED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A3C7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Aqidah &amp; Tauhid</c:v>
                  </c:pt>
                  <c:pt idx="1">
                    <c:v>Eskatologi</c:v>
                  </c:pt>
                  <c:pt idx="2">
                    <c:v>Kenabian &amp; Risalah</c:v>
                  </c:pt>
                  <c:pt idx="3">
                    <c:v>Akhlak &amp; Moral</c:v>
                  </c:pt>
                  <c:pt idx="4">
                    <c:v>Fenomena Alam</c:v>
                  </c:pt>
                  <c:pt idx="5">
                    <c:v>Syariah &amp; Hukum</c:v>
                  </c:pt>
                  <c:pt idx="6">
                    <c:v>Sejarah &amp; Kisah</c:v>
                  </c:pt>
                  <c:pt idx="7">
                    <c:v>Muamalah</c:v>
                  </c:pt>
                  <c:pt idx="8">
                    <c:v>Psikologi &amp; Jiwa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18.5</c:v>
                </c:pt>
                <c:pt idx="1">
                  <c:v>16.2</c:v>
                </c:pt>
                <c:pt idx="2">
                  <c:v>13.8</c:v>
                </c:pt>
                <c:pt idx="3">
                  <c:v>12.5</c:v>
                </c:pt>
                <c:pt idx="4">
                  <c:v>10.3</c:v>
                </c:pt>
                <c:pt idx="5">
                  <c:v>9.8</c:v>
                </c:pt>
                <c:pt idx="6">
                  <c:v>7.9</c:v>
                </c:pt>
                <c:pt idx="7">
                  <c:v>6.2</c:v>
                </c:pt>
                <c:pt idx="8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CD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1C34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D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4ED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4ED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4E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" y="3657600"/>
            <a:ext cx="1371600" cy="13716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4E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137160"/>
            <a:ext cx="1554480" cy="1554480"/>
          </a:xfrm>
          <a:prstGeom prst="ellipse">
            <a:avLst/>
          </a:prstGeom>
          <a:solidFill>
            <a:srgbClr val="1E4ED8">
              <a:alpha val="20000"/>
            </a:srgbClr>
          </a:solidFill>
          <a:ln w="12700">
            <a:solidFill>
              <a:srgbClr val="00C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8229600" cy="22860"/>
          </a:xfrm>
          <a:prstGeom prst="rect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64008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228600"/>
            <a:ext cx="1371600" cy="1371600"/>
          </a:xfrm>
          <a:prstGeom prst="ellipse">
            <a:avLst/>
          </a:prstGeom>
          <a:solidFill>
            <a:srgbClr val="142847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58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0" y="22860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1E4ED8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46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Tesis ● 18 Juni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17830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Pemodelan Topik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" y="233172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Terjemahan Al-Qur'an Bahasa Indonesia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2880360"/>
            <a:ext cx="685800" cy="320040"/>
          </a:xfrm>
          <a:prstGeom prst="roundRect">
            <a:avLst>
              <a:gd name="adj" fmla="val 11429"/>
            </a:avLst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288036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898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291840"/>
            <a:ext cx="7955280" cy="18288"/>
          </a:xfrm>
          <a:prstGeom prst="rect">
            <a:avLst/>
          </a:prstGeom>
          <a:solidFill>
            <a:srgbClr val="8BA3C7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015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ASEP RIDWAN HIDAYAT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373075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NIM: 231012050036  ●  Program Studi Teknik Informatika S-2  ●  Program Pascasarjana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0416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Pembimbing I: Dr. Sajarwo Anggai, S.ST., M.T.   |   Pembimbing II: Dr. Arya Adhyaksa Waskita, S.Si., M.Si.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C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  ●  TANGERANG SELATAN  ●  2026</a:t>
            </a:r>
            <a:endParaRPr lang="en-US" sz="9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Sidang Tesis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8892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207008"/>
            <a:ext cx="438912" cy="43891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120700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719072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Motivasi &amp; urgensi penelitian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278892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" y="2468880"/>
            <a:ext cx="438912" cy="43891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2468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2468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2980944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&amp; batasan masalah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621024"/>
            <a:ext cx="278892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3730752"/>
            <a:ext cx="438912" cy="43891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3730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" y="37307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&amp; Manfaat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4242816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penelitian &amp; kontribusi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64408" y="1097280"/>
            <a:ext cx="278892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74136" y="1207008"/>
            <a:ext cx="438912" cy="43891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3374136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120700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74136" y="1719072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rancangan penelitian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2359152"/>
            <a:ext cx="278892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74136" y="2468880"/>
            <a:ext cx="438912" cy="43891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3374136" y="2468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2468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74136" y="2980944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 &amp; tahapan teks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3621024"/>
            <a:ext cx="278892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74136" y="3730752"/>
            <a:ext cx="438912" cy="43891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3374136" y="3730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86200" y="37307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Pemodelan CTM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74136" y="4242816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&amp; hasil CTM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08776" y="1097280"/>
            <a:ext cx="278892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18504" y="1207008"/>
            <a:ext cx="438912" cy="43891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37" name="Text 35"/>
          <p:cNvSpPr/>
          <p:nvPr/>
        </p:nvSpPr>
        <p:spPr>
          <a:xfrm>
            <a:off x="6318504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30568" y="120700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Pemodelan BERTopic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18504" y="1719072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hasil BERTopic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08776" y="2359152"/>
            <a:ext cx="278892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18504" y="2468880"/>
            <a:ext cx="438912" cy="43891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42" name="Text 40"/>
          <p:cNvSpPr/>
          <p:nvPr/>
        </p:nvSpPr>
        <p:spPr>
          <a:xfrm>
            <a:off x="6318504" y="2468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30568" y="2468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Evaluasi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18504" y="2980944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koherensi &amp; perbandingan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08776" y="3621024"/>
            <a:ext cx="278892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18504" y="3730752"/>
            <a:ext cx="438912" cy="43891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47" name="Text 45"/>
          <p:cNvSpPr/>
          <p:nvPr/>
        </p:nvSpPr>
        <p:spPr>
          <a:xfrm>
            <a:off x="6318504" y="3730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30568" y="37307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Saran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18504" y="4242816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utama &amp; rekomendasi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LATAR BELAKANG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Penelitian Ini Penting?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170432"/>
          </a:xfrm>
          <a:prstGeom prst="rect">
            <a:avLst/>
          </a:prstGeom>
          <a:solidFill>
            <a:srgbClr val="1428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16128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Keagamaan Kompleks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6916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6.236 ayat dengan nuansa linguistik teologis yang padat makna dan interpretatif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" y="2350008"/>
            <a:ext cx="4114800" cy="1170432"/>
          </a:xfrm>
          <a:prstGeom prst="rect">
            <a:avLst/>
          </a:prstGeom>
          <a:solidFill>
            <a:srgbClr val="14284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4871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245973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Klasik Terbatas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5488" y="29900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&amp; NMF berbasis bag-of-words, mengabaikan konteks semantik antar kata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" y="3648456"/>
            <a:ext cx="4114800" cy="1170432"/>
          </a:xfrm>
          <a:prstGeom prst="rect">
            <a:avLst/>
          </a:prstGeom>
          <a:solidFill>
            <a:srgbClr val="14284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785616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7581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NLP Modern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5488" y="428853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BERT-based models (CTM &amp; BERTopic) mampu menangkap konteks kalimat secara bidirectional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709160" y="1051560"/>
            <a:ext cx="41148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709160" y="112471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6.236</a:t>
            </a:r>
            <a:endParaRPr lang="en-US" sz="3600" dirty="0"/>
          </a:p>
        </p:txBody>
      </p:sp>
      <p:sp>
        <p:nvSpPr>
          <p:cNvPr id="19" name="Text 14"/>
          <p:cNvSpPr/>
          <p:nvPr/>
        </p:nvSpPr>
        <p:spPr>
          <a:xfrm>
            <a:off x="4709160" y="1801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Ayat Al-Qur'an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2350008"/>
            <a:ext cx="41148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709160" y="242316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4709160" y="30998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Surah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3648456"/>
            <a:ext cx="41148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4D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709160" y="372160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77.439</a:t>
            </a:r>
            <a:endParaRPr lang="en-US" sz="3600" dirty="0"/>
          </a:p>
        </p:txBody>
      </p:sp>
      <p:sp>
        <p:nvSpPr>
          <p:cNvPr id="25" name="Text 20"/>
          <p:cNvSpPr/>
          <p:nvPr/>
        </p:nvSpPr>
        <p:spPr>
          <a:xfrm>
            <a:off x="4709160" y="43982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(Terjemahan ID)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Kementerian Agama RI – Al-Qur'an Terjemahan Bahasa Indonesia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PERMASALAHAN PENELITIAN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&amp; Rumusan Masalah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64008" cy="3474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MASALAH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31920" cy="960120"/>
          </a:xfrm>
          <a:prstGeom prst="rect">
            <a:avLst/>
          </a:prstGeom>
          <a:solidFill>
            <a:srgbClr val="1428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49047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terjemahan Al-Qur'an memiliki kompleksitas linguistik tinggi yang menyulitkan pemodelan semantik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3931920" cy="960120"/>
          </a:xfrm>
          <a:prstGeom prst="rect">
            <a:avLst/>
          </a:prstGeom>
          <a:solidFill>
            <a:srgbClr val="1428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87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258775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&amp; BERTopic memiliki keterbatasan berbeda: performa, komputasi, dan interpretabilitas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3931920" cy="960120"/>
          </a:xfrm>
          <a:prstGeom prst="rect">
            <a:avLst/>
          </a:prstGeom>
          <a:solidFill>
            <a:srgbClr val="1428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685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368503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perbandingan komprehensif kedua metode pada korpus teks religius bahasa Indonesia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417320"/>
            <a:ext cx="4023360" cy="777240"/>
          </a:xfrm>
          <a:prstGeom prst="rect">
            <a:avLst/>
          </a:prstGeom>
          <a:solidFill>
            <a:srgbClr val="14284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1508760"/>
            <a:ext cx="384048" cy="384048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14904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membangun model CTM &amp; BERTopic untuk teks terjemahan Al-Qur'an?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295144"/>
            <a:ext cx="4023360" cy="777240"/>
          </a:xfrm>
          <a:prstGeom prst="rect">
            <a:avLst/>
          </a:prstGeom>
          <a:solidFill>
            <a:srgbClr val="14284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386584"/>
            <a:ext cx="384048" cy="384048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3682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mengukur kualitas topik berdasarkan metrik koherensi (C_V, UMass, NPMI)?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172968"/>
            <a:ext cx="4023360" cy="777240"/>
          </a:xfrm>
          <a:prstGeom prst="rect">
            <a:avLst/>
          </a:prstGeom>
          <a:solidFill>
            <a:srgbClr val="14284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264408"/>
            <a:ext cx="384048" cy="384048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246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menginterpretasikan &amp; mengelompokkan tema dari kedua metode?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4050792"/>
            <a:ext cx="4023360" cy="777240"/>
          </a:xfrm>
          <a:prstGeom prst="rect">
            <a:avLst/>
          </a:prstGeom>
          <a:solidFill>
            <a:srgbClr val="14284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4142232"/>
            <a:ext cx="384048" cy="384048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412394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tema utama yang terbentuk dari hasil kedua model pada terjemahan Al-Qur'an?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TUJUAN &amp; MANFAAT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Goals &amp; Kontribusi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PENELITIAN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11480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96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4996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Efektivitas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9568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efektivitas CTM &amp; BERTopic dalam pemodelan topik teks terjemahan Al-Qur'an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596896"/>
            <a:ext cx="411480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66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7066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Kemampuan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316382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kemampuan kedua metode dalam menangkap konteks &amp; tema utama Al-Qur'an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" y="3803904"/>
            <a:ext cx="4114800" cy="1097280"/>
          </a:xfrm>
          <a:prstGeom prst="rect">
            <a:avLst/>
          </a:prstGeom>
          <a:solidFill>
            <a:srgbClr val="14284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3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9136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Evaluasi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43708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Merumuskan metode evaluasi yang tepat untuk menilai kualitas topik dalam konteks kajian Al-Qur'an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800600" y="1024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PENELITIAN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00600" y="1389888"/>
            <a:ext cx="402336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1389888"/>
            <a:ext cx="4023360" cy="320040"/>
          </a:xfrm>
          <a:prstGeom prst="rect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4892040" y="14264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92040" y="17739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Kontribusi ilmiah pemodelan topik berbasis konteks pada teks keagamaan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892040" y="2121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Referensi penelitian NLP pada korpus bahasa Indonesia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800600" y="2596896"/>
            <a:ext cx="402336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00600" y="2596896"/>
            <a:ext cx="4023360" cy="320040"/>
          </a:xfrm>
          <a:prstGeom prst="rect">
            <a:avLst/>
          </a:prstGeom>
          <a:solidFill>
            <a:srgbClr val="F5A623">
              <a:alpha val="3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4892040" y="2633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892040" y="2980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Mempermudah pemahaman struktur tematik Al-Qur'an secara sistematis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892040" y="33284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Mendukung kajian tafsir dengan pendekatan teknologi informasi modern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800600" y="3803904"/>
            <a:ext cx="402336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4D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800600" y="3803904"/>
            <a:ext cx="4023360" cy="320040"/>
          </a:xfrm>
          <a:prstGeom prst="rect">
            <a:avLst/>
          </a:prstGeom>
          <a:solidFill>
            <a:srgbClr val="4DD9FF">
              <a:alpha val="30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4892040" y="3840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892040" y="4187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Referensi pengembangan aplikasi pencarian ayat berbasis tema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892040" y="4535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Dasar sistem analisis tematik teks religius digital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METODOLOGI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Pipeline – AI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" y="1143000"/>
            <a:ext cx="1325880" cy="2743200"/>
          </a:xfrm>
          <a:prstGeom prst="rect">
            <a:avLst/>
          </a:prstGeom>
          <a:solidFill>
            <a:srgbClr val="142847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1143000"/>
            <a:ext cx="132588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98448"/>
            <a:ext cx="411480" cy="411480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470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" y="29992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Al-Qur'an 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6.236 ayat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463040" y="2450592"/>
            <a:ext cx="182880" cy="54864"/>
          </a:xfrm>
          <a:prstGeom prst="rect">
            <a:avLst/>
          </a:prstGeom>
          <a:solidFill>
            <a:srgbClr val="1E4ED8"/>
          </a:solidFill>
          <a:ln/>
        </p:spPr>
      </p:sp>
      <p:sp>
        <p:nvSpPr>
          <p:cNvPr id="13" name="Shape 10"/>
          <p:cNvSpPr/>
          <p:nvPr/>
        </p:nvSpPr>
        <p:spPr>
          <a:xfrm>
            <a:off x="1645920" y="1143000"/>
            <a:ext cx="1325880" cy="2743200"/>
          </a:xfrm>
          <a:prstGeom prst="rect">
            <a:avLst/>
          </a:prstGeom>
          <a:solidFill>
            <a:srgbClr val="14284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645920" y="1143000"/>
            <a:ext cx="132588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2"/>
          <p:cNvSpPr/>
          <p:nvPr/>
        </p:nvSpPr>
        <p:spPr>
          <a:xfrm>
            <a:off x="2103120" y="1298448"/>
            <a:ext cx="411480" cy="41148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0312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184708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4592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645920" y="29992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Folding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NLTK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971800" y="2450592"/>
            <a:ext cx="182880" cy="54864"/>
          </a:xfrm>
          <a:prstGeom prst="rect">
            <a:avLst/>
          </a:prstGeom>
          <a:solidFill>
            <a:srgbClr val="1E4ED8"/>
          </a:solidFill>
          <a:ln/>
        </p:spPr>
      </p:sp>
      <p:sp>
        <p:nvSpPr>
          <p:cNvPr id="21" name="Shape 17"/>
          <p:cNvSpPr/>
          <p:nvPr/>
        </p:nvSpPr>
        <p:spPr>
          <a:xfrm>
            <a:off x="3154680" y="1143000"/>
            <a:ext cx="1325880" cy="2743200"/>
          </a:xfrm>
          <a:prstGeom prst="rect">
            <a:avLst/>
          </a:prstGeom>
          <a:solidFill>
            <a:srgbClr val="142847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154680" y="1143000"/>
            <a:ext cx="132588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1880" y="1298448"/>
            <a:ext cx="411480" cy="411480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1188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184708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15468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154680" y="29992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4480560" y="2450592"/>
            <a:ext cx="182880" cy="54864"/>
          </a:xfrm>
          <a:prstGeom prst="rect">
            <a:avLst/>
          </a:prstGeom>
          <a:solidFill>
            <a:srgbClr val="1E4ED8"/>
          </a:solidFill>
          <a:ln/>
        </p:spPr>
      </p:sp>
      <p:sp>
        <p:nvSpPr>
          <p:cNvPr id="29" name="Shape 24"/>
          <p:cNvSpPr/>
          <p:nvPr/>
        </p:nvSpPr>
        <p:spPr>
          <a:xfrm>
            <a:off x="4663440" y="1143000"/>
            <a:ext cx="1325880" cy="2743200"/>
          </a:xfrm>
          <a:prstGeom prst="rect">
            <a:avLst/>
          </a:prstGeom>
          <a:solidFill>
            <a:srgbClr val="142847"/>
          </a:solidFill>
          <a:ln w="19050">
            <a:solidFill>
              <a:srgbClr val="1E4E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663440" y="1143000"/>
            <a:ext cx="1325880" cy="73152"/>
          </a:xfrm>
          <a:prstGeom prst="rect">
            <a:avLst/>
          </a:prstGeom>
          <a:solidFill>
            <a:srgbClr val="1E4ED8"/>
          </a:solidFill>
          <a:ln/>
        </p:spPr>
      </p:sp>
      <p:sp>
        <p:nvSpPr>
          <p:cNvPr id="31" name="Shape 26"/>
          <p:cNvSpPr/>
          <p:nvPr/>
        </p:nvSpPr>
        <p:spPr>
          <a:xfrm>
            <a:off x="5120640" y="1298448"/>
            <a:ext cx="411480" cy="411480"/>
          </a:xfrm>
          <a:prstGeom prst="ellipse">
            <a:avLst/>
          </a:prstGeom>
          <a:solidFill>
            <a:srgbClr val="1E4ED8">
              <a:alpha val="80000"/>
            </a:srgbClr>
          </a:solidFill>
          <a:ln w="12700">
            <a:solidFill>
              <a:srgbClr val="1E4ED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12064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847088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66344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663440" y="29992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+ BERTopic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989320" y="2450592"/>
            <a:ext cx="182880" cy="54864"/>
          </a:xfrm>
          <a:prstGeom prst="rect">
            <a:avLst/>
          </a:prstGeom>
          <a:solidFill>
            <a:srgbClr val="1E4ED8"/>
          </a:solidFill>
          <a:ln/>
        </p:spPr>
      </p:sp>
      <p:sp>
        <p:nvSpPr>
          <p:cNvPr id="37" name="Shape 31"/>
          <p:cNvSpPr/>
          <p:nvPr/>
        </p:nvSpPr>
        <p:spPr>
          <a:xfrm>
            <a:off x="6172200" y="1143000"/>
            <a:ext cx="1325880" cy="2743200"/>
          </a:xfrm>
          <a:prstGeom prst="rect">
            <a:avLst/>
          </a:prstGeom>
          <a:solidFill>
            <a:srgbClr val="14284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172200" y="1143000"/>
            <a:ext cx="132588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Shape 33"/>
          <p:cNvSpPr/>
          <p:nvPr/>
        </p:nvSpPr>
        <p:spPr>
          <a:xfrm>
            <a:off x="6629400" y="1298448"/>
            <a:ext cx="411480" cy="41148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62940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1847088"/>
            <a:ext cx="457200" cy="4572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17220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6172200" y="29992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C_V NPMI UMass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7498080" y="2450592"/>
            <a:ext cx="182880" cy="54864"/>
          </a:xfrm>
          <a:prstGeom prst="rect">
            <a:avLst/>
          </a:prstGeom>
          <a:solidFill>
            <a:srgbClr val="1E4ED8"/>
          </a:solidFill>
          <a:ln/>
        </p:spPr>
      </p:sp>
      <p:sp>
        <p:nvSpPr>
          <p:cNvPr id="45" name="Shape 38"/>
          <p:cNvSpPr/>
          <p:nvPr/>
        </p:nvSpPr>
        <p:spPr>
          <a:xfrm>
            <a:off x="7680960" y="1143000"/>
            <a:ext cx="1325880" cy="2743200"/>
          </a:xfrm>
          <a:prstGeom prst="rect">
            <a:avLst/>
          </a:prstGeom>
          <a:solidFill>
            <a:srgbClr val="142847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7680960" y="1143000"/>
            <a:ext cx="132588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7" name="Shape 40"/>
          <p:cNvSpPr/>
          <p:nvPr/>
        </p:nvSpPr>
        <p:spPr>
          <a:xfrm>
            <a:off x="8138160" y="1298448"/>
            <a:ext cx="411480" cy="411480"/>
          </a:xfrm>
          <a:prstGeom prst="ellipse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13816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1847088"/>
            <a:ext cx="457200" cy="4572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680960" y="2423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7680960" y="299923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94360" y="42062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Library:  Python  ●  Sentence-Transformers  ●  BERTopic  ●  Contextualized-Topic-Models  ●  UMAP  ●  HDBSCAN  ●  Gensim  ●  Pandas  ●  Plotly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DATASET PENELITIAN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Terjemahan Al-Qur'an Bahasa Indonesia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20240" cy="10515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6.236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Ayat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024128"/>
            <a:ext cx="1920240" cy="1051560"/>
          </a:xfrm>
          <a:prstGeom prst="rect">
            <a:avLst/>
          </a:prstGeom>
          <a:solidFill>
            <a:srgbClr val="0A162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789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81144" y="1024128"/>
            <a:ext cx="1920240" cy="1051560"/>
          </a:xfrm>
          <a:prstGeom prst="rect">
            <a:avLst/>
          </a:prstGeom>
          <a:solidFill>
            <a:srgbClr val="0A1628"/>
          </a:solidFill>
          <a:ln w="19050">
            <a:solidFill>
              <a:srgbClr val="4D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81144" y="10789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77.439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81144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11696" y="1024128"/>
            <a:ext cx="1920240" cy="1051560"/>
          </a:xfrm>
          <a:prstGeom prst="rect">
            <a:avLst/>
          </a:prstGeom>
          <a:solidFill>
            <a:srgbClr val="0A1628"/>
          </a:solidFill>
          <a:ln w="19050">
            <a:solidFill>
              <a:srgbClr val="FFC8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11696" y="10789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18.742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11696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Kosakata Unik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2402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Dataset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33472"/>
          <a:ext cx="50292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Deskripsi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Nomor surah (1–114)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Nomor ayat dalam surah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teks_arab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asli bahasa Arab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terjemahan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Terjemahan bahasa Indonesia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Nomor juz (1–30)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0" descr=""/>
          <p:cNvGraphicFramePr/>
          <p:nvPr/>
        </p:nvGraphicFramePr>
        <p:xfrm>
          <a:off x="5486400" y="2176272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6"/>
          <p:cNvSpPr/>
          <p:nvPr/>
        </p:nvSpPr>
        <p:spPr>
          <a:xfrm>
            <a:off x="548640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Makki / Madani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Q.S. Al-Baqarah:1 → 'Alif Lam Mim' | Q.S. Al-Ikhlas:1 → 'Katakanlah (Muhammad), Dialah Allah, Yang Maha Esa'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PREPROCESSING TEKS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 Text Preprocessing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554480" cy="274320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1234440"/>
            <a:ext cx="411480" cy="41148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Folding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2585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simbol &amp; angka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898648"/>
            <a:ext cx="1463040" cy="841248"/>
          </a:xfrm>
          <a:prstGeom prst="rect">
            <a:avLst/>
          </a:prstGeom>
          <a:solidFill>
            <a:srgbClr val="0A1628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3522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'Dia ALLAH' → 'dia allah'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74520" y="2377440"/>
            <a:ext cx="146304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020824" y="1143000"/>
            <a:ext cx="1554480" cy="274320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87752" y="1234440"/>
            <a:ext cx="411480" cy="41148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2587752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20824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20824" y="22585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per kata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(word tokens)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66544" y="2898648"/>
            <a:ext cx="1463040" cy="841248"/>
          </a:xfrm>
          <a:prstGeom prst="rect">
            <a:avLst/>
          </a:prstGeom>
          <a:solidFill>
            <a:srgbClr val="0A1628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12264" y="293522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'dia allah' → ['dia','allah']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575304" y="2377440"/>
            <a:ext cx="146304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721608" y="1143000"/>
            <a:ext cx="1554480" cy="274320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88536" y="1234440"/>
            <a:ext cx="411480" cy="41148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4288536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21608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21608" y="22585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kata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bermakna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67328" y="2898648"/>
            <a:ext cx="1463040" cy="841248"/>
          </a:xfrm>
          <a:prstGeom prst="rect">
            <a:avLst/>
          </a:prstGeom>
          <a:solidFill>
            <a:srgbClr val="0A1628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13048" y="293522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['yang','di','ke'] dihapus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276088" y="2377440"/>
            <a:ext cx="146304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22392" y="1143000"/>
            <a:ext cx="1554480" cy="274320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1234440"/>
            <a:ext cx="411480" cy="41148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22392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22392" y="22585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dasar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(Sastrawi/NLTK)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68112" y="2898648"/>
            <a:ext cx="1463040" cy="841248"/>
          </a:xfrm>
          <a:prstGeom prst="rect">
            <a:avLst/>
          </a:prstGeom>
          <a:solidFill>
            <a:srgbClr val="0A1628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293522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'berlaku' → 'laku'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76872" y="2377440"/>
            <a:ext cx="146304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23176" y="1143000"/>
            <a:ext cx="1554480" cy="274320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690104" y="1234440"/>
            <a:ext cx="411480" cy="41148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39" name="Text 37"/>
          <p:cNvSpPr/>
          <p:nvPr/>
        </p:nvSpPr>
        <p:spPr>
          <a:xfrm>
            <a:off x="7690104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23176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23176" y="22585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kata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168896" y="2898648"/>
            <a:ext cx="1463040" cy="841248"/>
          </a:xfrm>
          <a:prstGeom prst="rect">
            <a:avLst/>
          </a:prstGeom>
          <a:solidFill>
            <a:srgbClr val="0A1628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14616" y="293522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'berlari' → 'lari'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0040" y="4041648"/>
            <a:ext cx="85039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Preprocessing: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423160" y="4133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Advanced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20640" y="41330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Reduksi Kosakata: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46520" y="4133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83.75%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49440" y="41330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Preservasi Makna: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75320" y="41330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73.20%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Keseimbangan terbaik antara reduksi noise dan preservasi makna semantik teks Al-Qur'an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CORRELATED TOPIC MODEL (CTM)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&amp; Pipeline CTM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1371600" cy="2011680"/>
          </a:xfrm>
          <a:prstGeom prst="rect">
            <a:avLst/>
          </a:prstGeom>
          <a:solidFill>
            <a:srgbClr val="142847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1371600" cy="6400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234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81051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6.236 ayat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Al-Qur'an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2029968"/>
            <a:ext cx="320040" cy="45720"/>
          </a:xfrm>
          <a:prstGeom prst="rect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1097280"/>
            <a:ext cx="1371600" cy="2011680"/>
          </a:xfrm>
          <a:prstGeom prst="rect">
            <a:avLst/>
          </a:prstGeom>
          <a:solidFill>
            <a:srgbClr val="142847"/>
          </a:solidFill>
          <a:ln w="19050">
            <a:solidFill>
              <a:srgbClr val="1E4E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91640" y="1097280"/>
            <a:ext cx="1371600" cy="64008"/>
          </a:xfrm>
          <a:prstGeom prst="rect">
            <a:avLst/>
          </a:prstGeom>
          <a:solidFill>
            <a:srgbClr val="1E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1234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181051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2029968"/>
            <a:ext cx="320040" cy="45720"/>
          </a:xfrm>
          <a:prstGeom prst="rect">
            <a:avLst/>
          </a:prstGeom>
          <a:solidFill>
            <a:srgbClr val="1E4ED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1097280"/>
            <a:ext cx="1371600" cy="2011680"/>
          </a:xfrm>
          <a:prstGeom prst="rect">
            <a:avLst/>
          </a:prstGeom>
          <a:solidFill>
            <a:srgbClr val="14284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13716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234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81051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Matrix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029968"/>
            <a:ext cx="320040" cy="45720"/>
          </a:xfrm>
          <a:prstGeom prst="rect">
            <a:avLst/>
          </a:prstGeom>
          <a:solidFill>
            <a:srgbClr val="F5A623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1097280"/>
            <a:ext cx="1371600" cy="2011680"/>
          </a:xfrm>
          <a:prstGeom prst="rect">
            <a:avLst/>
          </a:prstGeom>
          <a:solidFill>
            <a:srgbClr val="142847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97280"/>
            <a:ext cx="1371600" cy="6400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234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81051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Network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2029968"/>
            <a:ext cx="320040" cy="45720"/>
          </a:xfrm>
          <a:prstGeom prst="rect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097280"/>
            <a:ext cx="1371600" cy="2011680"/>
          </a:xfrm>
          <a:prstGeom prst="rect">
            <a:avLst/>
          </a:prstGeom>
          <a:solidFill>
            <a:srgbClr val="142847"/>
          </a:solidFill>
          <a:ln w="19050">
            <a:solidFill>
              <a:srgbClr val="1E4E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097280"/>
            <a:ext cx="1371600" cy="64008"/>
          </a:xfrm>
          <a:prstGeom prst="rect">
            <a:avLst/>
          </a:prstGeom>
          <a:solidFill>
            <a:srgbClr val="1E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234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181051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Correlation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89520" y="2029968"/>
            <a:ext cx="320040" cy="45720"/>
          </a:xfrm>
          <a:prstGeom prst="rect">
            <a:avLst/>
          </a:prstGeom>
          <a:solidFill>
            <a:srgbClr val="1E4ED8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726680" y="1097280"/>
            <a:ext cx="1371600" cy="2011680"/>
          </a:xfrm>
          <a:prstGeom prst="rect">
            <a:avLst/>
          </a:prstGeom>
          <a:solidFill>
            <a:srgbClr val="14284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26680" y="1097280"/>
            <a:ext cx="13716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1234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26680" y="181051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K=14 Topics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Dist.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3310128"/>
            <a:ext cx="5303520" cy="91440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Generative Process: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3703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ηd ~ N(μ, Σ)  →  θd = softmax(ηd)  →  zd,n ~ Multinomial(θd)  →  wd,n ~ Multinomial(βzd,n)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60720" y="3310128"/>
            <a:ext cx="3200400" cy="914400"/>
          </a:xfrm>
          <a:prstGeom prst="rect">
            <a:avLst/>
          </a:prstGeom>
          <a:solidFill>
            <a:srgbClr val="1428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Optimal CTM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37033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Topik = 14  (Composite Score Terbaik)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3931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 Optimal | Topic Diversity: 0.82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BERTOPIC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Neural Topic Modeling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1572768" cy="1755648"/>
          </a:xfrm>
          <a:prstGeom prst="rect">
            <a:avLst/>
          </a:prstGeom>
          <a:solidFill>
            <a:srgbClr val="142847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1572768" cy="6400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0700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73736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1901952"/>
            <a:ext cx="347472" cy="45720"/>
          </a:xfrm>
          <a:prstGeom prst="rect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20240" y="1078992"/>
            <a:ext cx="1572768" cy="1755648"/>
          </a:xfrm>
          <a:prstGeom prst="rect">
            <a:avLst/>
          </a:prstGeom>
          <a:solidFill>
            <a:srgbClr val="142847"/>
          </a:solidFill>
          <a:ln w="19050">
            <a:solidFill>
              <a:srgbClr val="1E4E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078992"/>
            <a:ext cx="1572768" cy="64008"/>
          </a:xfrm>
          <a:prstGeom prst="rect">
            <a:avLst/>
          </a:prstGeom>
          <a:solidFill>
            <a:srgbClr val="1E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20700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173736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384→5 dim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Manifold Learn.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93008" y="1901952"/>
            <a:ext cx="347472" cy="45720"/>
          </a:xfrm>
          <a:prstGeom prst="rect">
            <a:avLst/>
          </a:prstGeom>
          <a:solidFill>
            <a:srgbClr val="1E4ED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11880" y="1078992"/>
            <a:ext cx="1572768" cy="1755648"/>
          </a:xfrm>
          <a:prstGeom prst="rect">
            <a:avLst/>
          </a:prstGeom>
          <a:solidFill>
            <a:srgbClr val="14284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11880" y="1078992"/>
            <a:ext cx="1572768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20700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173736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84648" y="1901952"/>
            <a:ext cx="347472" cy="45720"/>
          </a:xfrm>
          <a:prstGeom prst="rect">
            <a:avLst/>
          </a:prstGeom>
          <a:solidFill>
            <a:srgbClr val="F5A623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1078992"/>
            <a:ext cx="1572768" cy="1755648"/>
          </a:xfrm>
          <a:prstGeom prst="rect">
            <a:avLst/>
          </a:prstGeom>
          <a:solidFill>
            <a:srgbClr val="142847"/>
          </a:solidFill>
          <a:ln w="19050">
            <a:solidFill>
              <a:srgbClr val="4DD9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0" y="1078992"/>
            <a:ext cx="1572768" cy="64008"/>
          </a:xfrm>
          <a:prstGeom prst="rect">
            <a:avLst/>
          </a:prstGeom>
          <a:solidFill>
            <a:srgbClr val="4DD9FF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20700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c-TF-IDF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73736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76288" y="1901952"/>
            <a:ext cx="347472" cy="45720"/>
          </a:xfrm>
          <a:prstGeom prst="rect">
            <a:avLst/>
          </a:prstGeom>
          <a:solidFill>
            <a:srgbClr val="4DD9FF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95160" y="1078992"/>
            <a:ext cx="1572768" cy="1755648"/>
          </a:xfrm>
          <a:prstGeom prst="rect">
            <a:avLst/>
          </a:prstGeom>
          <a:solidFill>
            <a:srgbClr val="142847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1078992"/>
            <a:ext cx="1572768" cy="64008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20700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173736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Keywords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Topic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017520"/>
            <a:ext cx="3931920" cy="1783080"/>
          </a:xfrm>
          <a:prstGeom prst="rect">
            <a:avLst/>
          </a:prstGeom>
          <a:solidFill>
            <a:srgbClr val="1428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90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Optimal BERTopic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4930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min_topic_size: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77440" y="34930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3803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Model: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38039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paraphrase-multilingual-MiniLM-L12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n_neighbors: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4114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4256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min_cluster: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77440" y="44256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3017520"/>
            <a:ext cx="1417320" cy="17830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0" y="30906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C_V Coherence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0" y="34930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0.5735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0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&gt;0.5 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4572000"/>
            <a:ext cx="1143000" cy="164592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126480" y="3017520"/>
            <a:ext cx="1417320" cy="1783080"/>
          </a:xfrm>
          <a:prstGeom prst="rect">
            <a:avLst/>
          </a:prstGeom>
          <a:solidFill>
            <a:srgbClr val="0A162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26480" y="30906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NPMI Score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26480" y="34930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0.0530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126480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Positif ✓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4572000"/>
            <a:ext cx="1143000" cy="164592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80960" y="3017520"/>
            <a:ext cx="1417320" cy="1783080"/>
          </a:xfrm>
          <a:prstGeom prst="rect">
            <a:avLst/>
          </a:prstGeom>
          <a:solidFill>
            <a:srgbClr val="0A1628"/>
          </a:solidFill>
          <a:ln w="19050">
            <a:solidFill>
              <a:srgbClr val="4D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680960" y="30906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UMass Score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680960" y="34930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-5.3257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680960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818120" y="4572000"/>
            <a:ext cx="1143000" cy="164592"/>
          </a:xfrm>
          <a:prstGeom prst="rect">
            <a:avLst/>
          </a:prstGeom>
          <a:solidFill>
            <a:srgbClr val="4DD9FF">
              <a:alpha val="4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HASIL CTM – 14 TOPIK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&amp; Kategori Topik CTM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502920" cy="530352"/>
          </a:xfrm>
          <a:prstGeom prst="rect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" y="10424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Aqidah &amp; Tauhid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12984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allah, iman, tuhan, rasul, percaya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600200"/>
            <a:ext cx="502920" cy="530352"/>
          </a:xfrm>
          <a:prstGeom prst="rect">
            <a:avLst/>
          </a:prstGeom>
          <a:solidFill>
            <a:srgbClr val="F5A623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6002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6968" y="16367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Eskatologi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18928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hari, kiamat, bangkit, azab, surga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19456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94560"/>
            <a:ext cx="502920" cy="530352"/>
          </a:xfrm>
          <a:prstGeom prst="rect">
            <a:avLst/>
          </a:prstGeom>
          <a:solidFill>
            <a:srgbClr val="1E4ED8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1945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" y="22311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Akhlak &amp; Moral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" y="24871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baik, buruk, adil, sabar, taqwa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788920"/>
            <a:ext cx="502920" cy="530352"/>
          </a:xfrm>
          <a:prstGeom prst="rect">
            <a:avLst/>
          </a:prstGeom>
          <a:solidFill>
            <a:srgbClr val="4DD9FF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78892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" y="28254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Syariah &amp; Hukum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0815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halal, haram, wajib, shalat, zakat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383280"/>
            <a:ext cx="502920" cy="530352"/>
          </a:xfrm>
          <a:prstGeom prst="rect">
            <a:avLst/>
          </a:prstGeom>
          <a:solidFill>
            <a:srgbClr val="FFC851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3832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3419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Muamalah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6968" y="36758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jual, beli, utang, hak, masyarakat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97764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977640"/>
            <a:ext cx="502920" cy="530352"/>
          </a:xfrm>
          <a:prstGeom prst="rect">
            <a:avLst/>
          </a:prstGeom>
          <a:solidFill>
            <a:srgbClr val="8BA3C7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9776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6968" y="40142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Fenomena Alam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6968" y="42702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langit, bumi, hujan, bintang, laut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457200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572000"/>
            <a:ext cx="502920" cy="530352"/>
          </a:xfrm>
          <a:prstGeom prst="rect">
            <a:avLst/>
          </a:prstGeom>
          <a:solidFill>
            <a:srgbClr val="1E4ED8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5720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6968" y="46085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Sejarah &amp; Kisah Nabi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86968" y="48646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kaum, nabi, musa, ibrahim, firaun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100584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1005840"/>
            <a:ext cx="502920" cy="530352"/>
          </a:xfrm>
          <a:prstGeom prst="rect">
            <a:avLst/>
          </a:prstGeom>
          <a:solidFill>
            <a:srgbClr val="00C8FF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10058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21808" y="10424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 Pengetahuan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21808" y="12984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ilmu, akal, pikir, belajar, hikmah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160020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1600200"/>
            <a:ext cx="502920" cy="530352"/>
          </a:xfrm>
          <a:prstGeom prst="rect">
            <a:avLst/>
          </a:prstGeom>
          <a:solidFill>
            <a:srgbClr val="F5A623">
              <a:alpha val="3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16002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21808" y="16367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 Psikologis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21808" y="18928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hati, jiwa, rasa, takut, harap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219456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2194560"/>
            <a:ext cx="502920" cy="530352"/>
          </a:xfrm>
          <a:prstGeom prst="rect">
            <a:avLst/>
          </a:prstGeom>
          <a:solidFill>
            <a:srgbClr val="1E4ED8">
              <a:alpha val="3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21945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21808" y="22311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Ibadah &amp; Doa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21808" y="24871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shalat, doa, dzikir, malam, pagi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278892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2788920"/>
            <a:ext cx="502920" cy="530352"/>
          </a:xfrm>
          <a:prstGeom prst="rect">
            <a:avLst/>
          </a:prstGeom>
          <a:solidFill>
            <a:srgbClr val="4DD9FF">
              <a:alpha val="3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278892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21808" y="28254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 &amp; Kemanusiaan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21808" y="30815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umat, manusia, kaum, bangsa, suku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54880" y="338328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54880" y="3383280"/>
            <a:ext cx="502920" cy="530352"/>
          </a:xfrm>
          <a:prstGeom prst="rect">
            <a:avLst/>
          </a:prstGeom>
          <a:solidFill>
            <a:srgbClr val="FFC851">
              <a:alpha val="3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754880" y="33832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21808" y="3419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 &amp; Ancaman Allah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321808" y="36758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janji, azab, nikmat, siksa, pahala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54880" y="397764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54880" y="3977640"/>
            <a:ext cx="502920" cy="530352"/>
          </a:xfrm>
          <a:prstGeom prst="rect">
            <a:avLst/>
          </a:prstGeom>
          <a:solidFill>
            <a:srgbClr val="8BA3C7">
              <a:alpha val="3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4754880" y="39776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321808" y="40142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Kenabian &amp; Risalah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321808" y="42702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kitab, wahyu, quran, ayat, firman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754880" y="4572000"/>
            <a:ext cx="4206240" cy="530352"/>
          </a:xfrm>
          <a:prstGeom prst="rect">
            <a:avLst/>
          </a:prstGeom>
          <a:solidFill>
            <a:srgbClr val="142847"/>
          </a:solidFill>
          <a:ln w="6350">
            <a:solidFill>
              <a:srgbClr val="1C346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54880" y="4572000"/>
            <a:ext cx="502920" cy="530352"/>
          </a:xfrm>
          <a:prstGeom prst="rect">
            <a:avLst/>
          </a:prstGeom>
          <a:solidFill>
            <a:srgbClr val="1E4ED8">
              <a:alpha val="3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4754880" y="45720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321808" y="46085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Penciptaan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321808" y="48646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cipta, jadikan, buat, bentuk, rupa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PERBANDINGAN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vs BERTopic vs LDA – Analisis Komparatif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38404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965960"/>
                <a:gridCol w="19659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Representasi Teks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Bag-of-Words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C8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 + SBERT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SBERT Embedding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3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Korelasi Antar Topik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(Dirichlet)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C8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(Logistic Normal)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(Cluster)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Konteks Semantik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C8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(Transformer)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3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C_V Coherence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C8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Diversity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C8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3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C8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Sedang-Tinggi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Kompleksitas Komputasi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C8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3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Cocok untuk Teks Keagamaan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Terbatas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C8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Terbaik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BERTopic menunjukkan performa terbaik pada koherensi &amp; konteks semantik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EVALUASI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Metrics &amp; Model Performance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20240" cy="141732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C_V Coherence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(BERTopic)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0.5735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&gt;0.5 = Baik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024128"/>
            <a:ext cx="1920240" cy="1417320"/>
          </a:xfrm>
          <a:prstGeom prst="rect">
            <a:avLst/>
          </a:prstGeom>
          <a:solidFill>
            <a:srgbClr val="0A162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0972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NPMI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(BERTopic)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50592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2084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= Valid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1024128"/>
            <a:ext cx="1920240" cy="1417320"/>
          </a:xfrm>
          <a:prstGeom prst="rect">
            <a:avLst/>
          </a:prstGeom>
          <a:solidFill>
            <a:srgbClr val="0A1628"/>
          </a:solidFill>
          <a:ln w="19050">
            <a:solidFill>
              <a:srgbClr val="4D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81144" y="10972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UMass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D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(BERTopic)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81144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-5.3257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2084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11696" y="1024128"/>
            <a:ext cx="1920240" cy="1417320"/>
          </a:xfrm>
          <a:prstGeom prst="rect">
            <a:avLst/>
          </a:prstGeom>
          <a:solidFill>
            <a:srgbClr val="0A1628"/>
          </a:solidFill>
          <a:ln w="19050">
            <a:solidFill>
              <a:srgbClr val="FFC8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11696" y="10972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Topics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Optimal)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11696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11696" y="2084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Best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20040" y="260604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577840" y="2606040"/>
            <a:ext cx="3246120" cy="233172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267919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Penggabungan CTM + BERTopic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60720" y="299923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 Approach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60720" y="3337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Similarity range: 0.08 – 0.25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60720" y="37216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Tema akhir: 9 kategori utama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760720" y="41056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Aqidah &amp; Eskatologi → DOMINAN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CTM menghasilkan interpretabilitas topik yang lebih terstruktur; BERTopic unggul dalam koherensi semantik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DISTRIBUSI TEMA UTAMA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Tematik Terjemahan Al-Qur'an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005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Utama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444752"/>
            <a:ext cx="3154680" cy="100584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361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36208" y="151790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Aqidah &amp; Eskatologi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76072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DOMINAN dengan proporsi &gt;34% mencerminkan penekanan Al-Qur'an pada keimanan &amp; kehidupan akhirat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669280" y="2560320"/>
            <a:ext cx="3154680" cy="100584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6517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36208" y="2633472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Kategori Tematik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760720" y="3035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tematik komprehensif dari aspek spiritual, hukum, sosial, ilmu &amp; alam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669280" y="3675888"/>
            <a:ext cx="3154680" cy="100584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767328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36208" y="374904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760720" y="41513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0.08–0.25 menunjukkan kedua model saling melengkapi bukan tumpang tindih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KESIMPULAN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Temuan Penelitian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18872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Advanced Terbaik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7543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preprocessed advanced memberikan keseimbangan optimal: reduksi kosakata 83.75% &amp; preservasi makna 73.20%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8503920" cy="118872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95728"/>
            <a:ext cx="502920" cy="50292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395728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Optimal pada K=14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807208"/>
            <a:ext cx="7543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CTM menghasilkan 14 topik representatif dengan korelasi antar topik yang rendah berdasarkan composite score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602736"/>
            <a:ext cx="8503920" cy="118872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94176"/>
            <a:ext cx="502920" cy="50292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94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694176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 Unggul Koherensi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105656"/>
            <a:ext cx="7543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 (min_topic_size=25) mencapai C_V = 0.5735, NPMI = 0.0530 positif, UMass terbaik = -5.3257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69080" cy="1188720"/>
          </a:xfrm>
          <a:prstGeom prst="rect">
            <a:avLst/>
          </a:prstGeom>
          <a:solidFill>
            <a:srgbClr val="142847"/>
          </a:solidFill>
          <a:ln w="1270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097280"/>
            <a:ext cx="502920" cy="50292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Tema Utama Al-Qur'an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1508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Penggabungan CTM+BERTopic via Jaccard similarity menghasilkan 9 kategori: aqidah, akhlak, eskatologi, syariah, muamalah, alam, sejarah, ilmu, psikologi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304288"/>
            <a:ext cx="4069080" cy="1188720"/>
          </a:xfrm>
          <a:prstGeom prst="rect">
            <a:avLst/>
          </a:prstGeom>
          <a:solidFill>
            <a:srgbClr val="1428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39572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2395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Aqidah &amp; Eskatologi Dominan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8072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topik menunjukkan kategori aqidah &amp; eskatologi sebagai tema paling dominan dalam terjemahan Al-Qur'an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SARAN &amp;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Penelitian Selanjutnya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3794760"/>
          </a:xfrm>
          <a:prstGeom prst="rect">
            <a:avLst/>
          </a:prstGeom>
          <a:solidFill>
            <a:srgbClr val="142847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88920" cy="594360"/>
          </a:xfrm>
          <a:prstGeom prst="rect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4241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(Jangka Pendek)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90472" y="932688"/>
            <a:ext cx="457200" cy="45720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9" name="Text 7"/>
          <p:cNvSpPr/>
          <p:nvPr/>
        </p:nvSpPr>
        <p:spPr>
          <a:xfrm>
            <a:off x="1490472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256032" cy="256032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19072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 dataset: tafsir &amp; hadis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256032" cy="256032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4320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model BERT bahasa Arab-Indonesia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785616"/>
            <a:ext cx="256032" cy="256032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6732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hyperparameter lebih lanjut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408" y="1024128"/>
            <a:ext cx="2788920" cy="3794760"/>
          </a:xfrm>
          <a:prstGeom prst="rect">
            <a:avLst/>
          </a:prstGeom>
          <a:solidFill>
            <a:srgbClr val="14284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024128"/>
            <a:ext cx="2788920" cy="594360"/>
          </a:xfrm>
          <a:prstGeom prst="rect">
            <a:avLst/>
          </a:prstGeom>
          <a:solidFill>
            <a:srgbClr val="F5A623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55848" y="104241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(Jangka Menengah)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93268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47288" y="173736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3813048" y="1719072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Retrieval Augmented Generation (RAG)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47288" y="2761488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3813048" y="274320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sistem pencarian ayat berbasis tema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47288" y="3785616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3813048" y="376732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Multi-corpus: Al-Qur'an + Tafsir + Hadis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08776" y="1024128"/>
            <a:ext cx="2788920" cy="3794760"/>
          </a:xfrm>
          <a:prstGeom prst="rect">
            <a:avLst/>
          </a:prstGeom>
          <a:solidFill>
            <a:srgbClr val="142847"/>
          </a:solidFill>
          <a:ln w="19050">
            <a:solidFill>
              <a:srgbClr val="1E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024128"/>
            <a:ext cx="2788920" cy="594360"/>
          </a:xfrm>
          <a:prstGeom prst="rect">
            <a:avLst/>
          </a:prstGeom>
          <a:solidFill>
            <a:srgbClr val="1E4ED8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104241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(Jangka Panjang)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79208" y="932688"/>
            <a:ext cx="457200" cy="457200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737920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91656" y="1737360"/>
            <a:ext cx="256032" cy="25603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6757416" y="1719072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Large Language Model (LLM)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91656" y="2761488"/>
            <a:ext cx="256032" cy="25603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35" name="Text 33"/>
          <p:cNvSpPr/>
          <p:nvPr/>
        </p:nvSpPr>
        <p:spPr>
          <a:xfrm>
            <a:off x="6757416" y="274320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 pencarian tematik Al-Qur'an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91656" y="3785616"/>
            <a:ext cx="256032" cy="256032"/>
          </a:xfrm>
          <a:prstGeom prst="ellipse">
            <a:avLst/>
          </a:prstGeom>
          <a:solidFill>
            <a:srgbClr val="1E4ED8"/>
          </a:solidFill>
          <a:ln/>
        </p:spPr>
      </p:sp>
      <p:sp>
        <p:nvSpPr>
          <p:cNvPr id="37" name="Text 35"/>
          <p:cNvSpPr/>
          <p:nvPr/>
        </p:nvSpPr>
        <p:spPr>
          <a:xfrm>
            <a:off x="6757416" y="376732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Publikasi jurnal internasional Q1/Q2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4ED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4E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2286000" cy="22860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4ED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4069080"/>
            <a:ext cx="2743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972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Jazakumullah Khairan Katsiran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267004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بِسْمِ اللهِ الرَّحْمٰنِ الرَّحِيْمِ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343400"/>
            <a:ext cx="9144000" cy="804672"/>
          </a:xfrm>
          <a:prstGeom prst="rect">
            <a:avLst/>
          </a:prstGeom>
          <a:solidFill>
            <a:srgbClr val="142847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44074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Asep Ridwan Hidayat  ●  NIM 231012050036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70001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  ●  Program Studi Teknik Informatika S-2  ●  2026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4592"/>
            <a:ext cx="594360" cy="59436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4592"/>
            <a:ext cx="594360" cy="59436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64592"/>
            <a:ext cx="594360" cy="59436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64592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Sidang Tesis - Pemodelan Topik Al-Quran</dc:title>
  <dc:subject>PptxGenJS Presentation</dc:subject>
  <dc:creator>Asep Ridwan Hidayat</dc:creator>
  <cp:lastModifiedBy>Asep Ridwan Hidayat</cp:lastModifiedBy>
  <cp:revision>1</cp:revision>
  <dcterms:created xsi:type="dcterms:W3CDTF">2026-06-07T04:09:34Z</dcterms:created>
  <dcterms:modified xsi:type="dcterms:W3CDTF">2026-06-07T04:09:34Z</dcterms:modified>
</cp:coreProperties>
</file>