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1"/>
          <c:cat>
            <c:strRef>
              <c:f>Sheet1!$A$2:$A$4</c:f>
              <c:strCache>
                <c:ptCount val="3"/>
                <c:pt idx="0">
                  <c:v>Basic</c:v>
                </c:pt>
                <c:pt idx="1">
                  <c:v>No Stemming</c:v>
                </c:pt>
                <c:pt idx="2">
                  <c:v>Advanced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6.8</c:v>
                </c:pt>
                <c:pt idx="1">
                  <c:v>55.7</c:v>
                </c:pt>
                <c:pt idx="2">
                  <c:v>55.6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687-4095-BF61-1B6E12C406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1"/>
          <c:cat>
            <c:strRef>
              <c:f>Sheet1!$A$2:$A$4</c:f>
              <c:strCache>
                <c:ptCount val="3"/>
                <c:pt idx="0">
                  <c:v>Basic</c:v>
                </c:pt>
                <c:pt idx="1">
                  <c:v>No Stemming</c:v>
                </c:pt>
                <c:pt idx="2">
                  <c:v>Advanced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58.4</c:v>
                </c:pt>
                <c:pt idx="1">
                  <c:v>59.3</c:v>
                </c:pt>
                <c:pt idx="2">
                  <c:v>83.75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2D-4696-B055-5E30E1AC8DC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  <c:pt idx="6">
                  <c:v>14</c:v>
                </c:pt>
                <c:pt idx="7">
                  <c:v>15</c:v>
                </c:pt>
                <c:pt idx="8">
                  <c:v>16</c:v>
                </c:pt>
                <c:pt idx="9">
                  <c:v>17</c:v>
                </c:pt>
                <c:pt idx="10">
                  <c:v>18</c:v>
                </c:pt>
                <c:pt idx="11">
                  <c:v>19</c:v>
                </c:pt>
              </c:numCache>
            </c:num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-6.556</c:v>
                </c:pt>
                <c:pt idx="1">
                  <c:v>-7.0232999999999999</c:v>
                </c:pt>
                <c:pt idx="2">
                  <c:v>-6.7488999999999999</c:v>
                </c:pt>
                <c:pt idx="3">
                  <c:v>-6.9105999999999996</c:v>
                </c:pt>
                <c:pt idx="4">
                  <c:v>-7.0998999999999999</c:v>
                </c:pt>
                <c:pt idx="5">
                  <c:v>-7.1273999999999997</c:v>
                </c:pt>
                <c:pt idx="6">
                  <c:v>-6.8293999999999997</c:v>
                </c:pt>
                <c:pt idx="7">
                  <c:v>-7.1615000000000002</c:v>
                </c:pt>
                <c:pt idx="8">
                  <c:v>-7.0842999999999998</c:v>
                </c:pt>
                <c:pt idx="9">
                  <c:v>-7.1856</c:v>
                </c:pt>
                <c:pt idx="10">
                  <c:v>-7.8642000000000003</c:v>
                </c:pt>
                <c:pt idx="11">
                  <c:v>-7.7731000000000003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0C-45B0-9471-B6F0C742C5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0.6048</c:v>
                </c:pt>
                <c:pt idx="1">
                  <c:v>0.59079999999999999</c:v>
                </c:pt>
                <c:pt idx="2">
                  <c:v>0.57689999999999997</c:v>
                </c:pt>
                <c:pt idx="3">
                  <c:v>0.55500000000000005</c:v>
                </c:pt>
                <c:pt idx="4">
                  <c:v>0.57350000000000001</c:v>
                </c:pt>
                <c:pt idx="5">
                  <c:v>0.56869999999999998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6F8-49D6-B93E-BA6598AF5C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A04BD7-4F32-49D2-952A-A3204B2CD5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-1364428" y="-571500"/>
            <a:ext cx="11056086" cy="89154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-233680"/>
            <a:ext cx="8219440" cy="228600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</a:schemeClr>
                </a:solidFill>
              </a:rPr>
              <a:t>ANALISIS PEMODELAN TOPIK PADA TEKS TERJEMAHAN AL-QUR’AN BERBAHASA INDONESIA DENGAN METODE</a:t>
            </a:r>
            <a:r>
              <a:rPr lang="en-US" sz="2400" b="1" i="1" dirty="0">
                <a:solidFill>
                  <a:schemeClr val="tx2">
                    <a:lumMod val="50000"/>
                  </a:schemeClr>
                </a:solidFill>
              </a:rPr>
              <a:t> CORRELATED TOPIC MODELING </a:t>
            </a:r>
            <a:r>
              <a:rPr lang="en-US" sz="2400" b="1" dirty="0">
                <a:solidFill>
                  <a:schemeClr val="tx2">
                    <a:lumMod val="50000"/>
                  </a:schemeClr>
                </a:solidFill>
              </a:rPr>
              <a:t>(CTM) </a:t>
            </a:r>
            <a:br>
              <a:rPr lang="en-US" sz="2400" b="1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en-US" sz="2400" b="1" dirty="0">
                <a:solidFill>
                  <a:schemeClr val="tx2">
                    <a:lumMod val="50000"/>
                  </a:schemeClr>
                </a:solidFill>
              </a:rPr>
              <a:t>DAN </a:t>
            </a:r>
            <a:r>
              <a:rPr lang="en-US" sz="2400" b="1" i="1" dirty="0">
                <a:solidFill>
                  <a:schemeClr val="tx2">
                    <a:lumMod val="50000"/>
                  </a:schemeClr>
                </a:solidFill>
              </a:rPr>
              <a:t>BERTOPIC</a:t>
            </a:r>
            <a:r>
              <a:rPr lang="en-US" sz="2400" b="1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4720" y="3833494"/>
            <a:ext cx="7305040" cy="1364616"/>
          </a:xfrm>
        </p:spPr>
        <p:txBody>
          <a:bodyPr>
            <a:no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</a:schemeClr>
                </a:solidFill>
              </a:rPr>
              <a:t>OLEH: </a:t>
            </a:r>
            <a:endParaRPr lang="en-US" sz="2400" dirty="0">
              <a:solidFill>
                <a:schemeClr val="tx2">
                  <a:lumMod val="50000"/>
                </a:schemeClr>
              </a:solidFill>
            </a:endParaRPr>
          </a:p>
          <a:p>
            <a:r>
              <a:rPr lang="en-US" sz="2400" b="1" dirty="0">
                <a:solidFill>
                  <a:schemeClr val="tx2">
                    <a:lumMod val="50000"/>
                  </a:schemeClr>
                </a:solidFill>
              </a:rPr>
              <a:t>ASEP RIDWAN HIDAYAT</a:t>
            </a:r>
            <a:endParaRPr lang="en-US" sz="2400" dirty="0">
              <a:solidFill>
                <a:schemeClr val="tx2">
                  <a:lumMod val="50000"/>
                </a:schemeClr>
              </a:solidFill>
            </a:endParaRPr>
          </a:p>
          <a:p>
            <a:r>
              <a:rPr lang="en-US" sz="2400" b="1" dirty="0">
                <a:solidFill>
                  <a:schemeClr val="tx2">
                    <a:lumMod val="50000"/>
                  </a:schemeClr>
                </a:solidFill>
              </a:rPr>
              <a:t>231012050036</a:t>
            </a:r>
            <a:endParaRPr lang="en-US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5" name="Picture 4" descr="Description: Logo_warna2">
            <a:extLst>
              <a:ext uri="{FF2B5EF4-FFF2-40B4-BE49-F238E27FC236}">
                <a16:creationId xmlns:a16="http://schemas.microsoft.com/office/drawing/2014/main" id="{851373BC-50CA-0563-22B8-567122BFB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687" y="1988184"/>
            <a:ext cx="1475105" cy="14408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AFE76B-0E25-480E-B3D2-A6B4AFD4C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75873" y="-606461"/>
            <a:ext cx="12295746" cy="80709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74630"/>
            <a:ext cx="8229600" cy="1143000"/>
          </a:xfrm>
        </p:spPr>
        <p:txBody>
          <a:bodyPr/>
          <a:lstStyle/>
          <a:p>
            <a:r>
              <a:rPr dirty="0" err="1"/>
              <a:t>Latar</a:t>
            </a:r>
            <a:r>
              <a:rPr dirty="0"/>
              <a:t> </a:t>
            </a:r>
            <a:r>
              <a:rPr dirty="0" err="1"/>
              <a:t>Belakang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Teks Al-Qur’an </a:t>
            </a:r>
            <a:r>
              <a:rPr dirty="0" err="1"/>
              <a:t>kompleks</a:t>
            </a:r>
            <a:r>
              <a:rPr dirty="0"/>
              <a:t> dan </a:t>
            </a:r>
            <a:r>
              <a:rPr dirty="0" err="1"/>
              <a:t>kontekstual</a:t>
            </a:r>
            <a:endParaRPr dirty="0"/>
          </a:p>
          <a:p>
            <a:r>
              <a:rPr dirty="0" err="1"/>
              <a:t>Metode</a:t>
            </a:r>
            <a:r>
              <a:rPr dirty="0"/>
              <a:t> </a:t>
            </a:r>
            <a:r>
              <a:rPr dirty="0" err="1"/>
              <a:t>klasik</a:t>
            </a:r>
            <a:r>
              <a:rPr dirty="0"/>
              <a:t> </a:t>
            </a:r>
            <a:r>
              <a:rPr dirty="0" err="1"/>
              <a:t>kurang</a:t>
            </a:r>
            <a:r>
              <a:rPr dirty="0"/>
              <a:t> </a:t>
            </a:r>
            <a:r>
              <a:rPr dirty="0" err="1"/>
              <a:t>menangkap</a:t>
            </a:r>
            <a:r>
              <a:rPr dirty="0"/>
              <a:t> </a:t>
            </a:r>
            <a:r>
              <a:rPr dirty="0" err="1"/>
              <a:t>konteks</a:t>
            </a:r>
            <a:endParaRPr dirty="0"/>
          </a:p>
          <a:p>
            <a:r>
              <a:rPr dirty="0"/>
              <a:t>CTM &amp; </a:t>
            </a:r>
            <a:r>
              <a:rPr dirty="0" err="1"/>
              <a:t>BERTopic</a:t>
            </a:r>
            <a:r>
              <a:rPr dirty="0"/>
              <a:t> </a:t>
            </a:r>
            <a:r>
              <a:rPr dirty="0" err="1"/>
              <a:t>sebagai</a:t>
            </a:r>
            <a:r>
              <a:rPr dirty="0"/>
              <a:t> </a:t>
            </a:r>
            <a:r>
              <a:rPr dirty="0" err="1"/>
              <a:t>solusi</a:t>
            </a:r>
            <a:r>
              <a:rPr dirty="0"/>
              <a:t> modern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Rumusan Masalah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Bagaimana hasil topik CTM &amp; BERTopic?</a:t>
            </a:r>
          </a:p>
          <a:p>
            <a:r>
              <a:t>Bagaimana kualitas (coherence)?</a:t>
            </a:r>
          </a:p>
          <a:p>
            <a:r>
              <a:t>Bagaimana interpretasi tema?</a:t>
            </a:r>
          </a:p>
          <a:p>
            <a:r>
              <a:t>Apa tema utama yang terbentuk?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Metodologi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Pengumpulan data (114 surat)</a:t>
            </a:r>
          </a:p>
          <a:p>
            <a:r>
              <a:t>Preprocessing teks</a:t>
            </a:r>
          </a:p>
          <a:p>
            <a:r>
              <a:t>Training CTM &amp; BERTopic</a:t>
            </a:r>
          </a:p>
          <a:p>
            <a:r>
              <a:t>Evaluasi &amp; analisis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Token Reduction (%)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Vocabulary Reduction (%)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CTM Log-Likelihood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BERTopic Coherence (Cv)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Perbandingan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CTM: menangkap relasi antar topik</a:t>
            </a:r>
          </a:p>
          <a:p>
            <a:r>
              <a:t>BERTopic: lebih interpretatif</a:t>
            </a:r>
          </a:p>
          <a:p>
            <a:r>
              <a:t>BERTopic memiliki outlier tinggi</a:t>
            </a:r>
          </a:p>
          <a:p>
            <a:r>
              <a:t>CTM lebih stabil secara struktur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Hasil Tema Utama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Aqidah</a:t>
            </a:r>
          </a:p>
          <a:p>
            <a:r>
              <a:t>Eskatologi</a:t>
            </a:r>
          </a:p>
          <a:p>
            <a:r>
              <a:t>Akhlak</a:t>
            </a:r>
          </a:p>
          <a:p>
            <a:r>
              <a:t>Syariah</a:t>
            </a:r>
          </a:p>
          <a:p>
            <a:r>
              <a:t>Muamalah</a:t>
            </a:r>
          </a:p>
          <a:p>
            <a:r>
              <a:t>Fenomena alam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824287-172F-49C1-9DAD-1D88318E2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Kesimpulan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Preprocessing advanced paling optimal</a:t>
            </a:r>
          </a:p>
          <a:p>
            <a:r>
              <a:t>CTM optimal di K=14</a:t>
            </a:r>
          </a:p>
          <a:p>
            <a:r>
              <a:t>BERTopic lebih koheren</a:t>
            </a:r>
          </a:p>
          <a:p>
            <a:r>
              <a:t>Aqidah &amp; Eskatologi dominan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154</Words>
  <Application>Microsoft Office PowerPoint</Application>
  <PresentationFormat>On-screen Show (4:3)</PresentationFormat>
  <Paragraphs>49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ANALISIS PEMODELAN TOPIK PADA TEKS TERJEMAHAN AL-QUR’AN BERBAHASA INDONESIA DENGAN METODE CORRELATED TOPIC MODELING (CTM)  DAN BERTOPIC </vt:lpstr>
      <vt:lpstr>Latar Belakang</vt:lpstr>
      <vt:lpstr>Rumusan Masalah</vt:lpstr>
      <vt:lpstr>Metodologi</vt:lpstr>
      <vt:lpstr>Token Reduction (%)</vt:lpstr>
      <vt:lpstr>Vocabulary Reduction (%)</vt:lpstr>
      <vt:lpstr>CTM Log-Likelihood</vt:lpstr>
      <vt:lpstr>BERTopic Coherence (Cv)</vt:lpstr>
      <vt:lpstr>Perbandingan Model</vt:lpstr>
      <vt:lpstr>Hasil Tema Utama</vt:lpstr>
      <vt:lpstr>Kesimpulan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Analisis Pemodelan Topik Al-Qur'an</dc:title>
  <dc:subject/>
  <dc:creator>ASEPRIDWAN</dc:creator>
  <cp:keywords/>
  <dc:description>generated using python-pptx</dc:description>
  <cp:lastModifiedBy>rido mr</cp:lastModifiedBy>
  <cp:revision>5</cp:revision>
  <dcterms:created xsi:type="dcterms:W3CDTF">2013-01-27T09:14:16Z</dcterms:created>
  <dcterms:modified xsi:type="dcterms:W3CDTF">2026-05-25T23:11:20Z</dcterms:modified>
  <cp:category/>
</cp:coreProperties>
</file>