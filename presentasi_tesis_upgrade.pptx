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" d="100"/>
          <a:sy n="10" d="100"/>
        </p:scale>
        <p:origin x="97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No Stemming</c:v>
                </c:pt>
                <c:pt idx="2">
                  <c:v>Advanced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</c:v>
                </c:pt>
                <c:pt idx="1">
                  <c:v>55.7</c:v>
                </c:pt>
                <c:pt idx="2">
                  <c:v>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87-4095-BF61-1B6E12C406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No Stemming</c:v>
                </c:pt>
                <c:pt idx="2">
                  <c:v>Advanced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58.4</c:v>
                </c:pt>
                <c:pt idx="1">
                  <c:v>59.3</c:v>
                </c:pt>
                <c:pt idx="2">
                  <c:v>83.75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2D-4696-B055-5E30E1AC8D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-6.556</c:v>
                </c:pt>
                <c:pt idx="1">
                  <c:v>-7.0232999999999999</c:v>
                </c:pt>
                <c:pt idx="2">
                  <c:v>-6.7488999999999999</c:v>
                </c:pt>
                <c:pt idx="3">
                  <c:v>-6.9105999999999996</c:v>
                </c:pt>
                <c:pt idx="4">
                  <c:v>-7.0998999999999999</c:v>
                </c:pt>
                <c:pt idx="5">
                  <c:v>-7.1273999999999997</c:v>
                </c:pt>
                <c:pt idx="6">
                  <c:v>-6.8293999999999997</c:v>
                </c:pt>
                <c:pt idx="7">
                  <c:v>-7.1615000000000002</c:v>
                </c:pt>
                <c:pt idx="8">
                  <c:v>-7.0842999999999998</c:v>
                </c:pt>
                <c:pt idx="9">
                  <c:v>-7.1856</c:v>
                </c:pt>
                <c:pt idx="10">
                  <c:v>-7.8642000000000003</c:v>
                </c:pt>
                <c:pt idx="11">
                  <c:v>-7.7731000000000003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0C-45B0-9471-B6F0C742C5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0.6048</c:v>
                </c:pt>
                <c:pt idx="1">
                  <c:v>0.59079999999999999</c:v>
                </c:pt>
                <c:pt idx="2">
                  <c:v>0.57689999999999997</c:v>
                </c:pt>
                <c:pt idx="3">
                  <c:v>0.55500000000000005</c:v>
                </c:pt>
                <c:pt idx="4">
                  <c:v>0.57350000000000001</c:v>
                </c:pt>
                <c:pt idx="5">
                  <c:v>0.56869999999999998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F8-49D6-B93E-BA6598AF5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A04BD7-4F32-49D2-952A-A3204B2CD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8188" y="-726141"/>
            <a:ext cx="11887200" cy="8915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Pemodelan</a:t>
            </a:r>
            <a:r>
              <a:rPr dirty="0"/>
              <a:t> </a:t>
            </a:r>
            <a:r>
              <a:rPr dirty="0" err="1"/>
              <a:t>Topik</a:t>
            </a:r>
            <a:r>
              <a:rPr dirty="0"/>
              <a:t> Al-Qur'an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CTM vs BERTopic</a:t>
            </a:r>
          </a:p>
          <a:p>
            <a:r>
              <a:t>Asep Ridwan Hidayat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AFE76B-0E25-480E-B3D2-A6B4AFD4C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5873" y="-606461"/>
            <a:ext cx="12295746" cy="80709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Latar</a:t>
            </a:r>
            <a:r>
              <a:rPr dirty="0"/>
              <a:t> </a:t>
            </a:r>
            <a:r>
              <a:rPr dirty="0" err="1"/>
              <a:t>Belakang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Teks Al-Qur’an </a:t>
            </a:r>
            <a:r>
              <a:rPr dirty="0" err="1"/>
              <a:t>kompleks</a:t>
            </a:r>
            <a:r>
              <a:rPr dirty="0"/>
              <a:t> dan </a:t>
            </a:r>
            <a:r>
              <a:rPr dirty="0" err="1"/>
              <a:t>kontekstual</a:t>
            </a:r>
            <a:endParaRPr dirty="0"/>
          </a:p>
          <a:p>
            <a:r>
              <a:rPr dirty="0" err="1"/>
              <a:t>Metode</a:t>
            </a:r>
            <a:r>
              <a:rPr dirty="0"/>
              <a:t> </a:t>
            </a:r>
            <a:r>
              <a:rPr dirty="0" err="1"/>
              <a:t>klasik</a:t>
            </a:r>
            <a:r>
              <a:rPr dirty="0"/>
              <a:t> </a:t>
            </a:r>
            <a:r>
              <a:rPr dirty="0" err="1"/>
              <a:t>kurang</a:t>
            </a:r>
            <a:r>
              <a:rPr dirty="0"/>
              <a:t> </a:t>
            </a:r>
            <a:r>
              <a:rPr dirty="0" err="1"/>
              <a:t>menangkap</a:t>
            </a:r>
            <a:r>
              <a:rPr dirty="0"/>
              <a:t> </a:t>
            </a:r>
            <a:r>
              <a:rPr dirty="0" err="1"/>
              <a:t>konteks</a:t>
            </a:r>
            <a:endParaRPr dirty="0"/>
          </a:p>
          <a:p>
            <a:r>
              <a:rPr dirty="0"/>
              <a:t>CTM &amp; </a:t>
            </a:r>
            <a:r>
              <a:rPr dirty="0" err="1"/>
              <a:t>BERTopic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solusi</a:t>
            </a:r>
            <a:r>
              <a:rPr dirty="0"/>
              <a:t> modern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Rumusan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Bagaimana hasil topik CTM &amp; BERTopic?</a:t>
            </a:r>
          </a:p>
          <a:p>
            <a:r>
              <a:t>Bagaimana kualitas (coherence)?</a:t>
            </a:r>
          </a:p>
          <a:p>
            <a:r>
              <a:t>Bagaimana interpretasi tema?</a:t>
            </a:r>
          </a:p>
          <a:p>
            <a:r>
              <a:t>Apa tema utama yang terbentuk?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Pengumpulan data (114 surat)</a:t>
            </a:r>
          </a:p>
          <a:p>
            <a:r>
              <a:t>Preprocessing teks</a:t>
            </a:r>
          </a:p>
          <a:p>
            <a:r>
              <a:t>Training CTM &amp; BERTopic</a:t>
            </a:r>
          </a:p>
          <a:p>
            <a:r>
              <a:t>Evaluasi &amp; analisis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Reduction (%)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 Reduction (%)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CTM Log-Likelihood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BERTopic Coherence (Cv)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Perbandingan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CTM: menangkap relasi antar topik</a:t>
            </a:r>
          </a:p>
          <a:p>
            <a:r>
              <a:t>BERTopic: lebih interpretatif</a:t>
            </a:r>
          </a:p>
          <a:p>
            <a:r>
              <a:t>BERTopic memiliki outlier tinggi</a:t>
            </a:r>
          </a:p>
          <a:p>
            <a:r>
              <a:t>CTM lebih stabil secara struktur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Hasil Tema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Aqidah</a:t>
            </a:r>
          </a:p>
          <a:p>
            <a:r>
              <a:t>Eskatologi</a:t>
            </a:r>
          </a:p>
          <a:p>
            <a:r>
              <a:t>Akhlak</a:t>
            </a:r>
          </a:p>
          <a:p>
            <a:r>
              <a:t>Syariah</a:t>
            </a:r>
          </a:p>
          <a:p>
            <a:r>
              <a:t>Muamalah</a:t>
            </a:r>
          </a:p>
          <a:p>
            <a:r>
              <a:t>Fenomena alam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824287-172F-49C1-9DAD-1D88318E2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Preprocessing advanced paling optimal</a:t>
            </a:r>
          </a:p>
          <a:p>
            <a:r>
              <a:t>CTM optimal di K=14</a:t>
            </a:r>
          </a:p>
          <a:p>
            <a:r>
              <a:t>BERTopic lebih koheren</a:t>
            </a:r>
          </a:p>
          <a:p>
            <a:r>
              <a:t>Aqidah &amp; Eskatologi dominan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134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Analisis Pemodelan Topik Al-Qur'an</vt:lpstr>
      <vt:lpstr>Latar Belakang</vt:lpstr>
      <vt:lpstr>Rumusan Masalah</vt:lpstr>
      <vt:lpstr>Metodologi</vt:lpstr>
      <vt:lpstr>Token Reduction (%)</vt:lpstr>
      <vt:lpstr>Vocabulary Reduction (%)</vt:lpstr>
      <vt:lpstr>CTM Log-Likelihood</vt:lpstr>
      <vt:lpstr>BERTopic Coherence (Cv)</vt:lpstr>
      <vt:lpstr>Perbandingan Model</vt:lpstr>
      <vt:lpstr>Hasil Tema Utama</vt:lpstr>
      <vt:lpstr>Kesimpulan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Pemodelan Topik Al-Qur'an</dc:title>
  <dc:subject/>
  <dc:creator>ASEPRIDWAN</dc:creator>
  <cp:keywords/>
  <dc:description>generated using python-pptx</dc:description>
  <cp:lastModifiedBy>Asep Ridwan</cp:lastModifiedBy>
  <cp:revision>3</cp:revision>
  <dcterms:created xsi:type="dcterms:W3CDTF">2013-01-27T09:14:16Z</dcterms:created>
  <dcterms:modified xsi:type="dcterms:W3CDTF">2026-05-25T09:49:50Z</dcterms:modified>
  <cp:category/>
</cp:coreProperties>
</file>