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Assalamu'alaikum. Selamat datang pada sidang skripsi saya, Asep Ridwan Hidayat, NIM 231012050036, Program Studi Informatika, Universitas Pamulang. Judul penelitian: Analisis Pemodelan Topik pada Teks Terjemahan Al-Qur'an Berbahasa Indonesia dengan Metode Correlated Topic Modeling (CTM) dan BERTopic, di bawah bimbingan Dr. Sajarwo Anggai, S.ST., M.T. dan Dr. Arya Adhyaksa Waskita, S.Si., M.Si. Slide ini adalah halaman pembuka; sebutkan judul lengkap, nama, NIM, dan kedua dosen pembimbing secara jelas sebelum melanjutkan ke latar belakang.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penelitian: pemodelan topik penting untuk menemukan tema tersembunyi secara otomatis dalam dokumen besar (Blei et al., 2003a). Teks Al-Qur'an memiliki kompleksitas linguistik dan konteks yang tinggi. CTM dan BERTopic dipilih sebagai dua pendekatan yang berbeda filosofi — CTM berbasis probabilistik generatif, BERTopic berbasis embedding transformer — namun keduanya belum banyak diuji pada korpus religius bahasa Indonesia sebanyak 114 surat, 6.236 ayat, dan 77.439 kata terjemahan. Ini adalah gap yang mendasari penelitian ini. Jelaskan singkat perbedaan filosofis CTM vs BERTopic bila ditanya penguji.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Rumusan masalah terdiri dari empat identifikasi masalah dan empat pertanyaan penelitian yang saling berpasangan: (1) kompleksitas linguistik teks Al-Qur'an → bagaimana membangun model CTM &amp; BERTopic; (2) keterbatasan performa/komputasi/interpretabilitas kedua metode → bagaimana mengukur kualitas topik lewat metrik koherensi C_V, UMass, NPMI; (3) belum ada perbandingan komprehensif → bagaimana menginterpretasi dan mengelompokkan tema; (4) penerapan masih terbatas → tema utama apa yang terbentuk. Sampaikan bahwa struktur ini menjadi dasar rancangan metodologi pada bab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penelitian ada tiga: menganalisis efektivitas CTM &amp; BERTopic, mengidentifikasi kemampuan kedua metode menangkap konteks/tema Al-Qur'an, dan merumuskan metode evaluasi yang tepat. Manfaat penelitian dikelompokkan menjadi tiga: akademik (kontribusi ilmiah &amp; referensi NLP bahasa Indonesia), praktis (mempermudah pemahaman struktur tematik &amp; mendukung kajian tafsir), dan teknologi (dasar aplikasi pencarian ayat berbasis tema). Tekankan bahwa tujuan ini konsisten dengan rumusan masalah pada slide sebelumnya.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penelitian (research pipeline) terdiri dari lima tahap: (1) Dataset — terjemahan Al-Qur'an bahasa Indonesia sebanyak 114 surat; (2) Preprocessing — case folding, tokenization, stopword removal, stemming/lemmatization, diuji dalam tiga varian (basic, no-stem, advanced); (3) Topic Modeling — dua jalur paralel: CTM dengan optimasi K, variational inference, distribusi logistic-normal, dan korelasi topik; serta BERTopic dengan UMAP, HDBSCAN, dan C-TF-IDF; (4) Evaluation — mengukur coherence score (C_V, UMass, NPMI) dan diversity score kedua model; (5) Interpretasi &amp; Penggabungan — menafsirkan kata kunci tiap topik dan menggabungkan hasil CTM &amp; BERTopic memakai Jaccard similarity. Pipeline inilah yang menjadi kerangka bab metodologi dan akan dijelaskan detail tahap demi tahap pada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menampilkan diagram visual utuh dari research pipeline yang telah dijelaskan sebelumnya, sebagai peta menyeluruh sebelum masuk ke pembahasan dataset dan preprocessing secara rinci. Gunakan slide ini sebagai jangkar visual bila penguji meminta mengulang alur penelitian secara singkat.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bersumber dari dua tautan resmi Kementerian Agama RI: quran.kemenag.go.id dan pustakalajnah.kemenag.go.id. Cakupan data: 6.236 ayat dari 114 surat, 77.439 total kata, dan 18.742 kosakata unik. Struktur data terdiri dari tiga kolom: Surat (integer, nomor surat), Ayat (integer, nomor ayat), dan Teks (string, isi teks terjemahan). Jelaskan bila ditanya, mengapa memakai teks terjemahan resmi Kemenag: untuk menjaga validitas dan akurasi makna keagamaan.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melalui lima tahap: case folding, stopword removal, tokenization, stemming, dan lemmatization — dicontohkan dengan kalimat 'Segala puji bagi Allah, Tuhan semesta alam'. Tiga varian preprocessing diuji: Basic (reduksi token 6.81%, reduksi kosakata 58.43%, preservasi makna 68.61%), No Stem (55.7% / 59.31% / 74.45%), dan Advanced (55.6% / 83.75% / 73.20%). Advanced dipilih karena memberi keseimbangan terbaik antara mengurangi noise (reduksi kosakata tertinggi) dan tetap mempertahankan makna semantik yang memadai untuk tahap pemodelan topik berikutnya. Jika ditanya kenapa bukan yang preservasi maknanya tertinggi (No Stem 74.45%), jelaskan trade-off: Advanced mengorbankan sedikit preservasi makna demi ruang fitur yang jauh lebih ringkas (reduksi kosakata 83.75% vs 59.31%), yang penting untuk efisiensi dan kualitas topik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Optimasi parameter K (jumlah topik) dilakukan pada 114 dokumen dengan 75.940 token, menguji rentang K=8 sampai K=19. Hasil optimasi menetapkan K=14 karena hampir seluruh metrik evaluasi berada pada posisi relatif tinggi dan seimbang dibanding nilai K lainnya. Jelaskan bahwa pemilihan K bukan berdasarkan satu metrik saja, melainkan kombinasi metrik koherensi dan diversitas topik yang dievaluasi silang.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pada slide ini menunjukkan proses pelatihan model CTM mencapai konvergensi pada iterasi ke-100, ditandai dengan nilai parameter yang menuju satu titik pemusatan dan tidak lagi berubah signifikan. Ini penting untuk memastikan model telah dilatih secara memadai (bukan under-trained) sebelum hasil topiknya dievaluasi dan diinterpretasikan pada slide-slide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menampilkan contoh interpretasi hasil topik CTM melalui tiga pasangan topik yang berkorelasi: Topic 1↔Topic 2 (korelasi 0.12) seputar Rosul, kebenaran, dan pendustaan kaum kafir; Topic 0↔Topic 1 (korelasi 0.10) seputar ayat-ayat Allah sebagai kebenaran; dan Topic 5↔Topic 3 (korelasi 0.10) seputar penciptaan alam dan kekuasaan Allah. Keunggulan CTM dibanding LDA adalah kemampuannya memodelkan korelasi antar-topik secara eksplisit, sehingga topik-topik yang secara tematik berdekatan dapat teridentifikasi melalui nilai korelasi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Evaluasi model CTM menghasilkan lima metrik: C_v = 0.517 (di atas ambang 0.5, tergolong baik), NPMI = -0.022 (mendekati nol namun negatif, hubungan lemah), UMass = -5.066 (kategori sedang, rentang -4 sampai -6), UCI = -2.137 (negatif, hubungan lemah), dan Perplexity = 1720.28. Kesimpulan keseluruhan: CTM menghasilkan kualitas topik yang cukup baik dan dapat diinterpretasikan, meskipun koherensi antar-kata belum maksimal. Bila ditanya penguji tentang makna perplexity yang tinggi, jelaskan bahwa nilai ini relatif terhadap ukuran vocabulary dan tidak berdiri sendiri — harus dibaca bersama metrik koherensi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Heatmap ini menunjukkan distribusi proporsi topik CTM pada 20 surat pertama Al-Qur'an. Distribusi yang tidak merata mengindikasikan setiap surat memiliki kecenderungan tematik yang berbeda. Topik 12 dan 13 muncul dominan secara konsisten (kisaran 0.15–0.26) di banyak surat, sehingga dapat dianggap sebagai topik dominan global pada bagian awal korpus. Ini menjadi bukti kualitatif bahwa model CTM mampu menangkap pola tematik yang bermakna, melengkapi evaluasi kuantitatif pada slide sebelumnya.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Pengujian parameter jumlah topik pada BERTopic dilakukan dengan memvariasikan minimum topic size. Topic size 25 terpilih sebagai keseimbangan terbaik dengan final score 0.87, C_v = 0.5735, NPMI = 0.0530, dan UMass = -5.3257 yang merupakan nilai paling mendekati nol dibanding ukuran topik lain yang diuji. Final score ini kemungkinan merupakan skor gabungan (kombinasi) dari beberapa metrik evaluasi — jelaskan ke penguji bahwa pemilihan parameter didasarkan pada optimasi multi-metrik, bukan satu metrik tunggal, konsisten dengan pendekatan pada model CTM sebelumnya.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 optimal BERTopic: min topic size 25, C_v coherence 0.5735, NPMI 0.0530, UMass -5.3257, menggunakan sentence model paraphrase-multilingual-MiniLM-L12. Topik yang dihasilkan memiliki koherensi cukup baik; NPMI positif menunjukkan asosiasi statistik antar-kata yang bermakna; nilai UMass menunjukkan konsistensi probabilistik yang baik terhadap distribusi dokumen. Bila ditanya kenapa memilih model sentence-transformer multibahasa ini, jelaskan bahwa model tersebut mendukung Bahasa Indonesia dan efisien secara komputasi (arsitektur MiniLM yang ringkas).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Topic Word Scores menampilkan kata-kata kunci tiap topik berdasarkan skor c-TF-IDF, yang mengukur seberapa representatif sebuah kata terhadap topik tertentu dibandingkan topik lain dalam korpus. Semakin panjang batang/tinggi skor, semakin kata tersebut menjadi penciri utama topik. Grafik ini menjadi dasar interpretasi tema pada slide-slide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menampilkan visualisasi hasil topik BERTopic (bagian pertama) — representasi kata kunci per topik dari model. Gunakan grafik ini untuk menunjukkan variasi tema yang berhasil diekstraksi model secara otomatis tanpa supervisi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Lanjutan visualisasi hasil topik BERTopic (bagian kedua). Perhatikan konsistensi pola kata kunci antar-topik sebagai bukti bahwa model menghasilkan klaster tematik yang koheren, sejalan dengan skor C_v = 0.5735 yang telah dibahas sebelumnya.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akhir hasil topik BERTopic ini merangkum bahwa topik-topik yang dihasilkan memiliki koherensi semantik yang jelas, mencerminkan delapan kelompok tema besar: ketuhanan, kenabian, keimanan, akhlak, eskatologi (hari kiamat, surga, neraka), ilmu pengetahuan, sosial, dan hukum. Tekankan bahwa pengelompokan tema ini selaras dengan kategori klasik dalam studi Al-Qur'an, yang memperkuat validitas hasil secara kualitatif, melengkapi validitas kuantitatif dari metrik koherensi yang telah dibahas sebelumnya.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Tahap penggabungan menyatukan hasil topik CTM dan BERTopic menggunakan Jaccard similarity, yaitu rasio irisan terhadap gabungan kata kunci dua topik. Pasangan topik dengan similarity tertinggi dianggap membahas tema yang sama, sehingga interpretasi dari kedua model dapat disandingkan dan divalidasi silang. Ini adalah langkah kunci yang menjembatani pendekatan probabilistik (CTM) dan pendekatan embedding (BERTopic) menjadi satu kesimpulan tematik yang koheren.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 interpretability analysis merupakan pelengkap kualitatif dari evaluasi kuantitatif sebelumnya, di mana setiap topik CTM diberi label tema inti berdasarkan kata kunci dominannya — misalnya topik dengan kata 'bumi, langit, cipta' dilabeli 'Penciptaan langit &amp; bumi'. Metode ini membantu memvalidasi apakah topik yang secara statistik koheren juga bermakna secara manusiawi/interpretatif.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Scatter plot ini menunjukkan distribusi topik terhadap ayat pada tiga surat contoh: Al-Fatihah (surat pendek, 7 ayat, hanya menyentuh sedikit topik), Al-Baqarah (surat terpanjang, menyentuh rentang topik paling luas), dan Ali Imran (pola sebaran menengah). Pola ini menunjukkan bahwa panjang dan cakupan tematik surat memengaruhi keragaman topik yang muncul — surat panjang cenderung membahas lebih banyak tema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penelitian: Model CTM mampu menghasilkan topik yang representatif meski korelasi antar-topik belum optimal (Cv=0.517, NPMI=-0.226, UMass=-5.0661, UCI=-2.1370, Perplexity=1720.28). Model BERTopic mampu menghasilkan topik dengan koherensi semantik cukup baik (C_v=0.5735, di atas 0,5) dan NPMI=0.0530 yang bernilai positif, menunjukkan asosiasi statistik bermakna antar-kata dalam topik. Simpulkan bahwa kedua model saling melengkapi: CTM unggul dalam memodelkan korelasi antar-topik secara eksplisit, sedangkan BERTopic unggul dalam koherensi semantik berbasis konteks. Bila ditanya model mana yang lebih baik, jelaskan bahwa keduanya punya kekuatan berbeda dan pemilihan bergantung pada kebutuhan — korelasi topik vs koherensi semantik — dan bahwa penggabungan Jaccard similarity dirancang untuk mengambil kelebihan keduanya.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presentasi. Ucapkan terima kasih kepada dosen pembimbing, dosen penguji, dan seluruh hadirin, lalu buka sesi tanya jawab. Siapkan kembali ringkasan gap penelitian (slide 2), metodologi (slide 5-6), dan hasil evaluasi kedua model (slide 12 &amp; 15) sebagai antisipasi pertanyaan penguji.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33"/>
        </a:solidFill>
      </p:bgPr>
    </p:bg>
    <p:spTree>
      <p:nvGrpSpPr>
        <p:cNvPr id="1" name=""/>
        <p:cNvGrpSpPr/>
        <p:nvPr/>
      </p:nvGrpSpPr>
      <p:grpSpPr>
        <a:xfrm>
          <a:off x="0" y="0"/>
          <a:ext cx="0" cy="0"/>
          <a:chOff x="0" y="0"/>
          <a:chExt cx="0" cy="0"/>
        </a:xfrm>
      </p:grpSpPr>
      <p:sp>
        <p:nvSpPr>
          <p:cNvPr id="2" name="Shape 0"/>
          <p:cNvSpPr/>
          <p:nvPr/>
        </p:nvSpPr>
        <p:spPr>
          <a:xfrm>
            <a:off x="9814255" y="-1645920"/>
            <a:ext cx="3840480" cy="3840480"/>
          </a:xfrm>
          <a:prstGeom prst="ellipse">
            <a:avLst/>
          </a:prstGeom>
          <a:ln w="15875">
            <a:solidFill>
              <a:srgbClr val="C79A45"/>
            </a:solidFill>
            <a:prstDash val="solid"/>
          </a:ln>
        </p:spPr>
      </p:sp>
      <p:sp>
        <p:nvSpPr>
          <p:cNvPr id="3" name="Shape 1"/>
          <p:cNvSpPr/>
          <p:nvPr/>
        </p:nvSpPr>
        <p:spPr>
          <a:xfrm>
            <a:off x="10317175" y="-1143000"/>
            <a:ext cx="2834640" cy="2834640"/>
          </a:xfrm>
          <a:prstGeom prst="ellipse">
            <a:avLst/>
          </a:prstGeom>
          <a:ln w="9525">
            <a:solidFill>
              <a:srgbClr val="C79A45"/>
            </a:solidFill>
            <a:prstDash val="solid"/>
          </a:ln>
        </p:spPr>
      </p:sp>
      <p:sp>
        <p:nvSpPr>
          <p:cNvPr id="4" name="Shape 2"/>
          <p:cNvSpPr/>
          <p:nvPr/>
        </p:nvSpPr>
        <p:spPr>
          <a:xfrm>
            <a:off x="-2377440" y="4846320"/>
            <a:ext cx="3840480" cy="3840480"/>
          </a:xfrm>
          <a:prstGeom prst="ellipse">
            <a:avLst/>
          </a:prstGeom>
          <a:ln w="15875">
            <a:solidFill>
              <a:srgbClr val="2A7566"/>
            </a:solidFill>
            <a:prstDash val="solid"/>
          </a:ln>
        </p:spPr>
      </p:sp>
      <p:sp>
        <p:nvSpPr>
          <p:cNvPr id="5" name="Shape 3"/>
          <p:cNvSpPr/>
          <p:nvPr/>
        </p:nvSpPr>
        <p:spPr>
          <a:xfrm>
            <a:off x="-1874520" y="5349240"/>
            <a:ext cx="2834640" cy="2834640"/>
          </a:xfrm>
          <a:prstGeom prst="ellipse">
            <a:avLst/>
          </a:prstGeom>
          <a:ln w="9525">
            <a:solidFill>
              <a:srgbClr val="2A7566"/>
            </a:solidFill>
            <a:prstDash val="solid"/>
          </a:ln>
        </p:spPr>
      </p:sp>
      <p:sp>
        <p:nvSpPr>
          <p:cNvPr id="6" name="Shape 4"/>
          <p:cNvSpPr/>
          <p:nvPr/>
        </p:nvSpPr>
        <p:spPr>
          <a:xfrm>
            <a:off x="502920" y="502920"/>
            <a:ext cx="3246120" cy="329184"/>
          </a:xfrm>
          <a:prstGeom prst="roundRect">
            <a:avLst>
              <a:gd name="adj" fmla="val 50000"/>
            </a:avLst>
          </a:prstGeom>
          <a:solidFill>
            <a:srgbClr val="C79A45"/>
          </a:solidFill>
          <a:ln/>
        </p:spPr>
      </p:sp>
      <p:sp>
        <p:nvSpPr>
          <p:cNvPr id="7" name="Text 5"/>
          <p:cNvSpPr/>
          <p:nvPr/>
        </p:nvSpPr>
        <p:spPr>
          <a:xfrm>
            <a:off x="502920" y="502920"/>
            <a:ext cx="3246120" cy="329184"/>
          </a:xfrm>
          <a:prstGeom prst="rect">
            <a:avLst/>
          </a:prstGeom>
          <a:noFill/>
          <a:ln/>
        </p:spPr>
        <p:txBody>
          <a:bodyPr wrap="square" rtlCol="0" anchor="ctr"/>
          <a:lstStyle/>
          <a:p>
            <a:pPr algn="ctr" indent="0" marL="0">
              <a:buNone/>
            </a:pPr>
            <a:r>
              <a:rPr lang="en-US" sz="1100" b="1" spc="100" kern="0" dirty="0">
                <a:solidFill>
                  <a:srgbClr val="0D3B33"/>
                </a:solidFill>
                <a:latin typeface="Calibri" pitchFamily="34" charset="0"/>
                <a:ea typeface="Calibri" pitchFamily="34" charset="-122"/>
                <a:cs typeface="Calibri" pitchFamily="34" charset="-120"/>
              </a:rPr>
              <a:t>SIDANG SKRIPSI  ·  S1 INFORMATIKA</a:t>
            </a:r>
            <a:endParaRPr lang="en-US" sz="1100" dirty="0"/>
          </a:p>
        </p:txBody>
      </p:sp>
      <p:sp>
        <p:nvSpPr>
          <p:cNvPr id="8" name="Text 6"/>
          <p:cNvSpPr/>
          <p:nvPr/>
        </p:nvSpPr>
        <p:spPr>
          <a:xfrm>
            <a:off x="502920" y="1417320"/>
            <a:ext cx="8595360" cy="2331720"/>
          </a:xfrm>
          <a:prstGeom prst="rect">
            <a:avLst/>
          </a:prstGeom>
          <a:noFill/>
          <a:ln/>
        </p:spPr>
        <p:txBody>
          <a:bodyPr wrap="square" rtlCol="0" anchor="t"/>
          <a:lstStyle/>
          <a:p>
            <a:pPr indent="0" marL="0">
              <a:lnSpc>
                <a:spcPct val="112000"/>
              </a:lnSpc>
              <a:buNone/>
            </a:pPr>
            <a:r>
              <a:rPr lang="en-US" sz="2700" b="1" dirty="0">
                <a:solidFill>
                  <a:srgbClr val="FFFFFF"/>
                </a:solidFill>
                <a:latin typeface="Cambria" pitchFamily="34" charset="0"/>
                <a:ea typeface="Cambria" pitchFamily="34" charset="-122"/>
                <a:cs typeface="Cambria" pitchFamily="34" charset="-120"/>
              </a:rPr>
              <a:t>ANALISIS PEMODELAN TOPIK PADA TEKS TERJEMAHAN AL-QUR’AN BERBAHASA INDONESIA DENGAN METODE CORRELATED TOPIC MODELING (CTM) DAN BERTOPIC</a:t>
            </a:r>
            <a:endParaRPr lang="en-US" sz="2700" dirty="0"/>
          </a:p>
        </p:txBody>
      </p:sp>
      <p:sp>
        <p:nvSpPr>
          <p:cNvPr id="9" name="Shape 7"/>
          <p:cNvSpPr/>
          <p:nvPr/>
        </p:nvSpPr>
        <p:spPr>
          <a:xfrm>
            <a:off x="502920" y="3977640"/>
            <a:ext cx="2011680" cy="0"/>
          </a:xfrm>
          <a:prstGeom prst="line">
            <a:avLst/>
          </a:prstGeom>
          <a:noFill/>
          <a:ln w="25400">
            <a:solidFill>
              <a:srgbClr val="C79A45"/>
            </a:solidFill>
            <a:prstDash val="solid"/>
          </a:ln>
        </p:spPr>
      </p:sp>
      <p:sp>
        <p:nvSpPr>
          <p:cNvPr id="10" name="Text 8"/>
          <p:cNvSpPr/>
          <p:nvPr/>
        </p:nvSpPr>
        <p:spPr>
          <a:xfrm>
            <a:off x="502920" y="4160520"/>
            <a:ext cx="3657600" cy="274320"/>
          </a:xfrm>
          <a:prstGeom prst="rect">
            <a:avLst/>
          </a:prstGeom>
          <a:noFill/>
          <a:ln/>
        </p:spPr>
        <p:txBody>
          <a:bodyPr wrap="square" rtlCol="0" anchor="ctr"/>
          <a:lstStyle/>
          <a:p>
            <a:pPr indent="0" marL="0">
              <a:buNone/>
            </a:pPr>
            <a:r>
              <a:rPr lang="en-US" sz="1100" spc="100" kern="0" dirty="0">
                <a:solidFill>
                  <a:srgbClr val="EBD9AF"/>
                </a:solidFill>
                <a:latin typeface="Calibri" pitchFamily="34" charset="0"/>
                <a:ea typeface="Calibri" pitchFamily="34" charset="-122"/>
                <a:cs typeface="Calibri" pitchFamily="34" charset="-120"/>
              </a:rPr>
              <a:t>Dosen Pembimbing</a:t>
            </a:r>
            <a:endParaRPr lang="en-US" sz="1100" dirty="0"/>
          </a:p>
        </p:txBody>
      </p:sp>
      <p:sp>
        <p:nvSpPr>
          <p:cNvPr id="11" name="Text 9"/>
          <p:cNvSpPr/>
          <p:nvPr/>
        </p:nvSpPr>
        <p:spPr>
          <a:xfrm>
            <a:off x="502920" y="4434840"/>
            <a:ext cx="5486400" cy="685800"/>
          </a:xfrm>
          <a:prstGeom prst="rect">
            <a:avLst/>
          </a:prstGeom>
          <a:noFill/>
          <a:ln/>
        </p:spPr>
        <p:txBody>
          <a:bodyPr wrap="square" rtlCol="0" anchor="ctr"/>
          <a:lstStyle/>
          <a:p>
            <a:pPr indent="0" marL="0">
              <a:lnSpc>
                <a:spcPct val="125000"/>
              </a:lnSpc>
              <a:buNone/>
            </a:pPr>
            <a:r>
              <a:rPr lang="en-US" sz="1450" b="1" dirty="0">
                <a:solidFill>
                  <a:srgbClr val="FFFFFF"/>
                </a:solidFill>
                <a:latin typeface="Calibri" pitchFamily="34" charset="0"/>
                <a:ea typeface="Calibri" pitchFamily="34" charset="-122"/>
                <a:cs typeface="Calibri" pitchFamily="34" charset="-120"/>
              </a:rPr>
              <a:t>Dr. Sajarwo Anggai, S.ST., M.T.
</a:t>
            </a:r>
            <a:pPr indent="0" marL="0">
              <a:lnSpc>
                <a:spcPct val="125000"/>
              </a:lnSpc>
              <a:buNone/>
            </a:pPr>
            <a:r>
              <a:rPr lang="en-US" sz="1450" b="1" dirty="0">
                <a:solidFill>
                  <a:srgbClr val="FFFFFF"/>
                </a:solidFill>
                <a:latin typeface="Calibri" pitchFamily="34" charset="0"/>
                <a:ea typeface="Calibri" pitchFamily="34" charset="-122"/>
                <a:cs typeface="Calibri" pitchFamily="34" charset="-120"/>
              </a:rPr>
              <a:t>Dr. Arya Adhyaksa Waskita, S.Si., M.Si.</a:t>
            </a:r>
            <a:endParaRPr lang="en-US" sz="1450" dirty="0"/>
          </a:p>
        </p:txBody>
      </p:sp>
      <p:sp>
        <p:nvSpPr>
          <p:cNvPr id="12" name="Shape 10"/>
          <p:cNvSpPr/>
          <p:nvPr/>
        </p:nvSpPr>
        <p:spPr>
          <a:xfrm>
            <a:off x="502920" y="5440680"/>
            <a:ext cx="5120640" cy="960120"/>
          </a:xfrm>
          <a:prstGeom prst="roundRect">
            <a:avLst>
              <a:gd name="adj" fmla="val 8571"/>
            </a:avLst>
          </a:prstGeom>
          <a:solidFill>
            <a:srgbClr val="12483F"/>
          </a:solidFill>
          <a:ln w="12700">
            <a:solidFill>
              <a:srgbClr val="2A7566"/>
            </a:solidFill>
            <a:prstDash val="solid"/>
          </a:ln>
        </p:spPr>
      </p:sp>
      <p:sp>
        <p:nvSpPr>
          <p:cNvPr id="13" name="Text 11"/>
          <p:cNvSpPr/>
          <p:nvPr/>
        </p:nvSpPr>
        <p:spPr>
          <a:xfrm>
            <a:off x="731520" y="5541264"/>
            <a:ext cx="4663440" cy="384048"/>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ASEP RIDWAN HIDAYAT</a:t>
            </a:r>
            <a:endParaRPr lang="en-US" sz="1800" dirty="0"/>
          </a:p>
        </p:txBody>
      </p:sp>
      <p:sp>
        <p:nvSpPr>
          <p:cNvPr id="14" name="Text 12"/>
          <p:cNvSpPr/>
          <p:nvPr/>
        </p:nvSpPr>
        <p:spPr>
          <a:xfrm>
            <a:off x="731520" y="5943600"/>
            <a:ext cx="4663440" cy="320040"/>
          </a:xfrm>
          <a:prstGeom prst="rect">
            <a:avLst/>
          </a:prstGeom>
          <a:noFill/>
          <a:ln/>
        </p:spPr>
        <p:txBody>
          <a:bodyPr wrap="square" rtlCol="0" anchor="ctr"/>
          <a:lstStyle/>
          <a:p>
            <a:pPr indent="0" marL="0">
              <a:buNone/>
            </a:pPr>
            <a:r>
              <a:rPr lang="en-US" sz="1200" dirty="0">
                <a:solidFill>
                  <a:srgbClr val="EBD9AF"/>
                </a:solidFill>
                <a:latin typeface="Calibri" pitchFamily="34" charset="0"/>
                <a:ea typeface="Calibri" pitchFamily="34" charset="-122"/>
                <a:cs typeface="Calibri" pitchFamily="34" charset="-120"/>
              </a:rPr>
              <a:t>NIM 231012050036   ·   Universitas Pamulang</a:t>
            </a:r>
            <a:endParaRPr lang="en-US" sz="1200" dirty="0"/>
          </a:p>
        </p:txBody>
      </p:sp>
      <p:pic>
        <p:nvPicPr>
          <p:cNvPr id="15" name="Image 0" descr="/home/claude/assets/pipeline_full.jpeg">    </p:cNvPr>
          <p:cNvPicPr>
            <a:picLocks noChangeAspect="1"/>
          </p:cNvPicPr>
          <p:nvPr/>
        </p:nvPicPr>
        <p:blipFill>
          <a:blip r:embed="rId1"/>
          <a:stretch>
            <a:fillRect/>
          </a:stretch>
        </p:blipFill>
        <p:spPr>
          <a:xfrm>
            <a:off x="8732520" y="4160520"/>
            <a:ext cx="2971800" cy="1984248"/>
          </a:xfrm>
          <a:prstGeom prst="ellipse">
            <a:avLst/>
          </a:prstGeom>
        </p:spPr>
      </p:pic>
      <p:sp>
        <p:nvSpPr>
          <p:cNvPr id="16" name="Text 13"/>
          <p:cNvSpPr/>
          <p:nvPr/>
        </p:nvSpPr>
        <p:spPr>
          <a:xfrm>
            <a:off x="8732520" y="6263640"/>
            <a:ext cx="2971800" cy="457200"/>
          </a:xfrm>
          <a:prstGeom prst="rect">
            <a:avLst/>
          </a:prstGeom>
          <a:noFill/>
          <a:ln/>
        </p:spPr>
        <p:txBody>
          <a:bodyPr wrap="square" rtlCol="0" anchor="ctr"/>
          <a:lstStyle/>
          <a:p>
            <a:pPr algn="ctr" indent="0" marL="0">
              <a:buNone/>
            </a:pPr>
            <a:r>
              <a:rPr lang="en-US" sz="950" i="1" dirty="0">
                <a:solidFill>
                  <a:srgbClr val="9FC2BA"/>
                </a:solidFill>
                <a:latin typeface="Calibri" pitchFamily="34" charset="0"/>
                <a:ea typeface="Calibri" pitchFamily="34" charset="-122"/>
                <a:cs typeface="Calibri" pitchFamily="34" charset="-120"/>
              </a:rPr>
              <a:t>Correlated Topic Modeling  ×  BERTopic</a:t>
            </a:r>
            <a:endParaRPr lang="en-US" sz="950" dirty="0"/>
          </a:p>
          <a:p>
            <a:pPr algn="ctr" indent="0" marL="0">
              <a:buNone/>
            </a:pPr>
            <a:r>
              <a:rPr lang="en-US" sz="950" i="1" dirty="0">
                <a:solidFill>
                  <a:srgbClr val="9FC2BA"/>
                </a:solidFill>
                <a:latin typeface="Calibri" pitchFamily="34" charset="0"/>
                <a:ea typeface="Calibri" pitchFamily="34" charset="-122"/>
                <a:cs typeface="Calibri" pitchFamily="34" charset="-120"/>
              </a:rPr>
              <a:t>pada Korpus Terjemahan Al-Qur’an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2327148" cy="310896"/>
          </a:xfrm>
          <a:prstGeom prst="roundRect">
            <a:avLst>
              <a:gd name="adj" fmla="val 50000"/>
            </a:avLst>
          </a:prstGeom>
          <a:solidFill>
            <a:srgbClr val="12483F"/>
          </a:solidFill>
          <a:ln/>
        </p:spPr>
      </p:sp>
      <p:sp>
        <p:nvSpPr>
          <p:cNvPr id="3" name="Text 1"/>
          <p:cNvSpPr/>
          <p:nvPr/>
        </p:nvSpPr>
        <p:spPr>
          <a:xfrm>
            <a:off x="502920" y="411480"/>
            <a:ext cx="2327148"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01 | LATAR BELAKANG</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800" b="1" dirty="0">
                <a:solidFill>
                  <a:srgbClr val="0D3B33"/>
                </a:solidFill>
                <a:latin typeface="Cambria" pitchFamily="34" charset="0"/>
                <a:ea typeface="Cambria" pitchFamily="34" charset="-122"/>
                <a:cs typeface="Cambria" pitchFamily="34" charset="-120"/>
              </a:rPr>
              <a:t>Mengapa Penelitian Ini Penting?</a:t>
            </a:r>
            <a:endParaRPr lang="en-US" sz="2800" dirty="0"/>
          </a:p>
        </p:txBody>
      </p:sp>
      <p:sp>
        <p:nvSpPr>
          <p:cNvPr id="5" name="Shape 3"/>
          <p:cNvSpPr/>
          <p:nvPr/>
        </p:nvSpPr>
        <p:spPr>
          <a:xfrm>
            <a:off x="502920" y="1627632"/>
            <a:ext cx="310896" cy="310896"/>
          </a:xfrm>
          <a:prstGeom prst="ellipse">
            <a:avLst/>
          </a:prstGeom>
          <a:solidFill>
            <a:srgbClr val="12483F"/>
          </a:solidFill>
          <a:ln/>
        </p:spPr>
      </p:sp>
      <p:sp>
        <p:nvSpPr>
          <p:cNvPr id="6" name="Text 4"/>
          <p:cNvSpPr/>
          <p:nvPr/>
        </p:nvSpPr>
        <p:spPr>
          <a:xfrm>
            <a:off x="502920" y="1627632"/>
            <a:ext cx="310896" cy="310896"/>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960120" y="1591056"/>
            <a:ext cx="6080760" cy="841248"/>
          </a:xfrm>
          <a:prstGeom prst="rect">
            <a:avLst/>
          </a:prstGeom>
          <a:noFill/>
          <a:ln/>
        </p:spPr>
        <p:txBody>
          <a:bodyPr wrap="square" rtlCol="0" anchor="t"/>
          <a:lstStyle/>
          <a:p>
            <a:pPr indent="0" marL="0">
              <a:lnSpc>
                <a:spcPct val="115000"/>
              </a:lnSpc>
              <a:buNone/>
            </a:pPr>
            <a:r>
              <a:rPr lang="en-US" sz="1250" b="1" dirty="0">
                <a:solidFill>
                  <a:srgbClr val="0D3B33"/>
                </a:solidFill>
                <a:latin typeface="Calibri" pitchFamily="34" charset="0"/>
                <a:ea typeface="Calibri" pitchFamily="34" charset="-122"/>
                <a:cs typeface="Calibri" pitchFamily="34" charset="-120"/>
              </a:rPr>
              <a:t>Pemodelan topik.  </a:t>
            </a:r>
            <a:pPr indent="0" marL="0">
              <a:lnSpc>
                <a:spcPct val="115000"/>
              </a:lnSpc>
              <a:buNone/>
            </a:pPr>
            <a:r>
              <a:rPr lang="en-US" sz="1250" dirty="0">
                <a:solidFill>
                  <a:srgbClr val="374644"/>
                </a:solidFill>
                <a:latin typeface="Calibri" pitchFamily="34" charset="0"/>
                <a:ea typeface="Calibri" pitchFamily="34" charset="-122"/>
                <a:cs typeface="Calibri" pitchFamily="34" charset="-120"/>
              </a:rPr>
              <a:t>adalah pendekatan penting dalam analisis teks untuk menemukan tema tersembunyi dalam kumpulan dokumen besar secara otomatis (Blei et al., 2003a).</a:t>
            </a:r>
            <a:endParaRPr lang="en-US" sz="1250" dirty="0"/>
          </a:p>
        </p:txBody>
      </p:sp>
      <p:sp>
        <p:nvSpPr>
          <p:cNvPr id="8" name="Shape 6"/>
          <p:cNvSpPr/>
          <p:nvPr/>
        </p:nvSpPr>
        <p:spPr>
          <a:xfrm>
            <a:off x="502920" y="2560320"/>
            <a:ext cx="310896" cy="310896"/>
          </a:xfrm>
          <a:prstGeom prst="ellipse">
            <a:avLst/>
          </a:prstGeom>
          <a:solidFill>
            <a:srgbClr val="12483F"/>
          </a:solidFill>
          <a:ln/>
        </p:spPr>
      </p:sp>
      <p:sp>
        <p:nvSpPr>
          <p:cNvPr id="9" name="Text 7"/>
          <p:cNvSpPr/>
          <p:nvPr/>
        </p:nvSpPr>
        <p:spPr>
          <a:xfrm>
            <a:off x="502920" y="2560320"/>
            <a:ext cx="310896" cy="310896"/>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0" name="Text 8"/>
          <p:cNvSpPr/>
          <p:nvPr/>
        </p:nvSpPr>
        <p:spPr>
          <a:xfrm>
            <a:off x="960120" y="2523744"/>
            <a:ext cx="6080760" cy="841248"/>
          </a:xfrm>
          <a:prstGeom prst="rect">
            <a:avLst/>
          </a:prstGeom>
          <a:noFill/>
          <a:ln/>
        </p:spPr>
        <p:txBody>
          <a:bodyPr wrap="square" rtlCol="0" anchor="t"/>
          <a:lstStyle/>
          <a:p>
            <a:pPr indent="0" marL="0">
              <a:lnSpc>
                <a:spcPct val="115000"/>
              </a:lnSpc>
              <a:buNone/>
            </a:pPr>
            <a:r>
              <a:rPr lang="en-US" sz="1250" b="1" dirty="0">
                <a:solidFill>
                  <a:srgbClr val="0D3B33"/>
                </a:solidFill>
                <a:latin typeface="Calibri" pitchFamily="34" charset="0"/>
                <a:ea typeface="Calibri" pitchFamily="34" charset="-122"/>
                <a:cs typeface="Calibri" pitchFamily="34" charset="-120"/>
              </a:rPr>
              <a:t>Teks Al-Qur’an.  </a:t>
            </a:r>
            <a:pPr indent="0" marL="0">
              <a:lnSpc>
                <a:spcPct val="115000"/>
              </a:lnSpc>
              <a:buNone/>
            </a:pPr>
            <a:r>
              <a:rPr lang="en-US" sz="1250" dirty="0">
                <a:solidFill>
                  <a:srgbClr val="374644"/>
                </a:solidFill>
                <a:latin typeface="Calibri" pitchFamily="34" charset="0"/>
                <a:ea typeface="Calibri" pitchFamily="34" charset="-122"/>
                <a:cs typeface="Calibri" pitchFamily="34" charset="-120"/>
              </a:rPr>
              <a:t>bersifat kompleks dan kontekstual, sehingga memerlukan pendekatan pemodelan yang mampu menangkap makna secara mendalam.</a:t>
            </a:r>
            <a:endParaRPr lang="en-US" sz="1250" dirty="0"/>
          </a:p>
        </p:txBody>
      </p:sp>
      <p:sp>
        <p:nvSpPr>
          <p:cNvPr id="11" name="Shape 9"/>
          <p:cNvSpPr/>
          <p:nvPr/>
        </p:nvSpPr>
        <p:spPr>
          <a:xfrm>
            <a:off x="502920" y="3493008"/>
            <a:ext cx="310896" cy="310896"/>
          </a:xfrm>
          <a:prstGeom prst="ellipse">
            <a:avLst/>
          </a:prstGeom>
          <a:solidFill>
            <a:srgbClr val="12483F"/>
          </a:solidFill>
          <a:ln/>
        </p:spPr>
      </p:sp>
      <p:sp>
        <p:nvSpPr>
          <p:cNvPr id="12" name="Text 10"/>
          <p:cNvSpPr/>
          <p:nvPr/>
        </p:nvSpPr>
        <p:spPr>
          <a:xfrm>
            <a:off x="502920" y="3493008"/>
            <a:ext cx="310896" cy="310896"/>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3" name="Text 11"/>
          <p:cNvSpPr/>
          <p:nvPr/>
        </p:nvSpPr>
        <p:spPr>
          <a:xfrm>
            <a:off x="960120" y="3456432"/>
            <a:ext cx="6080760" cy="841248"/>
          </a:xfrm>
          <a:prstGeom prst="rect">
            <a:avLst/>
          </a:prstGeom>
          <a:noFill/>
          <a:ln/>
        </p:spPr>
        <p:txBody>
          <a:bodyPr wrap="square" rtlCol="0" anchor="t"/>
          <a:lstStyle/>
          <a:p>
            <a:pPr indent="0" marL="0">
              <a:lnSpc>
                <a:spcPct val="115000"/>
              </a:lnSpc>
              <a:buNone/>
            </a:pPr>
            <a:r>
              <a:rPr lang="en-US" sz="1250" b="1" dirty="0">
                <a:solidFill>
                  <a:srgbClr val="0D3B33"/>
                </a:solidFill>
                <a:latin typeface="Calibri" pitchFamily="34" charset="0"/>
                <a:ea typeface="Calibri" pitchFamily="34" charset="-122"/>
                <a:cs typeface="Calibri" pitchFamily="34" charset="-120"/>
              </a:rPr>
              <a:t>CTM &amp; BERTopic.  </a:t>
            </a:r>
            <a:pPr indent="0" marL="0">
              <a:lnSpc>
                <a:spcPct val="115000"/>
              </a:lnSpc>
              <a:buNone/>
            </a:pPr>
            <a:r>
              <a:rPr lang="en-US" sz="1250" dirty="0">
                <a:solidFill>
                  <a:srgbClr val="374644"/>
                </a:solidFill>
                <a:latin typeface="Calibri" pitchFamily="34" charset="0"/>
                <a:ea typeface="Calibri" pitchFamily="34" charset="-122"/>
                <a:cs typeface="Calibri" pitchFamily="34" charset="-120"/>
              </a:rPr>
              <a:t>hadir sebagai solusi alternatif terbaru dalam menganalisis teks Al-Qur’an secara komputasional.</a:t>
            </a:r>
            <a:endParaRPr lang="en-US" sz="1250" dirty="0"/>
          </a:p>
        </p:txBody>
      </p:sp>
      <p:sp>
        <p:nvSpPr>
          <p:cNvPr id="14" name="Shape 12"/>
          <p:cNvSpPr/>
          <p:nvPr/>
        </p:nvSpPr>
        <p:spPr>
          <a:xfrm>
            <a:off x="502920" y="4425696"/>
            <a:ext cx="310896" cy="310896"/>
          </a:xfrm>
          <a:prstGeom prst="ellipse">
            <a:avLst/>
          </a:prstGeom>
          <a:solidFill>
            <a:srgbClr val="12483F"/>
          </a:solidFill>
          <a:ln/>
        </p:spPr>
      </p:sp>
      <p:sp>
        <p:nvSpPr>
          <p:cNvPr id="15" name="Text 13"/>
          <p:cNvSpPr/>
          <p:nvPr/>
        </p:nvSpPr>
        <p:spPr>
          <a:xfrm>
            <a:off x="502920" y="4425696"/>
            <a:ext cx="310896" cy="310896"/>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6" name="Text 14"/>
          <p:cNvSpPr/>
          <p:nvPr/>
        </p:nvSpPr>
        <p:spPr>
          <a:xfrm>
            <a:off x="960120" y="4389120"/>
            <a:ext cx="6080760" cy="841248"/>
          </a:xfrm>
          <a:prstGeom prst="rect">
            <a:avLst/>
          </a:prstGeom>
          <a:noFill/>
          <a:ln/>
        </p:spPr>
        <p:txBody>
          <a:bodyPr wrap="square" rtlCol="0" anchor="t"/>
          <a:lstStyle/>
          <a:p>
            <a:pPr indent="0" marL="0">
              <a:lnSpc>
                <a:spcPct val="115000"/>
              </a:lnSpc>
              <a:buNone/>
            </a:pPr>
            <a:r>
              <a:rPr lang="en-US" sz="1250" b="1" dirty="0">
                <a:solidFill>
                  <a:srgbClr val="0D3B33"/>
                </a:solidFill>
                <a:latin typeface="Calibri" pitchFamily="34" charset="0"/>
                <a:ea typeface="Calibri" pitchFamily="34" charset="-122"/>
                <a:cs typeface="Calibri" pitchFamily="34" charset="-120"/>
              </a:rPr>
              <a:t>Gap penelitian.  </a:t>
            </a:r>
            <a:pPr indent="0" marL="0">
              <a:lnSpc>
                <a:spcPct val="115000"/>
              </a:lnSpc>
              <a:buNone/>
            </a:pPr>
            <a:r>
              <a:rPr lang="en-US" sz="1250" dirty="0">
                <a:solidFill>
                  <a:srgbClr val="374644"/>
                </a:solidFill>
                <a:latin typeface="Calibri" pitchFamily="34" charset="0"/>
                <a:ea typeface="Calibri" pitchFamily="34" charset="-122"/>
                <a:cs typeface="Calibri" pitchFamily="34" charset="-120"/>
              </a:rPr>
              <a:t>penerapan kedua metode ini pada korpus teks religius — khususnya teks terjemahan Al-Qur’an berbahasa Indonesia — belum banyak digunakan.</a:t>
            </a:r>
            <a:endParaRPr lang="en-US" sz="1250" dirty="0"/>
          </a:p>
        </p:txBody>
      </p:sp>
      <p:sp>
        <p:nvSpPr>
          <p:cNvPr id="17" name="Shape 15"/>
          <p:cNvSpPr/>
          <p:nvPr/>
        </p:nvSpPr>
        <p:spPr>
          <a:xfrm>
            <a:off x="7086600" y="1627632"/>
            <a:ext cx="4572000" cy="877824"/>
          </a:xfrm>
          <a:prstGeom prst="roundRect">
            <a:avLst>
              <a:gd name="adj" fmla="val 9375"/>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18" name="Text 16"/>
          <p:cNvSpPr/>
          <p:nvPr/>
        </p:nvSpPr>
        <p:spPr>
          <a:xfrm>
            <a:off x="7086600" y="1719072"/>
            <a:ext cx="4572000" cy="509138"/>
          </a:xfrm>
          <a:prstGeom prst="rect">
            <a:avLst/>
          </a:prstGeom>
          <a:noFill/>
          <a:ln/>
        </p:spPr>
        <p:txBody>
          <a:bodyPr wrap="square" rtlCol="0" anchor="b"/>
          <a:lstStyle/>
          <a:p>
            <a:pPr algn="ctr" indent="0" marL="0">
              <a:buNone/>
            </a:pPr>
            <a:r>
              <a:rPr lang="en-US" sz="2600" b="1" dirty="0">
                <a:solidFill>
                  <a:srgbClr val="C79A45"/>
                </a:solidFill>
                <a:latin typeface="Cambria" pitchFamily="34" charset="0"/>
                <a:ea typeface="Cambria" pitchFamily="34" charset="-122"/>
                <a:cs typeface="Cambria" pitchFamily="34" charset="-120"/>
              </a:rPr>
              <a:t>114</a:t>
            </a:r>
            <a:endParaRPr lang="en-US" sz="2600" dirty="0"/>
          </a:p>
        </p:txBody>
      </p:sp>
      <p:sp>
        <p:nvSpPr>
          <p:cNvPr id="19" name="Text 17"/>
          <p:cNvSpPr/>
          <p:nvPr/>
        </p:nvSpPr>
        <p:spPr>
          <a:xfrm>
            <a:off x="7086600" y="2171883"/>
            <a:ext cx="4572000" cy="298460"/>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Surat</a:t>
            </a:r>
            <a:endParaRPr lang="en-US" sz="1050" dirty="0"/>
          </a:p>
        </p:txBody>
      </p:sp>
      <p:sp>
        <p:nvSpPr>
          <p:cNvPr id="20" name="Shape 18"/>
          <p:cNvSpPr/>
          <p:nvPr/>
        </p:nvSpPr>
        <p:spPr>
          <a:xfrm>
            <a:off x="7086600" y="2670048"/>
            <a:ext cx="4572000" cy="877824"/>
          </a:xfrm>
          <a:prstGeom prst="roundRect">
            <a:avLst>
              <a:gd name="adj" fmla="val 9375"/>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21" name="Text 19"/>
          <p:cNvSpPr/>
          <p:nvPr/>
        </p:nvSpPr>
        <p:spPr>
          <a:xfrm>
            <a:off x="7086600" y="2761488"/>
            <a:ext cx="4572000" cy="509138"/>
          </a:xfrm>
          <a:prstGeom prst="rect">
            <a:avLst/>
          </a:prstGeom>
          <a:noFill/>
          <a:ln/>
        </p:spPr>
        <p:txBody>
          <a:bodyPr wrap="square" rtlCol="0" anchor="b"/>
          <a:lstStyle/>
          <a:p>
            <a:pPr algn="ctr" indent="0" marL="0">
              <a:buNone/>
            </a:pPr>
            <a:r>
              <a:rPr lang="en-US" sz="2600" b="1" dirty="0">
                <a:solidFill>
                  <a:srgbClr val="C79A45"/>
                </a:solidFill>
                <a:latin typeface="Cambria" pitchFamily="34" charset="0"/>
                <a:ea typeface="Cambria" pitchFamily="34" charset="-122"/>
                <a:cs typeface="Cambria" pitchFamily="34" charset="-120"/>
              </a:rPr>
              <a:t>6.236</a:t>
            </a:r>
            <a:endParaRPr lang="en-US" sz="2600" dirty="0"/>
          </a:p>
        </p:txBody>
      </p:sp>
      <p:sp>
        <p:nvSpPr>
          <p:cNvPr id="22" name="Text 20"/>
          <p:cNvSpPr/>
          <p:nvPr/>
        </p:nvSpPr>
        <p:spPr>
          <a:xfrm>
            <a:off x="7086600" y="3214299"/>
            <a:ext cx="4572000" cy="298460"/>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Ayat Al-Qur’an</a:t>
            </a:r>
            <a:endParaRPr lang="en-US" sz="1050" dirty="0"/>
          </a:p>
        </p:txBody>
      </p:sp>
      <p:sp>
        <p:nvSpPr>
          <p:cNvPr id="23" name="Shape 21"/>
          <p:cNvSpPr/>
          <p:nvPr/>
        </p:nvSpPr>
        <p:spPr>
          <a:xfrm>
            <a:off x="7086600" y="3712464"/>
            <a:ext cx="4572000" cy="877824"/>
          </a:xfrm>
          <a:prstGeom prst="roundRect">
            <a:avLst>
              <a:gd name="adj" fmla="val 9375"/>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24" name="Text 22"/>
          <p:cNvSpPr/>
          <p:nvPr/>
        </p:nvSpPr>
        <p:spPr>
          <a:xfrm>
            <a:off x="7086600" y="3803904"/>
            <a:ext cx="4572000" cy="509138"/>
          </a:xfrm>
          <a:prstGeom prst="rect">
            <a:avLst/>
          </a:prstGeom>
          <a:noFill/>
          <a:ln/>
        </p:spPr>
        <p:txBody>
          <a:bodyPr wrap="square" rtlCol="0" anchor="b"/>
          <a:lstStyle/>
          <a:p>
            <a:pPr algn="ctr" indent="0" marL="0">
              <a:buNone/>
            </a:pPr>
            <a:r>
              <a:rPr lang="en-US" sz="2600" b="1" dirty="0">
                <a:solidFill>
                  <a:srgbClr val="C79A45"/>
                </a:solidFill>
                <a:latin typeface="Cambria" pitchFamily="34" charset="0"/>
                <a:ea typeface="Cambria" pitchFamily="34" charset="-122"/>
                <a:cs typeface="Cambria" pitchFamily="34" charset="-120"/>
              </a:rPr>
              <a:t>77.439</a:t>
            </a:r>
            <a:endParaRPr lang="en-US" sz="2600" dirty="0"/>
          </a:p>
        </p:txBody>
      </p:sp>
      <p:sp>
        <p:nvSpPr>
          <p:cNvPr id="25" name="Text 23"/>
          <p:cNvSpPr/>
          <p:nvPr/>
        </p:nvSpPr>
        <p:spPr>
          <a:xfrm>
            <a:off x="7086600" y="4256715"/>
            <a:ext cx="4572000" cy="298460"/>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Kata Terjemah</a:t>
            </a:r>
            <a:endParaRPr lang="en-US" sz="1050" dirty="0"/>
          </a:p>
        </p:txBody>
      </p:sp>
      <p:sp>
        <p:nvSpPr>
          <p:cNvPr id="26" name="Text 24"/>
          <p:cNvSpPr/>
          <p:nvPr/>
        </p:nvSpPr>
        <p:spPr>
          <a:xfrm>
            <a:off x="7086600" y="4736592"/>
            <a:ext cx="4572000" cy="274320"/>
          </a:xfrm>
          <a:prstGeom prst="rect">
            <a:avLst/>
          </a:prstGeom>
          <a:noFill/>
          <a:ln/>
        </p:spPr>
        <p:txBody>
          <a:bodyPr wrap="square" rtlCol="0" anchor="ctr"/>
          <a:lstStyle/>
          <a:p>
            <a:pPr indent="0" marL="0">
              <a:buNone/>
            </a:pPr>
            <a:r>
              <a:rPr lang="en-US" sz="950" i="1" dirty="0">
                <a:solidFill>
                  <a:srgbClr val="6B7A77"/>
                </a:solidFill>
                <a:latin typeface="Calibri" pitchFamily="34" charset="0"/>
                <a:ea typeface="Calibri" pitchFamily="34" charset="-122"/>
                <a:cs typeface="Calibri" pitchFamily="34" charset="-120"/>
              </a:rPr>
              <a:t>Sumber: Terjemahan Kementerian Agama RI</a:t>
            </a:r>
            <a:endParaRPr lang="en-US" sz="950" dirty="0"/>
          </a:p>
        </p:txBody>
      </p:sp>
      <p:sp>
        <p:nvSpPr>
          <p:cNvPr id="27" name="Shape 25"/>
          <p:cNvSpPr/>
          <p:nvPr/>
        </p:nvSpPr>
        <p:spPr>
          <a:xfrm>
            <a:off x="502920" y="5440680"/>
            <a:ext cx="11183112" cy="868680"/>
          </a:xfrm>
          <a:prstGeom prst="roundRect">
            <a:avLst>
              <a:gd name="adj" fmla="val 7368"/>
            </a:avLst>
          </a:prstGeom>
          <a:solidFill>
            <a:srgbClr val="F3F7F6"/>
          </a:solidFill>
          <a:ln w="12700">
            <a:solidFill>
              <a:srgbClr val="E6EEEB"/>
            </a:solidFill>
            <a:prstDash val="solid"/>
          </a:ln>
        </p:spPr>
      </p:sp>
      <p:sp>
        <p:nvSpPr>
          <p:cNvPr id="28" name="Shape 26"/>
          <p:cNvSpPr/>
          <p:nvPr/>
        </p:nvSpPr>
        <p:spPr>
          <a:xfrm>
            <a:off x="649224" y="5568696"/>
            <a:ext cx="82296" cy="82296"/>
          </a:xfrm>
          <a:prstGeom prst="roundRect">
            <a:avLst>
              <a:gd name="adj" fmla="val 50000"/>
            </a:avLst>
          </a:prstGeom>
          <a:solidFill>
            <a:srgbClr val="C79A45"/>
          </a:solidFill>
          <a:ln/>
        </p:spPr>
      </p:sp>
      <p:sp>
        <p:nvSpPr>
          <p:cNvPr id="29" name="Text 27"/>
          <p:cNvSpPr/>
          <p:nvPr/>
        </p:nvSpPr>
        <p:spPr>
          <a:xfrm>
            <a:off x="813816" y="5513832"/>
            <a:ext cx="10725912"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CATATAN AKADEMIK</a:t>
            </a:r>
            <a:endParaRPr lang="en-US" sz="950" dirty="0"/>
          </a:p>
        </p:txBody>
      </p:sp>
      <p:sp>
        <p:nvSpPr>
          <p:cNvPr id="30" name="Text 28"/>
          <p:cNvSpPr/>
          <p:nvPr/>
        </p:nvSpPr>
        <p:spPr>
          <a:xfrm>
            <a:off x="649224" y="5751576"/>
            <a:ext cx="10890504" cy="484632"/>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Secara metodologis, CTM (Blei &amp; Lafferty, 2007) memperluas Latent Dirichlet Allocation dengan memodelkan korelasi antar-topik melalui distribusi logistic-normal, sedangkan BERTopic (Grootendorst, 2022) memanfaatkan sentence embedding transformer dan clustering berbasis kepadatan (HDBSCAN) sehingga relevan dibandingkan pada korpus religius berbahasa Indonesia.</a:t>
            </a:r>
            <a:endParaRPr lang="en-US" sz="1000" dirty="0"/>
          </a:p>
        </p:txBody>
      </p:sp>
      <p:sp>
        <p:nvSpPr>
          <p:cNvPr id="31" name="Text 29"/>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32" name="Text 30"/>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2423160" cy="310896"/>
          </a:xfrm>
          <a:prstGeom prst="roundRect">
            <a:avLst>
              <a:gd name="adj" fmla="val 50000"/>
            </a:avLst>
          </a:prstGeom>
          <a:solidFill>
            <a:srgbClr val="12483F"/>
          </a:solidFill>
          <a:ln/>
        </p:spPr>
      </p:sp>
      <p:sp>
        <p:nvSpPr>
          <p:cNvPr id="3" name="Text 1"/>
          <p:cNvSpPr/>
          <p:nvPr/>
        </p:nvSpPr>
        <p:spPr>
          <a:xfrm>
            <a:off x="502920" y="411480"/>
            <a:ext cx="2423160"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02 | RUMUSAN MASALAH</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800" b="1" dirty="0">
                <a:solidFill>
                  <a:srgbClr val="0D3B33"/>
                </a:solidFill>
                <a:latin typeface="Cambria" pitchFamily="34" charset="0"/>
                <a:ea typeface="Cambria" pitchFamily="34" charset="-122"/>
                <a:cs typeface="Cambria" pitchFamily="34" charset="-120"/>
              </a:rPr>
              <a:t>Permasalahan Penelitian</a:t>
            </a:r>
            <a:endParaRPr lang="en-US" sz="2800" dirty="0"/>
          </a:p>
        </p:txBody>
      </p:sp>
      <p:sp>
        <p:nvSpPr>
          <p:cNvPr id="5" name="Text 3"/>
          <p:cNvSpPr/>
          <p:nvPr/>
        </p:nvSpPr>
        <p:spPr>
          <a:xfrm>
            <a:off x="502920" y="1572768"/>
            <a:ext cx="5303520" cy="274320"/>
          </a:xfrm>
          <a:prstGeom prst="rect">
            <a:avLst/>
          </a:prstGeom>
          <a:noFill/>
          <a:ln/>
        </p:spPr>
        <p:txBody>
          <a:bodyPr wrap="square" rtlCol="0" anchor="ctr"/>
          <a:lstStyle/>
          <a:p>
            <a:pPr indent="0" marL="0">
              <a:buNone/>
            </a:pPr>
            <a:r>
              <a:rPr lang="en-US" sz="1200" b="1" spc="100" kern="0" dirty="0">
                <a:solidFill>
                  <a:srgbClr val="12483F"/>
                </a:solidFill>
                <a:latin typeface="Calibri" pitchFamily="34" charset="0"/>
                <a:ea typeface="Calibri" pitchFamily="34" charset="-122"/>
                <a:cs typeface="Calibri" pitchFamily="34" charset="-120"/>
              </a:rPr>
              <a:t>IDENTIFIKASI MASALAH</a:t>
            </a:r>
            <a:endParaRPr lang="en-US" sz="1200" dirty="0"/>
          </a:p>
        </p:txBody>
      </p:sp>
      <p:sp>
        <p:nvSpPr>
          <p:cNvPr id="6" name="Text 4"/>
          <p:cNvSpPr/>
          <p:nvPr/>
        </p:nvSpPr>
        <p:spPr>
          <a:xfrm>
            <a:off x="6492240" y="1572768"/>
            <a:ext cx="5303520" cy="274320"/>
          </a:xfrm>
          <a:prstGeom prst="rect">
            <a:avLst/>
          </a:prstGeom>
          <a:noFill/>
          <a:ln/>
        </p:spPr>
        <p:txBody>
          <a:bodyPr wrap="square" rtlCol="0" anchor="ctr"/>
          <a:lstStyle/>
          <a:p>
            <a:pPr indent="0" marL="0">
              <a:buNone/>
            </a:pPr>
            <a:r>
              <a:rPr lang="en-US" sz="1200" b="1" spc="100" kern="0" dirty="0">
                <a:solidFill>
                  <a:srgbClr val="C79A45"/>
                </a:solidFill>
                <a:latin typeface="Calibri" pitchFamily="34" charset="0"/>
                <a:ea typeface="Calibri" pitchFamily="34" charset="-122"/>
                <a:cs typeface="Calibri" pitchFamily="34" charset="-120"/>
              </a:rPr>
              <a:t>RUMUSAN MASALAH</a:t>
            </a:r>
            <a:endParaRPr lang="en-US" sz="1200" dirty="0"/>
          </a:p>
        </p:txBody>
      </p:sp>
      <p:sp>
        <p:nvSpPr>
          <p:cNvPr id="7" name="Shape 5"/>
          <p:cNvSpPr/>
          <p:nvPr/>
        </p:nvSpPr>
        <p:spPr>
          <a:xfrm>
            <a:off x="502920" y="1956816"/>
            <a:ext cx="5303520" cy="1005840"/>
          </a:xfrm>
          <a:prstGeom prst="roundRect">
            <a:avLst>
              <a:gd name="adj" fmla="val 6364"/>
            </a:avLst>
          </a:prstGeom>
          <a:solidFill>
            <a:srgbClr val="F4F7F6"/>
          </a:solidFill>
          <a:ln w="9525">
            <a:solidFill>
              <a:srgbClr val="DCE5E2"/>
            </a:solidFill>
            <a:prstDash val="solid"/>
          </a:ln>
        </p:spPr>
      </p:sp>
      <p:sp>
        <p:nvSpPr>
          <p:cNvPr id="8" name="Shape 6"/>
          <p:cNvSpPr/>
          <p:nvPr/>
        </p:nvSpPr>
        <p:spPr>
          <a:xfrm>
            <a:off x="649224" y="2103120"/>
            <a:ext cx="292608" cy="292608"/>
          </a:xfrm>
          <a:prstGeom prst="ellipse">
            <a:avLst/>
          </a:prstGeom>
          <a:solidFill>
            <a:srgbClr val="12483F"/>
          </a:solidFill>
          <a:ln/>
        </p:spPr>
      </p:sp>
      <p:sp>
        <p:nvSpPr>
          <p:cNvPr id="9" name="Text 7"/>
          <p:cNvSpPr/>
          <p:nvPr/>
        </p:nvSpPr>
        <p:spPr>
          <a:xfrm>
            <a:off x="649224" y="2103120"/>
            <a:ext cx="292608" cy="292608"/>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0" name="Text 8"/>
          <p:cNvSpPr/>
          <p:nvPr/>
        </p:nvSpPr>
        <p:spPr>
          <a:xfrm>
            <a:off x="1069848" y="2048256"/>
            <a:ext cx="4617720" cy="822960"/>
          </a:xfrm>
          <a:prstGeom prst="rect">
            <a:avLst/>
          </a:prstGeom>
          <a:noFill/>
          <a:ln/>
        </p:spPr>
        <p:txBody>
          <a:bodyPr wrap="square" rtlCol="0" anchor="ctr"/>
          <a:lstStyle/>
          <a:p>
            <a:pPr indent="0" marL="0">
              <a:lnSpc>
                <a:spcPct val="112000"/>
              </a:lnSpc>
              <a:buNone/>
            </a:pPr>
            <a:r>
              <a:rPr lang="en-US" sz="1100" dirty="0">
                <a:solidFill>
                  <a:srgbClr val="374644"/>
                </a:solidFill>
                <a:latin typeface="Calibri" pitchFamily="34" charset="0"/>
                <a:ea typeface="Calibri" pitchFamily="34" charset="-122"/>
                <a:cs typeface="Calibri" pitchFamily="34" charset="-120"/>
              </a:rPr>
              <a:t>Teks terjemahan Al-Qur'an memiliki kompleksitas linguistik tinggi yang menyulitkan pemodelan semantik</a:t>
            </a:r>
            <a:endParaRPr lang="en-US" sz="1100" dirty="0"/>
          </a:p>
        </p:txBody>
      </p:sp>
      <p:sp>
        <p:nvSpPr>
          <p:cNvPr id="11" name="Shape 9"/>
          <p:cNvSpPr/>
          <p:nvPr/>
        </p:nvSpPr>
        <p:spPr>
          <a:xfrm>
            <a:off x="6492240" y="1956816"/>
            <a:ext cx="5303520" cy="1005840"/>
          </a:xfrm>
          <a:prstGeom prst="roundRect">
            <a:avLst>
              <a:gd name="adj" fmla="val 6364"/>
            </a:avLst>
          </a:prstGeom>
          <a:solidFill>
            <a:srgbClr val="F3F7F6"/>
          </a:solidFill>
          <a:ln w="9525">
            <a:solidFill>
              <a:srgbClr val="EBD9AF"/>
            </a:solidFill>
            <a:prstDash val="solid"/>
          </a:ln>
        </p:spPr>
      </p:sp>
      <p:sp>
        <p:nvSpPr>
          <p:cNvPr id="12" name="Shape 10"/>
          <p:cNvSpPr/>
          <p:nvPr/>
        </p:nvSpPr>
        <p:spPr>
          <a:xfrm>
            <a:off x="6638544" y="2103120"/>
            <a:ext cx="292608" cy="292608"/>
          </a:xfrm>
          <a:prstGeom prst="ellipse">
            <a:avLst/>
          </a:prstGeom>
          <a:solidFill>
            <a:srgbClr val="C79A45"/>
          </a:solidFill>
          <a:ln/>
        </p:spPr>
      </p:sp>
      <p:sp>
        <p:nvSpPr>
          <p:cNvPr id="13" name="Text 11"/>
          <p:cNvSpPr/>
          <p:nvPr/>
        </p:nvSpPr>
        <p:spPr>
          <a:xfrm>
            <a:off x="6638544" y="2103120"/>
            <a:ext cx="292608" cy="292608"/>
          </a:xfrm>
          <a:prstGeom prst="rect">
            <a:avLst/>
          </a:prstGeom>
          <a:noFill/>
          <a:ln/>
        </p:spPr>
        <p:txBody>
          <a:bodyPr wrap="square" rtlCol="0" anchor="ctr"/>
          <a:lstStyle/>
          <a:p>
            <a:pPr algn="ctr" indent="0" marL="0">
              <a:buNone/>
            </a:pPr>
            <a:r>
              <a:rPr lang="en-US" sz="1200" b="1" dirty="0">
                <a:solidFill>
                  <a:srgbClr val="0D3B33"/>
                </a:solidFill>
                <a:latin typeface="Cambria" pitchFamily="34" charset="0"/>
                <a:ea typeface="Cambria" pitchFamily="34" charset="-122"/>
                <a:cs typeface="Cambria" pitchFamily="34" charset="-120"/>
              </a:rPr>
              <a:t>1</a:t>
            </a:r>
            <a:endParaRPr lang="en-US" sz="1200" dirty="0"/>
          </a:p>
        </p:txBody>
      </p:sp>
      <p:sp>
        <p:nvSpPr>
          <p:cNvPr id="14" name="Text 12"/>
          <p:cNvSpPr/>
          <p:nvPr/>
        </p:nvSpPr>
        <p:spPr>
          <a:xfrm>
            <a:off x="7059168" y="2048256"/>
            <a:ext cx="4617720" cy="822960"/>
          </a:xfrm>
          <a:prstGeom prst="rect">
            <a:avLst/>
          </a:prstGeom>
          <a:noFill/>
          <a:ln/>
        </p:spPr>
        <p:txBody>
          <a:bodyPr wrap="square" rtlCol="0" anchor="ctr"/>
          <a:lstStyle/>
          <a:p>
            <a:pPr indent="0" marL="0">
              <a:lnSpc>
                <a:spcPct val="112000"/>
              </a:lnSpc>
              <a:buNone/>
            </a:pPr>
            <a:r>
              <a:rPr lang="en-US" sz="1100" dirty="0">
                <a:solidFill>
                  <a:srgbClr val="374644"/>
                </a:solidFill>
                <a:latin typeface="Calibri" pitchFamily="34" charset="0"/>
                <a:ea typeface="Calibri" pitchFamily="34" charset="-122"/>
                <a:cs typeface="Calibri" pitchFamily="34" charset="-120"/>
              </a:rPr>
              <a:t>Bagaimana membangun model CTM &amp; BERTopic untuk teks terjemahan Al-Qur'an?</a:t>
            </a:r>
            <a:endParaRPr lang="en-US" sz="1100" dirty="0"/>
          </a:p>
        </p:txBody>
      </p:sp>
      <p:sp>
        <p:nvSpPr>
          <p:cNvPr id="15" name="Shape 13"/>
          <p:cNvSpPr/>
          <p:nvPr/>
        </p:nvSpPr>
        <p:spPr>
          <a:xfrm>
            <a:off x="502920" y="3072384"/>
            <a:ext cx="5303520" cy="1005840"/>
          </a:xfrm>
          <a:prstGeom prst="roundRect">
            <a:avLst>
              <a:gd name="adj" fmla="val 6364"/>
            </a:avLst>
          </a:prstGeom>
          <a:solidFill>
            <a:srgbClr val="F4F7F6"/>
          </a:solidFill>
          <a:ln w="9525">
            <a:solidFill>
              <a:srgbClr val="DCE5E2"/>
            </a:solidFill>
            <a:prstDash val="solid"/>
          </a:ln>
        </p:spPr>
      </p:sp>
      <p:sp>
        <p:nvSpPr>
          <p:cNvPr id="16" name="Shape 14"/>
          <p:cNvSpPr/>
          <p:nvPr/>
        </p:nvSpPr>
        <p:spPr>
          <a:xfrm>
            <a:off x="649224" y="3218688"/>
            <a:ext cx="292608" cy="292608"/>
          </a:xfrm>
          <a:prstGeom prst="ellipse">
            <a:avLst/>
          </a:prstGeom>
          <a:solidFill>
            <a:srgbClr val="12483F"/>
          </a:solidFill>
          <a:ln/>
        </p:spPr>
      </p:sp>
      <p:sp>
        <p:nvSpPr>
          <p:cNvPr id="17" name="Text 15"/>
          <p:cNvSpPr/>
          <p:nvPr/>
        </p:nvSpPr>
        <p:spPr>
          <a:xfrm>
            <a:off x="649224" y="3218688"/>
            <a:ext cx="292608" cy="292608"/>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8" name="Text 16"/>
          <p:cNvSpPr/>
          <p:nvPr/>
        </p:nvSpPr>
        <p:spPr>
          <a:xfrm>
            <a:off x="1069848" y="3163824"/>
            <a:ext cx="4617720" cy="822960"/>
          </a:xfrm>
          <a:prstGeom prst="rect">
            <a:avLst/>
          </a:prstGeom>
          <a:noFill/>
          <a:ln/>
        </p:spPr>
        <p:txBody>
          <a:bodyPr wrap="square" rtlCol="0" anchor="ctr"/>
          <a:lstStyle/>
          <a:p>
            <a:pPr indent="0" marL="0">
              <a:lnSpc>
                <a:spcPct val="112000"/>
              </a:lnSpc>
              <a:buNone/>
            </a:pPr>
            <a:r>
              <a:rPr lang="en-US" sz="1100" dirty="0">
                <a:solidFill>
                  <a:srgbClr val="374644"/>
                </a:solidFill>
                <a:latin typeface="Calibri" pitchFamily="34" charset="0"/>
                <a:ea typeface="Calibri" pitchFamily="34" charset="-122"/>
                <a:cs typeface="Calibri" pitchFamily="34" charset="-120"/>
              </a:rPr>
              <a:t>CTM &amp; BERTopic memiliki keterbatasan berbeda: performa, komputasi, dan interpretabilitas</a:t>
            </a:r>
            <a:endParaRPr lang="en-US" sz="1100" dirty="0"/>
          </a:p>
        </p:txBody>
      </p:sp>
      <p:sp>
        <p:nvSpPr>
          <p:cNvPr id="19" name="Shape 17"/>
          <p:cNvSpPr/>
          <p:nvPr/>
        </p:nvSpPr>
        <p:spPr>
          <a:xfrm>
            <a:off x="6492240" y="3072384"/>
            <a:ext cx="5303520" cy="1005840"/>
          </a:xfrm>
          <a:prstGeom prst="roundRect">
            <a:avLst>
              <a:gd name="adj" fmla="val 6364"/>
            </a:avLst>
          </a:prstGeom>
          <a:solidFill>
            <a:srgbClr val="F3F7F6"/>
          </a:solidFill>
          <a:ln w="9525">
            <a:solidFill>
              <a:srgbClr val="EBD9AF"/>
            </a:solidFill>
            <a:prstDash val="solid"/>
          </a:ln>
        </p:spPr>
      </p:sp>
      <p:sp>
        <p:nvSpPr>
          <p:cNvPr id="20" name="Shape 18"/>
          <p:cNvSpPr/>
          <p:nvPr/>
        </p:nvSpPr>
        <p:spPr>
          <a:xfrm>
            <a:off x="6638544" y="3218688"/>
            <a:ext cx="292608" cy="292608"/>
          </a:xfrm>
          <a:prstGeom prst="ellipse">
            <a:avLst/>
          </a:prstGeom>
          <a:solidFill>
            <a:srgbClr val="C79A45"/>
          </a:solidFill>
          <a:ln/>
        </p:spPr>
      </p:sp>
      <p:sp>
        <p:nvSpPr>
          <p:cNvPr id="21" name="Text 19"/>
          <p:cNvSpPr/>
          <p:nvPr/>
        </p:nvSpPr>
        <p:spPr>
          <a:xfrm>
            <a:off x="6638544" y="3218688"/>
            <a:ext cx="292608" cy="292608"/>
          </a:xfrm>
          <a:prstGeom prst="rect">
            <a:avLst/>
          </a:prstGeom>
          <a:noFill/>
          <a:ln/>
        </p:spPr>
        <p:txBody>
          <a:bodyPr wrap="square" rtlCol="0" anchor="ctr"/>
          <a:lstStyle/>
          <a:p>
            <a:pPr algn="ctr" indent="0" marL="0">
              <a:buNone/>
            </a:pPr>
            <a:r>
              <a:rPr lang="en-US" sz="1200" b="1" dirty="0">
                <a:solidFill>
                  <a:srgbClr val="0D3B33"/>
                </a:solidFill>
                <a:latin typeface="Cambria" pitchFamily="34" charset="0"/>
                <a:ea typeface="Cambria" pitchFamily="34" charset="-122"/>
                <a:cs typeface="Cambria" pitchFamily="34" charset="-120"/>
              </a:rPr>
              <a:t>2</a:t>
            </a:r>
            <a:endParaRPr lang="en-US" sz="1200" dirty="0"/>
          </a:p>
        </p:txBody>
      </p:sp>
      <p:sp>
        <p:nvSpPr>
          <p:cNvPr id="22" name="Text 20"/>
          <p:cNvSpPr/>
          <p:nvPr/>
        </p:nvSpPr>
        <p:spPr>
          <a:xfrm>
            <a:off x="7059168" y="3163824"/>
            <a:ext cx="4617720" cy="822960"/>
          </a:xfrm>
          <a:prstGeom prst="rect">
            <a:avLst/>
          </a:prstGeom>
          <a:noFill/>
          <a:ln/>
        </p:spPr>
        <p:txBody>
          <a:bodyPr wrap="square" rtlCol="0" anchor="ctr"/>
          <a:lstStyle/>
          <a:p>
            <a:pPr indent="0" marL="0">
              <a:lnSpc>
                <a:spcPct val="112000"/>
              </a:lnSpc>
              <a:buNone/>
            </a:pPr>
            <a:r>
              <a:rPr lang="en-US" sz="1100" dirty="0">
                <a:solidFill>
                  <a:srgbClr val="374644"/>
                </a:solidFill>
                <a:latin typeface="Calibri" pitchFamily="34" charset="0"/>
                <a:ea typeface="Calibri" pitchFamily="34" charset="-122"/>
                <a:cs typeface="Calibri" pitchFamily="34" charset="-120"/>
              </a:rPr>
              <a:t>Bagaimana mengukur kualitas topik berdasarkan metrik koherensi (C_V, UMass, NPMI)?</a:t>
            </a:r>
            <a:endParaRPr lang="en-US" sz="1100" dirty="0"/>
          </a:p>
        </p:txBody>
      </p:sp>
      <p:sp>
        <p:nvSpPr>
          <p:cNvPr id="23" name="Shape 21"/>
          <p:cNvSpPr/>
          <p:nvPr/>
        </p:nvSpPr>
        <p:spPr>
          <a:xfrm>
            <a:off x="502920" y="4187952"/>
            <a:ext cx="5303520" cy="1005840"/>
          </a:xfrm>
          <a:prstGeom prst="roundRect">
            <a:avLst>
              <a:gd name="adj" fmla="val 6364"/>
            </a:avLst>
          </a:prstGeom>
          <a:solidFill>
            <a:srgbClr val="F4F7F6"/>
          </a:solidFill>
          <a:ln w="9525">
            <a:solidFill>
              <a:srgbClr val="DCE5E2"/>
            </a:solidFill>
            <a:prstDash val="solid"/>
          </a:ln>
        </p:spPr>
      </p:sp>
      <p:sp>
        <p:nvSpPr>
          <p:cNvPr id="24" name="Shape 22"/>
          <p:cNvSpPr/>
          <p:nvPr/>
        </p:nvSpPr>
        <p:spPr>
          <a:xfrm>
            <a:off x="649224" y="4334256"/>
            <a:ext cx="292608" cy="292608"/>
          </a:xfrm>
          <a:prstGeom prst="ellipse">
            <a:avLst/>
          </a:prstGeom>
          <a:solidFill>
            <a:srgbClr val="12483F"/>
          </a:solidFill>
          <a:ln/>
        </p:spPr>
      </p:sp>
      <p:sp>
        <p:nvSpPr>
          <p:cNvPr id="25" name="Text 23"/>
          <p:cNvSpPr/>
          <p:nvPr/>
        </p:nvSpPr>
        <p:spPr>
          <a:xfrm>
            <a:off x="649224" y="4334256"/>
            <a:ext cx="292608" cy="292608"/>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6" name="Text 24"/>
          <p:cNvSpPr/>
          <p:nvPr/>
        </p:nvSpPr>
        <p:spPr>
          <a:xfrm>
            <a:off x="1069848" y="4279392"/>
            <a:ext cx="4617720" cy="822960"/>
          </a:xfrm>
          <a:prstGeom prst="rect">
            <a:avLst/>
          </a:prstGeom>
          <a:noFill/>
          <a:ln/>
        </p:spPr>
        <p:txBody>
          <a:bodyPr wrap="square" rtlCol="0" anchor="ctr"/>
          <a:lstStyle/>
          <a:p>
            <a:pPr indent="0" marL="0">
              <a:lnSpc>
                <a:spcPct val="112000"/>
              </a:lnSpc>
              <a:buNone/>
            </a:pPr>
            <a:r>
              <a:rPr lang="en-US" sz="1100" dirty="0">
                <a:solidFill>
                  <a:srgbClr val="374644"/>
                </a:solidFill>
                <a:latin typeface="Calibri" pitchFamily="34" charset="0"/>
                <a:ea typeface="Calibri" pitchFamily="34" charset="-122"/>
                <a:cs typeface="Calibri" pitchFamily="34" charset="-120"/>
              </a:rPr>
              <a:t>Belum ada perbandingan komprehensif kedua metode pada korpus teks religius bahasa Indonesia</a:t>
            </a:r>
            <a:endParaRPr lang="en-US" sz="1100" dirty="0"/>
          </a:p>
        </p:txBody>
      </p:sp>
      <p:sp>
        <p:nvSpPr>
          <p:cNvPr id="27" name="Shape 25"/>
          <p:cNvSpPr/>
          <p:nvPr/>
        </p:nvSpPr>
        <p:spPr>
          <a:xfrm>
            <a:off x="6492240" y="4187952"/>
            <a:ext cx="5303520" cy="1005840"/>
          </a:xfrm>
          <a:prstGeom prst="roundRect">
            <a:avLst>
              <a:gd name="adj" fmla="val 6364"/>
            </a:avLst>
          </a:prstGeom>
          <a:solidFill>
            <a:srgbClr val="F3F7F6"/>
          </a:solidFill>
          <a:ln w="9525">
            <a:solidFill>
              <a:srgbClr val="EBD9AF"/>
            </a:solidFill>
            <a:prstDash val="solid"/>
          </a:ln>
        </p:spPr>
      </p:sp>
      <p:sp>
        <p:nvSpPr>
          <p:cNvPr id="28" name="Shape 26"/>
          <p:cNvSpPr/>
          <p:nvPr/>
        </p:nvSpPr>
        <p:spPr>
          <a:xfrm>
            <a:off x="6638544" y="4334256"/>
            <a:ext cx="292608" cy="292608"/>
          </a:xfrm>
          <a:prstGeom prst="ellipse">
            <a:avLst/>
          </a:prstGeom>
          <a:solidFill>
            <a:srgbClr val="C79A45"/>
          </a:solidFill>
          <a:ln/>
        </p:spPr>
      </p:sp>
      <p:sp>
        <p:nvSpPr>
          <p:cNvPr id="29" name="Text 27"/>
          <p:cNvSpPr/>
          <p:nvPr/>
        </p:nvSpPr>
        <p:spPr>
          <a:xfrm>
            <a:off x="6638544" y="4334256"/>
            <a:ext cx="292608" cy="292608"/>
          </a:xfrm>
          <a:prstGeom prst="rect">
            <a:avLst/>
          </a:prstGeom>
          <a:noFill/>
          <a:ln/>
        </p:spPr>
        <p:txBody>
          <a:bodyPr wrap="square" rtlCol="0" anchor="ctr"/>
          <a:lstStyle/>
          <a:p>
            <a:pPr algn="ctr" indent="0" marL="0">
              <a:buNone/>
            </a:pPr>
            <a:r>
              <a:rPr lang="en-US" sz="1200" b="1" dirty="0">
                <a:solidFill>
                  <a:srgbClr val="0D3B33"/>
                </a:solidFill>
                <a:latin typeface="Cambria" pitchFamily="34" charset="0"/>
                <a:ea typeface="Cambria" pitchFamily="34" charset="-122"/>
                <a:cs typeface="Cambria" pitchFamily="34" charset="-120"/>
              </a:rPr>
              <a:t>3</a:t>
            </a:r>
            <a:endParaRPr lang="en-US" sz="1200" dirty="0"/>
          </a:p>
        </p:txBody>
      </p:sp>
      <p:sp>
        <p:nvSpPr>
          <p:cNvPr id="30" name="Text 28"/>
          <p:cNvSpPr/>
          <p:nvPr/>
        </p:nvSpPr>
        <p:spPr>
          <a:xfrm>
            <a:off x="7059168" y="4279392"/>
            <a:ext cx="4617720" cy="822960"/>
          </a:xfrm>
          <a:prstGeom prst="rect">
            <a:avLst/>
          </a:prstGeom>
          <a:noFill/>
          <a:ln/>
        </p:spPr>
        <p:txBody>
          <a:bodyPr wrap="square" rtlCol="0" anchor="ctr"/>
          <a:lstStyle/>
          <a:p>
            <a:pPr indent="0" marL="0">
              <a:lnSpc>
                <a:spcPct val="112000"/>
              </a:lnSpc>
              <a:buNone/>
            </a:pPr>
            <a:r>
              <a:rPr lang="en-US" sz="1100" dirty="0">
                <a:solidFill>
                  <a:srgbClr val="374644"/>
                </a:solidFill>
                <a:latin typeface="Calibri" pitchFamily="34" charset="0"/>
                <a:ea typeface="Calibri" pitchFamily="34" charset="-122"/>
                <a:cs typeface="Calibri" pitchFamily="34" charset="-120"/>
              </a:rPr>
              <a:t>Bagaimana menginterpretasikan &amp; mengelompokkan tema dari kedua metode?</a:t>
            </a:r>
            <a:endParaRPr lang="en-US" sz="1100" dirty="0"/>
          </a:p>
        </p:txBody>
      </p:sp>
      <p:sp>
        <p:nvSpPr>
          <p:cNvPr id="31" name="Shape 29"/>
          <p:cNvSpPr/>
          <p:nvPr/>
        </p:nvSpPr>
        <p:spPr>
          <a:xfrm>
            <a:off x="502920" y="5303520"/>
            <a:ext cx="5303520" cy="1005840"/>
          </a:xfrm>
          <a:prstGeom prst="roundRect">
            <a:avLst>
              <a:gd name="adj" fmla="val 6364"/>
            </a:avLst>
          </a:prstGeom>
          <a:solidFill>
            <a:srgbClr val="F4F7F6"/>
          </a:solidFill>
          <a:ln w="9525">
            <a:solidFill>
              <a:srgbClr val="DCE5E2"/>
            </a:solidFill>
            <a:prstDash val="solid"/>
          </a:ln>
        </p:spPr>
      </p:sp>
      <p:sp>
        <p:nvSpPr>
          <p:cNvPr id="32" name="Shape 30"/>
          <p:cNvSpPr/>
          <p:nvPr/>
        </p:nvSpPr>
        <p:spPr>
          <a:xfrm>
            <a:off x="649224" y="5449824"/>
            <a:ext cx="292608" cy="292608"/>
          </a:xfrm>
          <a:prstGeom prst="ellipse">
            <a:avLst/>
          </a:prstGeom>
          <a:solidFill>
            <a:srgbClr val="12483F"/>
          </a:solidFill>
          <a:ln/>
        </p:spPr>
      </p:sp>
      <p:sp>
        <p:nvSpPr>
          <p:cNvPr id="33" name="Text 31"/>
          <p:cNvSpPr/>
          <p:nvPr/>
        </p:nvSpPr>
        <p:spPr>
          <a:xfrm>
            <a:off x="649224" y="5449824"/>
            <a:ext cx="292608" cy="292608"/>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34" name="Text 32"/>
          <p:cNvSpPr/>
          <p:nvPr/>
        </p:nvSpPr>
        <p:spPr>
          <a:xfrm>
            <a:off x="1069848" y="5394960"/>
            <a:ext cx="4617720" cy="822960"/>
          </a:xfrm>
          <a:prstGeom prst="rect">
            <a:avLst/>
          </a:prstGeom>
          <a:noFill/>
          <a:ln/>
        </p:spPr>
        <p:txBody>
          <a:bodyPr wrap="square" rtlCol="0" anchor="ctr"/>
          <a:lstStyle/>
          <a:p>
            <a:pPr indent="0" marL="0">
              <a:lnSpc>
                <a:spcPct val="112000"/>
              </a:lnSpc>
              <a:buNone/>
            </a:pPr>
            <a:r>
              <a:rPr lang="en-US" sz="1100" dirty="0">
                <a:solidFill>
                  <a:srgbClr val="374644"/>
                </a:solidFill>
                <a:latin typeface="Calibri" pitchFamily="34" charset="0"/>
                <a:ea typeface="Calibri" pitchFamily="34" charset="-122"/>
                <a:cs typeface="Calibri" pitchFamily="34" charset="-120"/>
              </a:rPr>
              <a:t>Penerapan kedua metode pada teks religius berbahasa Indonesia masih terbatas</a:t>
            </a:r>
            <a:endParaRPr lang="en-US" sz="1100" dirty="0"/>
          </a:p>
        </p:txBody>
      </p:sp>
      <p:sp>
        <p:nvSpPr>
          <p:cNvPr id="35" name="Shape 33"/>
          <p:cNvSpPr/>
          <p:nvPr/>
        </p:nvSpPr>
        <p:spPr>
          <a:xfrm>
            <a:off x="6492240" y="5303520"/>
            <a:ext cx="5303520" cy="1005840"/>
          </a:xfrm>
          <a:prstGeom prst="roundRect">
            <a:avLst>
              <a:gd name="adj" fmla="val 6364"/>
            </a:avLst>
          </a:prstGeom>
          <a:solidFill>
            <a:srgbClr val="F3F7F6"/>
          </a:solidFill>
          <a:ln w="9525">
            <a:solidFill>
              <a:srgbClr val="EBD9AF"/>
            </a:solidFill>
            <a:prstDash val="solid"/>
          </a:ln>
        </p:spPr>
      </p:sp>
      <p:sp>
        <p:nvSpPr>
          <p:cNvPr id="36" name="Shape 34"/>
          <p:cNvSpPr/>
          <p:nvPr/>
        </p:nvSpPr>
        <p:spPr>
          <a:xfrm>
            <a:off x="6638544" y="5449824"/>
            <a:ext cx="292608" cy="292608"/>
          </a:xfrm>
          <a:prstGeom prst="ellipse">
            <a:avLst/>
          </a:prstGeom>
          <a:solidFill>
            <a:srgbClr val="C79A45"/>
          </a:solidFill>
          <a:ln/>
        </p:spPr>
      </p:sp>
      <p:sp>
        <p:nvSpPr>
          <p:cNvPr id="37" name="Text 35"/>
          <p:cNvSpPr/>
          <p:nvPr/>
        </p:nvSpPr>
        <p:spPr>
          <a:xfrm>
            <a:off x="6638544" y="5449824"/>
            <a:ext cx="292608" cy="292608"/>
          </a:xfrm>
          <a:prstGeom prst="rect">
            <a:avLst/>
          </a:prstGeom>
          <a:noFill/>
          <a:ln/>
        </p:spPr>
        <p:txBody>
          <a:bodyPr wrap="square" rtlCol="0" anchor="ctr"/>
          <a:lstStyle/>
          <a:p>
            <a:pPr algn="ctr" indent="0" marL="0">
              <a:buNone/>
            </a:pPr>
            <a:r>
              <a:rPr lang="en-US" sz="1200" b="1" dirty="0">
                <a:solidFill>
                  <a:srgbClr val="0D3B33"/>
                </a:solidFill>
                <a:latin typeface="Cambria" pitchFamily="34" charset="0"/>
                <a:ea typeface="Cambria" pitchFamily="34" charset="-122"/>
                <a:cs typeface="Cambria" pitchFamily="34" charset="-120"/>
              </a:rPr>
              <a:t>4</a:t>
            </a:r>
            <a:endParaRPr lang="en-US" sz="1200" dirty="0"/>
          </a:p>
        </p:txBody>
      </p:sp>
      <p:sp>
        <p:nvSpPr>
          <p:cNvPr id="38" name="Text 36"/>
          <p:cNvSpPr/>
          <p:nvPr/>
        </p:nvSpPr>
        <p:spPr>
          <a:xfrm>
            <a:off x="7059168" y="5394960"/>
            <a:ext cx="4617720" cy="822960"/>
          </a:xfrm>
          <a:prstGeom prst="rect">
            <a:avLst/>
          </a:prstGeom>
          <a:noFill/>
          <a:ln/>
        </p:spPr>
        <p:txBody>
          <a:bodyPr wrap="square" rtlCol="0" anchor="ctr"/>
          <a:lstStyle/>
          <a:p>
            <a:pPr indent="0" marL="0">
              <a:lnSpc>
                <a:spcPct val="112000"/>
              </a:lnSpc>
              <a:buNone/>
            </a:pPr>
            <a:r>
              <a:rPr lang="en-US" sz="1100" dirty="0">
                <a:solidFill>
                  <a:srgbClr val="374644"/>
                </a:solidFill>
                <a:latin typeface="Calibri" pitchFamily="34" charset="0"/>
                <a:ea typeface="Calibri" pitchFamily="34" charset="-122"/>
                <a:cs typeface="Calibri" pitchFamily="34" charset="-120"/>
              </a:rPr>
              <a:t>Apa tema utama yang terbentuk dari hasil kedua model pada terjemahan Al-Qur'an?</a:t>
            </a:r>
            <a:endParaRPr lang="en-US" sz="1100" dirty="0"/>
          </a:p>
        </p:txBody>
      </p:sp>
      <p:sp>
        <p:nvSpPr>
          <p:cNvPr id="39" name="Text 37"/>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40" name="Text 38"/>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2711196" cy="310896"/>
          </a:xfrm>
          <a:prstGeom prst="roundRect">
            <a:avLst>
              <a:gd name="adj" fmla="val 50000"/>
            </a:avLst>
          </a:prstGeom>
          <a:solidFill>
            <a:srgbClr val="12483F"/>
          </a:solidFill>
          <a:ln/>
        </p:spPr>
      </p:sp>
      <p:sp>
        <p:nvSpPr>
          <p:cNvPr id="3" name="Text 1"/>
          <p:cNvSpPr/>
          <p:nvPr/>
        </p:nvSpPr>
        <p:spPr>
          <a:xfrm>
            <a:off x="502920" y="411480"/>
            <a:ext cx="2711196"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03 | TUJUAN DAN MANFAAT</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600" b="1" dirty="0">
                <a:solidFill>
                  <a:srgbClr val="0D3B33"/>
                </a:solidFill>
                <a:latin typeface="Cambria" pitchFamily="34" charset="0"/>
                <a:ea typeface="Cambria" pitchFamily="34" charset="-122"/>
                <a:cs typeface="Cambria" pitchFamily="34" charset="-120"/>
              </a:rPr>
              <a:t>Research Goals &amp; Kontribusi</a:t>
            </a:r>
            <a:endParaRPr lang="en-US" sz="2600" dirty="0"/>
          </a:p>
        </p:txBody>
      </p:sp>
      <p:sp>
        <p:nvSpPr>
          <p:cNvPr id="5" name="Text 3"/>
          <p:cNvSpPr/>
          <p:nvPr/>
        </p:nvSpPr>
        <p:spPr>
          <a:xfrm>
            <a:off x="502920" y="1481328"/>
            <a:ext cx="5486400" cy="256032"/>
          </a:xfrm>
          <a:prstGeom prst="rect">
            <a:avLst/>
          </a:prstGeom>
          <a:noFill/>
          <a:ln/>
        </p:spPr>
        <p:txBody>
          <a:bodyPr wrap="square" rtlCol="0" anchor="ctr"/>
          <a:lstStyle/>
          <a:p>
            <a:pPr indent="0" marL="0">
              <a:buNone/>
            </a:pPr>
            <a:r>
              <a:rPr lang="en-US" sz="1150" b="1" spc="100" kern="0" dirty="0">
                <a:solidFill>
                  <a:srgbClr val="12483F"/>
                </a:solidFill>
                <a:latin typeface="Calibri" pitchFamily="34" charset="0"/>
                <a:ea typeface="Calibri" pitchFamily="34" charset="-122"/>
                <a:cs typeface="Calibri" pitchFamily="34" charset="-120"/>
              </a:rPr>
              <a:t>TUJUAN PENELITIAN</a:t>
            </a:r>
            <a:endParaRPr lang="en-US" sz="1150" dirty="0"/>
          </a:p>
        </p:txBody>
      </p:sp>
      <p:sp>
        <p:nvSpPr>
          <p:cNvPr id="6" name="Shape 4"/>
          <p:cNvSpPr/>
          <p:nvPr/>
        </p:nvSpPr>
        <p:spPr>
          <a:xfrm>
            <a:off x="502920" y="1783080"/>
            <a:ext cx="3606698" cy="1207008"/>
          </a:xfrm>
          <a:prstGeom prst="roundRect">
            <a:avLst>
              <a:gd name="adj" fmla="val 5303"/>
            </a:avLst>
          </a:prstGeom>
          <a:solidFill>
            <a:srgbClr val="12483F"/>
          </a:solidFill>
          <a:ln/>
        </p:spPr>
      </p:sp>
      <p:sp>
        <p:nvSpPr>
          <p:cNvPr id="7" name="Shape 5"/>
          <p:cNvSpPr/>
          <p:nvPr/>
        </p:nvSpPr>
        <p:spPr>
          <a:xfrm>
            <a:off x="649224" y="1920240"/>
            <a:ext cx="274320" cy="274320"/>
          </a:xfrm>
          <a:prstGeom prst="ellipse">
            <a:avLst/>
          </a:prstGeom>
          <a:solidFill>
            <a:srgbClr val="C79A45"/>
          </a:solidFill>
          <a:ln/>
        </p:spPr>
      </p:sp>
      <p:sp>
        <p:nvSpPr>
          <p:cNvPr id="8" name="Text 6"/>
          <p:cNvSpPr/>
          <p:nvPr/>
        </p:nvSpPr>
        <p:spPr>
          <a:xfrm>
            <a:off x="649224" y="1920240"/>
            <a:ext cx="274320" cy="274320"/>
          </a:xfrm>
          <a:prstGeom prst="rect">
            <a:avLst/>
          </a:prstGeom>
          <a:noFill/>
          <a:ln/>
        </p:spPr>
        <p:txBody>
          <a:bodyPr wrap="square" rtlCol="0" anchor="ctr"/>
          <a:lstStyle/>
          <a:p>
            <a:pPr algn="ctr" indent="0" marL="0">
              <a:buNone/>
            </a:pPr>
            <a:r>
              <a:rPr lang="en-US" sz="1100" b="1" dirty="0">
                <a:solidFill>
                  <a:srgbClr val="0D3B33"/>
                </a:solidFill>
                <a:latin typeface="Cambria" pitchFamily="34" charset="0"/>
                <a:ea typeface="Cambria" pitchFamily="34" charset="-122"/>
                <a:cs typeface="Cambria" pitchFamily="34" charset="-120"/>
              </a:rPr>
              <a:t>1</a:t>
            </a:r>
            <a:endParaRPr lang="en-US" sz="1100" dirty="0"/>
          </a:p>
        </p:txBody>
      </p:sp>
      <p:sp>
        <p:nvSpPr>
          <p:cNvPr id="9" name="Text 7"/>
          <p:cNvSpPr/>
          <p:nvPr/>
        </p:nvSpPr>
        <p:spPr>
          <a:xfrm>
            <a:off x="649224" y="2286000"/>
            <a:ext cx="3314090" cy="27432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Analisis Efektivitas</a:t>
            </a:r>
            <a:endParaRPr lang="en-US" sz="1250" dirty="0"/>
          </a:p>
        </p:txBody>
      </p:sp>
      <p:sp>
        <p:nvSpPr>
          <p:cNvPr id="10" name="Text 8"/>
          <p:cNvSpPr/>
          <p:nvPr/>
        </p:nvSpPr>
        <p:spPr>
          <a:xfrm>
            <a:off x="649224" y="2578608"/>
            <a:ext cx="3314090" cy="384048"/>
          </a:xfrm>
          <a:prstGeom prst="rect">
            <a:avLst/>
          </a:prstGeom>
          <a:noFill/>
          <a:ln/>
        </p:spPr>
        <p:txBody>
          <a:bodyPr wrap="square" rtlCol="0" anchor="ctr"/>
          <a:lstStyle/>
          <a:p>
            <a:pPr indent="0" marL="0">
              <a:lnSpc>
                <a:spcPct val="108000"/>
              </a:lnSpc>
              <a:buNone/>
            </a:pPr>
            <a:r>
              <a:rPr lang="en-US" sz="900" dirty="0">
                <a:solidFill>
                  <a:srgbClr val="CFE3DE"/>
                </a:solidFill>
                <a:latin typeface="Calibri" pitchFamily="34" charset="0"/>
                <a:ea typeface="Calibri" pitchFamily="34" charset="-122"/>
                <a:cs typeface="Calibri" pitchFamily="34" charset="-120"/>
              </a:rPr>
              <a:t>Menganalisis efektivitas CTM &amp; BERTopic dalam pemodelan topik teks terjemahan Al-Qur'an</a:t>
            </a:r>
            <a:endParaRPr lang="en-US" sz="900" dirty="0"/>
          </a:p>
        </p:txBody>
      </p:sp>
      <p:sp>
        <p:nvSpPr>
          <p:cNvPr id="11" name="Shape 9"/>
          <p:cNvSpPr/>
          <p:nvPr/>
        </p:nvSpPr>
        <p:spPr>
          <a:xfrm>
            <a:off x="4292498" y="1783080"/>
            <a:ext cx="3606698" cy="1207008"/>
          </a:xfrm>
          <a:prstGeom prst="roundRect">
            <a:avLst>
              <a:gd name="adj" fmla="val 5303"/>
            </a:avLst>
          </a:prstGeom>
          <a:solidFill>
            <a:srgbClr val="12483F"/>
          </a:solidFill>
          <a:ln/>
        </p:spPr>
      </p:sp>
      <p:sp>
        <p:nvSpPr>
          <p:cNvPr id="12" name="Shape 10"/>
          <p:cNvSpPr/>
          <p:nvPr/>
        </p:nvSpPr>
        <p:spPr>
          <a:xfrm>
            <a:off x="4438802" y="1920240"/>
            <a:ext cx="274320" cy="274320"/>
          </a:xfrm>
          <a:prstGeom prst="ellipse">
            <a:avLst/>
          </a:prstGeom>
          <a:solidFill>
            <a:srgbClr val="C79A45"/>
          </a:solidFill>
          <a:ln/>
        </p:spPr>
      </p:sp>
      <p:sp>
        <p:nvSpPr>
          <p:cNvPr id="13" name="Text 11"/>
          <p:cNvSpPr/>
          <p:nvPr/>
        </p:nvSpPr>
        <p:spPr>
          <a:xfrm>
            <a:off x="4438802" y="1920240"/>
            <a:ext cx="274320" cy="274320"/>
          </a:xfrm>
          <a:prstGeom prst="rect">
            <a:avLst/>
          </a:prstGeom>
          <a:noFill/>
          <a:ln/>
        </p:spPr>
        <p:txBody>
          <a:bodyPr wrap="square" rtlCol="0" anchor="ctr"/>
          <a:lstStyle/>
          <a:p>
            <a:pPr algn="ctr" indent="0" marL="0">
              <a:buNone/>
            </a:pPr>
            <a:r>
              <a:rPr lang="en-US" sz="1100" b="1" dirty="0">
                <a:solidFill>
                  <a:srgbClr val="0D3B33"/>
                </a:solidFill>
                <a:latin typeface="Cambria" pitchFamily="34" charset="0"/>
                <a:ea typeface="Cambria" pitchFamily="34" charset="-122"/>
                <a:cs typeface="Cambria" pitchFamily="34" charset="-120"/>
              </a:rPr>
              <a:t>2</a:t>
            </a:r>
            <a:endParaRPr lang="en-US" sz="1100" dirty="0"/>
          </a:p>
        </p:txBody>
      </p:sp>
      <p:sp>
        <p:nvSpPr>
          <p:cNvPr id="14" name="Text 12"/>
          <p:cNvSpPr/>
          <p:nvPr/>
        </p:nvSpPr>
        <p:spPr>
          <a:xfrm>
            <a:off x="4438802" y="2286000"/>
            <a:ext cx="3314090" cy="27432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Identifikasi Kemampuan</a:t>
            </a:r>
            <a:endParaRPr lang="en-US" sz="1250" dirty="0"/>
          </a:p>
        </p:txBody>
      </p:sp>
      <p:sp>
        <p:nvSpPr>
          <p:cNvPr id="15" name="Text 13"/>
          <p:cNvSpPr/>
          <p:nvPr/>
        </p:nvSpPr>
        <p:spPr>
          <a:xfrm>
            <a:off x="4438802" y="2578608"/>
            <a:ext cx="3314090" cy="384048"/>
          </a:xfrm>
          <a:prstGeom prst="rect">
            <a:avLst/>
          </a:prstGeom>
          <a:noFill/>
          <a:ln/>
        </p:spPr>
        <p:txBody>
          <a:bodyPr wrap="square" rtlCol="0" anchor="ctr"/>
          <a:lstStyle/>
          <a:p>
            <a:pPr indent="0" marL="0">
              <a:lnSpc>
                <a:spcPct val="108000"/>
              </a:lnSpc>
              <a:buNone/>
            </a:pPr>
            <a:r>
              <a:rPr lang="en-US" sz="900" dirty="0">
                <a:solidFill>
                  <a:srgbClr val="CFE3DE"/>
                </a:solidFill>
                <a:latin typeface="Calibri" pitchFamily="34" charset="0"/>
                <a:ea typeface="Calibri" pitchFamily="34" charset="-122"/>
                <a:cs typeface="Calibri" pitchFamily="34" charset="-120"/>
              </a:rPr>
              <a:t>Mengidentifikasi kemampuan kedua metode dalam menangkap konteks &amp; tema utama Al-Qur'an</a:t>
            </a:r>
            <a:endParaRPr lang="en-US" sz="900" dirty="0"/>
          </a:p>
        </p:txBody>
      </p:sp>
      <p:sp>
        <p:nvSpPr>
          <p:cNvPr id="16" name="Shape 14"/>
          <p:cNvSpPr/>
          <p:nvPr/>
        </p:nvSpPr>
        <p:spPr>
          <a:xfrm>
            <a:off x="8082077" y="1783080"/>
            <a:ext cx="3606698" cy="1207008"/>
          </a:xfrm>
          <a:prstGeom prst="roundRect">
            <a:avLst>
              <a:gd name="adj" fmla="val 5303"/>
            </a:avLst>
          </a:prstGeom>
          <a:solidFill>
            <a:srgbClr val="12483F"/>
          </a:solidFill>
          <a:ln/>
        </p:spPr>
      </p:sp>
      <p:sp>
        <p:nvSpPr>
          <p:cNvPr id="17" name="Shape 15"/>
          <p:cNvSpPr/>
          <p:nvPr/>
        </p:nvSpPr>
        <p:spPr>
          <a:xfrm>
            <a:off x="8228381" y="1920240"/>
            <a:ext cx="274320" cy="274320"/>
          </a:xfrm>
          <a:prstGeom prst="ellipse">
            <a:avLst/>
          </a:prstGeom>
          <a:solidFill>
            <a:srgbClr val="C79A45"/>
          </a:solidFill>
          <a:ln/>
        </p:spPr>
      </p:sp>
      <p:sp>
        <p:nvSpPr>
          <p:cNvPr id="18" name="Text 16"/>
          <p:cNvSpPr/>
          <p:nvPr/>
        </p:nvSpPr>
        <p:spPr>
          <a:xfrm>
            <a:off x="8228381" y="1920240"/>
            <a:ext cx="274320" cy="274320"/>
          </a:xfrm>
          <a:prstGeom prst="rect">
            <a:avLst/>
          </a:prstGeom>
          <a:noFill/>
          <a:ln/>
        </p:spPr>
        <p:txBody>
          <a:bodyPr wrap="square" rtlCol="0" anchor="ctr"/>
          <a:lstStyle/>
          <a:p>
            <a:pPr algn="ctr" indent="0" marL="0">
              <a:buNone/>
            </a:pPr>
            <a:r>
              <a:rPr lang="en-US" sz="1100" b="1" dirty="0">
                <a:solidFill>
                  <a:srgbClr val="0D3B33"/>
                </a:solidFill>
                <a:latin typeface="Cambria" pitchFamily="34" charset="0"/>
                <a:ea typeface="Cambria" pitchFamily="34" charset="-122"/>
                <a:cs typeface="Cambria" pitchFamily="34" charset="-120"/>
              </a:rPr>
              <a:t>3</a:t>
            </a:r>
            <a:endParaRPr lang="en-US" sz="1100" dirty="0"/>
          </a:p>
        </p:txBody>
      </p:sp>
      <p:sp>
        <p:nvSpPr>
          <p:cNvPr id="19" name="Text 17"/>
          <p:cNvSpPr/>
          <p:nvPr/>
        </p:nvSpPr>
        <p:spPr>
          <a:xfrm>
            <a:off x="8228381" y="2286000"/>
            <a:ext cx="3314090" cy="27432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Metode Evaluasi</a:t>
            </a:r>
            <a:endParaRPr lang="en-US" sz="1250" dirty="0"/>
          </a:p>
        </p:txBody>
      </p:sp>
      <p:sp>
        <p:nvSpPr>
          <p:cNvPr id="20" name="Text 18"/>
          <p:cNvSpPr/>
          <p:nvPr/>
        </p:nvSpPr>
        <p:spPr>
          <a:xfrm>
            <a:off x="8228381" y="2578608"/>
            <a:ext cx="3314090" cy="384048"/>
          </a:xfrm>
          <a:prstGeom prst="rect">
            <a:avLst/>
          </a:prstGeom>
          <a:noFill/>
          <a:ln/>
        </p:spPr>
        <p:txBody>
          <a:bodyPr wrap="square" rtlCol="0" anchor="ctr"/>
          <a:lstStyle/>
          <a:p>
            <a:pPr indent="0" marL="0">
              <a:lnSpc>
                <a:spcPct val="108000"/>
              </a:lnSpc>
              <a:buNone/>
            </a:pPr>
            <a:r>
              <a:rPr lang="en-US" sz="900" dirty="0">
                <a:solidFill>
                  <a:srgbClr val="CFE3DE"/>
                </a:solidFill>
                <a:latin typeface="Calibri" pitchFamily="34" charset="0"/>
                <a:ea typeface="Calibri" pitchFamily="34" charset="-122"/>
                <a:cs typeface="Calibri" pitchFamily="34" charset="-120"/>
              </a:rPr>
              <a:t>Merumuskan metode evaluasi yang tepat untuk menilai kualitas topik dalam konteks kajian Al-Qur'an</a:t>
            </a:r>
            <a:endParaRPr lang="en-US" sz="900" dirty="0"/>
          </a:p>
        </p:txBody>
      </p:sp>
      <p:sp>
        <p:nvSpPr>
          <p:cNvPr id="21" name="Text 19"/>
          <p:cNvSpPr/>
          <p:nvPr/>
        </p:nvSpPr>
        <p:spPr>
          <a:xfrm>
            <a:off x="502920" y="3200400"/>
            <a:ext cx="5486400" cy="256032"/>
          </a:xfrm>
          <a:prstGeom prst="rect">
            <a:avLst/>
          </a:prstGeom>
          <a:noFill/>
          <a:ln/>
        </p:spPr>
        <p:txBody>
          <a:bodyPr wrap="square" rtlCol="0" anchor="ctr"/>
          <a:lstStyle/>
          <a:p>
            <a:pPr indent="0" marL="0">
              <a:buNone/>
            </a:pPr>
            <a:r>
              <a:rPr lang="en-US" sz="1150" b="1" spc="100" kern="0" dirty="0">
                <a:solidFill>
                  <a:srgbClr val="C79A45"/>
                </a:solidFill>
                <a:latin typeface="Calibri" pitchFamily="34" charset="0"/>
                <a:ea typeface="Calibri" pitchFamily="34" charset="-122"/>
                <a:cs typeface="Calibri" pitchFamily="34" charset="-120"/>
              </a:rPr>
              <a:t>MANFAAT PENELITIAN</a:t>
            </a:r>
            <a:endParaRPr lang="en-US" sz="1150" dirty="0"/>
          </a:p>
        </p:txBody>
      </p:sp>
      <p:sp>
        <p:nvSpPr>
          <p:cNvPr id="22" name="Shape 20"/>
          <p:cNvSpPr/>
          <p:nvPr/>
        </p:nvSpPr>
        <p:spPr>
          <a:xfrm>
            <a:off x="502920" y="3520440"/>
            <a:ext cx="3606698" cy="2514600"/>
          </a:xfrm>
          <a:prstGeom prst="roundRect">
            <a:avLst>
              <a:gd name="adj" fmla="val 2545"/>
            </a:avLst>
          </a:prstGeom>
          <a:solidFill>
            <a:srgbClr val="F4F7F6"/>
          </a:solidFill>
          <a:ln w="9525">
            <a:solidFill>
              <a:srgbClr val="DCE5E2"/>
            </a:solidFill>
            <a:prstDash val="solid"/>
          </a:ln>
        </p:spPr>
      </p:sp>
      <p:sp>
        <p:nvSpPr>
          <p:cNvPr id="23" name="Shape 21"/>
          <p:cNvSpPr/>
          <p:nvPr/>
        </p:nvSpPr>
        <p:spPr>
          <a:xfrm>
            <a:off x="649224" y="3675888"/>
            <a:ext cx="822960" cy="292608"/>
          </a:xfrm>
          <a:prstGeom prst="roundRect">
            <a:avLst>
              <a:gd name="adj" fmla="val 50000"/>
            </a:avLst>
          </a:prstGeom>
          <a:solidFill>
            <a:srgbClr val="E6EEEB"/>
          </a:solidFill>
          <a:ln/>
        </p:spPr>
      </p:sp>
      <p:sp>
        <p:nvSpPr>
          <p:cNvPr id="24" name="Text 22"/>
          <p:cNvSpPr/>
          <p:nvPr/>
        </p:nvSpPr>
        <p:spPr>
          <a:xfrm>
            <a:off x="649224" y="3675888"/>
            <a:ext cx="822960" cy="292608"/>
          </a:xfrm>
          <a:prstGeom prst="rect">
            <a:avLst/>
          </a:prstGeom>
          <a:noFill/>
          <a:ln/>
        </p:spPr>
        <p:txBody>
          <a:bodyPr wrap="square" rtlCol="0" anchor="ctr"/>
          <a:lstStyle/>
          <a:p>
            <a:pPr algn="ctr" indent="0" marL="0">
              <a:buNone/>
            </a:pPr>
            <a:r>
              <a:rPr lang="en-US" sz="1000" b="1" dirty="0">
                <a:solidFill>
                  <a:srgbClr val="12483F"/>
                </a:solidFill>
                <a:latin typeface="Calibri" pitchFamily="34" charset="0"/>
                <a:ea typeface="Calibri" pitchFamily="34" charset="-122"/>
                <a:cs typeface="Calibri" pitchFamily="34" charset="-120"/>
              </a:rPr>
              <a:t>Akademik</a:t>
            </a:r>
            <a:endParaRPr lang="en-US" sz="1000" dirty="0"/>
          </a:p>
        </p:txBody>
      </p:sp>
      <p:sp>
        <p:nvSpPr>
          <p:cNvPr id="25" name="Shape 23"/>
          <p:cNvSpPr/>
          <p:nvPr/>
        </p:nvSpPr>
        <p:spPr>
          <a:xfrm>
            <a:off x="667512" y="4169664"/>
            <a:ext cx="54864" cy="54864"/>
          </a:xfrm>
          <a:prstGeom prst="ellipse">
            <a:avLst/>
          </a:prstGeom>
          <a:solidFill>
            <a:srgbClr val="C79A45"/>
          </a:solidFill>
          <a:ln/>
        </p:spPr>
      </p:sp>
      <p:sp>
        <p:nvSpPr>
          <p:cNvPr id="26" name="Text 24"/>
          <p:cNvSpPr/>
          <p:nvPr/>
        </p:nvSpPr>
        <p:spPr>
          <a:xfrm>
            <a:off x="813816" y="4059936"/>
            <a:ext cx="3149498" cy="868680"/>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Kontribusi ilmiah pemodelan topik berbasis konteks pada teks keagamaan</a:t>
            </a:r>
            <a:endParaRPr lang="en-US" sz="1000" dirty="0"/>
          </a:p>
        </p:txBody>
      </p:sp>
      <p:sp>
        <p:nvSpPr>
          <p:cNvPr id="27" name="Shape 25"/>
          <p:cNvSpPr/>
          <p:nvPr/>
        </p:nvSpPr>
        <p:spPr>
          <a:xfrm>
            <a:off x="667512" y="5102352"/>
            <a:ext cx="54864" cy="54864"/>
          </a:xfrm>
          <a:prstGeom prst="ellipse">
            <a:avLst/>
          </a:prstGeom>
          <a:solidFill>
            <a:srgbClr val="C79A45"/>
          </a:solidFill>
          <a:ln/>
        </p:spPr>
      </p:sp>
      <p:sp>
        <p:nvSpPr>
          <p:cNvPr id="28" name="Text 26"/>
          <p:cNvSpPr/>
          <p:nvPr/>
        </p:nvSpPr>
        <p:spPr>
          <a:xfrm>
            <a:off x="813816" y="4992624"/>
            <a:ext cx="3149498" cy="868680"/>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Referensi penelitian NLP pada korpus bahasa Indonesia</a:t>
            </a:r>
            <a:endParaRPr lang="en-US" sz="1000" dirty="0"/>
          </a:p>
        </p:txBody>
      </p:sp>
      <p:sp>
        <p:nvSpPr>
          <p:cNvPr id="29" name="Shape 27"/>
          <p:cNvSpPr/>
          <p:nvPr/>
        </p:nvSpPr>
        <p:spPr>
          <a:xfrm>
            <a:off x="4292498" y="3520440"/>
            <a:ext cx="3606698" cy="2514600"/>
          </a:xfrm>
          <a:prstGeom prst="roundRect">
            <a:avLst>
              <a:gd name="adj" fmla="val 2545"/>
            </a:avLst>
          </a:prstGeom>
          <a:solidFill>
            <a:srgbClr val="F4F7F6"/>
          </a:solidFill>
          <a:ln w="9525">
            <a:solidFill>
              <a:srgbClr val="DCE5E2"/>
            </a:solidFill>
            <a:prstDash val="solid"/>
          </a:ln>
        </p:spPr>
      </p:sp>
      <p:sp>
        <p:nvSpPr>
          <p:cNvPr id="30" name="Shape 28"/>
          <p:cNvSpPr/>
          <p:nvPr/>
        </p:nvSpPr>
        <p:spPr>
          <a:xfrm>
            <a:off x="4438802" y="3675888"/>
            <a:ext cx="822960" cy="292608"/>
          </a:xfrm>
          <a:prstGeom prst="roundRect">
            <a:avLst>
              <a:gd name="adj" fmla="val 50000"/>
            </a:avLst>
          </a:prstGeom>
          <a:solidFill>
            <a:srgbClr val="E6EEEB"/>
          </a:solidFill>
          <a:ln/>
        </p:spPr>
      </p:sp>
      <p:sp>
        <p:nvSpPr>
          <p:cNvPr id="31" name="Text 29"/>
          <p:cNvSpPr/>
          <p:nvPr/>
        </p:nvSpPr>
        <p:spPr>
          <a:xfrm>
            <a:off x="4438802" y="3675888"/>
            <a:ext cx="822960" cy="292608"/>
          </a:xfrm>
          <a:prstGeom prst="rect">
            <a:avLst/>
          </a:prstGeom>
          <a:noFill/>
          <a:ln/>
        </p:spPr>
        <p:txBody>
          <a:bodyPr wrap="square" rtlCol="0" anchor="ctr"/>
          <a:lstStyle/>
          <a:p>
            <a:pPr algn="ctr" indent="0" marL="0">
              <a:buNone/>
            </a:pPr>
            <a:r>
              <a:rPr lang="en-US" sz="1000" b="1" dirty="0">
                <a:solidFill>
                  <a:srgbClr val="12483F"/>
                </a:solidFill>
                <a:latin typeface="Calibri" pitchFamily="34" charset="0"/>
                <a:ea typeface="Calibri" pitchFamily="34" charset="-122"/>
                <a:cs typeface="Calibri" pitchFamily="34" charset="-120"/>
              </a:rPr>
              <a:t>Praktis</a:t>
            </a:r>
            <a:endParaRPr lang="en-US" sz="1000" dirty="0"/>
          </a:p>
        </p:txBody>
      </p:sp>
      <p:sp>
        <p:nvSpPr>
          <p:cNvPr id="32" name="Shape 30"/>
          <p:cNvSpPr/>
          <p:nvPr/>
        </p:nvSpPr>
        <p:spPr>
          <a:xfrm>
            <a:off x="4457090" y="4169664"/>
            <a:ext cx="54864" cy="54864"/>
          </a:xfrm>
          <a:prstGeom prst="ellipse">
            <a:avLst/>
          </a:prstGeom>
          <a:solidFill>
            <a:srgbClr val="C79A45"/>
          </a:solidFill>
          <a:ln/>
        </p:spPr>
      </p:sp>
      <p:sp>
        <p:nvSpPr>
          <p:cNvPr id="33" name="Text 31"/>
          <p:cNvSpPr/>
          <p:nvPr/>
        </p:nvSpPr>
        <p:spPr>
          <a:xfrm>
            <a:off x="4603394" y="4059936"/>
            <a:ext cx="3149498" cy="868680"/>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Mempermudah pemahaman struktur tematik Al-Qur'an secara sistematis</a:t>
            </a:r>
            <a:endParaRPr lang="en-US" sz="1000" dirty="0"/>
          </a:p>
        </p:txBody>
      </p:sp>
      <p:sp>
        <p:nvSpPr>
          <p:cNvPr id="34" name="Shape 32"/>
          <p:cNvSpPr/>
          <p:nvPr/>
        </p:nvSpPr>
        <p:spPr>
          <a:xfrm>
            <a:off x="4457090" y="5102352"/>
            <a:ext cx="54864" cy="54864"/>
          </a:xfrm>
          <a:prstGeom prst="ellipse">
            <a:avLst/>
          </a:prstGeom>
          <a:solidFill>
            <a:srgbClr val="C79A45"/>
          </a:solidFill>
          <a:ln/>
        </p:spPr>
      </p:sp>
      <p:sp>
        <p:nvSpPr>
          <p:cNvPr id="35" name="Text 33"/>
          <p:cNvSpPr/>
          <p:nvPr/>
        </p:nvSpPr>
        <p:spPr>
          <a:xfrm>
            <a:off x="4603394" y="4992624"/>
            <a:ext cx="3149498" cy="868680"/>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Mendukung kajian tafsir dengan pendekatan teknologi informasi modern</a:t>
            </a:r>
            <a:endParaRPr lang="en-US" sz="1000" dirty="0"/>
          </a:p>
        </p:txBody>
      </p:sp>
      <p:sp>
        <p:nvSpPr>
          <p:cNvPr id="36" name="Shape 34"/>
          <p:cNvSpPr/>
          <p:nvPr/>
        </p:nvSpPr>
        <p:spPr>
          <a:xfrm>
            <a:off x="8082077" y="3520440"/>
            <a:ext cx="3606698" cy="2514600"/>
          </a:xfrm>
          <a:prstGeom prst="roundRect">
            <a:avLst>
              <a:gd name="adj" fmla="val 2545"/>
            </a:avLst>
          </a:prstGeom>
          <a:solidFill>
            <a:srgbClr val="F4F7F6"/>
          </a:solidFill>
          <a:ln w="9525">
            <a:solidFill>
              <a:srgbClr val="DCE5E2"/>
            </a:solidFill>
            <a:prstDash val="solid"/>
          </a:ln>
        </p:spPr>
      </p:sp>
      <p:sp>
        <p:nvSpPr>
          <p:cNvPr id="37" name="Shape 35"/>
          <p:cNvSpPr/>
          <p:nvPr/>
        </p:nvSpPr>
        <p:spPr>
          <a:xfrm>
            <a:off x="8228381" y="3675888"/>
            <a:ext cx="822960" cy="292608"/>
          </a:xfrm>
          <a:prstGeom prst="roundRect">
            <a:avLst>
              <a:gd name="adj" fmla="val 50000"/>
            </a:avLst>
          </a:prstGeom>
          <a:solidFill>
            <a:srgbClr val="E6EEEB"/>
          </a:solidFill>
          <a:ln/>
        </p:spPr>
      </p:sp>
      <p:sp>
        <p:nvSpPr>
          <p:cNvPr id="38" name="Text 36"/>
          <p:cNvSpPr/>
          <p:nvPr/>
        </p:nvSpPr>
        <p:spPr>
          <a:xfrm>
            <a:off x="8228381" y="3675888"/>
            <a:ext cx="822960" cy="292608"/>
          </a:xfrm>
          <a:prstGeom prst="rect">
            <a:avLst/>
          </a:prstGeom>
          <a:noFill/>
          <a:ln/>
        </p:spPr>
        <p:txBody>
          <a:bodyPr wrap="square" rtlCol="0" anchor="ctr"/>
          <a:lstStyle/>
          <a:p>
            <a:pPr algn="ctr" indent="0" marL="0">
              <a:buNone/>
            </a:pPr>
            <a:r>
              <a:rPr lang="en-US" sz="1000" b="1" dirty="0">
                <a:solidFill>
                  <a:srgbClr val="12483F"/>
                </a:solidFill>
                <a:latin typeface="Calibri" pitchFamily="34" charset="0"/>
                <a:ea typeface="Calibri" pitchFamily="34" charset="-122"/>
                <a:cs typeface="Calibri" pitchFamily="34" charset="-120"/>
              </a:rPr>
              <a:t>Teknologi</a:t>
            </a:r>
            <a:endParaRPr lang="en-US" sz="1000" dirty="0"/>
          </a:p>
        </p:txBody>
      </p:sp>
      <p:sp>
        <p:nvSpPr>
          <p:cNvPr id="39" name="Shape 37"/>
          <p:cNvSpPr/>
          <p:nvPr/>
        </p:nvSpPr>
        <p:spPr>
          <a:xfrm>
            <a:off x="8246669" y="4169664"/>
            <a:ext cx="54864" cy="54864"/>
          </a:xfrm>
          <a:prstGeom prst="ellipse">
            <a:avLst/>
          </a:prstGeom>
          <a:solidFill>
            <a:srgbClr val="C79A45"/>
          </a:solidFill>
          <a:ln/>
        </p:spPr>
      </p:sp>
      <p:sp>
        <p:nvSpPr>
          <p:cNvPr id="40" name="Text 38"/>
          <p:cNvSpPr/>
          <p:nvPr/>
        </p:nvSpPr>
        <p:spPr>
          <a:xfrm>
            <a:off x="8392973" y="4059936"/>
            <a:ext cx="3149498" cy="868680"/>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Referensi pengembangan aplikasi pencarian ayat berbasis tema</a:t>
            </a:r>
            <a:endParaRPr lang="en-US" sz="1000" dirty="0"/>
          </a:p>
        </p:txBody>
      </p:sp>
      <p:sp>
        <p:nvSpPr>
          <p:cNvPr id="41" name="Shape 39"/>
          <p:cNvSpPr/>
          <p:nvPr/>
        </p:nvSpPr>
        <p:spPr>
          <a:xfrm>
            <a:off x="8246669" y="5102352"/>
            <a:ext cx="54864" cy="54864"/>
          </a:xfrm>
          <a:prstGeom prst="ellipse">
            <a:avLst/>
          </a:prstGeom>
          <a:solidFill>
            <a:srgbClr val="C79A45"/>
          </a:solidFill>
          <a:ln/>
        </p:spPr>
      </p:sp>
      <p:sp>
        <p:nvSpPr>
          <p:cNvPr id="42" name="Text 40"/>
          <p:cNvSpPr/>
          <p:nvPr/>
        </p:nvSpPr>
        <p:spPr>
          <a:xfrm>
            <a:off x="8392973" y="4992624"/>
            <a:ext cx="3149498" cy="868680"/>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Dasar sistem analisis tematik teks religius digital</a:t>
            </a:r>
            <a:endParaRPr lang="en-US" sz="1000" dirty="0"/>
          </a:p>
        </p:txBody>
      </p:sp>
      <p:sp>
        <p:nvSpPr>
          <p:cNvPr id="43" name="Text 41"/>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44" name="Text 42"/>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943100" cy="310896"/>
          </a:xfrm>
          <a:prstGeom prst="roundRect">
            <a:avLst>
              <a:gd name="adj" fmla="val 50000"/>
            </a:avLst>
          </a:prstGeom>
          <a:solidFill>
            <a:srgbClr val="12483F"/>
          </a:solidFill>
          <a:ln/>
        </p:spPr>
      </p:sp>
      <p:sp>
        <p:nvSpPr>
          <p:cNvPr id="3" name="Text 1"/>
          <p:cNvSpPr/>
          <p:nvPr/>
        </p:nvSpPr>
        <p:spPr>
          <a:xfrm>
            <a:off x="502920" y="411480"/>
            <a:ext cx="1943100"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04 | METODOLOGI</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800" b="1" dirty="0">
                <a:solidFill>
                  <a:srgbClr val="0D3B33"/>
                </a:solidFill>
                <a:latin typeface="Cambria" pitchFamily="34" charset="0"/>
                <a:ea typeface="Cambria" pitchFamily="34" charset="-122"/>
                <a:cs typeface="Cambria" pitchFamily="34" charset="-120"/>
              </a:rPr>
              <a:t>Research Pipeline</a:t>
            </a:r>
            <a:endParaRPr lang="en-US" sz="2800" dirty="0"/>
          </a:p>
        </p:txBody>
      </p:sp>
      <p:sp>
        <p:nvSpPr>
          <p:cNvPr id="5" name="Shape 3"/>
          <p:cNvSpPr/>
          <p:nvPr/>
        </p:nvSpPr>
        <p:spPr>
          <a:xfrm>
            <a:off x="502920" y="1691640"/>
            <a:ext cx="2076237" cy="4160520"/>
          </a:xfrm>
          <a:prstGeom prst="roundRect">
            <a:avLst>
              <a:gd name="adj" fmla="val 3523"/>
            </a:avLst>
          </a:prstGeom>
          <a:solidFill>
            <a:srgbClr val="F4F7F6"/>
          </a:solidFill>
          <a:ln w="12700">
            <a:solidFill>
              <a:srgbClr val="DCE5E2"/>
            </a:solidFill>
            <a:prstDash val="solid"/>
          </a:ln>
        </p:spPr>
      </p:sp>
      <p:sp>
        <p:nvSpPr>
          <p:cNvPr id="6" name="Shape 4"/>
          <p:cNvSpPr/>
          <p:nvPr/>
        </p:nvSpPr>
        <p:spPr>
          <a:xfrm>
            <a:off x="1367302" y="1856232"/>
            <a:ext cx="347472" cy="347472"/>
          </a:xfrm>
          <a:prstGeom prst="ellipse">
            <a:avLst/>
          </a:prstGeom>
          <a:solidFill>
            <a:srgbClr val="C79A45"/>
          </a:solidFill>
          <a:ln/>
        </p:spPr>
      </p:sp>
      <p:sp>
        <p:nvSpPr>
          <p:cNvPr id="7" name="Text 5"/>
          <p:cNvSpPr/>
          <p:nvPr/>
        </p:nvSpPr>
        <p:spPr>
          <a:xfrm>
            <a:off x="1367302" y="1856232"/>
            <a:ext cx="347472" cy="347472"/>
          </a:xfrm>
          <a:prstGeom prst="rect">
            <a:avLst/>
          </a:prstGeom>
          <a:noFill/>
          <a:ln/>
        </p:spPr>
        <p:txBody>
          <a:bodyPr wrap="square" rtlCol="0" anchor="ctr"/>
          <a:lstStyle/>
          <a:p>
            <a:pPr algn="ctr" indent="0" marL="0">
              <a:buNone/>
            </a:pPr>
            <a:r>
              <a:rPr lang="en-US" sz="1300" b="1" dirty="0">
                <a:solidFill>
                  <a:srgbClr val="0D3B33"/>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594360" y="2313432"/>
            <a:ext cx="1893357" cy="457200"/>
          </a:xfrm>
          <a:prstGeom prst="rect">
            <a:avLst/>
          </a:prstGeom>
          <a:noFill/>
          <a:ln/>
        </p:spPr>
        <p:txBody>
          <a:bodyPr wrap="square" rtlCol="0" anchor="t"/>
          <a:lstStyle/>
          <a:p>
            <a:pPr algn="ctr" indent="0" marL="0">
              <a:buNone/>
            </a:pPr>
            <a:r>
              <a:rPr lang="en-US" sz="1250" b="1" dirty="0">
                <a:solidFill>
                  <a:srgbClr val="0D3B33"/>
                </a:solidFill>
                <a:latin typeface="Cambria" pitchFamily="34" charset="0"/>
                <a:ea typeface="Cambria" pitchFamily="34" charset="-122"/>
                <a:cs typeface="Cambria" pitchFamily="34" charset="-120"/>
              </a:rPr>
              <a:t>DATASET</a:t>
            </a:r>
            <a:endParaRPr lang="en-US" sz="1250" dirty="0"/>
          </a:p>
        </p:txBody>
      </p:sp>
      <p:sp>
        <p:nvSpPr>
          <p:cNvPr id="9" name="Text 7"/>
          <p:cNvSpPr/>
          <p:nvPr/>
        </p:nvSpPr>
        <p:spPr>
          <a:xfrm>
            <a:off x="612648" y="2788920"/>
            <a:ext cx="1856781" cy="685800"/>
          </a:xfrm>
          <a:prstGeom prst="rect">
            <a:avLst/>
          </a:prstGeom>
          <a:noFill/>
          <a:ln/>
        </p:spPr>
        <p:txBody>
          <a:bodyPr wrap="square" rtlCol="0" anchor="t"/>
          <a:lstStyle/>
          <a:p>
            <a:pPr algn="ctr" indent="0" marL="0">
              <a:lnSpc>
                <a:spcPct val="115000"/>
              </a:lnSpc>
              <a:buNone/>
            </a:pPr>
            <a:r>
              <a:rPr lang="en-US" sz="900" dirty="0">
                <a:solidFill>
                  <a:srgbClr val="374644"/>
                </a:solidFill>
                <a:latin typeface="Calibri" pitchFamily="34" charset="0"/>
                <a:ea typeface="Calibri" pitchFamily="34" charset="-122"/>
                <a:cs typeface="Calibri" pitchFamily="34" charset="-120"/>
              </a:rPr>
              <a:t>Terjemahan Al-Qur’an</a:t>
            </a:r>
            <a:endParaRPr lang="en-US" sz="900" dirty="0"/>
          </a:p>
          <a:p>
            <a:pPr algn="ctr" indent="0" marL="0">
              <a:lnSpc>
                <a:spcPct val="115000"/>
              </a:lnSpc>
              <a:buNone/>
            </a:pPr>
            <a:r>
              <a:rPr lang="en-US" sz="900" dirty="0">
                <a:solidFill>
                  <a:srgbClr val="374644"/>
                </a:solidFill>
                <a:latin typeface="Calibri" pitchFamily="34" charset="0"/>
                <a:ea typeface="Calibri" pitchFamily="34" charset="-122"/>
                <a:cs typeface="Calibri" pitchFamily="34" charset="-120"/>
              </a:rPr>
              <a:t>Bahasa Indonesia (114 Surat)</a:t>
            </a:r>
            <a:endParaRPr lang="en-US" sz="900" dirty="0"/>
          </a:p>
        </p:txBody>
      </p:sp>
      <p:sp>
        <p:nvSpPr>
          <p:cNvPr id="10" name="Text 8"/>
          <p:cNvSpPr/>
          <p:nvPr/>
        </p:nvSpPr>
        <p:spPr>
          <a:xfrm>
            <a:off x="2560869" y="3543300"/>
            <a:ext cx="237744" cy="457200"/>
          </a:xfrm>
          <a:prstGeom prst="rect">
            <a:avLst/>
          </a:prstGeom>
          <a:noFill/>
          <a:ln/>
        </p:spPr>
        <p:txBody>
          <a:bodyPr wrap="square" rtlCol="0" anchor="ctr"/>
          <a:lstStyle/>
          <a:p>
            <a:pPr algn="ctr" indent="0" marL="0">
              <a:buNone/>
            </a:pPr>
            <a:r>
              <a:rPr lang="en-US" sz="1800" b="1" dirty="0">
                <a:solidFill>
                  <a:srgbClr val="C79A45"/>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2780325" y="1691640"/>
            <a:ext cx="2076237" cy="4160520"/>
          </a:xfrm>
          <a:prstGeom prst="roundRect">
            <a:avLst>
              <a:gd name="adj" fmla="val 3523"/>
            </a:avLst>
          </a:prstGeom>
          <a:solidFill>
            <a:srgbClr val="F4F7F6"/>
          </a:solidFill>
          <a:ln w="12700">
            <a:solidFill>
              <a:srgbClr val="DCE5E2"/>
            </a:solidFill>
            <a:prstDash val="solid"/>
          </a:ln>
        </p:spPr>
      </p:sp>
      <p:sp>
        <p:nvSpPr>
          <p:cNvPr id="12" name="Shape 10"/>
          <p:cNvSpPr/>
          <p:nvPr/>
        </p:nvSpPr>
        <p:spPr>
          <a:xfrm>
            <a:off x="3644707" y="1856232"/>
            <a:ext cx="347472" cy="347472"/>
          </a:xfrm>
          <a:prstGeom prst="ellipse">
            <a:avLst/>
          </a:prstGeom>
          <a:solidFill>
            <a:srgbClr val="C79A45"/>
          </a:solidFill>
          <a:ln/>
        </p:spPr>
      </p:sp>
      <p:sp>
        <p:nvSpPr>
          <p:cNvPr id="13" name="Text 11"/>
          <p:cNvSpPr/>
          <p:nvPr/>
        </p:nvSpPr>
        <p:spPr>
          <a:xfrm>
            <a:off x="3644707" y="1856232"/>
            <a:ext cx="347472" cy="347472"/>
          </a:xfrm>
          <a:prstGeom prst="rect">
            <a:avLst/>
          </a:prstGeom>
          <a:noFill/>
          <a:ln/>
        </p:spPr>
        <p:txBody>
          <a:bodyPr wrap="square" rtlCol="0" anchor="ctr"/>
          <a:lstStyle/>
          <a:p>
            <a:pPr algn="ctr" indent="0" marL="0">
              <a:buNone/>
            </a:pPr>
            <a:r>
              <a:rPr lang="en-US" sz="1300" b="1" dirty="0">
                <a:solidFill>
                  <a:srgbClr val="0D3B33"/>
                </a:solidFill>
                <a:latin typeface="Cambria" pitchFamily="34" charset="0"/>
                <a:ea typeface="Cambria" pitchFamily="34" charset="-122"/>
                <a:cs typeface="Cambria" pitchFamily="34" charset="-120"/>
              </a:rPr>
              <a:t>2</a:t>
            </a:r>
            <a:endParaRPr lang="en-US" sz="1300" dirty="0"/>
          </a:p>
        </p:txBody>
      </p:sp>
      <p:sp>
        <p:nvSpPr>
          <p:cNvPr id="14" name="Text 12"/>
          <p:cNvSpPr/>
          <p:nvPr/>
        </p:nvSpPr>
        <p:spPr>
          <a:xfrm>
            <a:off x="2871765" y="2313432"/>
            <a:ext cx="1893357" cy="457200"/>
          </a:xfrm>
          <a:prstGeom prst="rect">
            <a:avLst/>
          </a:prstGeom>
          <a:noFill/>
          <a:ln/>
        </p:spPr>
        <p:txBody>
          <a:bodyPr wrap="square" rtlCol="0" anchor="t"/>
          <a:lstStyle/>
          <a:p>
            <a:pPr algn="ctr" indent="0" marL="0">
              <a:buNone/>
            </a:pPr>
            <a:r>
              <a:rPr lang="en-US" sz="1250" b="1" dirty="0">
                <a:solidFill>
                  <a:srgbClr val="0D3B33"/>
                </a:solidFill>
                <a:latin typeface="Cambria" pitchFamily="34" charset="0"/>
                <a:ea typeface="Cambria" pitchFamily="34" charset="-122"/>
                <a:cs typeface="Cambria" pitchFamily="34" charset="-120"/>
              </a:rPr>
              <a:t>PREPROCESSING</a:t>
            </a:r>
            <a:endParaRPr lang="en-US" sz="1250" dirty="0"/>
          </a:p>
        </p:txBody>
      </p:sp>
      <p:sp>
        <p:nvSpPr>
          <p:cNvPr id="15" name="Shape 13"/>
          <p:cNvSpPr/>
          <p:nvPr/>
        </p:nvSpPr>
        <p:spPr>
          <a:xfrm>
            <a:off x="2908341" y="2889504"/>
            <a:ext cx="45720" cy="45720"/>
          </a:xfrm>
          <a:prstGeom prst="ellipse">
            <a:avLst/>
          </a:prstGeom>
          <a:solidFill>
            <a:srgbClr val="2A7566"/>
          </a:solidFill>
          <a:ln/>
        </p:spPr>
      </p:sp>
      <p:sp>
        <p:nvSpPr>
          <p:cNvPr id="16" name="Text 14"/>
          <p:cNvSpPr/>
          <p:nvPr/>
        </p:nvSpPr>
        <p:spPr>
          <a:xfrm>
            <a:off x="3036357" y="2779776"/>
            <a:ext cx="1692189" cy="777240"/>
          </a:xfrm>
          <a:prstGeom prst="rect">
            <a:avLst/>
          </a:prstGeom>
          <a:noFill/>
          <a:ln/>
        </p:spPr>
        <p:txBody>
          <a:bodyPr wrap="square" rtlCol="0" anchor="t"/>
          <a:lstStyle/>
          <a:p>
            <a:pPr indent="0" marL="0">
              <a:lnSpc>
                <a:spcPct val="108000"/>
              </a:lnSpc>
              <a:buNone/>
            </a:pPr>
            <a:r>
              <a:rPr lang="en-US" sz="830" dirty="0">
                <a:solidFill>
                  <a:srgbClr val="374644"/>
                </a:solidFill>
                <a:latin typeface="Calibri" pitchFamily="34" charset="0"/>
                <a:ea typeface="Calibri" pitchFamily="34" charset="-122"/>
                <a:cs typeface="Calibri" pitchFamily="34" charset="-120"/>
              </a:rPr>
              <a:t>Case Folding</a:t>
            </a:r>
            <a:endParaRPr lang="en-US" sz="830" dirty="0"/>
          </a:p>
        </p:txBody>
      </p:sp>
      <p:sp>
        <p:nvSpPr>
          <p:cNvPr id="17" name="Shape 15"/>
          <p:cNvSpPr/>
          <p:nvPr/>
        </p:nvSpPr>
        <p:spPr>
          <a:xfrm>
            <a:off x="2908341" y="3456432"/>
            <a:ext cx="45720" cy="45720"/>
          </a:xfrm>
          <a:prstGeom prst="ellipse">
            <a:avLst/>
          </a:prstGeom>
          <a:solidFill>
            <a:srgbClr val="2A7566"/>
          </a:solidFill>
          <a:ln/>
        </p:spPr>
      </p:sp>
      <p:sp>
        <p:nvSpPr>
          <p:cNvPr id="18" name="Text 16"/>
          <p:cNvSpPr/>
          <p:nvPr/>
        </p:nvSpPr>
        <p:spPr>
          <a:xfrm>
            <a:off x="3036357" y="3346704"/>
            <a:ext cx="1692189" cy="777240"/>
          </a:xfrm>
          <a:prstGeom prst="rect">
            <a:avLst/>
          </a:prstGeom>
          <a:noFill/>
          <a:ln/>
        </p:spPr>
        <p:txBody>
          <a:bodyPr wrap="square" rtlCol="0" anchor="t"/>
          <a:lstStyle/>
          <a:p>
            <a:pPr indent="0" marL="0">
              <a:lnSpc>
                <a:spcPct val="108000"/>
              </a:lnSpc>
              <a:buNone/>
            </a:pPr>
            <a:r>
              <a:rPr lang="en-US" sz="830" dirty="0">
                <a:solidFill>
                  <a:srgbClr val="374644"/>
                </a:solidFill>
                <a:latin typeface="Calibri" pitchFamily="34" charset="0"/>
                <a:ea typeface="Calibri" pitchFamily="34" charset="-122"/>
                <a:cs typeface="Calibri" pitchFamily="34" charset="-120"/>
              </a:rPr>
              <a:t>Tokenization</a:t>
            </a:r>
            <a:endParaRPr lang="en-US" sz="830" dirty="0"/>
          </a:p>
        </p:txBody>
      </p:sp>
      <p:sp>
        <p:nvSpPr>
          <p:cNvPr id="19" name="Shape 17"/>
          <p:cNvSpPr/>
          <p:nvPr/>
        </p:nvSpPr>
        <p:spPr>
          <a:xfrm>
            <a:off x="2908341" y="4023360"/>
            <a:ext cx="45720" cy="45720"/>
          </a:xfrm>
          <a:prstGeom prst="ellipse">
            <a:avLst/>
          </a:prstGeom>
          <a:solidFill>
            <a:srgbClr val="2A7566"/>
          </a:solidFill>
          <a:ln/>
        </p:spPr>
      </p:sp>
      <p:sp>
        <p:nvSpPr>
          <p:cNvPr id="20" name="Text 18"/>
          <p:cNvSpPr/>
          <p:nvPr/>
        </p:nvSpPr>
        <p:spPr>
          <a:xfrm>
            <a:off x="3036357" y="3913632"/>
            <a:ext cx="1692189" cy="777240"/>
          </a:xfrm>
          <a:prstGeom prst="rect">
            <a:avLst/>
          </a:prstGeom>
          <a:noFill/>
          <a:ln/>
        </p:spPr>
        <p:txBody>
          <a:bodyPr wrap="square" rtlCol="0" anchor="t"/>
          <a:lstStyle/>
          <a:p>
            <a:pPr indent="0" marL="0">
              <a:lnSpc>
                <a:spcPct val="108000"/>
              </a:lnSpc>
              <a:buNone/>
            </a:pPr>
            <a:r>
              <a:rPr lang="en-US" sz="830" dirty="0">
                <a:solidFill>
                  <a:srgbClr val="374644"/>
                </a:solidFill>
                <a:latin typeface="Calibri" pitchFamily="34" charset="0"/>
                <a:ea typeface="Calibri" pitchFamily="34" charset="-122"/>
                <a:cs typeface="Calibri" pitchFamily="34" charset="-120"/>
              </a:rPr>
              <a:t>Stopword Removal</a:t>
            </a:r>
            <a:endParaRPr lang="en-US" sz="830" dirty="0"/>
          </a:p>
        </p:txBody>
      </p:sp>
      <p:sp>
        <p:nvSpPr>
          <p:cNvPr id="21" name="Shape 19"/>
          <p:cNvSpPr/>
          <p:nvPr/>
        </p:nvSpPr>
        <p:spPr>
          <a:xfrm>
            <a:off x="2908341" y="4590288"/>
            <a:ext cx="45720" cy="45720"/>
          </a:xfrm>
          <a:prstGeom prst="ellipse">
            <a:avLst/>
          </a:prstGeom>
          <a:solidFill>
            <a:srgbClr val="2A7566"/>
          </a:solidFill>
          <a:ln/>
        </p:spPr>
      </p:sp>
      <p:sp>
        <p:nvSpPr>
          <p:cNvPr id="22" name="Text 20"/>
          <p:cNvSpPr/>
          <p:nvPr/>
        </p:nvSpPr>
        <p:spPr>
          <a:xfrm>
            <a:off x="3036357" y="4480560"/>
            <a:ext cx="1692189" cy="777240"/>
          </a:xfrm>
          <a:prstGeom prst="rect">
            <a:avLst/>
          </a:prstGeom>
          <a:noFill/>
          <a:ln/>
        </p:spPr>
        <p:txBody>
          <a:bodyPr wrap="square" rtlCol="0" anchor="t"/>
          <a:lstStyle/>
          <a:p>
            <a:pPr indent="0" marL="0">
              <a:lnSpc>
                <a:spcPct val="108000"/>
              </a:lnSpc>
              <a:buNone/>
            </a:pPr>
            <a:r>
              <a:rPr lang="en-US" sz="830" dirty="0">
                <a:solidFill>
                  <a:srgbClr val="374644"/>
                </a:solidFill>
                <a:latin typeface="Calibri" pitchFamily="34" charset="0"/>
                <a:ea typeface="Calibri" pitchFamily="34" charset="-122"/>
                <a:cs typeface="Calibri" pitchFamily="34" charset="-120"/>
              </a:rPr>
              <a:t>Stemming / Lemmatization</a:t>
            </a:r>
            <a:endParaRPr lang="en-US" sz="830" dirty="0"/>
          </a:p>
        </p:txBody>
      </p:sp>
      <p:sp>
        <p:nvSpPr>
          <p:cNvPr id="23" name="Shape 21"/>
          <p:cNvSpPr/>
          <p:nvPr/>
        </p:nvSpPr>
        <p:spPr>
          <a:xfrm>
            <a:off x="2908341" y="5157216"/>
            <a:ext cx="45720" cy="45720"/>
          </a:xfrm>
          <a:prstGeom prst="ellipse">
            <a:avLst/>
          </a:prstGeom>
          <a:solidFill>
            <a:srgbClr val="2A7566"/>
          </a:solidFill>
          <a:ln/>
        </p:spPr>
      </p:sp>
      <p:sp>
        <p:nvSpPr>
          <p:cNvPr id="24" name="Text 22"/>
          <p:cNvSpPr/>
          <p:nvPr/>
        </p:nvSpPr>
        <p:spPr>
          <a:xfrm>
            <a:off x="3036357" y="5047488"/>
            <a:ext cx="1692189" cy="777240"/>
          </a:xfrm>
          <a:prstGeom prst="rect">
            <a:avLst/>
          </a:prstGeom>
          <a:noFill/>
          <a:ln/>
        </p:spPr>
        <p:txBody>
          <a:bodyPr wrap="square" rtlCol="0" anchor="t"/>
          <a:lstStyle/>
          <a:p>
            <a:pPr indent="0" marL="0">
              <a:lnSpc>
                <a:spcPct val="108000"/>
              </a:lnSpc>
              <a:buNone/>
            </a:pPr>
            <a:r>
              <a:rPr lang="en-US" sz="830" dirty="0">
                <a:solidFill>
                  <a:srgbClr val="374644"/>
                </a:solidFill>
                <a:latin typeface="Calibri" pitchFamily="34" charset="0"/>
                <a:ea typeface="Calibri" pitchFamily="34" charset="-122"/>
                <a:cs typeface="Calibri" pitchFamily="34" charset="-120"/>
              </a:rPr>
              <a:t>Basic · No Stem · Advanced</a:t>
            </a:r>
            <a:endParaRPr lang="en-US" sz="830" dirty="0"/>
          </a:p>
        </p:txBody>
      </p:sp>
      <p:sp>
        <p:nvSpPr>
          <p:cNvPr id="25" name="Text 23"/>
          <p:cNvSpPr/>
          <p:nvPr/>
        </p:nvSpPr>
        <p:spPr>
          <a:xfrm>
            <a:off x="4838273" y="3543300"/>
            <a:ext cx="237744" cy="457200"/>
          </a:xfrm>
          <a:prstGeom prst="rect">
            <a:avLst/>
          </a:prstGeom>
          <a:noFill/>
          <a:ln/>
        </p:spPr>
        <p:txBody>
          <a:bodyPr wrap="square" rtlCol="0" anchor="ctr"/>
          <a:lstStyle/>
          <a:p>
            <a:pPr algn="ctr" indent="0" marL="0">
              <a:buNone/>
            </a:pPr>
            <a:r>
              <a:rPr lang="en-US" sz="1800" b="1" dirty="0">
                <a:solidFill>
                  <a:srgbClr val="C79A45"/>
                </a:solidFill>
                <a:latin typeface="Calibri" pitchFamily="34" charset="0"/>
                <a:ea typeface="Calibri" pitchFamily="34" charset="-122"/>
                <a:cs typeface="Calibri" pitchFamily="34" charset="-120"/>
              </a:rPr>
              <a:t>→</a:t>
            </a:r>
            <a:endParaRPr lang="en-US" sz="1800" dirty="0"/>
          </a:p>
        </p:txBody>
      </p:sp>
      <p:sp>
        <p:nvSpPr>
          <p:cNvPr id="26" name="Shape 24"/>
          <p:cNvSpPr/>
          <p:nvPr/>
        </p:nvSpPr>
        <p:spPr>
          <a:xfrm>
            <a:off x="5057729" y="1691640"/>
            <a:ext cx="2076237" cy="4160520"/>
          </a:xfrm>
          <a:prstGeom prst="roundRect">
            <a:avLst>
              <a:gd name="adj" fmla="val 3523"/>
            </a:avLst>
          </a:prstGeom>
          <a:solidFill>
            <a:srgbClr val="12483F"/>
          </a:solidFill>
          <a:ln w="12700">
            <a:solidFill>
              <a:srgbClr val="12483F"/>
            </a:solidFill>
            <a:prstDash val="solid"/>
          </a:ln>
        </p:spPr>
      </p:sp>
      <p:sp>
        <p:nvSpPr>
          <p:cNvPr id="27" name="Shape 25"/>
          <p:cNvSpPr/>
          <p:nvPr/>
        </p:nvSpPr>
        <p:spPr>
          <a:xfrm>
            <a:off x="5922112" y="1856232"/>
            <a:ext cx="347472" cy="347472"/>
          </a:xfrm>
          <a:prstGeom prst="ellipse">
            <a:avLst/>
          </a:prstGeom>
          <a:solidFill>
            <a:srgbClr val="C79A45"/>
          </a:solidFill>
          <a:ln/>
        </p:spPr>
      </p:sp>
      <p:sp>
        <p:nvSpPr>
          <p:cNvPr id="28" name="Text 26"/>
          <p:cNvSpPr/>
          <p:nvPr/>
        </p:nvSpPr>
        <p:spPr>
          <a:xfrm>
            <a:off x="5922112" y="1856232"/>
            <a:ext cx="347472" cy="347472"/>
          </a:xfrm>
          <a:prstGeom prst="rect">
            <a:avLst/>
          </a:prstGeom>
          <a:noFill/>
          <a:ln/>
        </p:spPr>
        <p:txBody>
          <a:bodyPr wrap="square" rtlCol="0" anchor="ctr"/>
          <a:lstStyle/>
          <a:p>
            <a:pPr algn="ctr" indent="0" marL="0">
              <a:buNone/>
            </a:pPr>
            <a:r>
              <a:rPr lang="en-US" sz="1300" b="1" dirty="0">
                <a:solidFill>
                  <a:srgbClr val="0D3B33"/>
                </a:solidFill>
                <a:latin typeface="Cambria" pitchFamily="34" charset="0"/>
                <a:ea typeface="Cambria" pitchFamily="34" charset="-122"/>
                <a:cs typeface="Cambria" pitchFamily="34" charset="-120"/>
              </a:rPr>
              <a:t>3</a:t>
            </a:r>
            <a:endParaRPr lang="en-US" sz="1300" dirty="0"/>
          </a:p>
        </p:txBody>
      </p:sp>
      <p:sp>
        <p:nvSpPr>
          <p:cNvPr id="29" name="Text 27"/>
          <p:cNvSpPr/>
          <p:nvPr/>
        </p:nvSpPr>
        <p:spPr>
          <a:xfrm>
            <a:off x="5149169" y="2313432"/>
            <a:ext cx="1893357" cy="457200"/>
          </a:xfrm>
          <a:prstGeom prst="rect">
            <a:avLst/>
          </a:prstGeom>
          <a:noFill/>
          <a:ln/>
        </p:spPr>
        <p:txBody>
          <a:bodyPr wrap="square"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TOPIC MODELING</a:t>
            </a:r>
            <a:endParaRPr lang="en-US" sz="1250" dirty="0"/>
          </a:p>
        </p:txBody>
      </p:sp>
      <p:sp>
        <p:nvSpPr>
          <p:cNvPr id="30" name="Shape 28"/>
          <p:cNvSpPr/>
          <p:nvPr/>
        </p:nvSpPr>
        <p:spPr>
          <a:xfrm>
            <a:off x="5185745" y="2889504"/>
            <a:ext cx="45720" cy="45720"/>
          </a:xfrm>
          <a:prstGeom prst="ellipse">
            <a:avLst/>
          </a:prstGeom>
          <a:solidFill>
            <a:srgbClr val="C79A45"/>
          </a:solidFill>
          <a:ln/>
        </p:spPr>
      </p:sp>
      <p:sp>
        <p:nvSpPr>
          <p:cNvPr id="31" name="Text 29"/>
          <p:cNvSpPr/>
          <p:nvPr/>
        </p:nvSpPr>
        <p:spPr>
          <a:xfrm>
            <a:off x="5313761" y="2779776"/>
            <a:ext cx="1692189" cy="777240"/>
          </a:xfrm>
          <a:prstGeom prst="rect">
            <a:avLst/>
          </a:prstGeom>
          <a:noFill/>
          <a:ln/>
        </p:spPr>
        <p:txBody>
          <a:bodyPr wrap="square" rtlCol="0" anchor="t"/>
          <a:lstStyle/>
          <a:p>
            <a:pPr indent="0" marL="0">
              <a:lnSpc>
                <a:spcPct val="108000"/>
              </a:lnSpc>
              <a:buNone/>
            </a:pPr>
            <a:r>
              <a:rPr lang="en-US" sz="830" dirty="0">
                <a:solidFill>
                  <a:srgbClr val="E9F2EF"/>
                </a:solidFill>
                <a:latin typeface="Calibri" pitchFamily="34" charset="0"/>
                <a:ea typeface="Calibri" pitchFamily="34" charset="-122"/>
                <a:cs typeface="Calibri" pitchFamily="34" charset="-120"/>
              </a:rPr>
              <a:t>CTM: Optimasi K · Variational Inference · Logistic-Normal · Topic Correlation</a:t>
            </a:r>
            <a:endParaRPr lang="en-US" sz="830" dirty="0"/>
          </a:p>
        </p:txBody>
      </p:sp>
      <p:sp>
        <p:nvSpPr>
          <p:cNvPr id="32" name="Shape 30"/>
          <p:cNvSpPr/>
          <p:nvPr/>
        </p:nvSpPr>
        <p:spPr>
          <a:xfrm>
            <a:off x="5185745" y="3730752"/>
            <a:ext cx="45720" cy="45720"/>
          </a:xfrm>
          <a:prstGeom prst="ellipse">
            <a:avLst/>
          </a:prstGeom>
          <a:solidFill>
            <a:srgbClr val="C79A45"/>
          </a:solidFill>
          <a:ln/>
        </p:spPr>
      </p:sp>
      <p:sp>
        <p:nvSpPr>
          <p:cNvPr id="33" name="Text 31"/>
          <p:cNvSpPr/>
          <p:nvPr/>
        </p:nvSpPr>
        <p:spPr>
          <a:xfrm>
            <a:off x="5313761" y="3621024"/>
            <a:ext cx="1692189" cy="777240"/>
          </a:xfrm>
          <a:prstGeom prst="rect">
            <a:avLst/>
          </a:prstGeom>
          <a:noFill/>
          <a:ln/>
        </p:spPr>
        <p:txBody>
          <a:bodyPr wrap="square" rtlCol="0" anchor="t"/>
          <a:lstStyle/>
          <a:p>
            <a:pPr indent="0" marL="0">
              <a:lnSpc>
                <a:spcPct val="108000"/>
              </a:lnSpc>
              <a:buNone/>
            </a:pPr>
            <a:r>
              <a:rPr lang="en-US" sz="830" dirty="0">
                <a:solidFill>
                  <a:srgbClr val="E9F2EF"/>
                </a:solidFill>
                <a:latin typeface="Calibri" pitchFamily="34" charset="0"/>
                <a:ea typeface="Calibri" pitchFamily="34" charset="-122"/>
                <a:cs typeface="Calibri" pitchFamily="34" charset="-120"/>
              </a:rPr>
              <a:t>BERTopic: UMAP · HDBSCAN · C-TF-IDF · Topic Extraction</a:t>
            </a:r>
            <a:endParaRPr lang="en-US" sz="830" dirty="0"/>
          </a:p>
        </p:txBody>
      </p:sp>
      <p:sp>
        <p:nvSpPr>
          <p:cNvPr id="34" name="Text 32"/>
          <p:cNvSpPr/>
          <p:nvPr/>
        </p:nvSpPr>
        <p:spPr>
          <a:xfrm>
            <a:off x="7115678" y="3543300"/>
            <a:ext cx="237744" cy="457200"/>
          </a:xfrm>
          <a:prstGeom prst="rect">
            <a:avLst/>
          </a:prstGeom>
          <a:noFill/>
          <a:ln/>
        </p:spPr>
        <p:txBody>
          <a:bodyPr wrap="square" rtlCol="0" anchor="ctr"/>
          <a:lstStyle/>
          <a:p>
            <a:pPr algn="ctr" indent="0" marL="0">
              <a:buNone/>
            </a:pPr>
            <a:r>
              <a:rPr lang="en-US" sz="1800" b="1" dirty="0">
                <a:solidFill>
                  <a:srgbClr val="C79A45"/>
                </a:solidFill>
                <a:latin typeface="Calibri" pitchFamily="34" charset="0"/>
                <a:ea typeface="Calibri" pitchFamily="34" charset="-122"/>
                <a:cs typeface="Calibri" pitchFamily="34" charset="-120"/>
              </a:rPr>
              <a:t>→</a:t>
            </a:r>
            <a:endParaRPr lang="en-US" sz="1800" dirty="0"/>
          </a:p>
        </p:txBody>
      </p:sp>
      <p:sp>
        <p:nvSpPr>
          <p:cNvPr id="35" name="Shape 33"/>
          <p:cNvSpPr/>
          <p:nvPr/>
        </p:nvSpPr>
        <p:spPr>
          <a:xfrm>
            <a:off x="7335134" y="1691640"/>
            <a:ext cx="2076237" cy="4160520"/>
          </a:xfrm>
          <a:prstGeom prst="roundRect">
            <a:avLst>
              <a:gd name="adj" fmla="val 3523"/>
            </a:avLst>
          </a:prstGeom>
          <a:solidFill>
            <a:srgbClr val="F4F7F6"/>
          </a:solidFill>
          <a:ln w="12700">
            <a:solidFill>
              <a:srgbClr val="DCE5E2"/>
            </a:solidFill>
            <a:prstDash val="solid"/>
          </a:ln>
        </p:spPr>
      </p:sp>
      <p:sp>
        <p:nvSpPr>
          <p:cNvPr id="36" name="Shape 34"/>
          <p:cNvSpPr/>
          <p:nvPr/>
        </p:nvSpPr>
        <p:spPr>
          <a:xfrm>
            <a:off x="8199516" y="1856232"/>
            <a:ext cx="347472" cy="347472"/>
          </a:xfrm>
          <a:prstGeom prst="ellipse">
            <a:avLst/>
          </a:prstGeom>
          <a:solidFill>
            <a:srgbClr val="C79A45"/>
          </a:solidFill>
          <a:ln/>
        </p:spPr>
      </p:sp>
      <p:sp>
        <p:nvSpPr>
          <p:cNvPr id="37" name="Text 35"/>
          <p:cNvSpPr/>
          <p:nvPr/>
        </p:nvSpPr>
        <p:spPr>
          <a:xfrm>
            <a:off x="8199516" y="1856232"/>
            <a:ext cx="347472" cy="347472"/>
          </a:xfrm>
          <a:prstGeom prst="rect">
            <a:avLst/>
          </a:prstGeom>
          <a:noFill/>
          <a:ln/>
        </p:spPr>
        <p:txBody>
          <a:bodyPr wrap="square" rtlCol="0" anchor="ctr"/>
          <a:lstStyle/>
          <a:p>
            <a:pPr algn="ctr" indent="0" marL="0">
              <a:buNone/>
            </a:pPr>
            <a:r>
              <a:rPr lang="en-US" sz="1300" b="1" dirty="0">
                <a:solidFill>
                  <a:srgbClr val="0D3B33"/>
                </a:solidFill>
                <a:latin typeface="Cambria" pitchFamily="34" charset="0"/>
                <a:ea typeface="Cambria" pitchFamily="34" charset="-122"/>
                <a:cs typeface="Cambria" pitchFamily="34" charset="-120"/>
              </a:rPr>
              <a:t>4</a:t>
            </a:r>
            <a:endParaRPr lang="en-US" sz="1300" dirty="0"/>
          </a:p>
        </p:txBody>
      </p:sp>
      <p:sp>
        <p:nvSpPr>
          <p:cNvPr id="38" name="Text 36"/>
          <p:cNvSpPr/>
          <p:nvPr/>
        </p:nvSpPr>
        <p:spPr>
          <a:xfrm>
            <a:off x="7426574" y="2313432"/>
            <a:ext cx="1893357" cy="457200"/>
          </a:xfrm>
          <a:prstGeom prst="rect">
            <a:avLst/>
          </a:prstGeom>
          <a:noFill/>
          <a:ln/>
        </p:spPr>
        <p:txBody>
          <a:bodyPr wrap="square" rtlCol="0" anchor="t"/>
          <a:lstStyle/>
          <a:p>
            <a:pPr algn="ctr" indent="0" marL="0">
              <a:buNone/>
            </a:pPr>
            <a:r>
              <a:rPr lang="en-US" sz="1250" b="1" dirty="0">
                <a:solidFill>
                  <a:srgbClr val="0D3B33"/>
                </a:solidFill>
                <a:latin typeface="Cambria" pitchFamily="34" charset="0"/>
                <a:ea typeface="Cambria" pitchFamily="34" charset="-122"/>
                <a:cs typeface="Cambria" pitchFamily="34" charset="-120"/>
              </a:rPr>
              <a:t>EVALUATION</a:t>
            </a:r>
            <a:endParaRPr lang="en-US" sz="1250" dirty="0"/>
          </a:p>
        </p:txBody>
      </p:sp>
      <p:sp>
        <p:nvSpPr>
          <p:cNvPr id="39" name="Shape 37"/>
          <p:cNvSpPr/>
          <p:nvPr/>
        </p:nvSpPr>
        <p:spPr>
          <a:xfrm>
            <a:off x="7463150" y="2889504"/>
            <a:ext cx="45720" cy="45720"/>
          </a:xfrm>
          <a:prstGeom prst="ellipse">
            <a:avLst/>
          </a:prstGeom>
          <a:solidFill>
            <a:srgbClr val="2A7566"/>
          </a:solidFill>
          <a:ln/>
        </p:spPr>
      </p:sp>
      <p:sp>
        <p:nvSpPr>
          <p:cNvPr id="40" name="Text 38"/>
          <p:cNvSpPr/>
          <p:nvPr/>
        </p:nvSpPr>
        <p:spPr>
          <a:xfrm>
            <a:off x="7591166" y="2779776"/>
            <a:ext cx="1692189" cy="777240"/>
          </a:xfrm>
          <a:prstGeom prst="rect">
            <a:avLst/>
          </a:prstGeom>
          <a:noFill/>
          <a:ln/>
        </p:spPr>
        <p:txBody>
          <a:bodyPr wrap="square" rtlCol="0" anchor="t"/>
          <a:lstStyle/>
          <a:p>
            <a:pPr indent="0" marL="0">
              <a:lnSpc>
                <a:spcPct val="108000"/>
              </a:lnSpc>
              <a:buNone/>
            </a:pPr>
            <a:r>
              <a:rPr lang="en-US" sz="830" dirty="0">
                <a:solidFill>
                  <a:srgbClr val="374644"/>
                </a:solidFill>
                <a:latin typeface="Calibri" pitchFamily="34" charset="0"/>
                <a:ea typeface="Calibri" pitchFamily="34" charset="-122"/>
                <a:cs typeface="Calibri" pitchFamily="34" charset="-120"/>
              </a:rPr>
              <a:t>Coherence Score (C_V, UMass, NPMI)</a:t>
            </a:r>
            <a:endParaRPr lang="en-US" sz="830" dirty="0"/>
          </a:p>
        </p:txBody>
      </p:sp>
      <p:sp>
        <p:nvSpPr>
          <p:cNvPr id="41" name="Shape 39"/>
          <p:cNvSpPr/>
          <p:nvPr/>
        </p:nvSpPr>
        <p:spPr>
          <a:xfrm>
            <a:off x="7463150" y="3730752"/>
            <a:ext cx="45720" cy="45720"/>
          </a:xfrm>
          <a:prstGeom prst="ellipse">
            <a:avLst/>
          </a:prstGeom>
          <a:solidFill>
            <a:srgbClr val="2A7566"/>
          </a:solidFill>
          <a:ln/>
        </p:spPr>
      </p:sp>
      <p:sp>
        <p:nvSpPr>
          <p:cNvPr id="42" name="Text 40"/>
          <p:cNvSpPr/>
          <p:nvPr/>
        </p:nvSpPr>
        <p:spPr>
          <a:xfrm>
            <a:off x="7591166" y="3621024"/>
            <a:ext cx="1692189" cy="777240"/>
          </a:xfrm>
          <a:prstGeom prst="rect">
            <a:avLst/>
          </a:prstGeom>
          <a:noFill/>
          <a:ln/>
        </p:spPr>
        <p:txBody>
          <a:bodyPr wrap="square" rtlCol="0" anchor="t"/>
          <a:lstStyle/>
          <a:p>
            <a:pPr indent="0" marL="0">
              <a:lnSpc>
                <a:spcPct val="108000"/>
              </a:lnSpc>
              <a:buNone/>
            </a:pPr>
            <a:r>
              <a:rPr lang="en-US" sz="830" dirty="0">
                <a:solidFill>
                  <a:srgbClr val="374644"/>
                </a:solidFill>
                <a:latin typeface="Calibri" pitchFamily="34" charset="0"/>
                <a:ea typeface="Calibri" pitchFamily="34" charset="-122"/>
                <a:cs typeface="Calibri" pitchFamily="34" charset="-120"/>
              </a:rPr>
              <a:t>Diversity Score</a:t>
            </a:r>
            <a:endParaRPr lang="en-US" sz="830" dirty="0"/>
          </a:p>
        </p:txBody>
      </p:sp>
      <p:sp>
        <p:nvSpPr>
          <p:cNvPr id="43" name="Shape 41"/>
          <p:cNvSpPr/>
          <p:nvPr/>
        </p:nvSpPr>
        <p:spPr>
          <a:xfrm>
            <a:off x="7463150" y="4572000"/>
            <a:ext cx="45720" cy="45720"/>
          </a:xfrm>
          <a:prstGeom prst="ellipse">
            <a:avLst/>
          </a:prstGeom>
          <a:solidFill>
            <a:srgbClr val="2A7566"/>
          </a:solidFill>
          <a:ln/>
        </p:spPr>
      </p:sp>
      <p:sp>
        <p:nvSpPr>
          <p:cNvPr id="44" name="Text 42"/>
          <p:cNvSpPr/>
          <p:nvPr/>
        </p:nvSpPr>
        <p:spPr>
          <a:xfrm>
            <a:off x="7591166" y="4462272"/>
            <a:ext cx="1692189" cy="777240"/>
          </a:xfrm>
          <a:prstGeom prst="rect">
            <a:avLst/>
          </a:prstGeom>
          <a:noFill/>
          <a:ln/>
        </p:spPr>
        <p:txBody>
          <a:bodyPr wrap="square" rtlCol="0" anchor="t"/>
          <a:lstStyle/>
          <a:p>
            <a:pPr indent="0" marL="0">
              <a:lnSpc>
                <a:spcPct val="108000"/>
              </a:lnSpc>
              <a:buNone/>
            </a:pPr>
            <a:r>
              <a:rPr lang="en-US" sz="830" dirty="0">
                <a:solidFill>
                  <a:srgbClr val="374644"/>
                </a:solidFill>
                <a:latin typeface="Calibri" pitchFamily="34" charset="0"/>
                <a:ea typeface="Calibri" pitchFamily="34" charset="-122"/>
                <a:cs typeface="Calibri" pitchFamily="34" charset="-120"/>
              </a:rPr>
              <a:t>Menilai kualitas &amp; keragaman topik kedua model</a:t>
            </a:r>
            <a:endParaRPr lang="en-US" sz="830" dirty="0"/>
          </a:p>
        </p:txBody>
      </p:sp>
      <p:sp>
        <p:nvSpPr>
          <p:cNvPr id="45" name="Text 43"/>
          <p:cNvSpPr/>
          <p:nvPr/>
        </p:nvSpPr>
        <p:spPr>
          <a:xfrm>
            <a:off x="9393083" y="3543300"/>
            <a:ext cx="237744" cy="457200"/>
          </a:xfrm>
          <a:prstGeom prst="rect">
            <a:avLst/>
          </a:prstGeom>
          <a:noFill/>
          <a:ln/>
        </p:spPr>
        <p:txBody>
          <a:bodyPr wrap="square" rtlCol="0" anchor="ctr"/>
          <a:lstStyle/>
          <a:p>
            <a:pPr algn="ctr" indent="0" marL="0">
              <a:buNone/>
            </a:pPr>
            <a:r>
              <a:rPr lang="en-US" sz="1800" b="1" dirty="0">
                <a:solidFill>
                  <a:srgbClr val="C79A45"/>
                </a:solidFill>
                <a:latin typeface="Calibri" pitchFamily="34" charset="0"/>
                <a:ea typeface="Calibri" pitchFamily="34" charset="-122"/>
                <a:cs typeface="Calibri" pitchFamily="34" charset="-120"/>
              </a:rPr>
              <a:t>→</a:t>
            </a:r>
            <a:endParaRPr lang="en-US" sz="1800" dirty="0"/>
          </a:p>
        </p:txBody>
      </p:sp>
      <p:sp>
        <p:nvSpPr>
          <p:cNvPr id="46" name="Shape 44"/>
          <p:cNvSpPr/>
          <p:nvPr/>
        </p:nvSpPr>
        <p:spPr>
          <a:xfrm>
            <a:off x="9612539" y="1691640"/>
            <a:ext cx="2076237" cy="4160520"/>
          </a:xfrm>
          <a:prstGeom prst="roundRect">
            <a:avLst>
              <a:gd name="adj" fmla="val 3523"/>
            </a:avLst>
          </a:prstGeom>
          <a:solidFill>
            <a:srgbClr val="F4F7F6"/>
          </a:solidFill>
          <a:ln w="12700">
            <a:solidFill>
              <a:srgbClr val="DCE5E2"/>
            </a:solidFill>
            <a:prstDash val="solid"/>
          </a:ln>
        </p:spPr>
      </p:sp>
      <p:sp>
        <p:nvSpPr>
          <p:cNvPr id="47" name="Shape 45"/>
          <p:cNvSpPr/>
          <p:nvPr/>
        </p:nvSpPr>
        <p:spPr>
          <a:xfrm>
            <a:off x="10476921" y="1856232"/>
            <a:ext cx="347472" cy="347472"/>
          </a:xfrm>
          <a:prstGeom prst="ellipse">
            <a:avLst/>
          </a:prstGeom>
          <a:solidFill>
            <a:srgbClr val="C79A45"/>
          </a:solidFill>
          <a:ln/>
        </p:spPr>
      </p:sp>
      <p:sp>
        <p:nvSpPr>
          <p:cNvPr id="48" name="Text 46"/>
          <p:cNvSpPr/>
          <p:nvPr/>
        </p:nvSpPr>
        <p:spPr>
          <a:xfrm>
            <a:off x="10476921" y="1856232"/>
            <a:ext cx="347472" cy="347472"/>
          </a:xfrm>
          <a:prstGeom prst="rect">
            <a:avLst/>
          </a:prstGeom>
          <a:noFill/>
          <a:ln/>
        </p:spPr>
        <p:txBody>
          <a:bodyPr wrap="square" rtlCol="0" anchor="ctr"/>
          <a:lstStyle/>
          <a:p>
            <a:pPr algn="ctr" indent="0" marL="0">
              <a:buNone/>
            </a:pPr>
            <a:r>
              <a:rPr lang="en-US" sz="1300" b="1" dirty="0">
                <a:solidFill>
                  <a:srgbClr val="0D3B33"/>
                </a:solidFill>
                <a:latin typeface="Cambria" pitchFamily="34" charset="0"/>
                <a:ea typeface="Cambria" pitchFamily="34" charset="-122"/>
                <a:cs typeface="Cambria" pitchFamily="34" charset="-120"/>
              </a:rPr>
              <a:t>5</a:t>
            </a:r>
            <a:endParaRPr lang="en-US" sz="1300" dirty="0"/>
          </a:p>
        </p:txBody>
      </p:sp>
      <p:sp>
        <p:nvSpPr>
          <p:cNvPr id="49" name="Text 47"/>
          <p:cNvSpPr/>
          <p:nvPr/>
        </p:nvSpPr>
        <p:spPr>
          <a:xfrm>
            <a:off x="9703979" y="2313432"/>
            <a:ext cx="1893357" cy="457200"/>
          </a:xfrm>
          <a:prstGeom prst="rect">
            <a:avLst/>
          </a:prstGeom>
          <a:noFill/>
          <a:ln/>
        </p:spPr>
        <p:txBody>
          <a:bodyPr wrap="square" rtlCol="0" anchor="t"/>
          <a:lstStyle/>
          <a:p>
            <a:pPr algn="ctr" indent="0" marL="0">
              <a:buNone/>
            </a:pPr>
            <a:r>
              <a:rPr lang="en-US" sz="1250" b="1" dirty="0">
                <a:solidFill>
                  <a:srgbClr val="0D3B33"/>
                </a:solidFill>
                <a:latin typeface="Cambria" pitchFamily="34" charset="0"/>
                <a:ea typeface="Cambria" pitchFamily="34" charset="-122"/>
                <a:cs typeface="Cambria" pitchFamily="34" charset="-120"/>
              </a:rPr>
              <a:t>INTERPRETASI &amp; GABUNGAN</a:t>
            </a:r>
            <a:endParaRPr lang="en-US" sz="1250" dirty="0"/>
          </a:p>
        </p:txBody>
      </p:sp>
      <p:sp>
        <p:nvSpPr>
          <p:cNvPr id="50" name="Shape 48"/>
          <p:cNvSpPr/>
          <p:nvPr/>
        </p:nvSpPr>
        <p:spPr>
          <a:xfrm>
            <a:off x="9740555" y="2889504"/>
            <a:ext cx="45720" cy="45720"/>
          </a:xfrm>
          <a:prstGeom prst="ellipse">
            <a:avLst/>
          </a:prstGeom>
          <a:solidFill>
            <a:srgbClr val="2A7566"/>
          </a:solidFill>
          <a:ln/>
        </p:spPr>
      </p:sp>
      <p:sp>
        <p:nvSpPr>
          <p:cNvPr id="51" name="Text 49"/>
          <p:cNvSpPr/>
          <p:nvPr/>
        </p:nvSpPr>
        <p:spPr>
          <a:xfrm>
            <a:off x="9868571" y="2779776"/>
            <a:ext cx="1692189" cy="777240"/>
          </a:xfrm>
          <a:prstGeom prst="rect">
            <a:avLst/>
          </a:prstGeom>
          <a:noFill/>
          <a:ln/>
        </p:spPr>
        <p:txBody>
          <a:bodyPr wrap="square" rtlCol="0" anchor="t"/>
          <a:lstStyle/>
          <a:p>
            <a:pPr indent="0" marL="0">
              <a:lnSpc>
                <a:spcPct val="108000"/>
              </a:lnSpc>
              <a:buNone/>
            </a:pPr>
            <a:r>
              <a:rPr lang="en-US" sz="830" dirty="0">
                <a:solidFill>
                  <a:srgbClr val="374644"/>
                </a:solidFill>
                <a:latin typeface="Calibri" pitchFamily="34" charset="0"/>
                <a:ea typeface="Calibri" pitchFamily="34" charset="-122"/>
                <a:cs typeface="Calibri" pitchFamily="34" charset="-120"/>
              </a:rPr>
              <a:t>Interpretasi kata kunci sesuai tema</a:t>
            </a:r>
            <a:endParaRPr lang="en-US" sz="830" dirty="0"/>
          </a:p>
        </p:txBody>
      </p:sp>
      <p:sp>
        <p:nvSpPr>
          <p:cNvPr id="52" name="Shape 50"/>
          <p:cNvSpPr/>
          <p:nvPr/>
        </p:nvSpPr>
        <p:spPr>
          <a:xfrm>
            <a:off x="9740555" y="3730752"/>
            <a:ext cx="45720" cy="45720"/>
          </a:xfrm>
          <a:prstGeom prst="ellipse">
            <a:avLst/>
          </a:prstGeom>
          <a:solidFill>
            <a:srgbClr val="2A7566"/>
          </a:solidFill>
          <a:ln/>
        </p:spPr>
      </p:sp>
      <p:sp>
        <p:nvSpPr>
          <p:cNvPr id="53" name="Text 51"/>
          <p:cNvSpPr/>
          <p:nvPr/>
        </p:nvSpPr>
        <p:spPr>
          <a:xfrm>
            <a:off x="9868571" y="3621024"/>
            <a:ext cx="1692189" cy="777240"/>
          </a:xfrm>
          <a:prstGeom prst="rect">
            <a:avLst/>
          </a:prstGeom>
          <a:noFill/>
          <a:ln/>
        </p:spPr>
        <p:txBody>
          <a:bodyPr wrap="square" rtlCol="0" anchor="t"/>
          <a:lstStyle/>
          <a:p>
            <a:pPr indent="0" marL="0">
              <a:lnSpc>
                <a:spcPct val="108000"/>
              </a:lnSpc>
              <a:buNone/>
            </a:pPr>
            <a:r>
              <a:rPr lang="en-US" sz="830" dirty="0">
                <a:solidFill>
                  <a:srgbClr val="374644"/>
                </a:solidFill>
                <a:latin typeface="Calibri" pitchFamily="34" charset="0"/>
                <a:ea typeface="Calibri" pitchFamily="34" charset="-122"/>
                <a:cs typeface="Calibri" pitchFamily="34" charset="-120"/>
              </a:rPr>
              <a:t>Penggabungan topik CTM + BERTopic dengan Jaccard Similarity</a:t>
            </a:r>
            <a:endParaRPr lang="en-US" sz="830" dirty="0"/>
          </a:p>
        </p:txBody>
      </p:sp>
      <p:sp>
        <p:nvSpPr>
          <p:cNvPr id="54" name="Text 52"/>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55" name="Text 53"/>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943100" cy="310896"/>
          </a:xfrm>
          <a:prstGeom prst="roundRect">
            <a:avLst>
              <a:gd name="adj" fmla="val 50000"/>
            </a:avLst>
          </a:prstGeom>
          <a:solidFill>
            <a:srgbClr val="12483F"/>
          </a:solidFill>
          <a:ln/>
        </p:spPr>
      </p:sp>
      <p:sp>
        <p:nvSpPr>
          <p:cNvPr id="3" name="Text 1"/>
          <p:cNvSpPr/>
          <p:nvPr/>
        </p:nvSpPr>
        <p:spPr>
          <a:xfrm>
            <a:off x="502920" y="411480"/>
            <a:ext cx="1943100"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04 | METODOLOGI</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600" b="1" dirty="0">
                <a:solidFill>
                  <a:srgbClr val="0D3B33"/>
                </a:solidFill>
                <a:latin typeface="Cambria" pitchFamily="34" charset="0"/>
                <a:ea typeface="Cambria" pitchFamily="34" charset="-122"/>
                <a:cs typeface="Cambria" pitchFamily="34" charset="-120"/>
              </a:rPr>
              <a:t>Research Pipeline — Ringkasan Visual</a:t>
            </a:r>
            <a:endParaRPr lang="en-US" sz="2600" dirty="0"/>
          </a:p>
        </p:txBody>
      </p:sp>
      <p:sp>
        <p:nvSpPr>
          <p:cNvPr id="5" name="Shape 3"/>
          <p:cNvSpPr/>
          <p:nvPr/>
        </p:nvSpPr>
        <p:spPr>
          <a:xfrm>
            <a:off x="502920" y="1600200"/>
            <a:ext cx="7772400" cy="4709160"/>
          </a:xfrm>
          <a:prstGeom prst="roundRect">
            <a:avLst>
              <a:gd name="adj" fmla="val 1553"/>
            </a:avLst>
          </a:prstGeom>
          <a:solidFill>
            <a:srgbClr val="FFFFFF"/>
          </a:solidFill>
          <a:ln w="12700">
            <a:solidFill>
              <a:srgbClr val="DCE5E2"/>
            </a:solidFill>
            <a:prstDash val="solid"/>
          </a:ln>
          <a:effectLst>
            <a:outerShdw sx="100000" sy="100000" kx="0" ky="0" algn="bl" rotWithShape="0" blurRad="101600" dist="25400" dir="5400000">
              <a:srgbClr val="1F2A28">
                <a:alpha val="15000"/>
              </a:srgbClr>
            </a:outerShdw>
          </a:effectLst>
        </p:spPr>
      </p:sp>
      <p:pic>
        <p:nvPicPr>
          <p:cNvPr id="6" name="Image 0" descr="/home/claude/assets/pipeline_full.jpeg">    </p:cNvPr>
          <p:cNvPicPr>
            <a:picLocks noChangeAspect="1"/>
          </p:cNvPicPr>
          <p:nvPr/>
        </p:nvPicPr>
        <p:blipFill>
          <a:blip r:embed="rId1"/>
          <a:stretch>
            <a:fillRect/>
          </a:stretch>
        </p:blipFill>
        <p:spPr>
          <a:xfrm>
            <a:off x="667512" y="1764792"/>
            <a:ext cx="7443216" cy="4379976"/>
          </a:xfrm>
          <a:prstGeom prst="rect">
            <a:avLst/>
          </a:prstGeom>
        </p:spPr>
      </p:pic>
      <p:sp>
        <p:nvSpPr>
          <p:cNvPr id="7" name="Shape 4"/>
          <p:cNvSpPr/>
          <p:nvPr/>
        </p:nvSpPr>
        <p:spPr>
          <a:xfrm>
            <a:off x="8092440" y="1600200"/>
            <a:ext cx="3593592" cy="4709160"/>
          </a:xfrm>
          <a:prstGeom prst="roundRect">
            <a:avLst>
              <a:gd name="adj" fmla="val 1781"/>
            </a:avLst>
          </a:prstGeom>
          <a:solidFill>
            <a:srgbClr val="F3F7F6"/>
          </a:solidFill>
          <a:ln w="12700">
            <a:solidFill>
              <a:srgbClr val="E6EEEB"/>
            </a:solidFill>
            <a:prstDash val="solid"/>
          </a:ln>
        </p:spPr>
      </p:sp>
      <p:sp>
        <p:nvSpPr>
          <p:cNvPr id="8" name="Shape 5"/>
          <p:cNvSpPr/>
          <p:nvPr/>
        </p:nvSpPr>
        <p:spPr>
          <a:xfrm>
            <a:off x="8238744" y="1728216"/>
            <a:ext cx="82296" cy="82296"/>
          </a:xfrm>
          <a:prstGeom prst="roundRect">
            <a:avLst>
              <a:gd name="adj" fmla="val 50000"/>
            </a:avLst>
          </a:prstGeom>
          <a:solidFill>
            <a:srgbClr val="C79A45"/>
          </a:solidFill>
          <a:ln/>
        </p:spPr>
      </p:sp>
      <p:sp>
        <p:nvSpPr>
          <p:cNvPr id="9" name="Text 6"/>
          <p:cNvSpPr/>
          <p:nvPr/>
        </p:nvSpPr>
        <p:spPr>
          <a:xfrm>
            <a:off x="8403336" y="1673352"/>
            <a:ext cx="3136392"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RINGKASAN ALUR</a:t>
            </a:r>
            <a:endParaRPr lang="en-US" sz="950" dirty="0"/>
          </a:p>
        </p:txBody>
      </p:sp>
      <p:sp>
        <p:nvSpPr>
          <p:cNvPr id="10" name="Text 7"/>
          <p:cNvSpPr/>
          <p:nvPr/>
        </p:nvSpPr>
        <p:spPr>
          <a:xfrm>
            <a:off x="8238744" y="1911096"/>
            <a:ext cx="3300984" cy="4325112"/>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Diagram di samping merangkum seluruh alur penelitian secara visual, mulai dari korpus terjemahan Al-Qur’an, tahapan preprocessing bertingkat, pencabangan dua model (CTM dan BERTopic), proses evaluasi berbasis metrik koherensi, hingga interpretasi dan penggabungan akhir hasil topik.</a:t>
            </a:r>
            <a:endParaRPr lang="en-US" sz="1000" dirty="0"/>
          </a:p>
          <a:p>
            <a:pPr indent="0" marL="0">
              <a:lnSpc>
                <a:spcPct val="112000"/>
              </a:lnSpc>
              <a:buNone/>
            </a:pP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Pendekatan dua-jalur ini memungkinkan perbandingan langsung antara model probabilistik generatif (CTM) dan model berbasis embedding kontekstual (BERTopic) pada korpus yang identik.</a:t>
            </a:r>
            <a:endParaRPr lang="en-US" sz="1000" dirty="0"/>
          </a:p>
        </p:txBody>
      </p:sp>
      <p:sp>
        <p:nvSpPr>
          <p:cNvPr id="11" name="Text 8"/>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12" name="Text 9"/>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655064" cy="310896"/>
          </a:xfrm>
          <a:prstGeom prst="roundRect">
            <a:avLst>
              <a:gd name="adj" fmla="val 50000"/>
            </a:avLst>
          </a:prstGeom>
          <a:solidFill>
            <a:srgbClr val="12483F"/>
          </a:solidFill>
          <a:ln/>
        </p:spPr>
      </p:sp>
      <p:sp>
        <p:nvSpPr>
          <p:cNvPr id="3" name="Text 1"/>
          <p:cNvSpPr/>
          <p:nvPr/>
        </p:nvSpPr>
        <p:spPr>
          <a:xfrm>
            <a:off x="502920" y="411480"/>
            <a:ext cx="1655064"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05 | DATASET</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800" b="1" dirty="0">
                <a:solidFill>
                  <a:srgbClr val="0D3B33"/>
                </a:solidFill>
                <a:latin typeface="Cambria" pitchFamily="34" charset="0"/>
                <a:ea typeface="Cambria" pitchFamily="34" charset="-122"/>
                <a:cs typeface="Cambria" pitchFamily="34" charset="-120"/>
              </a:rPr>
              <a:t>Terjemahan Al-Qur’an Bahasa Indonesia</a:t>
            </a:r>
            <a:endParaRPr lang="en-US" sz="2800" dirty="0"/>
          </a:p>
        </p:txBody>
      </p:sp>
      <p:sp>
        <p:nvSpPr>
          <p:cNvPr id="5" name="Shape 3"/>
          <p:cNvSpPr/>
          <p:nvPr/>
        </p:nvSpPr>
        <p:spPr>
          <a:xfrm>
            <a:off x="502920" y="1627632"/>
            <a:ext cx="1508760" cy="1051560"/>
          </a:xfrm>
          <a:prstGeom prst="roundRect">
            <a:avLst>
              <a:gd name="adj" fmla="val 7826"/>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6" name="Text 4"/>
          <p:cNvSpPr/>
          <p:nvPr/>
        </p:nvSpPr>
        <p:spPr>
          <a:xfrm>
            <a:off x="502920" y="1719072"/>
            <a:ext cx="1508760" cy="609905"/>
          </a:xfrm>
          <a:prstGeom prst="rect">
            <a:avLst/>
          </a:prstGeom>
          <a:noFill/>
          <a:ln/>
        </p:spPr>
        <p:txBody>
          <a:bodyPr wrap="square" rtlCol="0" anchor="b"/>
          <a:lstStyle/>
          <a:p>
            <a:pPr algn="ctr" indent="0" marL="0">
              <a:buNone/>
            </a:pPr>
            <a:r>
              <a:rPr lang="en-US" sz="2600" b="1" dirty="0">
                <a:solidFill>
                  <a:srgbClr val="C79A45"/>
                </a:solidFill>
                <a:latin typeface="Cambria" pitchFamily="34" charset="0"/>
                <a:ea typeface="Cambria" pitchFamily="34" charset="-122"/>
                <a:cs typeface="Cambria" pitchFamily="34" charset="-120"/>
              </a:rPr>
              <a:t>6.236</a:t>
            </a:r>
            <a:endParaRPr lang="en-US" sz="2600" dirty="0"/>
          </a:p>
        </p:txBody>
      </p:sp>
      <p:sp>
        <p:nvSpPr>
          <p:cNvPr id="7" name="Text 5"/>
          <p:cNvSpPr/>
          <p:nvPr/>
        </p:nvSpPr>
        <p:spPr>
          <a:xfrm>
            <a:off x="502920" y="2279599"/>
            <a:ext cx="1508760" cy="357530"/>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Total Ayat</a:t>
            </a:r>
            <a:endParaRPr lang="en-US" sz="1050" dirty="0"/>
          </a:p>
        </p:txBody>
      </p:sp>
      <p:sp>
        <p:nvSpPr>
          <p:cNvPr id="8" name="Shape 6"/>
          <p:cNvSpPr/>
          <p:nvPr/>
        </p:nvSpPr>
        <p:spPr>
          <a:xfrm>
            <a:off x="2194560" y="1627632"/>
            <a:ext cx="1508760" cy="1051560"/>
          </a:xfrm>
          <a:prstGeom prst="roundRect">
            <a:avLst>
              <a:gd name="adj" fmla="val 7826"/>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9" name="Text 7"/>
          <p:cNvSpPr/>
          <p:nvPr/>
        </p:nvSpPr>
        <p:spPr>
          <a:xfrm>
            <a:off x="2194560" y="1719072"/>
            <a:ext cx="1508760" cy="609905"/>
          </a:xfrm>
          <a:prstGeom prst="rect">
            <a:avLst/>
          </a:prstGeom>
          <a:noFill/>
          <a:ln/>
        </p:spPr>
        <p:txBody>
          <a:bodyPr wrap="square" rtlCol="0" anchor="b"/>
          <a:lstStyle/>
          <a:p>
            <a:pPr algn="ctr" indent="0" marL="0">
              <a:buNone/>
            </a:pPr>
            <a:r>
              <a:rPr lang="en-US" sz="2600" b="1" dirty="0">
                <a:solidFill>
                  <a:srgbClr val="C79A45"/>
                </a:solidFill>
                <a:latin typeface="Cambria" pitchFamily="34" charset="0"/>
                <a:ea typeface="Cambria" pitchFamily="34" charset="-122"/>
                <a:cs typeface="Cambria" pitchFamily="34" charset="-120"/>
              </a:rPr>
              <a:t>114</a:t>
            </a:r>
            <a:endParaRPr lang="en-US" sz="2600" dirty="0"/>
          </a:p>
        </p:txBody>
      </p:sp>
      <p:sp>
        <p:nvSpPr>
          <p:cNvPr id="10" name="Text 8"/>
          <p:cNvSpPr/>
          <p:nvPr/>
        </p:nvSpPr>
        <p:spPr>
          <a:xfrm>
            <a:off x="2194560" y="2279599"/>
            <a:ext cx="1508760" cy="357530"/>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Total Surat</a:t>
            </a:r>
            <a:endParaRPr lang="en-US" sz="1050" dirty="0"/>
          </a:p>
        </p:txBody>
      </p:sp>
      <p:sp>
        <p:nvSpPr>
          <p:cNvPr id="11" name="Shape 9"/>
          <p:cNvSpPr/>
          <p:nvPr/>
        </p:nvSpPr>
        <p:spPr>
          <a:xfrm>
            <a:off x="3886200" y="1627632"/>
            <a:ext cx="1508760" cy="1051560"/>
          </a:xfrm>
          <a:prstGeom prst="roundRect">
            <a:avLst>
              <a:gd name="adj" fmla="val 7826"/>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12" name="Text 10"/>
          <p:cNvSpPr/>
          <p:nvPr/>
        </p:nvSpPr>
        <p:spPr>
          <a:xfrm>
            <a:off x="3886200" y="1719072"/>
            <a:ext cx="1508760" cy="609905"/>
          </a:xfrm>
          <a:prstGeom prst="rect">
            <a:avLst/>
          </a:prstGeom>
          <a:noFill/>
          <a:ln/>
        </p:spPr>
        <p:txBody>
          <a:bodyPr wrap="square" rtlCol="0" anchor="b"/>
          <a:lstStyle/>
          <a:p>
            <a:pPr algn="ctr" indent="0" marL="0">
              <a:buNone/>
            </a:pPr>
            <a:r>
              <a:rPr lang="en-US" sz="2600" b="1" dirty="0">
                <a:solidFill>
                  <a:srgbClr val="C79A45"/>
                </a:solidFill>
                <a:latin typeface="Cambria" pitchFamily="34" charset="0"/>
                <a:ea typeface="Cambria" pitchFamily="34" charset="-122"/>
                <a:cs typeface="Cambria" pitchFamily="34" charset="-120"/>
              </a:rPr>
              <a:t>77.439</a:t>
            </a:r>
            <a:endParaRPr lang="en-US" sz="2600" dirty="0"/>
          </a:p>
        </p:txBody>
      </p:sp>
      <p:sp>
        <p:nvSpPr>
          <p:cNvPr id="13" name="Text 11"/>
          <p:cNvSpPr/>
          <p:nvPr/>
        </p:nvSpPr>
        <p:spPr>
          <a:xfrm>
            <a:off x="3886200" y="2279599"/>
            <a:ext cx="1508760" cy="357530"/>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Total Kata</a:t>
            </a:r>
            <a:endParaRPr lang="en-US" sz="1050" dirty="0"/>
          </a:p>
        </p:txBody>
      </p:sp>
      <p:sp>
        <p:nvSpPr>
          <p:cNvPr id="14" name="Shape 12"/>
          <p:cNvSpPr/>
          <p:nvPr/>
        </p:nvSpPr>
        <p:spPr>
          <a:xfrm>
            <a:off x="5577840" y="1627632"/>
            <a:ext cx="1508760" cy="1051560"/>
          </a:xfrm>
          <a:prstGeom prst="roundRect">
            <a:avLst>
              <a:gd name="adj" fmla="val 7826"/>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15" name="Text 13"/>
          <p:cNvSpPr/>
          <p:nvPr/>
        </p:nvSpPr>
        <p:spPr>
          <a:xfrm>
            <a:off x="5577840" y="1719072"/>
            <a:ext cx="1508760" cy="609905"/>
          </a:xfrm>
          <a:prstGeom prst="rect">
            <a:avLst/>
          </a:prstGeom>
          <a:noFill/>
          <a:ln/>
        </p:spPr>
        <p:txBody>
          <a:bodyPr wrap="square" rtlCol="0" anchor="b"/>
          <a:lstStyle/>
          <a:p>
            <a:pPr algn="ctr" indent="0" marL="0">
              <a:buNone/>
            </a:pPr>
            <a:r>
              <a:rPr lang="en-US" sz="2600" b="1" dirty="0">
                <a:solidFill>
                  <a:srgbClr val="C79A45"/>
                </a:solidFill>
                <a:latin typeface="Cambria" pitchFamily="34" charset="0"/>
                <a:ea typeface="Cambria" pitchFamily="34" charset="-122"/>
                <a:cs typeface="Cambria" pitchFamily="34" charset="-120"/>
              </a:rPr>
              <a:t>18.742</a:t>
            </a:r>
            <a:endParaRPr lang="en-US" sz="2600" dirty="0"/>
          </a:p>
        </p:txBody>
      </p:sp>
      <p:sp>
        <p:nvSpPr>
          <p:cNvPr id="16" name="Text 14"/>
          <p:cNvSpPr/>
          <p:nvPr/>
        </p:nvSpPr>
        <p:spPr>
          <a:xfrm>
            <a:off x="5577840" y="2279599"/>
            <a:ext cx="1508760" cy="357530"/>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Kosakata Unik</a:t>
            </a:r>
            <a:endParaRPr lang="en-US" sz="1050" dirty="0"/>
          </a:p>
        </p:txBody>
      </p:sp>
      <p:sp>
        <p:nvSpPr>
          <p:cNvPr id="17" name="Text 15"/>
          <p:cNvSpPr/>
          <p:nvPr/>
        </p:nvSpPr>
        <p:spPr>
          <a:xfrm>
            <a:off x="502920" y="2926080"/>
            <a:ext cx="4572000" cy="237744"/>
          </a:xfrm>
          <a:prstGeom prst="rect">
            <a:avLst/>
          </a:prstGeom>
          <a:noFill/>
          <a:ln/>
        </p:spPr>
        <p:txBody>
          <a:bodyPr wrap="square" rtlCol="0" anchor="ctr"/>
          <a:lstStyle/>
          <a:p>
            <a:pPr indent="0" marL="0">
              <a:buNone/>
            </a:pPr>
            <a:r>
              <a:rPr lang="en-US" sz="1050" b="1" spc="100" kern="0" dirty="0">
                <a:solidFill>
                  <a:srgbClr val="12483F"/>
                </a:solidFill>
                <a:latin typeface="Calibri" pitchFamily="34" charset="0"/>
                <a:ea typeface="Calibri" pitchFamily="34" charset="-122"/>
                <a:cs typeface="Calibri" pitchFamily="34" charset="-120"/>
              </a:rPr>
              <a:t>SUMBER DATA</a:t>
            </a:r>
            <a:endParaRPr lang="en-US" sz="1050" dirty="0"/>
          </a:p>
        </p:txBody>
      </p:sp>
      <p:sp>
        <p:nvSpPr>
          <p:cNvPr id="18" name="Text 16"/>
          <p:cNvSpPr/>
          <p:nvPr/>
        </p:nvSpPr>
        <p:spPr>
          <a:xfrm>
            <a:off x="502920" y="3200400"/>
            <a:ext cx="6583680" cy="594360"/>
          </a:xfrm>
          <a:prstGeom prst="rect">
            <a:avLst/>
          </a:prstGeom>
          <a:noFill/>
          <a:ln/>
        </p:spPr>
        <p:txBody>
          <a:bodyPr wrap="square" rtlCol="0" anchor="ctr"/>
          <a:lstStyle/>
          <a:p>
            <a:pPr indent="0" marL="0">
              <a:lnSpc>
                <a:spcPct val="130000"/>
              </a:lnSpc>
              <a:buNone/>
            </a:pPr>
            <a:r>
              <a:rPr lang="en-US" sz="1150" dirty="0">
                <a:solidFill>
                  <a:srgbClr val="374644"/>
                </a:solidFill>
                <a:latin typeface="Calibri" pitchFamily="34" charset="0"/>
                <a:ea typeface="Calibri" pitchFamily="34" charset="-122"/>
                <a:cs typeface="Calibri" pitchFamily="34" charset="-120"/>
              </a:rPr>
              <a:t>•  quran.kemenag.go.id
</a:t>
            </a:r>
            <a:pPr indent="0" marL="0">
              <a:lnSpc>
                <a:spcPct val="130000"/>
              </a:lnSpc>
              <a:buNone/>
            </a:pPr>
            <a:r>
              <a:rPr lang="en-US" sz="1150" dirty="0">
                <a:solidFill>
                  <a:srgbClr val="374644"/>
                </a:solidFill>
                <a:latin typeface="Calibri" pitchFamily="34" charset="0"/>
                <a:ea typeface="Calibri" pitchFamily="34" charset="-122"/>
                <a:cs typeface="Calibri" pitchFamily="34" charset="-120"/>
              </a:rPr>
              <a:t>•  pustakalajnah.kemenag.go.id</a:t>
            </a:r>
            <a:endParaRPr lang="en-US" sz="1150" dirty="0"/>
          </a:p>
        </p:txBody>
      </p:sp>
      <p:sp>
        <p:nvSpPr>
          <p:cNvPr id="19" name="Text 17"/>
          <p:cNvSpPr/>
          <p:nvPr/>
        </p:nvSpPr>
        <p:spPr>
          <a:xfrm>
            <a:off x="502920" y="3931920"/>
            <a:ext cx="4572000" cy="237744"/>
          </a:xfrm>
          <a:prstGeom prst="rect">
            <a:avLst/>
          </a:prstGeom>
          <a:noFill/>
          <a:ln/>
        </p:spPr>
        <p:txBody>
          <a:bodyPr wrap="square" rtlCol="0" anchor="ctr"/>
          <a:lstStyle/>
          <a:p>
            <a:pPr indent="0" marL="0">
              <a:buNone/>
            </a:pPr>
            <a:r>
              <a:rPr lang="en-US" sz="1050" b="1" spc="100" kern="0" dirty="0">
                <a:solidFill>
                  <a:srgbClr val="12483F"/>
                </a:solidFill>
                <a:latin typeface="Calibri" pitchFamily="34" charset="0"/>
                <a:ea typeface="Calibri" pitchFamily="34" charset="-122"/>
                <a:cs typeface="Calibri" pitchFamily="34" charset="-120"/>
              </a:rPr>
              <a:t>STRUKTUR KOLOM DATASET</a:t>
            </a:r>
            <a:endParaRPr lang="en-US" sz="1050" dirty="0"/>
          </a:p>
        </p:txBody>
      </p:sp>
      <p:sp>
        <p:nvSpPr>
          <p:cNvPr id="20" name="Shape 18"/>
          <p:cNvSpPr/>
          <p:nvPr/>
        </p:nvSpPr>
        <p:spPr>
          <a:xfrm>
            <a:off x="502920" y="4206240"/>
            <a:ext cx="6583680" cy="402336"/>
          </a:xfrm>
          <a:prstGeom prst="rect">
            <a:avLst/>
          </a:prstGeom>
          <a:solidFill>
            <a:srgbClr val="12483F"/>
          </a:solidFill>
          <a:ln w="6350">
            <a:solidFill>
              <a:srgbClr val="DCE5E2"/>
            </a:solidFill>
            <a:prstDash val="solid"/>
          </a:ln>
        </p:spPr>
      </p:sp>
      <p:sp>
        <p:nvSpPr>
          <p:cNvPr id="21" name="Text 19"/>
          <p:cNvSpPr/>
          <p:nvPr/>
        </p:nvSpPr>
        <p:spPr>
          <a:xfrm>
            <a:off x="612648" y="4206240"/>
            <a:ext cx="1463040" cy="40233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Kolom</a:t>
            </a:r>
            <a:endParaRPr lang="en-US" sz="1050" dirty="0"/>
          </a:p>
        </p:txBody>
      </p:sp>
      <p:sp>
        <p:nvSpPr>
          <p:cNvPr id="22" name="Text 20"/>
          <p:cNvSpPr/>
          <p:nvPr/>
        </p:nvSpPr>
        <p:spPr>
          <a:xfrm>
            <a:off x="2148840" y="4206240"/>
            <a:ext cx="1280160" cy="40233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Tipe</a:t>
            </a:r>
            <a:endParaRPr lang="en-US" sz="1050" dirty="0"/>
          </a:p>
        </p:txBody>
      </p:sp>
      <p:sp>
        <p:nvSpPr>
          <p:cNvPr id="23" name="Text 21"/>
          <p:cNvSpPr/>
          <p:nvPr/>
        </p:nvSpPr>
        <p:spPr>
          <a:xfrm>
            <a:off x="3520440" y="4206240"/>
            <a:ext cx="3566160" cy="40233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Deskripsi</a:t>
            </a:r>
            <a:endParaRPr lang="en-US" sz="1050" dirty="0"/>
          </a:p>
        </p:txBody>
      </p:sp>
      <p:sp>
        <p:nvSpPr>
          <p:cNvPr id="24" name="Shape 22"/>
          <p:cNvSpPr/>
          <p:nvPr/>
        </p:nvSpPr>
        <p:spPr>
          <a:xfrm>
            <a:off x="502920" y="4608576"/>
            <a:ext cx="6583680" cy="402336"/>
          </a:xfrm>
          <a:prstGeom prst="rect">
            <a:avLst/>
          </a:prstGeom>
          <a:solidFill>
            <a:srgbClr val="FFFFFF"/>
          </a:solidFill>
          <a:ln w="6350">
            <a:solidFill>
              <a:srgbClr val="DCE5E2"/>
            </a:solidFill>
            <a:prstDash val="solid"/>
          </a:ln>
        </p:spPr>
      </p:sp>
      <p:sp>
        <p:nvSpPr>
          <p:cNvPr id="25" name="Text 23"/>
          <p:cNvSpPr/>
          <p:nvPr/>
        </p:nvSpPr>
        <p:spPr>
          <a:xfrm>
            <a:off x="612648" y="4608576"/>
            <a:ext cx="1463040" cy="402336"/>
          </a:xfrm>
          <a:prstGeom prst="rect">
            <a:avLst/>
          </a:prstGeom>
          <a:noFill/>
          <a:ln/>
        </p:spPr>
        <p:txBody>
          <a:bodyPr wrap="square" rtlCol="0" anchor="ctr"/>
          <a:lstStyle/>
          <a:p>
            <a:pPr indent="0" marL="0">
              <a:buNone/>
            </a:pPr>
            <a:r>
              <a:rPr lang="en-US" sz="1050" dirty="0">
                <a:solidFill>
                  <a:srgbClr val="1F2A28"/>
                </a:solidFill>
                <a:latin typeface="Calibri" pitchFamily="34" charset="0"/>
                <a:ea typeface="Calibri" pitchFamily="34" charset="-122"/>
                <a:cs typeface="Calibri" pitchFamily="34" charset="-120"/>
              </a:rPr>
              <a:t>Surat</a:t>
            </a:r>
            <a:endParaRPr lang="en-US" sz="1050" dirty="0"/>
          </a:p>
        </p:txBody>
      </p:sp>
      <p:sp>
        <p:nvSpPr>
          <p:cNvPr id="26" name="Text 24"/>
          <p:cNvSpPr/>
          <p:nvPr/>
        </p:nvSpPr>
        <p:spPr>
          <a:xfrm>
            <a:off x="2148840" y="4608576"/>
            <a:ext cx="1280160" cy="402336"/>
          </a:xfrm>
          <a:prstGeom prst="rect">
            <a:avLst/>
          </a:prstGeom>
          <a:noFill/>
          <a:ln/>
        </p:spPr>
        <p:txBody>
          <a:bodyPr wrap="square" rtlCol="0" anchor="ctr"/>
          <a:lstStyle/>
          <a:p>
            <a:pPr indent="0" marL="0">
              <a:buNone/>
            </a:pPr>
            <a:r>
              <a:rPr lang="en-US" sz="1050" dirty="0">
                <a:solidFill>
                  <a:srgbClr val="1F2A28"/>
                </a:solidFill>
                <a:latin typeface="Calibri" pitchFamily="34" charset="0"/>
                <a:ea typeface="Calibri" pitchFamily="34" charset="-122"/>
                <a:cs typeface="Calibri" pitchFamily="34" charset="-120"/>
              </a:rPr>
              <a:t>INT</a:t>
            </a:r>
            <a:endParaRPr lang="en-US" sz="1050" dirty="0"/>
          </a:p>
        </p:txBody>
      </p:sp>
      <p:sp>
        <p:nvSpPr>
          <p:cNvPr id="27" name="Text 25"/>
          <p:cNvSpPr/>
          <p:nvPr/>
        </p:nvSpPr>
        <p:spPr>
          <a:xfrm>
            <a:off x="3520440" y="4608576"/>
            <a:ext cx="3566160" cy="402336"/>
          </a:xfrm>
          <a:prstGeom prst="rect">
            <a:avLst/>
          </a:prstGeom>
          <a:noFill/>
          <a:ln/>
        </p:spPr>
        <p:txBody>
          <a:bodyPr wrap="square" rtlCol="0" anchor="ctr"/>
          <a:lstStyle/>
          <a:p>
            <a:pPr indent="0" marL="0">
              <a:buNone/>
            </a:pPr>
            <a:r>
              <a:rPr lang="en-US" sz="1050" dirty="0">
                <a:solidFill>
                  <a:srgbClr val="1F2A28"/>
                </a:solidFill>
                <a:latin typeface="Calibri" pitchFamily="34" charset="0"/>
                <a:ea typeface="Calibri" pitchFamily="34" charset="-122"/>
                <a:cs typeface="Calibri" pitchFamily="34" charset="-120"/>
              </a:rPr>
              <a:t>Nomor surat</a:t>
            </a:r>
            <a:endParaRPr lang="en-US" sz="1050" dirty="0"/>
          </a:p>
        </p:txBody>
      </p:sp>
      <p:sp>
        <p:nvSpPr>
          <p:cNvPr id="28" name="Shape 26"/>
          <p:cNvSpPr/>
          <p:nvPr/>
        </p:nvSpPr>
        <p:spPr>
          <a:xfrm>
            <a:off x="502920" y="5010912"/>
            <a:ext cx="6583680" cy="402336"/>
          </a:xfrm>
          <a:prstGeom prst="rect">
            <a:avLst/>
          </a:prstGeom>
          <a:solidFill>
            <a:srgbClr val="F4F7F6"/>
          </a:solidFill>
          <a:ln w="6350">
            <a:solidFill>
              <a:srgbClr val="DCE5E2"/>
            </a:solidFill>
            <a:prstDash val="solid"/>
          </a:ln>
        </p:spPr>
      </p:sp>
      <p:sp>
        <p:nvSpPr>
          <p:cNvPr id="29" name="Text 27"/>
          <p:cNvSpPr/>
          <p:nvPr/>
        </p:nvSpPr>
        <p:spPr>
          <a:xfrm>
            <a:off x="612648" y="5010912"/>
            <a:ext cx="1463040" cy="402336"/>
          </a:xfrm>
          <a:prstGeom prst="rect">
            <a:avLst/>
          </a:prstGeom>
          <a:noFill/>
          <a:ln/>
        </p:spPr>
        <p:txBody>
          <a:bodyPr wrap="square" rtlCol="0" anchor="ctr"/>
          <a:lstStyle/>
          <a:p>
            <a:pPr indent="0" marL="0">
              <a:buNone/>
            </a:pPr>
            <a:r>
              <a:rPr lang="en-US" sz="1050" dirty="0">
                <a:solidFill>
                  <a:srgbClr val="1F2A28"/>
                </a:solidFill>
                <a:latin typeface="Calibri" pitchFamily="34" charset="0"/>
                <a:ea typeface="Calibri" pitchFamily="34" charset="-122"/>
                <a:cs typeface="Calibri" pitchFamily="34" charset="-120"/>
              </a:rPr>
              <a:t>Ayat</a:t>
            </a:r>
            <a:endParaRPr lang="en-US" sz="1050" dirty="0"/>
          </a:p>
        </p:txBody>
      </p:sp>
      <p:sp>
        <p:nvSpPr>
          <p:cNvPr id="30" name="Text 28"/>
          <p:cNvSpPr/>
          <p:nvPr/>
        </p:nvSpPr>
        <p:spPr>
          <a:xfrm>
            <a:off x="2148840" y="5010912"/>
            <a:ext cx="1280160" cy="402336"/>
          </a:xfrm>
          <a:prstGeom prst="rect">
            <a:avLst/>
          </a:prstGeom>
          <a:noFill/>
          <a:ln/>
        </p:spPr>
        <p:txBody>
          <a:bodyPr wrap="square" rtlCol="0" anchor="ctr"/>
          <a:lstStyle/>
          <a:p>
            <a:pPr indent="0" marL="0">
              <a:buNone/>
            </a:pPr>
            <a:r>
              <a:rPr lang="en-US" sz="1050" dirty="0">
                <a:solidFill>
                  <a:srgbClr val="1F2A28"/>
                </a:solidFill>
                <a:latin typeface="Calibri" pitchFamily="34" charset="0"/>
                <a:ea typeface="Calibri" pitchFamily="34" charset="-122"/>
                <a:cs typeface="Calibri" pitchFamily="34" charset="-120"/>
              </a:rPr>
              <a:t>INT</a:t>
            </a:r>
            <a:endParaRPr lang="en-US" sz="1050" dirty="0"/>
          </a:p>
        </p:txBody>
      </p:sp>
      <p:sp>
        <p:nvSpPr>
          <p:cNvPr id="31" name="Text 29"/>
          <p:cNvSpPr/>
          <p:nvPr/>
        </p:nvSpPr>
        <p:spPr>
          <a:xfrm>
            <a:off x="3520440" y="5010912"/>
            <a:ext cx="3566160" cy="402336"/>
          </a:xfrm>
          <a:prstGeom prst="rect">
            <a:avLst/>
          </a:prstGeom>
          <a:noFill/>
          <a:ln/>
        </p:spPr>
        <p:txBody>
          <a:bodyPr wrap="square" rtlCol="0" anchor="ctr"/>
          <a:lstStyle/>
          <a:p>
            <a:pPr indent="0" marL="0">
              <a:buNone/>
            </a:pPr>
            <a:r>
              <a:rPr lang="en-US" sz="1050" dirty="0">
                <a:solidFill>
                  <a:srgbClr val="1F2A28"/>
                </a:solidFill>
                <a:latin typeface="Calibri" pitchFamily="34" charset="0"/>
                <a:ea typeface="Calibri" pitchFamily="34" charset="-122"/>
                <a:cs typeface="Calibri" pitchFamily="34" charset="-120"/>
              </a:rPr>
              <a:t>Nomor ayat</a:t>
            </a:r>
            <a:endParaRPr lang="en-US" sz="1050" dirty="0"/>
          </a:p>
        </p:txBody>
      </p:sp>
      <p:sp>
        <p:nvSpPr>
          <p:cNvPr id="32" name="Shape 30"/>
          <p:cNvSpPr/>
          <p:nvPr/>
        </p:nvSpPr>
        <p:spPr>
          <a:xfrm>
            <a:off x="502920" y="5413248"/>
            <a:ext cx="6583680" cy="402336"/>
          </a:xfrm>
          <a:prstGeom prst="rect">
            <a:avLst/>
          </a:prstGeom>
          <a:solidFill>
            <a:srgbClr val="FFFFFF"/>
          </a:solidFill>
          <a:ln w="6350">
            <a:solidFill>
              <a:srgbClr val="DCE5E2"/>
            </a:solidFill>
            <a:prstDash val="solid"/>
          </a:ln>
        </p:spPr>
      </p:sp>
      <p:sp>
        <p:nvSpPr>
          <p:cNvPr id="33" name="Text 31"/>
          <p:cNvSpPr/>
          <p:nvPr/>
        </p:nvSpPr>
        <p:spPr>
          <a:xfrm>
            <a:off x="612648" y="5413248"/>
            <a:ext cx="1463040" cy="402336"/>
          </a:xfrm>
          <a:prstGeom prst="rect">
            <a:avLst/>
          </a:prstGeom>
          <a:noFill/>
          <a:ln/>
        </p:spPr>
        <p:txBody>
          <a:bodyPr wrap="square" rtlCol="0" anchor="ctr"/>
          <a:lstStyle/>
          <a:p>
            <a:pPr indent="0" marL="0">
              <a:buNone/>
            </a:pPr>
            <a:r>
              <a:rPr lang="en-US" sz="1050" dirty="0">
                <a:solidFill>
                  <a:srgbClr val="1F2A28"/>
                </a:solidFill>
                <a:latin typeface="Calibri" pitchFamily="34" charset="0"/>
                <a:ea typeface="Calibri" pitchFamily="34" charset="-122"/>
                <a:cs typeface="Calibri" pitchFamily="34" charset="-120"/>
              </a:rPr>
              <a:t>Teks</a:t>
            </a:r>
            <a:endParaRPr lang="en-US" sz="1050" dirty="0"/>
          </a:p>
        </p:txBody>
      </p:sp>
      <p:sp>
        <p:nvSpPr>
          <p:cNvPr id="34" name="Text 32"/>
          <p:cNvSpPr/>
          <p:nvPr/>
        </p:nvSpPr>
        <p:spPr>
          <a:xfrm>
            <a:off x="2148840" y="5413248"/>
            <a:ext cx="1280160" cy="402336"/>
          </a:xfrm>
          <a:prstGeom prst="rect">
            <a:avLst/>
          </a:prstGeom>
          <a:noFill/>
          <a:ln/>
        </p:spPr>
        <p:txBody>
          <a:bodyPr wrap="square" rtlCol="0" anchor="ctr"/>
          <a:lstStyle/>
          <a:p>
            <a:pPr indent="0" marL="0">
              <a:buNone/>
            </a:pPr>
            <a:r>
              <a:rPr lang="en-US" sz="1050" dirty="0">
                <a:solidFill>
                  <a:srgbClr val="1F2A28"/>
                </a:solidFill>
                <a:latin typeface="Calibri" pitchFamily="34" charset="0"/>
                <a:ea typeface="Calibri" pitchFamily="34" charset="-122"/>
                <a:cs typeface="Calibri" pitchFamily="34" charset="-120"/>
              </a:rPr>
              <a:t>TEKS</a:t>
            </a:r>
            <a:endParaRPr lang="en-US" sz="1050" dirty="0"/>
          </a:p>
        </p:txBody>
      </p:sp>
      <p:sp>
        <p:nvSpPr>
          <p:cNvPr id="35" name="Text 33"/>
          <p:cNvSpPr/>
          <p:nvPr/>
        </p:nvSpPr>
        <p:spPr>
          <a:xfrm>
            <a:off x="3520440" y="5413248"/>
            <a:ext cx="3566160" cy="402336"/>
          </a:xfrm>
          <a:prstGeom prst="rect">
            <a:avLst/>
          </a:prstGeom>
          <a:noFill/>
          <a:ln/>
        </p:spPr>
        <p:txBody>
          <a:bodyPr wrap="square" rtlCol="0" anchor="ctr"/>
          <a:lstStyle/>
          <a:p>
            <a:pPr indent="0" marL="0">
              <a:buNone/>
            </a:pPr>
            <a:r>
              <a:rPr lang="en-US" sz="1050" dirty="0">
                <a:solidFill>
                  <a:srgbClr val="1F2A28"/>
                </a:solidFill>
                <a:latin typeface="Calibri" pitchFamily="34" charset="0"/>
                <a:ea typeface="Calibri" pitchFamily="34" charset="-122"/>
                <a:cs typeface="Calibri" pitchFamily="34" charset="-120"/>
              </a:rPr>
              <a:t>Teks terjemahan</a:t>
            </a:r>
            <a:endParaRPr lang="en-US" sz="1050" dirty="0"/>
          </a:p>
        </p:txBody>
      </p:sp>
      <p:sp>
        <p:nvSpPr>
          <p:cNvPr id="36" name="Shape 34"/>
          <p:cNvSpPr/>
          <p:nvPr/>
        </p:nvSpPr>
        <p:spPr>
          <a:xfrm>
            <a:off x="7452360" y="1627632"/>
            <a:ext cx="4233672" cy="4315968"/>
          </a:xfrm>
          <a:prstGeom prst="roundRect">
            <a:avLst>
              <a:gd name="adj" fmla="val 1512"/>
            </a:avLst>
          </a:prstGeom>
          <a:solidFill>
            <a:srgbClr val="F3F7F6"/>
          </a:solidFill>
          <a:ln w="12700">
            <a:solidFill>
              <a:srgbClr val="E6EEEB"/>
            </a:solidFill>
            <a:prstDash val="solid"/>
          </a:ln>
        </p:spPr>
      </p:sp>
      <p:sp>
        <p:nvSpPr>
          <p:cNvPr id="37" name="Shape 35"/>
          <p:cNvSpPr/>
          <p:nvPr/>
        </p:nvSpPr>
        <p:spPr>
          <a:xfrm>
            <a:off x="7598664" y="1755648"/>
            <a:ext cx="82296" cy="82296"/>
          </a:xfrm>
          <a:prstGeom prst="roundRect">
            <a:avLst>
              <a:gd name="adj" fmla="val 50000"/>
            </a:avLst>
          </a:prstGeom>
          <a:solidFill>
            <a:srgbClr val="C79A45"/>
          </a:solidFill>
          <a:ln/>
        </p:spPr>
      </p:sp>
      <p:sp>
        <p:nvSpPr>
          <p:cNvPr id="38" name="Text 36"/>
          <p:cNvSpPr/>
          <p:nvPr/>
        </p:nvSpPr>
        <p:spPr>
          <a:xfrm>
            <a:off x="7763256" y="1700784"/>
            <a:ext cx="3776472"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CATATAN AKADEMIK</a:t>
            </a:r>
            <a:endParaRPr lang="en-US" sz="950" dirty="0"/>
          </a:p>
        </p:txBody>
      </p:sp>
      <p:sp>
        <p:nvSpPr>
          <p:cNvPr id="39" name="Text 37"/>
          <p:cNvSpPr/>
          <p:nvPr/>
        </p:nvSpPr>
        <p:spPr>
          <a:xfrm>
            <a:off x="7598664" y="1938528"/>
            <a:ext cx="3941064" cy="3931920"/>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Dengan 6.236 ayat, 114 surat, dan 77.439 token, korpus ini tergolong berukuran menengah untuk standar riset NLP korpus tunggal — cukup besar untuk pemodelan topik statistik (LDA/CTM) yang bergantung pada frekuensi ko-okurensi kata, namun tetap memerlukan strategi preprocessing yang cermat agar sinyal semantik tidak hilang.</a:t>
            </a:r>
            <a:endParaRPr lang="en-US" sz="1000" dirty="0"/>
          </a:p>
          <a:p>
            <a:pPr indent="0" marL="0">
              <a:lnSpc>
                <a:spcPct val="112000"/>
              </a:lnSpc>
              <a:buNone/>
            </a:pP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Rasio 18.742 kosakata unik terhadap 77.439 total kata (≈ 24%) mengindikasikan tingkat keragaman leksikal (type-token ratio) yang relatif tinggi, konsisten dengan karakteristik teks religius yang kaya istilah dan ekspresi khas.</a:t>
            </a:r>
            <a:endParaRPr lang="en-US" sz="1000" dirty="0"/>
          </a:p>
        </p:txBody>
      </p:sp>
      <p:sp>
        <p:nvSpPr>
          <p:cNvPr id="40" name="Text 38"/>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41" name="Text 39"/>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2711196" cy="310896"/>
          </a:xfrm>
          <a:prstGeom prst="roundRect">
            <a:avLst>
              <a:gd name="adj" fmla="val 50000"/>
            </a:avLst>
          </a:prstGeom>
          <a:solidFill>
            <a:srgbClr val="12483F"/>
          </a:solidFill>
          <a:ln/>
        </p:spPr>
      </p:sp>
      <p:sp>
        <p:nvSpPr>
          <p:cNvPr id="3" name="Text 1"/>
          <p:cNvSpPr/>
          <p:nvPr/>
        </p:nvSpPr>
        <p:spPr>
          <a:xfrm>
            <a:off x="502920" y="411480"/>
            <a:ext cx="2711196"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06 | PREPROCESSING TEKS</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600" b="1" dirty="0">
                <a:solidFill>
                  <a:srgbClr val="0D3B33"/>
                </a:solidFill>
                <a:latin typeface="Cambria" pitchFamily="34" charset="0"/>
                <a:ea typeface="Cambria" pitchFamily="34" charset="-122"/>
                <a:cs typeface="Cambria" pitchFamily="34" charset="-120"/>
              </a:rPr>
              <a:t>Tahapan Text Preprocessing</a:t>
            </a:r>
            <a:endParaRPr lang="en-US" sz="2600" dirty="0"/>
          </a:p>
        </p:txBody>
      </p:sp>
      <p:sp>
        <p:nvSpPr>
          <p:cNvPr id="5" name="Text 3"/>
          <p:cNvSpPr/>
          <p:nvPr/>
        </p:nvSpPr>
        <p:spPr>
          <a:xfrm>
            <a:off x="502920" y="1481328"/>
            <a:ext cx="11155680" cy="274320"/>
          </a:xfrm>
          <a:prstGeom prst="rect">
            <a:avLst/>
          </a:prstGeom>
          <a:noFill/>
          <a:ln/>
        </p:spPr>
        <p:txBody>
          <a:bodyPr wrap="square" rtlCol="0" anchor="ctr"/>
          <a:lstStyle/>
          <a:p>
            <a:pPr indent="0" marL="0">
              <a:buNone/>
            </a:pPr>
            <a:r>
              <a:rPr lang="en-US" sz="1050" i="1" dirty="0">
                <a:solidFill>
                  <a:srgbClr val="6B7A77"/>
                </a:solidFill>
                <a:latin typeface="Calibri" pitchFamily="34" charset="0"/>
                <a:ea typeface="Calibri" pitchFamily="34" charset="-122"/>
                <a:cs typeface="Calibri" pitchFamily="34" charset="-120"/>
              </a:rPr>
              <a:t>Contoh kalimat: “Segala puji bagi Allah, Tuhan semesta alam”</a:t>
            </a:r>
            <a:endParaRPr lang="en-US" sz="1050" dirty="0"/>
          </a:p>
        </p:txBody>
      </p:sp>
      <p:sp>
        <p:nvSpPr>
          <p:cNvPr id="6" name="Shape 4"/>
          <p:cNvSpPr/>
          <p:nvPr/>
        </p:nvSpPr>
        <p:spPr>
          <a:xfrm>
            <a:off x="502920" y="1828800"/>
            <a:ext cx="2120128" cy="1371600"/>
          </a:xfrm>
          <a:prstGeom prst="roundRect">
            <a:avLst>
              <a:gd name="adj" fmla="val 4667"/>
            </a:avLst>
          </a:prstGeom>
          <a:solidFill>
            <a:srgbClr val="F4F7F6"/>
          </a:solidFill>
          <a:ln w="9525">
            <a:solidFill>
              <a:srgbClr val="DCE5E2"/>
            </a:solidFill>
            <a:prstDash val="solid"/>
          </a:ln>
        </p:spPr>
      </p:sp>
      <p:sp>
        <p:nvSpPr>
          <p:cNvPr id="7" name="Shape 5"/>
          <p:cNvSpPr/>
          <p:nvPr/>
        </p:nvSpPr>
        <p:spPr>
          <a:xfrm>
            <a:off x="1416680" y="1947672"/>
            <a:ext cx="292608" cy="292608"/>
          </a:xfrm>
          <a:prstGeom prst="ellipse">
            <a:avLst/>
          </a:prstGeom>
          <a:solidFill>
            <a:srgbClr val="12483F"/>
          </a:solidFill>
          <a:ln/>
        </p:spPr>
      </p:sp>
      <p:sp>
        <p:nvSpPr>
          <p:cNvPr id="8" name="Text 6"/>
          <p:cNvSpPr/>
          <p:nvPr/>
        </p:nvSpPr>
        <p:spPr>
          <a:xfrm>
            <a:off x="1416680" y="1947672"/>
            <a:ext cx="292608" cy="292608"/>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9" name="Text 7"/>
          <p:cNvSpPr/>
          <p:nvPr/>
        </p:nvSpPr>
        <p:spPr>
          <a:xfrm>
            <a:off x="557784" y="2331720"/>
            <a:ext cx="2010400" cy="365760"/>
          </a:xfrm>
          <a:prstGeom prst="rect">
            <a:avLst/>
          </a:prstGeom>
          <a:noFill/>
          <a:ln/>
        </p:spPr>
        <p:txBody>
          <a:bodyPr wrap="square" rtlCol="0" anchor="t"/>
          <a:lstStyle/>
          <a:p>
            <a:pPr algn="ctr" indent="0" marL="0">
              <a:buNone/>
            </a:pPr>
            <a:r>
              <a:rPr lang="en-US" sz="1050" b="1" dirty="0">
                <a:solidFill>
                  <a:srgbClr val="0D3B33"/>
                </a:solidFill>
                <a:latin typeface="Cambria" pitchFamily="34" charset="0"/>
                <a:ea typeface="Cambria" pitchFamily="34" charset="-122"/>
                <a:cs typeface="Cambria" pitchFamily="34" charset="-120"/>
              </a:rPr>
              <a:t>Case Folding</a:t>
            </a:r>
            <a:endParaRPr lang="en-US" sz="1050" dirty="0"/>
          </a:p>
        </p:txBody>
      </p:sp>
      <p:sp>
        <p:nvSpPr>
          <p:cNvPr id="10" name="Text 8"/>
          <p:cNvSpPr/>
          <p:nvPr/>
        </p:nvSpPr>
        <p:spPr>
          <a:xfrm>
            <a:off x="576072" y="2724912"/>
            <a:ext cx="1973824" cy="438912"/>
          </a:xfrm>
          <a:prstGeom prst="rect">
            <a:avLst/>
          </a:prstGeom>
          <a:noFill/>
          <a:ln/>
        </p:spPr>
        <p:txBody>
          <a:bodyPr wrap="square" rtlCol="0" anchor="t"/>
          <a:lstStyle/>
          <a:p>
            <a:pPr algn="ctr" indent="0" marL="0">
              <a:lnSpc>
                <a:spcPct val="105000"/>
              </a:lnSpc>
              <a:buNone/>
            </a:pPr>
            <a:r>
              <a:rPr lang="en-US" sz="800" dirty="0">
                <a:solidFill>
                  <a:srgbClr val="374644"/>
                </a:solidFill>
                <a:latin typeface="Calibri" pitchFamily="34" charset="0"/>
                <a:ea typeface="Calibri" pitchFamily="34" charset="-122"/>
                <a:cs typeface="Calibri" pitchFamily="34" charset="-120"/>
              </a:rPr>
              <a:t>segala puji bagi allah, tuhan semesta alam</a:t>
            </a:r>
            <a:endParaRPr lang="en-US" sz="800" dirty="0"/>
          </a:p>
        </p:txBody>
      </p:sp>
      <p:sp>
        <p:nvSpPr>
          <p:cNvPr id="11" name="Shape 9"/>
          <p:cNvSpPr/>
          <p:nvPr/>
        </p:nvSpPr>
        <p:spPr>
          <a:xfrm>
            <a:off x="2769352" y="1828800"/>
            <a:ext cx="2120128" cy="1371600"/>
          </a:xfrm>
          <a:prstGeom prst="roundRect">
            <a:avLst>
              <a:gd name="adj" fmla="val 4667"/>
            </a:avLst>
          </a:prstGeom>
          <a:solidFill>
            <a:srgbClr val="F4F7F6"/>
          </a:solidFill>
          <a:ln w="9525">
            <a:solidFill>
              <a:srgbClr val="DCE5E2"/>
            </a:solidFill>
            <a:prstDash val="solid"/>
          </a:ln>
        </p:spPr>
      </p:sp>
      <p:sp>
        <p:nvSpPr>
          <p:cNvPr id="12" name="Shape 10"/>
          <p:cNvSpPr/>
          <p:nvPr/>
        </p:nvSpPr>
        <p:spPr>
          <a:xfrm>
            <a:off x="3683112" y="1947672"/>
            <a:ext cx="292608" cy="292608"/>
          </a:xfrm>
          <a:prstGeom prst="ellipse">
            <a:avLst/>
          </a:prstGeom>
          <a:solidFill>
            <a:srgbClr val="12483F"/>
          </a:solidFill>
          <a:ln/>
        </p:spPr>
      </p:sp>
      <p:sp>
        <p:nvSpPr>
          <p:cNvPr id="13" name="Text 11"/>
          <p:cNvSpPr/>
          <p:nvPr/>
        </p:nvSpPr>
        <p:spPr>
          <a:xfrm>
            <a:off x="3683112" y="1947672"/>
            <a:ext cx="292608" cy="292608"/>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4" name="Text 12"/>
          <p:cNvSpPr/>
          <p:nvPr/>
        </p:nvSpPr>
        <p:spPr>
          <a:xfrm>
            <a:off x="2824216" y="2331720"/>
            <a:ext cx="2010400" cy="365760"/>
          </a:xfrm>
          <a:prstGeom prst="rect">
            <a:avLst/>
          </a:prstGeom>
          <a:noFill/>
          <a:ln/>
        </p:spPr>
        <p:txBody>
          <a:bodyPr wrap="square" rtlCol="0" anchor="t"/>
          <a:lstStyle/>
          <a:p>
            <a:pPr algn="ctr" indent="0" marL="0">
              <a:buNone/>
            </a:pPr>
            <a:r>
              <a:rPr lang="en-US" sz="1050" b="1" dirty="0">
                <a:solidFill>
                  <a:srgbClr val="0D3B33"/>
                </a:solidFill>
                <a:latin typeface="Cambria" pitchFamily="34" charset="0"/>
                <a:ea typeface="Cambria" pitchFamily="34" charset="-122"/>
                <a:cs typeface="Cambria" pitchFamily="34" charset="-120"/>
              </a:rPr>
              <a:t>Stopwords Removal</a:t>
            </a:r>
            <a:endParaRPr lang="en-US" sz="1050" dirty="0"/>
          </a:p>
        </p:txBody>
      </p:sp>
      <p:sp>
        <p:nvSpPr>
          <p:cNvPr id="15" name="Text 13"/>
          <p:cNvSpPr/>
          <p:nvPr/>
        </p:nvSpPr>
        <p:spPr>
          <a:xfrm>
            <a:off x="2842504" y="2724912"/>
            <a:ext cx="1973824" cy="438912"/>
          </a:xfrm>
          <a:prstGeom prst="rect">
            <a:avLst/>
          </a:prstGeom>
          <a:noFill/>
          <a:ln/>
        </p:spPr>
        <p:txBody>
          <a:bodyPr wrap="square" rtlCol="0" anchor="t"/>
          <a:lstStyle/>
          <a:p>
            <a:pPr algn="ctr" indent="0" marL="0">
              <a:lnSpc>
                <a:spcPct val="105000"/>
              </a:lnSpc>
              <a:buNone/>
            </a:pPr>
            <a:r>
              <a:rPr lang="en-US" sz="800" dirty="0">
                <a:solidFill>
                  <a:srgbClr val="374644"/>
                </a:solidFill>
                <a:latin typeface="Calibri" pitchFamily="34" charset="0"/>
                <a:ea typeface="Calibri" pitchFamily="34" charset="-122"/>
                <a:cs typeface="Calibri" pitchFamily="34" charset="-120"/>
              </a:rPr>
              <a:t>puji allah tuhan semesta alam</a:t>
            </a:r>
            <a:endParaRPr lang="en-US" sz="800" dirty="0"/>
          </a:p>
        </p:txBody>
      </p:sp>
      <p:sp>
        <p:nvSpPr>
          <p:cNvPr id="16" name="Shape 14"/>
          <p:cNvSpPr/>
          <p:nvPr/>
        </p:nvSpPr>
        <p:spPr>
          <a:xfrm>
            <a:off x="5035784" y="1828800"/>
            <a:ext cx="2120128" cy="1371600"/>
          </a:xfrm>
          <a:prstGeom prst="roundRect">
            <a:avLst>
              <a:gd name="adj" fmla="val 4667"/>
            </a:avLst>
          </a:prstGeom>
          <a:solidFill>
            <a:srgbClr val="F4F7F6"/>
          </a:solidFill>
          <a:ln w="9525">
            <a:solidFill>
              <a:srgbClr val="DCE5E2"/>
            </a:solidFill>
            <a:prstDash val="solid"/>
          </a:ln>
        </p:spPr>
      </p:sp>
      <p:sp>
        <p:nvSpPr>
          <p:cNvPr id="17" name="Shape 15"/>
          <p:cNvSpPr/>
          <p:nvPr/>
        </p:nvSpPr>
        <p:spPr>
          <a:xfrm>
            <a:off x="5949544" y="1947672"/>
            <a:ext cx="292608" cy="292608"/>
          </a:xfrm>
          <a:prstGeom prst="ellipse">
            <a:avLst/>
          </a:prstGeom>
          <a:solidFill>
            <a:srgbClr val="12483F"/>
          </a:solidFill>
          <a:ln/>
        </p:spPr>
      </p:sp>
      <p:sp>
        <p:nvSpPr>
          <p:cNvPr id="18" name="Text 16"/>
          <p:cNvSpPr/>
          <p:nvPr/>
        </p:nvSpPr>
        <p:spPr>
          <a:xfrm>
            <a:off x="5949544" y="1947672"/>
            <a:ext cx="292608" cy="292608"/>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9" name="Text 17"/>
          <p:cNvSpPr/>
          <p:nvPr/>
        </p:nvSpPr>
        <p:spPr>
          <a:xfrm>
            <a:off x="5090648" y="2331720"/>
            <a:ext cx="2010400" cy="365760"/>
          </a:xfrm>
          <a:prstGeom prst="rect">
            <a:avLst/>
          </a:prstGeom>
          <a:noFill/>
          <a:ln/>
        </p:spPr>
        <p:txBody>
          <a:bodyPr wrap="square" rtlCol="0" anchor="t"/>
          <a:lstStyle/>
          <a:p>
            <a:pPr algn="ctr" indent="0" marL="0">
              <a:buNone/>
            </a:pPr>
            <a:r>
              <a:rPr lang="en-US" sz="1050" b="1" dirty="0">
                <a:solidFill>
                  <a:srgbClr val="0D3B33"/>
                </a:solidFill>
                <a:latin typeface="Cambria" pitchFamily="34" charset="0"/>
                <a:ea typeface="Cambria" pitchFamily="34" charset="-122"/>
                <a:cs typeface="Cambria" pitchFamily="34" charset="-120"/>
              </a:rPr>
              <a:t>Tokenization</a:t>
            </a:r>
            <a:endParaRPr lang="en-US" sz="1050" dirty="0"/>
          </a:p>
        </p:txBody>
      </p:sp>
      <p:sp>
        <p:nvSpPr>
          <p:cNvPr id="20" name="Text 18"/>
          <p:cNvSpPr/>
          <p:nvPr/>
        </p:nvSpPr>
        <p:spPr>
          <a:xfrm>
            <a:off x="5108936" y="2724912"/>
            <a:ext cx="1973824" cy="438912"/>
          </a:xfrm>
          <a:prstGeom prst="rect">
            <a:avLst/>
          </a:prstGeom>
          <a:noFill/>
          <a:ln/>
        </p:spPr>
        <p:txBody>
          <a:bodyPr wrap="square" rtlCol="0" anchor="t"/>
          <a:lstStyle/>
          <a:p>
            <a:pPr algn="ctr" indent="0" marL="0">
              <a:lnSpc>
                <a:spcPct val="105000"/>
              </a:lnSpc>
              <a:buNone/>
            </a:pPr>
            <a:r>
              <a:rPr lang="en-US" sz="800" dirty="0">
                <a:solidFill>
                  <a:srgbClr val="374644"/>
                </a:solidFill>
                <a:latin typeface="Calibri" pitchFamily="34" charset="0"/>
                <a:ea typeface="Calibri" pitchFamily="34" charset="-122"/>
                <a:cs typeface="Calibri" pitchFamily="34" charset="-120"/>
              </a:rPr>
              <a:t>[puji, allah, tuhan, semesta, alam]</a:t>
            </a:r>
            <a:endParaRPr lang="en-US" sz="800" dirty="0"/>
          </a:p>
        </p:txBody>
      </p:sp>
      <p:sp>
        <p:nvSpPr>
          <p:cNvPr id="21" name="Shape 19"/>
          <p:cNvSpPr/>
          <p:nvPr/>
        </p:nvSpPr>
        <p:spPr>
          <a:xfrm>
            <a:off x="7302216" y="1828800"/>
            <a:ext cx="2120128" cy="1371600"/>
          </a:xfrm>
          <a:prstGeom prst="roundRect">
            <a:avLst>
              <a:gd name="adj" fmla="val 4667"/>
            </a:avLst>
          </a:prstGeom>
          <a:solidFill>
            <a:srgbClr val="F4F7F6"/>
          </a:solidFill>
          <a:ln w="9525">
            <a:solidFill>
              <a:srgbClr val="DCE5E2"/>
            </a:solidFill>
            <a:prstDash val="solid"/>
          </a:ln>
        </p:spPr>
      </p:sp>
      <p:sp>
        <p:nvSpPr>
          <p:cNvPr id="22" name="Shape 20"/>
          <p:cNvSpPr/>
          <p:nvPr/>
        </p:nvSpPr>
        <p:spPr>
          <a:xfrm>
            <a:off x="8215975" y="1947672"/>
            <a:ext cx="292608" cy="292608"/>
          </a:xfrm>
          <a:prstGeom prst="ellipse">
            <a:avLst/>
          </a:prstGeom>
          <a:solidFill>
            <a:srgbClr val="12483F"/>
          </a:solidFill>
          <a:ln/>
        </p:spPr>
      </p:sp>
      <p:sp>
        <p:nvSpPr>
          <p:cNvPr id="23" name="Text 21"/>
          <p:cNvSpPr/>
          <p:nvPr/>
        </p:nvSpPr>
        <p:spPr>
          <a:xfrm>
            <a:off x="8215975" y="1947672"/>
            <a:ext cx="292608" cy="292608"/>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4" name="Text 22"/>
          <p:cNvSpPr/>
          <p:nvPr/>
        </p:nvSpPr>
        <p:spPr>
          <a:xfrm>
            <a:off x="7357080" y="2331720"/>
            <a:ext cx="2010400" cy="365760"/>
          </a:xfrm>
          <a:prstGeom prst="rect">
            <a:avLst/>
          </a:prstGeom>
          <a:noFill/>
          <a:ln/>
        </p:spPr>
        <p:txBody>
          <a:bodyPr wrap="square" rtlCol="0" anchor="t"/>
          <a:lstStyle/>
          <a:p>
            <a:pPr algn="ctr" indent="0" marL="0">
              <a:buNone/>
            </a:pPr>
            <a:r>
              <a:rPr lang="en-US" sz="1050" b="1" dirty="0">
                <a:solidFill>
                  <a:srgbClr val="0D3B33"/>
                </a:solidFill>
                <a:latin typeface="Cambria" pitchFamily="34" charset="0"/>
                <a:ea typeface="Cambria" pitchFamily="34" charset="-122"/>
                <a:cs typeface="Cambria" pitchFamily="34" charset="-120"/>
              </a:rPr>
              <a:t>Stemming</a:t>
            </a:r>
            <a:endParaRPr lang="en-US" sz="1050" dirty="0"/>
          </a:p>
        </p:txBody>
      </p:sp>
      <p:sp>
        <p:nvSpPr>
          <p:cNvPr id="25" name="Text 23"/>
          <p:cNvSpPr/>
          <p:nvPr/>
        </p:nvSpPr>
        <p:spPr>
          <a:xfrm>
            <a:off x="7375368" y="2724912"/>
            <a:ext cx="1973824" cy="438912"/>
          </a:xfrm>
          <a:prstGeom prst="rect">
            <a:avLst/>
          </a:prstGeom>
          <a:noFill/>
          <a:ln/>
        </p:spPr>
        <p:txBody>
          <a:bodyPr wrap="square" rtlCol="0" anchor="t"/>
          <a:lstStyle/>
          <a:p>
            <a:pPr algn="ctr" indent="0" marL="0">
              <a:lnSpc>
                <a:spcPct val="105000"/>
              </a:lnSpc>
              <a:buNone/>
            </a:pPr>
            <a:r>
              <a:rPr lang="en-US" sz="800" dirty="0">
                <a:solidFill>
                  <a:srgbClr val="374644"/>
                </a:solidFill>
                <a:latin typeface="Calibri" pitchFamily="34" charset="0"/>
                <a:ea typeface="Calibri" pitchFamily="34" charset="-122"/>
                <a:cs typeface="Calibri" pitchFamily="34" charset="-120"/>
              </a:rPr>
              <a:t>puji allah tuhan semesta alam</a:t>
            </a:r>
            <a:endParaRPr lang="en-US" sz="800" dirty="0"/>
          </a:p>
        </p:txBody>
      </p:sp>
      <p:sp>
        <p:nvSpPr>
          <p:cNvPr id="26" name="Shape 24"/>
          <p:cNvSpPr/>
          <p:nvPr/>
        </p:nvSpPr>
        <p:spPr>
          <a:xfrm>
            <a:off x="9568647" y="1828800"/>
            <a:ext cx="2120128" cy="1371600"/>
          </a:xfrm>
          <a:prstGeom prst="roundRect">
            <a:avLst>
              <a:gd name="adj" fmla="val 4667"/>
            </a:avLst>
          </a:prstGeom>
          <a:solidFill>
            <a:srgbClr val="F4F7F6"/>
          </a:solidFill>
          <a:ln w="9525">
            <a:solidFill>
              <a:srgbClr val="DCE5E2"/>
            </a:solidFill>
            <a:prstDash val="solid"/>
          </a:ln>
        </p:spPr>
      </p:sp>
      <p:sp>
        <p:nvSpPr>
          <p:cNvPr id="27" name="Shape 25"/>
          <p:cNvSpPr/>
          <p:nvPr/>
        </p:nvSpPr>
        <p:spPr>
          <a:xfrm>
            <a:off x="10482407" y="1947672"/>
            <a:ext cx="292608" cy="292608"/>
          </a:xfrm>
          <a:prstGeom prst="ellipse">
            <a:avLst/>
          </a:prstGeom>
          <a:solidFill>
            <a:srgbClr val="12483F"/>
          </a:solidFill>
          <a:ln/>
        </p:spPr>
      </p:sp>
      <p:sp>
        <p:nvSpPr>
          <p:cNvPr id="28" name="Text 26"/>
          <p:cNvSpPr/>
          <p:nvPr/>
        </p:nvSpPr>
        <p:spPr>
          <a:xfrm>
            <a:off x="10482407" y="1947672"/>
            <a:ext cx="292608" cy="292608"/>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29" name="Text 27"/>
          <p:cNvSpPr/>
          <p:nvPr/>
        </p:nvSpPr>
        <p:spPr>
          <a:xfrm>
            <a:off x="9623511" y="2331720"/>
            <a:ext cx="2010400" cy="365760"/>
          </a:xfrm>
          <a:prstGeom prst="rect">
            <a:avLst/>
          </a:prstGeom>
          <a:noFill/>
          <a:ln/>
        </p:spPr>
        <p:txBody>
          <a:bodyPr wrap="square" rtlCol="0" anchor="t"/>
          <a:lstStyle/>
          <a:p>
            <a:pPr algn="ctr" indent="0" marL="0">
              <a:buNone/>
            </a:pPr>
            <a:r>
              <a:rPr lang="en-US" sz="1050" b="1" dirty="0">
                <a:solidFill>
                  <a:srgbClr val="0D3B33"/>
                </a:solidFill>
                <a:latin typeface="Cambria" pitchFamily="34" charset="0"/>
                <a:ea typeface="Cambria" pitchFamily="34" charset="-122"/>
                <a:cs typeface="Cambria" pitchFamily="34" charset="-120"/>
              </a:rPr>
              <a:t>Lemmatization</a:t>
            </a:r>
            <a:endParaRPr lang="en-US" sz="1050" dirty="0"/>
          </a:p>
        </p:txBody>
      </p:sp>
      <p:sp>
        <p:nvSpPr>
          <p:cNvPr id="30" name="Text 28"/>
          <p:cNvSpPr/>
          <p:nvPr/>
        </p:nvSpPr>
        <p:spPr>
          <a:xfrm>
            <a:off x="9641799" y="2724912"/>
            <a:ext cx="1973824" cy="438912"/>
          </a:xfrm>
          <a:prstGeom prst="rect">
            <a:avLst/>
          </a:prstGeom>
          <a:noFill/>
          <a:ln/>
        </p:spPr>
        <p:txBody>
          <a:bodyPr wrap="square" rtlCol="0" anchor="t"/>
          <a:lstStyle/>
          <a:p>
            <a:pPr algn="ctr" indent="0" marL="0">
              <a:lnSpc>
                <a:spcPct val="105000"/>
              </a:lnSpc>
              <a:buNone/>
            </a:pPr>
            <a:r>
              <a:rPr lang="en-US" sz="800" dirty="0">
                <a:solidFill>
                  <a:srgbClr val="374644"/>
                </a:solidFill>
                <a:latin typeface="Calibri" pitchFamily="34" charset="0"/>
                <a:ea typeface="Calibri" pitchFamily="34" charset="-122"/>
                <a:cs typeface="Calibri" pitchFamily="34" charset="-120"/>
              </a:rPr>
              <a:t>puji allah tuhan semesta alam</a:t>
            </a:r>
            <a:endParaRPr lang="en-US" sz="800" dirty="0"/>
          </a:p>
        </p:txBody>
      </p:sp>
      <p:sp>
        <p:nvSpPr>
          <p:cNvPr id="31" name="Text 29"/>
          <p:cNvSpPr/>
          <p:nvPr/>
        </p:nvSpPr>
        <p:spPr>
          <a:xfrm>
            <a:off x="502920" y="3429000"/>
            <a:ext cx="7315200" cy="237744"/>
          </a:xfrm>
          <a:prstGeom prst="rect">
            <a:avLst/>
          </a:prstGeom>
          <a:noFill/>
          <a:ln/>
        </p:spPr>
        <p:txBody>
          <a:bodyPr wrap="square" rtlCol="0" anchor="ctr"/>
          <a:lstStyle/>
          <a:p>
            <a:pPr indent="0" marL="0">
              <a:buNone/>
            </a:pPr>
            <a:r>
              <a:rPr lang="en-US" sz="1050" b="1" spc="100" kern="0" dirty="0">
                <a:solidFill>
                  <a:srgbClr val="12483F"/>
                </a:solidFill>
                <a:latin typeface="Calibri" pitchFamily="34" charset="0"/>
                <a:ea typeface="Calibri" pitchFamily="34" charset="-122"/>
                <a:cs typeface="Calibri" pitchFamily="34" charset="-120"/>
              </a:rPr>
              <a:t>PERBANDINGAN VARIASI PREPROCESSING</a:t>
            </a:r>
            <a:endParaRPr lang="en-US" sz="1050" dirty="0"/>
          </a:p>
        </p:txBody>
      </p:sp>
      <p:sp>
        <p:nvSpPr>
          <p:cNvPr id="32" name="Shape 30"/>
          <p:cNvSpPr/>
          <p:nvPr/>
        </p:nvSpPr>
        <p:spPr>
          <a:xfrm>
            <a:off x="502920" y="3730752"/>
            <a:ext cx="4206240" cy="365760"/>
          </a:xfrm>
          <a:prstGeom prst="rect">
            <a:avLst/>
          </a:prstGeom>
          <a:solidFill>
            <a:srgbClr val="12483F"/>
          </a:solidFill>
          <a:ln w="6350">
            <a:solidFill>
              <a:srgbClr val="DCE5E2"/>
            </a:solidFill>
            <a:prstDash val="solid"/>
          </a:ln>
        </p:spPr>
      </p:sp>
      <p:sp>
        <p:nvSpPr>
          <p:cNvPr id="33" name="Text 31"/>
          <p:cNvSpPr/>
          <p:nvPr/>
        </p:nvSpPr>
        <p:spPr>
          <a:xfrm>
            <a:off x="576072" y="3730752"/>
            <a:ext cx="4059936" cy="3657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Variasi Preprocessing</a:t>
            </a:r>
            <a:endParaRPr lang="en-US" sz="950" dirty="0"/>
          </a:p>
        </p:txBody>
      </p:sp>
      <p:sp>
        <p:nvSpPr>
          <p:cNvPr id="34" name="Shape 32"/>
          <p:cNvSpPr/>
          <p:nvPr/>
        </p:nvSpPr>
        <p:spPr>
          <a:xfrm>
            <a:off x="4709160" y="3730752"/>
            <a:ext cx="2377440" cy="365760"/>
          </a:xfrm>
          <a:prstGeom prst="rect">
            <a:avLst/>
          </a:prstGeom>
          <a:solidFill>
            <a:srgbClr val="12483F"/>
          </a:solidFill>
          <a:ln w="6350">
            <a:solidFill>
              <a:srgbClr val="DCE5E2"/>
            </a:solidFill>
            <a:prstDash val="solid"/>
          </a:ln>
        </p:spPr>
      </p:sp>
      <p:sp>
        <p:nvSpPr>
          <p:cNvPr id="35" name="Text 33"/>
          <p:cNvSpPr/>
          <p:nvPr/>
        </p:nvSpPr>
        <p:spPr>
          <a:xfrm>
            <a:off x="4782312" y="3730752"/>
            <a:ext cx="2231136" cy="3657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Reduksi Token (%)</a:t>
            </a:r>
            <a:endParaRPr lang="en-US" sz="950" dirty="0"/>
          </a:p>
        </p:txBody>
      </p:sp>
      <p:sp>
        <p:nvSpPr>
          <p:cNvPr id="36" name="Shape 34"/>
          <p:cNvSpPr/>
          <p:nvPr/>
        </p:nvSpPr>
        <p:spPr>
          <a:xfrm>
            <a:off x="7086600" y="3730752"/>
            <a:ext cx="2468880" cy="365760"/>
          </a:xfrm>
          <a:prstGeom prst="rect">
            <a:avLst/>
          </a:prstGeom>
          <a:solidFill>
            <a:srgbClr val="12483F"/>
          </a:solidFill>
          <a:ln w="6350">
            <a:solidFill>
              <a:srgbClr val="DCE5E2"/>
            </a:solidFill>
            <a:prstDash val="solid"/>
          </a:ln>
        </p:spPr>
      </p:sp>
      <p:sp>
        <p:nvSpPr>
          <p:cNvPr id="37" name="Text 35"/>
          <p:cNvSpPr/>
          <p:nvPr/>
        </p:nvSpPr>
        <p:spPr>
          <a:xfrm>
            <a:off x="7159752" y="3730752"/>
            <a:ext cx="2322576" cy="3657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Reduksi Kosakata (%)</a:t>
            </a:r>
            <a:endParaRPr lang="en-US" sz="950" dirty="0"/>
          </a:p>
        </p:txBody>
      </p:sp>
      <p:sp>
        <p:nvSpPr>
          <p:cNvPr id="38" name="Shape 36"/>
          <p:cNvSpPr/>
          <p:nvPr/>
        </p:nvSpPr>
        <p:spPr>
          <a:xfrm>
            <a:off x="9555480" y="3730752"/>
            <a:ext cx="2468880" cy="365760"/>
          </a:xfrm>
          <a:prstGeom prst="rect">
            <a:avLst/>
          </a:prstGeom>
          <a:solidFill>
            <a:srgbClr val="12483F"/>
          </a:solidFill>
          <a:ln w="6350">
            <a:solidFill>
              <a:srgbClr val="DCE5E2"/>
            </a:solidFill>
            <a:prstDash val="solid"/>
          </a:ln>
        </p:spPr>
      </p:sp>
      <p:sp>
        <p:nvSpPr>
          <p:cNvPr id="39" name="Text 37"/>
          <p:cNvSpPr/>
          <p:nvPr/>
        </p:nvSpPr>
        <p:spPr>
          <a:xfrm>
            <a:off x="9628632" y="3730752"/>
            <a:ext cx="2322576" cy="3657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Preservasi Makna (%)</a:t>
            </a:r>
            <a:endParaRPr lang="en-US" sz="950" dirty="0"/>
          </a:p>
        </p:txBody>
      </p:sp>
      <p:sp>
        <p:nvSpPr>
          <p:cNvPr id="40" name="Shape 38"/>
          <p:cNvSpPr/>
          <p:nvPr/>
        </p:nvSpPr>
        <p:spPr>
          <a:xfrm>
            <a:off x="502920" y="4096512"/>
            <a:ext cx="4206240" cy="365760"/>
          </a:xfrm>
          <a:prstGeom prst="rect">
            <a:avLst/>
          </a:prstGeom>
          <a:solidFill>
            <a:srgbClr val="F4F7F6"/>
          </a:solidFill>
          <a:ln w="6350">
            <a:solidFill>
              <a:srgbClr val="DCE5E2"/>
            </a:solidFill>
            <a:prstDash val="solid"/>
          </a:ln>
        </p:spPr>
      </p:sp>
      <p:sp>
        <p:nvSpPr>
          <p:cNvPr id="41" name="Text 39"/>
          <p:cNvSpPr/>
          <p:nvPr/>
        </p:nvSpPr>
        <p:spPr>
          <a:xfrm>
            <a:off x="576072" y="4096512"/>
            <a:ext cx="4059936" cy="365760"/>
          </a:xfrm>
          <a:prstGeom prst="rect">
            <a:avLst/>
          </a:prstGeom>
          <a:noFill/>
          <a:ln/>
        </p:spPr>
        <p:txBody>
          <a:bodyPr wrap="square" rtlCol="0" anchor="ctr"/>
          <a:lstStyle/>
          <a:p>
            <a:pPr indent="0" marL="0">
              <a:buNone/>
            </a:pPr>
            <a:r>
              <a:rPr lang="en-US" sz="950" dirty="0">
                <a:solidFill>
                  <a:srgbClr val="1F2A28"/>
                </a:solidFill>
                <a:latin typeface="Calibri" pitchFamily="34" charset="0"/>
                <a:ea typeface="Calibri" pitchFamily="34" charset="-122"/>
                <a:cs typeface="Calibri" pitchFamily="34" charset="-120"/>
              </a:rPr>
              <a:t>Basic (tanpa stopword &amp; stemming)</a:t>
            </a:r>
            <a:endParaRPr lang="en-US" sz="950" dirty="0"/>
          </a:p>
        </p:txBody>
      </p:sp>
      <p:sp>
        <p:nvSpPr>
          <p:cNvPr id="42" name="Shape 40"/>
          <p:cNvSpPr/>
          <p:nvPr/>
        </p:nvSpPr>
        <p:spPr>
          <a:xfrm>
            <a:off x="4709160" y="4096512"/>
            <a:ext cx="2377440" cy="365760"/>
          </a:xfrm>
          <a:prstGeom prst="rect">
            <a:avLst/>
          </a:prstGeom>
          <a:solidFill>
            <a:srgbClr val="F4F7F6"/>
          </a:solidFill>
          <a:ln w="6350">
            <a:solidFill>
              <a:srgbClr val="DCE5E2"/>
            </a:solidFill>
            <a:prstDash val="solid"/>
          </a:ln>
        </p:spPr>
      </p:sp>
      <p:sp>
        <p:nvSpPr>
          <p:cNvPr id="43" name="Text 41"/>
          <p:cNvSpPr/>
          <p:nvPr/>
        </p:nvSpPr>
        <p:spPr>
          <a:xfrm>
            <a:off x="4782312" y="4096512"/>
            <a:ext cx="2231136" cy="365760"/>
          </a:xfrm>
          <a:prstGeom prst="rect">
            <a:avLst/>
          </a:prstGeom>
          <a:noFill/>
          <a:ln/>
        </p:spPr>
        <p:txBody>
          <a:bodyPr wrap="square" rtlCol="0" anchor="ctr"/>
          <a:lstStyle/>
          <a:p>
            <a:pPr indent="0" marL="0">
              <a:buNone/>
            </a:pPr>
            <a:r>
              <a:rPr lang="en-US" sz="950" dirty="0">
                <a:solidFill>
                  <a:srgbClr val="1F2A28"/>
                </a:solidFill>
                <a:latin typeface="Calibri" pitchFamily="34" charset="0"/>
                <a:ea typeface="Calibri" pitchFamily="34" charset="-122"/>
                <a:cs typeface="Calibri" pitchFamily="34" charset="-120"/>
              </a:rPr>
              <a:t>6.81</a:t>
            </a:r>
            <a:endParaRPr lang="en-US" sz="950" dirty="0"/>
          </a:p>
        </p:txBody>
      </p:sp>
      <p:sp>
        <p:nvSpPr>
          <p:cNvPr id="44" name="Shape 42"/>
          <p:cNvSpPr/>
          <p:nvPr/>
        </p:nvSpPr>
        <p:spPr>
          <a:xfrm>
            <a:off x="7086600" y="4096512"/>
            <a:ext cx="2468880" cy="365760"/>
          </a:xfrm>
          <a:prstGeom prst="rect">
            <a:avLst/>
          </a:prstGeom>
          <a:solidFill>
            <a:srgbClr val="F4F7F6"/>
          </a:solidFill>
          <a:ln w="6350">
            <a:solidFill>
              <a:srgbClr val="DCE5E2"/>
            </a:solidFill>
            <a:prstDash val="solid"/>
          </a:ln>
        </p:spPr>
      </p:sp>
      <p:sp>
        <p:nvSpPr>
          <p:cNvPr id="45" name="Text 43"/>
          <p:cNvSpPr/>
          <p:nvPr/>
        </p:nvSpPr>
        <p:spPr>
          <a:xfrm>
            <a:off x="7159752" y="4096512"/>
            <a:ext cx="2322576" cy="365760"/>
          </a:xfrm>
          <a:prstGeom prst="rect">
            <a:avLst/>
          </a:prstGeom>
          <a:noFill/>
          <a:ln/>
        </p:spPr>
        <p:txBody>
          <a:bodyPr wrap="square" rtlCol="0" anchor="ctr"/>
          <a:lstStyle/>
          <a:p>
            <a:pPr indent="0" marL="0">
              <a:buNone/>
            </a:pPr>
            <a:r>
              <a:rPr lang="en-US" sz="950" dirty="0">
                <a:solidFill>
                  <a:srgbClr val="1F2A28"/>
                </a:solidFill>
                <a:latin typeface="Calibri" pitchFamily="34" charset="0"/>
                <a:ea typeface="Calibri" pitchFamily="34" charset="-122"/>
                <a:cs typeface="Calibri" pitchFamily="34" charset="-120"/>
              </a:rPr>
              <a:t>58.43</a:t>
            </a:r>
            <a:endParaRPr lang="en-US" sz="950" dirty="0"/>
          </a:p>
        </p:txBody>
      </p:sp>
      <p:sp>
        <p:nvSpPr>
          <p:cNvPr id="46" name="Shape 44"/>
          <p:cNvSpPr/>
          <p:nvPr/>
        </p:nvSpPr>
        <p:spPr>
          <a:xfrm>
            <a:off x="9555480" y="4096512"/>
            <a:ext cx="2468880" cy="365760"/>
          </a:xfrm>
          <a:prstGeom prst="rect">
            <a:avLst/>
          </a:prstGeom>
          <a:solidFill>
            <a:srgbClr val="F4F7F6"/>
          </a:solidFill>
          <a:ln w="6350">
            <a:solidFill>
              <a:srgbClr val="DCE5E2"/>
            </a:solidFill>
            <a:prstDash val="solid"/>
          </a:ln>
        </p:spPr>
      </p:sp>
      <p:sp>
        <p:nvSpPr>
          <p:cNvPr id="47" name="Text 45"/>
          <p:cNvSpPr/>
          <p:nvPr/>
        </p:nvSpPr>
        <p:spPr>
          <a:xfrm>
            <a:off x="9628632" y="4096512"/>
            <a:ext cx="2322576" cy="365760"/>
          </a:xfrm>
          <a:prstGeom prst="rect">
            <a:avLst/>
          </a:prstGeom>
          <a:noFill/>
          <a:ln/>
        </p:spPr>
        <p:txBody>
          <a:bodyPr wrap="square" rtlCol="0" anchor="ctr"/>
          <a:lstStyle/>
          <a:p>
            <a:pPr indent="0" marL="0">
              <a:buNone/>
            </a:pPr>
            <a:r>
              <a:rPr lang="en-US" sz="950" dirty="0">
                <a:solidFill>
                  <a:srgbClr val="1F2A28"/>
                </a:solidFill>
                <a:latin typeface="Calibri" pitchFamily="34" charset="0"/>
                <a:ea typeface="Calibri" pitchFamily="34" charset="-122"/>
                <a:cs typeface="Calibri" pitchFamily="34" charset="-120"/>
              </a:rPr>
              <a:t>68.61</a:t>
            </a:r>
            <a:endParaRPr lang="en-US" sz="950" dirty="0"/>
          </a:p>
        </p:txBody>
      </p:sp>
      <p:sp>
        <p:nvSpPr>
          <p:cNvPr id="48" name="Shape 46"/>
          <p:cNvSpPr/>
          <p:nvPr/>
        </p:nvSpPr>
        <p:spPr>
          <a:xfrm>
            <a:off x="502920" y="4462272"/>
            <a:ext cx="4206240" cy="365760"/>
          </a:xfrm>
          <a:prstGeom prst="rect">
            <a:avLst/>
          </a:prstGeom>
          <a:solidFill>
            <a:srgbClr val="FFFFFF"/>
          </a:solidFill>
          <a:ln w="6350">
            <a:solidFill>
              <a:srgbClr val="DCE5E2"/>
            </a:solidFill>
            <a:prstDash val="solid"/>
          </a:ln>
        </p:spPr>
      </p:sp>
      <p:sp>
        <p:nvSpPr>
          <p:cNvPr id="49" name="Text 47"/>
          <p:cNvSpPr/>
          <p:nvPr/>
        </p:nvSpPr>
        <p:spPr>
          <a:xfrm>
            <a:off x="576072" y="4462272"/>
            <a:ext cx="4059936" cy="365760"/>
          </a:xfrm>
          <a:prstGeom prst="rect">
            <a:avLst/>
          </a:prstGeom>
          <a:noFill/>
          <a:ln/>
        </p:spPr>
        <p:txBody>
          <a:bodyPr wrap="square" rtlCol="0" anchor="ctr"/>
          <a:lstStyle/>
          <a:p>
            <a:pPr indent="0" marL="0">
              <a:buNone/>
            </a:pPr>
            <a:r>
              <a:rPr lang="en-US" sz="950" dirty="0">
                <a:solidFill>
                  <a:srgbClr val="1F2A28"/>
                </a:solidFill>
                <a:latin typeface="Calibri" pitchFamily="34" charset="0"/>
                <a:ea typeface="Calibri" pitchFamily="34" charset="-122"/>
                <a:cs typeface="Calibri" pitchFamily="34" charset="-120"/>
              </a:rPr>
              <a:t>No Stem (tanpa stemming)</a:t>
            </a:r>
            <a:endParaRPr lang="en-US" sz="950" dirty="0"/>
          </a:p>
        </p:txBody>
      </p:sp>
      <p:sp>
        <p:nvSpPr>
          <p:cNvPr id="50" name="Shape 48"/>
          <p:cNvSpPr/>
          <p:nvPr/>
        </p:nvSpPr>
        <p:spPr>
          <a:xfrm>
            <a:off x="4709160" y="4462272"/>
            <a:ext cx="2377440" cy="365760"/>
          </a:xfrm>
          <a:prstGeom prst="rect">
            <a:avLst/>
          </a:prstGeom>
          <a:solidFill>
            <a:srgbClr val="FFFFFF"/>
          </a:solidFill>
          <a:ln w="6350">
            <a:solidFill>
              <a:srgbClr val="DCE5E2"/>
            </a:solidFill>
            <a:prstDash val="solid"/>
          </a:ln>
        </p:spPr>
      </p:sp>
      <p:sp>
        <p:nvSpPr>
          <p:cNvPr id="51" name="Text 49"/>
          <p:cNvSpPr/>
          <p:nvPr/>
        </p:nvSpPr>
        <p:spPr>
          <a:xfrm>
            <a:off x="4782312" y="4462272"/>
            <a:ext cx="2231136" cy="365760"/>
          </a:xfrm>
          <a:prstGeom prst="rect">
            <a:avLst/>
          </a:prstGeom>
          <a:noFill/>
          <a:ln/>
        </p:spPr>
        <p:txBody>
          <a:bodyPr wrap="square" rtlCol="0" anchor="ctr"/>
          <a:lstStyle/>
          <a:p>
            <a:pPr indent="0" marL="0">
              <a:buNone/>
            </a:pPr>
            <a:r>
              <a:rPr lang="en-US" sz="950" dirty="0">
                <a:solidFill>
                  <a:srgbClr val="1F2A28"/>
                </a:solidFill>
                <a:latin typeface="Calibri" pitchFamily="34" charset="0"/>
                <a:ea typeface="Calibri" pitchFamily="34" charset="-122"/>
                <a:cs typeface="Calibri" pitchFamily="34" charset="-120"/>
              </a:rPr>
              <a:t>55.7</a:t>
            </a:r>
            <a:endParaRPr lang="en-US" sz="950" dirty="0"/>
          </a:p>
        </p:txBody>
      </p:sp>
      <p:sp>
        <p:nvSpPr>
          <p:cNvPr id="52" name="Shape 50"/>
          <p:cNvSpPr/>
          <p:nvPr/>
        </p:nvSpPr>
        <p:spPr>
          <a:xfrm>
            <a:off x="7086600" y="4462272"/>
            <a:ext cx="2468880" cy="365760"/>
          </a:xfrm>
          <a:prstGeom prst="rect">
            <a:avLst/>
          </a:prstGeom>
          <a:solidFill>
            <a:srgbClr val="FFFFFF"/>
          </a:solidFill>
          <a:ln w="6350">
            <a:solidFill>
              <a:srgbClr val="DCE5E2"/>
            </a:solidFill>
            <a:prstDash val="solid"/>
          </a:ln>
        </p:spPr>
      </p:sp>
      <p:sp>
        <p:nvSpPr>
          <p:cNvPr id="53" name="Text 51"/>
          <p:cNvSpPr/>
          <p:nvPr/>
        </p:nvSpPr>
        <p:spPr>
          <a:xfrm>
            <a:off x="7159752" y="4462272"/>
            <a:ext cx="2322576" cy="365760"/>
          </a:xfrm>
          <a:prstGeom prst="rect">
            <a:avLst/>
          </a:prstGeom>
          <a:noFill/>
          <a:ln/>
        </p:spPr>
        <p:txBody>
          <a:bodyPr wrap="square" rtlCol="0" anchor="ctr"/>
          <a:lstStyle/>
          <a:p>
            <a:pPr indent="0" marL="0">
              <a:buNone/>
            </a:pPr>
            <a:r>
              <a:rPr lang="en-US" sz="950" dirty="0">
                <a:solidFill>
                  <a:srgbClr val="1F2A28"/>
                </a:solidFill>
                <a:latin typeface="Calibri" pitchFamily="34" charset="0"/>
                <a:ea typeface="Calibri" pitchFamily="34" charset="-122"/>
                <a:cs typeface="Calibri" pitchFamily="34" charset="-120"/>
              </a:rPr>
              <a:t>59.31</a:t>
            </a:r>
            <a:endParaRPr lang="en-US" sz="950" dirty="0"/>
          </a:p>
        </p:txBody>
      </p:sp>
      <p:sp>
        <p:nvSpPr>
          <p:cNvPr id="54" name="Shape 52"/>
          <p:cNvSpPr/>
          <p:nvPr/>
        </p:nvSpPr>
        <p:spPr>
          <a:xfrm>
            <a:off x="9555480" y="4462272"/>
            <a:ext cx="2468880" cy="365760"/>
          </a:xfrm>
          <a:prstGeom prst="rect">
            <a:avLst/>
          </a:prstGeom>
          <a:solidFill>
            <a:srgbClr val="FFFFFF"/>
          </a:solidFill>
          <a:ln w="6350">
            <a:solidFill>
              <a:srgbClr val="DCE5E2"/>
            </a:solidFill>
            <a:prstDash val="solid"/>
          </a:ln>
        </p:spPr>
      </p:sp>
      <p:sp>
        <p:nvSpPr>
          <p:cNvPr id="55" name="Text 53"/>
          <p:cNvSpPr/>
          <p:nvPr/>
        </p:nvSpPr>
        <p:spPr>
          <a:xfrm>
            <a:off x="9628632" y="4462272"/>
            <a:ext cx="2322576" cy="365760"/>
          </a:xfrm>
          <a:prstGeom prst="rect">
            <a:avLst/>
          </a:prstGeom>
          <a:noFill/>
          <a:ln/>
        </p:spPr>
        <p:txBody>
          <a:bodyPr wrap="square" rtlCol="0" anchor="ctr"/>
          <a:lstStyle/>
          <a:p>
            <a:pPr indent="0" marL="0">
              <a:buNone/>
            </a:pPr>
            <a:r>
              <a:rPr lang="en-US" sz="950" dirty="0">
                <a:solidFill>
                  <a:srgbClr val="1F2A28"/>
                </a:solidFill>
                <a:latin typeface="Calibri" pitchFamily="34" charset="0"/>
                <a:ea typeface="Calibri" pitchFamily="34" charset="-122"/>
                <a:cs typeface="Calibri" pitchFamily="34" charset="-120"/>
              </a:rPr>
              <a:t>74.45</a:t>
            </a:r>
            <a:endParaRPr lang="en-US" sz="950" dirty="0"/>
          </a:p>
        </p:txBody>
      </p:sp>
      <p:sp>
        <p:nvSpPr>
          <p:cNvPr id="56" name="Shape 54"/>
          <p:cNvSpPr/>
          <p:nvPr/>
        </p:nvSpPr>
        <p:spPr>
          <a:xfrm>
            <a:off x="502920" y="4828032"/>
            <a:ext cx="4206240" cy="365760"/>
          </a:xfrm>
          <a:prstGeom prst="rect">
            <a:avLst/>
          </a:prstGeom>
          <a:solidFill>
            <a:srgbClr val="F3F7F6"/>
          </a:solidFill>
          <a:ln w="12700">
            <a:solidFill>
              <a:srgbClr val="C79A45"/>
            </a:solidFill>
            <a:prstDash val="solid"/>
          </a:ln>
        </p:spPr>
      </p:sp>
      <p:sp>
        <p:nvSpPr>
          <p:cNvPr id="57" name="Text 55"/>
          <p:cNvSpPr/>
          <p:nvPr/>
        </p:nvSpPr>
        <p:spPr>
          <a:xfrm>
            <a:off x="576072" y="4828032"/>
            <a:ext cx="4059936" cy="365760"/>
          </a:xfrm>
          <a:prstGeom prst="rect">
            <a:avLst/>
          </a:prstGeom>
          <a:noFill/>
          <a:ln/>
        </p:spPr>
        <p:txBody>
          <a:bodyPr wrap="square" rtlCol="0" anchor="ctr"/>
          <a:lstStyle/>
          <a:p>
            <a:pPr indent="0" marL="0">
              <a:buNone/>
            </a:pPr>
            <a:r>
              <a:rPr lang="en-US" sz="950" b="1" dirty="0">
                <a:solidFill>
                  <a:srgbClr val="1F2A28"/>
                </a:solidFill>
                <a:latin typeface="Calibri" pitchFamily="34" charset="0"/>
                <a:ea typeface="Calibri" pitchFamily="34" charset="-122"/>
                <a:cs typeface="Calibri" pitchFamily="34" charset="-120"/>
              </a:rPr>
              <a:t>Advanced</a:t>
            </a:r>
            <a:endParaRPr lang="en-US" sz="950" dirty="0"/>
          </a:p>
        </p:txBody>
      </p:sp>
      <p:sp>
        <p:nvSpPr>
          <p:cNvPr id="58" name="Shape 56"/>
          <p:cNvSpPr/>
          <p:nvPr/>
        </p:nvSpPr>
        <p:spPr>
          <a:xfrm>
            <a:off x="4709160" y="4828032"/>
            <a:ext cx="2377440" cy="365760"/>
          </a:xfrm>
          <a:prstGeom prst="rect">
            <a:avLst/>
          </a:prstGeom>
          <a:solidFill>
            <a:srgbClr val="F3F7F6"/>
          </a:solidFill>
          <a:ln w="12700">
            <a:solidFill>
              <a:srgbClr val="C79A45"/>
            </a:solidFill>
            <a:prstDash val="solid"/>
          </a:ln>
        </p:spPr>
      </p:sp>
      <p:sp>
        <p:nvSpPr>
          <p:cNvPr id="59" name="Text 57"/>
          <p:cNvSpPr/>
          <p:nvPr/>
        </p:nvSpPr>
        <p:spPr>
          <a:xfrm>
            <a:off x="4782312" y="4828032"/>
            <a:ext cx="2231136" cy="365760"/>
          </a:xfrm>
          <a:prstGeom prst="rect">
            <a:avLst/>
          </a:prstGeom>
          <a:noFill/>
          <a:ln/>
        </p:spPr>
        <p:txBody>
          <a:bodyPr wrap="square" rtlCol="0" anchor="ctr"/>
          <a:lstStyle/>
          <a:p>
            <a:pPr indent="0" marL="0">
              <a:buNone/>
            </a:pPr>
            <a:r>
              <a:rPr lang="en-US" sz="950" b="1" dirty="0">
                <a:solidFill>
                  <a:srgbClr val="1F2A28"/>
                </a:solidFill>
                <a:latin typeface="Calibri" pitchFamily="34" charset="0"/>
                <a:ea typeface="Calibri" pitchFamily="34" charset="-122"/>
                <a:cs typeface="Calibri" pitchFamily="34" charset="-120"/>
              </a:rPr>
              <a:t>55.6</a:t>
            </a:r>
            <a:endParaRPr lang="en-US" sz="950" dirty="0"/>
          </a:p>
        </p:txBody>
      </p:sp>
      <p:sp>
        <p:nvSpPr>
          <p:cNvPr id="60" name="Shape 58"/>
          <p:cNvSpPr/>
          <p:nvPr/>
        </p:nvSpPr>
        <p:spPr>
          <a:xfrm>
            <a:off x="7086600" y="4828032"/>
            <a:ext cx="2468880" cy="365760"/>
          </a:xfrm>
          <a:prstGeom prst="rect">
            <a:avLst/>
          </a:prstGeom>
          <a:solidFill>
            <a:srgbClr val="F3F7F6"/>
          </a:solidFill>
          <a:ln w="12700">
            <a:solidFill>
              <a:srgbClr val="C79A45"/>
            </a:solidFill>
            <a:prstDash val="solid"/>
          </a:ln>
        </p:spPr>
      </p:sp>
      <p:sp>
        <p:nvSpPr>
          <p:cNvPr id="61" name="Text 59"/>
          <p:cNvSpPr/>
          <p:nvPr/>
        </p:nvSpPr>
        <p:spPr>
          <a:xfrm>
            <a:off x="7159752" y="4828032"/>
            <a:ext cx="2322576" cy="365760"/>
          </a:xfrm>
          <a:prstGeom prst="rect">
            <a:avLst/>
          </a:prstGeom>
          <a:noFill/>
          <a:ln/>
        </p:spPr>
        <p:txBody>
          <a:bodyPr wrap="square" rtlCol="0" anchor="ctr"/>
          <a:lstStyle/>
          <a:p>
            <a:pPr indent="0" marL="0">
              <a:buNone/>
            </a:pPr>
            <a:r>
              <a:rPr lang="en-US" sz="950" b="1" dirty="0">
                <a:solidFill>
                  <a:srgbClr val="1F2A28"/>
                </a:solidFill>
                <a:latin typeface="Calibri" pitchFamily="34" charset="0"/>
                <a:ea typeface="Calibri" pitchFamily="34" charset="-122"/>
                <a:cs typeface="Calibri" pitchFamily="34" charset="-120"/>
              </a:rPr>
              <a:t>83.75</a:t>
            </a:r>
            <a:endParaRPr lang="en-US" sz="950" dirty="0"/>
          </a:p>
        </p:txBody>
      </p:sp>
      <p:sp>
        <p:nvSpPr>
          <p:cNvPr id="62" name="Shape 60"/>
          <p:cNvSpPr/>
          <p:nvPr/>
        </p:nvSpPr>
        <p:spPr>
          <a:xfrm>
            <a:off x="9555480" y="4828032"/>
            <a:ext cx="2468880" cy="365760"/>
          </a:xfrm>
          <a:prstGeom prst="rect">
            <a:avLst/>
          </a:prstGeom>
          <a:solidFill>
            <a:srgbClr val="F3F7F6"/>
          </a:solidFill>
          <a:ln w="12700">
            <a:solidFill>
              <a:srgbClr val="C79A45"/>
            </a:solidFill>
            <a:prstDash val="solid"/>
          </a:ln>
        </p:spPr>
      </p:sp>
      <p:sp>
        <p:nvSpPr>
          <p:cNvPr id="63" name="Text 61"/>
          <p:cNvSpPr/>
          <p:nvPr/>
        </p:nvSpPr>
        <p:spPr>
          <a:xfrm>
            <a:off x="9628632" y="4828032"/>
            <a:ext cx="2322576" cy="365760"/>
          </a:xfrm>
          <a:prstGeom prst="rect">
            <a:avLst/>
          </a:prstGeom>
          <a:noFill/>
          <a:ln/>
        </p:spPr>
        <p:txBody>
          <a:bodyPr wrap="square" rtlCol="0" anchor="ctr"/>
          <a:lstStyle/>
          <a:p>
            <a:pPr indent="0" marL="0">
              <a:buNone/>
            </a:pPr>
            <a:r>
              <a:rPr lang="en-US" sz="950" b="1" dirty="0">
                <a:solidFill>
                  <a:srgbClr val="1F2A28"/>
                </a:solidFill>
                <a:latin typeface="Calibri" pitchFamily="34" charset="0"/>
                <a:ea typeface="Calibri" pitchFamily="34" charset="-122"/>
                <a:cs typeface="Calibri" pitchFamily="34" charset="-120"/>
              </a:rPr>
              <a:t>73.20</a:t>
            </a:r>
            <a:endParaRPr lang="en-US" sz="950" dirty="0"/>
          </a:p>
        </p:txBody>
      </p:sp>
      <p:sp>
        <p:nvSpPr>
          <p:cNvPr id="64" name="Shape 62"/>
          <p:cNvSpPr/>
          <p:nvPr/>
        </p:nvSpPr>
        <p:spPr>
          <a:xfrm>
            <a:off x="502920" y="5330952"/>
            <a:ext cx="11183112" cy="685800"/>
          </a:xfrm>
          <a:prstGeom prst="roundRect">
            <a:avLst>
              <a:gd name="adj" fmla="val 8000"/>
            </a:avLst>
          </a:prstGeom>
          <a:solidFill>
            <a:srgbClr val="F3F7F6"/>
          </a:solidFill>
          <a:ln w="12700">
            <a:solidFill>
              <a:srgbClr val="EBD9AF"/>
            </a:solidFill>
            <a:prstDash val="solid"/>
          </a:ln>
        </p:spPr>
      </p:sp>
      <p:sp>
        <p:nvSpPr>
          <p:cNvPr id="65" name="Text 63"/>
          <p:cNvSpPr/>
          <p:nvPr/>
        </p:nvSpPr>
        <p:spPr>
          <a:xfrm>
            <a:off x="640080" y="5330952"/>
            <a:ext cx="10908792" cy="685800"/>
          </a:xfrm>
          <a:prstGeom prst="rect">
            <a:avLst/>
          </a:prstGeom>
          <a:noFill/>
          <a:ln/>
        </p:spPr>
        <p:txBody>
          <a:bodyPr wrap="square" rtlCol="0" anchor="ctr"/>
          <a:lstStyle/>
          <a:p>
            <a:pPr indent="0" marL="0">
              <a:lnSpc>
                <a:spcPct val="110000"/>
              </a:lnSpc>
              <a:buNone/>
            </a:pPr>
            <a:r>
              <a:rPr lang="en-US" sz="1050" b="1" dirty="0">
                <a:solidFill>
                  <a:srgbClr val="0D3B33"/>
                </a:solidFill>
                <a:latin typeface="Calibri" pitchFamily="34" charset="0"/>
                <a:ea typeface="Calibri" pitchFamily="34" charset="-122"/>
                <a:cs typeface="Calibri" pitchFamily="34" charset="-120"/>
              </a:rPr>
              <a:t>Preprocessed Advanced — </a:t>
            </a:r>
            <a:pPr indent="0" marL="0">
              <a:lnSpc>
                <a:spcPct val="110000"/>
              </a:lnSpc>
              <a:buNone/>
            </a:pPr>
            <a:r>
              <a:rPr lang="en-US" sz="1050" dirty="0">
                <a:solidFill>
                  <a:srgbClr val="374644"/>
                </a:solidFill>
                <a:latin typeface="Calibri" pitchFamily="34" charset="0"/>
                <a:ea typeface="Calibri" pitchFamily="34" charset="-122"/>
                <a:cs typeface="Calibri" pitchFamily="34" charset="-120"/>
              </a:rPr>
              <a:t>keseimbangan terbaik antara reduksi noise dan preservasi makna semantik teks Al-Qur'an; dipilih sebagai varian utama untuk tahap pemodelan topik.</a:t>
            </a:r>
            <a:endParaRPr lang="en-US" sz="1050" dirty="0"/>
          </a:p>
        </p:txBody>
      </p:sp>
      <p:sp>
        <p:nvSpPr>
          <p:cNvPr id="66" name="Text 64"/>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67" name="Text 65"/>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3095244" cy="310896"/>
          </a:xfrm>
          <a:prstGeom prst="roundRect">
            <a:avLst>
              <a:gd name="adj" fmla="val 50000"/>
            </a:avLst>
          </a:prstGeom>
          <a:solidFill>
            <a:srgbClr val="12483F"/>
          </a:solidFill>
          <a:ln/>
        </p:spPr>
      </p:sp>
      <p:sp>
        <p:nvSpPr>
          <p:cNvPr id="3" name="Text 1"/>
          <p:cNvSpPr/>
          <p:nvPr/>
        </p:nvSpPr>
        <p:spPr>
          <a:xfrm>
            <a:off x="502920" y="411480"/>
            <a:ext cx="3095244"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07 | CORRELATED 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700" b="1" dirty="0">
                <a:solidFill>
                  <a:srgbClr val="0D3B33"/>
                </a:solidFill>
                <a:latin typeface="Cambria" pitchFamily="34" charset="0"/>
                <a:ea typeface="Cambria" pitchFamily="34" charset="-122"/>
                <a:cs typeface="Cambria" pitchFamily="34" charset="-120"/>
              </a:rPr>
              <a:t>Optimasi Parameter K</a:t>
            </a:r>
            <a:endParaRPr lang="en-US" sz="2700" dirty="0"/>
          </a:p>
        </p:txBody>
      </p:sp>
      <p:sp>
        <p:nvSpPr>
          <p:cNvPr id="5" name="Shape 3"/>
          <p:cNvSpPr/>
          <p:nvPr/>
        </p:nvSpPr>
        <p:spPr>
          <a:xfrm>
            <a:off x="502920" y="1627632"/>
            <a:ext cx="4114800" cy="713232"/>
          </a:xfrm>
          <a:prstGeom prst="roundRect">
            <a:avLst>
              <a:gd name="adj" fmla="val 11538"/>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6" name="Text 4"/>
          <p:cNvSpPr/>
          <p:nvPr/>
        </p:nvSpPr>
        <p:spPr>
          <a:xfrm>
            <a:off x="502920" y="1719072"/>
            <a:ext cx="4114800" cy="413675"/>
          </a:xfrm>
          <a:prstGeom prst="rect">
            <a:avLst/>
          </a:prstGeom>
          <a:noFill/>
          <a:ln/>
        </p:spPr>
        <p:txBody>
          <a:bodyPr wrap="square" rtlCol="0" anchor="b"/>
          <a:lstStyle/>
          <a:p>
            <a:pPr algn="ctr" indent="0" marL="0">
              <a:buNone/>
            </a:pPr>
            <a:r>
              <a:rPr lang="en-US" sz="2600" b="1" dirty="0">
                <a:solidFill>
                  <a:srgbClr val="1D5F53"/>
                </a:solidFill>
                <a:latin typeface="Cambria" pitchFamily="34" charset="0"/>
                <a:ea typeface="Cambria" pitchFamily="34" charset="-122"/>
                <a:cs typeface="Cambria" pitchFamily="34" charset="-120"/>
              </a:rPr>
              <a:t>114</a:t>
            </a:r>
            <a:endParaRPr lang="en-US" sz="2600" dirty="0"/>
          </a:p>
        </p:txBody>
      </p:sp>
      <p:sp>
        <p:nvSpPr>
          <p:cNvPr id="7" name="Text 5"/>
          <p:cNvSpPr/>
          <p:nvPr/>
        </p:nvSpPr>
        <p:spPr>
          <a:xfrm>
            <a:off x="502920" y="2069836"/>
            <a:ext cx="4114800" cy="242499"/>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Dokumen</a:t>
            </a:r>
            <a:endParaRPr lang="en-US" sz="1050" dirty="0"/>
          </a:p>
        </p:txBody>
      </p:sp>
      <p:sp>
        <p:nvSpPr>
          <p:cNvPr id="8" name="Shape 6"/>
          <p:cNvSpPr/>
          <p:nvPr/>
        </p:nvSpPr>
        <p:spPr>
          <a:xfrm>
            <a:off x="502920" y="2450592"/>
            <a:ext cx="4114800" cy="713232"/>
          </a:xfrm>
          <a:prstGeom prst="roundRect">
            <a:avLst>
              <a:gd name="adj" fmla="val 11538"/>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9" name="Text 7"/>
          <p:cNvSpPr/>
          <p:nvPr/>
        </p:nvSpPr>
        <p:spPr>
          <a:xfrm>
            <a:off x="502920" y="2542032"/>
            <a:ext cx="4114800" cy="413675"/>
          </a:xfrm>
          <a:prstGeom prst="rect">
            <a:avLst/>
          </a:prstGeom>
          <a:noFill/>
          <a:ln/>
        </p:spPr>
        <p:txBody>
          <a:bodyPr wrap="square" rtlCol="0" anchor="b"/>
          <a:lstStyle/>
          <a:p>
            <a:pPr algn="ctr" indent="0" marL="0">
              <a:buNone/>
            </a:pPr>
            <a:r>
              <a:rPr lang="en-US" sz="2600" b="1" dirty="0">
                <a:solidFill>
                  <a:srgbClr val="1D5F53"/>
                </a:solidFill>
                <a:latin typeface="Cambria" pitchFamily="34" charset="0"/>
                <a:ea typeface="Cambria" pitchFamily="34" charset="-122"/>
                <a:cs typeface="Cambria" pitchFamily="34" charset="-120"/>
              </a:rPr>
              <a:t>75.940</a:t>
            </a:r>
            <a:endParaRPr lang="en-US" sz="2600" dirty="0"/>
          </a:p>
        </p:txBody>
      </p:sp>
      <p:sp>
        <p:nvSpPr>
          <p:cNvPr id="10" name="Text 8"/>
          <p:cNvSpPr/>
          <p:nvPr/>
        </p:nvSpPr>
        <p:spPr>
          <a:xfrm>
            <a:off x="502920" y="2892796"/>
            <a:ext cx="4114800" cy="242499"/>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Token</a:t>
            </a:r>
            <a:endParaRPr lang="en-US" sz="1050" dirty="0"/>
          </a:p>
        </p:txBody>
      </p:sp>
      <p:sp>
        <p:nvSpPr>
          <p:cNvPr id="11" name="Shape 9"/>
          <p:cNvSpPr/>
          <p:nvPr/>
        </p:nvSpPr>
        <p:spPr>
          <a:xfrm>
            <a:off x="502920" y="3273552"/>
            <a:ext cx="4114800" cy="713232"/>
          </a:xfrm>
          <a:prstGeom prst="roundRect">
            <a:avLst>
              <a:gd name="adj" fmla="val 11538"/>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12" name="Text 10"/>
          <p:cNvSpPr/>
          <p:nvPr/>
        </p:nvSpPr>
        <p:spPr>
          <a:xfrm>
            <a:off x="502920" y="3364992"/>
            <a:ext cx="4114800" cy="413675"/>
          </a:xfrm>
          <a:prstGeom prst="rect">
            <a:avLst/>
          </a:prstGeom>
          <a:noFill/>
          <a:ln/>
        </p:spPr>
        <p:txBody>
          <a:bodyPr wrap="square" rtlCol="0" anchor="b"/>
          <a:lstStyle/>
          <a:p>
            <a:pPr algn="ctr" indent="0" marL="0">
              <a:buNone/>
            </a:pPr>
            <a:r>
              <a:rPr lang="en-US" sz="2600" b="1" dirty="0">
                <a:solidFill>
                  <a:srgbClr val="1D5F53"/>
                </a:solidFill>
                <a:latin typeface="Cambria" pitchFamily="34" charset="0"/>
                <a:ea typeface="Cambria" pitchFamily="34" charset="-122"/>
                <a:cs typeface="Cambria" pitchFamily="34" charset="-120"/>
              </a:rPr>
              <a:t>8–19</a:t>
            </a:r>
            <a:endParaRPr lang="en-US" sz="2600" dirty="0"/>
          </a:p>
        </p:txBody>
      </p:sp>
      <p:sp>
        <p:nvSpPr>
          <p:cNvPr id="13" name="Text 11"/>
          <p:cNvSpPr/>
          <p:nvPr/>
        </p:nvSpPr>
        <p:spPr>
          <a:xfrm>
            <a:off x="502920" y="3715756"/>
            <a:ext cx="4114800" cy="242499"/>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Rentang K Diuji</a:t>
            </a:r>
            <a:endParaRPr lang="en-US" sz="1050" dirty="0"/>
          </a:p>
        </p:txBody>
      </p:sp>
      <p:sp>
        <p:nvSpPr>
          <p:cNvPr id="14" name="Shape 12"/>
          <p:cNvSpPr/>
          <p:nvPr/>
        </p:nvSpPr>
        <p:spPr>
          <a:xfrm>
            <a:off x="502920" y="4096512"/>
            <a:ext cx="4114800" cy="713232"/>
          </a:xfrm>
          <a:prstGeom prst="roundRect">
            <a:avLst>
              <a:gd name="adj" fmla="val 11538"/>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15" name="Text 13"/>
          <p:cNvSpPr/>
          <p:nvPr/>
        </p:nvSpPr>
        <p:spPr>
          <a:xfrm>
            <a:off x="502920" y="4187952"/>
            <a:ext cx="4114800" cy="413675"/>
          </a:xfrm>
          <a:prstGeom prst="rect">
            <a:avLst/>
          </a:prstGeom>
          <a:noFill/>
          <a:ln/>
        </p:spPr>
        <p:txBody>
          <a:bodyPr wrap="square" rtlCol="0" anchor="b"/>
          <a:lstStyle/>
          <a:p>
            <a:pPr algn="ctr" indent="0" marL="0">
              <a:buNone/>
            </a:pPr>
            <a:r>
              <a:rPr lang="en-US" sz="2600" b="1" dirty="0">
                <a:solidFill>
                  <a:srgbClr val="C79A45"/>
                </a:solidFill>
                <a:latin typeface="Cambria" pitchFamily="34" charset="0"/>
                <a:ea typeface="Cambria" pitchFamily="34" charset="-122"/>
                <a:cs typeface="Cambria" pitchFamily="34" charset="-120"/>
              </a:rPr>
              <a:t>K = 14</a:t>
            </a:r>
            <a:endParaRPr lang="en-US" sz="2600" dirty="0"/>
          </a:p>
        </p:txBody>
      </p:sp>
      <p:sp>
        <p:nvSpPr>
          <p:cNvPr id="16" name="Text 14"/>
          <p:cNvSpPr/>
          <p:nvPr/>
        </p:nvSpPr>
        <p:spPr>
          <a:xfrm>
            <a:off x="502920" y="4538716"/>
            <a:ext cx="4114800" cy="242499"/>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Nilai Terpilih</a:t>
            </a:r>
            <a:endParaRPr lang="en-US" sz="1050" dirty="0"/>
          </a:p>
        </p:txBody>
      </p:sp>
      <p:sp>
        <p:nvSpPr>
          <p:cNvPr id="17" name="Shape 15"/>
          <p:cNvSpPr/>
          <p:nvPr/>
        </p:nvSpPr>
        <p:spPr>
          <a:xfrm>
            <a:off x="502920" y="4965192"/>
            <a:ext cx="4114800" cy="1444752"/>
          </a:xfrm>
          <a:prstGeom prst="roundRect">
            <a:avLst>
              <a:gd name="adj" fmla="val 4430"/>
            </a:avLst>
          </a:prstGeom>
          <a:solidFill>
            <a:srgbClr val="F3F7F6"/>
          </a:solidFill>
          <a:ln w="12700">
            <a:solidFill>
              <a:srgbClr val="E6EEEB"/>
            </a:solidFill>
            <a:prstDash val="solid"/>
          </a:ln>
        </p:spPr>
      </p:sp>
      <p:sp>
        <p:nvSpPr>
          <p:cNvPr id="18" name="Shape 16"/>
          <p:cNvSpPr/>
          <p:nvPr/>
        </p:nvSpPr>
        <p:spPr>
          <a:xfrm>
            <a:off x="649224" y="5093208"/>
            <a:ext cx="82296" cy="82296"/>
          </a:xfrm>
          <a:prstGeom prst="roundRect">
            <a:avLst>
              <a:gd name="adj" fmla="val 50000"/>
            </a:avLst>
          </a:prstGeom>
          <a:solidFill>
            <a:srgbClr val="C79A45"/>
          </a:solidFill>
          <a:ln/>
        </p:spPr>
      </p:sp>
      <p:sp>
        <p:nvSpPr>
          <p:cNvPr id="19" name="Text 17"/>
          <p:cNvSpPr/>
          <p:nvPr/>
        </p:nvSpPr>
        <p:spPr>
          <a:xfrm>
            <a:off x="813816" y="5038344"/>
            <a:ext cx="3657600"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CATATAN AKADEMIK</a:t>
            </a:r>
            <a:endParaRPr lang="en-US" sz="950" dirty="0"/>
          </a:p>
        </p:txBody>
      </p:sp>
      <p:sp>
        <p:nvSpPr>
          <p:cNvPr id="20" name="Text 18"/>
          <p:cNvSpPr/>
          <p:nvPr/>
        </p:nvSpPr>
        <p:spPr>
          <a:xfrm>
            <a:off x="649224" y="5276088"/>
            <a:ext cx="3822192" cy="1060704"/>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Parameter K menentukan jumlah topik laten yang diasumsikan model. K terlalu kecil menyebabkan topik terlalu umum (under-fitting semantik); K terlalu besar memicu topik yang tumpang tindih dan sulit diinterpretasi (over-fragmentation). K=14 dipilih karena memberi keseimbangan terbaik antar-metrik koherensi &amp; diversitas dibanding K=8 sampai K=19.</a:t>
            </a:r>
            <a:endParaRPr lang="en-US" sz="1000" dirty="0"/>
          </a:p>
        </p:txBody>
      </p:sp>
      <p:pic>
        <p:nvPicPr>
          <p:cNvPr id="21" name="Image 0" descr="/home/claude/assets/ctm_k_chart1.png">    </p:cNvPr>
          <p:cNvPicPr>
            <a:picLocks noChangeAspect="1"/>
          </p:cNvPicPr>
          <p:nvPr/>
        </p:nvPicPr>
        <p:blipFill>
          <a:blip r:embed="rId1"/>
          <a:stretch>
            <a:fillRect/>
          </a:stretch>
        </p:blipFill>
        <p:spPr>
          <a:xfrm>
            <a:off x="4572000" y="1627632"/>
            <a:ext cx="3520440" cy="2715768"/>
          </a:xfrm>
          <a:prstGeom prst="rect">
            <a:avLst/>
          </a:prstGeom>
        </p:spPr>
      </p:pic>
      <p:pic>
        <p:nvPicPr>
          <p:cNvPr id="22" name="Image 1" descr="/home/claude/assets/ctm_k_chart2.png">    </p:cNvPr>
          <p:cNvPicPr>
            <a:picLocks noChangeAspect="1"/>
          </p:cNvPicPr>
          <p:nvPr/>
        </p:nvPicPr>
        <p:blipFill>
          <a:blip r:embed="rId2"/>
          <a:stretch>
            <a:fillRect/>
          </a:stretch>
        </p:blipFill>
        <p:spPr>
          <a:xfrm>
            <a:off x="8229600" y="1627632"/>
            <a:ext cx="3456432" cy="2386584"/>
          </a:xfrm>
          <a:prstGeom prst="rect">
            <a:avLst/>
          </a:prstGeom>
        </p:spPr>
      </p:pic>
      <p:sp>
        <p:nvSpPr>
          <p:cNvPr id="23" name="Text 19"/>
          <p:cNvSpPr/>
          <p:nvPr/>
        </p:nvSpPr>
        <p:spPr>
          <a:xfrm>
            <a:off x="4572000" y="4407408"/>
            <a:ext cx="7114032" cy="274320"/>
          </a:xfrm>
          <a:prstGeom prst="rect">
            <a:avLst/>
          </a:prstGeom>
          <a:noFill/>
          <a:ln/>
        </p:spPr>
        <p:txBody>
          <a:bodyPr wrap="square" rtlCol="0" anchor="ctr"/>
          <a:lstStyle/>
          <a:p>
            <a:pPr algn="ctr" indent="0" marL="0">
              <a:buNone/>
            </a:pPr>
            <a:r>
              <a:rPr lang="en-US" sz="950" i="1" dirty="0">
                <a:solidFill>
                  <a:srgbClr val="6B7A77"/>
                </a:solidFill>
                <a:latin typeface="Calibri" pitchFamily="34" charset="0"/>
                <a:ea typeface="Calibri" pitchFamily="34" charset="-122"/>
                <a:cs typeface="Calibri" pitchFamily="34" charset="-120"/>
              </a:rPr>
              <a:t>Grafik skor koherensi &amp; diversitas terhadap variasi jumlah topik (K)</a:t>
            </a:r>
            <a:endParaRPr lang="en-US" sz="950" dirty="0"/>
          </a:p>
        </p:txBody>
      </p:sp>
      <p:sp>
        <p:nvSpPr>
          <p:cNvPr id="24" name="Shape 20"/>
          <p:cNvSpPr/>
          <p:nvPr/>
        </p:nvSpPr>
        <p:spPr>
          <a:xfrm>
            <a:off x="502920" y="4892040"/>
            <a:ext cx="11183112" cy="914400"/>
          </a:xfrm>
          <a:prstGeom prst="roundRect">
            <a:avLst>
              <a:gd name="adj" fmla="val 6000"/>
            </a:avLst>
          </a:prstGeom>
          <a:solidFill>
            <a:srgbClr val="F3F7F6"/>
          </a:solidFill>
          <a:ln w="12700">
            <a:solidFill>
              <a:srgbClr val="EBD9AF"/>
            </a:solidFill>
            <a:prstDash val="solid"/>
          </a:ln>
        </p:spPr>
      </p:sp>
      <p:sp>
        <p:nvSpPr>
          <p:cNvPr id="25" name="Text 21"/>
          <p:cNvSpPr/>
          <p:nvPr/>
        </p:nvSpPr>
        <p:spPr>
          <a:xfrm>
            <a:off x="685800" y="4892040"/>
            <a:ext cx="10817352" cy="914400"/>
          </a:xfrm>
          <a:prstGeom prst="rect">
            <a:avLst/>
          </a:prstGeom>
          <a:noFill/>
          <a:ln/>
        </p:spPr>
        <p:txBody>
          <a:bodyPr wrap="square" rtlCol="0" anchor="ctr"/>
          <a:lstStyle/>
          <a:p>
            <a:pPr indent="0" marL="0">
              <a:lnSpc>
                <a:spcPct val="115000"/>
              </a:lnSpc>
              <a:buNone/>
            </a:pPr>
            <a:r>
              <a:rPr lang="en-US" sz="1100" dirty="0">
                <a:solidFill>
                  <a:srgbClr val="374644"/>
                </a:solidFill>
                <a:latin typeface="Calibri" pitchFamily="34" charset="0"/>
                <a:ea typeface="Calibri" pitchFamily="34" charset="-122"/>
                <a:cs typeface="Calibri" pitchFamily="34" charset="-120"/>
              </a:rPr>
              <a:t>Hampir seluruh metrik berada pada posisi yang relatif tinggi dan seimbang dibandingkan jumlah topik lainnya, sehingga K = 14 ditetapkan sebagai jumlah topik optimal untuk model CTM.</a:t>
            </a:r>
            <a:endParaRPr lang="en-US" sz="1100" dirty="0"/>
          </a:p>
        </p:txBody>
      </p:sp>
      <p:sp>
        <p:nvSpPr>
          <p:cNvPr id="26" name="Text 22"/>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27" name="Text 23"/>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3095244" cy="310896"/>
          </a:xfrm>
          <a:prstGeom prst="roundRect">
            <a:avLst>
              <a:gd name="adj" fmla="val 50000"/>
            </a:avLst>
          </a:prstGeom>
          <a:solidFill>
            <a:srgbClr val="12483F"/>
          </a:solidFill>
          <a:ln/>
        </p:spPr>
      </p:sp>
      <p:sp>
        <p:nvSpPr>
          <p:cNvPr id="3" name="Text 1"/>
          <p:cNvSpPr/>
          <p:nvPr/>
        </p:nvSpPr>
        <p:spPr>
          <a:xfrm>
            <a:off x="502920" y="411480"/>
            <a:ext cx="3095244"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08 | CORRELATED 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800" b="1" dirty="0">
                <a:solidFill>
                  <a:srgbClr val="0D3B33"/>
                </a:solidFill>
                <a:latin typeface="Cambria" pitchFamily="34" charset="0"/>
                <a:ea typeface="Cambria" pitchFamily="34" charset="-122"/>
                <a:cs typeface="Cambria" pitchFamily="34" charset="-120"/>
              </a:rPr>
              <a:t>Konvergensi Model</a:t>
            </a:r>
            <a:endParaRPr lang="en-US" sz="2800" dirty="0"/>
          </a:p>
        </p:txBody>
      </p:sp>
      <p:pic>
        <p:nvPicPr>
          <p:cNvPr id="5" name="Image 0" descr="/home/claude/assets/ctm_convergence1.png">    </p:cNvPr>
          <p:cNvPicPr>
            <a:picLocks noChangeAspect="1"/>
          </p:cNvPicPr>
          <p:nvPr/>
        </p:nvPicPr>
        <p:blipFill>
          <a:blip r:embed="rId1"/>
          <a:stretch>
            <a:fillRect/>
          </a:stretch>
        </p:blipFill>
        <p:spPr>
          <a:xfrm>
            <a:off x="502920" y="1691640"/>
            <a:ext cx="3749040" cy="3749040"/>
          </a:xfrm>
          <a:prstGeom prst="rect">
            <a:avLst/>
          </a:prstGeom>
        </p:spPr>
      </p:pic>
      <p:pic>
        <p:nvPicPr>
          <p:cNvPr id="6" name="Image 1" descr="/home/claude/assets/ctm_convergence2.png">    </p:cNvPr>
          <p:cNvPicPr>
            <a:picLocks noChangeAspect="1"/>
          </p:cNvPicPr>
          <p:nvPr/>
        </p:nvPicPr>
        <p:blipFill>
          <a:blip r:embed="rId2"/>
          <a:stretch>
            <a:fillRect/>
          </a:stretch>
        </p:blipFill>
        <p:spPr>
          <a:xfrm>
            <a:off x="4160520" y="1691640"/>
            <a:ext cx="3977640" cy="3941064"/>
          </a:xfrm>
          <a:prstGeom prst="rect">
            <a:avLst/>
          </a:prstGeom>
        </p:spPr>
      </p:pic>
      <p:sp>
        <p:nvSpPr>
          <p:cNvPr id="7" name="Shape 3"/>
          <p:cNvSpPr/>
          <p:nvPr/>
        </p:nvSpPr>
        <p:spPr>
          <a:xfrm>
            <a:off x="8366760" y="1691640"/>
            <a:ext cx="3319272" cy="3941064"/>
          </a:xfrm>
          <a:prstGeom prst="roundRect">
            <a:avLst>
              <a:gd name="adj" fmla="val 1928"/>
            </a:avLst>
          </a:prstGeom>
          <a:solidFill>
            <a:srgbClr val="F3F7F6"/>
          </a:solidFill>
          <a:ln w="12700">
            <a:solidFill>
              <a:srgbClr val="E6EEEB"/>
            </a:solidFill>
            <a:prstDash val="solid"/>
          </a:ln>
        </p:spPr>
      </p:sp>
      <p:sp>
        <p:nvSpPr>
          <p:cNvPr id="8" name="Shape 4"/>
          <p:cNvSpPr/>
          <p:nvPr/>
        </p:nvSpPr>
        <p:spPr>
          <a:xfrm>
            <a:off x="8513064" y="1819656"/>
            <a:ext cx="82296" cy="82296"/>
          </a:xfrm>
          <a:prstGeom prst="roundRect">
            <a:avLst>
              <a:gd name="adj" fmla="val 50000"/>
            </a:avLst>
          </a:prstGeom>
          <a:solidFill>
            <a:srgbClr val="C79A45"/>
          </a:solidFill>
          <a:ln/>
        </p:spPr>
      </p:sp>
      <p:sp>
        <p:nvSpPr>
          <p:cNvPr id="9" name="Text 5"/>
          <p:cNvSpPr/>
          <p:nvPr/>
        </p:nvSpPr>
        <p:spPr>
          <a:xfrm>
            <a:off x="8677656" y="1764792"/>
            <a:ext cx="2862072"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CATATAN AKADEMIK</a:t>
            </a:r>
            <a:endParaRPr lang="en-US" sz="950" dirty="0"/>
          </a:p>
        </p:txBody>
      </p:sp>
      <p:sp>
        <p:nvSpPr>
          <p:cNvPr id="10" name="Text 6"/>
          <p:cNvSpPr/>
          <p:nvPr/>
        </p:nvSpPr>
        <p:spPr>
          <a:xfrm>
            <a:off x="8513064" y="2002536"/>
            <a:ext cx="3026664" cy="3557016"/>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Konvergensi pada inferensi variational (ELBO — Evidence Lower Bound) ditandai dengan nilai objektif yang berhenti berubah signifikan antar-iterasi. Titik pemusatan pada iterasi ke-100 mengindikasikan algoritma variational inference telah menemukan estimasi parameter yang stabil untuk distribusi logistic-normal pada model CTM, sehingga hasil topik yang dihasilkan dapat dianggap representatif terhadap data.</a:t>
            </a:r>
            <a:endParaRPr lang="en-US" sz="1000" dirty="0"/>
          </a:p>
        </p:txBody>
      </p:sp>
      <p:sp>
        <p:nvSpPr>
          <p:cNvPr id="11" name="Shape 7"/>
          <p:cNvSpPr/>
          <p:nvPr/>
        </p:nvSpPr>
        <p:spPr>
          <a:xfrm>
            <a:off x="502920" y="5715000"/>
            <a:ext cx="11183112" cy="594360"/>
          </a:xfrm>
          <a:prstGeom prst="roundRect">
            <a:avLst>
              <a:gd name="adj" fmla="val 9231"/>
            </a:avLst>
          </a:prstGeom>
          <a:solidFill>
            <a:srgbClr val="F4F7F6"/>
          </a:solidFill>
          <a:ln w="9525">
            <a:solidFill>
              <a:srgbClr val="DCE5E2"/>
            </a:solidFill>
            <a:prstDash val="solid"/>
          </a:ln>
        </p:spPr>
      </p:sp>
      <p:sp>
        <p:nvSpPr>
          <p:cNvPr id="12" name="Text 8"/>
          <p:cNvSpPr/>
          <p:nvPr/>
        </p:nvSpPr>
        <p:spPr>
          <a:xfrm>
            <a:off x="685800" y="5715000"/>
            <a:ext cx="10817352" cy="594360"/>
          </a:xfrm>
          <a:prstGeom prst="rect">
            <a:avLst/>
          </a:prstGeom>
          <a:noFill/>
          <a:ln/>
        </p:spPr>
        <p:txBody>
          <a:bodyPr wrap="square" rtlCol="0" anchor="ctr"/>
          <a:lstStyle/>
          <a:p>
            <a:pPr indent="0" marL="0">
              <a:buNone/>
            </a:pPr>
            <a:r>
              <a:rPr lang="en-US" sz="1100" i="1" dirty="0">
                <a:solidFill>
                  <a:srgbClr val="374644"/>
                </a:solidFill>
                <a:latin typeface="Calibri" pitchFamily="34" charset="0"/>
                <a:ea typeface="Calibri" pitchFamily="34" charset="-122"/>
                <a:cs typeface="Calibri" pitchFamily="34" charset="-120"/>
              </a:rPr>
              <a:t>Model telah mencapai kondisi konvergensi (menuju satu titik pemusatan) pada iterasi ke-100.</a:t>
            </a:r>
            <a:endParaRPr lang="en-US" sz="1100" dirty="0"/>
          </a:p>
        </p:txBody>
      </p:sp>
      <p:sp>
        <p:nvSpPr>
          <p:cNvPr id="13" name="Text 9"/>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14" name="Text 10"/>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3095244" cy="310896"/>
          </a:xfrm>
          <a:prstGeom prst="roundRect">
            <a:avLst>
              <a:gd name="adj" fmla="val 50000"/>
            </a:avLst>
          </a:prstGeom>
          <a:solidFill>
            <a:srgbClr val="12483F"/>
          </a:solidFill>
          <a:ln/>
        </p:spPr>
      </p:sp>
      <p:sp>
        <p:nvSpPr>
          <p:cNvPr id="3" name="Text 1"/>
          <p:cNvSpPr/>
          <p:nvPr/>
        </p:nvSpPr>
        <p:spPr>
          <a:xfrm>
            <a:off x="502920" y="411480"/>
            <a:ext cx="3095244"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09 | CORRELATED 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800" b="1" dirty="0">
                <a:solidFill>
                  <a:srgbClr val="0D3B33"/>
                </a:solidFill>
                <a:latin typeface="Cambria" pitchFamily="34" charset="0"/>
                <a:ea typeface="Cambria" pitchFamily="34" charset="-122"/>
                <a:cs typeface="Cambria" pitchFamily="34" charset="-120"/>
              </a:rPr>
              <a:t>Hasil Topik CTM</a:t>
            </a:r>
            <a:endParaRPr lang="en-US" sz="2800" dirty="0"/>
          </a:p>
        </p:txBody>
      </p:sp>
      <p:sp>
        <p:nvSpPr>
          <p:cNvPr id="5" name="Text 3"/>
          <p:cNvSpPr/>
          <p:nvPr/>
        </p:nvSpPr>
        <p:spPr>
          <a:xfrm>
            <a:off x="502920" y="1508760"/>
            <a:ext cx="7315200" cy="237744"/>
          </a:xfrm>
          <a:prstGeom prst="rect">
            <a:avLst/>
          </a:prstGeom>
          <a:noFill/>
          <a:ln/>
        </p:spPr>
        <p:txBody>
          <a:bodyPr wrap="square" rtlCol="0" anchor="ctr"/>
          <a:lstStyle/>
          <a:p>
            <a:pPr indent="0" marL="0">
              <a:buNone/>
            </a:pPr>
            <a:r>
              <a:rPr lang="en-US" sz="1050" b="1" spc="100" kern="0" dirty="0">
                <a:solidFill>
                  <a:srgbClr val="12483F"/>
                </a:solidFill>
                <a:latin typeface="Calibri" pitchFamily="34" charset="0"/>
                <a:ea typeface="Calibri" pitchFamily="34" charset="-122"/>
                <a:cs typeface="Calibri" pitchFamily="34" charset="-120"/>
              </a:rPr>
              <a:t>CONTOH INTERPRETASI — KORELASI ANTAR-TOPIK</a:t>
            </a:r>
            <a:endParaRPr lang="en-US" sz="1050" dirty="0"/>
          </a:p>
        </p:txBody>
      </p:sp>
      <p:sp>
        <p:nvSpPr>
          <p:cNvPr id="6" name="Shape 4"/>
          <p:cNvSpPr/>
          <p:nvPr/>
        </p:nvSpPr>
        <p:spPr>
          <a:xfrm>
            <a:off x="502920" y="1828800"/>
            <a:ext cx="6583680" cy="914400"/>
          </a:xfrm>
          <a:prstGeom prst="roundRect">
            <a:avLst>
              <a:gd name="adj" fmla="val 7000"/>
            </a:avLst>
          </a:prstGeom>
          <a:solidFill>
            <a:srgbClr val="F4F7F6"/>
          </a:solidFill>
          <a:ln w="9525">
            <a:solidFill>
              <a:srgbClr val="DCE5E2"/>
            </a:solidFill>
            <a:prstDash val="solid"/>
          </a:ln>
        </p:spPr>
      </p:sp>
      <p:sp>
        <p:nvSpPr>
          <p:cNvPr id="7" name="Shape 5"/>
          <p:cNvSpPr/>
          <p:nvPr/>
        </p:nvSpPr>
        <p:spPr>
          <a:xfrm>
            <a:off x="630936" y="1947672"/>
            <a:ext cx="1920240" cy="274320"/>
          </a:xfrm>
          <a:prstGeom prst="roundRect">
            <a:avLst>
              <a:gd name="adj" fmla="val 50000"/>
            </a:avLst>
          </a:prstGeom>
          <a:solidFill>
            <a:srgbClr val="12483F"/>
          </a:solidFill>
          <a:ln/>
        </p:spPr>
      </p:sp>
      <p:sp>
        <p:nvSpPr>
          <p:cNvPr id="8" name="Text 6"/>
          <p:cNvSpPr/>
          <p:nvPr/>
        </p:nvSpPr>
        <p:spPr>
          <a:xfrm>
            <a:off x="630936" y="1947672"/>
            <a:ext cx="192024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Topic 1 ↔ Topic 2 = 0.12</a:t>
            </a:r>
            <a:endParaRPr lang="en-US" sz="900" dirty="0"/>
          </a:p>
        </p:txBody>
      </p:sp>
      <p:sp>
        <p:nvSpPr>
          <p:cNvPr id="9" name="Text 7"/>
          <p:cNvSpPr/>
          <p:nvPr/>
        </p:nvSpPr>
        <p:spPr>
          <a:xfrm>
            <a:off x="630936" y="2249424"/>
            <a:ext cx="6309360" cy="256032"/>
          </a:xfrm>
          <a:prstGeom prst="rect">
            <a:avLst/>
          </a:prstGeom>
          <a:noFill/>
          <a:ln/>
        </p:spPr>
        <p:txBody>
          <a:bodyPr wrap="square" rtlCol="0" anchor="t"/>
          <a:lstStyle/>
          <a:p>
            <a:pPr indent="0" marL="0">
              <a:buNone/>
            </a:pPr>
            <a:r>
              <a:rPr lang="en-US" sz="830" i="1" dirty="0">
                <a:solidFill>
                  <a:srgbClr val="6B7A77"/>
                </a:solidFill>
                <a:latin typeface="Calibri" pitchFamily="34" charset="0"/>
                <a:ea typeface="Calibri" pitchFamily="34" charset="-122"/>
                <a:cs typeface="Calibri" pitchFamily="34" charset="-120"/>
              </a:rPr>
              <a:t>Kebenaran – Rosul · Janji Allah – Bukti Kerasulan · Setan – Pendusta · Ajaran – Datang Pembuktian</a:t>
            </a:r>
            <a:endParaRPr lang="en-US" sz="830" dirty="0"/>
          </a:p>
        </p:txBody>
      </p:sp>
      <p:sp>
        <p:nvSpPr>
          <p:cNvPr id="10" name="Text 8"/>
          <p:cNvSpPr/>
          <p:nvPr/>
        </p:nvSpPr>
        <p:spPr>
          <a:xfrm>
            <a:off x="630936" y="2468880"/>
            <a:ext cx="6309360" cy="256032"/>
          </a:xfrm>
          <a:prstGeom prst="rect">
            <a:avLst/>
          </a:prstGeom>
          <a:noFill/>
          <a:ln/>
        </p:spPr>
        <p:txBody>
          <a:bodyPr wrap="square" rtlCol="0" anchor="t"/>
          <a:lstStyle/>
          <a:p>
            <a:pPr indent="0" marL="0">
              <a:buNone/>
            </a:pPr>
            <a:r>
              <a:rPr lang="en-US" sz="900" dirty="0">
                <a:solidFill>
                  <a:srgbClr val="374644"/>
                </a:solidFill>
                <a:latin typeface="Calibri" pitchFamily="34" charset="0"/>
                <a:ea typeface="Calibri" pitchFamily="34" charset="-122"/>
                <a:cs typeface="Calibri" pitchFamily="34" charset="-120"/>
              </a:rPr>
              <a:t>Ketika Al-Qur’an membahas Rosul, sering juga dibahas pembenaran ajaran, gangguan setan, dan pendustaan orang-orang kafir.</a:t>
            </a:r>
            <a:endParaRPr lang="en-US" sz="900" dirty="0"/>
          </a:p>
        </p:txBody>
      </p:sp>
      <p:sp>
        <p:nvSpPr>
          <p:cNvPr id="11" name="Shape 9"/>
          <p:cNvSpPr/>
          <p:nvPr/>
        </p:nvSpPr>
        <p:spPr>
          <a:xfrm>
            <a:off x="502920" y="2871216"/>
            <a:ext cx="6583680" cy="914400"/>
          </a:xfrm>
          <a:prstGeom prst="roundRect">
            <a:avLst>
              <a:gd name="adj" fmla="val 7000"/>
            </a:avLst>
          </a:prstGeom>
          <a:solidFill>
            <a:srgbClr val="F4F7F6"/>
          </a:solidFill>
          <a:ln w="9525">
            <a:solidFill>
              <a:srgbClr val="DCE5E2"/>
            </a:solidFill>
            <a:prstDash val="solid"/>
          </a:ln>
        </p:spPr>
      </p:sp>
      <p:sp>
        <p:nvSpPr>
          <p:cNvPr id="12" name="Shape 10"/>
          <p:cNvSpPr/>
          <p:nvPr/>
        </p:nvSpPr>
        <p:spPr>
          <a:xfrm>
            <a:off x="630936" y="2990088"/>
            <a:ext cx="1920240" cy="274320"/>
          </a:xfrm>
          <a:prstGeom prst="roundRect">
            <a:avLst>
              <a:gd name="adj" fmla="val 50000"/>
            </a:avLst>
          </a:prstGeom>
          <a:solidFill>
            <a:srgbClr val="12483F"/>
          </a:solidFill>
          <a:ln/>
        </p:spPr>
      </p:sp>
      <p:sp>
        <p:nvSpPr>
          <p:cNvPr id="13" name="Text 11"/>
          <p:cNvSpPr/>
          <p:nvPr/>
        </p:nvSpPr>
        <p:spPr>
          <a:xfrm>
            <a:off x="630936" y="2990088"/>
            <a:ext cx="192024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Topic 0 ↔ Topic 1 = 0.10</a:t>
            </a:r>
            <a:endParaRPr lang="en-US" sz="900" dirty="0"/>
          </a:p>
        </p:txBody>
      </p:sp>
      <p:sp>
        <p:nvSpPr>
          <p:cNvPr id="14" name="Text 12"/>
          <p:cNvSpPr/>
          <p:nvPr/>
        </p:nvSpPr>
        <p:spPr>
          <a:xfrm>
            <a:off x="630936" y="3291840"/>
            <a:ext cx="6309360" cy="256032"/>
          </a:xfrm>
          <a:prstGeom prst="rect">
            <a:avLst/>
          </a:prstGeom>
          <a:noFill/>
          <a:ln/>
        </p:spPr>
        <p:txBody>
          <a:bodyPr wrap="square" rtlCol="0" anchor="t"/>
          <a:lstStyle/>
          <a:p>
            <a:pPr indent="0" marL="0">
              <a:buNone/>
            </a:pPr>
            <a:r>
              <a:rPr lang="en-US" sz="830" i="1" dirty="0">
                <a:solidFill>
                  <a:srgbClr val="6B7A77"/>
                </a:solidFill>
                <a:latin typeface="Calibri" pitchFamily="34" charset="0"/>
                <a:ea typeface="Calibri" pitchFamily="34" charset="-122"/>
                <a:cs typeface="Calibri" pitchFamily="34" charset="-120"/>
              </a:rPr>
              <a:t>Ayat – Kebenaran · Setan – Perbuatan Dosa · Ingat – Ajaran Allah · Baca &amp; Dengar – Ambil Kebenaran</a:t>
            </a:r>
            <a:endParaRPr lang="en-US" sz="830" dirty="0"/>
          </a:p>
        </p:txBody>
      </p:sp>
      <p:sp>
        <p:nvSpPr>
          <p:cNvPr id="15" name="Text 13"/>
          <p:cNvSpPr/>
          <p:nvPr/>
        </p:nvSpPr>
        <p:spPr>
          <a:xfrm>
            <a:off x="630936" y="3511296"/>
            <a:ext cx="6309360" cy="256032"/>
          </a:xfrm>
          <a:prstGeom prst="rect">
            <a:avLst/>
          </a:prstGeom>
          <a:noFill/>
          <a:ln/>
        </p:spPr>
        <p:txBody>
          <a:bodyPr wrap="square" rtlCol="0" anchor="t"/>
          <a:lstStyle/>
          <a:p>
            <a:pPr indent="0" marL="0">
              <a:buNone/>
            </a:pPr>
            <a:r>
              <a:rPr lang="en-US" sz="900" dirty="0">
                <a:solidFill>
                  <a:srgbClr val="374644"/>
                </a:solidFill>
                <a:latin typeface="Calibri" pitchFamily="34" charset="0"/>
                <a:ea typeface="Calibri" pitchFamily="34" charset="-122"/>
                <a:cs typeface="Calibri" pitchFamily="34" charset="-120"/>
              </a:rPr>
              <a:t>Ayat-ayat Allah merupakan kebenaran yang harus dibaca.</a:t>
            </a:r>
            <a:endParaRPr lang="en-US" sz="900" dirty="0"/>
          </a:p>
        </p:txBody>
      </p:sp>
      <p:sp>
        <p:nvSpPr>
          <p:cNvPr id="16" name="Shape 14"/>
          <p:cNvSpPr/>
          <p:nvPr/>
        </p:nvSpPr>
        <p:spPr>
          <a:xfrm>
            <a:off x="502920" y="3913632"/>
            <a:ext cx="6583680" cy="914400"/>
          </a:xfrm>
          <a:prstGeom prst="roundRect">
            <a:avLst>
              <a:gd name="adj" fmla="val 7000"/>
            </a:avLst>
          </a:prstGeom>
          <a:solidFill>
            <a:srgbClr val="F4F7F6"/>
          </a:solidFill>
          <a:ln w="9525">
            <a:solidFill>
              <a:srgbClr val="DCE5E2"/>
            </a:solidFill>
            <a:prstDash val="solid"/>
          </a:ln>
        </p:spPr>
      </p:sp>
      <p:sp>
        <p:nvSpPr>
          <p:cNvPr id="17" name="Shape 15"/>
          <p:cNvSpPr/>
          <p:nvPr/>
        </p:nvSpPr>
        <p:spPr>
          <a:xfrm>
            <a:off x="630936" y="4032504"/>
            <a:ext cx="1920240" cy="274320"/>
          </a:xfrm>
          <a:prstGeom prst="roundRect">
            <a:avLst>
              <a:gd name="adj" fmla="val 50000"/>
            </a:avLst>
          </a:prstGeom>
          <a:solidFill>
            <a:srgbClr val="12483F"/>
          </a:solidFill>
          <a:ln/>
        </p:spPr>
      </p:sp>
      <p:sp>
        <p:nvSpPr>
          <p:cNvPr id="18" name="Text 16"/>
          <p:cNvSpPr/>
          <p:nvPr/>
        </p:nvSpPr>
        <p:spPr>
          <a:xfrm>
            <a:off x="630936" y="4032504"/>
            <a:ext cx="192024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Topic 5 ↔ Topic 3 = 0.10</a:t>
            </a:r>
            <a:endParaRPr lang="en-US" sz="900" dirty="0"/>
          </a:p>
        </p:txBody>
      </p:sp>
      <p:sp>
        <p:nvSpPr>
          <p:cNvPr id="19" name="Text 17"/>
          <p:cNvSpPr/>
          <p:nvPr/>
        </p:nvSpPr>
        <p:spPr>
          <a:xfrm>
            <a:off x="630936" y="4334256"/>
            <a:ext cx="6309360" cy="256032"/>
          </a:xfrm>
          <a:prstGeom prst="rect">
            <a:avLst/>
          </a:prstGeom>
          <a:noFill/>
          <a:ln/>
        </p:spPr>
        <p:txBody>
          <a:bodyPr wrap="square" rtlCol="0" anchor="t"/>
          <a:lstStyle/>
          <a:p>
            <a:pPr indent="0" marL="0">
              <a:buNone/>
            </a:pPr>
            <a:r>
              <a:rPr lang="en-US" sz="830" i="1" dirty="0">
                <a:solidFill>
                  <a:srgbClr val="6B7A77"/>
                </a:solidFill>
                <a:latin typeface="Calibri" pitchFamily="34" charset="0"/>
                <a:ea typeface="Calibri" pitchFamily="34" charset="-122"/>
                <a:cs typeface="Calibri" pitchFamily="34" charset="-120"/>
              </a:rPr>
              <a:t>Bumi – Langit · Hidup – Mati, Waktu · Tanda Kekuasaan Allah</a:t>
            </a:r>
            <a:endParaRPr lang="en-US" sz="830" dirty="0"/>
          </a:p>
        </p:txBody>
      </p:sp>
      <p:sp>
        <p:nvSpPr>
          <p:cNvPr id="20" name="Text 18"/>
          <p:cNvSpPr/>
          <p:nvPr/>
        </p:nvSpPr>
        <p:spPr>
          <a:xfrm>
            <a:off x="630936" y="4553712"/>
            <a:ext cx="6309360" cy="256032"/>
          </a:xfrm>
          <a:prstGeom prst="rect">
            <a:avLst/>
          </a:prstGeom>
          <a:noFill/>
          <a:ln/>
        </p:spPr>
        <p:txBody>
          <a:bodyPr wrap="square" rtlCol="0" anchor="t"/>
          <a:lstStyle/>
          <a:p>
            <a:pPr indent="0" marL="0">
              <a:buNone/>
            </a:pPr>
            <a:r>
              <a:rPr lang="en-US" sz="900" dirty="0">
                <a:solidFill>
                  <a:srgbClr val="374644"/>
                </a:solidFill>
                <a:latin typeface="Calibri" pitchFamily="34" charset="0"/>
                <a:ea typeface="Calibri" pitchFamily="34" charset="-122"/>
                <a:cs typeface="Calibri" pitchFamily="34" charset="-120"/>
              </a:rPr>
              <a:t>Membahas penciptaan alam dan kekuasaan Allah.</a:t>
            </a:r>
            <a:endParaRPr lang="en-US" sz="900" dirty="0"/>
          </a:p>
        </p:txBody>
      </p:sp>
      <p:pic>
        <p:nvPicPr>
          <p:cNvPr id="21" name="Image 0" descr="/home/claude/assets/ctm_topic_viz1.png">    </p:cNvPr>
          <p:cNvPicPr>
            <a:picLocks noChangeAspect="1"/>
          </p:cNvPicPr>
          <p:nvPr/>
        </p:nvPicPr>
        <p:blipFill>
          <a:blip r:embed="rId1"/>
          <a:stretch>
            <a:fillRect/>
          </a:stretch>
        </p:blipFill>
        <p:spPr>
          <a:xfrm>
            <a:off x="7772400" y="1691640"/>
            <a:ext cx="1783080" cy="3566160"/>
          </a:xfrm>
          <a:prstGeom prst="rect">
            <a:avLst/>
          </a:prstGeom>
        </p:spPr>
      </p:pic>
      <p:pic>
        <p:nvPicPr>
          <p:cNvPr id="22" name="Image 1" descr="/home/claude/assets/ctm_topic_viz2.png">    </p:cNvPr>
          <p:cNvPicPr>
            <a:picLocks noChangeAspect="1"/>
          </p:cNvPicPr>
          <p:nvPr/>
        </p:nvPicPr>
        <p:blipFill>
          <a:blip r:embed="rId2"/>
          <a:stretch>
            <a:fillRect/>
          </a:stretch>
        </p:blipFill>
        <p:spPr>
          <a:xfrm>
            <a:off x="9692640" y="1691640"/>
            <a:ext cx="1993392" cy="1819656"/>
          </a:xfrm>
          <a:prstGeom prst="rect">
            <a:avLst/>
          </a:prstGeom>
        </p:spPr>
      </p:pic>
      <p:sp>
        <p:nvSpPr>
          <p:cNvPr id="23" name="Text 19"/>
          <p:cNvSpPr/>
          <p:nvPr/>
        </p:nvSpPr>
        <p:spPr>
          <a:xfrm>
            <a:off x="7772400" y="5349240"/>
            <a:ext cx="3913632" cy="274320"/>
          </a:xfrm>
          <a:prstGeom prst="rect">
            <a:avLst/>
          </a:prstGeom>
          <a:noFill/>
          <a:ln/>
        </p:spPr>
        <p:txBody>
          <a:bodyPr wrap="square" rtlCol="0" anchor="ctr"/>
          <a:lstStyle/>
          <a:p>
            <a:pPr algn="ctr" indent="0" marL="0">
              <a:buNone/>
            </a:pPr>
            <a:r>
              <a:rPr lang="en-US" sz="850" i="1" dirty="0">
                <a:solidFill>
                  <a:srgbClr val="6B7A77"/>
                </a:solidFill>
                <a:latin typeface="Calibri" pitchFamily="34" charset="0"/>
                <a:ea typeface="Calibri" pitchFamily="34" charset="-122"/>
                <a:cs typeface="Calibri" pitchFamily="34" charset="-120"/>
              </a:rPr>
              <a:t>Visualisasi korelasi &amp; sebaran topik CTM</a:t>
            </a:r>
            <a:endParaRPr lang="en-US" sz="850" dirty="0"/>
          </a:p>
        </p:txBody>
      </p:sp>
      <p:sp>
        <p:nvSpPr>
          <p:cNvPr id="24" name="Shape 20"/>
          <p:cNvSpPr/>
          <p:nvPr/>
        </p:nvSpPr>
        <p:spPr>
          <a:xfrm>
            <a:off x="502920" y="5074920"/>
            <a:ext cx="6583680" cy="822960"/>
          </a:xfrm>
          <a:prstGeom prst="roundRect">
            <a:avLst>
              <a:gd name="adj" fmla="val 7778"/>
            </a:avLst>
          </a:prstGeom>
          <a:solidFill>
            <a:srgbClr val="F3F7F6"/>
          </a:solidFill>
          <a:ln w="12700">
            <a:solidFill>
              <a:srgbClr val="E6EEEB"/>
            </a:solidFill>
            <a:prstDash val="solid"/>
          </a:ln>
        </p:spPr>
      </p:sp>
      <p:sp>
        <p:nvSpPr>
          <p:cNvPr id="25" name="Shape 21"/>
          <p:cNvSpPr/>
          <p:nvPr/>
        </p:nvSpPr>
        <p:spPr>
          <a:xfrm>
            <a:off x="649224" y="5202936"/>
            <a:ext cx="82296" cy="82296"/>
          </a:xfrm>
          <a:prstGeom prst="roundRect">
            <a:avLst>
              <a:gd name="adj" fmla="val 50000"/>
            </a:avLst>
          </a:prstGeom>
          <a:solidFill>
            <a:srgbClr val="C79A45"/>
          </a:solidFill>
          <a:ln/>
        </p:spPr>
      </p:sp>
      <p:sp>
        <p:nvSpPr>
          <p:cNvPr id="26" name="Text 22"/>
          <p:cNvSpPr/>
          <p:nvPr/>
        </p:nvSpPr>
        <p:spPr>
          <a:xfrm>
            <a:off x="813816" y="5148072"/>
            <a:ext cx="6126480"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CATATAN AKADEMIK</a:t>
            </a:r>
            <a:endParaRPr lang="en-US" sz="950" dirty="0"/>
          </a:p>
        </p:txBody>
      </p:sp>
      <p:sp>
        <p:nvSpPr>
          <p:cNvPr id="27" name="Text 23"/>
          <p:cNvSpPr/>
          <p:nvPr/>
        </p:nvSpPr>
        <p:spPr>
          <a:xfrm>
            <a:off x="649224" y="5385816"/>
            <a:ext cx="6291072" cy="438912"/>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Nilai korelasi antar-topik (0.10–0.12) menunjukkan keterkaitan yang moderat — wajar pada CTM karena model ini secara eksplisit memodelkan struktur korelasi logistic-normal antar-topik, berbeda dari LDA yang mengasumsikan independensi topik.</a:t>
            </a:r>
            <a:endParaRPr lang="en-US" sz="1000" dirty="0"/>
          </a:p>
        </p:txBody>
      </p:sp>
      <p:sp>
        <p:nvSpPr>
          <p:cNvPr id="28" name="Text 24"/>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29" name="Text 25"/>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3095244" cy="310896"/>
          </a:xfrm>
          <a:prstGeom prst="roundRect">
            <a:avLst>
              <a:gd name="adj" fmla="val 50000"/>
            </a:avLst>
          </a:prstGeom>
          <a:solidFill>
            <a:srgbClr val="12483F"/>
          </a:solidFill>
          <a:ln/>
        </p:spPr>
      </p:sp>
      <p:sp>
        <p:nvSpPr>
          <p:cNvPr id="3" name="Text 1"/>
          <p:cNvSpPr/>
          <p:nvPr/>
        </p:nvSpPr>
        <p:spPr>
          <a:xfrm>
            <a:off x="502920" y="411480"/>
            <a:ext cx="3095244"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11 | CORRELATED 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800" b="1" dirty="0">
                <a:solidFill>
                  <a:srgbClr val="0D3B33"/>
                </a:solidFill>
                <a:latin typeface="Cambria" pitchFamily="34" charset="0"/>
                <a:ea typeface="Cambria" pitchFamily="34" charset="-122"/>
                <a:cs typeface="Cambria" pitchFamily="34" charset="-120"/>
              </a:rPr>
              <a:t>Evaluasi Model</a:t>
            </a:r>
            <a:endParaRPr lang="en-US" sz="2800" dirty="0"/>
          </a:p>
        </p:txBody>
      </p:sp>
      <p:sp>
        <p:nvSpPr>
          <p:cNvPr id="5" name="Shape 3"/>
          <p:cNvSpPr/>
          <p:nvPr/>
        </p:nvSpPr>
        <p:spPr>
          <a:xfrm>
            <a:off x="502920" y="1645920"/>
            <a:ext cx="2126894" cy="1371600"/>
          </a:xfrm>
          <a:prstGeom prst="roundRect">
            <a:avLst>
              <a:gd name="adj" fmla="val 5333"/>
            </a:avLst>
          </a:prstGeom>
          <a:solidFill>
            <a:srgbClr val="F4F7F6"/>
          </a:solidFill>
          <a:ln w="9525">
            <a:solidFill>
              <a:srgbClr val="DCE5E2"/>
            </a:solidFill>
            <a:prstDash val="solid"/>
          </a:ln>
        </p:spPr>
      </p:sp>
      <p:sp>
        <p:nvSpPr>
          <p:cNvPr id="6" name="Text 4"/>
          <p:cNvSpPr/>
          <p:nvPr/>
        </p:nvSpPr>
        <p:spPr>
          <a:xfrm>
            <a:off x="502920" y="1755648"/>
            <a:ext cx="2126894" cy="274320"/>
          </a:xfrm>
          <a:prstGeom prst="rect">
            <a:avLst/>
          </a:prstGeom>
          <a:noFill/>
          <a:ln/>
        </p:spPr>
        <p:txBody>
          <a:bodyPr wrap="square" rtlCol="0" anchor="ctr"/>
          <a:lstStyle/>
          <a:p>
            <a:pPr algn="ctr" indent="0" marL="0">
              <a:buNone/>
            </a:pPr>
            <a:r>
              <a:rPr lang="en-US" sz="1050" b="1" dirty="0">
                <a:solidFill>
                  <a:srgbClr val="12483F"/>
                </a:solidFill>
                <a:latin typeface="Calibri" pitchFamily="34" charset="0"/>
                <a:ea typeface="Calibri" pitchFamily="34" charset="-122"/>
                <a:cs typeface="Calibri" pitchFamily="34" charset="-120"/>
              </a:rPr>
              <a:t>C_v</a:t>
            </a:r>
            <a:endParaRPr lang="en-US" sz="1050" dirty="0"/>
          </a:p>
        </p:txBody>
      </p:sp>
      <p:sp>
        <p:nvSpPr>
          <p:cNvPr id="7" name="Text 5"/>
          <p:cNvSpPr/>
          <p:nvPr/>
        </p:nvSpPr>
        <p:spPr>
          <a:xfrm>
            <a:off x="502920" y="2011680"/>
            <a:ext cx="2126894" cy="566928"/>
          </a:xfrm>
          <a:prstGeom prst="rect">
            <a:avLst/>
          </a:prstGeom>
          <a:noFill/>
          <a:ln/>
        </p:spPr>
        <p:txBody>
          <a:bodyPr wrap="square" rtlCol="0" anchor="ctr"/>
          <a:lstStyle/>
          <a:p>
            <a:pPr algn="ctr" indent="0" marL="0">
              <a:buNone/>
            </a:pPr>
            <a:r>
              <a:rPr lang="en-US" sz="2200" b="1" dirty="0">
                <a:solidFill>
                  <a:srgbClr val="1D5F53"/>
                </a:solidFill>
                <a:latin typeface="Cambria" pitchFamily="34" charset="0"/>
                <a:ea typeface="Cambria" pitchFamily="34" charset="-122"/>
                <a:cs typeface="Cambria" pitchFamily="34" charset="-120"/>
              </a:rPr>
              <a:t>0.517</a:t>
            </a:r>
            <a:endParaRPr lang="en-US" sz="2200" dirty="0"/>
          </a:p>
        </p:txBody>
      </p:sp>
      <p:sp>
        <p:nvSpPr>
          <p:cNvPr id="8" name="Text 6"/>
          <p:cNvSpPr/>
          <p:nvPr/>
        </p:nvSpPr>
        <p:spPr>
          <a:xfrm>
            <a:off x="576072" y="2615184"/>
            <a:ext cx="1980590" cy="365760"/>
          </a:xfrm>
          <a:prstGeom prst="rect">
            <a:avLst/>
          </a:prstGeom>
          <a:noFill/>
          <a:ln/>
        </p:spPr>
        <p:txBody>
          <a:bodyPr wrap="square" rtlCol="0" anchor="t"/>
          <a:lstStyle/>
          <a:p>
            <a:pPr algn="ctr" indent="0" marL="0">
              <a:lnSpc>
                <a:spcPct val="105000"/>
              </a:lnSpc>
              <a:buNone/>
            </a:pPr>
            <a:r>
              <a:rPr lang="en-US" sz="780" dirty="0">
                <a:solidFill>
                  <a:srgbClr val="6B7A77"/>
                </a:solidFill>
                <a:latin typeface="Calibri" pitchFamily="34" charset="0"/>
                <a:ea typeface="Calibri" pitchFamily="34" charset="-122"/>
                <a:cs typeface="Calibri" pitchFamily="34" charset="-120"/>
              </a:rPr>
              <a:t>&gt; 0.5 — koherensi baik</a:t>
            </a:r>
            <a:endParaRPr lang="en-US" sz="780" dirty="0"/>
          </a:p>
        </p:txBody>
      </p:sp>
      <p:sp>
        <p:nvSpPr>
          <p:cNvPr id="9" name="Shape 7"/>
          <p:cNvSpPr/>
          <p:nvPr/>
        </p:nvSpPr>
        <p:spPr>
          <a:xfrm>
            <a:off x="2766974" y="1645920"/>
            <a:ext cx="2126894" cy="1371600"/>
          </a:xfrm>
          <a:prstGeom prst="roundRect">
            <a:avLst>
              <a:gd name="adj" fmla="val 5333"/>
            </a:avLst>
          </a:prstGeom>
          <a:solidFill>
            <a:srgbClr val="F4F7F6"/>
          </a:solidFill>
          <a:ln w="9525">
            <a:solidFill>
              <a:srgbClr val="DCE5E2"/>
            </a:solidFill>
            <a:prstDash val="solid"/>
          </a:ln>
        </p:spPr>
      </p:sp>
      <p:sp>
        <p:nvSpPr>
          <p:cNvPr id="10" name="Text 8"/>
          <p:cNvSpPr/>
          <p:nvPr/>
        </p:nvSpPr>
        <p:spPr>
          <a:xfrm>
            <a:off x="2766974" y="1755648"/>
            <a:ext cx="2126894" cy="274320"/>
          </a:xfrm>
          <a:prstGeom prst="rect">
            <a:avLst/>
          </a:prstGeom>
          <a:noFill/>
          <a:ln/>
        </p:spPr>
        <p:txBody>
          <a:bodyPr wrap="square" rtlCol="0" anchor="ctr"/>
          <a:lstStyle/>
          <a:p>
            <a:pPr algn="ctr" indent="0" marL="0">
              <a:buNone/>
            </a:pPr>
            <a:r>
              <a:rPr lang="en-US" sz="1050" b="1" dirty="0">
                <a:solidFill>
                  <a:srgbClr val="12483F"/>
                </a:solidFill>
                <a:latin typeface="Calibri" pitchFamily="34" charset="0"/>
                <a:ea typeface="Calibri" pitchFamily="34" charset="-122"/>
                <a:cs typeface="Calibri" pitchFamily="34" charset="-120"/>
              </a:rPr>
              <a:t>NPMI</a:t>
            </a:r>
            <a:endParaRPr lang="en-US" sz="1050" dirty="0"/>
          </a:p>
        </p:txBody>
      </p:sp>
      <p:sp>
        <p:nvSpPr>
          <p:cNvPr id="11" name="Text 9"/>
          <p:cNvSpPr/>
          <p:nvPr/>
        </p:nvSpPr>
        <p:spPr>
          <a:xfrm>
            <a:off x="2766974" y="2011680"/>
            <a:ext cx="2126894" cy="566928"/>
          </a:xfrm>
          <a:prstGeom prst="rect">
            <a:avLst/>
          </a:prstGeom>
          <a:noFill/>
          <a:ln/>
        </p:spPr>
        <p:txBody>
          <a:bodyPr wrap="square" rtlCol="0" anchor="ctr"/>
          <a:lstStyle/>
          <a:p>
            <a:pPr algn="ctr" indent="0" marL="0">
              <a:buNone/>
            </a:pPr>
            <a:r>
              <a:rPr lang="en-US" sz="2200" b="1" dirty="0">
                <a:solidFill>
                  <a:srgbClr val="C79A45"/>
                </a:solidFill>
                <a:latin typeface="Cambria" pitchFamily="34" charset="0"/>
                <a:ea typeface="Cambria" pitchFamily="34" charset="-122"/>
                <a:cs typeface="Cambria" pitchFamily="34" charset="-120"/>
              </a:rPr>
              <a:t>-0.022</a:t>
            </a:r>
            <a:endParaRPr lang="en-US" sz="2200" dirty="0"/>
          </a:p>
        </p:txBody>
      </p:sp>
      <p:sp>
        <p:nvSpPr>
          <p:cNvPr id="12" name="Text 10"/>
          <p:cNvSpPr/>
          <p:nvPr/>
        </p:nvSpPr>
        <p:spPr>
          <a:xfrm>
            <a:off x="2840126" y="2615184"/>
            <a:ext cx="1980590" cy="365760"/>
          </a:xfrm>
          <a:prstGeom prst="rect">
            <a:avLst/>
          </a:prstGeom>
          <a:noFill/>
          <a:ln/>
        </p:spPr>
        <p:txBody>
          <a:bodyPr wrap="square" rtlCol="0" anchor="t"/>
          <a:lstStyle/>
          <a:p>
            <a:pPr algn="ctr" indent="0" marL="0">
              <a:lnSpc>
                <a:spcPct val="105000"/>
              </a:lnSpc>
              <a:buNone/>
            </a:pPr>
            <a:r>
              <a:rPr lang="en-US" sz="780" dirty="0">
                <a:solidFill>
                  <a:srgbClr val="6B7A77"/>
                </a:solidFill>
                <a:latin typeface="Calibri" pitchFamily="34" charset="0"/>
                <a:ea typeface="Calibri" pitchFamily="34" charset="-122"/>
                <a:cs typeface="Calibri" pitchFamily="34" charset="-120"/>
              </a:rPr>
              <a:t>mendekati 0 — hubungan lemah</a:t>
            </a:r>
            <a:endParaRPr lang="en-US" sz="780" dirty="0"/>
          </a:p>
        </p:txBody>
      </p:sp>
      <p:sp>
        <p:nvSpPr>
          <p:cNvPr id="13" name="Shape 11"/>
          <p:cNvSpPr/>
          <p:nvPr/>
        </p:nvSpPr>
        <p:spPr>
          <a:xfrm>
            <a:off x="5031029" y="1645920"/>
            <a:ext cx="2126894" cy="1371600"/>
          </a:xfrm>
          <a:prstGeom prst="roundRect">
            <a:avLst>
              <a:gd name="adj" fmla="val 5333"/>
            </a:avLst>
          </a:prstGeom>
          <a:solidFill>
            <a:srgbClr val="F4F7F6"/>
          </a:solidFill>
          <a:ln w="9525">
            <a:solidFill>
              <a:srgbClr val="DCE5E2"/>
            </a:solidFill>
            <a:prstDash val="solid"/>
          </a:ln>
        </p:spPr>
      </p:sp>
      <p:sp>
        <p:nvSpPr>
          <p:cNvPr id="14" name="Text 12"/>
          <p:cNvSpPr/>
          <p:nvPr/>
        </p:nvSpPr>
        <p:spPr>
          <a:xfrm>
            <a:off x="5031029" y="1755648"/>
            <a:ext cx="2126894" cy="274320"/>
          </a:xfrm>
          <a:prstGeom prst="rect">
            <a:avLst/>
          </a:prstGeom>
          <a:noFill/>
          <a:ln/>
        </p:spPr>
        <p:txBody>
          <a:bodyPr wrap="square" rtlCol="0" anchor="ctr"/>
          <a:lstStyle/>
          <a:p>
            <a:pPr algn="ctr" indent="0" marL="0">
              <a:buNone/>
            </a:pPr>
            <a:r>
              <a:rPr lang="en-US" sz="1050" b="1" dirty="0">
                <a:solidFill>
                  <a:srgbClr val="12483F"/>
                </a:solidFill>
                <a:latin typeface="Calibri" pitchFamily="34" charset="0"/>
                <a:ea typeface="Calibri" pitchFamily="34" charset="-122"/>
                <a:cs typeface="Calibri" pitchFamily="34" charset="-120"/>
              </a:rPr>
              <a:t>UMass</a:t>
            </a:r>
            <a:endParaRPr lang="en-US" sz="1050" dirty="0"/>
          </a:p>
        </p:txBody>
      </p:sp>
      <p:sp>
        <p:nvSpPr>
          <p:cNvPr id="15" name="Text 13"/>
          <p:cNvSpPr/>
          <p:nvPr/>
        </p:nvSpPr>
        <p:spPr>
          <a:xfrm>
            <a:off x="5031029" y="2011680"/>
            <a:ext cx="2126894" cy="566928"/>
          </a:xfrm>
          <a:prstGeom prst="rect">
            <a:avLst/>
          </a:prstGeom>
          <a:noFill/>
          <a:ln/>
        </p:spPr>
        <p:txBody>
          <a:bodyPr wrap="square" rtlCol="0" anchor="ctr"/>
          <a:lstStyle/>
          <a:p>
            <a:pPr algn="ctr" indent="0" marL="0">
              <a:buNone/>
            </a:pPr>
            <a:r>
              <a:rPr lang="en-US" sz="2200" b="1" dirty="0">
                <a:solidFill>
                  <a:srgbClr val="C79A45"/>
                </a:solidFill>
                <a:latin typeface="Cambria" pitchFamily="34" charset="0"/>
                <a:ea typeface="Cambria" pitchFamily="34" charset="-122"/>
                <a:cs typeface="Cambria" pitchFamily="34" charset="-120"/>
              </a:rPr>
              <a:t>-5.066</a:t>
            </a:r>
            <a:endParaRPr lang="en-US" sz="2200" dirty="0"/>
          </a:p>
        </p:txBody>
      </p:sp>
      <p:sp>
        <p:nvSpPr>
          <p:cNvPr id="16" name="Text 14"/>
          <p:cNvSpPr/>
          <p:nvPr/>
        </p:nvSpPr>
        <p:spPr>
          <a:xfrm>
            <a:off x="5104181" y="2615184"/>
            <a:ext cx="1980590" cy="365760"/>
          </a:xfrm>
          <a:prstGeom prst="rect">
            <a:avLst/>
          </a:prstGeom>
          <a:noFill/>
          <a:ln/>
        </p:spPr>
        <p:txBody>
          <a:bodyPr wrap="square" rtlCol="0" anchor="t"/>
          <a:lstStyle/>
          <a:p>
            <a:pPr algn="ctr" indent="0" marL="0">
              <a:lnSpc>
                <a:spcPct val="105000"/>
              </a:lnSpc>
              <a:buNone/>
            </a:pPr>
            <a:r>
              <a:rPr lang="en-US" sz="780" dirty="0">
                <a:solidFill>
                  <a:srgbClr val="6B7A77"/>
                </a:solidFill>
                <a:latin typeface="Calibri" pitchFamily="34" charset="0"/>
                <a:ea typeface="Calibri" pitchFamily="34" charset="-122"/>
                <a:cs typeface="Calibri" pitchFamily="34" charset="-120"/>
              </a:rPr>
              <a:t>-4 s/d -6 — sedang</a:t>
            </a:r>
            <a:endParaRPr lang="en-US" sz="780" dirty="0"/>
          </a:p>
        </p:txBody>
      </p:sp>
      <p:sp>
        <p:nvSpPr>
          <p:cNvPr id="17" name="Shape 15"/>
          <p:cNvSpPr/>
          <p:nvPr/>
        </p:nvSpPr>
        <p:spPr>
          <a:xfrm>
            <a:off x="7295083" y="1645920"/>
            <a:ext cx="2126894" cy="1371600"/>
          </a:xfrm>
          <a:prstGeom prst="roundRect">
            <a:avLst>
              <a:gd name="adj" fmla="val 5333"/>
            </a:avLst>
          </a:prstGeom>
          <a:solidFill>
            <a:srgbClr val="F4F7F6"/>
          </a:solidFill>
          <a:ln w="9525">
            <a:solidFill>
              <a:srgbClr val="DCE5E2"/>
            </a:solidFill>
            <a:prstDash val="solid"/>
          </a:ln>
        </p:spPr>
      </p:sp>
      <p:sp>
        <p:nvSpPr>
          <p:cNvPr id="18" name="Text 16"/>
          <p:cNvSpPr/>
          <p:nvPr/>
        </p:nvSpPr>
        <p:spPr>
          <a:xfrm>
            <a:off x="7295083" y="1755648"/>
            <a:ext cx="2126894" cy="274320"/>
          </a:xfrm>
          <a:prstGeom prst="rect">
            <a:avLst/>
          </a:prstGeom>
          <a:noFill/>
          <a:ln/>
        </p:spPr>
        <p:txBody>
          <a:bodyPr wrap="square" rtlCol="0" anchor="ctr"/>
          <a:lstStyle/>
          <a:p>
            <a:pPr algn="ctr" indent="0" marL="0">
              <a:buNone/>
            </a:pPr>
            <a:r>
              <a:rPr lang="en-US" sz="1050" b="1" dirty="0">
                <a:solidFill>
                  <a:srgbClr val="12483F"/>
                </a:solidFill>
                <a:latin typeface="Calibri" pitchFamily="34" charset="0"/>
                <a:ea typeface="Calibri" pitchFamily="34" charset="-122"/>
                <a:cs typeface="Calibri" pitchFamily="34" charset="-120"/>
              </a:rPr>
              <a:t>UCI</a:t>
            </a:r>
            <a:endParaRPr lang="en-US" sz="1050" dirty="0"/>
          </a:p>
        </p:txBody>
      </p:sp>
      <p:sp>
        <p:nvSpPr>
          <p:cNvPr id="19" name="Text 17"/>
          <p:cNvSpPr/>
          <p:nvPr/>
        </p:nvSpPr>
        <p:spPr>
          <a:xfrm>
            <a:off x="7295083" y="2011680"/>
            <a:ext cx="2126894" cy="566928"/>
          </a:xfrm>
          <a:prstGeom prst="rect">
            <a:avLst/>
          </a:prstGeom>
          <a:noFill/>
          <a:ln/>
        </p:spPr>
        <p:txBody>
          <a:bodyPr wrap="square" rtlCol="0" anchor="ctr"/>
          <a:lstStyle/>
          <a:p>
            <a:pPr algn="ctr" indent="0" marL="0">
              <a:buNone/>
            </a:pPr>
            <a:r>
              <a:rPr lang="en-US" sz="2200" b="1" dirty="0">
                <a:solidFill>
                  <a:srgbClr val="C79A45"/>
                </a:solidFill>
                <a:latin typeface="Cambria" pitchFamily="34" charset="0"/>
                <a:ea typeface="Cambria" pitchFamily="34" charset="-122"/>
                <a:cs typeface="Cambria" pitchFamily="34" charset="-120"/>
              </a:rPr>
              <a:t>-2.137</a:t>
            </a:r>
            <a:endParaRPr lang="en-US" sz="2200" dirty="0"/>
          </a:p>
        </p:txBody>
      </p:sp>
      <p:sp>
        <p:nvSpPr>
          <p:cNvPr id="20" name="Text 18"/>
          <p:cNvSpPr/>
          <p:nvPr/>
        </p:nvSpPr>
        <p:spPr>
          <a:xfrm>
            <a:off x="7368235" y="2615184"/>
            <a:ext cx="1980590" cy="365760"/>
          </a:xfrm>
          <a:prstGeom prst="rect">
            <a:avLst/>
          </a:prstGeom>
          <a:noFill/>
          <a:ln/>
        </p:spPr>
        <p:txBody>
          <a:bodyPr wrap="square" rtlCol="0" anchor="t"/>
          <a:lstStyle/>
          <a:p>
            <a:pPr algn="ctr" indent="0" marL="0">
              <a:lnSpc>
                <a:spcPct val="105000"/>
              </a:lnSpc>
              <a:buNone/>
            </a:pPr>
            <a:r>
              <a:rPr lang="en-US" sz="780" dirty="0">
                <a:solidFill>
                  <a:srgbClr val="6B7A77"/>
                </a:solidFill>
                <a:latin typeface="Calibri" pitchFamily="34" charset="0"/>
                <a:ea typeface="Calibri" pitchFamily="34" charset="-122"/>
                <a:cs typeface="Calibri" pitchFamily="34" charset="-120"/>
              </a:rPr>
              <a:t>&lt; 0 — hubungan lemah</a:t>
            </a:r>
            <a:endParaRPr lang="en-US" sz="780" dirty="0"/>
          </a:p>
        </p:txBody>
      </p:sp>
      <p:sp>
        <p:nvSpPr>
          <p:cNvPr id="21" name="Shape 19"/>
          <p:cNvSpPr/>
          <p:nvPr/>
        </p:nvSpPr>
        <p:spPr>
          <a:xfrm>
            <a:off x="9559138" y="1645920"/>
            <a:ext cx="2126894" cy="1371600"/>
          </a:xfrm>
          <a:prstGeom prst="roundRect">
            <a:avLst>
              <a:gd name="adj" fmla="val 5333"/>
            </a:avLst>
          </a:prstGeom>
          <a:solidFill>
            <a:srgbClr val="F4F7F6"/>
          </a:solidFill>
          <a:ln w="9525">
            <a:solidFill>
              <a:srgbClr val="DCE5E2"/>
            </a:solidFill>
            <a:prstDash val="solid"/>
          </a:ln>
        </p:spPr>
      </p:sp>
      <p:sp>
        <p:nvSpPr>
          <p:cNvPr id="22" name="Text 20"/>
          <p:cNvSpPr/>
          <p:nvPr/>
        </p:nvSpPr>
        <p:spPr>
          <a:xfrm>
            <a:off x="9559138" y="1755648"/>
            <a:ext cx="2126894" cy="274320"/>
          </a:xfrm>
          <a:prstGeom prst="rect">
            <a:avLst/>
          </a:prstGeom>
          <a:noFill/>
          <a:ln/>
        </p:spPr>
        <p:txBody>
          <a:bodyPr wrap="square" rtlCol="0" anchor="ctr"/>
          <a:lstStyle/>
          <a:p>
            <a:pPr algn="ctr" indent="0" marL="0">
              <a:buNone/>
            </a:pPr>
            <a:r>
              <a:rPr lang="en-US" sz="1050" b="1" dirty="0">
                <a:solidFill>
                  <a:srgbClr val="12483F"/>
                </a:solidFill>
                <a:latin typeface="Calibri" pitchFamily="34" charset="0"/>
                <a:ea typeface="Calibri" pitchFamily="34" charset="-122"/>
                <a:cs typeface="Calibri" pitchFamily="34" charset="-120"/>
              </a:rPr>
              <a:t>Perplexity</a:t>
            </a:r>
            <a:endParaRPr lang="en-US" sz="1050" dirty="0"/>
          </a:p>
        </p:txBody>
      </p:sp>
      <p:sp>
        <p:nvSpPr>
          <p:cNvPr id="23" name="Text 21"/>
          <p:cNvSpPr/>
          <p:nvPr/>
        </p:nvSpPr>
        <p:spPr>
          <a:xfrm>
            <a:off x="9559138" y="2011680"/>
            <a:ext cx="2126894" cy="566928"/>
          </a:xfrm>
          <a:prstGeom prst="rect">
            <a:avLst/>
          </a:prstGeom>
          <a:noFill/>
          <a:ln/>
        </p:spPr>
        <p:txBody>
          <a:bodyPr wrap="square" rtlCol="0" anchor="ctr"/>
          <a:lstStyle/>
          <a:p>
            <a:pPr algn="ctr" indent="0" marL="0">
              <a:buNone/>
            </a:pPr>
            <a:r>
              <a:rPr lang="en-US" sz="2200" b="1" dirty="0">
                <a:solidFill>
                  <a:srgbClr val="1D5F53"/>
                </a:solidFill>
                <a:latin typeface="Cambria" pitchFamily="34" charset="0"/>
                <a:ea typeface="Cambria" pitchFamily="34" charset="-122"/>
                <a:cs typeface="Cambria" pitchFamily="34" charset="-120"/>
              </a:rPr>
              <a:t>1720.28</a:t>
            </a:r>
            <a:endParaRPr lang="en-US" sz="2200" dirty="0"/>
          </a:p>
        </p:txBody>
      </p:sp>
      <p:sp>
        <p:nvSpPr>
          <p:cNvPr id="24" name="Text 22"/>
          <p:cNvSpPr/>
          <p:nvPr/>
        </p:nvSpPr>
        <p:spPr>
          <a:xfrm>
            <a:off x="9632290" y="2615184"/>
            <a:ext cx="1980590" cy="365760"/>
          </a:xfrm>
          <a:prstGeom prst="rect">
            <a:avLst/>
          </a:prstGeom>
          <a:noFill/>
          <a:ln/>
        </p:spPr>
        <p:txBody>
          <a:bodyPr wrap="square" rtlCol="0" anchor="t"/>
          <a:lstStyle/>
          <a:p>
            <a:pPr algn="ctr" indent="0" marL="0">
              <a:lnSpc>
                <a:spcPct val="105000"/>
              </a:lnSpc>
              <a:buNone/>
            </a:pPr>
            <a:r>
              <a:rPr lang="en-US" sz="780" dirty="0">
                <a:solidFill>
                  <a:srgbClr val="6B7A77"/>
                </a:solidFill>
                <a:latin typeface="Calibri" pitchFamily="34" charset="0"/>
                <a:ea typeface="Calibri" pitchFamily="34" charset="-122"/>
                <a:cs typeface="Calibri" pitchFamily="34" charset="-120"/>
              </a:rPr>
              <a:t>acuan model probabilistik</a:t>
            </a:r>
            <a:endParaRPr lang="en-US" sz="780" dirty="0"/>
          </a:p>
        </p:txBody>
      </p:sp>
      <p:sp>
        <p:nvSpPr>
          <p:cNvPr id="25" name="Text 23"/>
          <p:cNvSpPr/>
          <p:nvPr/>
        </p:nvSpPr>
        <p:spPr>
          <a:xfrm>
            <a:off x="502920" y="3246120"/>
            <a:ext cx="7315200" cy="237744"/>
          </a:xfrm>
          <a:prstGeom prst="rect">
            <a:avLst/>
          </a:prstGeom>
          <a:noFill/>
          <a:ln/>
        </p:spPr>
        <p:txBody>
          <a:bodyPr wrap="square" rtlCol="0" anchor="ctr"/>
          <a:lstStyle/>
          <a:p>
            <a:pPr indent="0" marL="0">
              <a:buNone/>
            </a:pPr>
            <a:r>
              <a:rPr lang="en-US" sz="1050" b="1" spc="100" kern="0" dirty="0">
                <a:solidFill>
                  <a:srgbClr val="12483F"/>
                </a:solidFill>
                <a:latin typeface="Calibri" pitchFamily="34" charset="0"/>
                <a:ea typeface="Calibri" pitchFamily="34" charset="-122"/>
                <a:cs typeface="Calibri" pitchFamily="34" charset="-120"/>
              </a:rPr>
              <a:t>INTERPRETASI HASIL</a:t>
            </a:r>
            <a:endParaRPr lang="en-US" sz="1050" dirty="0"/>
          </a:p>
        </p:txBody>
      </p:sp>
      <p:sp>
        <p:nvSpPr>
          <p:cNvPr id="26" name="Shape 24"/>
          <p:cNvSpPr/>
          <p:nvPr/>
        </p:nvSpPr>
        <p:spPr>
          <a:xfrm>
            <a:off x="530352" y="3630168"/>
            <a:ext cx="54864" cy="54864"/>
          </a:xfrm>
          <a:prstGeom prst="ellipse">
            <a:avLst/>
          </a:prstGeom>
          <a:solidFill>
            <a:srgbClr val="C79A45"/>
          </a:solidFill>
          <a:ln/>
        </p:spPr>
      </p:sp>
      <p:sp>
        <p:nvSpPr>
          <p:cNvPr id="27" name="Text 25"/>
          <p:cNvSpPr/>
          <p:nvPr/>
        </p:nvSpPr>
        <p:spPr>
          <a:xfrm>
            <a:off x="685800" y="3520440"/>
            <a:ext cx="6949440" cy="502920"/>
          </a:xfrm>
          <a:prstGeom prst="rect">
            <a:avLst/>
          </a:prstGeom>
          <a:noFill/>
          <a:ln/>
        </p:spPr>
        <p:txBody>
          <a:bodyPr wrap="square" rtlCol="0" anchor="t"/>
          <a:lstStyle/>
          <a:p>
            <a:pPr indent="0" marL="0">
              <a:lnSpc>
                <a:spcPct val="110000"/>
              </a:lnSpc>
              <a:buNone/>
            </a:pPr>
            <a:r>
              <a:rPr lang="en-US" sz="970" dirty="0">
                <a:solidFill>
                  <a:srgbClr val="374644"/>
                </a:solidFill>
                <a:latin typeface="Calibri" pitchFamily="34" charset="0"/>
                <a:ea typeface="Calibri" pitchFamily="34" charset="-122"/>
                <a:cs typeface="Calibri" pitchFamily="34" charset="-120"/>
              </a:rPr>
              <a:t>Koherensi topik berada pada kategori sedang — kata-kata dalam setiap topik sudah cukup saling berkaitan secara semantik dan dapat diinterpretasikan dengan baik.</a:t>
            </a:r>
            <a:endParaRPr lang="en-US" sz="970" dirty="0"/>
          </a:p>
        </p:txBody>
      </p:sp>
      <p:sp>
        <p:nvSpPr>
          <p:cNvPr id="28" name="Shape 26"/>
          <p:cNvSpPr/>
          <p:nvPr/>
        </p:nvSpPr>
        <p:spPr>
          <a:xfrm>
            <a:off x="530352" y="4142232"/>
            <a:ext cx="54864" cy="54864"/>
          </a:xfrm>
          <a:prstGeom prst="ellipse">
            <a:avLst/>
          </a:prstGeom>
          <a:solidFill>
            <a:srgbClr val="C79A45"/>
          </a:solidFill>
          <a:ln/>
        </p:spPr>
      </p:sp>
      <p:sp>
        <p:nvSpPr>
          <p:cNvPr id="29" name="Text 27"/>
          <p:cNvSpPr/>
          <p:nvPr/>
        </p:nvSpPr>
        <p:spPr>
          <a:xfrm>
            <a:off x="685800" y="4032504"/>
            <a:ext cx="6949440" cy="502920"/>
          </a:xfrm>
          <a:prstGeom prst="rect">
            <a:avLst/>
          </a:prstGeom>
          <a:noFill/>
          <a:ln/>
        </p:spPr>
        <p:txBody>
          <a:bodyPr wrap="square" rtlCol="0" anchor="t"/>
          <a:lstStyle/>
          <a:p>
            <a:pPr indent="0" marL="0">
              <a:lnSpc>
                <a:spcPct val="110000"/>
              </a:lnSpc>
              <a:buNone/>
            </a:pPr>
            <a:r>
              <a:rPr lang="en-US" sz="970" dirty="0">
                <a:solidFill>
                  <a:srgbClr val="374644"/>
                </a:solidFill>
                <a:latin typeface="Calibri" pitchFamily="34" charset="0"/>
                <a:ea typeface="Calibri" pitchFamily="34" charset="-122"/>
                <a:cs typeface="Calibri" pitchFamily="34" charset="-120"/>
              </a:rPr>
              <a:t>NPMI mendekati nol dengan nilai negatif menunjukkan bahwa keterkaitan antar-kata dalam topik relatif lemah.</a:t>
            </a:r>
            <a:endParaRPr lang="en-US" sz="970" dirty="0"/>
          </a:p>
        </p:txBody>
      </p:sp>
      <p:sp>
        <p:nvSpPr>
          <p:cNvPr id="30" name="Shape 28"/>
          <p:cNvSpPr/>
          <p:nvPr/>
        </p:nvSpPr>
        <p:spPr>
          <a:xfrm>
            <a:off x="530352" y="4654296"/>
            <a:ext cx="54864" cy="54864"/>
          </a:xfrm>
          <a:prstGeom prst="ellipse">
            <a:avLst/>
          </a:prstGeom>
          <a:solidFill>
            <a:srgbClr val="C79A45"/>
          </a:solidFill>
          <a:ln/>
        </p:spPr>
      </p:sp>
      <p:sp>
        <p:nvSpPr>
          <p:cNvPr id="31" name="Text 29"/>
          <p:cNvSpPr/>
          <p:nvPr/>
        </p:nvSpPr>
        <p:spPr>
          <a:xfrm>
            <a:off x="685800" y="4544568"/>
            <a:ext cx="6949440" cy="502920"/>
          </a:xfrm>
          <a:prstGeom prst="rect">
            <a:avLst/>
          </a:prstGeom>
          <a:noFill/>
          <a:ln/>
        </p:spPr>
        <p:txBody>
          <a:bodyPr wrap="square" rtlCol="0" anchor="t"/>
          <a:lstStyle/>
          <a:p>
            <a:pPr indent="0" marL="0">
              <a:lnSpc>
                <a:spcPct val="110000"/>
              </a:lnSpc>
              <a:buNone/>
            </a:pPr>
            <a:r>
              <a:rPr lang="en-US" sz="970" dirty="0">
                <a:solidFill>
                  <a:srgbClr val="374644"/>
                </a:solidFill>
                <a:latin typeface="Calibri" pitchFamily="34" charset="0"/>
                <a:ea typeface="Calibri" pitchFamily="34" charset="-122"/>
                <a:cs typeface="Calibri" pitchFamily="34" charset="-120"/>
              </a:rPr>
              <a:t>UMass dan UCI keduanya bernilai negatif, mengindikasikan bahwa dari perspektif probabilistik berbasis korpus, hubungan antar-kata dalam topik masih kurang kuat atau kurang konsisten muncul bersama dalam dokumen yang sama.</a:t>
            </a:r>
            <a:endParaRPr lang="en-US" sz="970" dirty="0"/>
          </a:p>
        </p:txBody>
      </p:sp>
      <p:sp>
        <p:nvSpPr>
          <p:cNvPr id="32" name="Shape 30"/>
          <p:cNvSpPr/>
          <p:nvPr/>
        </p:nvSpPr>
        <p:spPr>
          <a:xfrm>
            <a:off x="530352" y="5166360"/>
            <a:ext cx="54864" cy="54864"/>
          </a:xfrm>
          <a:prstGeom prst="ellipse">
            <a:avLst/>
          </a:prstGeom>
          <a:solidFill>
            <a:srgbClr val="C79A45"/>
          </a:solidFill>
          <a:ln/>
        </p:spPr>
      </p:sp>
      <p:sp>
        <p:nvSpPr>
          <p:cNvPr id="33" name="Text 31"/>
          <p:cNvSpPr/>
          <p:nvPr/>
        </p:nvSpPr>
        <p:spPr>
          <a:xfrm>
            <a:off x="685800" y="5056632"/>
            <a:ext cx="6949440" cy="502920"/>
          </a:xfrm>
          <a:prstGeom prst="rect">
            <a:avLst/>
          </a:prstGeom>
          <a:noFill/>
          <a:ln/>
        </p:spPr>
        <p:txBody>
          <a:bodyPr wrap="square" rtlCol="0" anchor="t"/>
          <a:lstStyle/>
          <a:p>
            <a:pPr indent="0" marL="0">
              <a:lnSpc>
                <a:spcPct val="110000"/>
              </a:lnSpc>
              <a:buNone/>
            </a:pPr>
            <a:r>
              <a:rPr lang="en-US" sz="970" dirty="0">
                <a:solidFill>
                  <a:srgbClr val="374644"/>
                </a:solidFill>
                <a:latin typeface="Calibri" pitchFamily="34" charset="0"/>
                <a:ea typeface="Calibri" pitchFamily="34" charset="-122"/>
                <a:cs typeface="Calibri" pitchFamily="34" charset="-120"/>
              </a:rPr>
              <a:t>Nilai perplexity menunjukkan model yang digunakan masih belum optimal dalam menangkap struktur distribusi kata pada dataset.</a:t>
            </a:r>
            <a:endParaRPr lang="en-US" sz="970" dirty="0"/>
          </a:p>
        </p:txBody>
      </p:sp>
      <p:sp>
        <p:nvSpPr>
          <p:cNvPr id="34" name="Shape 32"/>
          <p:cNvSpPr/>
          <p:nvPr/>
        </p:nvSpPr>
        <p:spPr>
          <a:xfrm>
            <a:off x="7360920" y="3246120"/>
            <a:ext cx="4325112" cy="2971800"/>
          </a:xfrm>
          <a:prstGeom prst="roundRect">
            <a:avLst>
              <a:gd name="adj" fmla="val 2154"/>
            </a:avLst>
          </a:prstGeom>
          <a:solidFill>
            <a:srgbClr val="F3F7F6"/>
          </a:solidFill>
          <a:ln w="12700">
            <a:solidFill>
              <a:srgbClr val="E6EEEB"/>
            </a:solidFill>
            <a:prstDash val="solid"/>
          </a:ln>
        </p:spPr>
      </p:sp>
      <p:sp>
        <p:nvSpPr>
          <p:cNvPr id="35" name="Shape 33"/>
          <p:cNvSpPr/>
          <p:nvPr/>
        </p:nvSpPr>
        <p:spPr>
          <a:xfrm>
            <a:off x="7507224" y="3374136"/>
            <a:ext cx="82296" cy="82296"/>
          </a:xfrm>
          <a:prstGeom prst="roundRect">
            <a:avLst>
              <a:gd name="adj" fmla="val 50000"/>
            </a:avLst>
          </a:prstGeom>
          <a:solidFill>
            <a:srgbClr val="C79A45"/>
          </a:solidFill>
          <a:ln/>
        </p:spPr>
      </p:sp>
      <p:sp>
        <p:nvSpPr>
          <p:cNvPr id="36" name="Text 34"/>
          <p:cNvSpPr/>
          <p:nvPr/>
        </p:nvSpPr>
        <p:spPr>
          <a:xfrm>
            <a:off x="7671816" y="3319272"/>
            <a:ext cx="3867912"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CATATAN AKADEMIK — AMBANG METRIK</a:t>
            </a:r>
            <a:endParaRPr lang="en-US" sz="950" dirty="0"/>
          </a:p>
        </p:txBody>
      </p:sp>
      <p:sp>
        <p:nvSpPr>
          <p:cNvPr id="37" name="Text 35"/>
          <p:cNvSpPr/>
          <p:nvPr/>
        </p:nvSpPr>
        <p:spPr>
          <a:xfrm>
            <a:off x="7507224" y="3557016"/>
            <a:ext cx="4032504" cy="2587752"/>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Secara umum dalam literatur topic modeling, skor C_V di atas 0.5 tergolong dapat diterima untuk interpretasi manusia, sedangkan UMass umumnya bernilai negatif dengan rentang -1 hingga -14 (makin mendekati nol makin baik). NPMI berkisar -1 hingga 1, di mana nilai mendekati nol menandakan asosiasi kata yang lemah namun tidak acak.</a:t>
            </a:r>
            <a:endParaRPr lang="en-US" sz="1000" dirty="0"/>
          </a:p>
          <a:p>
            <a:pPr indent="0" marL="0">
              <a:lnSpc>
                <a:spcPct val="112000"/>
              </a:lnSpc>
              <a:buNone/>
            </a:pP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Kesimpulan: model CTM menghasilkan kualitas topik yang cukup baik dan dapat diinterpretasikan. Nilai NPMI mendekati nol menunjukkan adanya hubungan semantik antar-kata dalam topik meskipun belum terlalu kuat, sementara nilai UMass dan UCI mengindikasikan koherensi topik masih berada pada tingkat sedang.</a:t>
            </a:r>
            <a:endParaRPr lang="en-US" sz="1000" dirty="0"/>
          </a:p>
        </p:txBody>
      </p:sp>
      <p:sp>
        <p:nvSpPr>
          <p:cNvPr id="38" name="Text 36"/>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39" name="Text 37"/>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3095244" cy="310896"/>
          </a:xfrm>
          <a:prstGeom prst="roundRect">
            <a:avLst>
              <a:gd name="adj" fmla="val 50000"/>
            </a:avLst>
          </a:prstGeom>
          <a:solidFill>
            <a:srgbClr val="12483F"/>
          </a:solidFill>
          <a:ln/>
        </p:spPr>
      </p:sp>
      <p:sp>
        <p:nvSpPr>
          <p:cNvPr id="3" name="Text 1"/>
          <p:cNvSpPr/>
          <p:nvPr/>
        </p:nvSpPr>
        <p:spPr>
          <a:xfrm>
            <a:off x="502920" y="411480"/>
            <a:ext cx="3095244"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12 | CORRELATED 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400" b="1" dirty="0">
                <a:solidFill>
                  <a:srgbClr val="0D3B33"/>
                </a:solidFill>
                <a:latin typeface="Cambria" pitchFamily="34" charset="0"/>
                <a:ea typeface="Cambria" pitchFamily="34" charset="-122"/>
                <a:cs typeface="Cambria" pitchFamily="34" charset="-120"/>
              </a:rPr>
              <a:t>Distribusi Topik pada 20 Surat Pertama</a:t>
            </a:r>
            <a:endParaRPr lang="en-US" sz="2400" dirty="0"/>
          </a:p>
        </p:txBody>
      </p:sp>
      <p:sp>
        <p:nvSpPr>
          <p:cNvPr id="5" name="Shape 3"/>
          <p:cNvSpPr/>
          <p:nvPr/>
        </p:nvSpPr>
        <p:spPr>
          <a:xfrm>
            <a:off x="502920" y="1554480"/>
            <a:ext cx="7818120" cy="4754880"/>
          </a:xfrm>
          <a:prstGeom prst="roundRect">
            <a:avLst>
              <a:gd name="adj" fmla="val 1538"/>
            </a:avLst>
          </a:prstGeom>
          <a:solidFill>
            <a:srgbClr val="FFFFFF"/>
          </a:solidFill>
          <a:ln w="12700">
            <a:solidFill>
              <a:srgbClr val="DCE5E2"/>
            </a:solidFill>
            <a:prstDash val="solid"/>
          </a:ln>
          <a:effectLst>
            <a:outerShdw sx="100000" sy="100000" kx="0" ky="0" algn="bl" rotWithShape="0" blurRad="101600" dist="25400" dir="5400000">
              <a:srgbClr val="1F2A28">
                <a:alpha val="15000"/>
              </a:srgbClr>
            </a:outerShdw>
          </a:effectLst>
        </p:spPr>
      </p:sp>
      <p:pic>
        <p:nvPicPr>
          <p:cNvPr id="6" name="Image 0" descr="/home/claude/assets/ctm_heatmap.png">    </p:cNvPr>
          <p:cNvPicPr>
            <a:picLocks noChangeAspect="1"/>
          </p:cNvPicPr>
          <p:nvPr/>
        </p:nvPicPr>
        <p:blipFill>
          <a:blip r:embed="rId1"/>
          <a:stretch>
            <a:fillRect/>
          </a:stretch>
        </p:blipFill>
        <p:spPr>
          <a:xfrm>
            <a:off x="1407374" y="1783080"/>
            <a:ext cx="6009212" cy="4297680"/>
          </a:xfrm>
          <a:prstGeom prst="rect">
            <a:avLst/>
          </a:prstGeom>
        </p:spPr>
      </p:pic>
      <p:sp>
        <p:nvSpPr>
          <p:cNvPr id="7" name="Shape 4"/>
          <p:cNvSpPr/>
          <p:nvPr/>
        </p:nvSpPr>
        <p:spPr>
          <a:xfrm>
            <a:off x="8183880" y="1554480"/>
            <a:ext cx="3502152" cy="4754880"/>
          </a:xfrm>
          <a:prstGeom prst="roundRect">
            <a:avLst>
              <a:gd name="adj" fmla="val 1828"/>
            </a:avLst>
          </a:prstGeom>
          <a:solidFill>
            <a:srgbClr val="F3F7F6"/>
          </a:solidFill>
          <a:ln w="12700">
            <a:solidFill>
              <a:srgbClr val="E6EEEB"/>
            </a:solidFill>
            <a:prstDash val="solid"/>
          </a:ln>
        </p:spPr>
      </p:sp>
      <p:sp>
        <p:nvSpPr>
          <p:cNvPr id="8" name="Shape 5"/>
          <p:cNvSpPr/>
          <p:nvPr/>
        </p:nvSpPr>
        <p:spPr>
          <a:xfrm>
            <a:off x="8330184" y="1682496"/>
            <a:ext cx="82296" cy="82296"/>
          </a:xfrm>
          <a:prstGeom prst="roundRect">
            <a:avLst>
              <a:gd name="adj" fmla="val 50000"/>
            </a:avLst>
          </a:prstGeom>
          <a:solidFill>
            <a:srgbClr val="C79A45"/>
          </a:solidFill>
          <a:ln/>
        </p:spPr>
      </p:sp>
      <p:sp>
        <p:nvSpPr>
          <p:cNvPr id="9" name="Text 6"/>
          <p:cNvSpPr/>
          <p:nvPr/>
        </p:nvSpPr>
        <p:spPr>
          <a:xfrm>
            <a:off x="8494776" y="1627632"/>
            <a:ext cx="3044952"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INTERPRETASI</a:t>
            </a:r>
            <a:endParaRPr lang="en-US" sz="950" dirty="0"/>
          </a:p>
        </p:txBody>
      </p:sp>
      <p:sp>
        <p:nvSpPr>
          <p:cNvPr id="10" name="Text 7"/>
          <p:cNvSpPr/>
          <p:nvPr/>
        </p:nvSpPr>
        <p:spPr>
          <a:xfrm>
            <a:off x="8330184" y="1865376"/>
            <a:ext cx="3209544" cy="4370832"/>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Secara umum, distribusi topik terlihat tidak merata, yang mengindikasikan bahwa setiap surat memiliki kecenderungan kuat terhadap topik tertentu.</a:t>
            </a:r>
            <a:endParaRPr lang="en-US" sz="1000" dirty="0"/>
          </a:p>
          <a:p>
            <a:pPr indent="0" marL="0">
              <a:lnSpc>
                <a:spcPct val="112000"/>
              </a:lnSpc>
              <a:buNone/>
            </a:pP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Beberapa topik seperti Topik 12 dan Topik 13 tampak memiliki nilai yang relatif tinggi dan konsisten di banyak surat (misalnya mencapai kisaran 0.15–0.26), sehingga dapat diasumsikan sebagai topik dominan global dalam korpus 20 surat pertama.</a:t>
            </a:r>
            <a:endParaRPr lang="en-US" sz="1000" dirty="0"/>
          </a:p>
          <a:p>
            <a:pPr indent="0" marL="0">
              <a:lnSpc>
                <a:spcPct val="112000"/>
              </a:lnSpc>
              <a:buNone/>
            </a:pP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Pola ini konsisten dengan sifat proportion mixture pada CTM, di mana setiap dokumen (surat) dimodelkan sebagai campuran topik dengan bobot berbeda-beda.</a:t>
            </a:r>
            <a:endParaRPr lang="en-US" sz="1000" dirty="0"/>
          </a:p>
        </p:txBody>
      </p:sp>
      <p:sp>
        <p:nvSpPr>
          <p:cNvPr id="11" name="Text 8"/>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12" name="Text 9"/>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2327148" cy="310896"/>
          </a:xfrm>
          <a:prstGeom prst="roundRect">
            <a:avLst>
              <a:gd name="adj" fmla="val 50000"/>
            </a:avLst>
          </a:prstGeom>
          <a:solidFill>
            <a:srgbClr val="12483F"/>
          </a:solidFill>
          <a:ln/>
        </p:spPr>
      </p:sp>
      <p:sp>
        <p:nvSpPr>
          <p:cNvPr id="3" name="Text 1"/>
          <p:cNvSpPr/>
          <p:nvPr/>
        </p:nvSpPr>
        <p:spPr>
          <a:xfrm>
            <a:off x="502920" y="411480"/>
            <a:ext cx="2327148"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13 | BERTOPIC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700" b="1" dirty="0">
                <a:solidFill>
                  <a:srgbClr val="0D3B33"/>
                </a:solidFill>
                <a:latin typeface="Cambria" pitchFamily="34" charset="0"/>
                <a:ea typeface="Cambria" pitchFamily="34" charset="-122"/>
                <a:cs typeface="Cambria" pitchFamily="34" charset="-120"/>
              </a:rPr>
              <a:t>Uji Parameter Jumlah Topik</a:t>
            </a:r>
            <a:endParaRPr lang="en-US" sz="2700" dirty="0"/>
          </a:p>
        </p:txBody>
      </p:sp>
      <p:sp>
        <p:nvSpPr>
          <p:cNvPr id="5" name="Shape 3"/>
          <p:cNvSpPr/>
          <p:nvPr/>
        </p:nvSpPr>
        <p:spPr>
          <a:xfrm>
            <a:off x="502920" y="1691640"/>
            <a:ext cx="2126894" cy="1234440"/>
          </a:xfrm>
          <a:prstGeom prst="roundRect">
            <a:avLst>
              <a:gd name="adj" fmla="val 6667"/>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6" name="Text 4"/>
          <p:cNvSpPr/>
          <p:nvPr/>
        </p:nvSpPr>
        <p:spPr>
          <a:xfrm>
            <a:off x="502920" y="1783080"/>
            <a:ext cx="2126894" cy="715975"/>
          </a:xfrm>
          <a:prstGeom prst="rect">
            <a:avLst/>
          </a:prstGeom>
          <a:noFill/>
          <a:ln/>
        </p:spPr>
        <p:txBody>
          <a:bodyPr wrap="square" rtlCol="0" anchor="b"/>
          <a:lstStyle/>
          <a:p>
            <a:pPr algn="ctr" indent="0" marL="0">
              <a:buNone/>
            </a:pPr>
            <a:r>
              <a:rPr lang="en-US" sz="2600" b="1" dirty="0">
                <a:solidFill>
                  <a:srgbClr val="C79A45"/>
                </a:solidFill>
                <a:latin typeface="Cambria" pitchFamily="34" charset="0"/>
                <a:ea typeface="Cambria" pitchFamily="34" charset="-122"/>
                <a:cs typeface="Cambria" pitchFamily="34" charset="-120"/>
              </a:rPr>
              <a:t>25</a:t>
            </a:r>
            <a:endParaRPr lang="en-US" sz="2600" dirty="0"/>
          </a:p>
        </p:txBody>
      </p:sp>
      <p:sp>
        <p:nvSpPr>
          <p:cNvPr id="7" name="Text 5"/>
          <p:cNvSpPr/>
          <p:nvPr/>
        </p:nvSpPr>
        <p:spPr>
          <a:xfrm>
            <a:off x="502920" y="2456993"/>
            <a:ext cx="2126894" cy="419710"/>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Topic Size (keseimbangan terbaik)</a:t>
            </a:r>
            <a:endParaRPr lang="en-US" sz="1050" dirty="0"/>
          </a:p>
        </p:txBody>
      </p:sp>
      <p:sp>
        <p:nvSpPr>
          <p:cNvPr id="8" name="Shape 6"/>
          <p:cNvSpPr/>
          <p:nvPr/>
        </p:nvSpPr>
        <p:spPr>
          <a:xfrm>
            <a:off x="2766974" y="1691640"/>
            <a:ext cx="2126894" cy="1234440"/>
          </a:xfrm>
          <a:prstGeom prst="roundRect">
            <a:avLst>
              <a:gd name="adj" fmla="val 6667"/>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9" name="Text 7"/>
          <p:cNvSpPr/>
          <p:nvPr/>
        </p:nvSpPr>
        <p:spPr>
          <a:xfrm>
            <a:off x="2766974" y="1783080"/>
            <a:ext cx="2126894" cy="715975"/>
          </a:xfrm>
          <a:prstGeom prst="rect">
            <a:avLst/>
          </a:prstGeom>
          <a:noFill/>
          <a:ln/>
        </p:spPr>
        <p:txBody>
          <a:bodyPr wrap="square" rtlCol="0" anchor="b"/>
          <a:lstStyle/>
          <a:p>
            <a:pPr algn="ctr" indent="0" marL="0">
              <a:buNone/>
            </a:pPr>
            <a:r>
              <a:rPr lang="en-US" sz="2600" b="1" dirty="0">
                <a:solidFill>
                  <a:srgbClr val="C79A45"/>
                </a:solidFill>
                <a:latin typeface="Cambria" pitchFamily="34" charset="0"/>
                <a:ea typeface="Cambria" pitchFamily="34" charset="-122"/>
                <a:cs typeface="Cambria" pitchFamily="34" charset="-120"/>
              </a:rPr>
              <a:t>0.87</a:t>
            </a:r>
            <a:endParaRPr lang="en-US" sz="2600" dirty="0"/>
          </a:p>
        </p:txBody>
      </p:sp>
      <p:sp>
        <p:nvSpPr>
          <p:cNvPr id="10" name="Text 8"/>
          <p:cNvSpPr/>
          <p:nvPr/>
        </p:nvSpPr>
        <p:spPr>
          <a:xfrm>
            <a:off x="2766974" y="2456993"/>
            <a:ext cx="2126894" cy="419710"/>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Final Score</a:t>
            </a:r>
            <a:endParaRPr lang="en-US" sz="1050" dirty="0"/>
          </a:p>
        </p:txBody>
      </p:sp>
      <p:sp>
        <p:nvSpPr>
          <p:cNvPr id="11" name="Shape 9"/>
          <p:cNvSpPr/>
          <p:nvPr/>
        </p:nvSpPr>
        <p:spPr>
          <a:xfrm>
            <a:off x="5031029" y="1691640"/>
            <a:ext cx="2126894" cy="1234440"/>
          </a:xfrm>
          <a:prstGeom prst="roundRect">
            <a:avLst>
              <a:gd name="adj" fmla="val 6667"/>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12" name="Text 10"/>
          <p:cNvSpPr/>
          <p:nvPr/>
        </p:nvSpPr>
        <p:spPr>
          <a:xfrm>
            <a:off x="5031029" y="1783080"/>
            <a:ext cx="2126894" cy="715975"/>
          </a:xfrm>
          <a:prstGeom prst="rect">
            <a:avLst/>
          </a:prstGeom>
          <a:noFill/>
          <a:ln/>
        </p:spPr>
        <p:txBody>
          <a:bodyPr wrap="square" rtlCol="0" anchor="b"/>
          <a:lstStyle/>
          <a:p>
            <a:pPr algn="ctr" indent="0" marL="0">
              <a:buNone/>
            </a:pPr>
            <a:r>
              <a:rPr lang="en-US" sz="2600" b="1" dirty="0">
                <a:solidFill>
                  <a:srgbClr val="1D5F53"/>
                </a:solidFill>
                <a:latin typeface="Cambria" pitchFamily="34" charset="0"/>
                <a:ea typeface="Cambria" pitchFamily="34" charset="-122"/>
                <a:cs typeface="Cambria" pitchFamily="34" charset="-120"/>
              </a:rPr>
              <a:t>0.5735</a:t>
            </a:r>
            <a:endParaRPr lang="en-US" sz="2600" dirty="0"/>
          </a:p>
        </p:txBody>
      </p:sp>
      <p:sp>
        <p:nvSpPr>
          <p:cNvPr id="13" name="Text 11"/>
          <p:cNvSpPr/>
          <p:nvPr/>
        </p:nvSpPr>
        <p:spPr>
          <a:xfrm>
            <a:off x="5031029" y="2456993"/>
            <a:ext cx="2126894" cy="419710"/>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C_v Coherence</a:t>
            </a:r>
            <a:endParaRPr lang="en-US" sz="1050" dirty="0"/>
          </a:p>
        </p:txBody>
      </p:sp>
      <p:sp>
        <p:nvSpPr>
          <p:cNvPr id="14" name="Shape 12"/>
          <p:cNvSpPr/>
          <p:nvPr/>
        </p:nvSpPr>
        <p:spPr>
          <a:xfrm>
            <a:off x="7295083" y="1691640"/>
            <a:ext cx="2126894" cy="1234440"/>
          </a:xfrm>
          <a:prstGeom prst="roundRect">
            <a:avLst>
              <a:gd name="adj" fmla="val 6667"/>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15" name="Text 13"/>
          <p:cNvSpPr/>
          <p:nvPr/>
        </p:nvSpPr>
        <p:spPr>
          <a:xfrm>
            <a:off x="7295083" y="1783080"/>
            <a:ext cx="2126894" cy="715975"/>
          </a:xfrm>
          <a:prstGeom prst="rect">
            <a:avLst/>
          </a:prstGeom>
          <a:noFill/>
          <a:ln/>
        </p:spPr>
        <p:txBody>
          <a:bodyPr wrap="square" rtlCol="0" anchor="b"/>
          <a:lstStyle/>
          <a:p>
            <a:pPr algn="ctr" indent="0" marL="0">
              <a:buNone/>
            </a:pPr>
            <a:r>
              <a:rPr lang="en-US" sz="2600" b="1" dirty="0">
                <a:solidFill>
                  <a:srgbClr val="1D5F53"/>
                </a:solidFill>
                <a:latin typeface="Cambria" pitchFamily="34" charset="0"/>
                <a:ea typeface="Cambria" pitchFamily="34" charset="-122"/>
                <a:cs typeface="Cambria" pitchFamily="34" charset="-120"/>
              </a:rPr>
              <a:t>0.0530</a:t>
            </a:r>
            <a:endParaRPr lang="en-US" sz="2600" dirty="0"/>
          </a:p>
        </p:txBody>
      </p:sp>
      <p:sp>
        <p:nvSpPr>
          <p:cNvPr id="16" name="Text 14"/>
          <p:cNvSpPr/>
          <p:nvPr/>
        </p:nvSpPr>
        <p:spPr>
          <a:xfrm>
            <a:off x="7295083" y="2456993"/>
            <a:ext cx="2126894" cy="419710"/>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NPMI</a:t>
            </a:r>
            <a:endParaRPr lang="en-US" sz="1050" dirty="0"/>
          </a:p>
        </p:txBody>
      </p:sp>
      <p:sp>
        <p:nvSpPr>
          <p:cNvPr id="17" name="Shape 15"/>
          <p:cNvSpPr/>
          <p:nvPr/>
        </p:nvSpPr>
        <p:spPr>
          <a:xfrm>
            <a:off x="9559138" y="1691640"/>
            <a:ext cx="2126894" cy="1234440"/>
          </a:xfrm>
          <a:prstGeom prst="roundRect">
            <a:avLst>
              <a:gd name="adj" fmla="val 6667"/>
            </a:avLst>
          </a:prstGeom>
          <a:solidFill>
            <a:srgbClr val="F4F7F6"/>
          </a:solidFill>
          <a:ln w="9525">
            <a:solidFill>
              <a:srgbClr val="DCE5E2"/>
            </a:solidFill>
            <a:prstDash val="solid"/>
          </a:ln>
          <a:effectLst>
            <a:outerShdw sx="100000" sy="100000" kx="0" ky="0" algn="bl" rotWithShape="0" blurRad="76200" dist="25400" dir="5400000">
              <a:srgbClr val="1F2A28">
                <a:alpha val="12000"/>
              </a:srgbClr>
            </a:outerShdw>
          </a:effectLst>
        </p:spPr>
      </p:sp>
      <p:sp>
        <p:nvSpPr>
          <p:cNvPr id="18" name="Text 16"/>
          <p:cNvSpPr/>
          <p:nvPr/>
        </p:nvSpPr>
        <p:spPr>
          <a:xfrm>
            <a:off x="9559138" y="1783080"/>
            <a:ext cx="2126894" cy="715975"/>
          </a:xfrm>
          <a:prstGeom prst="rect">
            <a:avLst/>
          </a:prstGeom>
          <a:noFill/>
          <a:ln/>
        </p:spPr>
        <p:txBody>
          <a:bodyPr wrap="square" rtlCol="0" anchor="b"/>
          <a:lstStyle/>
          <a:p>
            <a:pPr algn="ctr" indent="0" marL="0">
              <a:buNone/>
            </a:pPr>
            <a:r>
              <a:rPr lang="en-US" sz="2600" b="1" dirty="0">
                <a:solidFill>
                  <a:srgbClr val="1D5F53"/>
                </a:solidFill>
                <a:latin typeface="Cambria" pitchFamily="34" charset="0"/>
                <a:ea typeface="Cambria" pitchFamily="34" charset="-122"/>
                <a:cs typeface="Cambria" pitchFamily="34" charset="-120"/>
              </a:rPr>
              <a:t>-5.3257</a:t>
            </a:r>
            <a:endParaRPr lang="en-US" sz="2600" dirty="0"/>
          </a:p>
        </p:txBody>
      </p:sp>
      <p:sp>
        <p:nvSpPr>
          <p:cNvPr id="19" name="Text 17"/>
          <p:cNvSpPr/>
          <p:nvPr/>
        </p:nvSpPr>
        <p:spPr>
          <a:xfrm>
            <a:off x="9559138" y="2456993"/>
            <a:ext cx="2126894" cy="419710"/>
          </a:xfrm>
          <a:prstGeom prst="rect">
            <a:avLst/>
          </a:prstGeom>
          <a:noFill/>
          <a:ln/>
        </p:spPr>
        <p:txBody>
          <a:bodyPr wrap="square" rtlCol="0" anchor="t"/>
          <a:lstStyle/>
          <a:p>
            <a:pPr algn="ctr" indent="0" marL="0">
              <a:buNone/>
            </a:pPr>
            <a:r>
              <a:rPr lang="en-US" sz="1050" dirty="0">
                <a:solidFill>
                  <a:srgbClr val="374644"/>
                </a:solidFill>
                <a:latin typeface="Calibri" pitchFamily="34" charset="0"/>
                <a:ea typeface="Calibri" pitchFamily="34" charset="-122"/>
                <a:cs typeface="Calibri" pitchFamily="34" charset="-120"/>
              </a:rPr>
              <a:t>UMass (paling mendekati nol)</a:t>
            </a:r>
            <a:endParaRPr lang="en-US" sz="1050" dirty="0"/>
          </a:p>
        </p:txBody>
      </p:sp>
      <p:sp>
        <p:nvSpPr>
          <p:cNvPr id="20" name="Shape 18"/>
          <p:cNvSpPr/>
          <p:nvPr/>
        </p:nvSpPr>
        <p:spPr>
          <a:xfrm>
            <a:off x="502920" y="3200400"/>
            <a:ext cx="6675120" cy="2880360"/>
          </a:xfrm>
          <a:prstGeom prst="roundRect">
            <a:avLst>
              <a:gd name="adj" fmla="val 2540"/>
            </a:avLst>
          </a:prstGeom>
          <a:solidFill>
            <a:srgbClr val="FFFFFF"/>
          </a:solidFill>
          <a:ln w="12700">
            <a:solidFill>
              <a:srgbClr val="DCE5E2"/>
            </a:solidFill>
            <a:prstDash val="solid"/>
          </a:ln>
          <a:effectLst>
            <a:outerShdw sx="100000" sy="100000" kx="0" ky="0" algn="bl" rotWithShape="0" blurRad="101600" dist="25400" dir="5400000">
              <a:srgbClr val="1F2A28">
                <a:alpha val="15000"/>
              </a:srgbClr>
            </a:outerShdw>
          </a:effectLst>
        </p:spPr>
      </p:sp>
      <p:pic>
        <p:nvPicPr>
          <p:cNvPr id="21" name="Image 0" descr="/home/claude/assets/bertopic_param_chart.png">    </p:cNvPr>
          <p:cNvPicPr>
            <a:picLocks noChangeAspect="1"/>
          </p:cNvPicPr>
          <p:nvPr/>
        </p:nvPicPr>
        <p:blipFill>
          <a:blip r:embed="rId1"/>
          <a:stretch>
            <a:fillRect/>
          </a:stretch>
        </p:blipFill>
        <p:spPr>
          <a:xfrm>
            <a:off x="856520" y="3337560"/>
            <a:ext cx="5967919" cy="2331720"/>
          </a:xfrm>
          <a:prstGeom prst="rect">
            <a:avLst/>
          </a:prstGeom>
        </p:spPr>
      </p:pic>
      <p:sp>
        <p:nvSpPr>
          <p:cNvPr id="22" name="Text 19"/>
          <p:cNvSpPr/>
          <p:nvPr/>
        </p:nvSpPr>
        <p:spPr>
          <a:xfrm>
            <a:off x="502920" y="5760720"/>
            <a:ext cx="6675120" cy="256032"/>
          </a:xfrm>
          <a:prstGeom prst="rect">
            <a:avLst/>
          </a:prstGeom>
          <a:noFill/>
          <a:ln/>
        </p:spPr>
        <p:txBody>
          <a:bodyPr wrap="square" rtlCol="0" anchor="ctr"/>
          <a:lstStyle/>
          <a:p>
            <a:pPr algn="ctr" indent="0" marL="0">
              <a:buNone/>
            </a:pPr>
            <a:r>
              <a:rPr lang="en-US" sz="900" i="1" dirty="0">
                <a:solidFill>
                  <a:srgbClr val="6B7A77"/>
                </a:solidFill>
                <a:latin typeface="Calibri" pitchFamily="34" charset="0"/>
                <a:ea typeface="Calibri" pitchFamily="34" charset="-122"/>
                <a:cs typeface="Calibri" pitchFamily="34" charset="-120"/>
              </a:rPr>
              <a:t>Grafik hasil uji parameter minimum topic size terhadap skor evaluasi</a:t>
            </a:r>
            <a:endParaRPr lang="en-US" sz="900" dirty="0"/>
          </a:p>
        </p:txBody>
      </p:sp>
      <p:sp>
        <p:nvSpPr>
          <p:cNvPr id="23" name="Shape 20"/>
          <p:cNvSpPr/>
          <p:nvPr/>
        </p:nvSpPr>
        <p:spPr>
          <a:xfrm>
            <a:off x="7909560" y="3200400"/>
            <a:ext cx="3776472" cy="3108960"/>
          </a:xfrm>
          <a:prstGeom prst="roundRect">
            <a:avLst>
              <a:gd name="adj" fmla="val 2059"/>
            </a:avLst>
          </a:prstGeom>
          <a:solidFill>
            <a:srgbClr val="F3F7F6"/>
          </a:solidFill>
          <a:ln w="12700">
            <a:solidFill>
              <a:srgbClr val="E6EEEB"/>
            </a:solidFill>
            <a:prstDash val="solid"/>
          </a:ln>
        </p:spPr>
      </p:sp>
      <p:sp>
        <p:nvSpPr>
          <p:cNvPr id="24" name="Shape 21"/>
          <p:cNvSpPr/>
          <p:nvPr/>
        </p:nvSpPr>
        <p:spPr>
          <a:xfrm>
            <a:off x="8055864" y="3328416"/>
            <a:ext cx="82296" cy="82296"/>
          </a:xfrm>
          <a:prstGeom prst="roundRect">
            <a:avLst>
              <a:gd name="adj" fmla="val 50000"/>
            </a:avLst>
          </a:prstGeom>
          <a:solidFill>
            <a:srgbClr val="C79A45"/>
          </a:solidFill>
          <a:ln/>
        </p:spPr>
      </p:sp>
      <p:sp>
        <p:nvSpPr>
          <p:cNvPr id="25" name="Text 22"/>
          <p:cNvSpPr/>
          <p:nvPr/>
        </p:nvSpPr>
        <p:spPr>
          <a:xfrm>
            <a:off x="8220456" y="3273552"/>
            <a:ext cx="3319272"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CATATAN AKADEMIK</a:t>
            </a:r>
            <a:endParaRPr lang="en-US" sz="950" dirty="0"/>
          </a:p>
        </p:txBody>
      </p:sp>
      <p:sp>
        <p:nvSpPr>
          <p:cNvPr id="26" name="Text 23"/>
          <p:cNvSpPr/>
          <p:nvPr/>
        </p:nvSpPr>
        <p:spPr>
          <a:xfrm>
            <a:off x="8055864" y="3511296"/>
            <a:ext cx="3483864" cy="2724912"/>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Parameter min_topic_size pada BERTopic mengendalikan granularitas klaster HDBSCAN: nilai kecil menghasilkan banyak topik sempit (rawan noise), nilai besar menghasilkan sedikit topik luas (rawan generalisasi berlebih). Topic size 25 dipilih karena mencapai final score tertinggi (0.87) — hasil kombinasi tertimbang dari metrik koherensi dan diversitas — dengan UMass paling mendekati nol dibanding ukuran lain, menandakan koherensi berbasis korpus terbaik pada titik ini.</a:t>
            </a:r>
            <a:endParaRPr lang="en-US" sz="1000" dirty="0"/>
          </a:p>
        </p:txBody>
      </p:sp>
      <p:sp>
        <p:nvSpPr>
          <p:cNvPr id="27" name="Text 24"/>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28" name="Text 25"/>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2327148" cy="310896"/>
          </a:xfrm>
          <a:prstGeom prst="roundRect">
            <a:avLst>
              <a:gd name="adj" fmla="val 50000"/>
            </a:avLst>
          </a:prstGeom>
          <a:solidFill>
            <a:srgbClr val="12483F"/>
          </a:solidFill>
          <a:ln/>
        </p:spPr>
      </p:sp>
      <p:sp>
        <p:nvSpPr>
          <p:cNvPr id="3" name="Text 1"/>
          <p:cNvSpPr/>
          <p:nvPr/>
        </p:nvSpPr>
        <p:spPr>
          <a:xfrm>
            <a:off x="502920" y="411480"/>
            <a:ext cx="2327148"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14 | BERTOPIC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500" b="1" dirty="0">
                <a:solidFill>
                  <a:srgbClr val="0D3B33"/>
                </a:solidFill>
                <a:latin typeface="Cambria" pitchFamily="34" charset="0"/>
                <a:ea typeface="Cambria" pitchFamily="34" charset="-122"/>
                <a:cs typeface="Cambria" pitchFamily="34" charset="-120"/>
              </a:rPr>
              <a:t>Evaluasi Model — Parameter Optimal</a:t>
            </a:r>
            <a:endParaRPr lang="en-US" sz="2500" dirty="0"/>
          </a:p>
        </p:txBody>
      </p:sp>
      <p:sp>
        <p:nvSpPr>
          <p:cNvPr id="5" name="Shape 3"/>
          <p:cNvSpPr/>
          <p:nvPr/>
        </p:nvSpPr>
        <p:spPr>
          <a:xfrm>
            <a:off x="502920" y="1645920"/>
            <a:ext cx="6309360" cy="457200"/>
          </a:xfrm>
          <a:prstGeom prst="rect">
            <a:avLst/>
          </a:prstGeom>
          <a:solidFill>
            <a:srgbClr val="F4F7F6"/>
          </a:solidFill>
          <a:ln w="6350">
            <a:solidFill>
              <a:srgbClr val="DCE5E2"/>
            </a:solidFill>
            <a:prstDash val="solid"/>
          </a:ln>
        </p:spPr>
      </p:sp>
      <p:sp>
        <p:nvSpPr>
          <p:cNvPr id="6" name="Text 4"/>
          <p:cNvSpPr/>
          <p:nvPr/>
        </p:nvSpPr>
        <p:spPr>
          <a:xfrm>
            <a:off x="630936" y="1645920"/>
            <a:ext cx="3108960" cy="457200"/>
          </a:xfrm>
          <a:prstGeom prst="rect">
            <a:avLst/>
          </a:prstGeom>
          <a:noFill/>
          <a:ln/>
        </p:spPr>
        <p:txBody>
          <a:bodyPr wrap="square" rtlCol="0" anchor="ctr"/>
          <a:lstStyle/>
          <a:p>
            <a:pPr indent="0" marL="0">
              <a:buNone/>
            </a:pPr>
            <a:r>
              <a:rPr lang="en-US" sz="1100" b="1" dirty="0">
                <a:solidFill>
                  <a:srgbClr val="12483F"/>
                </a:solidFill>
                <a:latin typeface="Calibri" pitchFamily="34" charset="0"/>
                <a:ea typeface="Calibri" pitchFamily="34" charset="-122"/>
                <a:cs typeface="Calibri" pitchFamily="34" charset="-120"/>
              </a:rPr>
              <a:t>Min Topic Size</a:t>
            </a:r>
            <a:endParaRPr lang="en-US" sz="1100" dirty="0"/>
          </a:p>
        </p:txBody>
      </p:sp>
      <p:sp>
        <p:nvSpPr>
          <p:cNvPr id="7" name="Text 5"/>
          <p:cNvSpPr/>
          <p:nvPr/>
        </p:nvSpPr>
        <p:spPr>
          <a:xfrm>
            <a:off x="3794760" y="1645920"/>
            <a:ext cx="2880360" cy="457200"/>
          </a:xfrm>
          <a:prstGeom prst="rect">
            <a:avLst/>
          </a:prstGeom>
          <a:noFill/>
          <a:ln/>
        </p:spPr>
        <p:txBody>
          <a:bodyPr wrap="square" rtlCol="0" anchor="ctr"/>
          <a:lstStyle/>
          <a:p>
            <a:pPr indent="0" marL="0">
              <a:buNone/>
            </a:pPr>
            <a:r>
              <a:rPr lang="en-US" sz="1150" b="1" dirty="0">
                <a:solidFill>
                  <a:srgbClr val="1F2A28"/>
                </a:solidFill>
                <a:latin typeface="Cambria" pitchFamily="34" charset="0"/>
                <a:ea typeface="Cambria" pitchFamily="34" charset="-122"/>
                <a:cs typeface="Cambria" pitchFamily="34" charset="-120"/>
              </a:rPr>
              <a:t>25</a:t>
            </a:r>
            <a:endParaRPr lang="en-US" sz="1150" dirty="0"/>
          </a:p>
        </p:txBody>
      </p:sp>
      <p:sp>
        <p:nvSpPr>
          <p:cNvPr id="8" name="Shape 6"/>
          <p:cNvSpPr/>
          <p:nvPr/>
        </p:nvSpPr>
        <p:spPr>
          <a:xfrm>
            <a:off x="502920" y="2103120"/>
            <a:ext cx="6309360" cy="457200"/>
          </a:xfrm>
          <a:prstGeom prst="rect">
            <a:avLst/>
          </a:prstGeom>
          <a:solidFill>
            <a:srgbClr val="FFFFFF"/>
          </a:solidFill>
          <a:ln w="6350">
            <a:solidFill>
              <a:srgbClr val="DCE5E2"/>
            </a:solidFill>
            <a:prstDash val="solid"/>
          </a:ln>
        </p:spPr>
      </p:sp>
      <p:sp>
        <p:nvSpPr>
          <p:cNvPr id="9" name="Text 7"/>
          <p:cNvSpPr/>
          <p:nvPr/>
        </p:nvSpPr>
        <p:spPr>
          <a:xfrm>
            <a:off x="630936" y="2103120"/>
            <a:ext cx="3108960" cy="457200"/>
          </a:xfrm>
          <a:prstGeom prst="rect">
            <a:avLst/>
          </a:prstGeom>
          <a:noFill/>
          <a:ln/>
        </p:spPr>
        <p:txBody>
          <a:bodyPr wrap="square" rtlCol="0" anchor="ctr"/>
          <a:lstStyle/>
          <a:p>
            <a:pPr indent="0" marL="0">
              <a:buNone/>
            </a:pPr>
            <a:r>
              <a:rPr lang="en-US" sz="1100" b="1" dirty="0">
                <a:solidFill>
                  <a:srgbClr val="12483F"/>
                </a:solidFill>
                <a:latin typeface="Calibri" pitchFamily="34" charset="0"/>
                <a:ea typeface="Calibri" pitchFamily="34" charset="-122"/>
                <a:cs typeface="Calibri" pitchFamily="34" charset="-120"/>
              </a:rPr>
              <a:t>C_v Coherence</a:t>
            </a:r>
            <a:endParaRPr lang="en-US" sz="1100" dirty="0"/>
          </a:p>
        </p:txBody>
      </p:sp>
      <p:sp>
        <p:nvSpPr>
          <p:cNvPr id="10" name="Text 8"/>
          <p:cNvSpPr/>
          <p:nvPr/>
        </p:nvSpPr>
        <p:spPr>
          <a:xfrm>
            <a:off x="3794760" y="2103120"/>
            <a:ext cx="2880360" cy="457200"/>
          </a:xfrm>
          <a:prstGeom prst="rect">
            <a:avLst/>
          </a:prstGeom>
          <a:noFill/>
          <a:ln/>
        </p:spPr>
        <p:txBody>
          <a:bodyPr wrap="square" rtlCol="0" anchor="ctr"/>
          <a:lstStyle/>
          <a:p>
            <a:pPr indent="0" marL="0">
              <a:buNone/>
            </a:pPr>
            <a:r>
              <a:rPr lang="en-US" sz="1150" b="1" dirty="0">
                <a:solidFill>
                  <a:srgbClr val="1F2A28"/>
                </a:solidFill>
                <a:latin typeface="Cambria" pitchFamily="34" charset="0"/>
                <a:ea typeface="Cambria" pitchFamily="34" charset="-122"/>
                <a:cs typeface="Cambria" pitchFamily="34" charset="-120"/>
              </a:rPr>
              <a:t>0.5735</a:t>
            </a:r>
            <a:endParaRPr lang="en-US" sz="1150" dirty="0"/>
          </a:p>
        </p:txBody>
      </p:sp>
      <p:sp>
        <p:nvSpPr>
          <p:cNvPr id="11" name="Shape 9"/>
          <p:cNvSpPr/>
          <p:nvPr/>
        </p:nvSpPr>
        <p:spPr>
          <a:xfrm>
            <a:off x="502920" y="2560320"/>
            <a:ext cx="6309360" cy="457200"/>
          </a:xfrm>
          <a:prstGeom prst="rect">
            <a:avLst/>
          </a:prstGeom>
          <a:solidFill>
            <a:srgbClr val="F4F7F6"/>
          </a:solidFill>
          <a:ln w="6350">
            <a:solidFill>
              <a:srgbClr val="DCE5E2"/>
            </a:solidFill>
            <a:prstDash val="solid"/>
          </a:ln>
        </p:spPr>
      </p:sp>
      <p:sp>
        <p:nvSpPr>
          <p:cNvPr id="12" name="Text 10"/>
          <p:cNvSpPr/>
          <p:nvPr/>
        </p:nvSpPr>
        <p:spPr>
          <a:xfrm>
            <a:off x="630936" y="2560320"/>
            <a:ext cx="3108960" cy="457200"/>
          </a:xfrm>
          <a:prstGeom prst="rect">
            <a:avLst/>
          </a:prstGeom>
          <a:noFill/>
          <a:ln/>
        </p:spPr>
        <p:txBody>
          <a:bodyPr wrap="square" rtlCol="0" anchor="ctr"/>
          <a:lstStyle/>
          <a:p>
            <a:pPr indent="0" marL="0">
              <a:buNone/>
            </a:pPr>
            <a:r>
              <a:rPr lang="en-US" sz="1100" b="1" dirty="0">
                <a:solidFill>
                  <a:srgbClr val="12483F"/>
                </a:solidFill>
                <a:latin typeface="Calibri" pitchFamily="34" charset="0"/>
                <a:ea typeface="Calibri" pitchFamily="34" charset="-122"/>
                <a:cs typeface="Calibri" pitchFamily="34" charset="-120"/>
              </a:rPr>
              <a:t>NPMI Score</a:t>
            </a:r>
            <a:endParaRPr lang="en-US" sz="1100" dirty="0"/>
          </a:p>
        </p:txBody>
      </p:sp>
      <p:sp>
        <p:nvSpPr>
          <p:cNvPr id="13" name="Text 11"/>
          <p:cNvSpPr/>
          <p:nvPr/>
        </p:nvSpPr>
        <p:spPr>
          <a:xfrm>
            <a:off x="3794760" y="2560320"/>
            <a:ext cx="2880360" cy="457200"/>
          </a:xfrm>
          <a:prstGeom prst="rect">
            <a:avLst/>
          </a:prstGeom>
          <a:noFill/>
          <a:ln/>
        </p:spPr>
        <p:txBody>
          <a:bodyPr wrap="square" rtlCol="0" anchor="ctr"/>
          <a:lstStyle/>
          <a:p>
            <a:pPr indent="0" marL="0">
              <a:buNone/>
            </a:pPr>
            <a:r>
              <a:rPr lang="en-US" sz="1150" b="1" dirty="0">
                <a:solidFill>
                  <a:srgbClr val="1F2A28"/>
                </a:solidFill>
                <a:latin typeface="Cambria" pitchFamily="34" charset="0"/>
                <a:ea typeface="Cambria" pitchFamily="34" charset="-122"/>
                <a:cs typeface="Cambria" pitchFamily="34" charset="-120"/>
              </a:rPr>
              <a:t>0.0530</a:t>
            </a:r>
            <a:endParaRPr lang="en-US" sz="1150" dirty="0"/>
          </a:p>
        </p:txBody>
      </p:sp>
      <p:sp>
        <p:nvSpPr>
          <p:cNvPr id="14" name="Shape 12"/>
          <p:cNvSpPr/>
          <p:nvPr/>
        </p:nvSpPr>
        <p:spPr>
          <a:xfrm>
            <a:off x="502920" y="3017520"/>
            <a:ext cx="6309360" cy="457200"/>
          </a:xfrm>
          <a:prstGeom prst="rect">
            <a:avLst/>
          </a:prstGeom>
          <a:solidFill>
            <a:srgbClr val="FFFFFF"/>
          </a:solidFill>
          <a:ln w="6350">
            <a:solidFill>
              <a:srgbClr val="DCE5E2"/>
            </a:solidFill>
            <a:prstDash val="solid"/>
          </a:ln>
        </p:spPr>
      </p:sp>
      <p:sp>
        <p:nvSpPr>
          <p:cNvPr id="15" name="Text 13"/>
          <p:cNvSpPr/>
          <p:nvPr/>
        </p:nvSpPr>
        <p:spPr>
          <a:xfrm>
            <a:off x="630936" y="3017520"/>
            <a:ext cx="3108960" cy="457200"/>
          </a:xfrm>
          <a:prstGeom prst="rect">
            <a:avLst/>
          </a:prstGeom>
          <a:noFill/>
          <a:ln/>
        </p:spPr>
        <p:txBody>
          <a:bodyPr wrap="square" rtlCol="0" anchor="ctr"/>
          <a:lstStyle/>
          <a:p>
            <a:pPr indent="0" marL="0">
              <a:buNone/>
            </a:pPr>
            <a:r>
              <a:rPr lang="en-US" sz="1100" b="1" dirty="0">
                <a:solidFill>
                  <a:srgbClr val="12483F"/>
                </a:solidFill>
                <a:latin typeface="Calibri" pitchFamily="34" charset="0"/>
                <a:ea typeface="Calibri" pitchFamily="34" charset="-122"/>
                <a:cs typeface="Calibri" pitchFamily="34" charset="-120"/>
              </a:rPr>
              <a:t>UMass Score</a:t>
            </a:r>
            <a:endParaRPr lang="en-US" sz="1100" dirty="0"/>
          </a:p>
        </p:txBody>
      </p:sp>
      <p:sp>
        <p:nvSpPr>
          <p:cNvPr id="16" name="Text 14"/>
          <p:cNvSpPr/>
          <p:nvPr/>
        </p:nvSpPr>
        <p:spPr>
          <a:xfrm>
            <a:off x="3794760" y="3017520"/>
            <a:ext cx="2880360" cy="457200"/>
          </a:xfrm>
          <a:prstGeom prst="rect">
            <a:avLst/>
          </a:prstGeom>
          <a:noFill/>
          <a:ln/>
        </p:spPr>
        <p:txBody>
          <a:bodyPr wrap="square" rtlCol="0" anchor="ctr"/>
          <a:lstStyle/>
          <a:p>
            <a:pPr indent="0" marL="0">
              <a:buNone/>
            </a:pPr>
            <a:r>
              <a:rPr lang="en-US" sz="1150" b="1" dirty="0">
                <a:solidFill>
                  <a:srgbClr val="1F2A28"/>
                </a:solidFill>
                <a:latin typeface="Cambria" pitchFamily="34" charset="0"/>
                <a:ea typeface="Cambria" pitchFamily="34" charset="-122"/>
                <a:cs typeface="Cambria" pitchFamily="34" charset="-120"/>
              </a:rPr>
              <a:t>-5.3257</a:t>
            </a:r>
            <a:endParaRPr lang="en-US" sz="1150" dirty="0"/>
          </a:p>
        </p:txBody>
      </p:sp>
      <p:sp>
        <p:nvSpPr>
          <p:cNvPr id="17" name="Shape 15"/>
          <p:cNvSpPr/>
          <p:nvPr/>
        </p:nvSpPr>
        <p:spPr>
          <a:xfrm>
            <a:off x="502920" y="3474720"/>
            <a:ext cx="6309360" cy="457200"/>
          </a:xfrm>
          <a:prstGeom prst="rect">
            <a:avLst/>
          </a:prstGeom>
          <a:solidFill>
            <a:srgbClr val="F4F7F6"/>
          </a:solidFill>
          <a:ln w="6350">
            <a:solidFill>
              <a:srgbClr val="DCE5E2"/>
            </a:solidFill>
            <a:prstDash val="solid"/>
          </a:ln>
        </p:spPr>
      </p:sp>
      <p:sp>
        <p:nvSpPr>
          <p:cNvPr id="18" name="Text 16"/>
          <p:cNvSpPr/>
          <p:nvPr/>
        </p:nvSpPr>
        <p:spPr>
          <a:xfrm>
            <a:off x="630936" y="3474720"/>
            <a:ext cx="3108960" cy="457200"/>
          </a:xfrm>
          <a:prstGeom prst="rect">
            <a:avLst/>
          </a:prstGeom>
          <a:noFill/>
          <a:ln/>
        </p:spPr>
        <p:txBody>
          <a:bodyPr wrap="square" rtlCol="0" anchor="ctr"/>
          <a:lstStyle/>
          <a:p>
            <a:pPr indent="0" marL="0">
              <a:buNone/>
            </a:pPr>
            <a:r>
              <a:rPr lang="en-US" sz="1100" b="1" dirty="0">
                <a:solidFill>
                  <a:srgbClr val="12483F"/>
                </a:solidFill>
                <a:latin typeface="Calibri" pitchFamily="34" charset="0"/>
                <a:ea typeface="Calibri" pitchFamily="34" charset="-122"/>
                <a:cs typeface="Calibri" pitchFamily="34" charset="-120"/>
              </a:rPr>
              <a:t>Sentence Model</a:t>
            </a:r>
            <a:endParaRPr lang="en-US" sz="1100" dirty="0"/>
          </a:p>
        </p:txBody>
      </p:sp>
      <p:sp>
        <p:nvSpPr>
          <p:cNvPr id="19" name="Text 17"/>
          <p:cNvSpPr/>
          <p:nvPr/>
        </p:nvSpPr>
        <p:spPr>
          <a:xfrm>
            <a:off x="3794760" y="3474720"/>
            <a:ext cx="2880360" cy="457200"/>
          </a:xfrm>
          <a:prstGeom prst="rect">
            <a:avLst/>
          </a:prstGeom>
          <a:noFill/>
          <a:ln/>
        </p:spPr>
        <p:txBody>
          <a:bodyPr wrap="square" rtlCol="0" anchor="ctr"/>
          <a:lstStyle/>
          <a:p>
            <a:pPr indent="0" marL="0">
              <a:buNone/>
            </a:pPr>
            <a:r>
              <a:rPr lang="en-US" sz="1150" b="1" dirty="0">
                <a:solidFill>
                  <a:srgbClr val="1F2A28"/>
                </a:solidFill>
                <a:latin typeface="Cambria" pitchFamily="34" charset="0"/>
                <a:ea typeface="Cambria" pitchFamily="34" charset="-122"/>
                <a:cs typeface="Cambria" pitchFamily="34" charset="-120"/>
              </a:rPr>
              <a:t>paraphrase-multilingual-MiniLM-L12</a:t>
            </a:r>
            <a:endParaRPr lang="en-US" sz="1150" dirty="0"/>
          </a:p>
        </p:txBody>
      </p:sp>
      <p:sp>
        <p:nvSpPr>
          <p:cNvPr id="20" name="Text 18"/>
          <p:cNvSpPr/>
          <p:nvPr/>
        </p:nvSpPr>
        <p:spPr>
          <a:xfrm>
            <a:off x="502920" y="4160520"/>
            <a:ext cx="6309360" cy="237744"/>
          </a:xfrm>
          <a:prstGeom prst="rect">
            <a:avLst/>
          </a:prstGeom>
          <a:noFill/>
          <a:ln/>
        </p:spPr>
        <p:txBody>
          <a:bodyPr wrap="square" rtlCol="0" anchor="ctr"/>
          <a:lstStyle/>
          <a:p>
            <a:pPr indent="0" marL="0">
              <a:buNone/>
            </a:pPr>
            <a:r>
              <a:rPr lang="en-US" sz="1050" b="1" spc="100" kern="0" dirty="0">
                <a:solidFill>
                  <a:srgbClr val="12483F"/>
                </a:solidFill>
                <a:latin typeface="Calibri" pitchFamily="34" charset="0"/>
                <a:ea typeface="Calibri" pitchFamily="34" charset="-122"/>
                <a:cs typeface="Calibri" pitchFamily="34" charset="-120"/>
              </a:rPr>
              <a:t>INTERPRETASI HASIL</a:t>
            </a:r>
            <a:endParaRPr lang="en-US" sz="1050" dirty="0"/>
          </a:p>
        </p:txBody>
      </p:sp>
      <p:sp>
        <p:nvSpPr>
          <p:cNvPr id="21" name="Shape 19"/>
          <p:cNvSpPr/>
          <p:nvPr/>
        </p:nvSpPr>
        <p:spPr>
          <a:xfrm>
            <a:off x="530352" y="4526280"/>
            <a:ext cx="54864" cy="54864"/>
          </a:xfrm>
          <a:prstGeom prst="ellipse">
            <a:avLst/>
          </a:prstGeom>
          <a:solidFill>
            <a:srgbClr val="C79A45"/>
          </a:solidFill>
          <a:ln/>
        </p:spPr>
      </p:sp>
      <p:sp>
        <p:nvSpPr>
          <p:cNvPr id="22" name="Text 20"/>
          <p:cNvSpPr/>
          <p:nvPr/>
        </p:nvSpPr>
        <p:spPr>
          <a:xfrm>
            <a:off x="685800" y="4416552"/>
            <a:ext cx="6126480" cy="384048"/>
          </a:xfrm>
          <a:prstGeom prst="rect">
            <a:avLst/>
          </a:prstGeom>
          <a:noFill/>
          <a:ln/>
        </p:spPr>
        <p:txBody>
          <a:bodyPr wrap="square" rtlCol="0" anchor="t"/>
          <a:lstStyle/>
          <a:p>
            <a:pPr indent="0" marL="0">
              <a:lnSpc>
                <a:spcPct val="110000"/>
              </a:lnSpc>
              <a:buNone/>
            </a:pPr>
            <a:r>
              <a:rPr lang="en-US" sz="1000" dirty="0">
                <a:solidFill>
                  <a:srgbClr val="374644"/>
                </a:solidFill>
                <a:latin typeface="Calibri" pitchFamily="34" charset="0"/>
                <a:ea typeface="Calibri" pitchFamily="34" charset="-122"/>
                <a:cs typeface="Calibri" pitchFamily="34" charset="-120"/>
              </a:rPr>
              <a:t>Topik yang dihasilkan memiliki tingkat koherensi yang cukup baik.</a:t>
            </a:r>
            <a:endParaRPr lang="en-US" sz="1000" dirty="0"/>
          </a:p>
        </p:txBody>
      </p:sp>
      <p:sp>
        <p:nvSpPr>
          <p:cNvPr id="23" name="Shape 21"/>
          <p:cNvSpPr/>
          <p:nvPr/>
        </p:nvSpPr>
        <p:spPr>
          <a:xfrm>
            <a:off x="530352" y="4965192"/>
            <a:ext cx="54864" cy="54864"/>
          </a:xfrm>
          <a:prstGeom prst="ellipse">
            <a:avLst/>
          </a:prstGeom>
          <a:solidFill>
            <a:srgbClr val="C79A45"/>
          </a:solidFill>
          <a:ln/>
        </p:spPr>
      </p:sp>
      <p:sp>
        <p:nvSpPr>
          <p:cNvPr id="24" name="Text 22"/>
          <p:cNvSpPr/>
          <p:nvPr/>
        </p:nvSpPr>
        <p:spPr>
          <a:xfrm>
            <a:off x="685800" y="4855464"/>
            <a:ext cx="6126480" cy="384048"/>
          </a:xfrm>
          <a:prstGeom prst="rect">
            <a:avLst/>
          </a:prstGeom>
          <a:noFill/>
          <a:ln/>
        </p:spPr>
        <p:txBody>
          <a:bodyPr wrap="square" rtlCol="0" anchor="t"/>
          <a:lstStyle/>
          <a:p>
            <a:pPr indent="0" marL="0">
              <a:lnSpc>
                <a:spcPct val="110000"/>
              </a:lnSpc>
              <a:buNone/>
            </a:pPr>
            <a:r>
              <a:rPr lang="en-US" sz="1000" dirty="0">
                <a:solidFill>
                  <a:srgbClr val="374644"/>
                </a:solidFill>
                <a:latin typeface="Calibri" pitchFamily="34" charset="0"/>
                <a:ea typeface="Calibri" pitchFamily="34" charset="-122"/>
                <a:cs typeface="Calibri" pitchFamily="34" charset="-120"/>
              </a:rPr>
              <a:t>NPMI bernilai positif menunjukkan bahwa terdapat asosiasi statistik yang bermakna antar-kata dalam topik.</a:t>
            </a:r>
            <a:endParaRPr lang="en-US" sz="1000" dirty="0"/>
          </a:p>
        </p:txBody>
      </p:sp>
      <p:sp>
        <p:nvSpPr>
          <p:cNvPr id="25" name="Shape 23"/>
          <p:cNvSpPr/>
          <p:nvPr/>
        </p:nvSpPr>
        <p:spPr>
          <a:xfrm>
            <a:off x="530352" y="5404104"/>
            <a:ext cx="54864" cy="54864"/>
          </a:xfrm>
          <a:prstGeom prst="ellipse">
            <a:avLst/>
          </a:prstGeom>
          <a:solidFill>
            <a:srgbClr val="C79A45"/>
          </a:solidFill>
          <a:ln/>
        </p:spPr>
      </p:sp>
      <p:sp>
        <p:nvSpPr>
          <p:cNvPr id="26" name="Text 24"/>
          <p:cNvSpPr/>
          <p:nvPr/>
        </p:nvSpPr>
        <p:spPr>
          <a:xfrm>
            <a:off x="685800" y="5294376"/>
            <a:ext cx="6126480" cy="384048"/>
          </a:xfrm>
          <a:prstGeom prst="rect">
            <a:avLst/>
          </a:prstGeom>
          <a:noFill/>
          <a:ln/>
        </p:spPr>
        <p:txBody>
          <a:bodyPr wrap="square" rtlCol="0" anchor="t"/>
          <a:lstStyle/>
          <a:p>
            <a:pPr indent="0" marL="0">
              <a:lnSpc>
                <a:spcPct val="110000"/>
              </a:lnSpc>
              <a:buNone/>
            </a:pPr>
            <a:r>
              <a:rPr lang="en-US" sz="1000" dirty="0">
                <a:solidFill>
                  <a:srgbClr val="374644"/>
                </a:solidFill>
                <a:latin typeface="Calibri" pitchFamily="34" charset="0"/>
                <a:ea typeface="Calibri" pitchFamily="34" charset="-122"/>
                <a:cs typeface="Calibri" pitchFamily="34" charset="-120"/>
              </a:rPr>
              <a:t>Nilai UMass menunjukkan bahwa model memiliki konsistensi probabilistik yang baik terhadap distribusi dokumen.</a:t>
            </a:r>
            <a:endParaRPr lang="en-US" sz="1000" dirty="0"/>
          </a:p>
        </p:txBody>
      </p:sp>
      <p:sp>
        <p:nvSpPr>
          <p:cNvPr id="27" name="Shape 25"/>
          <p:cNvSpPr/>
          <p:nvPr/>
        </p:nvSpPr>
        <p:spPr>
          <a:xfrm>
            <a:off x="7452360" y="1645920"/>
            <a:ext cx="4233672" cy="2286000"/>
          </a:xfrm>
          <a:prstGeom prst="roundRect">
            <a:avLst>
              <a:gd name="adj" fmla="val 2800"/>
            </a:avLst>
          </a:prstGeom>
          <a:solidFill>
            <a:srgbClr val="FFFFFF"/>
          </a:solidFill>
          <a:ln w="9525">
            <a:solidFill>
              <a:srgbClr val="DCE5E2"/>
            </a:solidFill>
            <a:prstDash val="solid"/>
          </a:ln>
        </p:spPr>
      </p:sp>
      <p:pic>
        <p:nvPicPr>
          <p:cNvPr id="28" name="Image 0" descr="/home/claude/assets/bertopic_eval1.png">    </p:cNvPr>
          <p:cNvPicPr>
            <a:picLocks noChangeAspect="1"/>
          </p:cNvPicPr>
          <p:nvPr/>
        </p:nvPicPr>
        <p:blipFill>
          <a:blip r:embed="rId1"/>
          <a:stretch>
            <a:fillRect/>
          </a:stretch>
        </p:blipFill>
        <p:spPr>
          <a:xfrm>
            <a:off x="7543800" y="1868570"/>
            <a:ext cx="4050792" cy="1840700"/>
          </a:xfrm>
          <a:prstGeom prst="rect">
            <a:avLst/>
          </a:prstGeom>
        </p:spPr>
      </p:pic>
      <p:sp>
        <p:nvSpPr>
          <p:cNvPr id="29" name="Text 26"/>
          <p:cNvSpPr/>
          <p:nvPr/>
        </p:nvSpPr>
        <p:spPr>
          <a:xfrm>
            <a:off x="7452360" y="4023360"/>
            <a:ext cx="4233672" cy="256032"/>
          </a:xfrm>
          <a:prstGeom prst="rect">
            <a:avLst/>
          </a:prstGeom>
          <a:noFill/>
          <a:ln/>
        </p:spPr>
        <p:txBody>
          <a:bodyPr wrap="square" rtlCol="0" anchor="ctr"/>
          <a:lstStyle/>
          <a:p>
            <a:pPr indent="0" marL="0">
              <a:buNone/>
            </a:pPr>
            <a:r>
              <a:rPr lang="en-US" sz="850" i="1" dirty="0">
                <a:solidFill>
                  <a:srgbClr val="6B7A77"/>
                </a:solidFill>
                <a:latin typeface="Calibri" pitchFamily="34" charset="0"/>
                <a:ea typeface="Calibri" pitchFamily="34" charset="-122"/>
                <a:cs typeface="Calibri" pitchFamily="34" charset="-120"/>
              </a:rPr>
              <a:t>Grafik pendukung evaluasi parameter optimal BERTopic</a:t>
            </a:r>
            <a:endParaRPr lang="en-US" sz="850" dirty="0"/>
          </a:p>
        </p:txBody>
      </p:sp>
      <p:sp>
        <p:nvSpPr>
          <p:cNvPr id="30" name="Shape 27"/>
          <p:cNvSpPr/>
          <p:nvPr/>
        </p:nvSpPr>
        <p:spPr>
          <a:xfrm>
            <a:off x="7452360" y="4343400"/>
            <a:ext cx="4233672" cy="1965960"/>
          </a:xfrm>
          <a:prstGeom prst="roundRect">
            <a:avLst>
              <a:gd name="adj" fmla="val 3256"/>
            </a:avLst>
          </a:prstGeom>
          <a:solidFill>
            <a:srgbClr val="F3F7F6"/>
          </a:solidFill>
          <a:ln w="12700">
            <a:solidFill>
              <a:srgbClr val="E6EEEB"/>
            </a:solidFill>
            <a:prstDash val="solid"/>
          </a:ln>
        </p:spPr>
      </p:sp>
      <p:sp>
        <p:nvSpPr>
          <p:cNvPr id="31" name="Shape 28"/>
          <p:cNvSpPr/>
          <p:nvPr/>
        </p:nvSpPr>
        <p:spPr>
          <a:xfrm>
            <a:off x="7598664" y="4471416"/>
            <a:ext cx="82296" cy="82296"/>
          </a:xfrm>
          <a:prstGeom prst="roundRect">
            <a:avLst>
              <a:gd name="adj" fmla="val 50000"/>
            </a:avLst>
          </a:prstGeom>
          <a:solidFill>
            <a:srgbClr val="C79A45"/>
          </a:solidFill>
          <a:ln/>
        </p:spPr>
      </p:sp>
      <p:sp>
        <p:nvSpPr>
          <p:cNvPr id="32" name="Text 29"/>
          <p:cNvSpPr/>
          <p:nvPr/>
        </p:nvSpPr>
        <p:spPr>
          <a:xfrm>
            <a:off x="7763256" y="4416552"/>
            <a:ext cx="3776472"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CATATAN AKADEMIK</a:t>
            </a:r>
            <a:endParaRPr lang="en-US" sz="950" dirty="0"/>
          </a:p>
        </p:txBody>
      </p:sp>
      <p:sp>
        <p:nvSpPr>
          <p:cNvPr id="33" name="Text 30"/>
          <p:cNvSpPr/>
          <p:nvPr/>
        </p:nvSpPr>
        <p:spPr>
          <a:xfrm>
            <a:off x="7598664" y="4654296"/>
            <a:ext cx="3941064" cy="1581912"/>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Berbeda dari CTM yang berbasis Bag-of-Words, BERTopic memakai sentence embedding multibahasa (paraphrase-multilingual-MiniLM-L12) sehingga mampu menangkap kemiripan makna kontekstual antar-kalimat terjemahan, bukan sekadar ko-okurensi kata. Ini menjelaskan mengapa nilai NPMI BERTopic (+0.0530) positif, berbeda dari CTM yang negatif — representasi embedding menghasilkan klaster kata yang secara semantik lebih rapat.</a:t>
            </a:r>
            <a:endParaRPr lang="en-US" sz="1000" dirty="0"/>
          </a:p>
        </p:txBody>
      </p:sp>
      <p:sp>
        <p:nvSpPr>
          <p:cNvPr id="34" name="Text 31"/>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35" name="Text 32"/>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2327148" cy="310896"/>
          </a:xfrm>
          <a:prstGeom prst="roundRect">
            <a:avLst>
              <a:gd name="adj" fmla="val 50000"/>
            </a:avLst>
          </a:prstGeom>
          <a:solidFill>
            <a:srgbClr val="12483F"/>
          </a:solidFill>
          <a:ln/>
        </p:spPr>
      </p:sp>
      <p:sp>
        <p:nvSpPr>
          <p:cNvPr id="3" name="Text 1"/>
          <p:cNvSpPr/>
          <p:nvPr/>
        </p:nvSpPr>
        <p:spPr>
          <a:xfrm>
            <a:off x="502920" y="411480"/>
            <a:ext cx="2327148"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15 | BERTOPIC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800" b="1" dirty="0">
                <a:solidFill>
                  <a:srgbClr val="0D3B33"/>
                </a:solidFill>
                <a:latin typeface="Cambria" pitchFamily="34" charset="0"/>
                <a:ea typeface="Cambria" pitchFamily="34" charset="-122"/>
                <a:cs typeface="Cambria" pitchFamily="34" charset="-120"/>
              </a:rPr>
              <a:t>Grafik Topic Word Scores</a:t>
            </a:r>
            <a:endParaRPr lang="en-US" sz="2800" dirty="0"/>
          </a:p>
        </p:txBody>
      </p:sp>
      <p:sp>
        <p:nvSpPr>
          <p:cNvPr id="5" name="Shape 3"/>
          <p:cNvSpPr/>
          <p:nvPr/>
        </p:nvSpPr>
        <p:spPr>
          <a:xfrm>
            <a:off x="502920" y="1600200"/>
            <a:ext cx="7589520" cy="4709160"/>
          </a:xfrm>
          <a:prstGeom prst="roundRect">
            <a:avLst>
              <a:gd name="adj" fmla="val 1553"/>
            </a:avLst>
          </a:prstGeom>
          <a:solidFill>
            <a:srgbClr val="FFFFFF"/>
          </a:solidFill>
          <a:ln w="12700">
            <a:solidFill>
              <a:srgbClr val="DCE5E2"/>
            </a:solidFill>
            <a:prstDash val="solid"/>
          </a:ln>
          <a:effectLst>
            <a:outerShdw sx="100000" sy="100000" kx="0" ky="0" algn="bl" rotWithShape="0" blurRad="101600" dist="25400" dir="5400000">
              <a:srgbClr val="1F2A28">
                <a:alpha val="15000"/>
              </a:srgbClr>
            </a:outerShdw>
          </a:effectLst>
        </p:spPr>
      </p:sp>
      <p:pic>
        <p:nvPicPr>
          <p:cNvPr id="6" name="Image 0" descr="/home/claude/assets/bertopic_word_scores.png">    </p:cNvPr>
          <p:cNvPicPr>
            <a:picLocks noChangeAspect="1"/>
          </p:cNvPicPr>
          <p:nvPr/>
        </p:nvPicPr>
        <p:blipFill>
          <a:blip r:embed="rId1"/>
          <a:stretch>
            <a:fillRect/>
          </a:stretch>
        </p:blipFill>
        <p:spPr>
          <a:xfrm>
            <a:off x="1711498" y="1810512"/>
            <a:ext cx="5172363" cy="4279392"/>
          </a:xfrm>
          <a:prstGeom prst="rect">
            <a:avLst/>
          </a:prstGeom>
        </p:spPr>
      </p:pic>
      <p:sp>
        <p:nvSpPr>
          <p:cNvPr id="7" name="Shape 4"/>
          <p:cNvSpPr/>
          <p:nvPr/>
        </p:nvSpPr>
        <p:spPr>
          <a:xfrm>
            <a:off x="7909560" y="1600200"/>
            <a:ext cx="3776472" cy="4709160"/>
          </a:xfrm>
          <a:prstGeom prst="roundRect">
            <a:avLst>
              <a:gd name="adj" fmla="val 1695"/>
            </a:avLst>
          </a:prstGeom>
          <a:solidFill>
            <a:srgbClr val="F3F7F6"/>
          </a:solidFill>
          <a:ln w="12700">
            <a:solidFill>
              <a:srgbClr val="E6EEEB"/>
            </a:solidFill>
            <a:prstDash val="solid"/>
          </a:ln>
        </p:spPr>
      </p:sp>
      <p:sp>
        <p:nvSpPr>
          <p:cNvPr id="8" name="Shape 5"/>
          <p:cNvSpPr/>
          <p:nvPr/>
        </p:nvSpPr>
        <p:spPr>
          <a:xfrm>
            <a:off x="8055864" y="1728216"/>
            <a:ext cx="82296" cy="82296"/>
          </a:xfrm>
          <a:prstGeom prst="roundRect">
            <a:avLst>
              <a:gd name="adj" fmla="val 50000"/>
            </a:avLst>
          </a:prstGeom>
          <a:solidFill>
            <a:srgbClr val="C79A45"/>
          </a:solidFill>
          <a:ln/>
        </p:spPr>
      </p:sp>
      <p:sp>
        <p:nvSpPr>
          <p:cNvPr id="9" name="Text 6"/>
          <p:cNvSpPr/>
          <p:nvPr/>
        </p:nvSpPr>
        <p:spPr>
          <a:xfrm>
            <a:off x="8220456" y="1673352"/>
            <a:ext cx="3319272"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INTERPRETASI</a:t>
            </a:r>
            <a:endParaRPr lang="en-US" sz="950" dirty="0"/>
          </a:p>
        </p:txBody>
      </p:sp>
      <p:sp>
        <p:nvSpPr>
          <p:cNvPr id="10" name="Text 7"/>
          <p:cNvSpPr/>
          <p:nvPr/>
        </p:nvSpPr>
        <p:spPr>
          <a:xfrm>
            <a:off x="8055864" y="1911096"/>
            <a:ext cx="3483864" cy="4325112"/>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Grafik Topic Word Scores secara khusus berfungsi menampilkan topik berdasarkan tingkat dominansi atau frekuensi kemunculannya dalam dokumen.</a:t>
            </a:r>
            <a:endParaRPr lang="en-US" sz="1000" dirty="0"/>
          </a:p>
          <a:p>
            <a:pPr indent="0" marL="0">
              <a:lnSpc>
                <a:spcPct val="112000"/>
              </a:lnSpc>
              <a:buNone/>
            </a:pP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Nilai c-TF-IDF pada sumbu horizontal merepresentasikan seberapa khas suatu kata terhadap topiknya dibandingkan topik lain — semakin tinggi skor, semakin kata tersebut menjadi ciri pembeda (representative term) bagi topik yang bersangkutan.</a:t>
            </a:r>
            <a:endParaRPr lang="en-US" sz="1000" dirty="0"/>
          </a:p>
        </p:txBody>
      </p:sp>
      <p:sp>
        <p:nvSpPr>
          <p:cNvPr id="11" name="Text 8"/>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12" name="Text 9"/>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2327148" cy="310896"/>
          </a:xfrm>
          <a:prstGeom prst="roundRect">
            <a:avLst>
              <a:gd name="adj" fmla="val 50000"/>
            </a:avLst>
          </a:prstGeom>
          <a:solidFill>
            <a:srgbClr val="12483F"/>
          </a:solidFill>
          <a:ln/>
        </p:spPr>
      </p:sp>
      <p:sp>
        <p:nvSpPr>
          <p:cNvPr id="3" name="Text 1"/>
          <p:cNvSpPr/>
          <p:nvPr/>
        </p:nvSpPr>
        <p:spPr>
          <a:xfrm>
            <a:off x="502920" y="411480"/>
            <a:ext cx="2327148"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16 | BERTOPIC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800" b="1" dirty="0">
                <a:solidFill>
                  <a:srgbClr val="0D3B33"/>
                </a:solidFill>
                <a:latin typeface="Cambria" pitchFamily="34" charset="0"/>
                <a:ea typeface="Cambria" pitchFamily="34" charset="-122"/>
                <a:cs typeface="Cambria" pitchFamily="34" charset="-120"/>
              </a:rPr>
              <a:t>Hasil Topik Model BERTopic</a:t>
            </a:r>
            <a:endParaRPr lang="en-US" sz="2800" dirty="0"/>
          </a:p>
        </p:txBody>
      </p:sp>
      <p:sp>
        <p:nvSpPr>
          <p:cNvPr id="5" name="Shape 3"/>
          <p:cNvSpPr/>
          <p:nvPr/>
        </p:nvSpPr>
        <p:spPr>
          <a:xfrm>
            <a:off x="502920" y="1645920"/>
            <a:ext cx="5440680" cy="4572000"/>
          </a:xfrm>
          <a:prstGeom prst="roundRect">
            <a:avLst>
              <a:gd name="adj" fmla="val 1400"/>
            </a:avLst>
          </a:prstGeom>
          <a:solidFill>
            <a:srgbClr val="FFFFFF"/>
          </a:solidFill>
          <a:ln w="12700">
            <a:solidFill>
              <a:srgbClr val="DCE5E2"/>
            </a:solidFill>
            <a:prstDash val="solid"/>
          </a:ln>
          <a:effectLst>
            <a:outerShdw sx="100000" sy="100000" kx="0" ky="0" algn="bl" rotWithShape="0" blurRad="76200" dist="25400" dir="5400000">
              <a:srgbClr val="1F2A28">
                <a:alpha val="12000"/>
              </a:srgbClr>
            </a:outerShdw>
          </a:effectLst>
        </p:spPr>
      </p:sp>
      <p:sp>
        <p:nvSpPr>
          <p:cNvPr id="6" name="Shape 4"/>
          <p:cNvSpPr/>
          <p:nvPr/>
        </p:nvSpPr>
        <p:spPr>
          <a:xfrm>
            <a:off x="6263640" y="1645920"/>
            <a:ext cx="5440680" cy="4572000"/>
          </a:xfrm>
          <a:prstGeom prst="roundRect">
            <a:avLst>
              <a:gd name="adj" fmla="val 1400"/>
            </a:avLst>
          </a:prstGeom>
          <a:solidFill>
            <a:srgbClr val="FFFFFF"/>
          </a:solidFill>
          <a:ln w="12700">
            <a:solidFill>
              <a:srgbClr val="DCE5E2"/>
            </a:solidFill>
            <a:prstDash val="solid"/>
          </a:ln>
          <a:effectLst>
            <a:outerShdw sx="100000" sy="100000" kx="0" ky="0" algn="bl" rotWithShape="0" blurRad="76200" dist="25400" dir="5400000">
              <a:srgbClr val="1F2A28">
                <a:alpha val="12000"/>
              </a:srgbClr>
            </a:outerShdw>
          </a:effectLst>
        </p:spPr>
      </p:sp>
      <p:pic>
        <p:nvPicPr>
          <p:cNvPr id="7" name="Image 0" descr="/home/claude/assets/bertopic_topics1.png">    </p:cNvPr>
          <p:cNvPicPr>
            <a:picLocks noChangeAspect="1"/>
          </p:cNvPicPr>
          <p:nvPr/>
        </p:nvPicPr>
        <p:blipFill>
          <a:blip r:embed="rId1"/>
          <a:stretch>
            <a:fillRect/>
          </a:stretch>
        </p:blipFill>
        <p:spPr>
          <a:xfrm>
            <a:off x="1410111" y="1783080"/>
            <a:ext cx="3626297" cy="4297680"/>
          </a:xfrm>
          <a:prstGeom prst="rect">
            <a:avLst/>
          </a:prstGeom>
        </p:spPr>
      </p:pic>
      <p:pic>
        <p:nvPicPr>
          <p:cNvPr id="8" name="Image 1" descr="/home/claude/assets/bertopic_topics2.png">    </p:cNvPr>
          <p:cNvPicPr>
            <a:picLocks noChangeAspect="1"/>
          </p:cNvPicPr>
          <p:nvPr/>
        </p:nvPicPr>
        <p:blipFill>
          <a:blip r:embed="rId2"/>
          <a:stretch>
            <a:fillRect/>
          </a:stretch>
        </p:blipFill>
        <p:spPr>
          <a:xfrm>
            <a:off x="6949745" y="1783080"/>
            <a:ext cx="4068470" cy="4297680"/>
          </a:xfrm>
          <a:prstGeom prst="rect">
            <a:avLst/>
          </a:prstGeom>
        </p:spPr>
      </p:pic>
      <p:sp>
        <p:nvSpPr>
          <p:cNvPr id="9" name="Text 5"/>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10" name="Text 6"/>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2327148" cy="310896"/>
          </a:xfrm>
          <a:prstGeom prst="roundRect">
            <a:avLst>
              <a:gd name="adj" fmla="val 50000"/>
            </a:avLst>
          </a:prstGeom>
          <a:solidFill>
            <a:srgbClr val="12483F"/>
          </a:solidFill>
          <a:ln/>
        </p:spPr>
      </p:sp>
      <p:sp>
        <p:nvSpPr>
          <p:cNvPr id="3" name="Text 1"/>
          <p:cNvSpPr/>
          <p:nvPr/>
        </p:nvSpPr>
        <p:spPr>
          <a:xfrm>
            <a:off x="502920" y="411480"/>
            <a:ext cx="2327148"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17 | BERTOPIC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800" b="1" dirty="0">
                <a:solidFill>
                  <a:srgbClr val="0D3B33"/>
                </a:solidFill>
                <a:latin typeface="Cambria" pitchFamily="34" charset="0"/>
                <a:ea typeface="Cambria" pitchFamily="34" charset="-122"/>
                <a:cs typeface="Cambria" pitchFamily="34" charset="-120"/>
              </a:rPr>
              <a:t>Hasil Topik Model BERTopic</a:t>
            </a:r>
            <a:endParaRPr lang="en-US" sz="2800" dirty="0"/>
          </a:p>
        </p:txBody>
      </p:sp>
      <p:sp>
        <p:nvSpPr>
          <p:cNvPr id="5" name="Shape 3"/>
          <p:cNvSpPr/>
          <p:nvPr/>
        </p:nvSpPr>
        <p:spPr>
          <a:xfrm>
            <a:off x="502920" y="1645920"/>
            <a:ext cx="5440680" cy="4572000"/>
          </a:xfrm>
          <a:prstGeom prst="roundRect">
            <a:avLst>
              <a:gd name="adj" fmla="val 1400"/>
            </a:avLst>
          </a:prstGeom>
          <a:solidFill>
            <a:srgbClr val="FFFFFF"/>
          </a:solidFill>
          <a:ln w="12700">
            <a:solidFill>
              <a:srgbClr val="DCE5E2"/>
            </a:solidFill>
            <a:prstDash val="solid"/>
          </a:ln>
          <a:effectLst>
            <a:outerShdw sx="100000" sy="100000" kx="0" ky="0" algn="bl" rotWithShape="0" blurRad="76200" dist="25400" dir="5400000">
              <a:srgbClr val="1F2A28">
                <a:alpha val="12000"/>
              </a:srgbClr>
            </a:outerShdw>
          </a:effectLst>
        </p:spPr>
      </p:sp>
      <p:sp>
        <p:nvSpPr>
          <p:cNvPr id="6" name="Shape 4"/>
          <p:cNvSpPr/>
          <p:nvPr/>
        </p:nvSpPr>
        <p:spPr>
          <a:xfrm>
            <a:off x="6263640" y="1645920"/>
            <a:ext cx="5440680" cy="4572000"/>
          </a:xfrm>
          <a:prstGeom prst="roundRect">
            <a:avLst>
              <a:gd name="adj" fmla="val 1400"/>
            </a:avLst>
          </a:prstGeom>
          <a:solidFill>
            <a:srgbClr val="FFFFFF"/>
          </a:solidFill>
          <a:ln w="12700">
            <a:solidFill>
              <a:srgbClr val="DCE5E2"/>
            </a:solidFill>
            <a:prstDash val="solid"/>
          </a:ln>
          <a:effectLst>
            <a:outerShdw sx="100000" sy="100000" kx="0" ky="0" algn="bl" rotWithShape="0" blurRad="76200" dist="25400" dir="5400000">
              <a:srgbClr val="1F2A28">
                <a:alpha val="12000"/>
              </a:srgbClr>
            </a:outerShdw>
          </a:effectLst>
        </p:spPr>
      </p:sp>
      <p:pic>
        <p:nvPicPr>
          <p:cNvPr id="7" name="Image 0" descr="/home/claude/assets/bertopic_topics3.png">    </p:cNvPr>
          <p:cNvPicPr>
            <a:picLocks noChangeAspect="1"/>
          </p:cNvPicPr>
          <p:nvPr/>
        </p:nvPicPr>
        <p:blipFill>
          <a:blip r:embed="rId1"/>
          <a:stretch>
            <a:fillRect/>
          </a:stretch>
        </p:blipFill>
        <p:spPr>
          <a:xfrm>
            <a:off x="1126998" y="1783080"/>
            <a:ext cx="4192524" cy="4297680"/>
          </a:xfrm>
          <a:prstGeom prst="rect">
            <a:avLst/>
          </a:prstGeom>
        </p:spPr>
      </p:pic>
      <p:pic>
        <p:nvPicPr>
          <p:cNvPr id="8" name="Image 1" descr="/home/claude/assets/bertopic_topics4.png">    </p:cNvPr>
          <p:cNvPicPr>
            <a:picLocks noChangeAspect="1"/>
          </p:cNvPicPr>
          <p:nvPr/>
        </p:nvPicPr>
        <p:blipFill>
          <a:blip r:embed="rId2"/>
          <a:stretch>
            <a:fillRect/>
          </a:stretch>
        </p:blipFill>
        <p:spPr>
          <a:xfrm>
            <a:off x="6887718" y="1783080"/>
            <a:ext cx="4192524" cy="4297680"/>
          </a:xfrm>
          <a:prstGeom prst="rect">
            <a:avLst/>
          </a:prstGeom>
        </p:spPr>
      </p:pic>
      <p:sp>
        <p:nvSpPr>
          <p:cNvPr id="9" name="Text 5"/>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10" name="Text 6"/>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2327148" cy="310896"/>
          </a:xfrm>
          <a:prstGeom prst="roundRect">
            <a:avLst>
              <a:gd name="adj" fmla="val 50000"/>
            </a:avLst>
          </a:prstGeom>
          <a:solidFill>
            <a:srgbClr val="12483F"/>
          </a:solidFill>
          <a:ln/>
        </p:spPr>
      </p:sp>
      <p:sp>
        <p:nvSpPr>
          <p:cNvPr id="3" name="Text 1"/>
          <p:cNvSpPr/>
          <p:nvPr/>
        </p:nvSpPr>
        <p:spPr>
          <a:xfrm>
            <a:off x="502920" y="411480"/>
            <a:ext cx="2327148"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18 | BERTOPIC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800" b="1" dirty="0">
                <a:solidFill>
                  <a:srgbClr val="0D3B33"/>
                </a:solidFill>
                <a:latin typeface="Cambria" pitchFamily="34" charset="0"/>
                <a:ea typeface="Cambria" pitchFamily="34" charset="-122"/>
                <a:cs typeface="Cambria" pitchFamily="34" charset="-120"/>
              </a:rPr>
              <a:t>Hasil Topik Model BERTopic</a:t>
            </a:r>
            <a:endParaRPr lang="en-US" sz="2800" dirty="0"/>
          </a:p>
        </p:txBody>
      </p:sp>
      <p:sp>
        <p:nvSpPr>
          <p:cNvPr id="5" name="Shape 3"/>
          <p:cNvSpPr/>
          <p:nvPr/>
        </p:nvSpPr>
        <p:spPr>
          <a:xfrm>
            <a:off x="502920" y="1645920"/>
            <a:ext cx="6949440" cy="4434840"/>
          </a:xfrm>
          <a:prstGeom prst="roundRect">
            <a:avLst>
              <a:gd name="adj" fmla="val 1649"/>
            </a:avLst>
          </a:prstGeom>
          <a:solidFill>
            <a:srgbClr val="FFFFFF"/>
          </a:solidFill>
          <a:ln w="12700">
            <a:solidFill>
              <a:srgbClr val="DCE5E2"/>
            </a:solidFill>
            <a:prstDash val="solid"/>
          </a:ln>
          <a:effectLst>
            <a:outerShdw sx="100000" sy="100000" kx="0" ky="0" algn="bl" rotWithShape="0" blurRad="101600" dist="25400" dir="5400000">
              <a:srgbClr val="1F2A28">
                <a:alpha val="15000"/>
              </a:srgbClr>
            </a:outerShdw>
          </a:effectLst>
        </p:spPr>
      </p:sp>
      <p:pic>
        <p:nvPicPr>
          <p:cNvPr id="6" name="Image 0" descr="/home/claude/assets/bertopic_topics_final.png">    </p:cNvPr>
          <p:cNvPicPr>
            <a:picLocks noChangeAspect="1"/>
          </p:cNvPicPr>
          <p:nvPr/>
        </p:nvPicPr>
        <p:blipFill>
          <a:blip r:embed="rId1"/>
          <a:stretch>
            <a:fillRect/>
          </a:stretch>
        </p:blipFill>
        <p:spPr>
          <a:xfrm>
            <a:off x="2014049" y="1810512"/>
            <a:ext cx="3927182" cy="4114800"/>
          </a:xfrm>
          <a:prstGeom prst="rect">
            <a:avLst/>
          </a:prstGeom>
        </p:spPr>
      </p:pic>
      <p:sp>
        <p:nvSpPr>
          <p:cNvPr id="7" name="Shape 4"/>
          <p:cNvSpPr/>
          <p:nvPr/>
        </p:nvSpPr>
        <p:spPr>
          <a:xfrm>
            <a:off x="8001000" y="1645920"/>
            <a:ext cx="3685032" cy="4434840"/>
          </a:xfrm>
          <a:prstGeom prst="roundRect">
            <a:avLst>
              <a:gd name="adj" fmla="val 1737"/>
            </a:avLst>
          </a:prstGeom>
          <a:solidFill>
            <a:srgbClr val="F3F7F6"/>
          </a:solidFill>
          <a:ln w="12700">
            <a:solidFill>
              <a:srgbClr val="E6EEEB"/>
            </a:solidFill>
            <a:prstDash val="solid"/>
          </a:ln>
        </p:spPr>
      </p:sp>
      <p:sp>
        <p:nvSpPr>
          <p:cNvPr id="8" name="Shape 5"/>
          <p:cNvSpPr/>
          <p:nvPr/>
        </p:nvSpPr>
        <p:spPr>
          <a:xfrm>
            <a:off x="8147304" y="1773936"/>
            <a:ext cx="82296" cy="82296"/>
          </a:xfrm>
          <a:prstGeom prst="roundRect">
            <a:avLst>
              <a:gd name="adj" fmla="val 50000"/>
            </a:avLst>
          </a:prstGeom>
          <a:solidFill>
            <a:srgbClr val="C79A45"/>
          </a:solidFill>
          <a:ln/>
        </p:spPr>
      </p:sp>
      <p:sp>
        <p:nvSpPr>
          <p:cNvPr id="9" name="Text 6"/>
          <p:cNvSpPr/>
          <p:nvPr/>
        </p:nvSpPr>
        <p:spPr>
          <a:xfrm>
            <a:off x="8311896" y="1719072"/>
            <a:ext cx="3227832"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SINTESIS TEMA</a:t>
            </a:r>
            <a:endParaRPr lang="en-US" sz="950" dirty="0"/>
          </a:p>
        </p:txBody>
      </p:sp>
      <p:sp>
        <p:nvSpPr>
          <p:cNvPr id="10" name="Text 7"/>
          <p:cNvSpPr/>
          <p:nvPr/>
        </p:nvSpPr>
        <p:spPr>
          <a:xfrm>
            <a:off x="8147304" y="1956816"/>
            <a:ext cx="3392424" cy="4050792"/>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Topik-topik yang dihasilkan memiliki koherensi semantik yang jelas dan mencerminkan tema-tema seperti:</a:t>
            </a:r>
            <a:endParaRPr lang="en-US" sz="1000" dirty="0"/>
          </a:p>
          <a:p>
            <a:pPr indent="0" marL="0">
              <a:lnSpc>
                <a:spcPct val="112000"/>
              </a:lnSpc>
              <a:buNone/>
            </a:pP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 Ketuhanan</a:t>
            </a: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 Kenabian</a:t>
            </a: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 Keimanan</a:t>
            </a: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 Akhlak</a:t>
            </a: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 Eskatologi (hari kiamat, surga, dan neraka)</a:t>
            </a: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 Ilmu pengetahuan (science)</a:t>
            </a: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 Sosial</a:t>
            </a: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 Hukum</a:t>
            </a:r>
            <a:endParaRPr lang="en-US" sz="1000" dirty="0"/>
          </a:p>
          <a:p>
            <a:pPr indent="0" marL="0">
              <a:lnSpc>
                <a:spcPct val="112000"/>
              </a:lnSpc>
              <a:buNone/>
            </a:pP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Kesesuaian tema ini dengan kategorisasi klasik studi Al-Qur’an (ulumul Qur’an) memperkuat validitas hasil pemodelan topik secara kualitatif.</a:t>
            </a:r>
            <a:endParaRPr lang="en-US" sz="1000" dirty="0"/>
          </a:p>
        </p:txBody>
      </p:sp>
      <p:sp>
        <p:nvSpPr>
          <p:cNvPr id="11" name="Text 8"/>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12" name="Text 9"/>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2327148" cy="310896"/>
          </a:xfrm>
          <a:prstGeom prst="roundRect">
            <a:avLst>
              <a:gd name="adj" fmla="val 50000"/>
            </a:avLst>
          </a:prstGeom>
          <a:solidFill>
            <a:srgbClr val="12483F"/>
          </a:solidFill>
          <a:ln/>
        </p:spPr>
      </p:sp>
      <p:sp>
        <p:nvSpPr>
          <p:cNvPr id="3" name="Text 1"/>
          <p:cNvSpPr/>
          <p:nvPr/>
        </p:nvSpPr>
        <p:spPr>
          <a:xfrm>
            <a:off x="502920" y="411480"/>
            <a:ext cx="2327148"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19 | BERTOPIC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400" b="1" dirty="0">
                <a:solidFill>
                  <a:srgbClr val="0D3B33"/>
                </a:solidFill>
                <a:latin typeface="Cambria" pitchFamily="34" charset="0"/>
                <a:ea typeface="Cambria" pitchFamily="34" charset="-122"/>
                <a:cs typeface="Cambria" pitchFamily="34" charset="-120"/>
              </a:rPr>
              <a:t>Penggabungan Hasil Topik CTM &amp; BERTopic</a:t>
            </a:r>
            <a:endParaRPr lang="en-US" sz="2400" dirty="0"/>
          </a:p>
        </p:txBody>
      </p:sp>
      <p:sp>
        <p:nvSpPr>
          <p:cNvPr id="5" name="Shape 3"/>
          <p:cNvSpPr/>
          <p:nvPr/>
        </p:nvSpPr>
        <p:spPr>
          <a:xfrm>
            <a:off x="502920" y="4160520"/>
            <a:ext cx="2331720" cy="384048"/>
          </a:xfrm>
          <a:prstGeom prst="roundRect">
            <a:avLst>
              <a:gd name="adj" fmla="val 50000"/>
            </a:avLst>
          </a:prstGeom>
          <a:solidFill>
            <a:srgbClr val="C79A45"/>
          </a:solidFill>
          <a:ln/>
        </p:spPr>
      </p:sp>
      <p:sp>
        <p:nvSpPr>
          <p:cNvPr id="6" name="Text 4"/>
          <p:cNvSpPr/>
          <p:nvPr/>
        </p:nvSpPr>
        <p:spPr>
          <a:xfrm>
            <a:off x="502920" y="4160520"/>
            <a:ext cx="2331720" cy="384048"/>
          </a:xfrm>
          <a:prstGeom prst="rect">
            <a:avLst/>
          </a:prstGeom>
          <a:noFill/>
          <a:ln/>
        </p:spPr>
        <p:txBody>
          <a:bodyPr wrap="square" rtlCol="0" anchor="ctr"/>
          <a:lstStyle/>
          <a:p>
            <a:pPr algn="ctr" indent="0" marL="0">
              <a:buNone/>
            </a:pPr>
            <a:r>
              <a:rPr lang="en-US" sz="1050" b="1" spc="50" kern="0" dirty="0">
                <a:solidFill>
                  <a:srgbClr val="0D3B33"/>
                </a:solidFill>
                <a:latin typeface="Calibri" pitchFamily="34" charset="0"/>
                <a:ea typeface="Calibri" pitchFamily="34" charset="-122"/>
                <a:cs typeface="Calibri" pitchFamily="34" charset="-120"/>
              </a:rPr>
              <a:t>JACCARD SIMILARITY</a:t>
            </a:r>
            <a:endParaRPr lang="en-US" sz="1050" dirty="0"/>
          </a:p>
        </p:txBody>
      </p:sp>
      <p:sp>
        <p:nvSpPr>
          <p:cNvPr id="7" name="Shape 5"/>
          <p:cNvSpPr/>
          <p:nvPr/>
        </p:nvSpPr>
        <p:spPr>
          <a:xfrm>
            <a:off x="502920" y="1536192"/>
            <a:ext cx="11183112" cy="2514600"/>
          </a:xfrm>
          <a:prstGeom prst="roundRect">
            <a:avLst>
              <a:gd name="adj" fmla="val 2909"/>
            </a:avLst>
          </a:prstGeom>
          <a:solidFill>
            <a:srgbClr val="FFFFFF"/>
          </a:solidFill>
          <a:ln w="12700">
            <a:solidFill>
              <a:srgbClr val="DCE5E2"/>
            </a:solidFill>
            <a:prstDash val="solid"/>
          </a:ln>
          <a:effectLst>
            <a:outerShdw sx="100000" sy="100000" kx="0" ky="0" algn="bl" rotWithShape="0" blurRad="101600" dist="25400" dir="5400000">
              <a:srgbClr val="1F2A28">
                <a:alpha val="15000"/>
              </a:srgbClr>
            </a:outerShdw>
          </a:effectLst>
        </p:spPr>
      </p:sp>
      <p:pic>
        <p:nvPicPr>
          <p:cNvPr id="8" name="Image 0" descr="/home/claude/assets/jaccard_merge.png">    </p:cNvPr>
          <p:cNvPicPr>
            <a:picLocks noChangeAspect="1"/>
          </p:cNvPicPr>
          <p:nvPr/>
        </p:nvPicPr>
        <p:blipFill>
          <a:blip r:embed="rId1"/>
          <a:stretch>
            <a:fillRect/>
          </a:stretch>
        </p:blipFill>
        <p:spPr>
          <a:xfrm>
            <a:off x="4241447" y="1691640"/>
            <a:ext cx="3706058" cy="2194560"/>
          </a:xfrm>
          <a:prstGeom prst="rect">
            <a:avLst/>
          </a:prstGeom>
        </p:spPr>
      </p:pic>
      <p:sp>
        <p:nvSpPr>
          <p:cNvPr id="9" name="Shape 6"/>
          <p:cNvSpPr/>
          <p:nvPr/>
        </p:nvSpPr>
        <p:spPr>
          <a:xfrm>
            <a:off x="502920" y="4663440"/>
            <a:ext cx="11183112" cy="1691640"/>
          </a:xfrm>
          <a:prstGeom prst="roundRect">
            <a:avLst>
              <a:gd name="adj" fmla="val 3784"/>
            </a:avLst>
          </a:prstGeom>
          <a:solidFill>
            <a:srgbClr val="F3F7F6"/>
          </a:solidFill>
          <a:ln w="12700">
            <a:solidFill>
              <a:srgbClr val="E6EEEB"/>
            </a:solidFill>
            <a:prstDash val="solid"/>
          </a:ln>
        </p:spPr>
      </p:sp>
      <p:sp>
        <p:nvSpPr>
          <p:cNvPr id="10" name="Shape 7"/>
          <p:cNvSpPr/>
          <p:nvPr/>
        </p:nvSpPr>
        <p:spPr>
          <a:xfrm>
            <a:off x="649224" y="4791456"/>
            <a:ext cx="82296" cy="82296"/>
          </a:xfrm>
          <a:prstGeom prst="roundRect">
            <a:avLst>
              <a:gd name="adj" fmla="val 50000"/>
            </a:avLst>
          </a:prstGeom>
          <a:solidFill>
            <a:srgbClr val="C79A45"/>
          </a:solidFill>
          <a:ln/>
        </p:spPr>
      </p:sp>
      <p:sp>
        <p:nvSpPr>
          <p:cNvPr id="11" name="Text 8"/>
          <p:cNvSpPr/>
          <p:nvPr/>
        </p:nvSpPr>
        <p:spPr>
          <a:xfrm>
            <a:off x="813816" y="4736592"/>
            <a:ext cx="10725912"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CATATAN AKADEMIK — JACCARD SIMILARITY</a:t>
            </a:r>
            <a:endParaRPr lang="en-US" sz="950" dirty="0"/>
          </a:p>
        </p:txBody>
      </p:sp>
      <p:sp>
        <p:nvSpPr>
          <p:cNvPr id="12" name="Text 9"/>
          <p:cNvSpPr/>
          <p:nvPr/>
        </p:nvSpPr>
        <p:spPr>
          <a:xfrm>
            <a:off x="649224" y="4974336"/>
            <a:ext cx="10890504" cy="1307592"/>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Jaccard Similarity mengukur kemiripan dua himpunan kata kunci topik melalui rasio irisan terhadap gabungan: J(A,B) = |A ∩ B| / |A ∪ B|, menghasilkan nilai 0 (tidak ada kemiripan) hingga 1 (identik). Metode ini digunakan untuk memetakan pasangan topik CTM dan BERTopic yang membahas tema serupa, sehingga kedua model dapat dibandingkan dan digabungkan hasil interpretasinya secara sistematis — bukan hanya dievaluasi secara terpisah, melainkan disatukan menjadi peta tema utama Al-Qur’an yang lebih komprehensif.</a:t>
            </a:r>
            <a:endParaRPr lang="en-US" sz="1000" dirty="0"/>
          </a:p>
        </p:txBody>
      </p:sp>
      <p:sp>
        <p:nvSpPr>
          <p:cNvPr id="13" name="Text 10"/>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14" name="Text 11"/>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3095244" cy="310896"/>
          </a:xfrm>
          <a:prstGeom prst="roundRect">
            <a:avLst>
              <a:gd name="adj" fmla="val 50000"/>
            </a:avLst>
          </a:prstGeom>
          <a:solidFill>
            <a:srgbClr val="12483F"/>
          </a:solidFill>
          <a:ln/>
        </p:spPr>
      </p:sp>
      <p:sp>
        <p:nvSpPr>
          <p:cNvPr id="3" name="Text 1"/>
          <p:cNvSpPr/>
          <p:nvPr/>
        </p:nvSpPr>
        <p:spPr>
          <a:xfrm>
            <a:off x="502920" y="411480"/>
            <a:ext cx="3095244"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20 | CORRELATED 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600" b="1" dirty="0">
                <a:solidFill>
                  <a:srgbClr val="0D3B33"/>
                </a:solidFill>
                <a:latin typeface="Cambria" pitchFamily="34" charset="0"/>
                <a:ea typeface="Cambria" pitchFamily="34" charset="-122"/>
                <a:cs typeface="Cambria" pitchFamily="34" charset="-120"/>
              </a:rPr>
              <a:t>Human Interpretability Analysis</a:t>
            </a:r>
            <a:endParaRPr lang="en-US" sz="2600" dirty="0"/>
          </a:p>
        </p:txBody>
      </p:sp>
      <p:sp>
        <p:nvSpPr>
          <p:cNvPr id="5" name="Shape 3"/>
          <p:cNvSpPr/>
          <p:nvPr/>
        </p:nvSpPr>
        <p:spPr>
          <a:xfrm>
            <a:off x="502920" y="1600200"/>
            <a:ext cx="7818120" cy="4709160"/>
          </a:xfrm>
          <a:prstGeom prst="roundRect">
            <a:avLst>
              <a:gd name="adj" fmla="val 1553"/>
            </a:avLst>
          </a:prstGeom>
          <a:solidFill>
            <a:srgbClr val="FFFFFF"/>
          </a:solidFill>
          <a:ln w="12700">
            <a:solidFill>
              <a:srgbClr val="DCE5E2"/>
            </a:solidFill>
            <a:prstDash val="solid"/>
          </a:ln>
          <a:effectLst>
            <a:outerShdw sx="100000" sy="100000" kx="0" ky="0" algn="bl" rotWithShape="0" blurRad="101600" dist="25400" dir="5400000">
              <a:srgbClr val="1F2A28">
                <a:alpha val="15000"/>
              </a:srgbClr>
            </a:outerShdw>
          </a:effectLst>
        </p:spPr>
      </p:sp>
      <p:pic>
        <p:nvPicPr>
          <p:cNvPr id="6" name="Image 0" descr="/home/claude/assets/human_interp1.png">    </p:cNvPr>
          <p:cNvPicPr>
            <a:picLocks noChangeAspect="1"/>
          </p:cNvPicPr>
          <p:nvPr/>
        </p:nvPicPr>
        <p:blipFill>
          <a:blip r:embed="rId1"/>
          <a:stretch>
            <a:fillRect/>
          </a:stretch>
        </p:blipFill>
        <p:spPr>
          <a:xfrm>
            <a:off x="2470644" y="1783080"/>
            <a:ext cx="3882673" cy="4343400"/>
          </a:xfrm>
          <a:prstGeom prst="rect">
            <a:avLst/>
          </a:prstGeom>
        </p:spPr>
      </p:pic>
      <p:sp>
        <p:nvSpPr>
          <p:cNvPr id="7" name="Shape 4"/>
          <p:cNvSpPr/>
          <p:nvPr/>
        </p:nvSpPr>
        <p:spPr>
          <a:xfrm>
            <a:off x="8183880" y="1600200"/>
            <a:ext cx="3502152" cy="4709160"/>
          </a:xfrm>
          <a:prstGeom prst="roundRect">
            <a:avLst>
              <a:gd name="adj" fmla="val 1828"/>
            </a:avLst>
          </a:prstGeom>
          <a:solidFill>
            <a:srgbClr val="F3F7F6"/>
          </a:solidFill>
          <a:ln w="12700">
            <a:solidFill>
              <a:srgbClr val="E6EEEB"/>
            </a:solidFill>
            <a:prstDash val="solid"/>
          </a:ln>
        </p:spPr>
      </p:sp>
      <p:sp>
        <p:nvSpPr>
          <p:cNvPr id="8" name="Shape 5"/>
          <p:cNvSpPr/>
          <p:nvPr/>
        </p:nvSpPr>
        <p:spPr>
          <a:xfrm>
            <a:off x="8330184" y="1728216"/>
            <a:ext cx="82296" cy="82296"/>
          </a:xfrm>
          <a:prstGeom prst="roundRect">
            <a:avLst>
              <a:gd name="adj" fmla="val 50000"/>
            </a:avLst>
          </a:prstGeom>
          <a:solidFill>
            <a:srgbClr val="C79A45"/>
          </a:solidFill>
          <a:ln/>
        </p:spPr>
      </p:sp>
      <p:sp>
        <p:nvSpPr>
          <p:cNvPr id="9" name="Text 6"/>
          <p:cNvSpPr/>
          <p:nvPr/>
        </p:nvSpPr>
        <p:spPr>
          <a:xfrm>
            <a:off x="8494776" y="1673352"/>
            <a:ext cx="3044952" cy="219456"/>
          </a:xfrm>
          <a:prstGeom prst="rect">
            <a:avLst/>
          </a:prstGeom>
          <a:noFill/>
          <a:ln/>
        </p:spPr>
        <p:txBody>
          <a:bodyPr wrap="square" rtlCol="0" anchor="ctr"/>
          <a:lstStyle/>
          <a:p>
            <a:pPr indent="0" marL="0">
              <a:buNone/>
            </a:pPr>
            <a:r>
              <a:rPr lang="en-US" sz="950" b="1" spc="50" kern="0" dirty="0">
                <a:solidFill>
                  <a:srgbClr val="12483F"/>
                </a:solidFill>
                <a:latin typeface="Calibri" pitchFamily="34" charset="0"/>
                <a:ea typeface="Calibri" pitchFamily="34" charset="-122"/>
                <a:cs typeface="Calibri" pitchFamily="34" charset="-120"/>
              </a:rPr>
              <a:t>TENTANG HUMAN INTERPRETABILITY</a:t>
            </a:r>
            <a:endParaRPr lang="en-US" sz="950" dirty="0"/>
          </a:p>
        </p:txBody>
      </p:sp>
      <p:sp>
        <p:nvSpPr>
          <p:cNvPr id="10" name="Text 7"/>
          <p:cNvSpPr/>
          <p:nvPr/>
        </p:nvSpPr>
        <p:spPr>
          <a:xfrm>
            <a:off x="8330184" y="1911096"/>
            <a:ext cx="3209544" cy="4325112"/>
          </a:xfrm>
          <a:prstGeom prst="rect">
            <a:avLst/>
          </a:prstGeom>
          <a:noFill/>
          <a:ln/>
        </p:spPr>
        <p:txBody>
          <a:bodyPr wrap="square" rtlCol="0" anchor="t"/>
          <a:lstStyle/>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Human interpretability analysis menilai sejauh mana topik hasil model dapat dipahami dan dimaknai secara wajar oleh pembaca manusia — melengkapi metrik statistik (C_v, NPMI, UMass) yang bersifat otomatis.</a:t>
            </a:r>
            <a:endParaRPr lang="en-US" sz="1000" dirty="0"/>
          </a:p>
          <a:p>
            <a:pPr indent="0" marL="0">
              <a:lnSpc>
                <a:spcPct val="112000"/>
              </a:lnSpc>
              <a:buNone/>
            </a:pPr>
            <a:endParaRPr lang="en-US" sz="1000" dirty="0"/>
          </a:p>
          <a:p>
            <a:pPr indent="0" marL="0">
              <a:lnSpc>
                <a:spcPct val="112000"/>
              </a:lnSpc>
              <a:buNone/>
            </a:pPr>
            <a:r>
              <a:rPr lang="en-US" sz="1000" dirty="0">
                <a:solidFill>
                  <a:srgbClr val="374644"/>
                </a:solidFill>
                <a:latin typeface="Calibri" pitchFamily="34" charset="0"/>
                <a:ea typeface="Calibri" pitchFamily="34" charset="-122"/>
                <a:cs typeface="Calibri" pitchFamily="34" charset="-120"/>
              </a:rPr>
              <a:t>Tabel di samping memetakan setiap kelompok topik CTM ke label tema inti yang dapat dipahami secara kualitatif, seperti ‘Penciptaan langit &amp; bumi’, ‘Kebenaran &amp; ketuhanan’, dan ‘Wahyu &amp; Al-Qur’an’, sebagai bentuk validasi kualitatif atas hasil pemodelan topik secara kuantitatif.</a:t>
            </a:r>
            <a:endParaRPr lang="en-US" sz="1000" dirty="0"/>
          </a:p>
        </p:txBody>
      </p:sp>
      <p:sp>
        <p:nvSpPr>
          <p:cNvPr id="11" name="Text 8"/>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12" name="Text 9"/>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3095244" cy="310896"/>
          </a:xfrm>
          <a:prstGeom prst="roundRect">
            <a:avLst>
              <a:gd name="adj" fmla="val 50000"/>
            </a:avLst>
          </a:prstGeom>
          <a:solidFill>
            <a:srgbClr val="12483F"/>
          </a:solidFill>
          <a:ln/>
        </p:spPr>
      </p:sp>
      <p:sp>
        <p:nvSpPr>
          <p:cNvPr id="3" name="Text 1"/>
          <p:cNvSpPr/>
          <p:nvPr/>
        </p:nvSpPr>
        <p:spPr>
          <a:xfrm>
            <a:off x="502920" y="411480"/>
            <a:ext cx="3095244"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21 | CORRELATED TOPIC MODEL</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600" b="1" dirty="0">
                <a:solidFill>
                  <a:srgbClr val="0D3B33"/>
                </a:solidFill>
                <a:latin typeface="Cambria" pitchFamily="34" charset="0"/>
                <a:ea typeface="Cambria" pitchFamily="34" charset="-122"/>
                <a:cs typeface="Cambria" pitchFamily="34" charset="-120"/>
              </a:rPr>
              <a:t>Human Interpretability Analysis</a:t>
            </a:r>
            <a:endParaRPr lang="en-US" sz="2600" dirty="0"/>
          </a:p>
        </p:txBody>
      </p:sp>
      <p:sp>
        <p:nvSpPr>
          <p:cNvPr id="5" name="Shape 3"/>
          <p:cNvSpPr/>
          <p:nvPr/>
        </p:nvSpPr>
        <p:spPr>
          <a:xfrm>
            <a:off x="502920" y="1600200"/>
            <a:ext cx="11183112" cy="3566160"/>
          </a:xfrm>
          <a:prstGeom prst="roundRect">
            <a:avLst>
              <a:gd name="adj" fmla="val 2051"/>
            </a:avLst>
          </a:prstGeom>
          <a:solidFill>
            <a:srgbClr val="FFFFFF"/>
          </a:solidFill>
          <a:ln w="12700">
            <a:solidFill>
              <a:srgbClr val="DCE5E2"/>
            </a:solidFill>
            <a:prstDash val="solid"/>
          </a:ln>
          <a:effectLst>
            <a:outerShdw sx="100000" sy="100000" kx="0" ky="0" algn="bl" rotWithShape="0" blurRad="101600" dist="25400" dir="5400000">
              <a:srgbClr val="1F2A28">
                <a:alpha val="15000"/>
              </a:srgbClr>
            </a:outerShdw>
          </a:effectLst>
        </p:spPr>
      </p:sp>
      <p:pic>
        <p:nvPicPr>
          <p:cNvPr id="6" name="Image 0" descr="/home/claude/assets/human_interp2.png">    </p:cNvPr>
          <p:cNvPicPr>
            <a:picLocks noChangeAspect="1"/>
          </p:cNvPicPr>
          <p:nvPr/>
        </p:nvPicPr>
        <p:blipFill>
          <a:blip r:embed="rId1"/>
          <a:stretch>
            <a:fillRect/>
          </a:stretch>
        </p:blipFill>
        <p:spPr>
          <a:xfrm>
            <a:off x="3029359" y="1783080"/>
            <a:ext cx="6130235" cy="3200400"/>
          </a:xfrm>
          <a:prstGeom prst="rect">
            <a:avLst/>
          </a:prstGeom>
        </p:spPr>
      </p:pic>
      <p:sp>
        <p:nvSpPr>
          <p:cNvPr id="7" name="Shape 4"/>
          <p:cNvSpPr/>
          <p:nvPr/>
        </p:nvSpPr>
        <p:spPr>
          <a:xfrm>
            <a:off x="502920" y="5349240"/>
            <a:ext cx="11183112" cy="868680"/>
          </a:xfrm>
          <a:prstGeom prst="roundRect">
            <a:avLst>
              <a:gd name="adj" fmla="val 6316"/>
            </a:avLst>
          </a:prstGeom>
          <a:solidFill>
            <a:srgbClr val="F3F7F6"/>
          </a:solidFill>
          <a:ln w="12700">
            <a:solidFill>
              <a:srgbClr val="EBD9AF"/>
            </a:solidFill>
            <a:prstDash val="solid"/>
          </a:ln>
        </p:spPr>
      </p:sp>
      <p:sp>
        <p:nvSpPr>
          <p:cNvPr id="8" name="Text 5"/>
          <p:cNvSpPr/>
          <p:nvPr/>
        </p:nvSpPr>
        <p:spPr>
          <a:xfrm>
            <a:off x="685800" y="5349240"/>
            <a:ext cx="10817352" cy="868680"/>
          </a:xfrm>
          <a:prstGeom prst="rect">
            <a:avLst/>
          </a:prstGeom>
          <a:noFill/>
          <a:ln/>
        </p:spPr>
        <p:txBody>
          <a:bodyPr wrap="square" rtlCol="0" anchor="ctr"/>
          <a:lstStyle/>
          <a:p>
            <a:pPr indent="0" marL="0">
              <a:lnSpc>
                <a:spcPct val="115000"/>
              </a:lnSpc>
              <a:buNone/>
            </a:pPr>
            <a:r>
              <a:rPr lang="en-US" sz="1100" dirty="0">
                <a:solidFill>
                  <a:srgbClr val="374644"/>
                </a:solidFill>
                <a:latin typeface="Calibri" pitchFamily="34" charset="0"/>
                <a:ea typeface="Calibri" pitchFamily="34" charset="-122"/>
                <a:cs typeface="Calibri" pitchFamily="34" charset="-120"/>
              </a:rPr>
              <a:t>Contoh distribusi topik terhadap ayat pada tiga surat, yaitu Surat Al-Fatihah (Surat 1), Al-Baqarah (Surat 2), dan Ali Imran (Surat 3).</a:t>
            </a:r>
            <a:endParaRPr lang="en-US" sz="1100" dirty="0"/>
          </a:p>
        </p:txBody>
      </p:sp>
      <p:sp>
        <p:nvSpPr>
          <p:cNvPr id="9" name="Text 6"/>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10" name="Text 7"/>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943100" cy="310896"/>
          </a:xfrm>
          <a:prstGeom prst="roundRect">
            <a:avLst>
              <a:gd name="adj" fmla="val 50000"/>
            </a:avLst>
          </a:prstGeom>
          <a:solidFill>
            <a:srgbClr val="12483F"/>
          </a:solidFill>
          <a:ln/>
        </p:spPr>
      </p:sp>
      <p:sp>
        <p:nvSpPr>
          <p:cNvPr id="3" name="Text 1"/>
          <p:cNvSpPr/>
          <p:nvPr/>
        </p:nvSpPr>
        <p:spPr>
          <a:xfrm>
            <a:off x="502920" y="411480"/>
            <a:ext cx="1943100" cy="310896"/>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22 | KESIMPULAN</a:t>
            </a:r>
            <a:endParaRPr lang="en-US" sz="1100" dirty="0"/>
          </a:p>
        </p:txBody>
      </p:sp>
      <p:sp>
        <p:nvSpPr>
          <p:cNvPr id="4" name="Text 2"/>
          <p:cNvSpPr/>
          <p:nvPr/>
        </p:nvSpPr>
        <p:spPr>
          <a:xfrm>
            <a:off x="502920" y="786384"/>
            <a:ext cx="11185855" cy="658368"/>
          </a:xfrm>
          <a:prstGeom prst="rect">
            <a:avLst/>
          </a:prstGeom>
          <a:noFill/>
          <a:ln/>
        </p:spPr>
        <p:txBody>
          <a:bodyPr wrap="square" rtlCol="0" anchor="t"/>
          <a:lstStyle/>
          <a:p>
            <a:pPr indent="0" marL="0">
              <a:buNone/>
            </a:pPr>
            <a:r>
              <a:rPr lang="en-US" sz="2800" b="1" dirty="0">
                <a:solidFill>
                  <a:srgbClr val="0D3B33"/>
                </a:solidFill>
                <a:latin typeface="Cambria" pitchFamily="34" charset="0"/>
                <a:ea typeface="Cambria" pitchFamily="34" charset="-122"/>
                <a:cs typeface="Cambria" pitchFamily="34" charset="-120"/>
              </a:rPr>
              <a:t>Kesimpulan Penelitian</a:t>
            </a:r>
            <a:endParaRPr lang="en-US" sz="2800" dirty="0"/>
          </a:p>
        </p:txBody>
      </p:sp>
      <p:sp>
        <p:nvSpPr>
          <p:cNvPr id="5" name="Shape 3"/>
          <p:cNvSpPr/>
          <p:nvPr/>
        </p:nvSpPr>
        <p:spPr>
          <a:xfrm>
            <a:off x="502920" y="1691640"/>
            <a:ext cx="5440680" cy="4297680"/>
          </a:xfrm>
          <a:prstGeom prst="roundRect">
            <a:avLst>
              <a:gd name="adj" fmla="val 1702"/>
            </a:avLst>
          </a:prstGeom>
          <a:solidFill>
            <a:srgbClr val="F4F7F6"/>
          </a:solidFill>
          <a:ln w="9525">
            <a:solidFill>
              <a:srgbClr val="DCE5E2"/>
            </a:solidFill>
            <a:prstDash val="solid"/>
          </a:ln>
        </p:spPr>
      </p:sp>
      <p:sp>
        <p:nvSpPr>
          <p:cNvPr id="6" name="Shape 4"/>
          <p:cNvSpPr/>
          <p:nvPr/>
        </p:nvSpPr>
        <p:spPr>
          <a:xfrm>
            <a:off x="685800" y="1874520"/>
            <a:ext cx="2103120" cy="347472"/>
          </a:xfrm>
          <a:prstGeom prst="roundRect">
            <a:avLst>
              <a:gd name="adj" fmla="val 50000"/>
            </a:avLst>
          </a:prstGeom>
          <a:solidFill>
            <a:srgbClr val="12483F"/>
          </a:solidFill>
          <a:ln/>
        </p:spPr>
      </p:sp>
      <p:sp>
        <p:nvSpPr>
          <p:cNvPr id="7" name="Text 5"/>
          <p:cNvSpPr/>
          <p:nvPr/>
        </p:nvSpPr>
        <p:spPr>
          <a:xfrm>
            <a:off x="685800" y="1874520"/>
            <a:ext cx="2103120" cy="347472"/>
          </a:xfrm>
          <a:prstGeom prst="rect">
            <a:avLst/>
          </a:prstGeom>
          <a:noFill/>
          <a:ln/>
        </p:spPr>
        <p:txBody>
          <a:bodyPr wrap="square"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MODEL CTM</a:t>
            </a:r>
            <a:endParaRPr lang="en-US" sz="1100" dirty="0"/>
          </a:p>
        </p:txBody>
      </p:sp>
      <p:sp>
        <p:nvSpPr>
          <p:cNvPr id="8" name="Text 6"/>
          <p:cNvSpPr/>
          <p:nvPr/>
        </p:nvSpPr>
        <p:spPr>
          <a:xfrm>
            <a:off x="685800" y="2377440"/>
            <a:ext cx="5074920" cy="658368"/>
          </a:xfrm>
          <a:prstGeom prst="rect">
            <a:avLst/>
          </a:prstGeom>
          <a:noFill/>
          <a:ln/>
        </p:spPr>
        <p:txBody>
          <a:bodyPr wrap="square" rtlCol="0" anchor="t"/>
          <a:lstStyle/>
          <a:p>
            <a:pPr indent="0" marL="0">
              <a:lnSpc>
                <a:spcPct val="118000"/>
              </a:lnSpc>
              <a:buNone/>
            </a:pPr>
            <a:r>
              <a:rPr lang="en-US" sz="1100" dirty="0">
                <a:solidFill>
                  <a:srgbClr val="374644"/>
                </a:solidFill>
                <a:latin typeface="Calibri" pitchFamily="34" charset="0"/>
                <a:ea typeface="Calibri" pitchFamily="34" charset="-122"/>
                <a:cs typeface="Calibri" pitchFamily="34" charset="-120"/>
              </a:rPr>
              <a:t>Secara keseluruhan, model CTM mampu menghasilkan topik yang representatif meski dengan korelasi antar-topik yang belum benar-benar optimal, berdasarkan nilai:</a:t>
            </a:r>
            <a:endParaRPr lang="en-US" sz="1100" dirty="0"/>
          </a:p>
        </p:txBody>
      </p:sp>
      <p:sp>
        <p:nvSpPr>
          <p:cNvPr id="9" name="Text 7"/>
          <p:cNvSpPr/>
          <p:nvPr/>
        </p:nvSpPr>
        <p:spPr>
          <a:xfrm>
            <a:off x="685800" y="3063240"/>
            <a:ext cx="1014984" cy="365760"/>
          </a:xfrm>
          <a:prstGeom prst="rect">
            <a:avLst/>
          </a:prstGeom>
          <a:noFill/>
          <a:ln/>
        </p:spPr>
        <p:txBody>
          <a:bodyPr wrap="square" rtlCol="0" anchor="ctr"/>
          <a:lstStyle/>
          <a:p>
            <a:pPr algn="ctr" indent="0" marL="0">
              <a:buNone/>
            </a:pPr>
            <a:r>
              <a:rPr lang="en-US" sz="1300" b="1" dirty="0">
                <a:solidFill>
                  <a:srgbClr val="12483F"/>
                </a:solidFill>
                <a:latin typeface="Cambria" pitchFamily="34" charset="0"/>
                <a:ea typeface="Cambria" pitchFamily="34" charset="-122"/>
                <a:cs typeface="Cambria" pitchFamily="34" charset="-120"/>
              </a:rPr>
              <a:t>0.517</a:t>
            </a:r>
            <a:endParaRPr lang="en-US" sz="1300" dirty="0"/>
          </a:p>
        </p:txBody>
      </p:sp>
      <p:sp>
        <p:nvSpPr>
          <p:cNvPr id="10" name="Text 8"/>
          <p:cNvSpPr/>
          <p:nvPr/>
        </p:nvSpPr>
        <p:spPr>
          <a:xfrm>
            <a:off x="685800" y="3429000"/>
            <a:ext cx="1014984" cy="274320"/>
          </a:xfrm>
          <a:prstGeom prst="rect">
            <a:avLst/>
          </a:prstGeom>
          <a:noFill/>
          <a:ln/>
        </p:spPr>
        <p:txBody>
          <a:bodyPr wrap="square" rtlCol="0" anchor="ctr"/>
          <a:lstStyle/>
          <a:p>
            <a:pPr algn="ctr" indent="0" marL="0">
              <a:buNone/>
            </a:pPr>
            <a:r>
              <a:rPr lang="en-US" sz="850" dirty="0">
                <a:solidFill>
                  <a:srgbClr val="6B7A77"/>
                </a:solidFill>
                <a:latin typeface="Calibri" pitchFamily="34" charset="0"/>
                <a:ea typeface="Calibri" pitchFamily="34" charset="-122"/>
                <a:cs typeface="Calibri" pitchFamily="34" charset="-120"/>
              </a:rPr>
              <a:t>C_v</a:t>
            </a:r>
            <a:endParaRPr lang="en-US" sz="850" dirty="0"/>
          </a:p>
        </p:txBody>
      </p:sp>
      <p:sp>
        <p:nvSpPr>
          <p:cNvPr id="11" name="Text 9"/>
          <p:cNvSpPr/>
          <p:nvPr/>
        </p:nvSpPr>
        <p:spPr>
          <a:xfrm>
            <a:off x="1700784" y="3063240"/>
            <a:ext cx="1014984" cy="365760"/>
          </a:xfrm>
          <a:prstGeom prst="rect">
            <a:avLst/>
          </a:prstGeom>
          <a:noFill/>
          <a:ln/>
        </p:spPr>
        <p:txBody>
          <a:bodyPr wrap="square" rtlCol="0" anchor="ctr"/>
          <a:lstStyle/>
          <a:p>
            <a:pPr algn="ctr" indent="0" marL="0">
              <a:buNone/>
            </a:pPr>
            <a:r>
              <a:rPr lang="en-US" sz="1300" b="1" dirty="0">
                <a:solidFill>
                  <a:srgbClr val="12483F"/>
                </a:solidFill>
                <a:latin typeface="Cambria" pitchFamily="34" charset="0"/>
                <a:ea typeface="Cambria" pitchFamily="34" charset="-122"/>
                <a:cs typeface="Cambria" pitchFamily="34" charset="-120"/>
              </a:rPr>
              <a:t>-0.226</a:t>
            </a:r>
            <a:endParaRPr lang="en-US" sz="1300" dirty="0"/>
          </a:p>
        </p:txBody>
      </p:sp>
      <p:sp>
        <p:nvSpPr>
          <p:cNvPr id="12" name="Text 10"/>
          <p:cNvSpPr/>
          <p:nvPr/>
        </p:nvSpPr>
        <p:spPr>
          <a:xfrm>
            <a:off x="1700784" y="3429000"/>
            <a:ext cx="1014984" cy="274320"/>
          </a:xfrm>
          <a:prstGeom prst="rect">
            <a:avLst/>
          </a:prstGeom>
          <a:noFill/>
          <a:ln/>
        </p:spPr>
        <p:txBody>
          <a:bodyPr wrap="square" rtlCol="0" anchor="ctr"/>
          <a:lstStyle/>
          <a:p>
            <a:pPr algn="ctr" indent="0" marL="0">
              <a:buNone/>
            </a:pPr>
            <a:r>
              <a:rPr lang="en-US" sz="850" dirty="0">
                <a:solidFill>
                  <a:srgbClr val="6B7A77"/>
                </a:solidFill>
                <a:latin typeface="Calibri" pitchFamily="34" charset="0"/>
                <a:ea typeface="Calibri" pitchFamily="34" charset="-122"/>
                <a:cs typeface="Calibri" pitchFamily="34" charset="-120"/>
              </a:rPr>
              <a:t>NPMI</a:t>
            </a:r>
            <a:endParaRPr lang="en-US" sz="850" dirty="0"/>
          </a:p>
        </p:txBody>
      </p:sp>
      <p:sp>
        <p:nvSpPr>
          <p:cNvPr id="13" name="Text 11"/>
          <p:cNvSpPr/>
          <p:nvPr/>
        </p:nvSpPr>
        <p:spPr>
          <a:xfrm>
            <a:off x="2715768" y="3063240"/>
            <a:ext cx="1014984" cy="365760"/>
          </a:xfrm>
          <a:prstGeom prst="rect">
            <a:avLst/>
          </a:prstGeom>
          <a:noFill/>
          <a:ln/>
        </p:spPr>
        <p:txBody>
          <a:bodyPr wrap="square" rtlCol="0" anchor="ctr"/>
          <a:lstStyle/>
          <a:p>
            <a:pPr algn="ctr" indent="0" marL="0">
              <a:buNone/>
            </a:pPr>
            <a:r>
              <a:rPr lang="en-US" sz="1300" b="1" dirty="0">
                <a:solidFill>
                  <a:srgbClr val="12483F"/>
                </a:solidFill>
                <a:latin typeface="Cambria" pitchFamily="34" charset="0"/>
                <a:ea typeface="Cambria" pitchFamily="34" charset="-122"/>
                <a:cs typeface="Cambria" pitchFamily="34" charset="-120"/>
              </a:rPr>
              <a:t>-5.0661</a:t>
            </a:r>
            <a:endParaRPr lang="en-US" sz="1300" dirty="0"/>
          </a:p>
        </p:txBody>
      </p:sp>
      <p:sp>
        <p:nvSpPr>
          <p:cNvPr id="14" name="Text 12"/>
          <p:cNvSpPr/>
          <p:nvPr/>
        </p:nvSpPr>
        <p:spPr>
          <a:xfrm>
            <a:off x="2715768" y="3429000"/>
            <a:ext cx="1014984" cy="274320"/>
          </a:xfrm>
          <a:prstGeom prst="rect">
            <a:avLst/>
          </a:prstGeom>
          <a:noFill/>
          <a:ln/>
        </p:spPr>
        <p:txBody>
          <a:bodyPr wrap="square" rtlCol="0" anchor="ctr"/>
          <a:lstStyle/>
          <a:p>
            <a:pPr algn="ctr" indent="0" marL="0">
              <a:buNone/>
            </a:pPr>
            <a:r>
              <a:rPr lang="en-US" sz="850" dirty="0">
                <a:solidFill>
                  <a:srgbClr val="6B7A77"/>
                </a:solidFill>
                <a:latin typeface="Calibri" pitchFamily="34" charset="0"/>
                <a:ea typeface="Calibri" pitchFamily="34" charset="-122"/>
                <a:cs typeface="Calibri" pitchFamily="34" charset="-120"/>
              </a:rPr>
              <a:t>UMass</a:t>
            </a:r>
            <a:endParaRPr lang="en-US" sz="850" dirty="0"/>
          </a:p>
        </p:txBody>
      </p:sp>
      <p:sp>
        <p:nvSpPr>
          <p:cNvPr id="15" name="Text 13"/>
          <p:cNvSpPr/>
          <p:nvPr/>
        </p:nvSpPr>
        <p:spPr>
          <a:xfrm>
            <a:off x="3730752" y="3063240"/>
            <a:ext cx="1014984" cy="365760"/>
          </a:xfrm>
          <a:prstGeom prst="rect">
            <a:avLst/>
          </a:prstGeom>
          <a:noFill/>
          <a:ln/>
        </p:spPr>
        <p:txBody>
          <a:bodyPr wrap="square" rtlCol="0" anchor="ctr"/>
          <a:lstStyle/>
          <a:p>
            <a:pPr algn="ctr" indent="0" marL="0">
              <a:buNone/>
            </a:pPr>
            <a:r>
              <a:rPr lang="en-US" sz="1300" b="1" dirty="0">
                <a:solidFill>
                  <a:srgbClr val="12483F"/>
                </a:solidFill>
                <a:latin typeface="Cambria" pitchFamily="34" charset="0"/>
                <a:ea typeface="Cambria" pitchFamily="34" charset="-122"/>
                <a:cs typeface="Cambria" pitchFamily="34" charset="-120"/>
              </a:rPr>
              <a:t>-2.1370</a:t>
            </a:r>
            <a:endParaRPr lang="en-US" sz="1300" dirty="0"/>
          </a:p>
        </p:txBody>
      </p:sp>
      <p:sp>
        <p:nvSpPr>
          <p:cNvPr id="16" name="Text 14"/>
          <p:cNvSpPr/>
          <p:nvPr/>
        </p:nvSpPr>
        <p:spPr>
          <a:xfrm>
            <a:off x="3730752" y="3429000"/>
            <a:ext cx="1014984" cy="274320"/>
          </a:xfrm>
          <a:prstGeom prst="rect">
            <a:avLst/>
          </a:prstGeom>
          <a:noFill/>
          <a:ln/>
        </p:spPr>
        <p:txBody>
          <a:bodyPr wrap="square" rtlCol="0" anchor="ctr"/>
          <a:lstStyle/>
          <a:p>
            <a:pPr algn="ctr" indent="0" marL="0">
              <a:buNone/>
            </a:pPr>
            <a:r>
              <a:rPr lang="en-US" sz="850" dirty="0">
                <a:solidFill>
                  <a:srgbClr val="6B7A77"/>
                </a:solidFill>
                <a:latin typeface="Calibri" pitchFamily="34" charset="0"/>
                <a:ea typeface="Calibri" pitchFamily="34" charset="-122"/>
                <a:cs typeface="Calibri" pitchFamily="34" charset="-120"/>
              </a:rPr>
              <a:t>UCI</a:t>
            </a:r>
            <a:endParaRPr lang="en-US" sz="850" dirty="0"/>
          </a:p>
        </p:txBody>
      </p:sp>
      <p:sp>
        <p:nvSpPr>
          <p:cNvPr id="17" name="Text 15"/>
          <p:cNvSpPr/>
          <p:nvPr/>
        </p:nvSpPr>
        <p:spPr>
          <a:xfrm>
            <a:off x="4745736" y="3063240"/>
            <a:ext cx="1014984" cy="365760"/>
          </a:xfrm>
          <a:prstGeom prst="rect">
            <a:avLst/>
          </a:prstGeom>
          <a:noFill/>
          <a:ln/>
        </p:spPr>
        <p:txBody>
          <a:bodyPr wrap="square" rtlCol="0" anchor="ctr"/>
          <a:lstStyle/>
          <a:p>
            <a:pPr algn="ctr" indent="0" marL="0">
              <a:buNone/>
            </a:pPr>
            <a:r>
              <a:rPr lang="en-US" sz="1300" b="1" dirty="0">
                <a:solidFill>
                  <a:srgbClr val="12483F"/>
                </a:solidFill>
                <a:latin typeface="Cambria" pitchFamily="34" charset="0"/>
                <a:ea typeface="Cambria" pitchFamily="34" charset="-122"/>
                <a:cs typeface="Cambria" pitchFamily="34" charset="-120"/>
              </a:rPr>
              <a:t>1720.28</a:t>
            </a:r>
            <a:endParaRPr lang="en-US" sz="1300" dirty="0"/>
          </a:p>
        </p:txBody>
      </p:sp>
      <p:sp>
        <p:nvSpPr>
          <p:cNvPr id="18" name="Text 16"/>
          <p:cNvSpPr/>
          <p:nvPr/>
        </p:nvSpPr>
        <p:spPr>
          <a:xfrm>
            <a:off x="4745736" y="3429000"/>
            <a:ext cx="1014984" cy="274320"/>
          </a:xfrm>
          <a:prstGeom prst="rect">
            <a:avLst/>
          </a:prstGeom>
          <a:noFill/>
          <a:ln/>
        </p:spPr>
        <p:txBody>
          <a:bodyPr wrap="square" rtlCol="0" anchor="ctr"/>
          <a:lstStyle/>
          <a:p>
            <a:pPr algn="ctr" indent="0" marL="0">
              <a:buNone/>
            </a:pPr>
            <a:r>
              <a:rPr lang="en-US" sz="850" dirty="0">
                <a:solidFill>
                  <a:srgbClr val="6B7A77"/>
                </a:solidFill>
                <a:latin typeface="Calibri" pitchFamily="34" charset="0"/>
                <a:ea typeface="Calibri" pitchFamily="34" charset="-122"/>
                <a:cs typeface="Calibri" pitchFamily="34" charset="-120"/>
              </a:rPr>
              <a:t>Perplexity</a:t>
            </a:r>
            <a:endParaRPr lang="en-US" sz="850" dirty="0"/>
          </a:p>
        </p:txBody>
      </p:sp>
      <p:sp>
        <p:nvSpPr>
          <p:cNvPr id="19" name="Text 17"/>
          <p:cNvSpPr/>
          <p:nvPr/>
        </p:nvSpPr>
        <p:spPr>
          <a:xfrm>
            <a:off x="685800" y="3931920"/>
            <a:ext cx="5074920" cy="1005840"/>
          </a:xfrm>
          <a:prstGeom prst="rect">
            <a:avLst/>
          </a:prstGeom>
          <a:noFill/>
          <a:ln/>
        </p:spPr>
        <p:txBody>
          <a:bodyPr wrap="square" rtlCol="0" anchor="t"/>
          <a:lstStyle/>
          <a:p>
            <a:pPr indent="0" marL="0">
              <a:lnSpc>
                <a:spcPct val="120000"/>
              </a:lnSpc>
              <a:buNone/>
            </a:pPr>
            <a:r>
              <a:rPr lang="en-US" sz="1050" i="1" dirty="0">
                <a:solidFill>
                  <a:srgbClr val="374644"/>
                </a:solidFill>
                <a:latin typeface="Calibri" pitchFamily="34" charset="0"/>
                <a:ea typeface="Calibri" pitchFamily="34" charset="-122"/>
                <a:cs typeface="Calibri" pitchFamily="34" charset="-120"/>
              </a:rPr>
              <a:t>Nilai koherensi berada pada rentang sedang; model tetap dapat diinterpretasikan secara memadai untuk memetakan tema-tema utama pada korpus terjemahan Al-Qur’an.</a:t>
            </a:r>
            <a:endParaRPr lang="en-US" sz="1050" dirty="0"/>
          </a:p>
        </p:txBody>
      </p:sp>
      <p:sp>
        <p:nvSpPr>
          <p:cNvPr id="20" name="Shape 18"/>
          <p:cNvSpPr/>
          <p:nvPr/>
        </p:nvSpPr>
        <p:spPr>
          <a:xfrm>
            <a:off x="6263640" y="1691640"/>
            <a:ext cx="5440680" cy="4297680"/>
          </a:xfrm>
          <a:prstGeom prst="roundRect">
            <a:avLst>
              <a:gd name="adj" fmla="val 1702"/>
            </a:avLst>
          </a:prstGeom>
          <a:solidFill>
            <a:srgbClr val="12483F"/>
          </a:solidFill>
          <a:ln/>
        </p:spPr>
      </p:sp>
      <p:sp>
        <p:nvSpPr>
          <p:cNvPr id="21" name="Shape 19"/>
          <p:cNvSpPr/>
          <p:nvPr/>
        </p:nvSpPr>
        <p:spPr>
          <a:xfrm>
            <a:off x="6446520" y="1874520"/>
            <a:ext cx="2651760" cy="347472"/>
          </a:xfrm>
          <a:prstGeom prst="roundRect">
            <a:avLst>
              <a:gd name="adj" fmla="val 50000"/>
            </a:avLst>
          </a:prstGeom>
          <a:solidFill>
            <a:srgbClr val="C79A45"/>
          </a:solidFill>
          <a:ln/>
        </p:spPr>
      </p:sp>
      <p:sp>
        <p:nvSpPr>
          <p:cNvPr id="22" name="Text 20"/>
          <p:cNvSpPr/>
          <p:nvPr/>
        </p:nvSpPr>
        <p:spPr>
          <a:xfrm>
            <a:off x="6446520" y="1874520"/>
            <a:ext cx="2651760" cy="347472"/>
          </a:xfrm>
          <a:prstGeom prst="rect">
            <a:avLst/>
          </a:prstGeom>
          <a:noFill/>
          <a:ln/>
        </p:spPr>
        <p:txBody>
          <a:bodyPr wrap="square" rtlCol="0" anchor="ctr"/>
          <a:lstStyle/>
          <a:p>
            <a:pPr algn="ctr" indent="0" marL="0">
              <a:buNone/>
            </a:pPr>
            <a:r>
              <a:rPr lang="en-US" sz="1100" b="1" spc="50" kern="0" dirty="0">
                <a:solidFill>
                  <a:srgbClr val="0D3B33"/>
                </a:solidFill>
                <a:latin typeface="Calibri" pitchFamily="34" charset="0"/>
                <a:ea typeface="Calibri" pitchFamily="34" charset="-122"/>
                <a:cs typeface="Calibri" pitchFamily="34" charset="-120"/>
              </a:rPr>
              <a:t>MODEL BERTOPIC</a:t>
            </a:r>
            <a:endParaRPr lang="en-US" sz="1100" dirty="0"/>
          </a:p>
        </p:txBody>
      </p:sp>
      <p:sp>
        <p:nvSpPr>
          <p:cNvPr id="23" name="Text 21"/>
          <p:cNvSpPr/>
          <p:nvPr/>
        </p:nvSpPr>
        <p:spPr>
          <a:xfrm>
            <a:off x="6446520" y="2377440"/>
            <a:ext cx="5074920" cy="502920"/>
          </a:xfrm>
          <a:prstGeom prst="rect">
            <a:avLst/>
          </a:prstGeom>
          <a:noFill/>
          <a:ln/>
        </p:spPr>
        <p:txBody>
          <a:bodyPr wrap="square" rtlCol="0" anchor="t"/>
          <a:lstStyle/>
          <a:p>
            <a:pPr indent="0" marL="0">
              <a:lnSpc>
                <a:spcPct val="118000"/>
              </a:lnSpc>
              <a:buNone/>
            </a:pPr>
            <a:r>
              <a:rPr lang="en-US" sz="1100" dirty="0">
                <a:solidFill>
                  <a:srgbClr val="E9F2EF"/>
                </a:solidFill>
                <a:latin typeface="Calibri" pitchFamily="34" charset="0"/>
                <a:ea typeface="Calibri" pitchFamily="34" charset="-122"/>
                <a:cs typeface="Calibri" pitchFamily="34" charset="-120"/>
              </a:rPr>
              <a:t>Model BERTopic mampu menghasilkan topik dengan koherensi semantik yang cukup baik, ditunjukkan oleh:</a:t>
            </a:r>
            <a:endParaRPr lang="en-US" sz="1100" dirty="0"/>
          </a:p>
        </p:txBody>
      </p:sp>
      <p:sp>
        <p:nvSpPr>
          <p:cNvPr id="24" name="Text 22"/>
          <p:cNvSpPr/>
          <p:nvPr/>
        </p:nvSpPr>
        <p:spPr>
          <a:xfrm>
            <a:off x="6446520" y="2926080"/>
            <a:ext cx="2377440" cy="384048"/>
          </a:xfrm>
          <a:prstGeom prst="rect">
            <a:avLst/>
          </a:prstGeom>
          <a:noFill/>
          <a:ln/>
        </p:spPr>
        <p:txBody>
          <a:bodyPr wrap="square" rtlCol="0" anchor="ctr"/>
          <a:lstStyle/>
          <a:p>
            <a:pPr algn="ctr" indent="0" marL="0">
              <a:buNone/>
            </a:pPr>
            <a:r>
              <a:rPr lang="en-US" sz="2000" b="1" dirty="0">
                <a:solidFill>
                  <a:srgbClr val="C79A45"/>
                </a:solidFill>
                <a:latin typeface="Cambria" pitchFamily="34" charset="0"/>
                <a:ea typeface="Cambria" pitchFamily="34" charset="-122"/>
                <a:cs typeface="Cambria" pitchFamily="34" charset="-120"/>
              </a:rPr>
              <a:t>0.5735</a:t>
            </a:r>
            <a:endParaRPr lang="en-US" sz="2000" dirty="0"/>
          </a:p>
        </p:txBody>
      </p:sp>
      <p:sp>
        <p:nvSpPr>
          <p:cNvPr id="25" name="Text 23"/>
          <p:cNvSpPr/>
          <p:nvPr/>
        </p:nvSpPr>
        <p:spPr>
          <a:xfrm>
            <a:off x="6446520" y="3346704"/>
            <a:ext cx="2377440" cy="274320"/>
          </a:xfrm>
          <a:prstGeom prst="rect">
            <a:avLst/>
          </a:prstGeom>
          <a:noFill/>
          <a:ln/>
        </p:spPr>
        <p:txBody>
          <a:bodyPr wrap="square" rtlCol="0" anchor="ctr"/>
          <a:lstStyle/>
          <a:p>
            <a:pPr algn="ctr" indent="0" marL="0">
              <a:buNone/>
            </a:pPr>
            <a:r>
              <a:rPr lang="en-US" sz="900" dirty="0">
                <a:solidFill>
                  <a:srgbClr val="BFD6D0"/>
                </a:solidFill>
                <a:latin typeface="Calibri" pitchFamily="34" charset="0"/>
                <a:ea typeface="Calibri" pitchFamily="34" charset="-122"/>
                <a:cs typeface="Calibri" pitchFamily="34" charset="-120"/>
              </a:rPr>
              <a:t>C_v  (&gt; 0,5)</a:t>
            </a:r>
            <a:endParaRPr lang="en-US" sz="900" dirty="0"/>
          </a:p>
        </p:txBody>
      </p:sp>
      <p:sp>
        <p:nvSpPr>
          <p:cNvPr id="26" name="Text 24"/>
          <p:cNvSpPr/>
          <p:nvPr/>
        </p:nvSpPr>
        <p:spPr>
          <a:xfrm>
            <a:off x="9144000" y="2926080"/>
            <a:ext cx="2377440" cy="384048"/>
          </a:xfrm>
          <a:prstGeom prst="rect">
            <a:avLst/>
          </a:prstGeom>
          <a:noFill/>
          <a:ln/>
        </p:spPr>
        <p:txBody>
          <a:bodyPr wrap="square" rtlCol="0" anchor="ctr"/>
          <a:lstStyle/>
          <a:p>
            <a:pPr algn="ctr" indent="0" marL="0">
              <a:buNone/>
            </a:pPr>
            <a:r>
              <a:rPr lang="en-US" sz="2000" b="1" dirty="0">
                <a:solidFill>
                  <a:srgbClr val="C79A45"/>
                </a:solidFill>
                <a:latin typeface="Cambria" pitchFamily="34" charset="0"/>
                <a:ea typeface="Cambria" pitchFamily="34" charset="-122"/>
                <a:cs typeface="Cambria" pitchFamily="34" charset="-120"/>
              </a:rPr>
              <a:t>0.0530</a:t>
            </a:r>
            <a:endParaRPr lang="en-US" sz="2000" dirty="0"/>
          </a:p>
        </p:txBody>
      </p:sp>
      <p:sp>
        <p:nvSpPr>
          <p:cNvPr id="27" name="Text 25"/>
          <p:cNvSpPr/>
          <p:nvPr/>
        </p:nvSpPr>
        <p:spPr>
          <a:xfrm>
            <a:off x="9144000" y="3346704"/>
            <a:ext cx="2377440" cy="274320"/>
          </a:xfrm>
          <a:prstGeom prst="rect">
            <a:avLst/>
          </a:prstGeom>
          <a:noFill/>
          <a:ln/>
        </p:spPr>
        <p:txBody>
          <a:bodyPr wrap="square" rtlCol="0" anchor="ctr"/>
          <a:lstStyle/>
          <a:p>
            <a:pPr algn="ctr" indent="0" marL="0">
              <a:buNone/>
            </a:pPr>
            <a:r>
              <a:rPr lang="en-US" sz="900" dirty="0">
                <a:solidFill>
                  <a:srgbClr val="BFD6D0"/>
                </a:solidFill>
                <a:latin typeface="Calibri" pitchFamily="34" charset="0"/>
                <a:ea typeface="Calibri" pitchFamily="34" charset="-122"/>
                <a:cs typeface="Calibri" pitchFamily="34" charset="-120"/>
              </a:rPr>
              <a:t>NPMI  (positif)</a:t>
            </a:r>
            <a:endParaRPr lang="en-US" sz="900" dirty="0"/>
          </a:p>
        </p:txBody>
      </p:sp>
      <p:sp>
        <p:nvSpPr>
          <p:cNvPr id="28" name="Text 26"/>
          <p:cNvSpPr/>
          <p:nvPr/>
        </p:nvSpPr>
        <p:spPr>
          <a:xfrm>
            <a:off x="6446520" y="3886200"/>
            <a:ext cx="5074920" cy="1463040"/>
          </a:xfrm>
          <a:prstGeom prst="rect">
            <a:avLst/>
          </a:prstGeom>
          <a:noFill/>
          <a:ln/>
        </p:spPr>
        <p:txBody>
          <a:bodyPr wrap="square" rtlCol="0" anchor="t"/>
          <a:lstStyle/>
          <a:p>
            <a:pPr indent="0" marL="0">
              <a:lnSpc>
                <a:spcPct val="120000"/>
              </a:lnSpc>
              <a:buNone/>
            </a:pPr>
            <a:r>
              <a:rPr lang="en-US" sz="1050" i="1" dirty="0">
                <a:solidFill>
                  <a:srgbClr val="E9F2EF"/>
                </a:solidFill>
                <a:latin typeface="Calibri" pitchFamily="34" charset="0"/>
                <a:ea typeface="Calibri" pitchFamily="34" charset="-122"/>
                <a:cs typeface="Calibri" pitchFamily="34" charset="-120"/>
              </a:rPr>
              <a:t>Nilai NPMI yang bernilai positif menunjukkan bahwa terdapat asosiasi statistik yang bermakna antar-kata dalam topik — mengindikasikan representasi berbasis embedding kontekstual pada BERTopic unggul dalam menangkap keterkaitan semantik dibanding pendekatan Bag-of-Words pada CTM.</a:t>
            </a:r>
            <a:endParaRPr lang="en-US" sz="1050" dirty="0"/>
          </a:p>
        </p:txBody>
      </p:sp>
      <p:sp>
        <p:nvSpPr>
          <p:cNvPr id="29" name="Text 27"/>
          <p:cNvSpPr/>
          <p:nvPr/>
        </p:nvSpPr>
        <p:spPr>
          <a:xfrm>
            <a:off x="502920" y="6510528"/>
            <a:ext cx="6400800" cy="256032"/>
          </a:xfrm>
          <a:prstGeom prst="rect">
            <a:avLst/>
          </a:prstGeom>
          <a:noFill/>
          <a:ln/>
        </p:spPr>
        <p:txBody>
          <a:bodyPr wrap="square" rtlCol="0" anchor="ctr"/>
          <a:lstStyle/>
          <a:p>
            <a:pPr indent="0" marL="0">
              <a:buNone/>
            </a:pPr>
            <a:r>
              <a:rPr lang="en-US" sz="800" spc="100" kern="0" dirty="0">
                <a:solidFill>
                  <a:srgbClr val="6B7A77"/>
                </a:solidFill>
                <a:latin typeface="Calibri" pitchFamily="34" charset="0"/>
                <a:ea typeface="Calibri" pitchFamily="34" charset="-122"/>
                <a:cs typeface="Calibri" pitchFamily="34" charset="-120"/>
              </a:rPr>
              <a:t>SIDANG SKRIPSI  ·  ASEP RIDWAN HIDAYAT</a:t>
            </a:r>
            <a:endParaRPr lang="en-US" sz="800" dirty="0"/>
          </a:p>
        </p:txBody>
      </p:sp>
      <p:sp>
        <p:nvSpPr>
          <p:cNvPr id="30" name="Text 28"/>
          <p:cNvSpPr/>
          <p:nvPr/>
        </p:nvSpPr>
        <p:spPr>
          <a:xfrm>
            <a:off x="10774375" y="6510528"/>
            <a:ext cx="914400" cy="256032"/>
          </a:xfrm>
          <a:prstGeom prst="rect">
            <a:avLst/>
          </a:prstGeom>
          <a:noFill/>
          <a:ln/>
        </p:spPr>
        <p:txBody>
          <a:bodyPr wrap="square" rtlCol="0" anchor="ctr"/>
          <a:lstStyle/>
          <a:p>
            <a:pPr algn="r" indent="0" marL="0">
              <a:buNone/>
            </a:pPr>
            <a:r>
              <a:rPr lang="en-US" sz="800" dirty="0">
                <a:solidFill>
                  <a:srgbClr val="6B7A77"/>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3B33"/>
        </a:solidFill>
      </p:bgPr>
    </p:bg>
    <p:spTree>
      <p:nvGrpSpPr>
        <p:cNvPr id="1" name=""/>
        <p:cNvGrpSpPr/>
        <p:nvPr/>
      </p:nvGrpSpPr>
      <p:grpSpPr>
        <a:xfrm>
          <a:off x="0" y="0"/>
          <a:ext cx="0" cy="0"/>
          <a:chOff x="0" y="0"/>
          <a:chExt cx="0" cy="0"/>
        </a:xfrm>
      </p:grpSpPr>
      <p:sp>
        <p:nvSpPr>
          <p:cNvPr id="2" name="Shape 0"/>
          <p:cNvSpPr/>
          <p:nvPr/>
        </p:nvSpPr>
        <p:spPr>
          <a:xfrm>
            <a:off x="9997135" y="-1554480"/>
            <a:ext cx="3840480" cy="3840480"/>
          </a:xfrm>
          <a:prstGeom prst="ellipse">
            <a:avLst/>
          </a:prstGeom>
          <a:ln w="15875">
            <a:solidFill>
              <a:srgbClr val="C79A45"/>
            </a:solidFill>
            <a:prstDash val="solid"/>
          </a:ln>
        </p:spPr>
      </p:sp>
      <p:sp>
        <p:nvSpPr>
          <p:cNvPr id="3" name="Shape 1"/>
          <p:cNvSpPr/>
          <p:nvPr/>
        </p:nvSpPr>
        <p:spPr>
          <a:xfrm>
            <a:off x="10500055" y="-1051560"/>
            <a:ext cx="2834640" cy="2834640"/>
          </a:xfrm>
          <a:prstGeom prst="ellipse">
            <a:avLst/>
          </a:prstGeom>
          <a:ln w="9525">
            <a:solidFill>
              <a:srgbClr val="C79A45"/>
            </a:solidFill>
            <a:prstDash val="solid"/>
          </a:ln>
        </p:spPr>
      </p:sp>
      <p:sp>
        <p:nvSpPr>
          <p:cNvPr id="4" name="Shape 2"/>
          <p:cNvSpPr/>
          <p:nvPr/>
        </p:nvSpPr>
        <p:spPr>
          <a:xfrm>
            <a:off x="-2286000" y="4937760"/>
            <a:ext cx="3840480" cy="3840480"/>
          </a:xfrm>
          <a:prstGeom prst="ellipse">
            <a:avLst/>
          </a:prstGeom>
          <a:ln w="15875">
            <a:solidFill>
              <a:srgbClr val="2A7566"/>
            </a:solidFill>
            <a:prstDash val="solid"/>
          </a:ln>
        </p:spPr>
      </p:sp>
      <p:sp>
        <p:nvSpPr>
          <p:cNvPr id="5" name="Shape 3"/>
          <p:cNvSpPr/>
          <p:nvPr/>
        </p:nvSpPr>
        <p:spPr>
          <a:xfrm>
            <a:off x="-1783080" y="5440680"/>
            <a:ext cx="2834640" cy="2834640"/>
          </a:xfrm>
          <a:prstGeom prst="ellipse">
            <a:avLst/>
          </a:prstGeom>
          <a:ln w="9525">
            <a:solidFill>
              <a:srgbClr val="2A7566"/>
            </a:solidFill>
            <a:prstDash val="solid"/>
          </a:ln>
        </p:spPr>
      </p:sp>
      <p:sp>
        <p:nvSpPr>
          <p:cNvPr id="6" name="Shape 4"/>
          <p:cNvSpPr/>
          <p:nvPr/>
        </p:nvSpPr>
        <p:spPr>
          <a:xfrm>
            <a:off x="5090008" y="2788920"/>
            <a:ext cx="2011680" cy="0"/>
          </a:xfrm>
          <a:prstGeom prst="line">
            <a:avLst/>
          </a:prstGeom>
          <a:noFill/>
          <a:ln w="25400">
            <a:solidFill>
              <a:srgbClr val="C79A45"/>
            </a:solidFill>
            <a:prstDash val="solid"/>
          </a:ln>
        </p:spPr>
      </p:sp>
      <p:sp>
        <p:nvSpPr>
          <p:cNvPr id="7" name="Text 5"/>
          <p:cNvSpPr/>
          <p:nvPr/>
        </p:nvSpPr>
        <p:spPr>
          <a:xfrm>
            <a:off x="0" y="2880360"/>
            <a:ext cx="12191695" cy="1005840"/>
          </a:xfrm>
          <a:prstGeom prst="rect">
            <a:avLst/>
          </a:prstGeom>
          <a:noFill/>
          <a:ln/>
        </p:spPr>
        <p:txBody>
          <a:bodyPr wrap="square"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TERIMA KASIH</a:t>
            </a:r>
            <a:endParaRPr lang="en-US" sz="4600" dirty="0"/>
          </a:p>
        </p:txBody>
      </p:sp>
      <p:sp>
        <p:nvSpPr>
          <p:cNvPr id="8" name="Text 6"/>
          <p:cNvSpPr/>
          <p:nvPr/>
        </p:nvSpPr>
        <p:spPr>
          <a:xfrm>
            <a:off x="1981048" y="3886200"/>
            <a:ext cx="8229600" cy="365760"/>
          </a:xfrm>
          <a:prstGeom prst="rect">
            <a:avLst/>
          </a:prstGeom>
          <a:noFill/>
          <a:ln/>
        </p:spPr>
        <p:txBody>
          <a:bodyPr wrap="square" rtlCol="0" anchor="ctr"/>
          <a:lstStyle/>
          <a:p>
            <a:pPr algn="ctr" indent="0" marL="0">
              <a:buNone/>
            </a:pPr>
            <a:r>
              <a:rPr lang="en-US" sz="1250" i="1" dirty="0">
                <a:solidFill>
                  <a:srgbClr val="BFD6D0"/>
                </a:solidFill>
                <a:latin typeface="Calibri" pitchFamily="34" charset="0"/>
                <a:ea typeface="Calibri" pitchFamily="34" charset="-122"/>
                <a:cs typeface="Calibri" pitchFamily="34" charset="-120"/>
              </a:rPr>
              <a:t>Analisis Pemodelan Topik pada Teks Terjemahan Al-Qur’an dengan CTM dan BERTopic</a:t>
            </a:r>
            <a:endParaRPr lang="en-US" sz="1250" dirty="0"/>
          </a:p>
        </p:txBody>
      </p:sp>
      <p:sp>
        <p:nvSpPr>
          <p:cNvPr id="9" name="Text 7"/>
          <p:cNvSpPr/>
          <p:nvPr/>
        </p:nvSpPr>
        <p:spPr>
          <a:xfrm>
            <a:off x="0" y="4343400"/>
            <a:ext cx="12191695" cy="320040"/>
          </a:xfrm>
          <a:prstGeom prst="rect">
            <a:avLst/>
          </a:prstGeom>
          <a:noFill/>
          <a:ln/>
        </p:spPr>
        <p:txBody>
          <a:bodyPr wrap="square" rtlCol="0" anchor="ctr"/>
          <a:lstStyle/>
          <a:p>
            <a:pPr algn="ctr" indent="0" marL="0">
              <a:buNone/>
            </a:pPr>
            <a:r>
              <a:rPr lang="en-US" sz="1150" spc="50" kern="0" dirty="0">
                <a:solidFill>
                  <a:srgbClr val="EBD9AF"/>
                </a:solidFill>
                <a:latin typeface="Calibri" pitchFamily="34" charset="0"/>
                <a:ea typeface="Calibri" pitchFamily="34" charset="-122"/>
                <a:cs typeface="Calibri" pitchFamily="34" charset="-120"/>
              </a:rPr>
              <a:t>Asep Ridwan Hidayat  ·  231012050036  ·  Universitas Pamulang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Analisis Pemodelan Topik pada Teks Terjemahan Al-Qur'an dengan CTM dan BERTopic</dc:title>
  <dc:subject>PptxGenJS Presentation</dc:subject>
  <dc:creator>Asep Ridwan Hidayat</dc:creator>
  <cp:lastModifiedBy>Asep Ridwan Hidayat</cp:lastModifiedBy>
  <cp:revision>1</cp:revision>
  <dcterms:created xsi:type="dcterms:W3CDTF">2026-07-12T00:14:50Z</dcterms:created>
  <dcterms:modified xsi:type="dcterms:W3CDTF">2026-07-12T00:14:50Z</dcterms:modified>
</cp:coreProperties>
</file>