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751F"/>
          </a:solidFill>
          <a:ln/>
        </p:spPr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685800"/>
            <a:ext cx="1005840" cy="978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0312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USULAN SLIDE TAMBAHAN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Rekomendasi Prioritas untuk Memperkuat Presentasi Sidang Tesis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361188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Pemodelan Topik pada Teks Terjemahan Al-Qur'an Berbahasa Indonesia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Metode Correlated Topic Modeling (CTM) dan BERTopic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51206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Asep Ridwan Hidayat  |  231012050036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56032"/>
            <a:ext cx="658368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01  |  Landasan Teori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 vs BERTopic: Dua Pendekatan, Satu Tujuan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298448"/>
            <a:ext cx="1554480" cy="5486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6" name="Shape 3"/>
          <p:cNvSpPr/>
          <p:nvPr/>
        </p:nvSpPr>
        <p:spPr>
          <a:xfrm>
            <a:off x="2057400" y="1298448"/>
            <a:ext cx="9646920" cy="5486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28816"/>
            <a:ext cx="9966960" cy="32918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0" y="6528816"/>
            <a:ext cx="2224735" cy="32918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9" name="Text 6"/>
          <p:cNvSpPr/>
          <p:nvPr/>
        </p:nvSpPr>
        <p:spPr>
          <a:xfrm>
            <a:off x="9966960" y="65288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PAMULANG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Disisipkan sebelum slide “04 | Metodologi – Research Pipeline”, agar istilah teknis (UMAP, HDBSCAN, variational inference) tidak muncul tiba-tiba tanpa pengantar.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19659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EDF1FB"/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22402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800AD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Topic Model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3108960"/>
            <a:ext cx="4663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PROBABILISTIK yang memodelkan tiap dokumen sebagai CAMPURAN beberapa topik dengan proporsi tertentu.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Mampu menangkap KORELASI antar topik melalui distribusi logistic-normal (bukan Dirichlet seperti LDA).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berupa peluang kata pada tiap topik (nilai beta).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menebak resep dari mencicipi banyak masakan — tiap masakan adalah campuran beberapa ‘bumbu dasar’.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09360" y="19659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1E8"/>
          </a:solidFill>
          <a:ln/>
        </p:spPr>
      </p:sp>
      <p:sp>
        <p:nvSpPr>
          <p:cNvPr id="17" name="Shape 14"/>
          <p:cNvSpPr/>
          <p:nvPr/>
        </p:nvSpPr>
        <p:spPr>
          <a:xfrm>
            <a:off x="6675120" y="224028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751F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7512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Berbasis Embedding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675120" y="3108960"/>
            <a:ext cx="4663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Mengelompokkan dokumen berdasarkan KEMIRIPAN MAKNA kalimat (sentence embedding BERT).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UMAP untuk reduksi dimensi dan HDBSCAN untuk clustering berbasis densitas.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klaster diberi kata kunci representatif via c-TF-IDF (skor kekhasan, bukan probabilitas).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menyusun ulang rak perpustakaan berdasarkan isi buku, bukan judul sampulnya.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56032"/>
            <a:ext cx="658368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02  |  Mengganti Slide Duplikat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 vs BERTopic secara Teknis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298448"/>
            <a:ext cx="1554480" cy="5486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6" name="Shape 3"/>
          <p:cNvSpPr/>
          <p:nvPr/>
        </p:nvSpPr>
        <p:spPr>
          <a:xfrm>
            <a:off x="2057400" y="1298448"/>
            <a:ext cx="9646920" cy="5486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28816"/>
            <a:ext cx="9966960" cy="32918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0" y="6528816"/>
            <a:ext cx="2224735" cy="32918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9" name="Text 6"/>
          <p:cNvSpPr/>
          <p:nvPr/>
        </p:nvSpPr>
        <p:spPr>
          <a:xfrm>
            <a:off x="9966960" y="65288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PAMULANG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Menggantikan slide “04 | Metodologi – Research Pipeline” kedua yang saat ini isinya duplikat tanpa informasi baru.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55680" cy="4023360"/>
        </p:xfrm>
        <a:graphic>
          <a:graphicData uri="http://schemas.openxmlformats.org/drawingml/2006/table">
            <a:tbl>
              <a:tblPr/>
              <a:tblGrid>
                <a:gridCol w="2926080"/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Aspek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00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CTM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00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BERTopic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Representasi teks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Bag-of-Words + BERT embedding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Sentence-BERT embedding (384 dim)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Algoritma inti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Variational Inference (logistic-normal)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UMAP (reduksi dimensi) + HDBSCAN (clustering)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Representasi kata kunci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Distribusi probabilitas per topik (beta)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Skor c-TF-IDF (tingkat kekhasan kata)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Korelasi antar topik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Eksplisit — matriks kovarians (Sigma)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Implisit — dilihat lewat intertopic distance map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Dokumen tanpa topik jelas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Tidak ada (selalu dapat proporsi topik)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Ada — disebut outlier / Topik -1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Parameter kunci penelitian ini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K = 14 (jumlah topik optimal)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min_topic_size = 25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56032"/>
            <a:ext cx="658368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03  |  Menonjolkan Temuan Utama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Sembilan Kategori Tema Besar Al-Qur'an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298448"/>
            <a:ext cx="1554480" cy="5486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6" name="Shape 3"/>
          <p:cNvSpPr/>
          <p:nvPr/>
        </p:nvSpPr>
        <p:spPr>
          <a:xfrm>
            <a:off x="2057400" y="1298448"/>
            <a:ext cx="9646920" cy="5486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28816"/>
            <a:ext cx="9966960" cy="32918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0" y="6528816"/>
            <a:ext cx="2224735" cy="32918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9" name="Text 6"/>
          <p:cNvSpPr/>
          <p:nvPr/>
        </p:nvSpPr>
        <p:spPr>
          <a:xfrm>
            <a:off x="9966960" y="65288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PAMULANG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Ditambahkan setelah slide “19 | Penggabungan Hasil Topik CTM &amp; BERTopic” — ini jawaban langsung rumusan masalah #4.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19659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800A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103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Aqidah (Keimanan)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580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topik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5800" y="20116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DOMINAN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51960" y="19659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751F"/>
          </a:solidFill>
          <a:ln/>
        </p:spPr>
      </p:sp>
      <p:sp>
        <p:nvSpPr>
          <p:cNvPr id="16" name="Text 13"/>
          <p:cNvSpPr/>
          <p:nvPr/>
        </p:nvSpPr>
        <p:spPr>
          <a:xfrm>
            <a:off x="4434840" y="2103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Eskatologi (Akhirat)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3484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topik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434840" y="20116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DOMINAN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001000" y="19659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B"/>
          </a:solidFill>
          <a:ln/>
        </p:spPr>
      </p:sp>
      <p:sp>
        <p:nvSpPr>
          <p:cNvPr id="20" name="Text 17"/>
          <p:cNvSpPr/>
          <p:nvPr/>
        </p:nvSpPr>
        <p:spPr>
          <a:xfrm>
            <a:off x="8183880" y="2103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Akhlak (Moral &amp; Sikap)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18388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topik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02920" y="3364992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B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5021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Syariah (Hukum &amp; Ibadah)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85800" y="40507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topik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4251960" y="3364992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B"/>
          </a:solidFill>
          <a:ln/>
        </p:spPr>
      </p:sp>
      <p:sp>
        <p:nvSpPr>
          <p:cNvPr id="26" name="Text 23"/>
          <p:cNvSpPr/>
          <p:nvPr/>
        </p:nvSpPr>
        <p:spPr>
          <a:xfrm>
            <a:off x="4434840" y="35021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 (Kauniyah)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4434840" y="40507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topik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8001000" y="3364992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B"/>
          </a:solidFill>
          <a:ln/>
        </p:spPr>
      </p:sp>
      <p:sp>
        <p:nvSpPr>
          <p:cNvPr id="29" name="Text 26"/>
          <p:cNvSpPr/>
          <p:nvPr/>
        </p:nvSpPr>
        <p:spPr>
          <a:xfrm>
            <a:off x="8183880" y="35021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Muamalah (Sosial)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8183880" y="40507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topik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02920" y="4764024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B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" y="490118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Ilmu Pengetahuan (Science)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685800" y="54498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topik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4251960" y="4764024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B"/>
          </a:solidFill>
          <a:ln/>
        </p:spPr>
      </p:sp>
      <p:sp>
        <p:nvSpPr>
          <p:cNvPr id="35" name="Text 32"/>
          <p:cNvSpPr/>
          <p:nvPr/>
        </p:nvSpPr>
        <p:spPr>
          <a:xfrm>
            <a:off x="4434840" y="490118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(Kisah Umat)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4434840" y="54498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topik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8001000" y="4764024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4F5FB"/>
          </a:solidFill>
          <a:ln/>
        </p:spPr>
      </p:sp>
      <p:sp>
        <p:nvSpPr>
          <p:cNvPr id="38" name="Text 35"/>
          <p:cNvSpPr/>
          <p:nvPr/>
        </p:nvSpPr>
        <p:spPr>
          <a:xfrm>
            <a:off x="8183880" y="490118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Psikologis (Batin Manusia)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8183880" y="54498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topik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502920" y="620877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50 topik BERTopic terpetakan ke 9 kategori tematik melalui interpretasi manusia berbasis kata kunci hasil penggabungan CTM + BERTopic (Jaccard Similarity).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56032"/>
            <a:ext cx="658368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04  |  Kontribusi Praktis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Aplikasi Web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298448"/>
            <a:ext cx="1554480" cy="5486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6" name="Shape 3"/>
          <p:cNvSpPr/>
          <p:nvPr/>
        </p:nvSpPr>
        <p:spPr>
          <a:xfrm>
            <a:off x="2057400" y="1298448"/>
            <a:ext cx="9646920" cy="5486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28816"/>
            <a:ext cx="9966960" cy="32918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0" y="6528816"/>
            <a:ext cx="2224735" cy="32918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9" name="Text 6"/>
          <p:cNvSpPr/>
          <p:nvPr/>
        </p:nvSpPr>
        <p:spPr>
          <a:xfrm>
            <a:off x="9966960" y="65288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PAMULANG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Ditambahkan setelah slide “22 | Distribusi Topik pada Tiga Surat”, sebelum Kesimpulan — bukti nyata penelitian ini menjadi produk yang dapat dipakai.</a:t>
            </a:r>
            <a:endParaRPr lang="en-US" sz="1200" dirty="0"/>
          </a:p>
        </p:txBody>
      </p:sp>
      <p:pic>
        <p:nvPicPr>
          <p:cNvPr id="11" name="Image 1" descr="assets/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6949440" cy="29500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4961733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Login &amp; dashboard sistem</a:t>
            </a:r>
            <a:endParaRPr lang="en-US" sz="1050" dirty="0"/>
          </a:p>
        </p:txBody>
      </p:sp>
      <p:pic>
        <p:nvPicPr>
          <p:cNvPr id="13" name="Image 2" descr="assets/arsitektu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965960"/>
            <a:ext cx="3749040" cy="231250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35240" y="4324189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sistem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635240" y="4735669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EDF1FB"/>
          </a:solidFill>
          <a:ln/>
        </p:spPr>
      </p:sp>
      <p:sp>
        <p:nvSpPr>
          <p:cNvPr id="16" name="Text 11"/>
          <p:cNvSpPr/>
          <p:nvPr/>
        </p:nvSpPr>
        <p:spPr>
          <a:xfrm>
            <a:off x="7726680" y="4735669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 / CSS / Bootstrap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635240" y="5192869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EDF1FB"/>
          </a:solidFill>
          <a:ln/>
        </p:spPr>
      </p:sp>
      <p:sp>
        <p:nvSpPr>
          <p:cNvPr id="18" name="Text 13"/>
          <p:cNvSpPr/>
          <p:nvPr/>
        </p:nvSpPr>
        <p:spPr>
          <a:xfrm>
            <a:off x="7726680" y="5192869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Flask (Python)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635240" y="5650069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EDF1FB"/>
          </a:solidFill>
          <a:ln/>
        </p:spPr>
      </p:sp>
      <p:sp>
        <p:nvSpPr>
          <p:cNvPr id="20" name="Text 15"/>
          <p:cNvSpPr/>
          <p:nvPr/>
        </p:nvSpPr>
        <p:spPr>
          <a:xfrm>
            <a:off x="7726680" y="5650069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635240" y="6107269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EDF1FB"/>
          </a:solidFill>
          <a:ln/>
        </p:spPr>
      </p:sp>
      <p:sp>
        <p:nvSpPr>
          <p:cNvPr id="22" name="Text 17"/>
          <p:cNvSpPr/>
          <p:nvPr/>
        </p:nvSpPr>
        <p:spPr>
          <a:xfrm>
            <a:off x="7726680" y="6107269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CTM &amp; BERTopic terintegrasi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56032"/>
            <a:ext cx="658368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05  |  Refleksi Ilmiah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 Penelitian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298448"/>
            <a:ext cx="1554480" cy="5486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6" name="Shape 3"/>
          <p:cNvSpPr/>
          <p:nvPr/>
        </p:nvSpPr>
        <p:spPr>
          <a:xfrm>
            <a:off x="2057400" y="1298448"/>
            <a:ext cx="9646920" cy="5486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28816"/>
            <a:ext cx="9966960" cy="32918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0" y="6528816"/>
            <a:ext cx="2224735" cy="32918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9" name="Text 6"/>
          <p:cNvSpPr/>
          <p:nvPr/>
        </p:nvSpPr>
        <p:spPr>
          <a:xfrm>
            <a:off x="9966960" y="65288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PAMULANG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Ditambahkan sebelum slide “22 | Kesimpulan” — mengakui keterbatasan lebih dulu memperkuat kredibilitas di depan penguji.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011680"/>
            <a:ext cx="566928" cy="566928"/>
          </a:xfrm>
          <a:prstGeom prst="ellipse">
            <a:avLst/>
          </a:prstGeom>
          <a:solidFill>
            <a:srgbClr val="1800AD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234440" y="1938528"/>
            <a:ext cx="10424160" cy="731520"/>
          </a:xfrm>
          <a:prstGeom prst="roundRect">
            <a:avLst>
              <a:gd name="adj" fmla="val 7500"/>
            </a:avLst>
          </a:prstGeom>
          <a:solidFill>
            <a:srgbClr val="F7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1417320" y="193852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 outlier BERTopic masih cukup besar (≈ sepertiga dokumen), akibat sifat ayat yang multitematik dan pendek.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2971800"/>
            <a:ext cx="566928" cy="566928"/>
          </a:xfrm>
          <a:prstGeom prst="ellipse">
            <a:avLst/>
          </a:prstGeom>
          <a:solidFill>
            <a:srgbClr val="1800AD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234440" y="2898648"/>
            <a:ext cx="10424160" cy="731520"/>
          </a:xfrm>
          <a:prstGeom prst="roundRect">
            <a:avLst>
              <a:gd name="adj" fmla="val 7500"/>
            </a:avLst>
          </a:prstGeom>
          <a:solidFill>
            <a:srgbClr val="F7F7F7"/>
          </a:solidFill>
          <a:ln/>
        </p:spPr>
      </p:sp>
      <p:sp>
        <p:nvSpPr>
          <p:cNvPr id="18" name="Text 15"/>
          <p:cNvSpPr/>
          <p:nvPr/>
        </p:nvSpPr>
        <p:spPr>
          <a:xfrm>
            <a:off x="1417320" y="28986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koherensi CTM (C_v = 0,517) dan BERTopic (C_v = 0,5735) masih tergolong SEDANG, belum tinggi.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2920" y="3931920"/>
            <a:ext cx="566928" cy="566928"/>
          </a:xfrm>
          <a:prstGeom prst="ellipse">
            <a:avLst/>
          </a:prstGeom>
          <a:solidFill>
            <a:srgbClr val="1800AD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34440" y="3858768"/>
            <a:ext cx="10424160" cy="731520"/>
          </a:xfrm>
          <a:prstGeom prst="roundRect">
            <a:avLst>
              <a:gd name="adj" fmla="val 7500"/>
            </a:avLst>
          </a:prstGeom>
          <a:solidFill>
            <a:srgbClr val="F7F7F7"/>
          </a:solidFill>
          <a:ln/>
        </p:spPr>
      </p:sp>
      <p:sp>
        <p:nvSpPr>
          <p:cNvPr id="22" name="Text 19"/>
          <p:cNvSpPr/>
          <p:nvPr/>
        </p:nvSpPr>
        <p:spPr>
          <a:xfrm>
            <a:off x="1417320" y="38587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Penelitian terbatas pada teks terjemahan Bahasa Indonesia, belum menyentuh teks asli berbahasa Arab.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2920" y="4892040"/>
            <a:ext cx="566928" cy="566928"/>
          </a:xfrm>
          <a:prstGeom prst="ellipse">
            <a:avLst/>
          </a:prstGeom>
          <a:solidFill>
            <a:srgbClr val="1800AD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234440" y="4818888"/>
            <a:ext cx="10424160" cy="731520"/>
          </a:xfrm>
          <a:prstGeom prst="roundRect">
            <a:avLst>
              <a:gd name="adj" fmla="val 7500"/>
            </a:avLst>
          </a:prstGeom>
          <a:solidFill>
            <a:srgbClr val="F7F7F7"/>
          </a:solidFill>
          <a:ln/>
        </p:spPr>
      </p:sp>
      <p:sp>
        <p:nvSpPr>
          <p:cNvPr id="26" name="Text 23"/>
          <p:cNvSpPr/>
          <p:nvPr/>
        </p:nvSpPr>
        <p:spPr>
          <a:xfrm>
            <a:off x="1417320" y="481888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 tema (Aqidah, Akhlak, dst.) masih melibatkan penilaian kualitatif oleh satu peneliti.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56032"/>
            <a:ext cx="658368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06  |  Arah Lanjutan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 Pengembangan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298448"/>
            <a:ext cx="1554480" cy="5486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6" name="Shape 3"/>
          <p:cNvSpPr/>
          <p:nvPr/>
        </p:nvSpPr>
        <p:spPr>
          <a:xfrm>
            <a:off x="2057400" y="1298448"/>
            <a:ext cx="9646920" cy="5486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28816"/>
            <a:ext cx="9966960" cy="32918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0" y="6528816"/>
            <a:ext cx="2224735" cy="32918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9" name="Text 6"/>
          <p:cNvSpPr/>
          <p:nvPr/>
        </p:nvSpPr>
        <p:spPr>
          <a:xfrm>
            <a:off x="9966960" y="65288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PAMULANG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Ditambahkan setelah slide “22 | Kesimpulan”, sebelum “Terima Kasih” — saat ini presentasi loncat langsung tanpa saran.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0116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AFAFA"/>
          </a:solidFill>
          <a:ln w="19050">
            <a:solidFill>
              <a:srgbClr val="1800A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286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800AD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3152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Lanjutan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1520" y="37033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Kombinasikan dengan Neural Topic Model / Contextual Topic Model untuk meningkatkan nilai coherence.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97680" y="20116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AFAFA"/>
          </a:solidFill>
          <a:ln w="19050">
            <a:solidFill>
              <a:srgbClr val="FF751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26280" y="2286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F751F"/>
          </a:solidFill>
          <a:ln/>
        </p:spPr>
      </p:sp>
      <p:sp>
        <p:nvSpPr>
          <p:cNvPr id="18" name="Text 15"/>
          <p:cNvSpPr/>
          <p:nvPr/>
        </p:nvSpPr>
        <p:spPr>
          <a:xfrm>
            <a:off x="45262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52628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Tangani Outlier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26280" y="37033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hybrid clustering atau perpanjang konteks dokumen (gabungkan ayat per tema/surat).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092440" y="20116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AFAFA"/>
          </a:solidFill>
          <a:ln w="19050">
            <a:solidFill>
              <a:srgbClr val="00A79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21040" y="2286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A79D"/>
          </a:solidFill>
          <a:ln/>
        </p:spPr>
      </p:sp>
      <p:sp>
        <p:nvSpPr>
          <p:cNvPr id="23" name="Text 20"/>
          <p:cNvSpPr/>
          <p:nvPr/>
        </p:nvSpPr>
        <p:spPr>
          <a:xfrm>
            <a:off x="83210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32104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Perluasan Korpus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321040" y="37033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Kembangkan penelitian ke teks tafsir atau hadis untuk pemahaman tematik yang lebih dalam.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56032"/>
            <a:ext cx="658368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07  |  Kerapian Teknis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Penomoran Section Slide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298448"/>
            <a:ext cx="1554480" cy="5486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6" name="Shape 3"/>
          <p:cNvSpPr/>
          <p:nvPr/>
        </p:nvSpPr>
        <p:spPr>
          <a:xfrm>
            <a:off x="2057400" y="1298448"/>
            <a:ext cx="9646920" cy="5486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28816"/>
            <a:ext cx="9966960" cy="32918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0" y="6528816"/>
            <a:ext cx="2224735" cy="32918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9" name="Text 6"/>
          <p:cNvSpPr/>
          <p:nvPr/>
        </p:nvSpPr>
        <p:spPr>
          <a:xfrm>
            <a:off x="9966960" y="65288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PAMULANG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Penomoran saat ini tidak berurutan (loncat dari 09 ke 11, tanpa pernah ada angka 10) — kesan kurang teliti di mata penguji yang jeli.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0574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DECE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(tidak konsisten)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28346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→ 02 → 03 → 04 → 04 → 05 → 06 → 07 → 08 → 09 → 11 → 12 → 13 → 14 → 15 → 16 → 17 → 18 → 19 → 20 → 21 → 22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5394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muncul dua kali, angka 10 tidak pernah dipakai.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309360" y="20574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EAF7EE"/>
          </a:solidFill>
          <a:ln/>
        </p:spPr>
      </p:sp>
      <p:sp>
        <p:nvSpPr>
          <p:cNvPr id="16" name="Text 13"/>
          <p:cNvSpPr/>
          <p:nvPr/>
        </p:nvSpPr>
        <p:spPr>
          <a:xfrm>
            <a:off x="662940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 (berurutan rapi)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29400" y="28346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7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→ 02 → 03 → 04 → 05 → 06 → 07 → 08 → 09 → 10 → 11 → 12 → 13 → 14 → 15 → 16 → 17 → 18 → 19 → 20 → 21 → 22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29400" y="5394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B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lebih baik: kelompokkan per bab (01 Pendahuluan, 02 Metodologi, 03 Hasil CTM, 04 Hasil BERTopic, 05 Penggabungan, 06 Kesimpulan) dengan sub-nomor.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56032"/>
            <a:ext cx="658368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08  |  Persiapan Tanya-Jawab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566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Angka Penting (Slide Cadangan)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298448"/>
            <a:ext cx="1554480" cy="5486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6" name="Shape 3"/>
          <p:cNvSpPr/>
          <p:nvPr/>
        </p:nvSpPr>
        <p:spPr>
          <a:xfrm>
            <a:off x="2057400" y="1298448"/>
            <a:ext cx="9646920" cy="5486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28816"/>
            <a:ext cx="9966960" cy="329184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0" y="6528816"/>
            <a:ext cx="2224735" cy="329184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9" name="Text 6"/>
          <p:cNvSpPr/>
          <p:nvPr/>
        </p:nvSpPr>
        <p:spPr>
          <a:xfrm>
            <a:off x="9966960" y="65288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PAMULANG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Ditaruh setelah “Terima Kasih”, TIDAK ditampilkan kecuali penguji meminta detail angka — buka cepat saat sesi tanya jawab.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55680" cy="3657600"/>
        </p:xfrm>
        <a:graphic>
          <a:graphicData uri="http://schemas.openxmlformats.org/drawingml/2006/table">
            <a:tbl>
              <a:tblPr/>
              <a:tblGrid>
                <a:gridCol w="3291840"/>
                <a:gridCol w="3931920"/>
                <a:gridCol w="3931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Metrik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00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CTM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00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BERTopic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</a:rPr>
                        <a:t>Parameter optimal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K = 14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min_topic_size = 25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</a:rPr>
                        <a:t>C_v (Coherence)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0,517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0,5735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</a:rPr>
                        <a:t>NPMI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-0,022 (-0,226 versi kesimpulan)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0,0530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</a:rPr>
                        <a:t>UMass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-5,066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-5,3257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</a:rPr>
                        <a:t>UCI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-2,137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</a:rPr>
                        <a:t>Perplexity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1720,28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</a:rPr>
                        <a:t>Final Score / Composite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0,64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0,87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</a:rPr>
                        <a:t>Jumlah topik terbentuk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14 topik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39 / 47 / 50* (cek catatan)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02920" y="57607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57607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Perlu diklarifikasi sebelum sidang: (a) jumlah token pada slide metodologi tertulis 75.940, sedangkan naskah tesis menyebut 75.490; (b) jumlah topik final BERTopic disebut berbeda-beda (39/47/50) di beberapa bagian — siapkan penjelasan singkat jika ditanya.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2026-07-14T23:33:25Z</dcterms:created>
  <dcterms:modified xsi:type="dcterms:W3CDTF">2026-07-14T23:33:25Z</dcterms:modified>
</cp:coreProperties>
</file>