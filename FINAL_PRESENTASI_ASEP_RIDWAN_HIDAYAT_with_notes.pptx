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10.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9.svg" ContentType="image/svg+xml"/>
  <Override PartName="/ppt/media/image3.svg" ContentType="image/svg+xml"/>
  <Override PartName="/ppt/media/image30.svg" ContentType="image/svg+xml"/>
  <Override PartName="/ppt/media/image37.svg" ContentType="image/svg+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80"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1" r:id="rId24"/>
    <p:sldId id="277" r:id="rId25"/>
    <p:sldId id="282" r:id="rId26"/>
    <p:sldId id="283" r:id="rId27"/>
    <p:sldId id="278" r:id="rId28"/>
    <p:sldId id="279" r:id="rId29"/>
    <p:sldId id="284" r:id="rId30"/>
  </p:sldIdLst>
  <p:sldSz cx="18288000" cy="10287000"/>
  <p:notesSz cx="6858000" cy="9144000"/>
  <p:embeddedFontLst>
    <p:embeddedFont>
      <p:font typeface="Antic" panose="020B0604020202020204" charset="0"/>
      <p:regular r:id="rId32"/>
    </p:embeddedFont>
    <p:embeddedFont>
      <p:font typeface="Antic Bold" panose="020B0604020202020204" charset="0"/>
      <p:regular r:id="rId33"/>
    </p:embeddedFont>
    <p:embeddedFont>
      <p:font typeface="Archivo Narrow Bold" panose="020B0604020202020204" charset="0"/>
      <p:regular r:id="rId34"/>
    </p:embeddedFont>
    <p:embeddedFont>
      <p:font typeface="Arimo Bold" panose="020B0604020202020204" charset="0"/>
      <p:regular r:id="rId35"/>
    </p:embeddedFont>
    <p:embeddedFont>
      <p:font typeface="Canva Sans" panose="020B0604020202020204" charset="0"/>
      <p:regular r:id="rId36"/>
    </p:embeddedFont>
    <p:embeddedFont>
      <p:font typeface="Canva Sans Bold" panose="020B0604020202020204" charset="0"/>
      <p:regular r:id="rId37"/>
    </p:embeddedFont>
    <p:embeddedFont>
      <p:font typeface="Montserrat" panose="00000500000000000000" pitchFamily="2" charset="0"/>
      <p:regular r:id="rId38"/>
      <p:bold r:id="rId39"/>
      <p:italic r:id="rId40"/>
      <p:boldItalic r:id="rId41"/>
    </p:embeddedFont>
    <p:embeddedFont>
      <p:font typeface="Montserrat Bold" panose="00000800000000000000" charset="0"/>
      <p:regular r:id="rId42"/>
    </p:embeddedFont>
    <p:embeddedFont>
      <p:font typeface="Open Sauce Bold"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3434" autoAdjust="0"/>
  </p:normalViewPr>
  <p:slideViewPr>
    <p:cSldViewPr>
      <p:cViewPr>
        <p:scale>
          <a:sx n="33" d="100"/>
          <a:sy n="33" d="100"/>
        </p:scale>
        <p:origin x="1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 Id="rId38" Type="http://schemas.openxmlformats.org/officeDocument/2006/relationships/font" Target="fonts/font7.fntdata"/><Relationship Id="rId39" Type="http://schemas.openxmlformats.org/officeDocument/2006/relationships/font" Target="fonts/font8.fntdata"/><Relationship Id="rId40" Type="http://schemas.openxmlformats.org/officeDocument/2006/relationships/font" Target="fonts/font9.fntdata"/><Relationship Id="rId41" Type="http://schemas.openxmlformats.org/officeDocument/2006/relationships/font" Target="fonts/font10.fntdata"/><Relationship Id="rId42" Type="http://schemas.openxmlformats.org/officeDocument/2006/relationships/font" Target="fonts/font11.fntdata"/><Relationship Id="rId43" Type="http://schemas.openxmlformats.org/officeDocument/2006/relationships/font" Target="fonts/font12.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140C0-CB0F-428E-AF5D-5E591ED17214}"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4F9FF8-F730-48A2-A15C-4DAF3EEA9E4C}" type="slidenum">
              <a:rPr lang="en-US" smtClean="0"/>
              <a:t>‹#›</a:t>
            </a:fld>
            <a:endParaRPr lang="en-US"/>
          </a:p>
        </p:txBody>
      </p:sp>
    </p:spTree>
    <p:extLst>
      <p:ext uri="{BB962C8B-B14F-4D97-AF65-F5344CB8AC3E}">
        <p14:creationId xmlns:p14="http://schemas.microsoft.com/office/powerpoint/2010/main" val="393450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Asslamkm</a:t>
            </a:r>
            <a:r>
              <a:rPr lang="en-US" dirty="0"/>
              <a:t>, </a:t>
            </a:r>
            <a:r>
              <a:rPr lang="en-US" dirty="0" err="1"/>
              <a:t>selamat</a:t>
            </a:r>
            <a:r>
              <a:rPr lang="en-US" dirty="0"/>
              <a:t> </a:t>
            </a:r>
            <a:r>
              <a:rPr lang="en-US" dirty="0" err="1"/>
              <a:t>pagi</a:t>
            </a:r>
            <a:r>
              <a:rPr lang="en-US" dirty="0"/>
              <a:t>, </a:t>
            </a:r>
            <a:r>
              <a:rPr lang="en-US" dirty="0" err="1"/>
              <a:t>ucapan</a:t>
            </a:r>
            <a:r>
              <a:rPr lang="en-US" dirty="0"/>
              <a:t> </a:t>
            </a:r>
            <a:r>
              <a:rPr lang="en-US" dirty="0" err="1"/>
              <a:t>terimakasih</a:t>
            </a:r>
            <a:r>
              <a:rPr lang="en-US" dirty="0"/>
              <a:t> </a:t>
            </a:r>
            <a:r>
              <a:rPr lang="en-US" dirty="0" err="1"/>
              <a:t>ke</a:t>
            </a:r>
            <a:r>
              <a:rPr lang="en-US" dirty="0"/>
              <a:t> </a:t>
            </a:r>
            <a:r>
              <a:rPr lang="en-US" dirty="0" err="1"/>
              <a:t>dosen</a:t>
            </a:r>
            <a:r>
              <a:rPr lang="en-US" dirty="0"/>
              <a:t> </a:t>
            </a:r>
            <a:r>
              <a:rPr lang="en-US" dirty="0" err="1"/>
              <a:t>penguji</a:t>
            </a:r>
            <a:r>
              <a:rPr lang="en-US" dirty="0"/>
              <a:t>, </a:t>
            </a:r>
            <a:r>
              <a:rPr lang="en-US" dirty="0" err="1"/>
              <a:t>dosen</a:t>
            </a:r>
            <a:r>
              <a:rPr lang="en-US" dirty="0"/>
              <a:t> </a:t>
            </a:r>
            <a:r>
              <a:rPr lang="en-US" dirty="0" err="1"/>
              <a:t>pembimbing</a:t>
            </a:r>
            <a:r>
              <a:rPr lang="en-US" dirty="0"/>
              <a:t> yang </a:t>
            </a:r>
            <a:r>
              <a:rPr lang="en-US" dirty="0" err="1"/>
              <a:t>telah</a:t>
            </a:r>
            <a:r>
              <a:rPr lang="en-US" dirty="0"/>
              <a:t> </a:t>
            </a:r>
            <a:r>
              <a:rPr lang="en-US" dirty="0" err="1"/>
              <a:t>hadir</a:t>
            </a:r>
            <a:br>
              <a:rPr lang="en-US" dirty="0"/>
            </a:br>
            <a:r>
              <a:rPr lang="en-US" sz="1200" i="1" kern="1200" dirty="0" err="1">
                <a:solidFill>
                  <a:schemeClr val="tx1"/>
                </a:solidFill>
                <a:effectLst/>
                <a:latin typeface="+mn-lt"/>
                <a:ea typeface="+mn-ea"/>
                <a:cs typeface="+mn-cs"/>
              </a:rPr>
              <a:t>perkenalkan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Asep</a:t>
            </a:r>
            <a:r>
              <a:rPr lang="en-US" sz="1200" i="1" kern="1200" dirty="0">
                <a:solidFill>
                  <a:schemeClr val="tx1"/>
                </a:solidFill>
                <a:effectLst/>
                <a:latin typeface="+mn-lt"/>
                <a:ea typeface="+mn-ea"/>
                <a:cs typeface="+mn-cs"/>
              </a:rPr>
              <a:t> Ridwan Hidayat, NIM 231012050036,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Program Studi Teknik </a:t>
            </a:r>
            <a:r>
              <a:rPr lang="en-US" sz="1200" i="1" kern="1200" dirty="0" err="1">
                <a:solidFill>
                  <a:schemeClr val="tx1"/>
                </a:solidFill>
                <a:effectLst/>
                <a:latin typeface="+mn-lt"/>
                <a:ea typeface="+mn-ea"/>
                <a:cs typeface="+mn-cs"/>
              </a:rPr>
              <a:t>Informatika</a:t>
            </a:r>
            <a:r>
              <a:rPr lang="en-US" sz="1200" i="1" kern="1200" dirty="0">
                <a:solidFill>
                  <a:schemeClr val="tx1"/>
                </a:solidFill>
                <a:effectLst/>
                <a:latin typeface="+mn-lt"/>
                <a:ea typeface="+mn-ea"/>
                <a:cs typeface="+mn-cs"/>
              </a:rPr>
              <a:t> S-2, Program </a:t>
            </a:r>
            <a:r>
              <a:rPr lang="en-US" sz="1200" i="1" kern="1200" dirty="0" err="1">
                <a:solidFill>
                  <a:schemeClr val="tx1"/>
                </a:solidFill>
                <a:effectLst/>
                <a:latin typeface="+mn-lt"/>
                <a:ea typeface="+mn-ea"/>
                <a:cs typeface="+mn-cs"/>
              </a:rPr>
              <a:t>Pascasarjana</a:t>
            </a:r>
            <a:r>
              <a:rPr lang="en-US" sz="1200" i="1" kern="1200" dirty="0">
                <a:solidFill>
                  <a:schemeClr val="tx1"/>
                </a:solidFill>
                <a:effectLst/>
                <a:latin typeface="+mn-lt"/>
                <a:ea typeface="+mn-ea"/>
                <a:cs typeface="+mn-cs"/>
              </a:rPr>
              <a:t> Universitas </a:t>
            </a:r>
            <a:r>
              <a:rPr lang="en-US" sz="1200" i="1" kern="1200" dirty="0" err="1">
                <a:solidFill>
                  <a:schemeClr val="tx1"/>
                </a:solidFill>
                <a:effectLst/>
                <a:latin typeface="+mn-lt"/>
                <a:ea typeface="+mn-ea"/>
                <a:cs typeface="+mn-cs"/>
              </a:rPr>
              <a:t>Pamulang</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kesempatan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mempresentasikan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berjudul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Pemodelan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pada Teks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Berbahasa</a:t>
            </a:r>
            <a:r>
              <a:rPr lang="en-US" sz="1200" i="1" kern="1200" dirty="0">
                <a:solidFill>
                  <a:schemeClr val="tx1"/>
                </a:solidFill>
                <a:effectLst/>
                <a:latin typeface="+mn-lt"/>
                <a:ea typeface="+mn-ea"/>
                <a:cs typeface="+mn-cs"/>
              </a:rPr>
              <a:t> Indonesia </a:t>
            </a:r>
            <a:r>
              <a:rPr lang="en-US" sz="1200" i="1" kern="1200" dirty="0" err="1">
                <a:solidFill>
                  <a:schemeClr val="tx1"/>
                </a:solidFill>
                <a:effectLst/>
                <a:latin typeface="+mn-lt"/>
                <a:ea typeface="+mn-ea"/>
                <a:cs typeface="+mn-cs"/>
              </a:rPr>
              <a:t>dengan</a:t>
            </a:r>
            <a:r>
              <a:rPr lang="en-US" sz="1200" i="1" kern="1200" dirty="0">
                <a:solidFill>
                  <a:schemeClr val="tx1"/>
                </a:solidFill>
                <a:effectLst/>
                <a:latin typeface="+mn-lt"/>
                <a:ea typeface="+mn-ea"/>
                <a:cs typeface="+mn-cs"/>
              </a:rPr>
              <a:t> Metode Correlated Topic Modeling (CTM)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di </a:t>
            </a:r>
            <a:r>
              <a:rPr lang="en-US" sz="1200" i="1" kern="1200" dirty="0" err="1">
                <a:solidFill>
                  <a:schemeClr val="tx1"/>
                </a:solidFill>
                <a:effectLst/>
                <a:latin typeface="+mn-lt"/>
                <a:ea typeface="+mn-ea"/>
                <a:cs typeface="+mn-cs"/>
              </a:rPr>
              <a:t>bawah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bimbingan</a:t>
            </a:r>
            <a:r>
              <a:rPr lang="en-US" sz="1200" i="1" kern="1200" dirty="0">
                <a:solidFill>
                  <a:schemeClr val="tx1"/>
                </a:solidFill>
                <a:effectLst/>
                <a:latin typeface="+mn-lt"/>
                <a:ea typeface="+mn-ea"/>
                <a:cs typeface="+mn-cs"/>
              </a:rPr>
              <a:t> Bapak Dr. </a:t>
            </a:r>
            <a:r>
              <a:rPr lang="en-US" sz="1200" i="1" kern="1200" dirty="0" err="1">
                <a:solidFill>
                  <a:schemeClr val="tx1"/>
                </a:solidFill>
                <a:effectLst/>
                <a:latin typeface="+mn-lt"/>
                <a:ea typeface="+mn-ea"/>
                <a:cs typeface="+mn-cs"/>
              </a:rPr>
              <a:t>Sajarwo</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Anggai</a:t>
            </a:r>
            <a:r>
              <a:rPr lang="en-US" sz="1200" i="1" kern="1200" dirty="0">
                <a:solidFill>
                  <a:schemeClr val="tx1"/>
                </a:solidFill>
                <a:effectLst/>
                <a:latin typeface="+mn-lt"/>
                <a:ea typeface="+mn-ea"/>
                <a:cs typeface="+mn-cs"/>
              </a:rPr>
              <a:t>, S.ST., M.T. dan Bapak Dr. Arya </a:t>
            </a:r>
            <a:r>
              <a:rPr lang="en-US" sz="1200" i="1" kern="1200" dirty="0" err="1">
                <a:solidFill>
                  <a:schemeClr val="tx1"/>
                </a:solidFill>
                <a:effectLst/>
                <a:latin typeface="+mn-lt"/>
                <a:ea typeface="+mn-ea"/>
                <a:cs typeface="+mn-cs"/>
              </a:rPr>
              <a:t>Adhyaksa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Waskita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M.Si</a:t>
            </a:r>
            <a:r>
              <a:rPr lang="en-US" sz="1200" i="1"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0E4F9FF8-F730-48A2-A15C-4DAF3EEA9E4C}" type="slidenum">
              <a:rPr lang="en-US" smtClean="0"/>
              <a:t>1</a:t>
            </a:fld>
            <a:endParaRPr lang="en-US"/>
          </a:p>
        </p:txBody>
      </p:sp>
    </p:spTree>
    <p:extLst>
      <p:ext uri="{BB962C8B-B14F-4D97-AF65-F5344CB8AC3E}">
        <p14:creationId xmlns:p14="http://schemas.microsoft.com/office/powerpoint/2010/main" val="3135263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err="1">
                <a:solidFill>
                  <a:schemeClr val="tx1"/>
                </a:solidFill>
                <a:effectLst/>
                <a:latin typeface="+mn-lt"/>
                <a:ea typeface="+mn-ea"/>
                <a:cs typeface="+mn-cs"/>
              </a:rPr>
              <a:t>Izinkan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memulai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latar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belakang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Pemodelan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atau</a:t>
            </a:r>
            <a:r>
              <a:rPr lang="en-US" sz="1200" i="1" kern="1200" dirty="0">
                <a:solidFill>
                  <a:schemeClr val="tx1"/>
                </a:solidFill>
                <a:effectLst/>
                <a:latin typeface="+mn-lt"/>
                <a:ea typeface="+mn-ea"/>
                <a:cs typeface="+mn-cs"/>
              </a:rPr>
              <a:t> topic modeling </a:t>
            </a:r>
            <a:r>
              <a:rPr lang="en-US" sz="1200" i="1" kern="1200" dirty="0" err="1">
                <a:solidFill>
                  <a:schemeClr val="tx1"/>
                </a:solidFill>
                <a:effectLst/>
                <a:latin typeface="+mn-lt"/>
                <a:ea typeface="+mn-ea"/>
                <a:cs typeface="+mn-cs"/>
              </a:rPr>
              <a:t>adalah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pendekatan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penting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dalam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menemukan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tema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tersembunyi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kumpulan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dokumen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otomatis</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tantangannya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lebih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karena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kompleks</a:t>
            </a:r>
            <a:r>
              <a:rPr lang="en-US" sz="1200" i="1" kern="1200" dirty="0">
                <a:solidFill>
                  <a:schemeClr val="tx1"/>
                </a:solidFill>
                <a:effectLst/>
                <a:latin typeface="+mn-lt"/>
                <a:ea typeface="+mn-ea"/>
                <a:cs typeface="+mn-cs"/>
              </a:rPr>
              <a:t> dan </a:t>
            </a:r>
            <a:r>
              <a:rPr lang="en-US" sz="1200" i="1" kern="1200" dirty="0" err="1">
                <a:solidFill>
                  <a:schemeClr val="tx1"/>
                </a:solidFill>
                <a:effectLst/>
                <a:latin typeface="+mn-lt"/>
                <a:ea typeface="+mn-ea"/>
                <a:cs typeface="+mn-cs"/>
              </a:rPr>
              <a:t>kontekstual</a:t>
            </a:r>
            <a:r>
              <a:rPr lang="en-US" sz="1200" i="1" kern="1200" dirty="0">
                <a:solidFill>
                  <a:schemeClr val="tx1"/>
                </a:solidFill>
                <a:effectLst/>
                <a:latin typeface="+mn-lt"/>
                <a:ea typeface="+mn-ea"/>
                <a:cs typeface="+mn-cs"/>
              </a:rPr>
              <a:t>. Dataset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gunakan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mencakup</a:t>
            </a:r>
            <a:r>
              <a:rPr lang="en-US" sz="1200" i="1" kern="1200" dirty="0">
                <a:solidFill>
                  <a:schemeClr val="tx1"/>
                </a:solidFill>
                <a:effectLst/>
                <a:latin typeface="+mn-lt"/>
                <a:ea typeface="+mn-ea"/>
                <a:cs typeface="+mn-cs"/>
              </a:rPr>
              <a:t> 114 </a:t>
            </a:r>
            <a:r>
              <a:rPr lang="en-US" sz="1200" i="1" kern="1200" dirty="0" err="1">
                <a:solidFill>
                  <a:schemeClr val="tx1"/>
                </a:solidFill>
                <a:effectLst/>
                <a:latin typeface="+mn-lt"/>
                <a:ea typeface="+mn-ea"/>
                <a:cs typeface="+mn-cs"/>
              </a:rPr>
              <a:t>surat</a:t>
            </a:r>
            <a:r>
              <a:rPr lang="en-US" sz="1200" i="1" kern="1200" dirty="0">
                <a:solidFill>
                  <a:schemeClr val="tx1"/>
                </a:solidFill>
                <a:effectLst/>
                <a:latin typeface="+mn-lt"/>
                <a:ea typeface="+mn-ea"/>
                <a:cs typeface="+mn-cs"/>
              </a:rPr>
              <a:t>, 6.236 </a:t>
            </a:r>
            <a:r>
              <a:rPr lang="en-US" sz="1200" i="1" kern="1200" dirty="0" err="1">
                <a:solidFill>
                  <a:schemeClr val="tx1"/>
                </a:solidFill>
                <a:effectLst/>
                <a:latin typeface="+mn-lt"/>
                <a:ea typeface="+mn-ea"/>
                <a:cs typeface="+mn-cs"/>
              </a:rPr>
              <a:t>ayat</a:t>
            </a:r>
            <a:r>
              <a:rPr lang="en-US" sz="1200" i="1" kern="1200" dirty="0">
                <a:solidFill>
                  <a:schemeClr val="tx1"/>
                </a:solidFill>
                <a:effectLst/>
                <a:latin typeface="+mn-lt"/>
                <a:ea typeface="+mn-ea"/>
                <a:cs typeface="+mn-cs"/>
              </a:rPr>
              <a:t>, dan </a:t>
            </a:r>
            <a:r>
              <a:rPr lang="en-US" sz="1200" i="1" kern="1200" dirty="0" err="1">
                <a:solidFill>
                  <a:schemeClr val="tx1"/>
                </a:solidFill>
                <a:effectLst/>
                <a:latin typeface="+mn-lt"/>
                <a:ea typeface="+mn-ea"/>
                <a:cs typeface="+mn-cs"/>
              </a:rPr>
              <a:t>sekitar</a:t>
            </a:r>
            <a:r>
              <a:rPr lang="en-US" sz="1200" i="1" kern="1200" dirty="0">
                <a:solidFill>
                  <a:schemeClr val="tx1"/>
                </a:solidFill>
                <a:effectLst/>
                <a:latin typeface="+mn-lt"/>
                <a:ea typeface="+mn-ea"/>
                <a:cs typeface="+mn-cs"/>
              </a:rPr>
              <a:t> 77.439 kata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jumlah</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cukup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besar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dianalisis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manual </a:t>
            </a:r>
            <a:r>
              <a:rPr lang="en-US" sz="1200" i="1" kern="1200" dirty="0" err="1">
                <a:solidFill>
                  <a:schemeClr val="tx1"/>
                </a:solidFill>
                <a:effectLst/>
                <a:latin typeface="+mn-lt"/>
                <a:ea typeface="+mn-ea"/>
                <a:cs typeface="+mn-cs"/>
              </a:rPr>
              <a:t>satu</a:t>
            </a:r>
            <a:r>
              <a:rPr lang="en-US" sz="1200" i="1" kern="1200" dirty="0">
                <a:solidFill>
                  <a:schemeClr val="tx1"/>
                </a:solidFill>
                <a:effectLst/>
                <a:latin typeface="+mn-lt"/>
                <a:ea typeface="+mn-ea"/>
                <a:cs typeface="+mn-cs"/>
              </a:rPr>
              <a:t> per </a:t>
            </a:r>
            <a:r>
              <a:rPr lang="en-US" sz="1200" i="1" kern="1200" dirty="0" err="1">
                <a:solidFill>
                  <a:schemeClr val="tx1"/>
                </a:solidFill>
                <a:effectLst/>
                <a:latin typeface="+mn-lt"/>
                <a:ea typeface="+mn-ea"/>
                <a:cs typeface="+mn-cs"/>
              </a:rPr>
              <a:t>satu</a:t>
            </a:r>
            <a:r>
              <a:rPr lang="en-US" sz="1200" i="1" kern="1200" dirty="0">
                <a:solidFill>
                  <a:schemeClr val="tx1"/>
                </a:solidFill>
                <a:effectLst/>
                <a:latin typeface="+mn-lt"/>
                <a:ea typeface="+mn-ea"/>
                <a:cs typeface="+mn-cs"/>
              </a:rPr>
              <a:t>.</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pilih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sebagai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solusi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alternatif</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terbaru</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karena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keduanya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berbasis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representasi</a:t>
            </a:r>
            <a:r>
              <a:rPr lang="en-US" sz="1200" i="1" kern="1200" dirty="0">
                <a:solidFill>
                  <a:schemeClr val="tx1"/>
                </a:solidFill>
                <a:effectLst/>
                <a:latin typeface="+mn-lt"/>
                <a:ea typeface="+mn-ea"/>
                <a:cs typeface="+mn-cs"/>
              </a:rPr>
              <a:t> BERT yang </a:t>
            </a:r>
            <a:r>
              <a:rPr lang="en-US" sz="1200" i="1" kern="1200" dirty="0" err="1">
                <a:solidFill>
                  <a:schemeClr val="tx1"/>
                </a:solidFill>
                <a:effectLst/>
                <a:latin typeface="+mn-lt"/>
                <a:ea typeface="+mn-ea"/>
                <a:cs typeface="+mn-cs"/>
              </a:rPr>
              <a:t>lebih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kontekstual</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dibanding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metode</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klasik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seperti</a:t>
            </a:r>
            <a:r>
              <a:rPr lang="en-US" sz="1200" i="1" kern="1200" dirty="0">
                <a:solidFill>
                  <a:schemeClr val="tx1"/>
                </a:solidFill>
                <a:effectLst/>
                <a:latin typeface="+mn-lt"/>
                <a:ea typeface="+mn-ea"/>
                <a:cs typeface="+mn-cs"/>
              </a:rPr>
              <a:t> LDA. </a:t>
            </a:r>
            <a:r>
              <a:rPr lang="en-US" sz="1200" i="1" kern="1200" dirty="0" err="1">
                <a:solidFill>
                  <a:schemeClr val="tx1"/>
                </a:solidFill>
                <a:effectLst/>
                <a:latin typeface="+mn-lt"/>
                <a:ea typeface="+mn-ea"/>
                <a:cs typeface="+mn-cs"/>
              </a:rPr>
              <a:t>Namun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penerapan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kedua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metode</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pada </a:t>
            </a:r>
            <a:r>
              <a:rPr lang="en-US" sz="1200" i="1" kern="1200" dirty="0" err="1">
                <a:solidFill>
                  <a:schemeClr val="tx1"/>
                </a:solidFill>
                <a:effectLst/>
                <a:latin typeface="+mn-lt"/>
                <a:ea typeface="+mn-ea"/>
                <a:cs typeface="+mn-cs"/>
              </a:rPr>
              <a:t>korpus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religius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khususnya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berbahasa</a:t>
            </a:r>
            <a:r>
              <a:rPr lang="en-US" sz="1200" i="1" kern="1200" dirty="0">
                <a:solidFill>
                  <a:schemeClr val="tx1"/>
                </a:solidFill>
                <a:effectLst/>
                <a:latin typeface="+mn-lt"/>
                <a:ea typeface="+mn-ea"/>
                <a:cs typeface="+mn-cs"/>
              </a:rPr>
              <a:t> Indonesia, </a:t>
            </a:r>
            <a:r>
              <a:rPr lang="en-US" sz="1200" i="1" kern="1200" dirty="0" err="1">
                <a:solidFill>
                  <a:schemeClr val="tx1"/>
                </a:solidFill>
                <a:effectLst/>
                <a:latin typeface="+mn-lt"/>
                <a:ea typeface="+mn-ea"/>
                <a:cs typeface="+mn-cs"/>
              </a:rPr>
              <a:t>masih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belum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banyak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digunakan</a:t>
            </a:r>
            <a:r>
              <a:rPr lang="en-US"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inilah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celah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coba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isi</a:t>
            </a:r>
            <a:r>
              <a:rPr lang="en-US" sz="1200" i="1"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2</a:t>
            </a:fld>
            <a:endParaRPr lang="en-US"/>
          </a:p>
        </p:txBody>
      </p:sp>
    </p:spTree>
    <p:extLst>
      <p:ext uri="{BB962C8B-B14F-4D97-AF65-F5344CB8AC3E}">
        <p14:creationId xmlns:p14="http://schemas.microsoft.com/office/powerpoint/2010/main" val="3736616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latar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belakang</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tersebut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mengidentifikasi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permasalahan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utama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pertama</a:t>
            </a:r>
            <a:r>
              <a:rPr lang="en-US" sz="1200" i="1"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i="1" kern="1200" dirty="0" err="1">
                <a:solidFill>
                  <a:schemeClr val="tx1"/>
                </a:solidFill>
                <a:effectLst/>
                <a:latin typeface="+mn-lt"/>
                <a:ea typeface="+mn-ea"/>
                <a:cs typeface="+mn-cs"/>
              </a:rPr>
              <a:t>Semantik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dalam</a:t>
            </a:r>
            <a:r>
              <a:rPr lang="en-US" sz="1200" i="1" kern="1200" dirty="0">
                <a:solidFill>
                  <a:schemeClr val="tx1"/>
                </a:solidFill>
                <a:effectLst/>
                <a:latin typeface="+mn-lt"/>
                <a:ea typeface="+mn-ea"/>
                <a:cs typeface="+mn-cs"/>
              </a:rPr>
              <a:t> arti : </a:t>
            </a:r>
            <a:r>
              <a:rPr lang="en-US" dirty="0" err="1"/>
              <a:t>menangkap</a:t>
            </a:r>
            <a:r>
              <a:rPr lang="en-US" dirty="0"/>
              <a:t> </a:t>
            </a:r>
            <a:r>
              <a:rPr lang="en-US" dirty="0" err="1"/>
              <a:t>makna</a:t>
            </a:r>
            <a:r>
              <a:rPr lang="en-US" dirty="0"/>
              <a:t> dan </a:t>
            </a:r>
            <a:r>
              <a:rPr lang="en-US" dirty="0" err="1"/>
              <a:t>konteksnya</a:t>
            </a:r>
            <a:r>
              <a:rPr lang="en-US" dirty="0"/>
              <a:t> di dunia </a:t>
            </a:r>
            <a:r>
              <a:rPr lang="en-US" dirty="0" err="1"/>
              <a:t>nyata</a:t>
            </a:r>
            <a:endParaRPr lang="en-US"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identifikasi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masalah</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tersebut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merumuskan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empat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pertanyaan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bagaimana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membangun</a:t>
            </a:r>
            <a:r>
              <a:rPr lang="en-US" sz="1200" i="1" kern="1200" dirty="0">
                <a:solidFill>
                  <a:schemeClr val="tx1"/>
                </a:solidFill>
                <a:effectLst/>
                <a:latin typeface="+mn-lt"/>
                <a:ea typeface="+mn-ea"/>
                <a:cs typeface="+mn-cs"/>
              </a:rPr>
              <a:t> model CTM dan </a:t>
            </a:r>
            <a:r>
              <a:rPr lang="en-US" sz="1200" i="1" kern="1200" dirty="0" err="1">
                <a:solidFill>
                  <a:schemeClr val="tx1"/>
                </a:solidFill>
                <a:effectLst/>
                <a:latin typeface="+mn-lt"/>
                <a:ea typeface="+mn-ea"/>
                <a:cs typeface="+mn-cs"/>
              </a:rPr>
              <a:t>BERTopic</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untuk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terjemahan</a:t>
            </a:r>
            <a:r>
              <a:rPr lang="en-US" sz="1200" i="1" kern="1200" dirty="0">
                <a:solidFill>
                  <a:schemeClr val="tx1"/>
                </a:solidFill>
                <a:effectLst/>
                <a:latin typeface="+mn-lt"/>
                <a:ea typeface="+mn-ea"/>
                <a:cs typeface="+mn-cs"/>
              </a:rPr>
              <a:t> Al-Qur'an; </a:t>
            </a:r>
            <a:r>
              <a:rPr lang="en-US" sz="1200" i="1" kern="1200" dirty="0" err="1">
                <a:solidFill>
                  <a:schemeClr val="tx1"/>
                </a:solidFill>
                <a:effectLst/>
                <a:latin typeface="+mn-lt"/>
                <a:ea typeface="+mn-ea"/>
                <a:cs typeface="+mn-cs"/>
              </a:rPr>
              <a:t>bagaimana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mengukur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kualitas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topik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berdasarkan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metrik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koherensi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seperti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C_v</a:t>
            </a:r>
            <a:r>
              <a:rPr lang="en-US" sz="1200" i="1" kern="1200" dirty="0">
                <a:solidFill>
                  <a:schemeClr val="tx1"/>
                </a:solidFill>
                <a:effectLst/>
                <a:latin typeface="+mn-lt"/>
                <a:ea typeface="+mn-ea"/>
                <a:cs typeface="+mn-cs"/>
              </a:rPr>
              <a:t>, UMass, dan NPMI…</a:t>
            </a:r>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3</a:t>
            </a:fld>
            <a:endParaRPr lang="en-US"/>
          </a:p>
        </p:txBody>
      </p:sp>
    </p:spTree>
    <p:extLst>
      <p:ext uri="{BB962C8B-B14F-4D97-AF65-F5344CB8AC3E}">
        <p14:creationId xmlns:p14="http://schemas.microsoft.com/office/powerpoint/2010/main" val="338618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Tujuan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ada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yang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kutip</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dari</a:t>
            </a:r>
            <a:r>
              <a:rPr lang="en-US" sz="1200" i="1" kern="1200" dirty="0">
                <a:solidFill>
                  <a:schemeClr val="tx1"/>
                </a:solidFill>
                <a:effectLst/>
                <a:latin typeface="+mn-lt"/>
                <a:ea typeface="+mn-ea"/>
                <a:cs typeface="+mn-cs"/>
              </a:rPr>
              <a:t> tulisan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diantaranya</a:t>
            </a:r>
            <a:r>
              <a:rPr lang="en-US" sz="1200" i="1" kern="1200" dirty="0">
                <a:solidFill>
                  <a:schemeClr val="tx1"/>
                </a:solidFill>
                <a:effectLst/>
                <a:latin typeface="+mn-lt"/>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Dari </a:t>
            </a:r>
            <a:r>
              <a:rPr lang="en-US" sz="1200" i="1" kern="1200" dirty="0" err="1">
                <a:solidFill>
                  <a:schemeClr val="tx1"/>
                </a:solidFill>
                <a:effectLst/>
                <a:latin typeface="+mn-lt"/>
                <a:ea typeface="+mn-ea"/>
                <a:cs typeface="+mn-cs"/>
              </a:rPr>
              <a:t>sisi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manfaat</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ini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saya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bagi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menjadi</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tiga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aspek</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akademik</a:t>
            </a:r>
            <a:r>
              <a:rPr lang="en-US" sz="1200" i="1"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praktis</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penelitian</a:t>
            </a:r>
            <a:r>
              <a:rPr lang="en-US" sz="1200" i="1"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Dan </a:t>
            </a:r>
            <a:r>
              <a:rPr lang="en-US" sz="1200" i="1" kern="1200" dirty="0" err="1">
                <a:solidFill>
                  <a:schemeClr val="tx1"/>
                </a:solidFill>
                <a:effectLst/>
                <a:latin typeface="+mn-lt"/>
                <a:ea typeface="+mn-ea"/>
                <a:cs typeface="+mn-cs"/>
              </a:rPr>
              <a:t>secara</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teknologi</a:t>
            </a:r>
            <a:r>
              <a:rPr lang="en-US" sz="1200" i="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E4F9FF8-F730-48A2-A15C-4DAF3EEA9E4C}" type="slidenum">
              <a:rPr lang="en-US" smtClean="0"/>
              <a:t>4</a:t>
            </a:fld>
            <a:endParaRPr lang="en-US"/>
          </a:p>
        </p:txBody>
      </p:sp>
    </p:spTree>
    <p:extLst>
      <p:ext uri="{BB962C8B-B14F-4D97-AF65-F5344CB8AC3E}">
        <p14:creationId xmlns:p14="http://schemas.microsoft.com/office/powerpoint/2010/main" val="2635668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222222"/>
                </a:solidFill>
                <a:latin typeface="Calibri" pitchFamily="34" charset="0"/>
                <a:ea typeface="Calibri" pitchFamily="34" charset="-122"/>
                <a:cs typeface="Calibri" pitchFamily="34" charset="-120"/>
              </a:rPr>
              <a:t>Analogi</a:t>
            </a:r>
            <a:r>
              <a:rPr lang="en-US" sz="1200" dirty="0">
                <a:solidFill>
                  <a:srgbClr val="222222"/>
                </a:solidFill>
                <a:latin typeface="Calibri" pitchFamily="34" charset="0"/>
                <a:ea typeface="Calibri" pitchFamily="34" charset="-122"/>
                <a:cs typeface="Calibri" pitchFamily="34" charset="-120"/>
              </a:rPr>
              <a:t> CTM: </a:t>
            </a:r>
            <a:r>
              <a:rPr lang="en-US" sz="1200" dirty="0" err="1">
                <a:solidFill>
                  <a:srgbClr val="222222"/>
                </a:solidFill>
                <a:latin typeface="Calibri" pitchFamily="34" charset="0"/>
                <a:ea typeface="Calibri" pitchFamily="34" charset="-122"/>
                <a:cs typeface="Calibri" pitchFamily="34" charset="-120"/>
              </a:rPr>
              <a:t>menebak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resep</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dari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mencicipi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banyak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masakan</a:t>
            </a:r>
            <a:r>
              <a:rPr lang="en-US" sz="1200" dirty="0">
                <a:solidFill>
                  <a:srgbClr val="222222"/>
                </a:solidFill>
                <a:latin typeface="Calibri" pitchFamily="34" charset="0"/>
                <a:ea typeface="Calibri" pitchFamily="34" charset="-122"/>
                <a:cs typeface="Calibri" pitchFamily="34" charset="-120"/>
              </a:rPr>
              <a:t> — </a:t>
            </a:r>
            <a:r>
              <a:rPr lang="en-US" sz="1200" dirty="0" err="1">
                <a:solidFill>
                  <a:srgbClr val="222222"/>
                </a:solidFill>
                <a:latin typeface="Calibri" pitchFamily="34" charset="0"/>
                <a:ea typeface="Calibri" pitchFamily="34" charset="-122"/>
                <a:cs typeface="Calibri" pitchFamily="34" charset="-120"/>
              </a:rPr>
              <a:t>tiap</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masakan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adalah</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campuran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beberapa</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bumbu</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dasar</a:t>
            </a:r>
            <a:r>
              <a:rPr lang="en-US" sz="1200" dirty="0">
                <a:solidFill>
                  <a:srgbClr val="222222"/>
                </a:solidFill>
                <a:latin typeface="Calibri" pitchFamily="34" charset="0"/>
                <a:ea typeface="Calibri" pitchFamily="34" charset="-122"/>
                <a:cs typeface="Calibri" pitchFamily="34" charset="-120"/>
              </a:rPr>
              <a: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222222"/>
                </a:solidFill>
                <a:latin typeface="Calibri" pitchFamily="34" charset="0"/>
                <a:ea typeface="Calibri" pitchFamily="34" charset="-122"/>
                <a:cs typeface="Calibri" pitchFamily="34" charset="-120"/>
              </a:rPr>
              <a:t>Analogi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Bertopic</a:t>
            </a:r>
            <a:r>
              <a:rPr lang="en-US" sz="1200" dirty="0">
                <a:solidFill>
                  <a:srgbClr val="222222"/>
                </a:solidFill>
                <a:latin typeface="Calibri" pitchFamily="34" charset="0"/>
                <a:ea typeface="Calibri" pitchFamily="34" charset="-122"/>
                <a:cs typeface="Calibri" pitchFamily="34" charset="-120"/>
              </a:rPr>
              <a:t> : </a:t>
            </a:r>
            <a:r>
              <a:rPr lang="en-US" sz="1200" dirty="0" err="1">
                <a:solidFill>
                  <a:srgbClr val="222222"/>
                </a:solidFill>
                <a:latin typeface="Calibri" pitchFamily="34" charset="0"/>
                <a:ea typeface="Calibri" pitchFamily="34" charset="-122"/>
                <a:cs typeface="Calibri" pitchFamily="34" charset="-120"/>
              </a:rPr>
              <a:t>menyusun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ulang</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rak</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perpustakaan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berdasarkan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isi</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buku</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bukan</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judul</a:t>
            </a:r>
            <a:r>
              <a:rPr lang="en-US" sz="1200" dirty="0">
                <a:solidFill>
                  <a:srgbClr val="222222"/>
                </a:solidFill>
                <a:latin typeface="Calibri" pitchFamily="34" charset="0"/>
                <a:ea typeface="Calibri" pitchFamily="34" charset="-122"/>
                <a:cs typeface="Calibri" pitchFamily="34" charset="-120"/>
              </a:rPr>
              <a:t> </a:t>
            </a:r>
            <a:r>
              <a:rPr lang="en-US" sz="1200" dirty="0" err="1">
                <a:solidFill>
                  <a:srgbClr val="222222"/>
                </a:solidFill>
                <a:latin typeface="Calibri" pitchFamily="34" charset="0"/>
                <a:ea typeface="Calibri" pitchFamily="34" charset="-122"/>
                <a:cs typeface="Calibri" pitchFamily="34" charset="-120"/>
              </a:rPr>
              <a:t>sampulnya</a:t>
            </a:r>
            <a:r>
              <a:rPr lang="en-US" sz="1200" dirty="0">
                <a:solidFill>
                  <a:srgbClr val="222222"/>
                </a:solidFill>
                <a:latin typeface="Calibri" pitchFamily="34" charset="0"/>
                <a:ea typeface="Calibri" pitchFamily="34" charset="-122"/>
                <a:cs typeface="Calibr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2222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Dokumen</a:t>
            </a:r>
            <a:r>
              <a:rPr lang="en-US" sz="1200" dirty="0"/>
              <a:t> -&gt; Sentence Transformer (Embedding)-&gt;UMAP (</a:t>
            </a:r>
            <a:r>
              <a:rPr lang="en-US" sz="1200" dirty="0" err="1"/>
              <a:t>Reduksi</a:t>
            </a:r>
            <a:r>
              <a:rPr lang="en-US" sz="1200" dirty="0"/>
              <a:t> </a:t>
            </a:r>
            <a:r>
              <a:rPr lang="en-US" sz="1200" dirty="0" err="1"/>
              <a:t>Dimensi</a:t>
            </a:r>
            <a:r>
              <a:rPr lang="en-US" sz="1200" dirty="0"/>
              <a:t>)-&gt;HDBSCAN (Clustering)-&gt;Topic -1 (Outlier)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 METODOLOGI - Research Pipeline - +/- 2-3 menit]</a:t>
            </a:r>
          </a:p>
          <a:p>
            <a:r>
              <a:t>"Berikut adalah alur penelitian atau research pipeline yang saya terapkan. Dimulai dari dataset terjemahan Al-Qur'an berbahasa Indonesia yang mencakup 114 surat, kemudian masuk ke tahap preprocessing yang meliputi case folding, tokenization, stopword removal, dan stemming/lemmatization menggunakan tiga varian: preprocessing basic, no-stem, dan advanced.</a:t>
            </a:r>
          </a:p>
          <a:p/>
          <a:p>
            <a:r>
              <a:t>Setelah data bersih, saya melakukan topic modeling dengan dua jalur paralel. Jalur CTM melalui tahapan optimasi jumlah topik K, variational inference, logistic-normal distribution, dan topic correlation. Jalur BERTopic melalui tahapan UMAP untuk reduksi dimensi, HDBSCAN untuk clustering, c-TF-IDF untuk representasi topik, dan topic extraction.</a:t>
            </a:r>
          </a:p>
          <a:p/>
          <a:p>
            <a:r>
              <a:t>Hasil kedua model dievaluasi menggunakan coherence score, diversity score, NPMI, dan UMass. Selanjutnya, hasil topik dari CTM dan BERTopic digabungkan menggunakan Jaccard Similarity, lalu masuk ke tahap human interpretability untuk menginterpretasikan kata kunci sesuai tema."</a:t>
            </a:r>
          </a:p>
          <a:p/>
          <a:p>
            <a:r>
              <a:t>Arahan: Ikuti alur diagram dari kiri ke kanan: Dataset -&gt; Preprocessing -&gt; Topic Modeling (CTM &amp; BERTopic, paralel) -&gt; Evaluation -&gt; Gabungan (Jaccard) -&gt; Interpretasi.</a:t>
            </a:r>
          </a:p>
        </p:txBody>
      </p:sp>
      <p:sp>
        <p:nvSpPr>
          <p:cNvPr id="4" name="Slide Number Placeholder 3"/>
          <p:cNvSpPr>
            <a:spLocks noGrp="1"/>
          </p:cNvSpPr>
          <p:nvPr>
            <p:ph type="sldNum" sz="quarter" idx="5"/>
          </p:nvPr>
        </p:nvSpPr>
        <p:spPr/>
        <p:txBody>
          <a:bodyPr/>
          <a:lstStyle/>
          <a:p>
            <a:fld id="{0E4F9FF8-F730-48A2-A15C-4DAF3EEA9E4C}" type="slidenum">
              <a:rPr lang="en-US" smtClean="0"/>
              <a:t>6</a:t>
            </a:fld>
            <a:endParaRPr lang="en-US"/>
          </a:p>
        </p:txBody>
      </p:sp>
    </p:spTree>
    <p:extLst>
      <p:ext uri="{BB962C8B-B14F-4D97-AF65-F5344CB8AC3E}">
        <p14:creationId xmlns:p14="http://schemas.microsoft.com/office/powerpoint/2010/main" val="3417018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 TEMUAN UTAMA - Human Interpretability Analysis (Ringkasan Kategori) - +/- 2-3 menit]</a:t>
            </a:r>
          </a:p>
          <a:p>
            <a:r>
              <a:t>"Slide ini merangkum hasil akhir human interpretability analysis. Total 50 topik hasil BERTopic saya petakan ke dalam 9 kategori tematik besar berdasarkan kata kunci hasil penggabungan CTM dan BERTopic melalui Jaccard Similarity.</a:t>
            </a:r>
          </a:p>
          <a:p/>
          <a:p>
            <a:r>
              <a:t>Tiga tema paling dominan adalah Akhlak atau moral dan sikap dengan 12 topik, Eskatologi atau pembahasan akhirat dengan 11 topik, dan Aqidah atau keimanan dengan 7 topik. Diikuti Syariah (hukum dan ibadah) serta Alam/Kauniyah masing-masing 5 topik, Muamalah atau sosial 3 topik, Ilmu Pengetahuan dan History masing-masing 3 topik, serta Psikologis atau batin manusia 1 topik.</a:t>
            </a:r>
          </a:p>
          <a:p/>
          <a:p>
            <a:r>
              <a:t>Temuan ini menunjukkan bahwa tema Akhlak dan Eskatologi menjadi fokus paling banyak dibahas dalam terjemahan Al-Qur'an berdasarkan hasil pemodelan topik ini."</a:t>
            </a:r>
          </a:p>
          <a:p/>
          <a:p>
            <a:r>
              <a:t>Arahan: Ini slide kunci untuk menjawab rumusan masalah keempat (tema utama yang terbentuk) — pastikan hafal 3 tema teratas dan totalnya (50 topik -&gt; 9 kategori).</a:t>
            </a:r>
          </a:p>
          <a:p>
            <a:r>
              <a:t>Catatan koreksi PENTING: Slide ini secara eksplisit menyebut "Total 50 topik BERTopic". Namun slide cadangan di bagian akhir (Ringkasan Angka Penting) masih menuliskan "39 / 47 / 50* (cek catatan)" untuk jumlah topik BERTopic. Sebaiknya angka ini diseragamkan — jika 50 sudah final dan dikonfirmasi dari tesis, perbarui slide cadangan agar tidak menampilkan tiga angka berbeda saat penguji bertanya.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 | KONTRIBUSI PRAKTIS - Implementasi Aplikasi Web - +/- 2 menit]</a:t>
            </a:r>
          </a:p>
          <a:p>
            <a:r>
              <a:t>"Sebagai kontribusi praktis, hasil penelitian ini saya wujudkan dalam sebuah dashboard aplikasi web. Dari sisi arsitektur, frontend dibangun dengan HTML, CSS, dan Bootstrap, backend menggunakan Flask berbasis Python, dan database menggunakan MySQL. Kedua model, CTM dan BERTopic, terintegrasi langsung di dalam sistem ini.</a:t>
            </a:r>
          </a:p>
          <a:p/>
          <a:p>
            <a:r>
              <a:t>Melalui dashboard ini, pengguna dapat melakukan proses preprocessing, menjalankan pemodelan topik, melihat hasil optimasi parameter, serta melihat visualisasi interaktif hasil topik — sehingga penelitian ini tidak berhenti pada analisis akademik saja, tetapi juga menghasilkan alat bantu praktis untuk kajian tematik Al-Qur'an."</a:t>
            </a:r>
          </a:p>
          <a:p/>
          <a:p>
            <a:r>
              <a:t>Arahan: Jika ditanya kenapa perlu dibuat aplikasi web, jelaskan bahwa ini mendukung manfaat teknologi yang disebutkan di slide Tujuan dan Manfaat — sebagai dasar sistem pencarian ayat berbasis tema.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Outlier pada BERTopic adalah dokumen yang tidak dapat dikelompokkan secara meyakinkan ke dalam topik mana pun, sehingga diberi label Topic -1. BERTopic menggunakan algoritma HDBSCAN untuk melakukan clustering. Berbeda dengan K-Means yang memaksa setiap data masuk ke suatu cluster, HDBSCAN boleh tidak memasukkan dokumen ke cluster mana pun jika dianggap terlalu berbeda.</a:t>
            </a:r>
          </a:p>
          <a:p/>
          <a:p>
            <a:r>
              <a:t>Nilai topic coherence cv &lt;0.4 rendah, &gt;0.7 tinggi</a:t>
            </a:r>
          </a:p>
          <a:p/>
          <a:p>
            <a:r>
              <a:t>--- Tambahan (poin 3 &amp; 4 pada slide ini) ---</a:t>
            </a:r>
          </a:p>
          <a:p>
            <a:r>
              <a:t>Untuk keterbatasan bahasa (poin 3): jelaskan bahwa penelitian ini fokus pada teks terjemahan agar hasil bisa dibandingkan dengan pembaca awam berbahasa Indonesia, namun makna asli dalam bahasa Arab tetap menjadi rujukan utama tafsir sehingga hasil ini bersifat pelengkap, bukan pengganti kajian tafsir klasik.</a:t>
            </a:r>
          </a:p>
          <a:p>
            <a:r>
              <a:t>Untuk keterbatasan interpretasi tunggal (poin 4): sampaikan bahwa validasi oleh lebih dari satu pakar tafsir/ahli agama menjadi saran pengembangan lanjutan agar interpretasi tema lebih objektif (inter-rater agreement).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CADANGAN - Ringkasan Angka Penting - dibuka HANYA jika diminta penguji]</a:t>
            </a:r>
          </a:p>
          <a:p>
            <a:r>
              <a:t>"(Jangan dinarasikan saat presentasi utama.) Slide ini berisi rekap seluruh angka kunci CTM vs BERTopic untuk dibuka cepat saat sesi tanya jawab, jika penguji meminta rincian angka yang tidak sempat dibahas mendalam di slide utama."</a:t>
            </a:r>
          </a:p>
          <a:p/>
          <a:p>
            <a:r>
              <a:t>Arahan sebelum sidang — mohon konfirmasi &amp; selaraskan 3 hal berikut sebelum dicetak/dipakai:</a:t>
            </a:r>
          </a:p>
          <a:p>
            <a:r>
              <a:t>1) Jumlah token: slide metodologi/optimasi K menyebut 75.940, sedangkan naskah tesis menyebut 75.490 — gunakan angka yang sama di kedua tempat.</a:t>
            </a:r>
          </a:p>
          <a:p>
            <a:r>
              <a:t>2) Jumlah topik final BERTopic: slide Temuan Utama (slide 21 versi baru) sudah menyebut secara eksplisit "50 topik". Jika ini angka final yang benar, perbarui baris "39 / 47 / 50*" di tabel ini menjadi cukup "50 topik" saja agar tidak terkesan ragu-ragu di depan penguji.</a:t>
            </a:r>
          </a:p>
          <a:p>
            <a:r>
              <a:t>3) NPMI CTM: slide Evaluasi Model CTM menyebut -0,022, sedangkan slide Kesimpulan menyebut -0,226 — tabel ini sudah mencatat keduanya, tapi pastikan Anda tahu persis mana yang benar (rujuk ke tabel/output asli di tesis) supaya bisa menjawab dengan yakin jika ditanya.</a:t>
            </a:r>
          </a:p>
          <a:p>
            <a:r>
              <a:t>4) Nilai "Final Score / Composite" CTM = 0,64 pada tabel ini belum pernah disebutkan di slide utama manapun sebelumnya (slide BERTopic menyebut Final Score 0,87, tapi slide CTM tidak menyebut angka komposit serupa) — siapkan penjelasan dari mana angka 0,64 ini diperoleh, atau pertimbangkan menghapusnya jika tidak bisa ditelusuri ke perhitungan di tesis.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pipeline (visual pendukung) - +/- 30 detik]</a:t>
            </a:r>
          </a:p>
          <a:p>
            <a:r>
              <a:t>"Slide ini adalah visualisasi ulang dari alur penelitian yang baru saja saya jelaskan, sebagai penegasan gambaran menyeluruh sebelum masuk ke penjelasan detail tiap tahap."</a:t>
            </a:r>
          </a:p>
          <a:p/>
          <a:p>
            <a:r>
              <a:t>Arahan: Slide ini kemungkinan duplikat/versi visual dari slide sebelumnya (05 | Metodologi). Cukup sebutkan singkat, jangan mengulang narasi panjang. Perhatikan header slide ini masih tertulis "04 |" padahal slide sebelumnya sudah "05 |" — sebaiknya diperbaiki atau slide ini digabung/dihapus agar tidak ada dua slide "Metodologi" berurutan dengan nomor mundur (lihat catatan koreksi).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DATASET - +/- 2 menit]</a:t>
            </a:r>
          </a:p>
          <a:p>
            <a:r>
              <a:t>"Dataset yang saya gunakan adalah teks terjemahan Al-Qur'an berbahasa Indonesia, bersumber dari situs resmi Kementerian Agama Republik Indonesia, yaitu quran.kemenag.go.id dan pustakalajnah.kemenag.go.id.</a:t>
            </a:r>
          </a:p>
          <a:p/>
          <a:p>
            <a:r>
              <a:t>Dataset ini terdiri dari 6.236 ayat yang tersebar di 114 surat, dengan total 77.439 kata dan 18.742 kosakata unik. Strukturnya terdiri dari tiga kolom: nomor surat, nomor ayat, dan teks terjemahan."</a:t>
            </a:r>
          </a:p>
          <a:p/>
          <a:p>
            <a:r>
              <a:t>Arahan: Sebutkan kedua tautan sumber resmi secara eksplisit — ini sering ditanyakan penguji untuk memastikan validitas data.</a:t>
            </a:r>
          </a:p>
          <a:p>
            <a:r>
              <a:t>Referensi: https://quran.kemenag.go.id dan https://pustakalajnah.kemenag.go.id/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PREPROCESSING TEKS - +/- 2-3 menit]</a:t>
            </a:r>
          </a:p>
          <a:p>
            <a:r>
              <a:t>"Tahap preprocessing terdiri dari case folding, stopword removal, tokenization, stemming, dan lemmatization. Saya menguji tiga varian: basic tanpa stopword dan stemming, no-stem tanpa proses stemming, dan advanced dengan proses lengkap.</a:t>
            </a:r>
          </a:p>
          <a:p/>
          <a:p>
            <a:r>
              <a:t>Preprocessing advanced menunjukkan keseimbangan terbaik antara reduksi noise dan preservasi makna semantik, dengan reduksi kosakata 83,75% namun tetap mempertahankan preservasi makna 73,20%. Karena itu, preprocessing advanced yang saya gunakan sebagai dasar pemodelan topik."</a:t>
            </a:r>
          </a:p>
          <a:p/>
          <a:p>
            <a:r>
              <a:t>Arahan: Gunakan contoh kalimat di slide ('Segala puji bagi Allah, Tuhan semesta alam') untuk mendemonstrasikan tiap tahapan secara konkret.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CORRELATED TOPIC MODEL - Optimasi Parameter K - +/- 2 menit]</a:t>
            </a:r>
          </a:p>
          <a:p>
            <a:r>
              <a:t>"Untuk model CTM, saya menguji rentang K=8 sampai K=19 pada 114 dokumen dan sekitar 75.940 token [PERIKSA: naskah tesis menyebut 75.490 token — samakan angka ini sebelum sidang]. Hasilnya, K=14 dipilih sebagai jumlah topik optimal karena hampir seluruh metrik evaluasi berada pada posisi relatif tinggi dan seimbang dibanding nilai K lainnya."</a:t>
            </a:r>
          </a:p>
          <a:p/>
          <a:p>
            <a:r>
              <a:t>Arahan: Jika ditanya kenapa bukan K dengan skor tertinggi di satu metrik saja, jelaskan bahwa pemilihan mempertimbangkan keseimbangan beberapa metrik sekaligus, bukan satu metrik tunggal.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CORRELATED TOPIC MODEL - Konvergensi Model - +/- 1-2 menit]</a:t>
            </a:r>
          </a:p>
          <a:p>
            <a:r>
              <a:t>"Grafik ini menunjukkan proses konvergensi model CTM menggunakan variational inference. Model mencapai kondisi konvergensi, menuju satu titik pemusatan (ELBO stabil), pada iterasi ke-100, menandakan estimasi parameter sudah berjalan stabil sebelum digunakan untuk interpretasi topik."</a:t>
            </a:r>
          </a:p>
          <a:p/>
          <a:p>
            <a:r>
              <a:t>Arahan: Jika ditanya apa itu variational inference: teknik pendekatan untuk mengestimasi distribusi posterior yang sulit dihitung secara eksak, dengan memaksimalkan batas bawah (ELBO) secara iteratif.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CORRELATED TOPIC MODEL - Hasil Topik CTM - +/- 2-3 menit]</a:t>
            </a:r>
          </a:p>
          <a:p>
            <a:r>
              <a:t>"Salah satu keunggulan CTM dibanding LDA adalah kemampuannya memodelkan korelasi antar topik. Sebagai contoh, topik 1 dan topik 2 berkorelasi 0,12 — ketika Al-Qur'an membahas Rasul, sering juga muncul pembahasan pembenaran ajaran, gangguan setan, dan pendustaan orang-orang kafir.</a:t>
            </a:r>
          </a:p>
          <a:p/>
          <a:p>
            <a:r>
              <a:t>Topik 0 dan topik 1 berkorelasi 0,10, membahas ayat-ayat Allah sebagai kebenaran yang harus dibaca. Topik 5 dan topik 3 berkorelasi 0,10, membahas penciptaan alam dan tanda kekuasaan Allah. Korelasi antar topik inilah nilai tambah utama CTM dibanding model yang mengasumsikan topik saling independen."</a:t>
            </a:r>
          </a:p>
          <a:p/>
          <a:p>
            <a:r>
              <a:t>Arahan: Tekankan bahwa korelasi antar topik adalah ciri khas CTM (logistic-normal) yang tidak dimiliki LDA (Dirichlet, topik independen).</a:t>
            </a:r>
          </a:p>
          <a:p>
            <a:r>
              <a:t>Koreksi kecil pada teks slide: "Menbahas" -&gt; "Membahas", dan "orang-orang kafi" -&gt; "orang-orang kafir" (typo pada teks asli).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CORRELATED TOPIC MODEL - Evaluasi Model - +/- 2-3 menit]</a:t>
            </a:r>
          </a:p>
          <a:p>
            <a:r>
              <a:t>"Evaluasi CTM menggunakan lima metrik: C_v 0,517 (di atas ambang 0,5, kategori baik), NPMI -0,022 (mendekati nol, keterkaitan relatif lemah), UMass -5,066 dan UCI -2,137 (kategori sedang, -4 s/d -6), serta Perplexity 1720,28 (model belum sepenuhnya optimal menangkap struktur distribusi kata).</a:t>
            </a:r>
          </a:p>
          <a:p/>
          <a:p>
            <a:r>
              <a:t>Kesimpulannya, CTM menghasilkan kualitas topik yang cukup baik dan dapat diinterpretasikan, meski tingkat koherensinya masih kategori sedang."</a:t>
            </a:r>
          </a:p>
          <a:p/>
          <a:p>
            <a:r>
              <a:t>Arahan: Bagian ini paling mungkin didalami penguji — hafalkan urutan angka dan arah nilai baik/buruk tiap metrik.</a:t>
            </a:r>
          </a:p>
          <a:p>
            <a:r>
              <a:t>Catatan koreksi: nilai NPMI di slide ini (-0,022) berbeda dengan nilai NPMI yang disebut di slide Kesimpulan (-0,226). Pastikan sebelum sidang angka mana yang benar dan gunakan konsisten di seluruh slide (lihat juga slide Ringkasan Angka Penting di bagian akhir).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CORRELATED TOPIC MODEL - Distribusi Topik pada 20 Surat Pertama - +/- 1-2 menit]</a:t>
            </a:r>
          </a:p>
          <a:p>
            <a:r>
              <a:t>"Grafik ini menunjukkan distribusi topik pada 20 surat pertama. Distribusi topik terlihat tidak merata, mengindikasikan tiap surat punya kecenderungan kuat terhadap topik tertentu. Topik 12 dan 13 tampak relatif tinggi dan konsisten di banyak surat (kisaran 0,15-0,26), sehingga dapat diasumsikan sebagai topik dominan global pada 20 surat pertama."</a:t>
            </a:r>
          </a:p>
          <a:p/>
          <a:p>
            <a:r>
              <a:t>Arahan: Jika ditanya isi topik 12 dan 13 secara spesifik, kaitkan dengan tema besar yang relevan (misalnya aqidah/ketuhanan) berdasarkan kata kunci dominannya di bab hasil tesis.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BERTOPIC MODEL - Uji Parameter Jumlah - +/- 2 menit]</a:t>
            </a:r>
          </a:p>
          <a:p>
            <a:r>
              <a:t>"Untuk BERTopic, saya menguji parameter min_topic_size. Topic size 25 memberikan keseimbangan terbaik dengan final score 0,87, C_v 0,5735, NPMI 0,0530, dan UMass paling mendekati nol yaitu -5,3257 dibanding konfigurasi lain yang diuji."</a:t>
            </a:r>
          </a:p>
          <a:p/>
          <a:p>
            <a:r>
              <a:t>Arahan: Jika ditanya kenapa 25, jelaskan bahwa final score adalah gabungan/komposit dari beberapa metrik, dan 25 memberikan hasil komposit terbaik, bukan berdasarkan satu metrik saja.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BERTOPIC MODEL - Evaluasi Model - +/- 2 menit]</a:t>
            </a:r>
          </a:p>
          <a:p>
            <a:r>
              <a:t>"Dengan parameter optimal min topic size 25, BERTopic menggunakan sentence model paraphrase-multilingual-MiniLM-L12. C_v coherence 0,5735 menunjukkan koherensi cukup baik. NPMI positif 0,0530 menunjukkan asosiasi statistik bermakna antar kata dalam topik. UMass -5,3257 menunjukkan konsistensi probabilistik yang baik terhadap distribusi dokumen.</a:t>
            </a:r>
          </a:p>
          <a:p/>
          <a:p>
            <a:r>
              <a:t>Dibanding CTM, BERTopic sedikit lebih unggul pada C_v dan NPMI, konsisten dengan kelebihan BERTopic menangkap makna kontekstual lewat sentence embedding."</a:t>
            </a:r>
          </a:p>
          <a:p/>
          <a:p>
            <a:r>
              <a:t>Arahan: Jelaskan singkat kenapa memilih paraphrase-multilingual-MiniLM-L12: mendukung banyak bahasa termasuk Indonesia, cocok untuk semantic similarity pada kalimat pendek seperti ayat Al-Qur'an.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 BERTOPIC MODEL - Grafik Topic Word Scores - +/- 1-2 menit]</a:t>
            </a:r>
          </a:p>
          <a:p>
            <a:r>
              <a:t>"Grafik ini menampilkan topik berdasarkan tingkat dominansi/frekuensi kemunculan kata kunci dalam dokumen, membantu memvisualisasikan kata mana yang paling merepresentasikan tiap topik berdasarkan skor c-TF-IDF."</a:t>
            </a:r>
          </a:p>
          <a:p/>
          <a:p>
            <a:r>
              <a:t>Arahan: Jika ditanya apa itu c-TF-IDF: class-based TF-IDF, dihitung per klaster/topik (bukan per dokumen) — kata yang khas untuk satu klaster akan bernilai tinggi.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BERTOPIC MODEL - Hasil Topik Model - +/- 1-2 menit]</a:t>
            </a:r>
          </a:p>
          <a:p>
            <a:r>
              <a:t>"Slide ini menampilkan visualisasi hasil topik BERTopic, memperlihatkan pengelompokan dokumen ayat ke dalam klaster topik berdasarkan kedekatan makna semantik setelah melalui UMAP dan HDBSCAN."</a:t>
            </a:r>
          </a:p>
          <a:p/>
          <a:p>
            <a:r>
              <a:t>Arahan: Jika ditampilkan intertopic distance map, jelaskan bahwa topik yang berdekatan pada peta berarti memiliki kemiripan makna yang lebih tinggi.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 BERTOPIC MODEL - Hasil Topik Model (lanjutan) - +/- 1-2 menit]</a:t>
            </a:r>
          </a:p>
          <a:p>
            <a:r>
              <a:t>"Slide ini melanjutkan visualisasi hasil topik BERTopic, menampilkan detail kata kunci dominan pada tiap klaster topik."</a:t>
            </a:r>
          </a:p>
          <a:p/>
          <a:p>
            <a:r>
              <a:t>Arahan: Lanjutkan dari slide sebelumnya tanpa mengulang, fokus pada kata kunci spesifik yang ditampilkan.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 BERTOPIC MODEL - Interpretasi Tema - +/- 2 menit]</a:t>
            </a:r>
          </a:p>
          <a:p>
            <a:r>
              <a:t>"Topik yang dihasilkan BERTopic memiliki koherensi semantik yang jelas dan mencerminkan tema besar seperti ketuhanan (aqidah), kenabian, keimanan, akhlak, eskatologi (hari kiamat, surga, neraka), ilmu pengetahuan, sosial, dan hukum/syariah."</a:t>
            </a:r>
          </a:p>
          <a:p/>
          <a:p>
            <a:r>
              <a:t>Arahan: Kemungkinan besar akan ditanya: 'kenapa model unsupervised bisa menghasilkan label tema seperti Aqidah/Hukum?' Jawab: model hanya menghasilkan klaster kata kunci; penamaan tema dilakukan peneliti lewat human interpretability analysis berdasarkan domain knowledge kajian Islam.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 PENGGABUNGAN HASIL CTM DAN BERTOPIC - +/- 2 menit]</a:t>
            </a:r>
          </a:p>
          <a:p>
            <a:r>
              <a:t>"Karena CTM dan BERTopic menghasilkan struktur topik berbeda, saya menggabungkan hasil topik keduanya menggunakan Jaccard Similarity, yaitu mengukur kemiripan antar himpunan kata kunci topik dari kedua model, sehingga topik yang secara semantik mirip dapat dipetakan menjadi kategori tema besar yang lebih ringkas."</a:t>
            </a:r>
          </a:p>
          <a:p/>
          <a:p>
            <a:r>
              <a:t>Arahan: Jika ditanya nilai Jaccard similarity-nya, sebutkan berkisar rendah-sedang (sekitar 0,08-0,25), wajar karena kedua model memakai basis matematis dan representasi kata yang berbeda.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 HUMAN INTERPRETABILITY ANALYSIS - +/- 1-2 menit]</a:t>
            </a:r>
          </a:p>
          <a:p>
            <a:r>
              <a:t>"Setelah topik terbentuk, saya melakukan human interpretability analysis: interpretasi manual untuk memastikan kata kunci tiap topik benar-benar mencerminkan tema yang koheren dan bermakna kontekstual, bukan sekadar kumpulan kata yang berkorelasi statistik."</a:t>
            </a:r>
          </a:p>
          <a:p/>
          <a:p>
            <a:r>
              <a:t>Arahan: Tekankan bahwa metrik numerik saja tidak cukup untuk menjamin topik bermakna secara substantif — perlu validasi kualitatif oleh manusia.</a:t>
            </a:r>
          </a:p>
          <a:p>
            <a:r>
              <a:t>Catatan: Header slide ini masih tertulis "Correlated Topic Model", padahal isinya membahas hasil gabungan CTM + BERTopic — pertimbangkan mengganti label kategori menjadi "Analisis Gabungan" atau "CTM &amp; BERTopic" agar tidak membingungkan penguji (lihat catatan koreksi).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 HUMAN INTERPRETABILITY ANALYSIS - Studi Kasus - +/- 2 menit]</a:t>
            </a:r>
          </a:p>
          <a:p>
            <a:r>
              <a:t>"Sebagai contoh penerapan, saya tampilkan distribusi topik terhadap ayat pada tiga surat: Al-Fatihah (Surat 1), Al-Baqarah (Surat 2), dan Ali Imran (Surat 3). Proporsi topik pada tiap ayat memberi gambaran tema dominan yang dibahas surat tersebut, sekaligus validasi bahwa hasil pemodelan topik konsisten dengan pemahaman tematik surat-surat tersebut dalam kajian tafsir."</a:t>
            </a:r>
          </a:p>
          <a:p/>
          <a:p>
            <a:r>
              <a:t>Arahan: Jika memungkinkan, kaitkan hasil topik dominan pada Al-Fatihah dengan tema yang dikenal luas (pujian kepada Allah dan permohonan petunjuk) sebagai bentuk validasi kualitatif.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 KESIMPULAN - +/- 2-3 menit]</a:t>
            </a:r>
          </a:p>
          <a:p>
            <a:r>
              <a:t>"Sebagai kesimpulan, model CTM mampu menghasilkan topik yang representatif meski dengan korelasi antar topik yang belum benar-benar optimal, berdasarkan nilai C_v 0,517, NPMI -0,226, UMass -5,0661, UCI -2,1370, dan Perplexity 1720,28.</a:t>
            </a:r>
          </a:p>
          <a:p/>
          <a:p>
            <a:r>
              <a:t>Model BERTopic mampu menghasilkan topik dengan koherensi semantik yang cukup baik, dengan nilai C_v 0,5735 (di atas ambang 0,5), dan NPMI 0,0530 yang bernilai positif, menunjukkan terdapat asosiasi statistik yang bermakna antar kata dalam topik.</a:t>
            </a:r>
          </a:p>
          <a:p/>
          <a:p>
            <a:r>
              <a:t>Secara keseluruhan, kombinasi preprocessing yang tepat, optimasi parameter model, serta penggunaan dua pendekatan topic modeling secara bersamaan memberikan pemahaman yang lebih komprehensif terhadap struktur tematik teks terjemahan Al-Qur'an. CTM unggul memodelkan korelasi antar topik secara probabilistik, sedangkan BERTopic unggul dalam interpretabilitas topik berbasis klaster semantik."</a:t>
            </a:r>
          </a:p>
          <a:p/>
          <a:p>
            <a:r>
              <a:t>Arahan: Bacakan dengan tempo lebih lambat dan penuh keyakinan — ini rangkuman jawaban atas seluruh rumusan masalah.</a:t>
            </a:r>
          </a:p>
          <a:p>
            <a:r>
              <a:t>Catatan koreksi: nilai NPMI CTM di slide ini (-0,226) berbeda dari nilai di slide Evaluasi Model CTM (-0,022). Pastikan angka mana yang benar (kemungkinan salah ketik selisih penulisan desimal) dan samakan di seluruh slide + slide Ringkasan Angka Penting sebelum sidang.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[PENUTUP - +/- 1 menit]</a:t>
            </a:r>
          </a:p>
          <a:p>
            <a:r>
              <a:t>"Demikian presentasi tesis yang dapat saya sampaikan. Saya menyadari penelitian ini masih memiliki keterbatasan, khususnya pada penanganan outlier di BERTopic, tingkat koherensi topik CTM yang masih kategori sedang, serta cakupan penelitian yang masih terbatas pada teks terjemahan berbahasa Indonesia. Untuk pengembangan selanjutnya, penelitian ini dapat dikombinasikan dengan Neural Topic Model atau Contextual Topic Model untuk meningkatkan nilai coherence, serta diperluas ke teks asli berbahasa Arab, teks tafsir, atau hadis.</a:t>
            </a:r>
          </a:p>
          <a:p/>
          <a:p>
            <a:r>
              <a:t>Saya ucapkan terima kasih atas perhatian dan waktu yang diberikan oleh Bapak/Ibu penguji dan pembimbing. Wassalamu'alaikum warahmatullahi wabarakatuh."</a:t>
            </a:r>
          </a:p>
          <a:p/>
          <a:p>
            <a:r>
              <a:t>Arahan: Tersenyum, berhenti sejenak setelah salam penutup, dan bersiap untuk sesi tanya jawab. Ingat, ada satu slide cadangan (Ringkasan Angka Penting) setelah slide ini — buka hanya jika penguji meminta detail angka spesifik.</a:t>
            </a:r>
          </a:p>
          <a:p/>
          <a:p>
            <a:r>
              <a:t>=== DAFTAR REFERENSI UTAMA ===</a:t>
            </a:r>
          </a:p>
          <a:p>
            <a:r>
              <a:t>- Blei, D. M., Ng, A. Y., &amp; Jordan, M. I. (2003). Latent Dirichlet Allocation. Journal of Machine Learning Research, 3, 993-1022.</a:t>
            </a:r>
          </a:p>
          <a:p>
            <a:r>
              <a:t>- Blei, D. M., &amp; Lafferty, J. D. (2007). A correlated topic model of Science. The Annals of Applied Statistics, 1(1), 17-35.</a:t>
            </a:r>
          </a:p>
          <a:p>
            <a:r>
              <a:t>- Grootendorst, M. (2022). BERTopic: Neural topic modeling with a class-based TF-IDF procedure. arXiv:2203.05794. https://arxiv.org/abs/2203.05794</a:t>
            </a:r>
          </a:p>
          <a:p>
            <a:r>
              <a:t>- Reimers, N., &amp; Gurevych, I. (2019). Sentence-BERT: Sentence Embeddings using Siamese BERT-Networks. EMNLP-IJCNLP 2019.</a:t>
            </a:r>
          </a:p>
          <a:p>
            <a:r>
              <a:t>- McInnes, L., Healy, J., &amp; Melville, J. (2018). UMAP: Uniform Manifold Approximation and Projection for Dimension Reduction. arXiv:1802.03426.</a:t>
            </a:r>
          </a:p>
          <a:p>
            <a:r>
              <a:t>- McInnes, L., &amp; Healy, J. (2017). HDBSCAN: Hierarchical density based clustering.</a:t>
            </a:r>
          </a:p>
          <a:p>
            <a:r>
              <a:t>- Sumber dataset: Al-Qur'an dan Terjemahannya, Kementerian Agama RI -- https://quran.kemenag.go.id dan https://pustakalajnah.kemenag.go.id/</a:t>
            </a:r>
          </a:p>
          <a:p>
            <a:r>
              <a:t>- Sastrawi -- pustaka stemmer Bahasa Indonesia untuk tahap preprocessing.</a:t>
            </a:r>
          </a:p>
          <a:p/>
          <a:p>
            <a:r>
              <a:t>Catatan: Pastikan jumlah topik final BERTopic (lihat slide Temuan Utama: 50 topik) dan jumlah token (75.940 di slide vs 75.490 di naskah tesis) sudah konsisten sebelum sidang.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59247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svg"/><Relationship Id="rId6" Type="http://schemas.openxmlformats.org/officeDocument/2006/relationships/image" Target="../media/image4.sv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svg"/><Relationship Id="rId4" Type="http://schemas.openxmlformats.org/officeDocument/2006/relationships/image" Target="../media/image6.jpe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svg"/><Relationship Id="rId9" Type="http://schemas.openxmlformats.org/officeDocument/2006/relationships/image" Target="../media/image10.svg"/><Relationship Id="rId10" Type="http://schemas.openxmlformats.org/officeDocument/2006/relationships/image" Target="../media/image11.svg"/><Relationship Id="rId11"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13.svg"/><Relationship Id="rId6" Type="http://schemas.openxmlformats.org/officeDocument/2006/relationships/image" Target="../media/image14.svg"/><Relationship Id="rId7"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16.svg"/><Relationship Id="rId6" Type="http://schemas.openxmlformats.org/officeDocument/2006/relationships/image" Target="../media/image17.svg"/><Relationship Id="rId7" Type="http://schemas.openxmlformats.org/officeDocument/2006/relationships/image" Target="../media/image1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19.svg"/><Relationship Id="rId6" Type="http://schemas.openxmlformats.org/officeDocument/2006/relationships/image" Target="../media/image20.svg"/><Relationship Id="rId7" Type="http://schemas.openxmlformats.org/officeDocument/2006/relationships/image" Target="../media/image21.svg"/><Relationship Id="rId8" Type="http://schemas.openxmlformats.org/officeDocument/2006/relationships/image" Target="../media/image22.svg"/><Relationship Id="rId9" Type="http://schemas.openxmlformats.org/officeDocument/2006/relationships/image" Target="../media/image23.svg"/><Relationship Id="rId10" Type="http://schemas.openxmlformats.org/officeDocument/2006/relationships/image" Target="../media/image24.svg"/><Relationship Id="rId11" Type="http://schemas.openxmlformats.org/officeDocument/2006/relationships/image" Target="../media/image25.sv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image" Target="../media/image2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28.jpeg"/><Relationship Id="rId5"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29.svg"/><Relationship Id="rId5"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30.svg"/><Relationship Id="rId5"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oleObject" Target="../embeddings/oleObject1.bin"/><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0.svg"/><Relationship Id="rId8"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oleObject" Target="../embeddings/oleObject2.bin"/><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0.svg"/><Relationship Id="rId8"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oleObject" Target="../embeddings/oleObject3.bin"/><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7.png"/><Relationship Id="rId8"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37.svg"/><Relationship Id="rId5"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38.png"/><Relationship Id="rId5"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oleObject" Target="../embeddings/oleObject4.bin"/><Relationship Id="rId5" Type="http://schemas.openxmlformats.org/officeDocument/2006/relationships/image" Target="../media/image39.png"/><Relationship Id="rId6"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2.png"/><Relationship Id="rId4"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oleObject" Target="../embeddings/oleObject5.bin"/><Relationship Id="rId4" Type="http://schemas.openxmlformats.org/officeDocument/2006/relationships/image" Target="../media/image43.png"/><Relationship Id="rId5" Type="http://schemas.openxmlformats.org/officeDocument/2006/relationships/oleObject" Target="../embeddings/oleObject6.bin"/><Relationship Id="rId6" Type="http://schemas.openxmlformats.org/officeDocument/2006/relationships/image" Target="../media/image44.png"/><Relationship Id="rId7"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oleObject" Target="../embeddings/oleObject7.bin"/><Relationship Id="rId4" Type="http://schemas.openxmlformats.org/officeDocument/2006/relationships/image" Target="../media/image45.png"/><Relationship Id="rId5" Type="http://schemas.openxmlformats.org/officeDocument/2006/relationships/oleObject" Target="../embeddings/oleObject8.bin"/><Relationship Id="rId6" Type="http://schemas.openxmlformats.org/officeDocument/2006/relationships/image" Target="../media/image46.png"/><Relationship Id="rId7"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oleObject" Target="../embeddings/oleObject9.bin"/><Relationship Id="rId4" Type="http://schemas.openxmlformats.org/officeDocument/2006/relationships/image" Target="../media/image47.png"/><Relationship Id="rId5"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oleObject" Target="../embeddings/oleObject10.bin"/><Relationship Id="rId4" Type="http://schemas.openxmlformats.org/officeDocument/2006/relationships/image" Target="../media/image48.png"/><Relationship Id="rId5"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package" Target="../embeddings/Microsoft_Excel_Worksheet.xlsx"/><Relationship Id="rId5" Type="http://schemas.openxmlformats.org/officeDocument/2006/relationships/image" Target="../media/image49.png"/><Relationship Id="rId6"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50.png"/><Relationship Id="rId5"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51.png"/><Relationship Id="rId5" Type="http://schemas.openxmlformats.org/officeDocument/2006/relationships/image" Target="../media/image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 Id="rId5"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84C0C2E-4926-26A3-4E1A-412B85A7E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18"/>
            <a:ext cx="18486234" cy="10404035"/>
          </a:xfrm>
          <a:prstGeom prst="rect">
            <a:avLst/>
          </a:prstGeom>
        </p:spPr>
      </p:pic>
      <p:sp>
        <p:nvSpPr>
          <p:cNvPr id="2" name="Freeform 2"/>
          <p:cNvSpPr/>
          <p:nvPr/>
        </p:nvSpPr>
        <p:spPr>
          <a:xfrm rot="5033559">
            <a:off x="3939424" y="-3611012"/>
            <a:ext cx="9848495" cy="18613993"/>
          </a:xfrm>
          <a:custGeom>
            <a:avLst/>
            <a:gdLst/>
            <a:ahLst/>
            <a:cxnLst/>
            <a:rect l="l" t="t" r="r" b="b"/>
            <a:pathLst>
              <a:path w="9848495" h="18613993">
                <a:moveTo>
                  <a:pt x="0" y="0"/>
                </a:moveTo>
                <a:lnTo>
                  <a:pt x="9848494" y="0"/>
                </a:lnTo>
                <a:lnTo>
                  <a:pt x="9848494" y="18613994"/>
                </a:lnTo>
                <a:lnTo>
                  <a:pt x="0" y="18613994"/>
                </a:lnTo>
                <a:lnTo>
                  <a:pt x="0" y="0"/>
                </a:lnTo>
                <a:close/>
              </a:path>
            </a:pathLst>
          </a:custGeom>
          <a:blipFill>
            <a:blip>
              <a:alphaModFix amt="15000"/>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 name="Freeform 4"/>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0" y="7124699"/>
            <a:ext cx="18486234" cy="1499857"/>
            <a:chOff x="0" y="0"/>
            <a:chExt cx="3657929" cy="509657"/>
          </a:xfrm>
        </p:grpSpPr>
        <p:sp>
          <p:nvSpPr>
            <p:cNvPr id="6" name="Freeform 6"/>
            <p:cNvSpPr/>
            <p:nvPr/>
          </p:nvSpPr>
          <p:spPr>
            <a:xfrm>
              <a:off x="0" y="0"/>
              <a:ext cx="3657929" cy="509657"/>
            </a:xfrm>
            <a:custGeom>
              <a:avLst/>
              <a:gdLst/>
              <a:ahLst/>
              <a:cxnLst/>
              <a:rect l="l" t="t" r="r" b="b"/>
              <a:pathLst>
                <a:path w="3657929" h="509657">
                  <a:moveTo>
                    <a:pt x="0" y="0"/>
                  </a:moveTo>
                  <a:lnTo>
                    <a:pt x="3657929" y="0"/>
                  </a:lnTo>
                  <a:lnTo>
                    <a:pt x="3657929" y="509657"/>
                  </a:lnTo>
                  <a:lnTo>
                    <a:pt x="0" y="509657"/>
                  </a:lnTo>
                  <a:close/>
                </a:path>
              </a:pathLst>
            </a:custGeom>
            <a:solidFill>
              <a:srgbClr val="FFDE59">
                <a:alpha val="27843"/>
              </a:srgbClr>
            </a:solidFill>
          </p:spPr>
        </p:sp>
        <p:sp>
          <p:nvSpPr>
            <p:cNvPr id="7" name="TextBox 7"/>
            <p:cNvSpPr txBox="1"/>
            <p:nvPr/>
          </p:nvSpPr>
          <p:spPr>
            <a:xfrm>
              <a:off x="0" y="-47625"/>
              <a:ext cx="3657929" cy="557282"/>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975885" y="670534"/>
            <a:ext cx="16312115" cy="2062447"/>
          </a:xfrm>
          <a:prstGeom prst="rect">
            <a:avLst/>
          </a:prstGeom>
        </p:spPr>
        <p:txBody>
          <a:bodyPr lIns="0" tIns="0" rIns="0" bIns="0" rtlCol="0" anchor="t">
            <a:spAutoFit/>
          </a:bodyPr>
          <a:lstStyle/>
          <a:p>
            <a:pPr algn="ctr">
              <a:lnSpc>
                <a:spcPts val="5496"/>
              </a:lnSpc>
              <a:spcBef>
                <a:spcPct val="0"/>
              </a:spcBef>
            </a:pPr>
            <a:r>
              <a:rPr lang="en-US" sz="3926" b="1" dirty="0">
                <a:solidFill>
                  <a:srgbClr val="FF751F"/>
                </a:solidFill>
                <a:latin typeface="Archivo Narrow Bold"/>
                <a:ea typeface="Archivo Narrow Bold"/>
                <a:cs typeface="Archivo Narrow Bold"/>
                <a:sym typeface="Archivo Narrow Bold"/>
              </a:rPr>
              <a:t>ANALISIS PEMODELAN TOPIK PADA TEKS TERJEMAHAN AL-QUR’AN BERBAHASA INDONESIA DENGAN METODE </a:t>
            </a:r>
            <a:r>
              <a:rPr lang="en-US" sz="3926" b="1" i="1" dirty="0">
                <a:solidFill>
                  <a:srgbClr val="FF751F"/>
                </a:solidFill>
                <a:latin typeface="Archivo Narrow Bold"/>
                <a:ea typeface="Archivo Narrow Bold"/>
                <a:cs typeface="Archivo Narrow Bold"/>
                <a:sym typeface="Archivo Narrow Bold"/>
              </a:rPr>
              <a:t>CORRELATED TOPIC MODELING </a:t>
            </a:r>
            <a:r>
              <a:rPr lang="en-US" sz="3926" b="1" dirty="0">
                <a:solidFill>
                  <a:srgbClr val="FF751F"/>
                </a:solidFill>
                <a:latin typeface="Archivo Narrow Bold"/>
                <a:ea typeface="Archivo Narrow Bold"/>
                <a:cs typeface="Archivo Narrow Bold"/>
                <a:sym typeface="Archivo Narrow Bold"/>
              </a:rPr>
              <a:t>(CTM)  DAN BERTOPIC </a:t>
            </a:r>
          </a:p>
        </p:txBody>
      </p:sp>
      <p:sp>
        <p:nvSpPr>
          <p:cNvPr id="9" name="TextBox 9"/>
          <p:cNvSpPr txBox="1"/>
          <p:nvPr/>
        </p:nvSpPr>
        <p:spPr>
          <a:xfrm>
            <a:off x="6216577" y="7106621"/>
            <a:ext cx="5854846" cy="697929"/>
          </a:xfrm>
          <a:prstGeom prst="rect">
            <a:avLst/>
          </a:prstGeom>
        </p:spPr>
        <p:txBody>
          <a:bodyPr lIns="0" tIns="0" rIns="0" bIns="0" rtlCol="0" anchor="t">
            <a:spAutoFit/>
          </a:bodyPr>
          <a:lstStyle/>
          <a:p>
            <a:pPr algn="ctr">
              <a:lnSpc>
                <a:spcPts val="5659"/>
              </a:lnSpc>
              <a:spcBef>
                <a:spcPct val="0"/>
              </a:spcBef>
            </a:pPr>
            <a:r>
              <a:rPr lang="en-US" sz="4042" b="1" dirty="0">
                <a:solidFill>
                  <a:srgbClr val="3C6295"/>
                </a:solidFill>
                <a:latin typeface="Archivo Narrow Bold"/>
                <a:ea typeface="Archivo Narrow Bold"/>
                <a:cs typeface="Archivo Narrow Bold"/>
                <a:sym typeface="Archivo Narrow Bold"/>
              </a:rPr>
              <a:t>ASEP RIDWAN HIDAYAT</a:t>
            </a:r>
          </a:p>
        </p:txBody>
      </p:sp>
      <p:sp>
        <p:nvSpPr>
          <p:cNvPr id="10" name="Freeform 10"/>
          <p:cNvSpPr/>
          <p:nvPr/>
        </p:nvSpPr>
        <p:spPr>
          <a:xfrm>
            <a:off x="311659" y="167149"/>
            <a:ext cx="1465992" cy="1495296"/>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7"/>
            <a:stretch>
              <a:fillRect/>
            </a:stretch>
          </a:blipFill>
        </p:spPr>
      </p:sp>
      <p:sp>
        <p:nvSpPr>
          <p:cNvPr id="11" name="TextBox 11"/>
          <p:cNvSpPr txBox="1"/>
          <p:nvPr/>
        </p:nvSpPr>
        <p:spPr>
          <a:xfrm>
            <a:off x="5711438" y="5411564"/>
            <a:ext cx="7063357" cy="1624980"/>
          </a:xfrm>
          <a:prstGeom prst="rect">
            <a:avLst/>
          </a:prstGeom>
        </p:spPr>
        <p:txBody>
          <a:bodyPr lIns="0" tIns="0" rIns="0" bIns="0" rtlCol="0" anchor="t">
            <a:spAutoFit/>
          </a:bodyPr>
          <a:lstStyle/>
          <a:p>
            <a:pPr algn="ctr">
              <a:lnSpc>
                <a:spcPts val="3260"/>
              </a:lnSpc>
            </a:pPr>
            <a:r>
              <a:rPr lang="en-US" sz="2328" b="1" dirty="0">
                <a:solidFill>
                  <a:srgbClr val="3C6295"/>
                </a:solidFill>
                <a:latin typeface="Open Sauce Bold"/>
                <a:ea typeface="Open Sauce Bold"/>
                <a:cs typeface="Open Sauce Bold"/>
                <a:sym typeface="Open Sauce Bold"/>
              </a:rPr>
              <a:t>Dosen </a:t>
            </a:r>
            <a:r>
              <a:rPr lang="en-US" sz="2328" b="1" dirty="0" err="1">
                <a:solidFill>
                  <a:srgbClr val="3C6295"/>
                </a:solidFill>
                <a:latin typeface="Open Sauce Bold"/>
                <a:ea typeface="Open Sauce Bold"/>
                <a:cs typeface="Open Sauce Bold"/>
                <a:sym typeface="Open Sauce Bold"/>
              </a:rPr>
              <a:t>Pembimbing</a:t>
            </a:r>
            <a:r>
              <a:rPr lang="en-US" sz="2328" b="1" dirty="0">
                <a:solidFill>
                  <a:srgbClr val="3C6295"/>
                </a:solidFill>
                <a:latin typeface="Open Sauce Bold"/>
                <a:ea typeface="Open Sauce Bold"/>
                <a:cs typeface="Open Sauce Bold"/>
                <a:sym typeface="Open Sauce Bold"/>
              </a:rPr>
              <a:t> :</a:t>
            </a:r>
          </a:p>
          <a:p>
            <a:pPr algn="ctr">
              <a:lnSpc>
                <a:spcPts val="3260"/>
              </a:lnSpc>
            </a:pPr>
            <a:r>
              <a:rPr lang="en-US" sz="2328" b="1" dirty="0">
                <a:solidFill>
                  <a:srgbClr val="3C6295"/>
                </a:solidFill>
                <a:latin typeface="Open Sauce Bold"/>
                <a:ea typeface="Open Sauce Bold"/>
                <a:cs typeface="Open Sauce Bold"/>
                <a:sym typeface="Open Sauce Bold"/>
              </a:rPr>
              <a:t>Dr. </a:t>
            </a:r>
            <a:r>
              <a:rPr lang="en-US" sz="2328" b="1" dirty="0" err="1">
                <a:solidFill>
                  <a:srgbClr val="3C6295"/>
                </a:solidFill>
                <a:latin typeface="Open Sauce Bold"/>
                <a:ea typeface="Open Sauce Bold"/>
                <a:cs typeface="Open Sauce Bold"/>
                <a:sym typeface="Open Sauce Bold"/>
              </a:rPr>
              <a:t>Sajarwo</a:t>
            </a:r>
            <a:r>
              <a:rPr lang="en-US" sz="2328" b="1" dirty="0">
                <a:solidFill>
                  <a:srgbClr val="3C6295"/>
                </a:solidFill>
                <a:latin typeface="Open Sauce Bold"/>
                <a:ea typeface="Open Sauce Bold"/>
                <a:cs typeface="Open Sauce Bold"/>
                <a:sym typeface="Open Sauce Bold"/>
              </a:rPr>
              <a:t> </a:t>
            </a:r>
            <a:r>
              <a:rPr lang="en-US" sz="2328" b="1" dirty="0" err="1">
                <a:solidFill>
                  <a:srgbClr val="3C6295"/>
                </a:solidFill>
                <a:latin typeface="Open Sauce Bold"/>
                <a:ea typeface="Open Sauce Bold"/>
                <a:cs typeface="Open Sauce Bold"/>
                <a:sym typeface="Open Sauce Bold"/>
              </a:rPr>
              <a:t>Anggai</a:t>
            </a:r>
            <a:r>
              <a:rPr lang="en-US" sz="2328" b="1" dirty="0">
                <a:solidFill>
                  <a:srgbClr val="3C6295"/>
                </a:solidFill>
                <a:latin typeface="Open Sauce Bold"/>
                <a:ea typeface="Open Sauce Bold"/>
                <a:cs typeface="Open Sauce Bold"/>
                <a:sym typeface="Open Sauce Bold"/>
              </a:rPr>
              <a:t>, S.ST., M.T.</a:t>
            </a:r>
          </a:p>
          <a:p>
            <a:pPr algn="ctr">
              <a:lnSpc>
                <a:spcPts val="3260"/>
              </a:lnSpc>
            </a:pPr>
            <a:r>
              <a:rPr lang="en-US" sz="2328" b="1" dirty="0">
                <a:solidFill>
                  <a:srgbClr val="3C6295"/>
                </a:solidFill>
                <a:latin typeface="Open Sauce Bold"/>
                <a:ea typeface="Open Sauce Bold"/>
                <a:cs typeface="Open Sauce Bold"/>
                <a:sym typeface="Open Sauce Bold"/>
              </a:rPr>
              <a:t>Dr. Arya </a:t>
            </a:r>
            <a:r>
              <a:rPr lang="en-US" sz="2328" b="1" dirty="0" err="1">
                <a:solidFill>
                  <a:srgbClr val="3C6295"/>
                </a:solidFill>
                <a:latin typeface="Open Sauce Bold"/>
                <a:ea typeface="Open Sauce Bold"/>
                <a:cs typeface="Open Sauce Bold"/>
                <a:sym typeface="Open Sauce Bold"/>
              </a:rPr>
              <a:t>Adhyaksa</a:t>
            </a:r>
            <a:r>
              <a:rPr lang="en-US" sz="2328" b="1" dirty="0">
                <a:solidFill>
                  <a:srgbClr val="3C6295"/>
                </a:solidFill>
                <a:latin typeface="Open Sauce Bold"/>
                <a:ea typeface="Open Sauce Bold"/>
                <a:cs typeface="Open Sauce Bold"/>
                <a:sym typeface="Open Sauce Bold"/>
              </a:rPr>
              <a:t> </a:t>
            </a:r>
            <a:r>
              <a:rPr lang="en-US" sz="2328" b="1" dirty="0" err="1">
                <a:solidFill>
                  <a:srgbClr val="3C6295"/>
                </a:solidFill>
                <a:latin typeface="Open Sauce Bold"/>
                <a:ea typeface="Open Sauce Bold"/>
                <a:cs typeface="Open Sauce Bold"/>
                <a:sym typeface="Open Sauce Bold"/>
              </a:rPr>
              <a:t>Waskita</a:t>
            </a:r>
            <a:r>
              <a:rPr lang="en-US" sz="2328" b="1" dirty="0">
                <a:solidFill>
                  <a:srgbClr val="3C6295"/>
                </a:solidFill>
                <a:latin typeface="Open Sauce Bold"/>
                <a:ea typeface="Open Sauce Bold"/>
                <a:cs typeface="Open Sauce Bold"/>
                <a:sym typeface="Open Sauce Bold"/>
              </a:rPr>
              <a:t>, S.Si.,</a:t>
            </a:r>
            <a:r>
              <a:rPr lang="en-US" sz="2328" b="1" dirty="0" err="1">
                <a:solidFill>
                  <a:srgbClr val="3C6295"/>
                </a:solidFill>
                <a:latin typeface="Open Sauce Bold"/>
                <a:ea typeface="Open Sauce Bold"/>
                <a:cs typeface="Open Sauce Bold"/>
                <a:sym typeface="Open Sauce Bold"/>
              </a:rPr>
              <a:t>M.Si</a:t>
            </a:r>
            <a:endParaRPr lang="en-US" sz="2328" b="1" dirty="0">
              <a:solidFill>
                <a:srgbClr val="3C6295"/>
              </a:solidFill>
              <a:latin typeface="Open Sauce Bold"/>
              <a:ea typeface="Open Sauce Bold"/>
              <a:cs typeface="Open Sauce Bold"/>
              <a:sym typeface="Open Sauce Bold"/>
            </a:endParaRPr>
          </a:p>
          <a:p>
            <a:pPr algn="ctr">
              <a:lnSpc>
                <a:spcPts val="3260"/>
              </a:lnSpc>
              <a:spcBef>
                <a:spcPct val="0"/>
              </a:spcBef>
            </a:pPr>
            <a:endParaRPr lang="en-US" sz="2328" b="1" dirty="0">
              <a:solidFill>
                <a:srgbClr val="3C6295"/>
              </a:solidFill>
              <a:latin typeface="Open Sauce Bold"/>
              <a:ea typeface="Open Sauce Bold"/>
              <a:cs typeface="Open Sauce Bold"/>
              <a:sym typeface="Open Sauce Bold"/>
            </a:endParaRPr>
          </a:p>
        </p:txBody>
      </p:sp>
      <p:sp>
        <p:nvSpPr>
          <p:cNvPr id="12" name="TextBox 12"/>
          <p:cNvSpPr txBox="1"/>
          <p:nvPr/>
        </p:nvSpPr>
        <p:spPr>
          <a:xfrm>
            <a:off x="6315693" y="7665535"/>
            <a:ext cx="5854846" cy="697929"/>
          </a:xfrm>
          <a:prstGeom prst="rect">
            <a:avLst/>
          </a:prstGeom>
        </p:spPr>
        <p:txBody>
          <a:bodyPr lIns="0" tIns="0" rIns="0" bIns="0" rtlCol="0" anchor="t">
            <a:spAutoFit/>
          </a:bodyPr>
          <a:lstStyle/>
          <a:p>
            <a:pPr algn="ctr">
              <a:lnSpc>
                <a:spcPts val="5659"/>
              </a:lnSpc>
              <a:spcBef>
                <a:spcPct val="0"/>
              </a:spcBef>
            </a:pPr>
            <a:r>
              <a:rPr lang="en-US" sz="3600" b="1" dirty="0">
                <a:solidFill>
                  <a:srgbClr val="3C6295"/>
                </a:solidFill>
                <a:latin typeface="Archivo Narrow Bold"/>
                <a:ea typeface="Archivo Narrow Bold"/>
                <a:cs typeface="Archivo Narrow Bold"/>
                <a:sym typeface="Archivo Narrow Bold"/>
              </a:rPr>
              <a:t>231012050036</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1617035" y="-4923805"/>
            <a:ext cx="9848495" cy="18613993"/>
          </a:xfrm>
          <a:custGeom>
            <a:avLst/>
            <a:gdLst/>
            <a:ahLst/>
            <a:cxnLst/>
            <a:rect l="l" t="t" r="r" b="b"/>
            <a:pathLst>
              <a:path w="9848495" h="18613993">
                <a:moveTo>
                  <a:pt x="0" y="18613994"/>
                </a:moveTo>
                <a:lnTo>
                  <a:pt x="9848495" y="18613994"/>
                </a:lnTo>
                <a:lnTo>
                  <a:pt x="9848495" y="0"/>
                </a:lnTo>
                <a:lnTo>
                  <a:pt x="0" y="0"/>
                </a:lnTo>
                <a:lnTo>
                  <a:pt x="0" y="18613994"/>
                </a:lnTo>
                <a:close/>
              </a:path>
            </a:pathLst>
          </a:custGeom>
          <a:blipFill>
            <a:blip>
              <a:alphaModFix amt="7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028700" y="2729780"/>
            <a:ext cx="7684248" cy="4064375"/>
          </a:xfrm>
          <a:custGeom>
            <a:avLst/>
            <a:gdLst/>
            <a:ahLst/>
            <a:cxnLst/>
            <a:rect l="l" t="t" r="r" b="b"/>
            <a:pathLst>
              <a:path w="7684248" h="4064375">
                <a:moveTo>
                  <a:pt x="0" y="0"/>
                </a:moveTo>
                <a:lnTo>
                  <a:pt x="7684248" y="0"/>
                </a:lnTo>
                <a:lnTo>
                  <a:pt x="7684248" y="4064375"/>
                </a:lnTo>
                <a:lnTo>
                  <a:pt x="0" y="4064375"/>
                </a:lnTo>
                <a:lnTo>
                  <a:pt x="0" y="0"/>
                </a:lnTo>
                <a:close/>
              </a:path>
            </a:pathLst>
          </a:custGeom>
          <a:blipFill>
            <a:blip r:embed="rId4"/>
            <a:stretch>
              <a:fillRect t="-17748" b="-8215"/>
            </a:stretch>
          </a:blipFill>
        </p:spPr>
      </p:sp>
      <p:sp>
        <p:nvSpPr>
          <p:cNvPr id="13" name="Freeform 13"/>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5"/>
            <a:stretch>
              <a:fillRect/>
            </a:stretch>
          </a:blipFill>
        </p:spPr>
      </p:sp>
      <p:grpSp>
        <p:nvGrpSpPr>
          <p:cNvPr id="14" name="Group 14"/>
          <p:cNvGrpSpPr/>
          <p:nvPr/>
        </p:nvGrpSpPr>
        <p:grpSpPr>
          <a:xfrm>
            <a:off x="10355839" y="4397077"/>
            <a:ext cx="6903461" cy="1228734"/>
            <a:chOff x="0" y="0"/>
            <a:chExt cx="2330355" cy="414776"/>
          </a:xfrm>
        </p:grpSpPr>
        <p:sp>
          <p:nvSpPr>
            <p:cNvPr id="15" name="Freeform 15"/>
            <p:cNvSpPr/>
            <p:nvPr/>
          </p:nvSpPr>
          <p:spPr>
            <a:xfrm>
              <a:off x="0" y="0"/>
              <a:ext cx="2330355" cy="414776"/>
            </a:xfrm>
            <a:custGeom>
              <a:avLst/>
              <a:gdLst/>
              <a:ahLst/>
              <a:cxnLst/>
              <a:rect l="l" t="t" r="r" b="b"/>
              <a:pathLst>
                <a:path w="2330355" h="414776">
                  <a:moveTo>
                    <a:pt x="45980" y="0"/>
                  </a:moveTo>
                  <a:lnTo>
                    <a:pt x="2284376" y="0"/>
                  </a:lnTo>
                  <a:cubicBezTo>
                    <a:pt x="2296570" y="0"/>
                    <a:pt x="2308266" y="4844"/>
                    <a:pt x="2316888" y="13467"/>
                  </a:cubicBezTo>
                  <a:cubicBezTo>
                    <a:pt x="2325511" y="22090"/>
                    <a:pt x="2330355" y="33785"/>
                    <a:pt x="2330355" y="45980"/>
                  </a:cubicBezTo>
                  <a:lnTo>
                    <a:pt x="2330355" y="368796"/>
                  </a:lnTo>
                  <a:cubicBezTo>
                    <a:pt x="2330355" y="380991"/>
                    <a:pt x="2325511" y="392686"/>
                    <a:pt x="2316888" y="401309"/>
                  </a:cubicBezTo>
                  <a:cubicBezTo>
                    <a:pt x="2308266" y="409931"/>
                    <a:pt x="2296570" y="414776"/>
                    <a:pt x="2284376" y="414776"/>
                  </a:cubicBezTo>
                  <a:lnTo>
                    <a:pt x="45980" y="414776"/>
                  </a:lnTo>
                  <a:cubicBezTo>
                    <a:pt x="20586" y="414776"/>
                    <a:pt x="0" y="394190"/>
                    <a:pt x="0" y="368796"/>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p:spPr>
        </p:sp>
        <p:sp>
          <p:nvSpPr>
            <p:cNvPr id="16" name="TextBox 16"/>
            <p:cNvSpPr txBox="1"/>
            <p:nvPr/>
          </p:nvSpPr>
          <p:spPr>
            <a:xfrm>
              <a:off x="0" y="-47625"/>
              <a:ext cx="2330355" cy="46240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355839" y="2664890"/>
            <a:ext cx="6903461" cy="1513113"/>
            <a:chOff x="0" y="0"/>
            <a:chExt cx="2336122" cy="512035"/>
          </a:xfrm>
        </p:grpSpPr>
        <p:sp>
          <p:nvSpPr>
            <p:cNvPr id="18" name="Freeform 18"/>
            <p:cNvSpPr/>
            <p:nvPr/>
          </p:nvSpPr>
          <p:spPr>
            <a:xfrm>
              <a:off x="0" y="0"/>
              <a:ext cx="2336122" cy="512035"/>
            </a:xfrm>
            <a:custGeom>
              <a:avLst/>
              <a:gdLst/>
              <a:ahLst/>
              <a:cxnLst/>
              <a:rect l="l" t="t" r="r" b="b"/>
              <a:pathLst>
                <a:path w="2336122" h="512035">
                  <a:moveTo>
                    <a:pt x="45980" y="0"/>
                  </a:moveTo>
                  <a:lnTo>
                    <a:pt x="2290142" y="0"/>
                  </a:lnTo>
                  <a:cubicBezTo>
                    <a:pt x="2302337" y="0"/>
                    <a:pt x="2314032" y="4844"/>
                    <a:pt x="2322655" y="13467"/>
                  </a:cubicBezTo>
                  <a:cubicBezTo>
                    <a:pt x="2331278" y="22090"/>
                    <a:pt x="2336122" y="33785"/>
                    <a:pt x="2336122" y="45980"/>
                  </a:cubicBezTo>
                  <a:lnTo>
                    <a:pt x="2336122" y="466056"/>
                  </a:lnTo>
                  <a:cubicBezTo>
                    <a:pt x="2336122" y="491450"/>
                    <a:pt x="2315536" y="512035"/>
                    <a:pt x="2290142" y="512035"/>
                  </a:cubicBezTo>
                  <a:lnTo>
                    <a:pt x="45980" y="512035"/>
                  </a:lnTo>
                  <a:cubicBezTo>
                    <a:pt x="33785" y="512035"/>
                    <a:pt x="22090" y="507191"/>
                    <a:pt x="13467" y="498568"/>
                  </a:cubicBezTo>
                  <a:cubicBezTo>
                    <a:pt x="4844" y="489945"/>
                    <a:pt x="0" y="478250"/>
                    <a:pt x="0" y="466056"/>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432C7">
                    <a:alpha val="100000"/>
                  </a:srgbClr>
                </a:gs>
              </a:gsLst>
              <a:lin ang="16200000"/>
            </a:gradFill>
          </p:spPr>
        </p:sp>
        <p:sp>
          <p:nvSpPr>
            <p:cNvPr id="19" name="TextBox 19"/>
            <p:cNvSpPr txBox="1"/>
            <p:nvPr/>
          </p:nvSpPr>
          <p:spPr>
            <a:xfrm>
              <a:off x="0" y="-47625"/>
              <a:ext cx="2336122" cy="55966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355839" y="7520733"/>
            <a:ext cx="6903461" cy="1415475"/>
            <a:chOff x="0" y="0"/>
            <a:chExt cx="2075061" cy="425467"/>
          </a:xfrm>
        </p:grpSpPr>
        <p:sp>
          <p:nvSpPr>
            <p:cNvPr id="21" name="Freeform 21"/>
            <p:cNvSpPr/>
            <p:nvPr/>
          </p:nvSpPr>
          <p:spPr>
            <a:xfrm>
              <a:off x="0" y="0"/>
              <a:ext cx="2075061" cy="425467"/>
            </a:xfrm>
            <a:custGeom>
              <a:avLst/>
              <a:gdLst/>
              <a:ahLst/>
              <a:cxnLst/>
              <a:rect l="l" t="t" r="r" b="b"/>
              <a:pathLst>
                <a:path w="2075061" h="425467">
                  <a:moveTo>
                    <a:pt x="45980" y="0"/>
                  </a:moveTo>
                  <a:lnTo>
                    <a:pt x="2029081" y="0"/>
                  </a:lnTo>
                  <a:cubicBezTo>
                    <a:pt x="2041276" y="0"/>
                    <a:pt x="2052971" y="4844"/>
                    <a:pt x="2061594" y="13467"/>
                  </a:cubicBezTo>
                  <a:cubicBezTo>
                    <a:pt x="2070216" y="22090"/>
                    <a:pt x="2075061" y="33785"/>
                    <a:pt x="2075061" y="45980"/>
                  </a:cubicBezTo>
                  <a:lnTo>
                    <a:pt x="2075061" y="379488"/>
                  </a:lnTo>
                  <a:cubicBezTo>
                    <a:pt x="2075061" y="391682"/>
                    <a:pt x="2070216" y="403377"/>
                    <a:pt x="2061594" y="412000"/>
                  </a:cubicBezTo>
                  <a:cubicBezTo>
                    <a:pt x="2052971" y="420623"/>
                    <a:pt x="2041276" y="425467"/>
                    <a:pt x="202908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a:ln w="38100" cap="rnd">
              <a:solidFill>
                <a:srgbClr val="FFDE59"/>
              </a:solidFill>
              <a:prstDash val="solid"/>
              <a:round/>
            </a:ln>
          </p:spPr>
        </p:sp>
        <p:sp>
          <p:nvSpPr>
            <p:cNvPr id="22" name="TextBox 22"/>
            <p:cNvSpPr txBox="1"/>
            <p:nvPr/>
          </p:nvSpPr>
          <p:spPr>
            <a:xfrm>
              <a:off x="0" y="-47625"/>
              <a:ext cx="2075061" cy="473092"/>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355839" y="6016337"/>
            <a:ext cx="6903461" cy="1228171"/>
            <a:chOff x="0" y="0"/>
            <a:chExt cx="2391521" cy="425467"/>
          </a:xfrm>
        </p:grpSpPr>
        <p:sp>
          <p:nvSpPr>
            <p:cNvPr id="24" name="Freeform 24"/>
            <p:cNvSpPr/>
            <p:nvPr/>
          </p:nvSpPr>
          <p:spPr>
            <a:xfrm>
              <a:off x="0" y="0"/>
              <a:ext cx="2391520" cy="425467"/>
            </a:xfrm>
            <a:custGeom>
              <a:avLst/>
              <a:gdLst/>
              <a:ahLst/>
              <a:cxnLst/>
              <a:rect l="l" t="t" r="r" b="b"/>
              <a:pathLst>
                <a:path w="2391520" h="425467">
                  <a:moveTo>
                    <a:pt x="45980" y="0"/>
                  </a:moveTo>
                  <a:lnTo>
                    <a:pt x="2345541" y="0"/>
                  </a:lnTo>
                  <a:cubicBezTo>
                    <a:pt x="2370935" y="0"/>
                    <a:pt x="2391520" y="20586"/>
                    <a:pt x="2391520" y="45980"/>
                  </a:cubicBezTo>
                  <a:lnTo>
                    <a:pt x="2391520" y="379488"/>
                  </a:lnTo>
                  <a:cubicBezTo>
                    <a:pt x="2391520" y="391682"/>
                    <a:pt x="2386676" y="403377"/>
                    <a:pt x="2378053" y="412000"/>
                  </a:cubicBezTo>
                  <a:cubicBezTo>
                    <a:pt x="2369431" y="420623"/>
                    <a:pt x="2357735" y="425467"/>
                    <a:pt x="2345541" y="425467"/>
                  </a:cubicBezTo>
                  <a:lnTo>
                    <a:pt x="45980" y="425467"/>
                  </a:lnTo>
                  <a:cubicBezTo>
                    <a:pt x="20586" y="425467"/>
                    <a:pt x="0" y="404882"/>
                    <a:pt x="0" y="379488"/>
                  </a:cubicBezTo>
                  <a:lnTo>
                    <a:pt x="0" y="45980"/>
                  </a:lnTo>
                  <a:cubicBezTo>
                    <a:pt x="0" y="33785"/>
                    <a:pt x="4844" y="22090"/>
                    <a:pt x="13467" y="13467"/>
                  </a:cubicBezTo>
                  <a:cubicBezTo>
                    <a:pt x="22090" y="4844"/>
                    <a:pt x="33785" y="0"/>
                    <a:pt x="45980" y="0"/>
                  </a:cubicBezTo>
                  <a:close/>
                </a:path>
              </a:pathLst>
            </a:custGeom>
            <a:gradFill rotWithShape="1">
              <a:gsLst>
                <a:gs pos="0">
                  <a:srgbClr val="000000">
                    <a:alpha val="100000"/>
                  </a:srgbClr>
                </a:gs>
                <a:gs pos="100000">
                  <a:srgbClr val="3533CD">
                    <a:alpha val="100000"/>
                  </a:srgbClr>
                </a:gs>
              </a:gsLst>
              <a:lin ang="0"/>
            </a:gradFill>
          </p:spPr>
        </p:sp>
        <p:sp>
          <p:nvSpPr>
            <p:cNvPr id="25" name="TextBox 25"/>
            <p:cNvSpPr txBox="1"/>
            <p:nvPr/>
          </p:nvSpPr>
          <p:spPr>
            <a:xfrm>
              <a:off x="0" y="-47625"/>
              <a:ext cx="2391521" cy="473092"/>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028700" y="6832255"/>
            <a:ext cx="3700572" cy="1543092"/>
          </a:xfrm>
          <a:custGeom>
            <a:avLst/>
            <a:gdLst/>
            <a:ahLst/>
            <a:cxnLst/>
            <a:rect l="l" t="t" r="r" b="b"/>
            <a:pathLst>
              <a:path w="3700572" h="1543092">
                <a:moveTo>
                  <a:pt x="0" y="0"/>
                </a:moveTo>
                <a:lnTo>
                  <a:pt x="3700572" y="0"/>
                </a:lnTo>
                <a:lnTo>
                  <a:pt x="3700572" y="1543092"/>
                </a:lnTo>
                <a:lnTo>
                  <a:pt x="0" y="1543092"/>
                </a:lnTo>
                <a:lnTo>
                  <a:pt x="0" y="0"/>
                </a:lnTo>
                <a:close/>
              </a:path>
            </a:pathLst>
          </a:custGeom>
          <a:blipFill>
            <a:blip r:embed="rId6"/>
            <a:stretch>
              <a:fillRect r="-29648"/>
            </a:stretch>
          </a:blipFill>
        </p:spPr>
      </p:sp>
      <p:sp>
        <p:nvSpPr>
          <p:cNvPr id="27" name="Freeform 27"/>
          <p:cNvSpPr/>
          <p:nvPr/>
        </p:nvSpPr>
        <p:spPr>
          <a:xfrm>
            <a:off x="5080191" y="6832255"/>
            <a:ext cx="3632756" cy="1554408"/>
          </a:xfrm>
          <a:custGeom>
            <a:avLst/>
            <a:gdLst/>
            <a:ahLst/>
            <a:cxnLst/>
            <a:rect l="l" t="t" r="r" b="b"/>
            <a:pathLst>
              <a:path w="3632756" h="1554408">
                <a:moveTo>
                  <a:pt x="0" y="0"/>
                </a:moveTo>
                <a:lnTo>
                  <a:pt x="3632757" y="0"/>
                </a:lnTo>
                <a:lnTo>
                  <a:pt x="3632757" y="1554407"/>
                </a:lnTo>
                <a:lnTo>
                  <a:pt x="0" y="1554407"/>
                </a:lnTo>
                <a:lnTo>
                  <a:pt x="0" y="0"/>
                </a:lnTo>
                <a:close/>
              </a:path>
            </a:pathLst>
          </a:custGeom>
          <a:blipFill>
            <a:blip r:embed="rId7"/>
            <a:stretch>
              <a:fillRect l="-16518" r="-16518"/>
            </a:stretch>
          </a:blipFill>
        </p:spPr>
      </p:sp>
      <p:grpSp>
        <p:nvGrpSpPr>
          <p:cNvPr id="28" name="Group 28"/>
          <p:cNvGrpSpPr/>
          <p:nvPr/>
        </p:nvGrpSpPr>
        <p:grpSpPr>
          <a:xfrm>
            <a:off x="9144000" y="9708804"/>
            <a:ext cx="9144000" cy="560871"/>
            <a:chOff x="0" y="0"/>
            <a:chExt cx="2408296" cy="147719"/>
          </a:xfrm>
        </p:grpSpPr>
        <p:sp>
          <p:nvSpPr>
            <p:cNvPr id="29" name="Freeform 29"/>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30" name="TextBox 30"/>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31" name="Freeform 31"/>
          <p:cNvSpPr/>
          <p:nvPr/>
        </p:nvSpPr>
        <p:spPr>
          <a:xfrm>
            <a:off x="9144000" y="5984215"/>
            <a:ext cx="1138016" cy="1138016"/>
          </a:xfrm>
          <a:custGeom>
            <a:avLst/>
            <a:gdLst/>
            <a:ahLst/>
            <a:cxnLst/>
            <a:rect l="l" t="t" r="r" b="b"/>
            <a:pathLst>
              <a:path w="1138016" h="1138016">
                <a:moveTo>
                  <a:pt x="0" y="0"/>
                </a:moveTo>
                <a:lnTo>
                  <a:pt x="1138016" y="0"/>
                </a:lnTo>
                <a:lnTo>
                  <a:pt x="1138016" y="1138016"/>
                </a:lnTo>
                <a:lnTo>
                  <a:pt x="0" y="113801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2" name="Freeform 32"/>
          <p:cNvSpPr/>
          <p:nvPr/>
        </p:nvSpPr>
        <p:spPr>
          <a:xfrm>
            <a:off x="9137362" y="7708747"/>
            <a:ext cx="1029460" cy="1103709"/>
          </a:xfrm>
          <a:custGeom>
            <a:avLst/>
            <a:gdLst/>
            <a:ahLst/>
            <a:cxnLst/>
            <a:rect l="l" t="t" r="r" b="b"/>
            <a:pathLst>
              <a:path w="1029460" h="1103709">
                <a:moveTo>
                  <a:pt x="0" y="0"/>
                </a:moveTo>
                <a:lnTo>
                  <a:pt x="1029459" y="0"/>
                </a:lnTo>
                <a:lnTo>
                  <a:pt x="1029459" y="1103709"/>
                </a:lnTo>
                <a:lnTo>
                  <a:pt x="0" y="110370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33" name="Freeform 33"/>
          <p:cNvSpPr/>
          <p:nvPr/>
        </p:nvSpPr>
        <p:spPr>
          <a:xfrm>
            <a:off x="9144000" y="2823729"/>
            <a:ext cx="1038944" cy="1021943"/>
          </a:xfrm>
          <a:custGeom>
            <a:avLst/>
            <a:gdLst/>
            <a:ahLst/>
            <a:cxnLst/>
            <a:rect l="l" t="t" r="r" b="b"/>
            <a:pathLst>
              <a:path w="1038944" h="1021943">
                <a:moveTo>
                  <a:pt x="0" y="0"/>
                </a:moveTo>
                <a:lnTo>
                  <a:pt x="1038944" y="0"/>
                </a:lnTo>
                <a:lnTo>
                  <a:pt x="1038944" y="1021943"/>
                </a:lnTo>
                <a:lnTo>
                  <a:pt x="0" y="1021943"/>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34" name="Freeform 34"/>
          <p:cNvSpPr/>
          <p:nvPr/>
        </p:nvSpPr>
        <p:spPr>
          <a:xfrm>
            <a:off x="9160123" y="4432187"/>
            <a:ext cx="1000060" cy="965513"/>
          </a:xfrm>
          <a:custGeom>
            <a:avLst/>
            <a:gdLst/>
            <a:ahLst/>
            <a:cxnLst/>
            <a:rect l="l" t="t" r="r" b="b"/>
            <a:pathLst>
              <a:path w="1000060" h="965513">
                <a:moveTo>
                  <a:pt x="0" y="0"/>
                </a:moveTo>
                <a:lnTo>
                  <a:pt x="1000060" y="0"/>
                </a:lnTo>
                <a:lnTo>
                  <a:pt x="1000060" y="965513"/>
                </a:lnTo>
                <a:lnTo>
                  <a:pt x="0" y="965513"/>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35" name="TextBox 35"/>
          <p:cNvSpPr txBox="1"/>
          <p:nvPr/>
        </p:nvSpPr>
        <p:spPr>
          <a:xfrm>
            <a:off x="1028700" y="215814"/>
            <a:ext cx="636007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01 | Latar Belakang</a:t>
            </a:r>
          </a:p>
        </p:txBody>
      </p:sp>
      <p:sp>
        <p:nvSpPr>
          <p:cNvPr id="36" name="TextBox 36"/>
          <p:cNvSpPr txBox="1"/>
          <p:nvPr/>
        </p:nvSpPr>
        <p:spPr>
          <a:xfrm>
            <a:off x="11985570" y="4611073"/>
            <a:ext cx="3654391" cy="962343"/>
          </a:xfrm>
          <a:prstGeom prst="rect">
            <a:avLst/>
          </a:prstGeom>
        </p:spPr>
        <p:txBody>
          <a:bodyPr lIns="0" tIns="0" rIns="0" bIns="0" rtlCol="0" anchor="t">
            <a:spAutoFit/>
          </a:bodyPr>
          <a:lstStyle/>
          <a:p>
            <a:pPr algn="ctr">
              <a:lnSpc>
                <a:spcPts val="2607"/>
              </a:lnSpc>
            </a:pPr>
            <a:r>
              <a:rPr lang="en-US" sz="1862" b="1" dirty="0">
                <a:solidFill>
                  <a:srgbClr val="FF751F"/>
                </a:solidFill>
                <a:latin typeface="Canva Sans Bold"/>
                <a:ea typeface="Canva Sans Bold"/>
                <a:cs typeface="Canva Sans Bold"/>
                <a:sym typeface="Canva Sans Bold"/>
              </a:rPr>
              <a:t>Teks Al-Qur’an </a:t>
            </a:r>
            <a:r>
              <a:rPr lang="en-US" sz="1862" b="1" dirty="0" err="1">
                <a:solidFill>
                  <a:srgbClr val="FF751F"/>
                </a:solidFill>
                <a:latin typeface="Canva Sans Bold"/>
                <a:ea typeface="Canva Sans Bold"/>
                <a:cs typeface="Canva Sans Bold"/>
                <a:sym typeface="Canva Sans Bold"/>
              </a:rPr>
              <a:t>kompleks</a:t>
            </a:r>
            <a:r>
              <a:rPr lang="en-US" sz="1862" b="1" dirty="0">
                <a:solidFill>
                  <a:srgbClr val="FF751F"/>
                </a:solidFill>
                <a:latin typeface="Canva Sans Bold"/>
                <a:ea typeface="Canva Sans Bold"/>
                <a:cs typeface="Canva Sans Bold"/>
                <a:sym typeface="Canva Sans Bold"/>
              </a:rPr>
              <a:t> dan </a:t>
            </a:r>
            <a:r>
              <a:rPr lang="en-US" sz="1862" b="1" dirty="0" err="1">
                <a:solidFill>
                  <a:srgbClr val="FF751F"/>
                </a:solidFill>
                <a:latin typeface="Canva Sans Bold"/>
                <a:ea typeface="Canva Sans Bold"/>
                <a:cs typeface="Canva Sans Bold"/>
                <a:sym typeface="Canva Sans Bold"/>
              </a:rPr>
              <a:t>kontekstual</a:t>
            </a:r>
            <a:endParaRPr lang="en-US" sz="1862" b="1" dirty="0">
              <a:solidFill>
                <a:srgbClr val="FF751F"/>
              </a:solidFill>
              <a:latin typeface="Canva Sans Bold"/>
              <a:ea typeface="Canva Sans Bold"/>
              <a:cs typeface="Canva Sans Bold"/>
              <a:sym typeface="Canva Sans Bold"/>
            </a:endParaRPr>
          </a:p>
          <a:p>
            <a:pPr algn="ctr">
              <a:lnSpc>
                <a:spcPts val="2607"/>
              </a:lnSpc>
            </a:pPr>
            <a:endParaRPr lang="en-US" sz="1862" b="1" dirty="0">
              <a:solidFill>
                <a:srgbClr val="FF751F"/>
              </a:solidFill>
              <a:latin typeface="Canva Sans Bold"/>
              <a:ea typeface="Canva Sans Bold"/>
              <a:cs typeface="Canva Sans Bold"/>
              <a:sym typeface="Canva Sans Bold"/>
            </a:endParaRPr>
          </a:p>
        </p:txBody>
      </p:sp>
      <p:sp>
        <p:nvSpPr>
          <p:cNvPr id="37" name="TextBox 37"/>
          <p:cNvSpPr txBox="1"/>
          <p:nvPr/>
        </p:nvSpPr>
        <p:spPr>
          <a:xfrm>
            <a:off x="10586074" y="2805388"/>
            <a:ext cx="6453382" cy="1203541"/>
          </a:xfrm>
          <a:prstGeom prst="rect">
            <a:avLst/>
          </a:prstGeom>
        </p:spPr>
        <p:txBody>
          <a:bodyPr lIns="0" tIns="0" rIns="0" bIns="0" rtlCol="0" anchor="t">
            <a:spAutoFit/>
          </a:bodyPr>
          <a:lstStyle/>
          <a:p>
            <a:pPr algn="ctr">
              <a:lnSpc>
                <a:spcPts val="2438"/>
              </a:lnSpc>
            </a:pPr>
            <a:r>
              <a:rPr lang="en-US" sz="1741" b="1" dirty="0" err="1">
                <a:solidFill>
                  <a:srgbClr val="FF751F"/>
                </a:solidFill>
                <a:latin typeface="Canva Sans Bold"/>
                <a:ea typeface="Canva Sans Bold"/>
                <a:cs typeface="Canva Sans Bold"/>
                <a:sym typeface="Canva Sans Bold"/>
              </a:rPr>
              <a:t>Pemodelan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topik</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merupakan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pendekatan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penting</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dalam</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analisis</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teks</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untuk</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menemukan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tema</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tersembunyi</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dalam</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kumpulan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dokumen</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besar</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secara</a:t>
            </a:r>
            <a:r>
              <a:rPr lang="en-US" sz="1741" b="1" dirty="0">
                <a:solidFill>
                  <a:srgbClr val="FF751F"/>
                </a:solidFill>
                <a:latin typeface="Canva Sans Bold"/>
                <a:ea typeface="Canva Sans Bold"/>
                <a:cs typeface="Canva Sans Bold"/>
                <a:sym typeface="Canva Sans Bold"/>
              </a:rPr>
              <a:t> </a:t>
            </a:r>
            <a:r>
              <a:rPr lang="en-US" sz="1741" b="1" dirty="0" err="1">
                <a:solidFill>
                  <a:srgbClr val="FF751F"/>
                </a:solidFill>
                <a:latin typeface="Canva Sans Bold"/>
                <a:ea typeface="Canva Sans Bold"/>
                <a:cs typeface="Canva Sans Bold"/>
                <a:sym typeface="Canva Sans Bold"/>
              </a:rPr>
              <a:t>otomatis</a:t>
            </a:r>
            <a:r>
              <a:rPr lang="en-US" sz="1741" b="1" dirty="0">
                <a:solidFill>
                  <a:srgbClr val="FF751F"/>
                </a:solidFill>
                <a:latin typeface="Canva Sans Bold"/>
                <a:ea typeface="Canva Sans Bold"/>
                <a:cs typeface="Canva Sans Bold"/>
                <a:sym typeface="Canva Sans Bold"/>
              </a:rPr>
              <a:t> (Blei et al., 2003a).</a:t>
            </a:r>
          </a:p>
        </p:txBody>
      </p:sp>
      <p:sp>
        <p:nvSpPr>
          <p:cNvPr id="38" name="TextBox 38"/>
          <p:cNvSpPr txBox="1"/>
          <p:nvPr/>
        </p:nvSpPr>
        <p:spPr>
          <a:xfrm>
            <a:off x="10737164" y="7749333"/>
            <a:ext cx="6302292" cy="1055934"/>
          </a:xfrm>
          <a:prstGeom prst="rect">
            <a:avLst/>
          </a:prstGeom>
        </p:spPr>
        <p:txBody>
          <a:bodyPr lIns="0" tIns="0" rIns="0" bIns="0" rtlCol="0" anchor="t">
            <a:spAutoFit/>
          </a:bodyPr>
          <a:lstStyle/>
          <a:p>
            <a:pPr algn="ctr">
              <a:lnSpc>
                <a:spcPts val="2173"/>
              </a:lnSpc>
            </a:pPr>
            <a:r>
              <a:rPr lang="en-US" sz="1552" b="1" dirty="0" err="1">
                <a:solidFill>
                  <a:srgbClr val="FF751F"/>
                </a:solidFill>
                <a:latin typeface="Canva Sans Bold"/>
                <a:ea typeface="Canva Sans Bold"/>
                <a:cs typeface="Canva Sans Bold"/>
                <a:sym typeface="Canva Sans Bold"/>
              </a:rPr>
              <a:t>penerapan</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kedua</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metode</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ini</a:t>
            </a:r>
            <a:r>
              <a:rPr lang="en-US" sz="1552" b="1" dirty="0">
                <a:solidFill>
                  <a:srgbClr val="FF751F"/>
                </a:solidFill>
                <a:latin typeface="Canva Sans Bold"/>
                <a:ea typeface="Canva Sans Bold"/>
                <a:cs typeface="Canva Sans Bold"/>
                <a:sym typeface="Canva Sans Bold"/>
              </a:rPr>
              <a:t> pada </a:t>
            </a:r>
            <a:r>
              <a:rPr lang="en-US" sz="1552" b="1" dirty="0" err="1">
                <a:solidFill>
                  <a:srgbClr val="FF751F"/>
                </a:solidFill>
                <a:latin typeface="Canva Sans Bold"/>
                <a:ea typeface="Canva Sans Bold"/>
                <a:cs typeface="Canva Sans Bold"/>
                <a:sym typeface="Canva Sans Bold"/>
              </a:rPr>
              <a:t>korpus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teks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religius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terutama</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teks</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terjemahan</a:t>
            </a:r>
            <a:r>
              <a:rPr lang="en-US" sz="1552" b="1" dirty="0">
                <a:solidFill>
                  <a:srgbClr val="FF751F"/>
                </a:solidFill>
                <a:latin typeface="Canva Sans Bold"/>
                <a:ea typeface="Canva Sans Bold"/>
                <a:cs typeface="Canva Sans Bold"/>
                <a:sym typeface="Canva Sans Bold"/>
              </a:rPr>
              <a:t> Al-Qur’an </a:t>
            </a:r>
            <a:r>
              <a:rPr lang="en-US" sz="1552" b="1" dirty="0" err="1">
                <a:solidFill>
                  <a:srgbClr val="FF751F"/>
                </a:solidFill>
                <a:latin typeface="Canva Sans Bold"/>
                <a:ea typeface="Canva Sans Bold"/>
                <a:cs typeface="Canva Sans Bold"/>
                <a:sym typeface="Canva Sans Bold"/>
              </a:rPr>
              <a:t>dalam</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bahasa</a:t>
            </a:r>
            <a:r>
              <a:rPr lang="en-US" sz="1552" b="1" dirty="0">
                <a:solidFill>
                  <a:srgbClr val="FF751F"/>
                </a:solidFill>
                <a:latin typeface="Canva Sans Bold"/>
                <a:ea typeface="Canva Sans Bold"/>
                <a:cs typeface="Canva Sans Bold"/>
                <a:sym typeface="Canva Sans Bold"/>
              </a:rPr>
              <a:t> Indonesia </a:t>
            </a:r>
            <a:r>
              <a:rPr lang="en-US" sz="1552" b="1" dirty="0" err="1">
                <a:solidFill>
                  <a:srgbClr val="FF751F"/>
                </a:solidFill>
                <a:latin typeface="Canva Sans Bold"/>
                <a:ea typeface="Canva Sans Bold"/>
                <a:cs typeface="Canva Sans Bold"/>
                <a:sym typeface="Canva Sans Bold"/>
              </a:rPr>
              <a:t>belum</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banyak</a:t>
            </a:r>
            <a:r>
              <a:rPr lang="en-US" sz="1552" b="1" dirty="0">
                <a:solidFill>
                  <a:srgbClr val="FF751F"/>
                </a:solidFill>
                <a:latin typeface="Canva Sans Bold"/>
                <a:ea typeface="Canva Sans Bold"/>
                <a:cs typeface="Canva Sans Bold"/>
                <a:sym typeface="Canva Sans Bold"/>
              </a:rPr>
              <a:t> </a:t>
            </a:r>
            <a:r>
              <a:rPr lang="en-US" sz="1552" b="1" dirty="0" err="1">
                <a:solidFill>
                  <a:srgbClr val="FF751F"/>
                </a:solidFill>
                <a:latin typeface="Canva Sans Bold"/>
                <a:ea typeface="Canva Sans Bold"/>
                <a:cs typeface="Canva Sans Bold"/>
                <a:sym typeface="Canva Sans Bold"/>
              </a:rPr>
              <a:t>digunakan</a:t>
            </a:r>
            <a:endParaRPr lang="en-US" sz="1552" b="1" dirty="0">
              <a:solidFill>
                <a:srgbClr val="FF751F"/>
              </a:solidFill>
              <a:latin typeface="Canva Sans Bold"/>
              <a:ea typeface="Canva Sans Bold"/>
              <a:cs typeface="Canva Sans Bold"/>
              <a:sym typeface="Canva Sans Bold"/>
            </a:endParaRPr>
          </a:p>
          <a:p>
            <a:pPr algn="ctr">
              <a:lnSpc>
                <a:spcPts val="2173"/>
              </a:lnSpc>
            </a:pPr>
            <a:endParaRPr lang="en-US" sz="1552" b="1" dirty="0">
              <a:solidFill>
                <a:srgbClr val="FF751F"/>
              </a:solidFill>
              <a:latin typeface="Canva Sans Bold"/>
              <a:ea typeface="Canva Sans Bold"/>
              <a:cs typeface="Canva Sans Bold"/>
              <a:sym typeface="Canva Sans Bold"/>
            </a:endParaRPr>
          </a:p>
        </p:txBody>
      </p:sp>
      <p:sp>
        <p:nvSpPr>
          <p:cNvPr id="39" name="TextBox 39"/>
          <p:cNvSpPr txBox="1"/>
          <p:nvPr/>
        </p:nvSpPr>
        <p:spPr>
          <a:xfrm>
            <a:off x="10586074" y="6235412"/>
            <a:ext cx="6453382" cy="558743"/>
          </a:xfrm>
          <a:prstGeom prst="rect">
            <a:avLst/>
          </a:prstGeom>
        </p:spPr>
        <p:txBody>
          <a:bodyPr lIns="0" tIns="0" rIns="0" bIns="0" rtlCol="0" anchor="t">
            <a:spAutoFit/>
          </a:bodyPr>
          <a:lstStyle/>
          <a:p>
            <a:pPr algn="ctr">
              <a:lnSpc>
                <a:spcPts val="2278"/>
              </a:lnSpc>
            </a:pPr>
            <a:r>
              <a:rPr lang="en-US" sz="1627" b="1" dirty="0">
                <a:solidFill>
                  <a:srgbClr val="FF751F"/>
                </a:solidFill>
                <a:latin typeface="Canva Sans Bold"/>
                <a:ea typeface="Canva Sans Bold"/>
                <a:cs typeface="Canva Sans Bold"/>
                <a:sym typeface="Canva Sans Bold"/>
              </a:rPr>
              <a:t>CTM &amp; </a:t>
            </a:r>
            <a:r>
              <a:rPr lang="en-US" sz="1627" b="1" dirty="0" err="1">
                <a:solidFill>
                  <a:srgbClr val="FF751F"/>
                </a:solidFill>
                <a:latin typeface="Canva Sans Bold"/>
                <a:ea typeface="Canva Sans Bold"/>
                <a:cs typeface="Canva Sans Bold"/>
                <a:sym typeface="Canva Sans Bold"/>
              </a:rPr>
              <a:t>BERTopic</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sebagai</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solusi</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alternatif</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terbaruan</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dalam</a:t>
            </a:r>
            <a:r>
              <a:rPr lang="en-US" sz="1627" b="1" dirty="0">
                <a:solidFill>
                  <a:srgbClr val="FF751F"/>
                </a:solidFill>
                <a:latin typeface="Canva Sans Bold"/>
                <a:ea typeface="Canva Sans Bold"/>
                <a:cs typeface="Canva Sans Bold"/>
                <a:sym typeface="Canva Sans Bold"/>
              </a:rPr>
              <a:t> </a:t>
            </a:r>
            <a:r>
              <a:rPr lang="en-US" sz="1627" b="1" dirty="0" err="1">
                <a:solidFill>
                  <a:srgbClr val="FF751F"/>
                </a:solidFill>
                <a:latin typeface="Canva Sans Bold"/>
                <a:ea typeface="Canva Sans Bold"/>
                <a:cs typeface="Canva Sans Bold"/>
                <a:sym typeface="Canva Sans Bold"/>
              </a:rPr>
              <a:t>menganalisis</a:t>
            </a:r>
            <a:r>
              <a:rPr lang="en-US" sz="1627" b="1" dirty="0">
                <a:solidFill>
                  <a:srgbClr val="FF751F"/>
                </a:solidFill>
                <a:latin typeface="Canva Sans Bold"/>
                <a:ea typeface="Canva Sans Bold"/>
                <a:cs typeface="Canva Sans Bold"/>
                <a:sym typeface="Canva Sans Bold"/>
              </a:rPr>
              <a:t> Teks Al-Qur’an</a:t>
            </a:r>
          </a:p>
        </p:txBody>
      </p:sp>
      <p:sp>
        <p:nvSpPr>
          <p:cNvPr id="40" name="TextBox 40"/>
          <p:cNvSpPr txBox="1"/>
          <p:nvPr/>
        </p:nvSpPr>
        <p:spPr>
          <a:xfrm>
            <a:off x="2121610" y="6839530"/>
            <a:ext cx="1832790" cy="764271"/>
          </a:xfrm>
          <a:prstGeom prst="rect">
            <a:avLst/>
          </a:prstGeom>
        </p:spPr>
        <p:txBody>
          <a:bodyPr wrap="square" lIns="0" tIns="0" rIns="0" bIns="0" rtlCol="0" anchor="t">
            <a:spAutoFit/>
          </a:bodyPr>
          <a:lstStyle/>
          <a:p>
            <a:pPr algn="ctr">
              <a:lnSpc>
                <a:spcPts val="6150"/>
              </a:lnSpc>
            </a:pPr>
            <a:r>
              <a:rPr lang="en-US" sz="4393" b="1" dirty="0">
                <a:solidFill>
                  <a:srgbClr val="FF751F"/>
                </a:solidFill>
                <a:latin typeface="Canva Sans Bold"/>
                <a:ea typeface="Canva Sans Bold"/>
                <a:cs typeface="Canva Sans Bold"/>
                <a:sym typeface="Canva Sans Bold"/>
              </a:rPr>
              <a:t>6.236</a:t>
            </a:r>
          </a:p>
        </p:txBody>
      </p:sp>
      <p:sp>
        <p:nvSpPr>
          <p:cNvPr id="41" name="TextBox 41"/>
          <p:cNvSpPr txBox="1"/>
          <p:nvPr/>
        </p:nvSpPr>
        <p:spPr>
          <a:xfrm>
            <a:off x="1238068" y="7557159"/>
            <a:ext cx="3632756" cy="481330"/>
          </a:xfrm>
          <a:prstGeom prst="rect">
            <a:avLst/>
          </a:prstGeom>
        </p:spPr>
        <p:txBody>
          <a:bodyPr lIns="0" tIns="0" rIns="0" bIns="0" rtlCol="0" anchor="t">
            <a:spAutoFit/>
          </a:bodyPr>
          <a:lstStyle/>
          <a:p>
            <a:pPr algn="ctr">
              <a:lnSpc>
                <a:spcPts val="3920"/>
              </a:lnSpc>
            </a:pPr>
            <a:r>
              <a:rPr lang="en-US" sz="2800">
                <a:solidFill>
                  <a:srgbClr val="5CE1E6"/>
                </a:solidFill>
                <a:latin typeface="Canva Sans"/>
                <a:ea typeface="Canva Sans"/>
                <a:cs typeface="Canva Sans"/>
                <a:sym typeface="Canva Sans"/>
              </a:rPr>
              <a:t>Ayat Al-Qur’an</a:t>
            </a:r>
          </a:p>
        </p:txBody>
      </p:sp>
      <p:sp>
        <p:nvSpPr>
          <p:cNvPr id="42" name="TextBox 42"/>
          <p:cNvSpPr txBox="1"/>
          <p:nvPr/>
        </p:nvSpPr>
        <p:spPr>
          <a:xfrm>
            <a:off x="6426910" y="6856492"/>
            <a:ext cx="1232995" cy="757817"/>
          </a:xfrm>
          <a:prstGeom prst="rect">
            <a:avLst/>
          </a:prstGeom>
        </p:spPr>
        <p:txBody>
          <a:bodyPr wrap="square" lIns="0" tIns="0" rIns="0" bIns="0" rtlCol="0" anchor="t">
            <a:spAutoFit/>
          </a:bodyPr>
          <a:lstStyle/>
          <a:p>
            <a:pPr algn="ctr">
              <a:lnSpc>
                <a:spcPts val="6179"/>
              </a:lnSpc>
            </a:pPr>
            <a:r>
              <a:rPr lang="en-US" sz="4413" b="1" dirty="0">
                <a:solidFill>
                  <a:srgbClr val="5CE1E6"/>
                </a:solidFill>
                <a:latin typeface="Canva Sans Bold"/>
                <a:ea typeface="Canva Sans Bold"/>
                <a:cs typeface="Canva Sans Bold"/>
                <a:sym typeface="Canva Sans Bold"/>
              </a:rPr>
              <a:t>114</a:t>
            </a:r>
          </a:p>
        </p:txBody>
      </p:sp>
      <p:sp>
        <p:nvSpPr>
          <p:cNvPr id="43" name="TextBox 43"/>
          <p:cNvSpPr txBox="1"/>
          <p:nvPr/>
        </p:nvSpPr>
        <p:spPr>
          <a:xfrm>
            <a:off x="5080191" y="7541960"/>
            <a:ext cx="3632756" cy="481330"/>
          </a:xfrm>
          <a:prstGeom prst="rect">
            <a:avLst/>
          </a:prstGeom>
        </p:spPr>
        <p:txBody>
          <a:bodyPr lIns="0" tIns="0" rIns="0" bIns="0" rtlCol="0" anchor="t">
            <a:spAutoFit/>
          </a:bodyPr>
          <a:lstStyle/>
          <a:p>
            <a:pPr algn="ctr">
              <a:lnSpc>
                <a:spcPts val="3920"/>
              </a:lnSpc>
            </a:pPr>
            <a:r>
              <a:rPr lang="en-US" sz="2800">
                <a:solidFill>
                  <a:srgbClr val="FF751F"/>
                </a:solidFill>
                <a:latin typeface="Canva Sans"/>
                <a:ea typeface="Canva Sans"/>
                <a:cs typeface="Canva Sans"/>
                <a:sym typeface="Canva Sans"/>
              </a:rPr>
              <a:t>Surat</a:t>
            </a:r>
          </a:p>
        </p:txBody>
      </p:sp>
      <p:sp>
        <p:nvSpPr>
          <p:cNvPr id="44" name="TextBox 44"/>
          <p:cNvSpPr txBox="1"/>
          <p:nvPr/>
        </p:nvSpPr>
        <p:spPr>
          <a:xfrm>
            <a:off x="1028700" y="1129213"/>
            <a:ext cx="10183956" cy="1072602"/>
          </a:xfrm>
          <a:prstGeom prst="rect">
            <a:avLst/>
          </a:prstGeom>
        </p:spPr>
        <p:txBody>
          <a:bodyPr lIns="0" tIns="0" rIns="0" bIns="0" rtlCol="0" anchor="t">
            <a:spAutoFit/>
          </a:bodyPr>
          <a:lstStyle/>
          <a:p>
            <a:pPr algn="l">
              <a:lnSpc>
                <a:spcPts val="8605"/>
              </a:lnSpc>
              <a:spcBef>
                <a:spcPct val="0"/>
              </a:spcBef>
            </a:pPr>
            <a:r>
              <a:rPr lang="en-US" sz="6146" b="1">
                <a:solidFill>
                  <a:srgbClr val="1800AD"/>
                </a:solidFill>
                <a:latin typeface="Archivo Narrow Bold"/>
                <a:ea typeface="Archivo Narrow Bold"/>
                <a:cs typeface="Archivo Narrow Bold"/>
                <a:sym typeface="Archivo Narrow Bold"/>
              </a:rPr>
              <a:t>Mengapa Peneletian Ini Penting?</a:t>
            </a:r>
          </a:p>
        </p:txBody>
      </p:sp>
      <p:sp>
        <p:nvSpPr>
          <p:cNvPr id="45" name="TextBox 45"/>
          <p:cNvSpPr txBox="1"/>
          <p:nvPr/>
        </p:nvSpPr>
        <p:spPr>
          <a:xfrm>
            <a:off x="13563601" y="9745881"/>
            <a:ext cx="4542822" cy="428259"/>
          </a:xfrm>
          <a:prstGeom prst="rect">
            <a:avLst/>
          </a:prstGeom>
        </p:spPr>
        <p:txBody>
          <a:bodyPr wrap="square" lIns="0" tIns="0" rIns="0" bIns="0" rtlCol="0" anchor="t">
            <a:spAutoFit/>
          </a:bodyPr>
          <a:lstStyle/>
          <a:p>
            <a:pPr algn="ctr">
              <a:lnSpc>
                <a:spcPts val="3623"/>
              </a:lnSpc>
            </a:pPr>
            <a:r>
              <a:rPr lang="en-US" sz="2587" dirty="0">
                <a:solidFill>
                  <a:srgbClr val="000000"/>
                </a:solidFill>
                <a:latin typeface="Montserrat"/>
                <a:ea typeface="Montserrat"/>
                <a:cs typeface="Montserrat"/>
                <a:sym typeface="Montserrat"/>
              </a:rPr>
              <a:t>universitas </a:t>
            </a:r>
            <a:r>
              <a:rPr lang="en-US" sz="2587" dirty="0" err="1">
                <a:solidFill>
                  <a:srgbClr val="000000"/>
                </a:solidFill>
                <a:latin typeface="Montserrat"/>
                <a:ea typeface="Montserrat"/>
                <a:cs typeface="Montserrat"/>
                <a:sym typeface="Montserrat"/>
              </a:rPr>
              <a:t>pamulang</a:t>
            </a:r>
            <a:endParaRPr lang="en-US" sz="2587" dirty="0">
              <a:solidFill>
                <a:srgbClr val="000000"/>
              </a:solidFill>
              <a:latin typeface="Montserrat"/>
              <a:ea typeface="Montserrat"/>
              <a:cs typeface="Montserrat"/>
              <a:sym typeface="Montserrat"/>
            </a:endParaRPr>
          </a:p>
        </p:txBody>
      </p:sp>
      <p:sp>
        <p:nvSpPr>
          <p:cNvPr id="46" name="Freeform 46"/>
          <p:cNvSpPr/>
          <p:nvPr/>
        </p:nvSpPr>
        <p:spPr>
          <a:xfrm>
            <a:off x="2970112" y="8164662"/>
            <a:ext cx="3700572" cy="1543092"/>
          </a:xfrm>
          <a:custGeom>
            <a:avLst/>
            <a:gdLst/>
            <a:ahLst/>
            <a:cxnLst/>
            <a:rect l="l" t="t" r="r" b="b"/>
            <a:pathLst>
              <a:path w="3700572" h="1543092">
                <a:moveTo>
                  <a:pt x="0" y="0"/>
                </a:moveTo>
                <a:lnTo>
                  <a:pt x="3700572" y="0"/>
                </a:lnTo>
                <a:lnTo>
                  <a:pt x="3700572" y="1543092"/>
                </a:lnTo>
                <a:lnTo>
                  <a:pt x="0" y="1543092"/>
                </a:lnTo>
                <a:lnTo>
                  <a:pt x="0" y="0"/>
                </a:lnTo>
                <a:close/>
              </a:path>
            </a:pathLst>
          </a:custGeom>
          <a:blipFill>
            <a:blip r:embed="rId6"/>
            <a:stretch>
              <a:fillRect r="-29648"/>
            </a:stretch>
          </a:blipFill>
        </p:spPr>
      </p:sp>
      <p:sp>
        <p:nvSpPr>
          <p:cNvPr id="47" name="TextBox 47"/>
          <p:cNvSpPr txBox="1"/>
          <p:nvPr/>
        </p:nvSpPr>
        <p:spPr>
          <a:xfrm>
            <a:off x="3954400" y="8235746"/>
            <a:ext cx="2472510" cy="1536831"/>
          </a:xfrm>
          <a:prstGeom prst="rect">
            <a:avLst/>
          </a:prstGeom>
        </p:spPr>
        <p:txBody>
          <a:bodyPr wrap="square" lIns="0" tIns="0" rIns="0" bIns="0" rtlCol="0" anchor="t">
            <a:spAutoFit/>
          </a:bodyPr>
          <a:lstStyle/>
          <a:p>
            <a:pPr algn="ctr">
              <a:lnSpc>
                <a:spcPts val="6150"/>
              </a:lnSpc>
            </a:pPr>
            <a:r>
              <a:rPr lang="en-US" sz="4393" b="1" dirty="0">
                <a:solidFill>
                  <a:srgbClr val="FF751F"/>
                </a:solidFill>
                <a:latin typeface="Canva Sans Bold"/>
                <a:ea typeface="Canva Sans Bold"/>
                <a:cs typeface="Canva Sans Bold"/>
                <a:sym typeface="Canva Sans Bold"/>
              </a:rPr>
              <a:t>77.439</a:t>
            </a:r>
          </a:p>
          <a:p>
            <a:pPr algn="ctr">
              <a:lnSpc>
                <a:spcPts val="6150"/>
              </a:lnSpc>
            </a:pPr>
            <a:endParaRPr lang="en-US" sz="4393" b="1" dirty="0">
              <a:solidFill>
                <a:srgbClr val="FF751F"/>
              </a:solidFill>
              <a:latin typeface="Canva Sans Bold"/>
              <a:ea typeface="Canva Sans Bold"/>
              <a:cs typeface="Canva Sans Bold"/>
              <a:sym typeface="Canva Sans Bold"/>
            </a:endParaRPr>
          </a:p>
        </p:txBody>
      </p:sp>
      <p:sp>
        <p:nvSpPr>
          <p:cNvPr id="48" name="TextBox 48"/>
          <p:cNvSpPr txBox="1"/>
          <p:nvPr/>
        </p:nvSpPr>
        <p:spPr>
          <a:xfrm>
            <a:off x="3159129" y="8953375"/>
            <a:ext cx="3632756" cy="481330"/>
          </a:xfrm>
          <a:prstGeom prst="rect">
            <a:avLst/>
          </a:prstGeom>
        </p:spPr>
        <p:txBody>
          <a:bodyPr lIns="0" tIns="0" rIns="0" bIns="0" rtlCol="0" anchor="t">
            <a:spAutoFit/>
          </a:bodyPr>
          <a:lstStyle/>
          <a:p>
            <a:pPr algn="ctr">
              <a:lnSpc>
                <a:spcPts val="3920"/>
              </a:lnSpc>
            </a:pPr>
            <a:r>
              <a:rPr lang="en-US" sz="2800" dirty="0">
                <a:solidFill>
                  <a:srgbClr val="5CE1E6"/>
                </a:solidFill>
                <a:latin typeface="Canva Sans"/>
                <a:ea typeface="Canva Sans"/>
                <a:cs typeface="Canva Sans"/>
                <a:sym typeface="Canva Sans"/>
              </a:rPr>
              <a:t>Kata </a:t>
            </a:r>
            <a:r>
              <a:rPr lang="en-US" sz="2800" dirty="0" err="1">
                <a:solidFill>
                  <a:srgbClr val="5CE1E6"/>
                </a:solidFill>
                <a:latin typeface="Canva Sans"/>
                <a:ea typeface="Canva Sans"/>
                <a:cs typeface="Canva Sans"/>
                <a:sym typeface="Canva Sans"/>
              </a:rPr>
              <a:t>Terjemahan</a:t>
            </a:r>
            <a:endParaRPr lang="en-US" sz="2800" dirty="0">
              <a:solidFill>
                <a:srgbClr val="5CE1E6"/>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1617035" y="-4923805"/>
            <a:ext cx="9848495" cy="18613993"/>
          </a:xfrm>
          <a:custGeom>
            <a:avLst/>
            <a:gdLst/>
            <a:ahLst/>
            <a:cxnLst/>
            <a:rect l="l" t="t" r="r" b="b"/>
            <a:pathLst>
              <a:path w="9848495" h="18613993">
                <a:moveTo>
                  <a:pt x="0" y="18613994"/>
                </a:moveTo>
                <a:lnTo>
                  <a:pt x="9848495" y="18613994"/>
                </a:lnTo>
                <a:lnTo>
                  <a:pt x="9848495" y="0"/>
                </a:lnTo>
                <a:lnTo>
                  <a:pt x="0" y="0"/>
                </a:lnTo>
                <a:lnTo>
                  <a:pt x="0" y="18613994"/>
                </a:lnTo>
                <a:close/>
              </a:path>
            </a:pathLst>
          </a:custGeom>
          <a:blipFill>
            <a:blip>
              <a:alphaModFix amt="7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65541" y="3421446"/>
            <a:ext cx="8337260" cy="1670231"/>
            <a:chOff x="0" y="0"/>
            <a:chExt cx="2195822" cy="439896"/>
          </a:xfrm>
        </p:grpSpPr>
        <p:sp>
          <p:nvSpPr>
            <p:cNvPr id="17" name="Freeform 17"/>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id="18" name="TextBox 18"/>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62221" y="5327470"/>
            <a:ext cx="8337260" cy="1670231"/>
            <a:chOff x="0" y="0"/>
            <a:chExt cx="2195822" cy="439896"/>
          </a:xfrm>
        </p:grpSpPr>
        <p:sp>
          <p:nvSpPr>
            <p:cNvPr id="20" name="Freeform 20"/>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id="21" name="TextBox 21"/>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65541" y="7283014"/>
            <a:ext cx="8337260" cy="1670231"/>
            <a:chOff x="0" y="0"/>
            <a:chExt cx="2195822" cy="439896"/>
          </a:xfrm>
        </p:grpSpPr>
        <p:sp>
          <p:nvSpPr>
            <p:cNvPr id="23" name="Freeform 23"/>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id="24" name="TextBox 24"/>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1102579" y="3752539"/>
            <a:ext cx="1008045" cy="1008045"/>
          </a:xfrm>
          <a:custGeom>
            <a:avLst/>
            <a:gdLst/>
            <a:ahLst/>
            <a:cxnLst/>
            <a:rect l="l" t="t" r="r" b="b"/>
            <a:pathLst>
              <a:path w="1008045" h="1008045">
                <a:moveTo>
                  <a:pt x="0" y="0"/>
                </a:moveTo>
                <a:lnTo>
                  <a:pt x="1008045" y="0"/>
                </a:lnTo>
                <a:lnTo>
                  <a:pt x="1008045" y="1008045"/>
                </a:lnTo>
                <a:lnTo>
                  <a:pt x="0" y="100804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Freeform 26"/>
          <p:cNvSpPr/>
          <p:nvPr/>
        </p:nvSpPr>
        <p:spPr>
          <a:xfrm>
            <a:off x="1123797" y="5715447"/>
            <a:ext cx="965608" cy="1038437"/>
          </a:xfrm>
          <a:custGeom>
            <a:avLst/>
            <a:gdLst/>
            <a:ahLst/>
            <a:cxnLst/>
            <a:rect l="l" t="t" r="r" b="b"/>
            <a:pathLst>
              <a:path w="965608" h="1038437">
                <a:moveTo>
                  <a:pt x="0" y="0"/>
                </a:moveTo>
                <a:lnTo>
                  <a:pt x="965608" y="0"/>
                </a:lnTo>
                <a:lnTo>
                  <a:pt x="965608" y="1038437"/>
                </a:lnTo>
                <a:lnTo>
                  <a:pt x="0" y="103843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7" name="Freeform 27"/>
          <p:cNvSpPr/>
          <p:nvPr/>
        </p:nvSpPr>
        <p:spPr>
          <a:xfrm>
            <a:off x="1102579" y="7708747"/>
            <a:ext cx="1008045" cy="649147"/>
          </a:xfrm>
          <a:custGeom>
            <a:avLst/>
            <a:gdLst/>
            <a:ahLst/>
            <a:cxnLst/>
            <a:rect l="l" t="t" r="r" b="b"/>
            <a:pathLst>
              <a:path w="1008045" h="649147">
                <a:moveTo>
                  <a:pt x="0" y="0"/>
                </a:moveTo>
                <a:lnTo>
                  <a:pt x="1008045" y="0"/>
                </a:lnTo>
                <a:lnTo>
                  <a:pt x="1008045" y="649147"/>
                </a:lnTo>
                <a:lnTo>
                  <a:pt x="0" y="649147"/>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28" name="Group 28"/>
          <p:cNvGrpSpPr/>
          <p:nvPr/>
        </p:nvGrpSpPr>
        <p:grpSpPr>
          <a:xfrm>
            <a:off x="9553792" y="3394681"/>
            <a:ext cx="8337260" cy="1372624"/>
            <a:chOff x="0" y="0"/>
            <a:chExt cx="2195822" cy="361514"/>
          </a:xfrm>
        </p:grpSpPr>
        <p:sp>
          <p:nvSpPr>
            <p:cNvPr id="29" name="Freeform 29"/>
            <p:cNvSpPr/>
            <p:nvPr/>
          </p:nvSpPr>
          <p:spPr>
            <a:xfrm>
              <a:off x="0" y="0"/>
              <a:ext cx="2195822" cy="361514"/>
            </a:xfrm>
            <a:custGeom>
              <a:avLst/>
              <a:gdLst/>
              <a:ahLst/>
              <a:cxnLst/>
              <a:rect l="l" t="t" r="r" b="b"/>
              <a:pathLst>
                <a:path w="2195822" h="361514">
                  <a:moveTo>
                    <a:pt x="0" y="0"/>
                  </a:moveTo>
                  <a:lnTo>
                    <a:pt x="2195822" y="0"/>
                  </a:lnTo>
                  <a:lnTo>
                    <a:pt x="2195822" y="361514"/>
                  </a:lnTo>
                  <a:lnTo>
                    <a:pt x="0" y="361514"/>
                  </a:lnTo>
                  <a:close/>
                </a:path>
              </a:pathLst>
            </a:custGeom>
            <a:solidFill>
              <a:srgbClr val="1800AD"/>
            </a:solidFill>
            <a:ln w="38100" cap="sq">
              <a:solidFill>
                <a:srgbClr val="FF751F"/>
              </a:solidFill>
              <a:prstDash val="solid"/>
              <a:miter/>
            </a:ln>
          </p:spPr>
        </p:sp>
        <p:sp>
          <p:nvSpPr>
            <p:cNvPr id="30" name="TextBox 30"/>
            <p:cNvSpPr txBox="1"/>
            <p:nvPr/>
          </p:nvSpPr>
          <p:spPr>
            <a:xfrm>
              <a:off x="0" y="-47625"/>
              <a:ext cx="2195822" cy="409139"/>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9547370" y="4957805"/>
            <a:ext cx="8337260" cy="1222119"/>
            <a:chOff x="0" y="0"/>
            <a:chExt cx="2195822" cy="321875"/>
          </a:xfrm>
        </p:grpSpPr>
        <p:sp>
          <p:nvSpPr>
            <p:cNvPr id="32" name="Freeform 32"/>
            <p:cNvSpPr/>
            <p:nvPr/>
          </p:nvSpPr>
          <p:spPr>
            <a:xfrm>
              <a:off x="0" y="0"/>
              <a:ext cx="2195822" cy="321875"/>
            </a:xfrm>
            <a:custGeom>
              <a:avLst/>
              <a:gdLst/>
              <a:ahLst/>
              <a:cxnLst/>
              <a:rect l="l" t="t" r="r" b="b"/>
              <a:pathLst>
                <a:path w="2195822" h="321875">
                  <a:moveTo>
                    <a:pt x="0" y="0"/>
                  </a:moveTo>
                  <a:lnTo>
                    <a:pt x="2195822" y="0"/>
                  </a:lnTo>
                  <a:lnTo>
                    <a:pt x="2195822" y="321875"/>
                  </a:lnTo>
                  <a:lnTo>
                    <a:pt x="0" y="321875"/>
                  </a:lnTo>
                  <a:close/>
                </a:path>
              </a:pathLst>
            </a:custGeom>
            <a:solidFill>
              <a:srgbClr val="1800AD"/>
            </a:solidFill>
            <a:ln w="38100" cap="sq">
              <a:solidFill>
                <a:srgbClr val="FFDE59"/>
              </a:solidFill>
              <a:prstDash val="solid"/>
              <a:miter/>
            </a:ln>
          </p:spPr>
        </p:sp>
        <p:sp>
          <p:nvSpPr>
            <p:cNvPr id="33" name="TextBox 33"/>
            <p:cNvSpPr txBox="1"/>
            <p:nvPr/>
          </p:nvSpPr>
          <p:spPr>
            <a:xfrm>
              <a:off x="0" y="-47625"/>
              <a:ext cx="2195822" cy="369500"/>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9553792" y="6370424"/>
            <a:ext cx="8337260" cy="1167838"/>
            <a:chOff x="0" y="0"/>
            <a:chExt cx="2195822" cy="307579"/>
          </a:xfrm>
        </p:grpSpPr>
        <p:sp>
          <p:nvSpPr>
            <p:cNvPr id="35" name="Freeform 35"/>
            <p:cNvSpPr/>
            <p:nvPr/>
          </p:nvSpPr>
          <p:spPr>
            <a:xfrm>
              <a:off x="0" y="0"/>
              <a:ext cx="2195822" cy="307579"/>
            </a:xfrm>
            <a:custGeom>
              <a:avLst/>
              <a:gdLst/>
              <a:ahLst/>
              <a:cxnLst/>
              <a:rect l="l" t="t" r="r" b="b"/>
              <a:pathLst>
                <a:path w="2195822" h="307579">
                  <a:moveTo>
                    <a:pt x="0" y="0"/>
                  </a:moveTo>
                  <a:lnTo>
                    <a:pt x="2195822" y="0"/>
                  </a:lnTo>
                  <a:lnTo>
                    <a:pt x="2195822" y="307579"/>
                  </a:lnTo>
                  <a:lnTo>
                    <a:pt x="0" y="307579"/>
                  </a:lnTo>
                  <a:close/>
                </a:path>
              </a:pathLst>
            </a:custGeom>
            <a:solidFill>
              <a:srgbClr val="1800AD"/>
            </a:solidFill>
            <a:ln w="38100" cap="sq">
              <a:solidFill>
                <a:srgbClr val="00BF63"/>
              </a:solidFill>
              <a:prstDash val="solid"/>
              <a:miter/>
            </a:ln>
          </p:spPr>
        </p:sp>
        <p:sp>
          <p:nvSpPr>
            <p:cNvPr id="36" name="TextBox 36"/>
            <p:cNvSpPr txBox="1"/>
            <p:nvPr/>
          </p:nvSpPr>
          <p:spPr>
            <a:xfrm>
              <a:off x="0" y="-47625"/>
              <a:ext cx="2195822" cy="355204"/>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02 | Rumusan Masalah</a:t>
            </a:r>
          </a:p>
        </p:txBody>
      </p:sp>
      <p:sp>
        <p:nvSpPr>
          <p:cNvPr id="38" name="TextBox 38"/>
          <p:cNvSpPr txBox="1"/>
          <p:nvPr/>
        </p:nvSpPr>
        <p:spPr>
          <a:xfrm>
            <a:off x="1028700" y="1129213"/>
            <a:ext cx="10183956" cy="1072602"/>
          </a:xfrm>
          <a:prstGeom prst="rect">
            <a:avLst/>
          </a:prstGeom>
        </p:spPr>
        <p:txBody>
          <a:bodyPr lIns="0" tIns="0" rIns="0" bIns="0" rtlCol="0" anchor="t">
            <a:spAutoFit/>
          </a:bodyPr>
          <a:lstStyle/>
          <a:p>
            <a:pPr algn="l">
              <a:lnSpc>
                <a:spcPts val="8605"/>
              </a:lnSpc>
              <a:spcBef>
                <a:spcPct val="0"/>
              </a:spcBef>
            </a:pPr>
            <a:r>
              <a:rPr lang="en-US" sz="6146" b="1">
                <a:solidFill>
                  <a:srgbClr val="1800AD"/>
                </a:solidFill>
                <a:latin typeface="Archivo Narrow Bold"/>
                <a:ea typeface="Archivo Narrow Bold"/>
                <a:cs typeface="Archivo Narrow Bold"/>
                <a:sym typeface="Archivo Narrow Bold"/>
              </a:rPr>
              <a:t>Permasalahan Penelitian</a:t>
            </a:r>
          </a:p>
        </p:txBody>
      </p:sp>
      <p:sp>
        <p:nvSpPr>
          <p:cNvPr id="39" name="TextBox 39"/>
          <p:cNvSpPr txBox="1"/>
          <p:nvPr/>
        </p:nvSpPr>
        <p:spPr>
          <a:xfrm>
            <a:off x="952696" y="2709612"/>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Identifikasi Masalah</a:t>
            </a:r>
          </a:p>
        </p:txBody>
      </p:sp>
      <p:sp>
        <p:nvSpPr>
          <p:cNvPr id="40" name="TextBox 40"/>
          <p:cNvSpPr txBox="1"/>
          <p:nvPr/>
        </p:nvSpPr>
        <p:spPr>
          <a:xfrm>
            <a:off x="2276322" y="3566911"/>
            <a:ext cx="6830081" cy="1355723"/>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Teks terjemahan Al-Qur'an memiliki kompleksitas linguistik tinggi yang menyulitkan pemodelan semantik</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1" name="TextBox 41"/>
          <p:cNvSpPr txBox="1"/>
          <p:nvPr/>
        </p:nvSpPr>
        <p:spPr>
          <a:xfrm>
            <a:off x="2304897" y="5651412"/>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CTM &amp; BERTopic memiliki keterbatasan berbeda: performa, komputasi, dan interpretabilitas</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2" name="TextBox 42"/>
          <p:cNvSpPr txBox="1"/>
          <p:nvPr/>
        </p:nvSpPr>
        <p:spPr>
          <a:xfrm>
            <a:off x="2247747" y="7670647"/>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Belum ada perbandingan komprehensif kedua metode pada korpus teks religius bahasa Indonesia</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3" name="TextBox 43"/>
          <p:cNvSpPr txBox="1"/>
          <p:nvPr/>
        </p:nvSpPr>
        <p:spPr>
          <a:xfrm>
            <a:off x="9540947" y="2682847"/>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Rumusan Masalah</a:t>
            </a:r>
          </a:p>
        </p:txBody>
      </p:sp>
      <p:sp>
        <p:nvSpPr>
          <p:cNvPr id="44" name="TextBox 44"/>
          <p:cNvSpPr txBox="1"/>
          <p:nvPr/>
        </p:nvSpPr>
        <p:spPr>
          <a:xfrm>
            <a:off x="10893148" y="3709006"/>
            <a:ext cx="6830081" cy="1005660"/>
          </a:xfrm>
          <a:prstGeom prst="rect">
            <a:avLst/>
          </a:prstGeom>
        </p:spPr>
        <p:txBody>
          <a:bodyPr lIns="0" tIns="0" rIns="0" bIns="0" rtlCol="0" anchor="t">
            <a:spAutoFit/>
          </a:bodyPr>
          <a:lstStyle/>
          <a:p>
            <a:pPr algn="just">
              <a:lnSpc>
                <a:spcPts val="2940"/>
              </a:lnSpc>
            </a:pPr>
            <a:r>
              <a:rPr lang="en-US" sz="2100" b="1" dirty="0" err="1">
                <a:solidFill>
                  <a:srgbClr val="FFFFFF"/>
                </a:solidFill>
                <a:latin typeface="Canva Sans Bold"/>
                <a:ea typeface="Canva Sans Bold"/>
                <a:cs typeface="Canva Sans Bold"/>
                <a:sym typeface="Canva Sans Bold"/>
              </a:rPr>
              <a:t>Bagaimana</a:t>
            </a:r>
            <a:r>
              <a:rPr lang="en-US" sz="2100" b="1" dirty="0">
                <a:solidFill>
                  <a:srgbClr val="FFFFFF"/>
                </a:solidFill>
                <a:latin typeface="Canva Sans Bold"/>
                <a:ea typeface="Canva Sans Bold"/>
                <a:cs typeface="Canva Sans Bold"/>
                <a:sym typeface="Canva Sans Bold"/>
              </a:rPr>
              <a:t> model CTM &amp; </a:t>
            </a:r>
            <a:r>
              <a:rPr lang="en-US" sz="2100" b="1" dirty="0" err="1">
                <a:solidFill>
                  <a:srgbClr val="FFFFFF"/>
                </a:solidFill>
                <a:latin typeface="Canva Sans Bold"/>
                <a:ea typeface="Canva Sans Bold"/>
                <a:cs typeface="Canva Sans Bold"/>
                <a:sym typeface="Canva Sans Bold"/>
              </a:rPr>
              <a:t>BERTopic</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dalam</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pembentukan</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topik</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terjemahan</a:t>
            </a:r>
            <a:r>
              <a:rPr lang="en-US" sz="2100" b="1" dirty="0">
                <a:solidFill>
                  <a:srgbClr val="FFFFFF"/>
                </a:solidFill>
                <a:latin typeface="Canva Sans Bold"/>
                <a:ea typeface="Canva Sans Bold"/>
                <a:cs typeface="Canva Sans Bold"/>
                <a:sym typeface="Canva Sans Bold"/>
              </a:rPr>
              <a:t> Al-Qur'an?</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
        <p:nvSpPr>
          <p:cNvPr id="45" name="TextBox 45"/>
          <p:cNvSpPr txBox="1"/>
          <p:nvPr/>
        </p:nvSpPr>
        <p:spPr>
          <a:xfrm>
            <a:off x="10835998" y="5122195"/>
            <a:ext cx="6830081" cy="984248"/>
          </a:xfrm>
          <a:prstGeom prst="rect">
            <a:avLst/>
          </a:prstGeom>
        </p:spPr>
        <p:txBody>
          <a:bodyPr lIns="0" tIns="0" rIns="0" bIns="0" rtlCol="0" anchor="t">
            <a:spAutoFit/>
          </a:bodyPr>
          <a:lstStyle/>
          <a:p>
            <a:pPr algn="just">
              <a:lnSpc>
                <a:spcPts val="2940"/>
              </a:lnSpc>
            </a:pPr>
            <a:r>
              <a:rPr lang="en-US" sz="2100" b="1">
                <a:solidFill>
                  <a:srgbClr val="FFFFFF"/>
                </a:solidFill>
                <a:latin typeface="Canva Sans Bold"/>
                <a:ea typeface="Canva Sans Bold"/>
                <a:cs typeface="Canva Sans Bold"/>
                <a:sym typeface="Canva Sans Bold"/>
              </a:rPr>
              <a:t>Bagaimana mengukur kualitas topik berdasarkan metrik koherensi (C_V, UMass, NPMI)?</a:t>
            </a:r>
          </a:p>
          <a:p>
            <a:pPr algn="just">
              <a:lnSpc>
                <a:spcPts val="1960"/>
              </a:lnSpc>
            </a:pPr>
            <a:endParaRPr lang="en-US" sz="2100" b="1">
              <a:solidFill>
                <a:srgbClr val="FFFFFF"/>
              </a:solidFill>
              <a:latin typeface="Canva Sans Bold"/>
              <a:ea typeface="Canva Sans Bold"/>
              <a:cs typeface="Canva Sans Bold"/>
              <a:sym typeface="Canva Sans Bold"/>
            </a:endParaRPr>
          </a:p>
        </p:txBody>
      </p:sp>
      <p:sp>
        <p:nvSpPr>
          <p:cNvPr id="46" name="TextBox 46"/>
          <p:cNvSpPr txBox="1"/>
          <p:nvPr/>
        </p:nvSpPr>
        <p:spPr>
          <a:xfrm>
            <a:off x="10835998" y="6418049"/>
            <a:ext cx="6830081" cy="1005660"/>
          </a:xfrm>
          <a:prstGeom prst="rect">
            <a:avLst/>
          </a:prstGeom>
        </p:spPr>
        <p:txBody>
          <a:bodyPr lIns="0" tIns="0" rIns="0" bIns="0" rtlCol="0" anchor="t">
            <a:spAutoFit/>
          </a:bodyPr>
          <a:lstStyle/>
          <a:p>
            <a:pPr>
              <a:lnSpc>
                <a:spcPts val="2940"/>
              </a:lnSpc>
            </a:pPr>
            <a:r>
              <a:rPr lang="en-US" sz="2100" b="1" dirty="0" err="1">
                <a:solidFill>
                  <a:srgbClr val="FFFFFF"/>
                </a:solidFill>
                <a:latin typeface="Canva Sans Bold"/>
                <a:ea typeface="Canva Sans Bold"/>
                <a:cs typeface="Canva Sans Bold"/>
                <a:sym typeface="Canva Sans Bold"/>
              </a:rPr>
              <a:t>Bagaimana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menginterpretasikan</a:t>
            </a:r>
            <a:r>
              <a:rPr lang="en-US" sz="2100" b="1" dirty="0">
                <a:solidFill>
                  <a:srgbClr val="FFFFFF"/>
                </a:solidFill>
                <a:latin typeface="Canva Sans Bold"/>
                <a:ea typeface="Canva Sans Bold"/>
                <a:cs typeface="Canva Sans Bold"/>
                <a:sym typeface="Canva Sans Bold"/>
              </a:rPr>
              <a:t> dan </a:t>
            </a:r>
            <a:r>
              <a:rPr lang="en-US" sz="2100" b="1" dirty="0" err="1">
                <a:solidFill>
                  <a:srgbClr val="FFFFFF"/>
                </a:solidFill>
                <a:latin typeface="Canva Sans Bold"/>
                <a:ea typeface="Canva Sans Bold"/>
                <a:cs typeface="Canva Sans Bold"/>
                <a:sym typeface="Canva Sans Bold"/>
              </a:rPr>
              <a:t>mengelompokkan</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tema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dari</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kedua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metode</a:t>
            </a:r>
            <a:r>
              <a:rPr lang="en-US" sz="2100" b="1" dirty="0">
                <a:solidFill>
                  <a:srgbClr val="FFFFFF"/>
                </a:solidFill>
                <a:latin typeface="Canva Sans Bold"/>
                <a:ea typeface="Canva Sans Bold"/>
                <a:cs typeface="Canva Sans Bold"/>
                <a:sym typeface="Canva Sans Bold"/>
              </a:rPr>
              <a:t>?</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
        <p:nvSpPr>
          <p:cNvPr id="47" name="TextBox 47"/>
          <p:cNvSpPr txBox="1"/>
          <p:nvPr/>
        </p:nvSpPr>
        <p:spPr>
          <a:xfrm>
            <a:off x="9970938" y="3481186"/>
            <a:ext cx="447829"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1</a:t>
            </a:r>
          </a:p>
        </p:txBody>
      </p:sp>
      <p:sp>
        <p:nvSpPr>
          <p:cNvPr id="48" name="TextBox 48"/>
          <p:cNvSpPr txBox="1"/>
          <p:nvPr/>
        </p:nvSpPr>
        <p:spPr>
          <a:xfrm>
            <a:off x="9945217" y="4833980"/>
            <a:ext cx="473550"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2</a:t>
            </a:r>
          </a:p>
        </p:txBody>
      </p:sp>
      <p:sp>
        <p:nvSpPr>
          <p:cNvPr id="49" name="TextBox 49"/>
          <p:cNvSpPr txBox="1"/>
          <p:nvPr/>
        </p:nvSpPr>
        <p:spPr>
          <a:xfrm>
            <a:off x="9956649" y="6246599"/>
            <a:ext cx="502129"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3</a:t>
            </a:r>
          </a:p>
        </p:txBody>
      </p:sp>
      <p:grpSp>
        <p:nvGrpSpPr>
          <p:cNvPr id="50" name="Group 50"/>
          <p:cNvGrpSpPr/>
          <p:nvPr/>
        </p:nvGrpSpPr>
        <p:grpSpPr>
          <a:xfrm>
            <a:off x="9553792" y="7662087"/>
            <a:ext cx="8337260" cy="1167838"/>
            <a:chOff x="0" y="0"/>
            <a:chExt cx="2195822" cy="307579"/>
          </a:xfrm>
        </p:grpSpPr>
        <p:sp>
          <p:nvSpPr>
            <p:cNvPr id="51" name="Freeform 51"/>
            <p:cNvSpPr/>
            <p:nvPr/>
          </p:nvSpPr>
          <p:spPr>
            <a:xfrm>
              <a:off x="0" y="0"/>
              <a:ext cx="2195822" cy="307579"/>
            </a:xfrm>
            <a:custGeom>
              <a:avLst/>
              <a:gdLst/>
              <a:ahLst/>
              <a:cxnLst/>
              <a:rect l="l" t="t" r="r" b="b"/>
              <a:pathLst>
                <a:path w="2195822" h="307579">
                  <a:moveTo>
                    <a:pt x="0" y="0"/>
                  </a:moveTo>
                  <a:lnTo>
                    <a:pt x="2195822" y="0"/>
                  </a:lnTo>
                  <a:lnTo>
                    <a:pt x="2195822" y="307579"/>
                  </a:lnTo>
                  <a:lnTo>
                    <a:pt x="0" y="307579"/>
                  </a:lnTo>
                  <a:close/>
                </a:path>
              </a:pathLst>
            </a:custGeom>
            <a:solidFill>
              <a:srgbClr val="1800AD"/>
            </a:solidFill>
            <a:ln w="38100" cap="sq">
              <a:solidFill>
                <a:srgbClr val="CF4119"/>
              </a:solidFill>
              <a:prstDash val="solid"/>
              <a:miter/>
            </a:ln>
          </p:spPr>
        </p:sp>
        <p:sp>
          <p:nvSpPr>
            <p:cNvPr id="52" name="TextBox 52"/>
            <p:cNvSpPr txBox="1"/>
            <p:nvPr/>
          </p:nvSpPr>
          <p:spPr>
            <a:xfrm>
              <a:off x="0" y="-47625"/>
              <a:ext cx="2195822" cy="355204"/>
            </a:xfrm>
            <a:prstGeom prst="rect">
              <a:avLst/>
            </a:prstGeom>
          </p:spPr>
          <p:txBody>
            <a:bodyPr lIns="50800" tIns="50800" rIns="50800" bIns="50800" rtlCol="0" anchor="ctr"/>
            <a:lstStyle/>
            <a:p>
              <a:pPr algn="ctr">
                <a:lnSpc>
                  <a:spcPts val="2659"/>
                </a:lnSpc>
              </a:pPr>
              <a:endParaRPr/>
            </a:p>
          </p:txBody>
        </p:sp>
      </p:grpSp>
      <p:sp>
        <p:nvSpPr>
          <p:cNvPr id="53" name="TextBox 53"/>
          <p:cNvSpPr txBox="1"/>
          <p:nvPr/>
        </p:nvSpPr>
        <p:spPr>
          <a:xfrm>
            <a:off x="9903344" y="7584922"/>
            <a:ext cx="528717" cy="1138591"/>
          </a:xfrm>
          <a:prstGeom prst="rect">
            <a:avLst/>
          </a:prstGeom>
        </p:spPr>
        <p:txBody>
          <a:bodyPr lIns="0" tIns="0" rIns="0" bIns="0" rtlCol="0" anchor="t">
            <a:spAutoFit/>
          </a:bodyPr>
          <a:lstStyle/>
          <a:p>
            <a:pPr algn="ctr">
              <a:lnSpc>
                <a:spcPts val="9368"/>
              </a:lnSpc>
            </a:pPr>
            <a:r>
              <a:rPr lang="en-US" sz="6691" b="1">
                <a:solidFill>
                  <a:srgbClr val="FF751F"/>
                </a:solidFill>
                <a:latin typeface="Canva Sans Bold"/>
                <a:ea typeface="Canva Sans Bold"/>
                <a:cs typeface="Canva Sans Bold"/>
                <a:sym typeface="Canva Sans Bold"/>
              </a:rPr>
              <a:t>4</a:t>
            </a:r>
          </a:p>
        </p:txBody>
      </p:sp>
      <p:sp>
        <p:nvSpPr>
          <p:cNvPr id="54" name="TextBox 54"/>
          <p:cNvSpPr txBox="1"/>
          <p:nvPr/>
        </p:nvSpPr>
        <p:spPr>
          <a:xfrm>
            <a:off x="10835998" y="7766862"/>
            <a:ext cx="6830081" cy="984248"/>
          </a:xfrm>
          <a:prstGeom prst="rect">
            <a:avLst/>
          </a:prstGeom>
        </p:spPr>
        <p:txBody>
          <a:bodyPr lIns="0" tIns="0" rIns="0" bIns="0" rtlCol="0" anchor="t">
            <a:spAutoFit/>
          </a:bodyPr>
          <a:lstStyle/>
          <a:p>
            <a:pPr algn="just">
              <a:lnSpc>
                <a:spcPts val="2940"/>
              </a:lnSpc>
            </a:pPr>
            <a:r>
              <a:rPr lang="en-US" sz="2100" b="1" dirty="0">
                <a:solidFill>
                  <a:srgbClr val="FFFFFF"/>
                </a:solidFill>
                <a:latin typeface="Canva Sans Bold"/>
                <a:ea typeface="Canva Sans Bold"/>
                <a:cs typeface="Canva Sans Bold"/>
                <a:sym typeface="Canva Sans Bold"/>
              </a:rPr>
              <a:t>Apa </a:t>
            </a:r>
            <a:r>
              <a:rPr lang="en-US" sz="2100" b="1" dirty="0" err="1">
                <a:solidFill>
                  <a:srgbClr val="FFFFFF"/>
                </a:solidFill>
                <a:latin typeface="Canva Sans Bold"/>
                <a:ea typeface="Canva Sans Bold"/>
                <a:cs typeface="Canva Sans Bold"/>
                <a:sym typeface="Canva Sans Bold"/>
              </a:rPr>
              <a:t>tema</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utama</a:t>
            </a:r>
            <a:r>
              <a:rPr lang="en-US" sz="2100" b="1" dirty="0">
                <a:solidFill>
                  <a:srgbClr val="FFFFFF"/>
                </a:solidFill>
                <a:latin typeface="Canva Sans Bold"/>
                <a:ea typeface="Canva Sans Bold"/>
                <a:cs typeface="Canva Sans Bold"/>
                <a:sym typeface="Canva Sans Bold"/>
              </a:rPr>
              <a:t> yang </a:t>
            </a:r>
            <a:r>
              <a:rPr lang="en-US" sz="2100" b="1" dirty="0" err="1">
                <a:solidFill>
                  <a:srgbClr val="FFFFFF"/>
                </a:solidFill>
                <a:latin typeface="Canva Sans Bold"/>
                <a:ea typeface="Canva Sans Bold"/>
                <a:cs typeface="Canva Sans Bold"/>
                <a:sym typeface="Canva Sans Bold"/>
              </a:rPr>
              <a:t>terbentuk</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dari</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hasil</a:t>
            </a:r>
            <a:r>
              <a:rPr lang="en-US" sz="2100" b="1" dirty="0">
                <a:solidFill>
                  <a:srgbClr val="FFFFFF"/>
                </a:solidFill>
                <a:latin typeface="Canva Sans Bold"/>
                <a:ea typeface="Canva Sans Bold"/>
                <a:cs typeface="Canva Sans Bold"/>
                <a:sym typeface="Canva Sans Bold"/>
              </a:rPr>
              <a:t> </a:t>
            </a:r>
            <a:r>
              <a:rPr lang="en-US" sz="2100" b="1" dirty="0" err="1">
                <a:solidFill>
                  <a:srgbClr val="FFFFFF"/>
                </a:solidFill>
                <a:latin typeface="Canva Sans Bold"/>
                <a:ea typeface="Canva Sans Bold"/>
                <a:cs typeface="Canva Sans Bold"/>
                <a:sym typeface="Canva Sans Bold"/>
              </a:rPr>
              <a:t>kedua</a:t>
            </a:r>
            <a:r>
              <a:rPr lang="en-US" sz="2100" b="1" dirty="0">
                <a:solidFill>
                  <a:srgbClr val="FFFFFF"/>
                </a:solidFill>
                <a:latin typeface="Canva Sans Bold"/>
                <a:ea typeface="Canva Sans Bold"/>
                <a:cs typeface="Canva Sans Bold"/>
                <a:sym typeface="Canva Sans Bold"/>
              </a:rPr>
              <a:t> model pada </a:t>
            </a:r>
            <a:r>
              <a:rPr lang="en-US" sz="2100" b="1" dirty="0" err="1">
                <a:solidFill>
                  <a:srgbClr val="FFFFFF"/>
                </a:solidFill>
                <a:latin typeface="Canva Sans Bold"/>
                <a:ea typeface="Canva Sans Bold"/>
                <a:cs typeface="Canva Sans Bold"/>
                <a:sym typeface="Canva Sans Bold"/>
              </a:rPr>
              <a:t>terjemahan</a:t>
            </a:r>
            <a:r>
              <a:rPr lang="en-US" sz="2100" b="1" dirty="0">
                <a:solidFill>
                  <a:srgbClr val="FFFFFF"/>
                </a:solidFill>
                <a:latin typeface="Canva Sans Bold"/>
                <a:ea typeface="Canva Sans Bold"/>
                <a:cs typeface="Canva Sans Bold"/>
                <a:sym typeface="Canva Sans Bold"/>
              </a:rPr>
              <a:t> Al-Qur'an?</a:t>
            </a:r>
          </a:p>
          <a:p>
            <a:pPr algn="just">
              <a:lnSpc>
                <a:spcPts val="1960"/>
              </a:lnSpc>
            </a:pPr>
            <a:endParaRPr lang="en-US" sz="2100" b="1" dirty="0">
              <a:solidFill>
                <a:srgbClr val="FFFFFF"/>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53792" y="5920701"/>
            <a:ext cx="8337260" cy="1077000"/>
            <a:chOff x="0" y="0"/>
            <a:chExt cx="2195822" cy="283654"/>
          </a:xfrm>
        </p:grpSpPr>
        <p:sp>
          <p:nvSpPr>
            <p:cNvPr id="3" name="Freeform 3"/>
            <p:cNvSpPr/>
            <p:nvPr/>
          </p:nvSpPr>
          <p:spPr>
            <a:xfrm>
              <a:off x="0" y="0"/>
              <a:ext cx="2195822" cy="283654"/>
            </a:xfrm>
            <a:custGeom>
              <a:avLst/>
              <a:gdLst/>
              <a:ahLst/>
              <a:cxnLst/>
              <a:rect l="l" t="t" r="r" b="b"/>
              <a:pathLst>
                <a:path w="2195822" h="283654">
                  <a:moveTo>
                    <a:pt x="0" y="0"/>
                  </a:moveTo>
                  <a:lnTo>
                    <a:pt x="2195822" y="0"/>
                  </a:lnTo>
                  <a:lnTo>
                    <a:pt x="2195822" y="283654"/>
                  </a:lnTo>
                  <a:lnTo>
                    <a:pt x="0" y="283654"/>
                  </a:lnTo>
                  <a:close/>
                </a:path>
              </a:pathLst>
            </a:custGeom>
            <a:solidFill>
              <a:srgbClr val="081F8C"/>
            </a:solidFill>
            <a:ln w="38100" cap="sq">
              <a:solidFill>
                <a:srgbClr val="FF751F"/>
              </a:solidFill>
              <a:prstDash val="solid"/>
              <a:miter/>
            </a:ln>
          </p:spPr>
        </p:sp>
        <p:sp>
          <p:nvSpPr>
            <p:cNvPr id="4" name="TextBox 4"/>
            <p:cNvSpPr txBox="1"/>
            <p:nvPr/>
          </p:nvSpPr>
          <p:spPr>
            <a:xfrm>
              <a:off x="0" y="-47625"/>
              <a:ext cx="2195822" cy="33127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033559" flipV="1">
            <a:off x="3743699" y="-3979526"/>
            <a:ext cx="9848495" cy="18613993"/>
          </a:xfrm>
          <a:custGeom>
            <a:avLst/>
            <a:gdLst/>
            <a:ahLst/>
            <a:cxnLst/>
            <a:rect l="l" t="t" r="r" b="b"/>
            <a:pathLst>
              <a:path w="9848495" h="18613993">
                <a:moveTo>
                  <a:pt x="0" y="18613993"/>
                </a:moveTo>
                <a:lnTo>
                  <a:pt x="9848495" y="18613993"/>
                </a:lnTo>
                <a:lnTo>
                  <a:pt x="9848495" y="0"/>
                </a:lnTo>
                <a:lnTo>
                  <a:pt x="0" y="0"/>
                </a:lnTo>
                <a:lnTo>
                  <a:pt x="0" y="18613993"/>
                </a:lnTo>
                <a:close/>
              </a:path>
            </a:pathLst>
          </a:custGeom>
          <a:blipFill>
            <a:blip>
              <a:alphaModFix amt="7999"/>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0" y="9708804"/>
            <a:ext cx="9144000" cy="560871"/>
            <a:chOff x="0" y="0"/>
            <a:chExt cx="2408296" cy="147719"/>
          </a:xfrm>
        </p:grpSpPr>
        <p:sp>
          <p:nvSpPr>
            <p:cNvPr id="7" name="Freeform 7"/>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8" name="TextBox 8"/>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287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9144000" y="2479309"/>
            <a:ext cx="8115300" cy="137058"/>
            <a:chOff x="0" y="0"/>
            <a:chExt cx="2137363" cy="36097"/>
          </a:xfrm>
        </p:grpSpPr>
        <p:sp>
          <p:nvSpPr>
            <p:cNvPr id="13" name="Freeform 13"/>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4" name="TextBox 14"/>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6" name="Group 16"/>
          <p:cNvGrpSpPr/>
          <p:nvPr/>
        </p:nvGrpSpPr>
        <p:grpSpPr>
          <a:xfrm>
            <a:off x="9144000" y="9708804"/>
            <a:ext cx="9144000" cy="560871"/>
            <a:chOff x="0" y="0"/>
            <a:chExt cx="2408296" cy="147719"/>
          </a:xfrm>
        </p:grpSpPr>
        <p:sp>
          <p:nvSpPr>
            <p:cNvPr id="17" name="Freeform 17"/>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8" name="TextBox 18"/>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65541" y="3421446"/>
            <a:ext cx="8337260" cy="1670231"/>
            <a:chOff x="0" y="0"/>
            <a:chExt cx="2195822" cy="439896"/>
          </a:xfrm>
        </p:grpSpPr>
        <p:sp>
          <p:nvSpPr>
            <p:cNvPr id="20" name="Freeform 20"/>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751F"/>
              </a:solidFill>
              <a:prstDash val="solid"/>
              <a:miter/>
            </a:ln>
          </p:spPr>
        </p:sp>
        <p:sp>
          <p:nvSpPr>
            <p:cNvPr id="21" name="TextBox 21"/>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962221" y="5327470"/>
            <a:ext cx="8337260" cy="1670231"/>
            <a:chOff x="0" y="0"/>
            <a:chExt cx="2195822" cy="439896"/>
          </a:xfrm>
        </p:grpSpPr>
        <p:sp>
          <p:nvSpPr>
            <p:cNvPr id="23" name="Freeform 23"/>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FFDE59"/>
              </a:solidFill>
              <a:prstDash val="solid"/>
              <a:miter/>
            </a:ln>
          </p:spPr>
        </p:sp>
        <p:sp>
          <p:nvSpPr>
            <p:cNvPr id="24" name="TextBox 24"/>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28700" y="7292919"/>
            <a:ext cx="8337260" cy="1670231"/>
            <a:chOff x="0" y="0"/>
            <a:chExt cx="2195822" cy="439896"/>
          </a:xfrm>
        </p:grpSpPr>
        <p:sp>
          <p:nvSpPr>
            <p:cNvPr id="26" name="Freeform 26"/>
            <p:cNvSpPr/>
            <p:nvPr/>
          </p:nvSpPr>
          <p:spPr>
            <a:xfrm>
              <a:off x="0" y="0"/>
              <a:ext cx="2195822" cy="439896"/>
            </a:xfrm>
            <a:custGeom>
              <a:avLst/>
              <a:gdLst/>
              <a:ahLst/>
              <a:cxnLst/>
              <a:rect l="l" t="t" r="r" b="b"/>
              <a:pathLst>
                <a:path w="2195822" h="439896">
                  <a:moveTo>
                    <a:pt x="0" y="0"/>
                  </a:moveTo>
                  <a:lnTo>
                    <a:pt x="2195822" y="0"/>
                  </a:lnTo>
                  <a:lnTo>
                    <a:pt x="2195822" y="439896"/>
                  </a:lnTo>
                  <a:lnTo>
                    <a:pt x="0" y="439896"/>
                  </a:lnTo>
                  <a:close/>
                </a:path>
              </a:pathLst>
            </a:custGeom>
            <a:solidFill>
              <a:srgbClr val="1800AD"/>
            </a:solidFill>
            <a:ln w="38100" cap="sq">
              <a:solidFill>
                <a:srgbClr val="00BF63"/>
              </a:solidFill>
              <a:prstDash val="solid"/>
              <a:miter/>
            </a:ln>
          </p:spPr>
        </p:sp>
        <p:sp>
          <p:nvSpPr>
            <p:cNvPr id="27" name="TextBox 27"/>
            <p:cNvSpPr txBox="1"/>
            <p:nvPr/>
          </p:nvSpPr>
          <p:spPr>
            <a:xfrm>
              <a:off x="0" y="-47625"/>
              <a:ext cx="2195822" cy="487521"/>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9553792" y="3394681"/>
            <a:ext cx="8337260" cy="601099"/>
            <a:chOff x="0" y="0"/>
            <a:chExt cx="2195822" cy="158314"/>
          </a:xfrm>
        </p:grpSpPr>
        <p:sp>
          <p:nvSpPr>
            <p:cNvPr id="29" name="Freeform 29"/>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30" name="TextBox 30"/>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31" name="Freeform 31"/>
          <p:cNvSpPr/>
          <p:nvPr/>
        </p:nvSpPr>
        <p:spPr>
          <a:xfrm>
            <a:off x="1123797" y="3669196"/>
            <a:ext cx="905799" cy="905799"/>
          </a:xfrm>
          <a:custGeom>
            <a:avLst/>
            <a:gdLst/>
            <a:ahLst/>
            <a:cxnLst/>
            <a:rect l="l" t="t" r="r" b="b"/>
            <a:pathLst>
              <a:path w="905799" h="905799">
                <a:moveTo>
                  <a:pt x="0" y="0"/>
                </a:moveTo>
                <a:lnTo>
                  <a:pt x="905800" y="0"/>
                </a:lnTo>
                <a:lnTo>
                  <a:pt x="905800" y="905799"/>
                </a:lnTo>
                <a:lnTo>
                  <a:pt x="0" y="90579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Freeform 32"/>
          <p:cNvSpPr/>
          <p:nvPr/>
        </p:nvSpPr>
        <p:spPr>
          <a:xfrm>
            <a:off x="1117793" y="5440219"/>
            <a:ext cx="911804" cy="1107047"/>
          </a:xfrm>
          <a:custGeom>
            <a:avLst/>
            <a:gdLst/>
            <a:ahLst/>
            <a:cxnLst/>
            <a:rect l="l" t="t" r="r" b="b"/>
            <a:pathLst>
              <a:path w="911804" h="1107047">
                <a:moveTo>
                  <a:pt x="0" y="0"/>
                </a:moveTo>
                <a:lnTo>
                  <a:pt x="911804" y="0"/>
                </a:lnTo>
                <a:lnTo>
                  <a:pt x="911804" y="1107046"/>
                </a:lnTo>
                <a:lnTo>
                  <a:pt x="0" y="110704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3" name="Freeform 33"/>
          <p:cNvSpPr/>
          <p:nvPr/>
        </p:nvSpPr>
        <p:spPr>
          <a:xfrm>
            <a:off x="1238008" y="7538262"/>
            <a:ext cx="803616" cy="803616"/>
          </a:xfrm>
          <a:custGeom>
            <a:avLst/>
            <a:gdLst/>
            <a:ahLst/>
            <a:cxnLst/>
            <a:rect l="l" t="t" r="r" b="b"/>
            <a:pathLst>
              <a:path w="803616" h="803616">
                <a:moveTo>
                  <a:pt x="0" y="0"/>
                </a:moveTo>
                <a:lnTo>
                  <a:pt x="803616" y="0"/>
                </a:lnTo>
                <a:lnTo>
                  <a:pt x="803616" y="803616"/>
                </a:lnTo>
                <a:lnTo>
                  <a:pt x="0" y="80361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4" name="TextBox 34"/>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03 | Tujuan dan Manfaat</a:t>
            </a:r>
          </a:p>
        </p:txBody>
      </p:sp>
      <p:sp>
        <p:nvSpPr>
          <p:cNvPr id="35" name="TextBox 35"/>
          <p:cNvSpPr txBox="1"/>
          <p:nvPr/>
        </p:nvSpPr>
        <p:spPr>
          <a:xfrm>
            <a:off x="1028700" y="1129213"/>
            <a:ext cx="10183956" cy="2158452"/>
          </a:xfrm>
          <a:prstGeom prst="rect">
            <a:avLst/>
          </a:prstGeom>
        </p:spPr>
        <p:txBody>
          <a:bodyPr lIns="0" tIns="0" rIns="0" bIns="0" rtlCol="0" anchor="t">
            <a:spAutoFit/>
          </a:bodyPr>
          <a:lstStyle/>
          <a:p>
            <a:pPr algn="l">
              <a:lnSpc>
                <a:spcPts val="8605"/>
              </a:lnSpc>
            </a:pPr>
            <a:r>
              <a:rPr lang="en-US" sz="6146" b="1">
                <a:solidFill>
                  <a:srgbClr val="1800AD"/>
                </a:solidFill>
                <a:latin typeface="Archivo Narrow Bold"/>
                <a:ea typeface="Archivo Narrow Bold"/>
                <a:cs typeface="Archivo Narrow Bold"/>
                <a:sym typeface="Archivo Narrow Bold"/>
              </a:rPr>
              <a:t>Research Goals &amp; Kontribusi</a:t>
            </a:r>
          </a:p>
          <a:p>
            <a:pPr algn="l">
              <a:lnSpc>
                <a:spcPts val="8605"/>
              </a:lnSpc>
              <a:spcBef>
                <a:spcPct val="0"/>
              </a:spcBef>
            </a:pPr>
            <a:endParaRPr lang="en-US" sz="6146" b="1">
              <a:solidFill>
                <a:srgbClr val="1800AD"/>
              </a:solidFill>
              <a:latin typeface="Archivo Narrow Bold"/>
              <a:ea typeface="Archivo Narrow Bold"/>
              <a:cs typeface="Archivo Narrow Bold"/>
              <a:sym typeface="Archivo Narrow Bold"/>
            </a:endParaRPr>
          </a:p>
        </p:txBody>
      </p:sp>
      <p:sp>
        <p:nvSpPr>
          <p:cNvPr id="36" name="TextBox 36"/>
          <p:cNvSpPr txBox="1"/>
          <p:nvPr/>
        </p:nvSpPr>
        <p:spPr>
          <a:xfrm>
            <a:off x="952696" y="2709612"/>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Tujuan Penelitian</a:t>
            </a:r>
          </a:p>
        </p:txBody>
      </p:sp>
      <p:sp>
        <p:nvSpPr>
          <p:cNvPr id="37" name="TextBox 37"/>
          <p:cNvSpPr txBox="1"/>
          <p:nvPr/>
        </p:nvSpPr>
        <p:spPr>
          <a:xfrm>
            <a:off x="2276322" y="3519286"/>
            <a:ext cx="6830081" cy="790573"/>
          </a:xfrm>
          <a:prstGeom prst="rect">
            <a:avLst/>
          </a:prstGeom>
        </p:spPr>
        <p:txBody>
          <a:bodyPr lIns="0" tIns="0" rIns="0" bIns="0" rtlCol="0" anchor="t">
            <a:spAutoFit/>
          </a:bodyPr>
          <a:lstStyle/>
          <a:p>
            <a:pPr algn="just">
              <a:lnSpc>
                <a:spcPts val="3640"/>
              </a:lnSpc>
            </a:pPr>
            <a:r>
              <a:rPr lang="en-US" sz="2600" b="1">
                <a:solidFill>
                  <a:srgbClr val="FFFFFF"/>
                </a:solidFill>
                <a:latin typeface="Canva Sans Bold"/>
                <a:ea typeface="Canva Sans Bold"/>
                <a:cs typeface="Canva Sans Bold"/>
                <a:sym typeface="Canva Sans Bold"/>
              </a:rPr>
              <a:t>Analisis Efektivitas</a:t>
            </a:r>
          </a:p>
          <a:p>
            <a:pPr algn="just">
              <a:lnSpc>
                <a:spcPts val="2660"/>
              </a:lnSpc>
            </a:pPr>
            <a:endParaRPr lang="en-US" sz="2600" b="1">
              <a:solidFill>
                <a:srgbClr val="FFFFFF"/>
              </a:solidFill>
              <a:latin typeface="Canva Sans Bold"/>
              <a:ea typeface="Canva Sans Bold"/>
              <a:cs typeface="Canva Sans Bold"/>
              <a:sym typeface="Canva Sans Bold"/>
            </a:endParaRPr>
          </a:p>
        </p:txBody>
      </p:sp>
      <p:sp>
        <p:nvSpPr>
          <p:cNvPr id="38" name="TextBox 38"/>
          <p:cNvSpPr txBox="1"/>
          <p:nvPr/>
        </p:nvSpPr>
        <p:spPr>
          <a:xfrm>
            <a:off x="9540947" y="2682847"/>
            <a:ext cx="7715250" cy="521334"/>
          </a:xfrm>
          <a:prstGeom prst="rect">
            <a:avLst/>
          </a:prstGeom>
        </p:spPr>
        <p:txBody>
          <a:bodyPr lIns="0" tIns="0" rIns="0" bIns="0" rtlCol="0" anchor="t">
            <a:spAutoFit/>
          </a:bodyPr>
          <a:lstStyle/>
          <a:p>
            <a:pPr algn="l">
              <a:lnSpc>
                <a:spcPts val="4340"/>
              </a:lnSpc>
            </a:pPr>
            <a:r>
              <a:rPr lang="en-US" sz="3100" b="1">
                <a:solidFill>
                  <a:srgbClr val="FF751F"/>
                </a:solidFill>
                <a:latin typeface="Canva Sans Bold"/>
                <a:ea typeface="Canva Sans Bold"/>
                <a:cs typeface="Canva Sans Bold"/>
                <a:sym typeface="Canva Sans Bold"/>
              </a:rPr>
              <a:t>Manfaat Peneletian</a:t>
            </a:r>
          </a:p>
        </p:txBody>
      </p:sp>
      <p:sp>
        <p:nvSpPr>
          <p:cNvPr id="39" name="TextBox 39"/>
          <p:cNvSpPr txBox="1"/>
          <p:nvPr/>
        </p:nvSpPr>
        <p:spPr>
          <a:xfrm>
            <a:off x="2276322" y="4093521"/>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Menganalisis efektivitas CTM &amp; BERTopic dalam pemodelan topik teks terjemahan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0" name="TextBox 40"/>
          <p:cNvSpPr txBox="1"/>
          <p:nvPr/>
        </p:nvSpPr>
        <p:spPr>
          <a:xfrm>
            <a:off x="2336288" y="5408038"/>
            <a:ext cx="6830081" cy="448308"/>
          </a:xfrm>
          <a:prstGeom prst="rect">
            <a:avLst/>
          </a:prstGeom>
        </p:spPr>
        <p:txBody>
          <a:bodyPr lIns="0" tIns="0" rIns="0" bIns="0" rtlCol="0" anchor="t">
            <a:spAutoFit/>
          </a:bodyPr>
          <a:lstStyle/>
          <a:p>
            <a:pPr algn="just">
              <a:lnSpc>
                <a:spcPts val="3640"/>
              </a:lnSpc>
            </a:pPr>
            <a:r>
              <a:rPr lang="en-US" sz="2600" b="1" dirty="0" err="1">
                <a:solidFill>
                  <a:srgbClr val="FFFFFF"/>
                </a:solidFill>
                <a:latin typeface="Canva Sans Bold"/>
                <a:ea typeface="Canva Sans Bold"/>
                <a:cs typeface="Canva Sans Bold"/>
                <a:sym typeface="Canva Sans Bold"/>
              </a:rPr>
              <a:t>Identifikasi</a:t>
            </a:r>
            <a:r>
              <a:rPr lang="en-US" sz="2600" b="1" dirty="0">
                <a:solidFill>
                  <a:srgbClr val="FFFFFF"/>
                </a:solidFill>
                <a:latin typeface="Canva Sans Bold"/>
                <a:ea typeface="Canva Sans Bold"/>
                <a:cs typeface="Canva Sans Bold"/>
                <a:sym typeface="Canva Sans Bold"/>
              </a:rPr>
              <a:t> </a:t>
            </a:r>
            <a:r>
              <a:rPr lang="en-US" sz="2600" b="1" dirty="0" err="1">
                <a:solidFill>
                  <a:srgbClr val="FFFFFF"/>
                </a:solidFill>
                <a:latin typeface="Canva Sans Bold"/>
                <a:ea typeface="Canva Sans Bold"/>
                <a:cs typeface="Canva Sans Bold"/>
                <a:sym typeface="Canva Sans Bold"/>
              </a:rPr>
              <a:t>Kemampuan</a:t>
            </a:r>
            <a:endParaRPr lang="en-US" sz="2600" b="1" dirty="0">
              <a:solidFill>
                <a:srgbClr val="FFFFFF"/>
              </a:solidFill>
              <a:latin typeface="Canva Sans Bold"/>
              <a:ea typeface="Canva Sans Bold"/>
              <a:cs typeface="Canva Sans Bold"/>
              <a:sym typeface="Canva Sans Bold"/>
            </a:endParaRPr>
          </a:p>
        </p:txBody>
      </p:sp>
      <p:sp>
        <p:nvSpPr>
          <p:cNvPr id="41" name="TextBox 41"/>
          <p:cNvSpPr txBox="1"/>
          <p:nvPr/>
        </p:nvSpPr>
        <p:spPr>
          <a:xfrm>
            <a:off x="2336288" y="5961186"/>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Mengidentifikasi kemampuan kedua metode dalam menangkap konteks &amp; tema utama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2" name="TextBox 42"/>
          <p:cNvSpPr txBox="1"/>
          <p:nvPr/>
        </p:nvSpPr>
        <p:spPr>
          <a:xfrm>
            <a:off x="2336288" y="7386009"/>
            <a:ext cx="6830081" cy="448308"/>
          </a:xfrm>
          <a:prstGeom prst="rect">
            <a:avLst/>
          </a:prstGeom>
        </p:spPr>
        <p:txBody>
          <a:bodyPr lIns="0" tIns="0" rIns="0" bIns="0" rtlCol="0" anchor="t">
            <a:spAutoFit/>
          </a:bodyPr>
          <a:lstStyle/>
          <a:p>
            <a:pPr algn="just">
              <a:lnSpc>
                <a:spcPts val="3640"/>
              </a:lnSpc>
            </a:pPr>
            <a:r>
              <a:rPr lang="en-US" sz="2600" b="1">
                <a:solidFill>
                  <a:srgbClr val="FFFFFF"/>
                </a:solidFill>
                <a:latin typeface="Canva Sans Bold"/>
                <a:ea typeface="Canva Sans Bold"/>
                <a:cs typeface="Canva Sans Bold"/>
                <a:sym typeface="Canva Sans Bold"/>
              </a:rPr>
              <a:t>Metode Evaluasi</a:t>
            </a:r>
          </a:p>
        </p:txBody>
      </p:sp>
      <p:sp>
        <p:nvSpPr>
          <p:cNvPr id="43" name="TextBox 43"/>
          <p:cNvSpPr txBox="1"/>
          <p:nvPr/>
        </p:nvSpPr>
        <p:spPr>
          <a:xfrm>
            <a:off x="2336288" y="7931669"/>
            <a:ext cx="6720162" cy="791844"/>
          </a:xfrm>
          <a:prstGeom prst="rect">
            <a:avLst/>
          </a:prstGeom>
        </p:spPr>
        <p:txBody>
          <a:bodyPr lIns="0" tIns="0" rIns="0" bIns="0" rtlCol="0" anchor="t">
            <a:spAutoFit/>
          </a:bodyPr>
          <a:lstStyle/>
          <a:p>
            <a:pPr algn="l">
              <a:lnSpc>
                <a:spcPts val="2380"/>
              </a:lnSpc>
            </a:pPr>
            <a:r>
              <a:rPr lang="en-US" sz="1700">
                <a:solidFill>
                  <a:srgbClr val="5CE1E6"/>
                </a:solidFill>
                <a:latin typeface="Canva Sans"/>
                <a:ea typeface="Canva Sans"/>
                <a:cs typeface="Canva Sans"/>
                <a:sym typeface="Canva Sans"/>
              </a:rPr>
              <a:t>Merumuskan metode evaluasi yang tepat untuk menilai kualitas topik dalam konteks kajian Al-Qur'an</a:t>
            </a:r>
          </a:p>
          <a:p>
            <a:pPr algn="l">
              <a:lnSpc>
                <a:spcPts val="1680"/>
              </a:lnSpc>
            </a:pPr>
            <a:endParaRPr lang="en-US" sz="1700">
              <a:solidFill>
                <a:srgbClr val="5CE1E6"/>
              </a:solidFill>
              <a:latin typeface="Canva Sans"/>
              <a:ea typeface="Canva Sans"/>
              <a:cs typeface="Canva Sans"/>
              <a:sym typeface="Canva Sans"/>
            </a:endParaRPr>
          </a:p>
        </p:txBody>
      </p:sp>
      <p:sp>
        <p:nvSpPr>
          <p:cNvPr id="44" name="TextBox 44"/>
          <p:cNvSpPr txBox="1"/>
          <p:nvPr/>
        </p:nvSpPr>
        <p:spPr>
          <a:xfrm>
            <a:off x="10048345" y="3442501"/>
            <a:ext cx="7836286"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Akademik</a:t>
            </a:r>
          </a:p>
        </p:txBody>
      </p:sp>
      <p:grpSp>
        <p:nvGrpSpPr>
          <p:cNvPr id="45" name="Group 45"/>
          <p:cNvGrpSpPr/>
          <p:nvPr/>
        </p:nvGrpSpPr>
        <p:grpSpPr>
          <a:xfrm>
            <a:off x="9553792" y="3973896"/>
            <a:ext cx="8337260" cy="1107776"/>
            <a:chOff x="0" y="0"/>
            <a:chExt cx="2195822" cy="291760"/>
          </a:xfrm>
        </p:grpSpPr>
        <p:sp>
          <p:nvSpPr>
            <p:cNvPr id="46" name="Freeform 46"/>
            <p:cNvSpPr/>
            <p:nvPr/>
          </p:nvSpPr>
          <p:spPr>
            <a:xfrm>
              <a:off x="0" y="0"/>
              <a:ext cx="2195822" cy="291760"/>
            </a:xfrm>
            <a:custGeom>
              <a:avLst/>
              <a:gdLst/>
              <a:ahLst/>
              <a:cxnLst/>
              <a:rect l="l" t="t" r="r" b="b"/>
              <a:pathLst>
                <a:path w="2195822" h="291760">
                  <a:moveTo>
                    <a:pt x="0" y="0"/>
                  </a:moveTo>
                  <a:lnTo>
                    <a:pt x="2195822" y="0"/>
                  </a:lnTo>
                  <a:lnTo>
                    <a:pt x="2195822" y="291760"/>
                  </a:lnTo>
                  <a:lnTo>
                    <a:pt x="0" y="291760"/>
                  </a:lnTo>
                  <a:close/>
                </a:path>
              </a:pathLst>
            </a:custGeom>
            <a:solidFill>
              <a:srgbClr val="081F8C"/>
            </a:solidFill>
            <a:ln w="38100" cap="sq">
              <a:solidFill>
                <a:srgbClr val="FF751F"/>
              </a:solidFill>
              <a:prstDash val="solid"/>
              <a:miter/>
            </a:ln>
          </p:spPr>
        </p:sp>
        <p:sp>
          <p:nvSpPr>
            <p:cNvPr id="47" name="TextBox 47"/>
            <p:cNvSpPr txBox="1"/>
            <p:nvPr/>
          </p:nvSpPr>
          <p:spPr>
            <a:xfrm>
              <a:off x="0" y="-47625"/>
              <a:ext cx="2195822" cy="339385"/>
            </a:xfrm>
            <a:prstGeom prst="rect">
              <a:avLst/>
            </a:prstGeom>
          </p:spPr>
          <p:txBody>
            <a:bodyPr lIns="50800" tIns="50800" rIns="50800" bIns="50800" rtlCol="0" anchor="ctr"/>
            <a:lstStyle/>
            <a:p>
              <a:pPr algn="ctr">
                <a:lnSpc>
                  <a:spcPts val="2659"/>
                </a:lnSpc>
              </a:pPr>
              <a:endParaRPr/>
            </a:p>
          </p:txBody>
        </p:sp>
      </p:grpSp>
      <p:sp>
        <p:nvSpPr>
          <p:cNvPr id="48" name="TextBox 48"/>
          <p:cNvSpPr txBox="1"/>
          <p:nvPr/>
        </p:nvSpPr>
        <p:spPr>
          <a:xfrm>
            <a:off x="9829801" y="4141637"/>
            <a:ext cx="5650988" cy="421269"/>
          </a:xfrm>
          <a:prstGeom prst="rect">
            <a:avLst/>
          </a:prstGeom>
        </p:spPr>
        <p:txBody>
          <a:bodyPr wrap="square" lIns="0" tIns="0" rIns="0" bIns="0" rtlCol="0" anchor="t">
            <a:spAutoFit/>
          </a:bodyPr>
          <a:lstStyle/>
          <a:p>
            <a:pPr marL="171450" indent="-171450">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Memberikan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Kontribusi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Ilmiah</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dalam</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pengembangan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metode</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pemodelan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topik</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konteks</a:t>
            </a:r>
            <a:r>
              <a:rPr lang="en-US" sz="1200" dirty="0">
                <a:solidFill>
                  <a:srgbClr val="FFFFFF"/>
                </a:solidFill>
                <a:latin typeface="Canva Sans"/>
                <a:ea typeface="Canva Sans"/>
                <a:cs typeface="Canva Sans"/>
                <a:sym typeface="Canva Sans"/>
              </a:rPr>
              <a:t> pada </a:t>
            </a:r>
            <a:r>
              <a:rPr lang="en-US" sz="1200" dirty="0" err="1">
                <a:solidFill>
                  <a:srgbClr val="FFFFFF"/>
                </a:solidFill>
                <a:latin typeface="Canva Sans"/>
                <a:ea typeface="Canva Sans"/>
                <a:cs typeface="Canva Sans"/>
                <a:sym typeface="Canva Sans"/>
              </a:rPr>
              <a:t>teks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terjemah</a:t>
            </a:r>
            <a:r>
              <a:rPr lang="en-US" sz="1200" dirty="0">
                <a:solidFill>
                  <a:srgbClr val="FFFFFF"/>
                </a:solidFill>
                <a:latin typeface="Canva Sans"/>
                <a:ea typeface="Canva Sans"/>
                <a:cs typeface="Canva Sans"/>
                <a:sym typeface="Canva Sans"/>
              </a:rPr>
              <a:t> Al-Qur’an</a:t>
            </a:r>
          </a:p>
        </p:txBody>
      </p:sp>
      <p:grpSp>
        <p:nvGrpSpPr>
          <p:cNvPr id="50" name="Group 50"/>
          <p:cNvGrpSpPr/>
          <p:nvPr/>
        </p:nvGrpSpPr>
        <p:grpSpPr>
          <a:xfrm>
            <a:off x="9553792" y="5338847"/>
            <a:ext cx="8337260" cy="601099"/>
            <a:chOff x="0" y="0"/>
            <a:chExt cx="2195822" cy="158314"/>
          </a:xfrm>
        </p:grpSpPr>
        <p:sp>
          <p:nvSpPr>
            <p:cNvPr id="51" name="Freeform 51"/>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52" name="TextBox 52"/>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53" name="TextBox 53"/>
          <p:cNvSpPr txBox="1"/>
          <p:nvPr/>
        </p:nvSpPr>
        <p:spPr>
          <a:xfrm>
            <a:off x="10048345" y="5386668"/>
            <a:ext cx="7836286"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Praktis</a:t>
            </a:r>
          </a:p>
        </p:txBody>
      </p:sp>
      <p:sp>
        <p:nvSpPr>
          <p:cNvPr id="54" name="TextBox 54"/>
          <p:cNvSpPr txBox="1"/>
          <p:nvPr/>
        </p:nvSpPr>
        <p:spPr>
          <a:xfrm>
            <a:off x="10048345" y="6082821"/>
            <a:ext cx="5326225"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Mempermudah</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pemahaman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struktur</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tematik</a:t>
            </a:r>
            <a:r>
              <a:rPr lang="en-US" sz="1200" dirty="0">
                <a:solidFill>
                  <a:srgbClr val="FFFFFF"/>
                </a:solidFill>
                <a:latin typeface="Canva Sans"/>
                <a:ea typeface="Canva Sans"/>
                <a:cs typeface="Canva Sans"/>
                <a:sym typeface="Canva Sans"/>
              </a:rPr>
              <a:t> Al-Qur'an </a:t>
            </a:r>
            <a:r>
              <a:rPr lang="en-US" sz="1200" dirty="0" err="1">
                <a:solidFill>
                  <a:srgbClr val="FFFFFF"/>
                </a:solidFill>
                <a:latin typeface="Canva Sans"/>
                <a:ea typeface="Canva Sans"/>
                <a:cs typeface="Canva Sans"/>
                <a:sym typeface="Canva Sans"/>
              </a:rPr>
              <a:t>secara</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sistematis</a:t>
            </a:r>
            <a:endParaRPr lang="en-US" sz="1200" dirty="0">
              <a:solidFill>
                <a:srgbClr val="FFFFFF"/>
              </a:solidFill>
              <a:latin typeface="Canva Sans"/>
              <a:ea typeface="Canva Sans"/>
              <a:cs typeface="Canva Sans"/>
              <a:sym typeface="Canva Sans"/>
            </a:endParaRPr>
          </a:p>
          <a:p>
            <a:pPr algn="ctr">
              <a:lnSpc>
                <a:spcPts val="980"/>
              </a:lnSpc>
            </a:pPr>
            <a:endParaRPr lang="en-US" sz="1200" dirty="0">
              <a:solidFill>
                <a:srgbClr val="FFFFFF"/>
              </a:solidFill>
              <a:latin typeface="Canva Sans"/>
              <a:ea typeface="Canva Sans"/>
              <a:cs typeface="Canva Sans"/>
              <a:sym typeface="Canva Sans"/>
            </a:endParaRPr>
          </a:p>
        </p:txBody>
      </p:sp>
      <p:sp>
        <p:nvSpPr>
          <p:cNvPr id="55" name="TextBox 55"/>
          <p:cNvSpPr txBox="1"/>
          <p:nvPr/>
        </p:nvSpPr>
        <p:spPr>
          <a:xfrm>
            <a:off x="10048345" y="6518035"/>
            <a:ext cx="5283438"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Mendukung</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kajian</a:t>
            </a:r>
            <a:r>
              <a:rPr lang="en-US" sz="1200" dirty="0">
                <a:solidFill>
                  <a:srgbClr val="FFFFFF"/>
                </a:solidFill>
                <a:latin typeface="Canva Sans"/>
                <a:ea typeface="Canva Sans"/>
                <a:cs typeface="Canva Sans"/>
                <a:sym typeface="Canva Sans"/>
              </a:rPr>
              <a:t> tafsir </a:t>
            </a:r>
            <a:r>
              <a:rPr lang="en-US" sz="1200" dirty="0" err="1">
                <a:solidFill>
                  <a:srgbClr val="FFFFFF"/>
                </a:solidFill>
                <a:latin typeface="Canva Sans"/>
                <a:ea typeface="Canva Sans"/>
                <a:cs typeface="Canva Sans"/>
                <a:sym typeface="Canva Sans"/>
              </a:rPr>
              <a:t>dengan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pendekatan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teknologi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informasi</a:t>
            </a:r>
            <a:r>
              <a:rPr lang="en-US" sz="1200" dirty="0">
                <a:solidFill>
                  <a:srgbClr val="FFFFFF"/>
                </a:solidFill>
                <a:latin typeface="Canva Sans"/>
                <a:ea typeface="Canva Sans"/>
                <a:cs typeface="Canva Sans"/>
                <a:sym typeface="Canva Sans"/>
              </a:rPr>
              <a:t> modern</a:t>
            </a:r>
          </a:p>
          <a:p>
            <a:pPr algn="ctr">
              <a:lnSpc>
                <a:spcPts val="980"/>
              </a:lnSpc>
            </a:pPr>
            <a:endParaRPr lang="en-US" sz="1200" dirty="0">
              <a:solidFill>
                <a:srgbClr val="FFFFFF"/>
              </a:solidFill>
              <a:latin typeface="Canva Sans"/>
              <a:ea typeface="Canva Sans"/>
              <a:cs typeface="Canva Sans"/>
              <a:sym typeface="Canva Sans"/>
            </a:endParaRPr>
          </a:p>
        </p:txBody>
      </p:sp>
      <p:grpSp>
        <p:nvGrpSpPr>
          <p:cNvPr id="56" name="Group 56"/>
          <p:cNvGrpSpPr/>
          <p:nvPr/>
        </p:nvGrpSpPr>
        <p:grpSpPr>
          <a:xfrm>
            <a:off x="9598076" y="7862229"/>
            <a:ext cx="8337260" cy="1091016"/>
            <a:chOff x="0" y="0"/>
            <a:chExt cx="2195822" cy="287346"/>
          </a:xfrm>
        </p:grpSpPr>
        <p:sp>
          <p:nvSpPr>
            <p:cNvPr id="57" name="Freeform 57"/>
            <p:cNvSpPr/>
            <p:nvPr/>
          </p:nvSpPr>
          <p:spPr>
            <a:xfrm>
              <a:off x="0" y="0"/>
              <a:ext cx="2195822" cy="287346"/>
            </a:xfrm>
            <a:custGeom>
              <a:avLst/>
              <a:gdLst/>
              <a:ahLst/>
              <a:cxnLst/>
              <a:rect l="l" t="t" r="r" b="b"/>
              <a:pathLst>
                <a:path w="2195822" h="287346">
                  <a:moveTo>
                    <a:pt x="0" y="0"/>
                  </a:moveTo>
                  <a:lnTo>
                    <a:pt x="2195822" y="0"/>
                  </a:lnTo>
                  <a:lnTo>
                    <a:pt x="2195822" y="287346"/>
                  </a:lnTo>
                  <a:lnTo>
                    <a:pt x="0" y="287346"/>
                  </a:lnTo>
                  <a:close/>
                </a:path>
              </a:pathLst>
            </a:custGeom>
            <a:solidFill>
              <a:srgbClr val="081F8C"/>
            </a:solidFill>
            <a:ln w="38100" cap="sq">
              <a:solidFill>
                <a:srgbClr val="FF751F"/>
              </a:solidFill>
              <a:prstDash val="solid"/>
              <a:miter/>
            </a:ln>
          </p:spPr>
        </p:sp>
        <p:sp>
          <p:nvSpPr>
            <p:cNvPr id="58" name="TextBox 58"/>
            <p:cNvSpPr txBox="1"/>
            <p:nvPr/>
          </p:nvSpPr>
          <p:spPr>
            <a:xfrm>
              <a:off x="0" y="-47625"/>
              <a:ext cx="2195822" cy="334971"/>
            </a:xfrm>
            <a:prstGeom prst="rect">
              <a:avLst/>
            </a:prstGeom>
          </p:spPr>
          <p:txBody>
            <a:bodyPr lIns="50800" tIns="50800" rIns="50800" bIns="50800" rtlCol="0" anchor="ctr"/>
            <a:lstStyle/>
            <a:p>
              <a:pPr algn="ctr">
                <a:lnSpc>
                  <a:spcPts val="2659"/>
                </a:lnSpc>
              </a:pPr>
              <a:endParaRPr/>
            </a:p>
          </p:txBody>
        </p:sp>
      </p:grpSp>
      <p:grpSp>
        <p:nvGrpSpPr>
          <p:cNvPr id="59" name="Group 59"/>
          <p:cNvGrpSpPr/>
          <p:nvPr/>
        </p:nvGrpSpPr>
        <p:grpSpPr>
          <a:xfrm>
            <a:off x="9598076" y="7283014"/>
            <a:ext cx="8337260" cy="601099"/>
            <a:chOff x="0" y="0"/>
            <a:chExt cx="2195822" cy="158314"/>
          </a:xfrm>
        </p:grpSpPr>
        <p:sp>
          <p:nvSpPr>
            <p:cNvPr id="60" name="Freeform 60"/>
            <p:cNvSpPr/>
            <p:nvPr/>
          </p:nvSpPr>
          <p:spPr>
            <a:xfrm>
              <a:off x="0" y="0"/>
              <a:ext cx="2195822" cy="158314"/>
            </a:xfrm>
            <a:custGeom>
              <a:avLst/>
              <a:gdLst/>
              <a:ahLst/>
              <a:cxnLst/>
              <a:rect l="l" t="t" r="r" b="b"/>
              <a:pathLst>
                <a:path w="2195822" h="158314">
                  <a:moveTo>
                    <a:pt x="0" y="0"/>
                  </a:moveTo>
                  <a:lnTo>
                    <a:pt x="2195822" y="0"/>
                  </a:lnTo>
                  <a:lnTo>
                    <a:pt x="2195822" y="158314"/>
                  </a:lnTo>
                  <a:lnTo>
                    <a:pt x="0" y="158314"/>
                  </a:lnTo>
                  <a:close/>
                </a:path>
              </a:pathLst>
            </a:custGeom>
            <a:solidFill>
              <a:srgbClr val="1800AD"/>
            </a:solidFill>
            <a:ln w="38100" cap="sq">
              <a:solidFill>
                <a:srgbClr val="FF751F"/>
              </a:solidFill>
              <a:prstDash val="solid"/>
              <a:miter/>
            </a:ln>
          </p:spPr>
        </p:sp>
        <p:sp>
          <p:nvSpPr>
            <p:cNvPr id="61" name="TextBox 61"/>
            <p:cNvSpPr txBox="1"/>
            <p:nvPr/>
          </p:nvSpPr>
          <p:spPr>
            <a:xfrm>
              <a:off x="0" y="-47625"/>
              <a:ext cx="2195822" cy="205939"/>
            </a:xfrm>
            <a:prstGeom prst="rect">
              <a:avLst/>
            </a:prstGeom>
          </p:spPr>
          <p:txBody>
            <a:bodyPr lIns="50800" tIns="50800" rIns="50800" bIns="50800" rtlCol="0" anchor="ctr"/>
            <a:lstStyle/>
            <a:p>
              <a:pPr algn="ctr">
                <a:lnSpc>
                  <a:spcPts val="2659"/>
                </a:lnSpc>
              </a:pPr>
              <a:endParaRPr/>
            </a:p>
          </p:txBody>
        </p:sp>
      </p:grpSp>
      <p:sp>
        <p:nvSpPr>
          <p:cNvPr id="62" name="TextBox 62"/>
          <p:cNvSpPr txBox="1"/>
          <p:nvPr/>
        </p:nvSpPr>
        <p:spPr>
          <a:xfrm>
            <a:off x="10048345" y="7330834"/>
            <a:ext cx="7880570" cy="448308"/>
          </a:xfrm>
          <a:prstGeom prst="rect">
            <a:avLst/>
          </a:prstGeom>
        </p:spPr>
        <p:txBody>
          <a:bodyPr lIns="0" tIns="0" rIns="0" bIns="0" rtlCol="0" anchor="t">
            <a:spAutoFit/>
          </a:bodyPr>
          <a:lstStyle/>
          <a:p>
            <a:pPr algn="l">
              <a:lnSpc>
                <a:spcPts val="3640"/>
              </a:lnSpc>
            </a:pPr>
            <a:r>
              <a:rPr lang="en-US" sz="2600" b="1">
                <a:solidFill>
                  <a:srgbClr val="FFFFFF"/>
                </a:solidFill>
                <a:latin typeface="Canva Sans Bold"/>
                <a:ea typeface="Canva Sans Bold"/>
                <a:cs typeface="Canva Sans Bold"/>
                <a:sym typeface="Canva Sans Bold"/>
              </a:rPr>
              <a:t>Teknologi</a:t>
            </a:r>
          </a:p>
        </p:txBody>
      </p:sp>
      <p:sp>
        <p:nvSpPr>
          <p:cNvPr id="63" name="TextBox 63"/>
          <p:cNvSpPr txBox="1"/>
          <p:nvPr/>
        </p:nvSpPr>
        <p:spPr>
          <a:xfrm>
            <a:off x="10048345" y="7998413"/>
            <a:ext cx="4636727"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Referensi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pengembangan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aplikasi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pencarian</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ayat</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a:t>
            </a:r>
            <a:endParaRPr lang="en-US" sz="1200" dirty="0">
              <a:solidFill>
                <a:srgbClr val="FFFFFF"/>
              </a:solidFill>
              <a:latin typeface="Canva Sans"/>
              <a:ea typeface="Canva Sans"/>
              <a:cs typeface="Canva Sans"/>
              <a:sym typeface="Canva Sans"/>
            </a:endParaRPr>
          </a:p>
          <a:p>
            <a:pPr algn="ctr">
              <a:lnSpc>
                <a:spcPts val="980"/>
              </a:lnSpc>
            </a:pPr>
            <a:endParaRPr lang="en-US" sz="1200" dirty="0">
              <a:solidFill>
                <a:srgbClr val="FFFFFF"/>
              </a:solidFill>
              <a:latin typeface="Canva Sans"/>
              <a:ea typeface="Canva Sans"/>
              <a:cs typeface="Canva Sans"/>
              <a:sym typeface="Canva Sans"/>
            </a:endParaRPr>
          </a:p>
        </p:txBody>
      </p:sp>
      <p:sp>
        <p:nvSpPr>
          <p:cNvPr id="64" name="TextBox 64"/>
          <p:cNvSpPr txBox="1"/>
          <p:nvPr/>
        </p:nvSpPr>
        <p:spPr>
          <a:xfrm>
            <a:off x="10048345" y="8386002"/>
            <a:ext cx="3509635" cy="571951"/>
          </a:xfrm>
          <a:prstGeom prst="rect">
            <a:avLst/>
          </a:prstGeom>
        </p:spPr>
        <p:txBody>
          <a:bodyPr lIns="0" tIns="0" rIns="0" bIns="0" rtlCol="0" anchor="t">
            <a:spAutoFit/>
          </a:bodyPr>
          <a:lstStyle/>
          <a:p>
            <a:pPr marL="171450" indent="-171450" algn="ctr">
              <a:lnSpc>
                <a:spcPts val="1680"/>
              </a:lnSpc>
              <a:buFont typeface="Wingdings" panose="05000000000000000000" pitchFamily="2" charset="2"/>
              <a:buChar char="ü"/>
            </a:pPr>
            <a:r>
              <a:rPr lang="en-US" sz="1200" dirty="0">
                <a:solidFill>
                  <a:srgbClr val="FFFFFF"/>
                </a:solidFill>
                <a:latin typeface="Canva Sans"/>
                <a:ea typeface="Canva Sans"/>
                <a:cs typeface="Canva Sans"/>
                <a:sym typeface="Canva Sans"/>
              </a:rPr>
              <a:t>Dasar </a:t>
            </a:r>
            <a:r>
              <a:rPr lang="en-US" sz="1200" dirty="0" err="1">
                <a:solidFill>
                  <a:srgbClr val="FFFFFF"/>
                </a:solidFill>
                <a:latin typeface="Canva Sans"/>
                <a:ea typeface="Canva Sans"/>
                <a:cs typeface="Canva Sans"/>
                <a:sym typeface="Canva Sans"/>
              </a:rPr>
              <a:t>sistem</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analisis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tematik</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teks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religius</a:t>
            </a:r>
            <a:r>
              <a:rPr lang="en-US" sz="1200" dirty="0">
                <a:solidFill>
                  <a:srgbClr val="FFFFFF"/>
                </a:solidFill>
                <a:latin typeface="Canva Sans"/>
                <a:ea typeface="Canva Sans"/>
                <a:cs typeface="Canva Sans"/>
                <a:sym typeface="Canva Sans"/>
              </a:rPr>
              <a:t> digital</a:t>
            </a:r>
          </a:p>
          <a:p>
            <a:pPr algn="ctr">
              <a:lnSpc>
                <a:spcPts val="980"/>
              </a:lnSpc>
            </a:pPr>
            <a:endParaRPr lang="en-US" sz="1200" dirty="0">
              <a:solidFill>
                <a:srgbClr val="FFFFFF"/>
              </a:solidFill>
              <a:latin typeface="Canva Sans"/>
              <a:ea typeface="Canva Sans"/>
              <a:cs typeface="Canva Sans"/>
              <a:sym typeface="Canva Sans"/>
            </a:endParaRPr>
          </a:p>
        </p:txBody>
      </p:sp>
      <p:sp>
        <p:nvSpPr>
          <p:cNvPr id="66" name="TextBox 48">
            <a:extLst>
              <a:ext uri="{FF2B5EF4-FFF2-40B4-BE49-F238E27FC236}">
                <a16:creationId xmlns:a16="http://schemas.microsoft.com/office/drawing/2014/main" id="{7646DA5A-91E2-C885-E96E-818A451CBCFB}"/>
              </a:ext>
            </a:extLst>
          </p:cNvPr>
          <p:cNvSpPr txBox="1"/>
          <p:nvPr/>
        </p:nvSpPr>
        <p:spPr>
          <a:xfrm>
            <a:off x="9791701" y="4582518"/>
            <a:ext cx="5650988" cy="203261"/>
          </a:xfrm>
          <a:prstGeom prst="rect">
            <a:avLst/>
          </a:prstGeom>
        </p:spPr>
        <p:txBody>
          <a:bodyPr wrap="square" lIns="0" tIns="0" rIns="0" bIns="0" rtlCol="0" anchor="t">
            <a:spAutoFit/>
          </a:bodyPr>
          <a:lstStyle/>
          <a:p>
            <a:pPr marL="171450" indent="-171450">
              <a:lnSpc>
                <a:spcPts val="1680"/>
              </a:lnSpc>
              <a:buFont typeface="Wingdings" panose="05000000000000000000" pitchFamily="2" charset="2"/>
              <a:buChar char="ü"/>
            </a:pPr>
            <a:r>
              <a:rPr lang="en-US" sz="1200" dirty="0" err="1">
                <a:solidFill>
                  <a:srgbClr val="FFFFFF"/>
                </a:solidFill>
                <a:latin typeface="Canva Sans"/>
                <a:ea typeface="Canva Sans"/>
                <a:cs typeface="Canva Sans"/>
                <a:sym typeface="Canva Sans"/>
              </a:rPr>
              <a:t>Referensi</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Penelitian</a:t>
            </a:r>
            <a:r>
              <a:rPr lang="en-US" sz="1200" dirty="0">
                <a:solidFill>
                  <a:srgbClr val="FFFFFF"/>
                </a:solidFill>
                <a:latin typeface="Canva Sans"/>
                <a:ea typeface="Canva Sans"/>
                <a:cs typeface="Canva Sans"/>
                <a:sym typeface="Canva Sans"/>
              </a:rPr>
              <a:t> NLP pada </a:t>
            </a:r>
            <a:r>
              <a:rPr lang="en-US" sz="1200" dirty="0" err="1">
                <a:solidFill>
                  <a:srgbClr val="FFFFFF"/>
                </a:solidFill>
                <a:latin typeface="Canva Sans"/>
                <a:ea typeface="Canva Sans"/>
                <a:cs typeface="Canva Sans"/>
                <a:sym typeface="Canva Sans"/>
              </a:rPr>
              <a:t>korpus</a:t>
            </a:r>
            <a:r>
              <a:rPr lang="en-US" sz="1200" dirty="0">
                <a:solidFill>
                  <a:srgbClr val="FFFFFF"/>
                </a:solidFill>
                <a:latin typeface="Canva Sans"/>
                <a:ea typeface="Canva Sans"/>
                <a:cs typeface="Canva Sans"/>
                <a:sym typeface="Canva Sans"/>
              </a:rPr>
              <a:t> </a:t>
            </a:r>
            <a:r>
              <a:rPr lang="en-US" sz="1200" dirty="0" err="1">
                <a:solidFill>
                  <a:srgbClr val="FFFFFF"/>
                </a:solidFill>
                <a:latin typeface="Canva Sans"/>
                <a:ea typeface="Canva Sans"/>
                <a:cs typeface="Canva Sans"/>
                <a:sym typeface="Canva Sans"/>
              </a:rPr>
              <a:t>berbahasa</a:t>
            </a:r>
            <a:r>
              <a:rPr lang="en-US" sz="1200" dirty="0">
                <a:solidFill>
                  <a:srgbClr val="FFFFFF"/>
                </a:solidFill>
                <a:latin typeface="Canva Sans"/>
                <a:ea typeface="Canva Sans"/>
                <a:cs typeface="Canva Sans"/>
                <a:sym typeface="Canva Sans"/>
              </a:rPr>
              <a:t> Indonesia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4800" b="1" dirty="0">
                <a:solidFill>
                  <a:srgbClr val="FF751F"/>
                </a:solidFill>
                <a:latin typeface="Calibri" pitchFamily="34" charset="0"/>
                <a:ea typeface="Calibri" pitchFamily="34" charset="-122"/>
                <a:cs typeface="Calibri" pitchFamily="34" charset="-120"/>
              </a:rPr>
              <a:t>04|  Landasan Teori</a:t>
            </a:r>
            <a:endParaRPr lang="en-US" sz="48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CTM vs </a:t>
            </a:r>
            <a:r>
              <a:rPr lang="en-US" sz="4200" b="1" dirty="0" err="1">
                <a:solidFill>
                  <a:srgbClr val="1800AD"/>
                </a:solidFill>
                <a:latin typeface="Calibri" pitchFamily="34" charset="0"/>
                <a:ea typeface="Calibri" pitchFamily="34" charset="-122"/>
                <a:cs typeface="Calibri" pitchFamily="34" charset="-120"/>
              </a:rPr>
              <a:t>BERTopic</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2948940"/>
            <a:ext cx="8023860" cy="6240780"/>
          </a:xfrm>
          <a:prstGeom prst="roundRect">
            <a:avLst>
              <a:gd name="adj" fmla="val 2198"/>
            </a:avLst>
          </a:prstGeom>
          <a:solidFill>
            <a:srgbClr val="EDF1FB"/>
          </a:solidFill>
          <a:ln/>
        </p:spPr>
      </p:sp>
      <p:sp>
        <p:nvSpPr>
          <p:cNvPr id="12" name="Shape 9"/>
          <p:cNvSpPr/>
          <p:nvPr/>
        </p:nvSpPr>
        <p:spPr>
          <a:xfrm>
            <a:off x="1303020" y="3360420"/>
            <a:ext cx="2331720" cy="548640"/>
          </a:xfrm>
          <a:prstGeom prst="roundRect">
            <a:avLst>
              <a:gd name="adj" fmla="val 20000"/>
            </a:avLst>
          </a:prstGeom>
          <a:solidFill>
            <a:srgbClr val="1800AD"/>
          </a:solidFill>
          <a:ln/>
        </p:spPr>
      </p:sp>
      <p:sp>
        <p:nvSpPr>
          <p:cNvPr id="13" name="Text 10"/>
          <p:cNvSpPr/>
          <p:nvPr/>
        </p:nvSpPr>
        <p:spPr>
          <a:xfrm>
            <a:off x="1303020" y="3360420"/>
            <a:ext cx="2331720" cy="548640"/>
          </a:xfrm>
          <a:prstGeom prst="rect">
            <a:avLst/>
          </a:prstGeom>
          <a:noFill/>
          <a:ln/>
        </p:spPr>
        <p:txBody>
          <a:bodyPr wrap="square" lIns="0" tIns="0" rIns="0" bIns="0" rtlCol="0" anchor="ctr"/>
          <a:lstStyle/>
          <a:p>
            <a:pPr algn="ctr"/>
            <a:r>
              <a:rPr lang="en-US" sz="1950" b="1" dirty="0">
                <a:solidFill>
                  <a:srgbClr val="FFFFFF"/>
                </a:solidFill>
                <a:latin typeface="Calibri" pitchFamily="34" charset="0"/>
                <a:ea typeface="Calibri" pitchFamily="34" charset="-122"/>
                <a:cs typeface="Calibri" pitchFamily="34" charset="-120"/>
              </a:rPr>
              <a:t>CTM</a:t>
            </a:r>
            <a:endParaRPr lang="en-US" sz="1950" dirty="0"/>
          </a:p>
        </p:txBody>
      </p:sp>
      <p:sp>
        <p:nvSpPr>
          <p:cNvPr id="14" name="Text 11"/>
          <p:cNvSpPr/>
          <p:nvPr/>
        </p:nvSpPr>
        <p:spPr>
          <a:xfrm>
            <a:off x="1303020" y="4046220"/>
            <a:ext cx="6995160" cy="480060"/>
          </a:xfrm>
          <a:prstGeom prst="rect">
            <a:avLst/>
          </a:prstGeom>
          <a:noFill/>
          <a:ln/>
        </p:spPr>
        <p:txBody>
          <a:bodyPr wrap="square" lIns="0" tIns="0" rIns="0" bIns="0" rtlCol="0" anchor="ctr"/>
          <a:lstStyle/>
          <a:p>
            <a:r>
              <a:rPr lang="en-US" sz="2100" b="1" dirty="0">
                <a:solidFill>
                  <a:srgbClr val="1800AD"/>
                </a:solidFill>
                <a:latin typeface="Calibri" pitchFamily="34" charset="0"/>
                <a:ea typeface="Calibri" pitchFamily="34" charset="-122"/>
                <a:cs typeface="Calibri" pitchFamily="34" charset="-120"/>
              </a:rPr>
              <a:t>Correlated Topic Model</a:t>
            </a:r>
            <a:endParaRPr lang="en-US" sz="2100" dirty="0"/>
          </a:p>
        </p:txBody>
      </p:sp>
      <p:sp>
        <p:nvSpPr>
          <p:cNvPr id="15" name="Text 12"/>
          <p:cNvSpPr/>
          <p:nvPr/>
        </p:nvSpPr>
        <p:spPr>
          <a:xfrm>
            <a:off x="1303020" y="4663440"/>
            <a:ext cx="6995160" cy="4320540"/>
          </a:xfrm>
          <a:prstGeom prst="rect">
            <a:avLst/>
          </a:prstGeom>
          <a:noFill/>
          <a:ln/>
        </p:spPr>
        <p:txBody>
          <a:bodyPr wrap="square" lIns="0" tIns="0" rIns="0" bIns="0" rtlCol="0" anchor="t"/>
          <a:lstStyle/>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Model PROBABILISTIK yang memodelkan tiap dokumen sebagai CAMPURAN beberapa topik dengan proporsi tertentu.</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Mampu menangkap KORELASI antar topik melalui distribusi logistic-normal (bukan Dirichlet seperti LDA).</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Output berupa peluang kata pada tiap topik (nilai beta).</a:t>
            </a:r>
            <a:endParaRPr lang="en-US" sz="1950" dirty="0"/>
          </a:p>
        </p:txBody>
      </p:sp>
      <p:sp>
        <p:nvSpPr>
          <p:cNvPr id="16" name="Shape 13"/>
          <p:cNvSpPr/>
          <p:nvPr/>
        </p:nvSpPr>
        <p:spPr>
          <a:xfrm>
            <a:off x="9464040" y="2948940"/>
            <a:ext cx="8023860" cy="6240780"/>
          </a:xfrm>
          <a:prstGeom prst="roundRect">
            <a:avLst>
              <a:gd name="adj" fmla="val 2198"/>
            </a:avLst>
          </a:prstGeom>
          <a:solidFill>
            <a:srgbClr val="FFF1E8"/>
          </a:solidFill>
          <a:ln/>
        </p:spPr>
      </p:sp>
      <p:sp>
        <p:nvSpPr>
          <p:cNvPr id="17" name="Shape 14"/>
          <p:cNvSpPr/>
          <p:nvPr/>
        </p:nvSpPr>
        <p:spPr>
          <a:xfrm>
            <a:off x="10012680" y="3360420"/>
            <a:ext cx="3154680" cy="548640"/>
          </a:xfrm>
          <a:prstGeom prst="roundRect">
            <a:avLst>
              <a:gd name="adj" fmla="val 20000"/>
            </a:avLst>
          </a:prstGeom>
          <a:solidFill>
            <a:srgbClr val="FF751F"/>
          </a:solidFill>
          <a:ln/>
        </p:spPr>
      </p:sp>
      <p:sp>
        <p:nvSpPr>
          <p:cNvPr id="18" name="Text 15"/>
          <p:cNvSpPr/>
          <p:nvPr/>
        </p:nvSpPr>
        <p:spPr>
          <a:xfrm>
            <a:off x="10012680" y="3360420"/>
            <a:ext cx="3154680" cy="548640"/>
          </a:xfrm>
          <a:prstGeom prst="rect">
            <a:avLst/>
          </a:prstGeom>
          <a:noFill/>
          <a:ln/>
        </p:spPr>
        <p:txBody>
          <a:bodyPr wrap="square" lIns="0" tIns="0" rIns="0" bIns="0" rtlCol="0" anchor="ctr"/>
          <a:lstStyle/>
          <a:p>
            <a:pPr algn="ctr"/>
            <a:r>
              <a:rPr lang="en-US" sz="1950" b="1" dirty="0">
                <a:solidFill>
                  <a:srgbClr val="FFFFFF"/>
                </a:solidFill>
                <a:latin typeface="Calibri" pitchFamily="34" charset="0"/>
                <a:ea typeface="Calibri" pitchFamily="34" charset="-122"/>
                <a:cs typeface="Calibri" pitchFamily="34" charset="-120"/>
              </a:rPr>
              <a:t>BERTOPIC</a:t>
            </a:r>
            <a:endParaRPr lang="en-US" sz="1950" dirty="0"/>
          </a:p>
        </p:txBody>
      </p:sp>
      <p:sp>
        <p:nvSpPr>
          <p:cNvPr id="19" name="Text 16"/>
          <p:cNvSpPr/>
          <p:nvPr/>
        </p:nvSpPr>
        <p:spPr>
          <a:xfrm>
            <a:off x="10012680" y="4046220"/>
            <a:ext cx="6995160" cy="480060"/>
          </a:xfrm>
          <a:prstGeom prst="rect">
            <a:avLst/>
          </a:prstGeom>
          <a:noFill/>
          <a:ln/>
        </p:spPr>
        <p:txBody>
          <a:bodyPr wrap="square" lIns="0" tIns="0" rIns="0" bIns="0" rtlCol="0" anchor="ctr"/>
          <a:lstStyle/>
          <a:p>
            <a:r>
              <a:rPr lang="en-US" sz="2100" b="1" dirty="0">
                <a:solidFill>
                  <a:srgbClr val="FF751F"/>
                </a:solidFill>
                <a:latin typeface="Calibri" pitchFamily="34" charset="0"/>
                <a:ea typeface="Calibri" pitchFamily="34" charset="-122"/>
                <a:cs typeface="Calibri" pitchFamily="34" charset="-120"/>
              </a:rPr>
              <a:t>Clustering Berbasis Embedding</a:t>
            </a:r>
            <a:endParaRPr lang="en-US" sz="2100" dirty="0"/>
          </a:p>
        </p:txBody>
      </p:sp>
      <p:sp>
        <p:nvSpPr>
          <p:cNvPr id="20" name="Text 17"/>
          <p:cNvSpPr/>
          <p:nvPr/>
        </p:nvSpPr>
        <p:spPr>
          <a:xfrm>
            <a:off x="10012680" y="4663440"/>
            <a:ext cx="6995160" cy="4320540"/>
          </a:xfrm>
          <a:prstGeom prst="rect">
            <a:avLst/>
          </a:prstGeom>
          <a:noFill/>
          <a:ln/>
        </p:spPr>
        <p:txBody>
          <a:bodyPr wrap="square" lIns="0" tIns="0" rIns="0" bIns="0" rtlCol="0" anchor="t"/>
          <a:lstStyle/>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Mengelompokkan dokumen berdasarkan KEMIRIPAN MAKNA kalimat (sentence embedding BERT).</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Menggunakan UMAP untuk reduksi dimensi dan HDBSCAN untuk clustering berbasis densitas.</a:t>
            </a:r>
            <a:endParaRPr lang="en-US" sz="1950" dirty="0"/>
          </a:p>
          <a:p>
            <a:pPr marL="514350" indent="-514350">
              <a:lnSpc>
                <a:spcPct val="115000"/>
              </a:lnSpc>
              <a:spcAft>
                <a:spcPts val="1800"/>
              </a:spcAft>
              <a:buSzPct val="100000"/>
              <a:buChar char="•"/>
            </a:pPr>
            <a:r>
              <a:rPr lang="en-US" sz="1950" dirty="0">
                <a:solidFill>
                  <a:srgbClr val="222222"/>
                </a:solidFill>
                <a:latin typeface="Calibri" pitchFamily="34" charset="0"/>
                <a:ea typeface="Calibri" pitchFamily="34" charset="-122"/>
                <a:cs typeface="Calibri" pitchFamily="34" charset="-120"/>
              </a:rPr>
              <a:t>Tiap klaster diberi kata kunci representatif via c-TF-IDF (skor kekhasan, bukan </a:t>
            </a:r>
            <a:r>
              <a:rPr lang="en-US" sz="1950" dirty="0" err="1">
                <a:solidFill>
                  <a:srgbClr val="222222"/>
                </a:solidFill>
                <a:latin typeface="Calibri" pitchFamily="34" charset="0"/>
                <a:ea typeface="Calibri" pitchFamily="34" charset="-122"/>
                <a:cs typeface="Calibri" pitchFamily="34" charset="-120"/>
              </a:rPr>
              <a:t>probabilitas</a:t>
            </a:r>
            <a:r>
              <a:rPr lang="en-US" sz="1950" dirty="0">
                <a:solidFill>
                  <a:srgbClr val="222222"/>
                </a:solidFill>
                <a:latin typeface="Calibri" pitchFamily="34" charset="0"/>
                <a:ea typeface="Calibri" pitchFamily="34" charset="-122"/>
                <a:cs typeface="Calibri" pitchFamily="34" charset="-120"/>
              </a:rPr>
              <a:t>).</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a:alphaModFix amt="7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4"/>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2726590"/>
            <a:ext cx="1744317" cy="2329748"/>
            <a:chOff x="0" y="-47625"/>
            <a:chExt cx="713513" cy="960830"/>
          </a:xfrm>
        </p:grpSpPr>
        <p:sp>
          <p:nvSpPr>
            <p:cNvPr id="18" name="Freeform 18"/>
            <p:cNvSpPr/>
            <p:nvPr/>
          </p:nvSpPr>
          <p:spPr>
            <a:xfrm>
              <a:off x="103691" y="-5247"/>
              <a:ext cx="559227" cy="563965"/>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FFDE59"/>
              </a:solidFill>
              <a:prstDash val="solid"/>
              <a:round/>
            </a:ln>
          </p:spPr>
          <p:txBody>
            <a:bodyPr/>
            <a:lstStyle/>
            <a:p>
              <a:endParaRPr lang="en-US" dirty="0"/>
            </a:p>
          </p:txBody>
        </p:sp>
        <p:sp>
          <p:nvSpPr>
            <p:cNvPr id="19" name="TextBox 19"/>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20" name="Freeform 20"/>
          <p:cNvSpPr/>
          <p:nvPr/>
        </p:nvSpPr>
        <p:spPr>
          <a:xfrm>
            <a:off x="1683249" y="3177541"/>
            <a:ext cx="537123" cy="535961"/>
          </a:xfrm>
          <a:custGeom>
            <a:avLst/>
            <a:gdLst/>
            <a:ahLst/>
            <a:cxnLst/>
            <a:rect l="l" t="t" r="r" b="b"/>
            <a:pathLst>
              <a:path w="1150367" h="1274077">
                <a:moveTo>
                  <a:pt x="0" y="0"/>
                </a:moveTo>
                <a:lnTo>
                  <a:pt x="1150366" y="0"/>
                </a:lnTo>
                <a:lnTo>
                  <a:pt x="1150366" y="1274078"/>
                </a:lnTo>
                <a:lnTo>
                  <a:pt x="0" y="12740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21" name="TextBox 21"/>
          <p:cNvSpPr txBox="1"/>
          <p:nvPr/>
        </p:nvSpPr>
        <p:spPr>
          <a:xfrm>
            <a:off x="1274283" y="3754449"/>
            <a:ext cx="1356912" cy="369332"/>
          </a:xfrm>
          <a:prstGeom prst="rect">
            <a:avLst/>
          </a:prstGeom>
        </p:spPr>
        <p:txBody>
          <a:bodyPr lIns="0" tIns="0" rIns="0" bIns="0" rtlCol="0" anchor="t">
            <a:spAutoFit/>
          </a:bodyPr>
          <a:lstStyle/>
          <a:p>
            <a:pPr algn="ctr"/>
            <a:r>
              <a:rPr lang="en-US" sz="800" b="1" dirty="0" err="1">
                <a:solidFill>
                  <a:srgbClr val="1800AD"/>
                </a:solidFill>
                <a:latin typeface="Canva Sans Bold"/>
                <a:ea typeface="Canva Sans Bold"/>
                <a:cs typeface="Canva Sans Bold"/>
                <a:sym typeface="Canva Sans Bold"/>
              </a:rPr>
              <a:t>Terjemahan</a:t>
            </a:r>
            <a:r>
              <a:rPr lang="en-US" sz="800" b="1" dirty="0">
                <a:solidFill>
                  <a:srgbClr val="1800AD"/>
                </a:solidFill>
                <a:latin typeface="Canva Sans Bold"/>
                <a:ea typeface="Canva Sans Bold"/>
                <a:cs typeface="Canva Sans Bold"/>
                <a:sym typeface="Canva Sans Bold"/>
              </a:rPr>
              <a:t> Al-Qur’an</a:t>
            </a:r>
          </a:p>
          <a:p>
            <a:pPr algn="ctr"/>
            <a:r>
              <a:rPr lang="en-US" sz="800" b="1" dirty="0">
                <a:solidFill>
                  <a:srgbClr val="1800AD"/>
                </a:solidFill>
                <a:latin typeface="Canva Sans Bold"/>
                <a:ea typeface="Canva Sans Bold"/>
                <a:cs typeface="Canva Sans Bold"/>
                <a:sym typeface="Canva Sans Bold"/>
              </a:rPr>
              <a:t>Bahasa Indonesia</a:t>
            </a:r>
          </a:p>
          <a:p>
            <a:pPr algn="ctr"/>
            <a:r>
              <a:rPr lang="en-US" sz="800" b="1" dirty="0">
                <a:solidFill>
                  <a:srgbClr val="1800AD"/>
                </a:solidFill>
                <a:latin typeface="Canva Sans Bold"/>
                <a:ea typeface="Canva Sans Bold"/>
                <a:cs typeface="Canva Sans Bold"/>
                <a:sym typeface="Canva Sans Bold"/>
              </a:rPr>
              <a:t>(114 Surat)</a:t>
            </a:r>
          </a:p>
        </p:txBody>
      </p:sp>
      <p:sp>
        <p:nvSpPr>
          <p:cNvPr id="22" name="TextBox 22"/>
          <p:cNvSpPr txBox="1"/>
          <p:nvPr/>
        </p:nvSpPr>
        <p:spPr>
          <a:xfrm>
            <a:off x="1279286" y="2881823"/>
            <a:ext cx="1356912" cy="240733"/>
          </a:xfrm>
          <a:prstGeom prst="rect">
            <a:avLst/>
          </a:prstGeom>
        </p:spPr>
        <p:txBody>
          <a:bodyPr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DATASET</a:t>
            </a:r>
          </a:p>
        </p:txBody>
      </p:sp>
      <p:grpSp>
        <p:nvGrpSpPr>
          <p:cNvPr id="23" name="Group 23"/>
          <p:cNvGrpSpPr/>
          <p:nvPr/>
        </p:nvGrpSpPr>
        <p:grpSpPr>
          <a:xfrm>
            <a:off x="3040325" y="2754764"/>
            <a:ext cx="2224058" cy="2354914"/>
            <a:chOff x="-196238" y="-58004"/>
            <a:chExt cx="909751" cy="971209"/>
          </a:xfrm>
        </p:grpSpPr>
        <p:sp>
          <p:nvSpPr>
            <p:cNvPr id="24" name="Freeform 24"/>
            <p:cNvSpPr/>
            <p:nvPr/>
          </p:nvSpPr>
          <p:spPr>
            <a:xfrm>
              <a:off x="-196238" y="-58004"/>
              <a:ext cx="713513" cy="594490"/>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id="25" name="TextBox 25"/>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26" name="Freeform 26"/>
          <p:cNvSpPr/>
          <p:nvPr/>
        </p:nvSpPr>
        <p:spPr>
          <a:xfrm>
            <a:off x="3216951" y="3130234"/>
            <a:ext cx="169321" cy="174274"/>
          </a:xfrm>
          <a:custGeom>
            <a:avLst/>
            <a:gdLst/>
            <a:ahLst/>
            <a:cxnLst/>
            <a:rect l="l" t="t" r="r" b="b"/>
            <a:pathLst>
              <a:path w="240167" h="311737">
                <a:moveTo>
                  <a:pt x="0" y="0"/>
                </a:moveTo>
                <a:lnTo>
                  <a:pt x="240168" y="0"/>
                </a:lnTo>
                <a:lnTo>
                  <a:pt x="240168" y="311737"/>
                </a:lnTo>
                <a:lnTo>
                  <a:pt x="0" y="31173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27" name="Freeform 27"/>
          <p:cNvSpPr/>
          <p:nvPr/>
        </p:nvSpPr>
        <p:spPr>
          <a:xfrm>
            <a:off x="3209246" y="3320818"/>
            <a:ext cx="196405" cy="224423"/>
          </a:xfrm>
          <a:custGeom>
            <a:avLst/>
            <a:gdLst/>
            <a:ahLst/>
            <a:cxnLst/>
            <a:rect l="l" t="t" r="r" b="b"/>
            <a:pathLst>
              <a:path w="278267" h="320581">
                <a:moveTo>
                  <a:pt x="0" y="0"/>
                </a:moveTo>
                <a:lnTo>
                  <a:pt x="278268" y="0"/>
                </a:lnTo>
                <a:lnTo>
                  <a:pt x="278268" y="320581"/>
                </a:lnTo>
                <a:lnTo>
                  <a:pt x="0" y="32058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8" name="Freeform 28"/>
          <p:cNvSpPr/>
          <p:nvPr/>
        </p:nvSpPr>
        <p:spPr>
          <a:xfrm>
            <a:off x="3220044" y="3570439"/>
            <a:ext cx="196405" cy="248011"/>
          </a:xfrm>
          <a:custGeom>
            <a:avLst/>
            <a:gdLst/>
            <a:ahLst/>
            <a:cxnLst/>
            <a:rect l="l" t="t" r="r" b="b"/>
            <a:pathLst>
              <a:path w="278267" h="354275">
                <a:moveTo>
                  <a:pt x="0" y="0"/>
                </a:moveTo>
                <a:lnTo>
                  <a:pt x="278268" y="0"/>
                </a:lnTo>
                <a:lnTo>
                  <a:pt x="278268" y="354275"/>
                </a:lnTo>
                <a:lnTo>
                  <a:pt x="0" y="35427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9" name="Freeform 29"/>
          <p:cNvSpPr/>
          <p:nvPr/>
        </p:nvSpPr>
        <p:spPr>
          <a:xfrm>
            <a:off x="3230972" y="3843649"/>
            <a:ext cx="185477" cy="232486"/>
          </a:xfrm>
          <a:custGeom>
            <a:avLst/>
            <a:gdLst/>
            <a:ahLst/>
            <a:cxnLst/>
            <a:rect l="l" t="t" r="r" b="b"/>
            <a:pathLst>
              <a:path w="278267" h="372377">
                <a:moveTo>
                  <a:pt x="0" y="0"/>
                </a:moveTo>
                <a:lnTo>
                  <a:pt x="278268" y="0"/>
                </a:lnTo>
                <a:lnTo>
                  <a:pt x="278268" y="372377"/>
                </a:lnTo>
                <a:lnTo>
                  <a:pt x="0" y="372377"/>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30" name="TextBox 30"/>
          <p:cNvSpPr txBox="1"/>
          <p:nvPr/>
        </p:nvSpPr>
        <p:spPr>
          <a:xfrm>
            <a:off x="3072547" y="2814154"/>
            <a:ext cx="1679872" cy="263342"/>
          </a:xfrm>
          <a:prstGeom prst="rect">
            <a:avLst/>
          </a:prstGeom>
        </p:spPr>
        <p:txBody>
          <a:bodyPr wrap="square"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PREPROCESSING</a:t>
            </a:r>
          </a:p>
        </p:txBody>
      </p:sp>
      <p:sp>
        <p:nvSpPr>
          <p:cNvPr id="31" name="TextBox 31"/>
          <p:cNvSpPr txBox="1"/>
          <p:nvPr/>
        </p:nvSpPr>
        <p:spPr>
          <a:xfrm>
            <a:off x="3405651" y="3156503"/>
            <a:ext cx="820674" cy="109423"/>
          </a:xfrm>
          <a:prstGeom prst="rect">
            <a:avLst/>
          </a:prstGeom>
        </p:spPr>
        <p:txBody>
          <a:bodyPr lIns="0" tIns="0" rIns="0" bIns="0" rtlCol="0" anchor="t">
            <a:spAutoFit/>
          </a:bodyPr>
          <a:lstStyle/>
          <a:p>
            <a:pPr algn="l">
              <a:lnSpc>
                <a:spcPts val="1070"/>
              </a:lnSpc>
            </a:pPr>
            <a:r>
              <a:rPr lang="en-US" sz="764" b="1" dirty="0">
                <a:solidFill>
                  <a:srgbClr val="1800AD"/>
                </a:solidFill>
                <a:latin typeface="Canva Sans Bold"/>
                <a:ea typeface="Canva Sans Bold"/>
                <a:cs typeface="Canva Sans Bold"/>
                <a:sym typeface="Canva Sans Bold"/>
              </a:rPr>
              <a:t>Case Folding</a:t>
            </a:r>
          </a:p>
        </p:txBody>
      </p:sp>
      <p:sp>
        <p:nvSpPr>
          <p:cNvPr id="32" name="TextBox 32"/>
          <p:cNvSpPr txBox="1"/>
          <p:nvPr/>
        </p:nvSpPr>
        <p:spPr>
          <a:xfrm>
            <a:off x="3420366" y="3332120"/>
            <a:ext cx="952996" cy="109424"/>
          </a:xfrm>
          <a:prstGeom prst="rect">
            <a:avLst/>
          </a:prstGeom>
        </p:spPr>
        <p:txBody>
          <a:bodyPr lIns="0" tIns="0" rIns="0" bIns="0" rtlCol="0" anchor="t">
            <a:spAutoFit/>
          </a:bodyPr>
          <a:lstStyle/>
          <a:p>
            <a:pPr algn="l">
              <a:lnSpc>
                <a:spcPts val="1070"/>
              </a:lnSpc>
            </a:pPr>
            <a:r>
              <a:rPr lang="en-US" sz="764" b="1" dirty="0" err="1">
                <a:solidFill>
                  <a:srgbClr val="1800AD"/>
                </a:solidFill>
                <a:latin typeface="Canva Sans Bold"/>
                <a:ea typeface="Canva Sans Bold"/>
                <a:cs typeface="Canva Sans Bold"/>
                <a:sym typeface="Canva Sans Bold"/>
              </a:rPr>
              <a:t>Tokenezation</a:t>
            </a:r>
            <a:endParaRPr lang="en-US" sz="764" b="1" dirty="0">
              <a:solidFill>
                <a:srgbClr val="1800AD"/>
              </a:solidFill>
              <a:latin typeface="Canva Sans Bold"/>
              <a:ea typeface="Canva Sans Bold"/>
              <a:cs typeface="Canva Sans Bold"/>
              <a:sym typeface="Canva Sans Bold"/>
            </a:endParaRPr>
          </a:p>
        </p:txBody>
      </p:sp>
      <p:sp>
        <p:nvSpPr>
          <p:cNvPr id="33" name="TextBox 33"/>
          <p:cNvSpPr txBox="1"/>
          <p:nvPr/>
        </p:nvSpPr>
        <p:spPr>
          <a:xfrm>
            <a:off x="3464917" y="3588223"/>
            <a:ext cx="952996" cy="109424"/>
          </a:xfrm>
          <a:prstGeom prst="rect">
            <a:avLst/>
          </a:prstGeom>
        </p:spPr>
        <p:txBody>
          <a:bodyPr lIns="0" tIns="0" rIns="0" bIns="0" rtlCol="0" anchor="t">
            <a:spAutoFit/>
          </a:bodyPr>
          <a:lstStyle/>
          <a:p>
            <a:pPr algn="l">
              <a:lnSpc>
                <a:spcPts val="1070"/>
              </a:lnSpc>
            </a:pPr>
            <a:r>
              <a:rPr lang="en-US" sz="764" b="1" dirty="0" err="1">
                <a:solidFill>
                  <a:srgbClr val="1800AD"/>
                </a:solidFill>
                <a:latin typeface="Canva Sans Bold"/>
                <a:ea typeface="Canva Sans Bold"/>
                <a:cs typeface="Canva Sans Bold"/>
                <a:sym typeface="Canva Sans Bold"/>
              </a:rPr>
              <a:t>Stopword</a:t>
            </a:r>
            <a:r>
              <a:rPr lang="en-US" sz="764" b="1" dirty="0">
                <a:solidFill>
                  <a:srgbClr val="1800AD"/>
                </a:solidFill>
                <a:latin typeface="Canva Sans Bold"/>
                <a:ea typeface="Canva Sans Bold"/>
                <a:cs typeface="Canva Sans Bold"/>
                <a:sym typeface="Canva Sans Bold"/>
              </a:rPr>
              <a:t> Removal</a:t>
            </a:r>
          </a:p>
        </p:txBody>
      </p:sp>
      <p:sp>
        <p:nvSpPr>
          <p:cNvPr id="34" name="TextBox 34"/>
          <p:cNvSpPr txBox="1"/>
          <p:nvPr/>
        </p:nvSpPr>
        <p:spPr>
          <a:xfrm>
            <a:off x="3456201" y="3876711"/>
            <a:ext cx="1311302" cy="136185"/>
          </a:xfrm>
          <a:prstGeom prst="rect">
            <a:avLst/>
          </a:prstGeom>
        </p:spPr>
        <p:txBody>
          <a:bodyPr wrap="square" lIns="0" tIns="0" rIns="0" bIns="0" rtlCol="0" anchor="t">
            <a:spAutoFit/>
          </a:bodyPr>
          <a:lstStyle/>
          <a:p>
            <a:pPr algn="l">
              <a:lnSpc>
                <a:spcPts val="1070"/>
              </a:lnSpc>
            </a:pPr>
            <a:r>
              <a:rPr lang="en-US" sz="764" b="1" dirty="0">
                <a:solidFill>
                  <a:srgbClr val="1800AD"/>
                </a:solidFill>
                <a:latin typeface="Canva Sans Bold"/>
                <a:ea typeface="Canva Sans Bold"/>
                <a:cs typeface="Canva Sans Bold"/>
                <a:sym typeface="Canva Sans Bold"/>
              </a:rPr>
              <a:t>Stemming/Lemmatization</a:t>
            </a:r>
          </a:p>
        </p:txBody>
      </p:sp>
      <p:sp>
        <p:nvSpPr>
          <p:cNvPr id="35" name="TextBox 35"/>
          <p:cNvSpPr txBox="1"/>
          <p:nvPr/>
        </p:nvSpPr>
        <p:spPr>
          <a:xfrm>
            <a:off x="3230190" y="4282312"/>
            <a:ext cx="1345200" cy="317085"/>
          </a:xfrm>
          <a:prstGeom prst="rect">
            <a:avLst/>
          </a:prstGeom>
        </p:spPr>
        <p:txBody>
          <a:bodyPr lIns="0" tIns="0" rIns="0" bIns="0" rtlCol="0" anchor="t">
            <a:spAutoFit/>
          </a:bodyPr>
          <a:lstStyle/>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Basic</a:t>
            </a:r>
          </a:p>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No Steam</a:t>
            </a:r>
          </a:p>
          <a:p>
            <a:pPr marL="145583" lvl="1" indent="-72792" algn="l">
              <a:lnSpc>
                <a:spcPts val="944"/>
              </a:lnSpc>
              <a:buFont typeface="Arial"/>
              <a:buChar char="•"/>
            </a:pPr>
            <a:r>
              <a:rPr lang="en-US" sz="674" b="1" dirty="0">
                <a:solidFill>
                  <a:srgbClr val="1800AD"/>
                </a:solidFill>
                <a:latin typeface="Canva Sans Bold"/>
                <a:ea typeface="Canva Sans Bold"/>
                <a:cs typeface="Canva Sans Bold"/>
                <a:sym typeface="Canva Sans Bold"/>
              </a:rPr>
              <a:t>Preprocessing Advances</a:t>
            </a:r>
          </a:p>
        </p:txBody>
      </p:sp>
      <p:grpSp>
        <p:nvGrpSpPr>
          <p:cNvPr id="70" name="Group 69">
            <a:extLst>
              <a:ext uri="{FF2B5EF4-FFF2-40B4-BE49-F238E27FC236}">
                <a16:creationId xmlns:a16="http://schemas.microsoft.com/office/drawing/2014/main" id="{B9659A0E-EECD-0137-7658-5698DACD2450}"/>
              </a:ext>
            </a:extLst>
          </p:cNvPr>
          <p:cNvGrpSpPr/>
          <p:nvPr/>
        </p:nvGrpSpPr>
        <p:grpSpPr>
          <a:xfrm>
            <a:off x="5113118" y="2493295"/>
            <a:ext cx="3301402" cy="2189856"/>
            <a:chOff x="5767871" y="2780497"/>
            <a:chExt cx="3301402" cy="2189856"/>
          </a:xfrm>
        </p:grpSpPr>
        <p:grpSp>
          <p:nvGrpSpPr>
            <p:cNvPr id="36" name="Group 36"/>
            <p:cNvGrpSpPr/>
            <p:nvPr/>
          </p:nvGrpSpPr>
          <p:grpSpPr>
            <a:xfrm>
              <a:off x="5843605" y="2780497"/>
              <a:ext cx="3147995" cy="2189856"/>
              <a:chOff x="0" y="-47625"/>
              <a:chExt cx="1477754" cy="994210"/>
            </a:xfrm>
          </p:grpSpPr>
          <p:sp>
            <p:nvSpPr>
              <p:cNvPr id="37" name="Freeform 37"/>
              <p:cNvSpPr/>
              <p:nvPr/>
            </p:nvSpPr>
            <p:spPr>
              <a:xfrm>
                <a:off x="0" y="-11084"/>
                <a:ext cx="1477754" cy="957669"/>
              </a:xfrm>
              <a:custGeom>
                <a:avLst/>
                <a:gdLst/>
                <a:ahLst/>
                <a:cxnLst/>
                <a:rect l="l" t="t" r="r" b="b"/>
                <a:pathLst>
                  <a:path w="1477754" h="913205">
                    <a:moveTo>
                      <a:pt x="52436" y="0"/>
                    </a:moveTo>
                    <a:lnTo>
                      <a:pt x="1425318" y="0"/>
                    </a:lnTo>
                    <a:cubicBezTo>
                      <a:pt x="1454278" y="0"/>
                      <a:pt x="1477754" y="23476"/>
                      <a:pt x="1477754" y="52436"/>
                    </a:cubicBezTo>
                    <a:lnTo>
                      <a:pt x="1477754" y="860769"/>
                    </a:lnTo>
                    <a:cubicBezTo>
                      <a:pt x="1477754" y="889729"/>
                      <a:pt x="1454278" y="913205"/>
                      <a:pt x="1425318" y="913205"/>
                    </a:cubicBezTo>
                    <a:lnTo>
                      <a:pt x="52436" y="913205"/>
                    </a:lnTo>
                    <a:cubicBezTo>
                      <a:pt x="23476" y="913205"/>
                      <a:pt x="0" y="889729"/>
                      <a:pt x="0" y="860769"/>
                    </a:cubicBezTo>
                    <a:lnTo>
                      <a:pt x="0" y="52436"/>
                    </a:lnTo>
                    <a:cubicBezTo>
                      <a:pt x="0" y="23476"/>
                      <a:pt x="23476" y="0"/>
                      <a:pt x="52436" y="0"/>
                    </a:cubicBezTo>
                    <a:close/>
                  </a:path>
                </a:pathLst>
              </a:custGeom>
              <a:solidFill>
                <a:srgbClr val="FFFFFF"/>
              </a:solidFill>
              <a:ln w="38100" cap="rnd">
                <a:solidFill>
                  <a:srgbClr val="FF751F"/>
                </a:solidFill>
                <a:prstDash val="solid"/>
                <a:round/>
              </a:ln>
            </p:spPr>
          </p:sp>
          <p:sp>
            <p:nvSpPr>
              <p:cNvPr id="38" name="TextBox 38"/>
              <p:cNvSpPr txBox="1"/>
              <p:nvPr/>
            </p:nvSpPr>
            <p:spPr>
              <a:xfrm>
                <a:off x="0" y="-47625"/>
                <a:ext cx="1477754" cy="960830"/>
              </a:xfrm>
              <a:prstGeom prst="rect">
                <a:avLst/>
              </a:prstGeom>
            </p:spPr>
            <p:txBody>
              <a:bodyPr lIns="34756" tIns="34756" rIns="34756" bIns="34756" rtlCol="0" anchor="ctr"/>
              <a:lstStyle/>
              <a:p>
                <a:pPr algn="ctr">
                  <a:lnSpc>
                    <a:spcPts val="2659"/>
                  </a:lnSpc>
                </a:pPr>
                <a:endParaRPr/>
              </a:p>
            </p:txBody>
          </p:sp>
        </p:grpSp>
        <p:sp>
          <p:nvSpPr>
            <p:cNvPr id="39" name="Freeform 39"/>
            <p:cNvSpPr/>
            <p:nvPr/>
          </p:nvSpPr>
          <p:spPr>
            <a:xfrm>
              <a:off x="6127928" y="3648641"/>
              <a:ext cx="588585" cy="643994"/>
            </a:xfrm>
            <a:custGeom>
              <a:avLst/>
              <a:gdLst/>
              <a:ahLst/>
              <a:cxnLst/>
              <a:rect l="l" t="t" r="r" b="b"/>
              <a:pathLst>
                <a:path w="902216" h="1012691">
                  <a:moveTo>
                    <a:pt x="0" y="0"/>
                  </a:moveTo>
                  <a:lnTo>
                    <a:pt x="902216" y="0"/>
                  </a:lnTo>
                  <a:lnTo>
                    <a:pt x="902216" y="1012691"/>
                  </a:lnTo>
                  <a:lnTo>
                    <a:pt x="0" y="101269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40" name="TextBox 40"/>
            <p:cNvSpPr txBox="1"/>
            <p:nvPr/>
          </p:nvSpPr>
          <p:spPr>
            <a:xfrm>
              <a:off x="6555425" y="2981511"/>
              <a:ext cx="1922949" cy="263342"/>
            </a:xfrm>
            <a:prstGeom prst="rect">
              <a:avLst/>
            </a:prstGeom>
          </p:spPr>
          <p:txBody>
            <a:bodyPr wrap="square" lIns="0" tIns="0" rIns="0" bIns="0" rtlCol="0" anchor="t">
              <a:spAutoFit/>
            </a:bodyPr>
            <a:lstStyle/>
            <a:p>
              <a:pPr algn="ctr">
                <a:lnSpc>
                  <a:spcPts val="2190"/>
                </a:lnSpc>
              </a:pPr>
              <a:r>
                <a:rPr lang="en-US" sz="1564" b="1" dirty="0">
                  <a:solidFill>
                    <a:srgbClr val="1800AD"/>
                  </a:solidFill>
                  <a:latin typeface="Canva Sans Bold"/>
                  <a:ea typeface="Canva Sans Bold"/>
                  <a:cs typeface="Canva Sans Bold"/>
                  <a:sym typeface="Canva Sans Bold"/>
                </a:rPr>
                <a:t>TOPIC MODELING</a:t>
              </a:r>
            </a:p>
          </p:txBody>
        </p:sp>
        <p:sp>
          <p:nvSpPr>
            <p:cNvPr id="41" name="TextBox 41"/>
            <p:cNvSpPr txBox="1"/>
            <p:nvPr/>
          </p:nvSpPr>
          <p:spPr>
            <a:xfrm>
              <a:off x="5861738" y="4257123"/>
              <a:ext cx="1446063" cy="696024"/>
            </a:xfrm>
            <a:prstGeom prst="rect">
              <a:avLst/>
            </a:prstGeom>
          </p:spPr>
          <p:txBody>
            <a:bodyPr wrap="square" lIns="0" tIns="0" rIns="0" bIns="0" rtlCol="0" anchor="t">
              <a:spAutoFit/>
            </a:bodyPr>
            <a:lstStyle/>
            <a:p>
              <a:pPr marL="169318" lvl="1" indent="-84659" algn="l">
                <a:lnSpc>
                  <a:spcPts val="1097"/>
                </a:lnSpc>
                <a:buFont typeface="Arial"/>
                <a:buChar char="•"/>
              </a:pPr>
              <a:r>
                <a:rPr lang="en-US" sz="784" b="1" dirty="0" err="1">
                  <a:solidFill>
                    <a:srgbClr val="1800AD"/>
                  </a:solidFill>
                  <a:latin typeface="Canva Sans Bold"/>
                  <a:ea typeface="Canva Sans Bold"/>
                  <a:cs typeface="Canva Sans Bold"/>
                  <a:sym typeface="Canva Sans Bold"/>
                </a:rPr>
                <a:t>Optimasi</a:t>
              </a:r>
              <a:r>
                <a:rPr lang="en-US" sz="784" b="1" dirty="0">
                  <a:solidFill>
                    <a:srgbClr val="1800AD"/>
                  </a:solidFill>
                  <a:latin typeface="Canva Sans Bold"/>
                  <a:ea typeface="Canva Sans Bold"/>
                  <a:cs typeface="Canva Sans Bold"/>
                  <a:sym typeface="Canva Sans Bold"/>
                </a:rPr>
                <a:t> </a:t>
              </a:r>
              <a:r>
                <a:rPr lang="en-US" sz="784" b="1" dirty="0" err="1">
                  <a:solidFill>
                    <a:srgbClr val="1800AD"/>
                  </a:solidFill>
                  <a:latin typeface="Canva Sans Bold"/>
                  <a:ea typeface="Canva Sans Bold"/>
                  <a:cs typeface="Canva Sans Bold"/>
                  <a:sym typeface="Canva Sans Bold"/>
                </a:rPr>
                <a:t>Jumlah</a:t>
              </a:r>
              <a:r>
                <a:rPr lang="en-US" sz="784" b="1" dirty="0">
                  <a:solidFill>
                    <a:srgbClr val="1800AD"/>
                  </a:solidFill>
                  <a:latin typeface="Canva Sans Bold"/>
                  <a:ea typeface="Canva Sans Bold"/>
                  <a:cs typeface="Canva Sans Bold"/>
                  <a:sym typeface="Canva Sans Bold"/>
                </a:rPr>
                <a:t> </a:t>
              </a:r>
              <a:r>
                <a:rPr lang="en-US" sz="784" b="1" dirty="0" err="1">
                  <a:solidFill>
                    <a:srgbClr val="1800AD"/>
                  </a:solidFill>
                  <a:latin typeface="Canva Sans Bold"/>
                  <a:ea typeface="Canva Sans Bold"/>
                  <a:cs typeface="Canva Sans Bold"/>
                  <a:sym typeface="Canva Sans Bold"/>
                </a:rPr>
                <a:t>Topik</a:t>
              </a:r>
              <a:r>
                <a:rPr lang="en-US" sz="784" b="1" dirty="0">
                  <a:solidFill>
                    <a:srgbClr val="1800AD"/>
                  </a:solidFill>
                  <a:latin typeface="Canva Sans Bold"/>
                  <a:ea typeface="Canva Sans Bold"/>
                  <a:cs typeface="Canva Sans Bold"/>
                  <a:sym typeface="Canva Sans Bold"/>
                </a:rPr>
                <a:t> (K)</a:t>
              </a:r>
            </a:p>
            <a:p>
              <a:pPr marL="169318" lvl="1" indent="-84659" algn="l">
                <a:lnSpc>
                  <a:spcPts val="1097"/>
                </a:lnSpc>
                <a:buFont typeface="Arial"/>
                <a:buChar char="•"/>
              </a:pPr>
              <a:r>
                <a:rPr lang="en-US" sz="784" b="1" dirty="0" err="1">
                  <a:solidFill>
                    <a:srgbClr val="1800AD"/>
                  </a:solidFill>
                  <a:latin typeface="Canva Sans Bold"/>
                  <a:ea typeface="Canva Sans Bold"/>
                  <a:cs typeface="Canva Sans Bold"/>
                  <a:sym typeface="Canva Sans Bold"/>
                </a:rPr>
                <a:t>Varitional</a:t>
              </a:r>
              <a:r>
                <a:rPr lang="en-US" sz="784" b="1" dirty="0">
                  <a:solidFill>
                    <a:srgbClr val="1800AD"/>
                  </a:solidFill>
                  <a:latin typeface="Canva Sans Bold"/>
                  <a:ea typeface="Canva Sans Bold"/>
                  <a:cs typeface="Canva Sans Bold"/>
                  <a:sym typeface="Canva Sans Bold"/>
                </a:rPr>
                <a:t> Inference</a:t>
              </a:r>
            </a:p>
            <a:p>
              <a:pPr marL="169318" lvl="1" indent="-84659" algn="l">
                <a:lnSpc>
                  <a:spcPts val="1097"/>
                </a:lnSpc>
                <a:buFont typeface="Arial"/>
                <a:buChar char="•"/>
              </a:pPr>
              <a:r>
                <a:rPr lang="en-US" sz="784" b="1" dirty="0">
                  <a:solidFill>
                    <a:srgbClr val="1800AD"/>
                  </a:solidFill>
                  <a:latin typeface="Canva Sans Bold"/>
                  <a:ea typeface="Canva Sans Bold"/>
                  <a:cs typeface="Canva Sans Bold"/>
                  <a:sym typeface="Canva Sans Bold"/>
                </a:rPr>
                <a:t>Logistic Normal Distribution</a:t>
              </a:r>
            </a:p>
            <a:p>
              <a:pPr marL="169318" lvl="1" indent="-84659" algn="l">
                <a:lnSpc>
                  <a:spcPts val="1097"/>
                </a:lnSpc>
                <a:buFont typeface="Arial"/>
                <a:buChar char="•"/>
              </a:pPr>
              <a:r>
                <a:rPr lang="en-US" sz="784" b="1" dirty="0">
                  <a:solidFill>
                    <a:srgbClr val="1800AD"/>
                  </a:solidFill>
                  <a:latin typeface="Canva Sans Bold"/>
                  <a:ea typeface="Canva Sans Bold"/>
                  <a:cs typeface="Canva Sans Bold"/>
                  <a:sym typeface="Canva Sans Bold"/>
                </a:rPr>
                <a:t>Topic Correlation</a:t>
              </a:r>
            </a:p>
          </p:txBody>
        </p:sp>
        <p:sp>
          <p:nvSpPr>
            <p:cNvPr id="42" name="TextBox 42"/>
            <p:cNvSpPr txBox="1"/>
            <p:nvPr/>
          </p:nvSpPr>
          <p:spPr>
            <a:xfrm>
              <a:off x="5767871" y="3305074"/>
              <a:ext cx="1254179" cy="263342"/>
            </a:xfrm>
            <a:prstGeom prst="rect">
              <a:avLst/>
            </a:prstGeom>
          </p:spPr>
          <p:txBody>
            <a:bodyPr wrap="square" lIns="0" tIns="0" rIns="0" bIns="0" rtlCol="0" anchor="t">
              <a:spAutoFit/>
            </a:bodyPr>
            <a:lstStyle/>
            <a:p>
              <a:pPr algn="ctr">
                <a:lnSpc>
                  <a:spcPts val="2190"/>
                </a:lnSpc>
              </a:pPr>
              <a:r>
                <a:rPr lang="en-US" sz="1564" b="1">
                  <a:solidFill>
                    <a:srgbClr val="CF4119"/>
                  </a:solidFill>
                  <a:latin typeface="Canva Sans Bold"/>
                  <a:ea typeface="Canva Sans Bold"/>
                  <a:cs typeface="Canva Sans Bold"/>
                  <a:sym typeface="Canva Sans Bold"/>
                </a:rPr>
                <a:t>CTM</a:t>
              </a:r>
            </a:p>
          </p:txBody>
        </p:sp>
        <p:sp>
          <p:nvSpPr>
            <p:cNvPr id="43" name="TextBox 43"/>
            <p:cNvSpPr txBox="1"/>
            <p:nvPr/>
          </p:nvSpPr>
          <p:spPr>
            <a:xfrm>
              <a:off x="7597395" y="3271498"/>
              <a:ext cx="1254179" cy="263342"/>
            </a:xfrm>
            <a:prstGeom prst="rect">
              <a:avLst/>
            </a:prstGeom>
          </p:spPr>
          <p:txBody>
            <a:bodyPr wrap="square" lIns="0" tIns="0" rIns="0" bIns="0" rtlCol="0" anchor="t">
              <a:spAutoFit/>
            </a:bodyPr>
            <a:lstStyle/>
            <a:p>
              <a:pPr algn="ctr">
                <a:lnSpc>
                  <a:spcPts val="2190"/>
                </a:lnSpc>
              </a:pPr>
              <a:r>
                <a:rPr lang="en-US" sz="1564" b="1" dirty="0" err="1">
                  <a:solidFill>
                    <a:srgbClr val="FF751F"/>
                  </a:solidFill>
                  <a:latin typeface="Canva Sans Bold"/>
                  <a:ea typeface="Canva Sans Bold"/>
                  <a:cs typeface="Canva Sans Bold"/>
                  <a:sym typeface="Canva Sans Bold"/>
                </a:rPr>
                <a:t>BERTopic</a:t>
              </a:r>
              <a:endParaRPr lang="en-US" sz="1564" b="1" dirty="0">
                <a:solidFill>
                  <a:srgbClr val="FF751F"/>
                </a:solidFill>
                <a:latin typeface="Canva Sans Bold"/>
                <a:ea typeface="Canva Sans Bold"/>
                <a:cs typeface="Canva Sans Bold"/>
                <a:sym typeface="Canva Sans Bold"/>
              </a:endParaRPr>
            </a:p>
          </p:txBody>
        </p:sp>
        <p:sp>
          <p:nvSpPr>
            <p:cNvPr id="44" name="Freeform 44"/>
            <p:cNvSpPr/>
            <p:nvPr/>
          </p:nvSpPr>
          <p:spPr>
            <a:xfrm>
              <a:off x="7785308" y="3582381"/>
              <a:ext cx="293600" cy="321238"/>
            </a:xfrm>
            <a:custGeom>
              <a:avLst/>
              <a:gdLst/>
              <a:ahLst/>
              <a:cxnLst/>
              <a:rect l="l" t="t" r="r" b="b"/>
              <a:pathLst>
                <a:path w="450045" h="505152">
                  <a:moveTo>
                    <a:pt x="0" y="0"/>
                  </a:moveTo>
                  <a:lnTo>
                    <a:pt x="450044" y="0"/>
                  </a:lnTo>
                  <a:lnTo>
                    <a:pt x="450044" y="505152"/>
                  </a:lnTo>
                  <a:lnTo>
                    <a:pt x="0" y="505152"/>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45" name="Freeform 45"/>
            <p:cNvSpPr/>
            <p:nvPr/>
          </p:nvSpPr>
          <p:spPr>
            <a:xfrm>
              <a:off x="8184776" y="3582381"/>
              <a:ext cx="293600" cy="321238"/>
            </a:xfrm>
            <a:custGeom>
              <a:avLst/>
              <a:gdLst/>
              <a:ahLst/>
              <a:cxnLst/>
              <a:rect l="l" t="t" r="r" b="b"/>
              <a:pathLst>
                <a:path w="450045" h="505152">
                  <a:moveTo>
                    <a:pt x="0" y="0"/>
                  </a:moveTo>
                  <a:lnTo>
                    <a:pt x="450045" y="0"/>
                  </a:lnTo>
                  <a:lnTo>
                    <a:pt x="450045" y="505152"/>
                  </a:lnTo>
                  <a:lnTo>
                    <a:pt x="0" y="505152"/>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46" name="Freeform 46"/>
            <p:cNvSpPr/>
            <p:nvPr/>
          </p:nvSpPr>
          <p:spPr>
            <a:xfrm>
              <a:off x="7985042" y="3795885"/>
              <a:ext cx="293600" cy="321238"/>
            </a:xfrm>
            <a:custGeom>
              <a:avLst/>
              <a:gdLst/>
              <a:ahLst/>
              <a:cxnLst/>
              <a:rect l="l" t="t" r="r" b="b"/>
              <a:pathLst>
                <a:path w="450045" h="505152">
                  <a:moveTo>
                    <a:pt x="0" y="0"/>
                  </a:moveTo>
                  <a:lnTo>
                    <a:pt x="450045" y="0"/>
                  </a:lnTo>
                  <a:lnTo>
                    <a:pt x="450045" y="505152"/>
                  </a:lnTo>
                  <a:lnTo>
                    <a:pt x="0" y="505152"/>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47" name="TextBox 47"/>
            <p:cNvSpPr txBox="1"/>
            <p:nvPr/>
          </p:nvSpPr>
          <p:spPr>
            <a:xfrm>
              <a:off x="7406323" y="4130268"/>
              <a:ext cx="1662950" cy="837089"/>
            </a:xfrm>
            <a:prstGeom prst="rect">
              <a:avLst/>
            </a:prstGeom>
          </p:spPr>
          <p:txBody>
            <a:bodyPr wrap="square" lIns="0" tIns="0" rIns="0" bIns="0" rtlCol="0" anchor="t">
              <a:spAutoFit/>
            </a:bodyPr>
            <a:lstStyle/>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UMAP (Dimensionality Reduction)</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HDBSCAN (Clustering)</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C-TF-IDF (Topic Representation</a:t>
              </a:r>
            </a:p>
            <a:p>
              <a:pPr marL="169318" lvl="1" indent="-84659" algn="l">
                <a:lnSpc>
                  <a:spcPts val="1097"/>
                </a:lnSpc>
                <a:buFont typeface="Arial"/>
                <a:buChar char="•"/>
              </a:pPr>
              <a:r>
                <a:rPr lang="en-US" sz="784" b="1" dirty="0">
                  <a:solidFill>
                    <a:srgbClr val="00BF63"/>
                  </a:solidFill>
                  <a:latin typeface="Canva Sans Bold"/>
                  <a:ea typeface="Canva Sans Bold"/>
                  <a:cs typeface="Canva Sans Bold"/>
                  <a:sym typeface="Canva Sans Bold"/>
                </a:rPr>
                <a:t>Topic Extraction</a:t>
              </a:r>
            </a:p>
          </p:txBody>
        </p:sp>
        <p:sp>
          <p:nvSpPr>
            <p:cNvPr id="48" name="AutoShape 48"/>
            <p:cNvSpPr/>
            <p:nvPr/>
          </p:nvSpPr>
          <p:spPr>
            <a:xfrm flipV="1">
              <a:off x="7395361" y="3569987"/>
              <a:ext cx="0" cy="1340289"/>
            </a:xfrm>
            <a:prstGeom prst="line">
              <a:avLst/>
            </a:prstGeom>
            <a:ln w="12700" cap="flat">
              <a:solidFill>
                <a:srgbClr val="658DEF"/>
              </a:solidFill>
              <a:prstDash val="solid"/>
              <a:headEnd type="none" w="sm" len="sm"/>
              <a:tailEnd type="none" w="sm" len="sm"/>
            </a:ln>
          </p:spPr>
        </p:sp>
      </p:grpSp>
      <p:grpSp>
        <p:nvGrpSpPr>
          <p:cNvPr id="71" name="Group 70">
            <a:extLst>
              <a:ext uri="{FF2B5EF4-FFF2-40B4-BE49-F238E27FC236}">
                <a16:creationId xmlns:a16="http://schemas.microsoft.com/office/drawing/2014/main" id="{ECC2A892-E812-DE8A-96FD-A2E6CE699C0A}"/>
              </a:ext>
            </a:extLst>
          </p:cNvPr>
          <p:cNvGrpSpPr/>
          <p:nvPr/>
        </p:nvGrpSpPr>
        <p:grpSpPr>
          <a:xfrm>
            <a:off x="9044637" y="2603135"/>
            <a:ext cx="1786270" cy="2091547"/>
            <a:chOff x="9739516" y="2949881"/>
            <a:chExt cx="1744317" cy="2214270"/>
          </a:xfrm>
        </p:grpSpPr>
        <p:grpSp>
          <p:nvGrpSpPr>
            <p:cNvPr id="49" name="Group 49"/>
            <p:cNvGrpSpPr/>
            <p:nvPr/>
          </p:nvGrpSpPr>
          <p:grpSpPr>
            <a:xfrm>
              <a:off x="9739516" y="2949881"/>
              <a:ext cx="1744317" cy="2214270"/>
              <a:chOff x="0" y="0"/>
              <a:chExt cx="713513" cy="913205"/>
            </a:xfrm>
          </p:grpSpPr>
          <p:sp>
            <p:nvSpPr>
              <p:cNvPr id="50" name="Freeform 50"/>
              <p:cNvSpPr/>
              <p:nvPr/>
            </p:nvSpPr>
            <p:spPr>
              <a:xfrm>
                <a:off x="0" y="0"/>
                <a:ext cx="713513" cy="913205"/>
              </a:xfrm>
              <a:custGeom>
                <a:avLst/>
                <a:gdLst/>
                <a:ahLst/>
                <a:cxnLst/>
                <a:rect l="l" t="t" r="r" b="b"/>
                <a:pathLst>
                  <a:path w="713513" h="913205">
                    <a:moveTo>
                      <a:pt x="108599" y="0"/>
                    </a:moveTo>
                    <a:lnTo>
                      <a:pt x="604914" y="0"/>
                    </a:lnTo>
                    <a:cubicBezTo>
                      <a:pt x="633716" y="0"/>
                      <a:pt x="661339" y="11442"/>
                      <a:pt x="681705" y="31808"/>
                    </a:cubicBezTo>
                    <a:cubicBezTo>
                      <a:pt x="702071" y="52174"/>
                      <a:pt x="713513" y="79797"/>
                      <a:pt x="713513" y="108599"/>
                    </a:cubicBezTo>
                    <a:lnTo>
                      <a:pt x="713513" y="804606"/>
                    </a:lnTo>
                    <a:cubicBezTo>
                      <a:pt x="713513" y="864584"/>
                      <a:pt x="664892" y="913205"/>
                      <a:pt x="604914" y="913205"/>
                    </a:cubicBezTo>
                    <a:lnTo>
                      <a:pt x="108599" y="913205"/>
                    </a:lnTo>
                    <a:cubicBezTo>
                      <a:pt x="48622" y="913205"/>
                      <a:pt x="0" y="864584"/>
                      <a:pt x="0" y="804606"/>
                    </a:cubicBezTo>
                    <a:lnTo>
                      <a:pt x="0" y="108599"/>
                    </a:lnTo>
                    <a:cubicBezTo>
                      <a:pt x="0" y="48622"/>
                      <a:pt x="48622" y="0"/>
                      <a:pt x="108599" y="0"/>
                    </a:cubicBezTo>
                    <a:close/>
                  </a:path>
                </a:pathLst>
              </a:custGeom>
              <a:solidFill>
                <a:srgbClr val="FFFFFF"/>
              </a:solidFill>
              <a:ln w="38100" cap="rnd">
                <a:solidFill>
                  <a:srgbClr val="00BF63"/>
                </a:solidFill>
                <a:prstDash val="solid"/>
                <a:round/>
              </a:ln>
            </p:spPr>
          </p:sp>
          <p:sp>
            <p:nvSpPr>
              <p:cNvPr id="51" name="TextBox 51"/>
              <p:cNvSpPr txBox="1"/>
              <p:nvPr/>
            </p:nvSpPr>
            <p:spPr>
              <a:xfrm>
                <a:off x="0" y="-47625"/>
                <a:ext cx="713513" cy="960830"/>
              </a:xfrm>
              <a:prstGeom prst="rect">
                <a:avLst/>
              </a:prstGeom>
            </p:spPr>
            <p:txBody>
              <a:bodyPr lIns="34756" tIns="34756" rIns="34756" bIns="34756" rtlCol="0" anchor="ctr"/>
              <a:lstStyle/>
              <a:p>
                <a:pPr algn="ctr">
                  <a:lnSpc>
                    <a:spcPts val="2659"/>
                  </a:lnSpc>
                </a:pPr>
                <a:endParaRPr/>
              </a:p>
            </p:txBody>
          </p:sp>
        </p:grpSp>
        <p:sp>
          <p:nvSpPr>
            <p:cNvPr id="52" name="Freeform 52"/>
            <p:cNvSpPr/>
            <p:nvPr/>
          </p:nvSpPr>
          <p:spPr>
            <a:xfrm>
              <a:off x="10061979" y="3412808"/>
              <a:ext cx="1049413" cy="741838"/>
            </a:xfrm>
            <a:custGeom>
              <a:avLst/>
              <a:gdLst/>
              <a:ahLst/>
              <a:cxnLst/>
              <a:rect l="l" t="t" r="r" b="b"/>
              <a:pathLst>
                <a:path w="1486810" h="1059690">
                  <a:moveTo>
                    <a:pt x="0" y="0"/>
                  </a:moveTo>
                  <a:lnTo>
                    <a:pt x="1486810" y="0"/>
                  </a:lnTo>
                  <a:lnTo>
                    <a:pt x="1486810" y="1059690"/>
                  </a:lnTo>
                  <a:lnTo>
                    <a:pt x="0" y="1059690"/>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53" name="TextBox 53"/>
            <p:cNvSpPr txBox="1"/>
            <p:nvPr/>
          </p:nvSpPr>
          <p:spPr>
            <a:xfrm>
              <a:off x="9803959" y="3097367"/>
              <a:ext cx="1679872" cy="240733"/>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EVALUATION</a:t>
              </a:r>
            </a:p>
          </p:txBody>
        </p:sp>
        <p:sp>
          <p:nvSpPr>
            <p:cNvPr id="54" name="TextBox 54"/>
            <p:cNvSpPr txBox="1"/>
            <p:nvPr/>
          </p:nvSpPr>
          <p:spPr>
            <a:xfrm>
              <a:off x="9933218" y="4299989"/>
              <a:ext cx="1356912" cy="417906"/>
            </a:xfrm>
            <a:prstGeom prst="rect">
              <a:avLst/>
            </a:prstGeom>
          </p:spPr>
          <p:txBody>
            <a:bodyPr lIns="0" tIns="0" rIns="0" bIns="0" rtlCol="0" anchor="t">
              <a:spAutoFit/>
            </a:bodyPr>
            <a:lstStyle/>
            <a:p>
              <a:pPr algn="ctr">
                <a:lnSpc>
                  <a:spcPts val="930"/>
                </a:lnSpc>
              </a:pPr>
              <a:r>
                <a:rPr lang="en-US" sz="664" b="1">
                  <a:solidFill>
                    <a:srgbClr val="1800AD"/>
                  </a:solidFill>
                  <a:latin typeface="Canva Sans Bold"/>
                  <a:ea typeface="Canva Sans Bold"/>
                  <a:cs typeface="Canva Sans Bold"/>
                  <a:sym typeface="Canva Sans Bold"/>
                </a:rPr>
                <a:t>Coherence Score</a:t>
              </a:r>
            </a:p>
            <a:p>
              <a:pPr algn="ctr">
                <a:lnSpc>
                  <a:spcPts val="930"/>
                </a:lnSpc>
              </a:pPr>
              <a:r>
                <a:rPr lang="en-US" sz="664" b="1">
                  <a:solidFill>
                    <a:srgbClr val="1800AD"/>
                  </a:solidFill>
                  <a:latin typeface="Canva Sans Bold"/>
                  <a:ea typeface="Canva Sans Bold"/>
                  <a:cs typeface="Canva Sans Bold"/>
                  <a:sym typeface="Canva Sans Bold"/>
                </a:rPr>
                <a:t>Diversity Score</a:t>
              </a:r>
            </a:p>
            <a:p>
              <a:pPr algn="ctr">
                <a:lnSpc>
                  <a:spcPts val="930"/>
                </a:lnSpc>
              </a:pPr>
              <a:r>
                <a:rPr lang="en-US" sz="664" b="1">
                  <a:solidFill>
                    <a:srgbClr val="1800AD"/>
                  </a:solidFill>
                  <a:latin typeface="Canva Sans Bold"/>
                  <a:ea typeface="Canva Sans Bold"/>
                  <a:cs typeface="Canva Sans Bold"/>
                  <a:sym typeface="Canva Sans Bold"/>
                </a:rPr>
                <a:t>NPMI</a:t>
              </a:r>
            </a:p>
            <a:p>
              <a:pPr algn="ctr">
                <a:lnSpc>
                  <a:spcPts val="930"/>
                </a:lnSpc>
              </a:pPr>
              <a:r>
                <a:rPr lang="en-US" sz="664" b="1">
                  <a:solidFill>
                    <a:srgbClr val="1800AD"/>
                  </a:solidFill>
                  <a:latin typeface="Canva Sans Bold"/>
                  <a:ea typeface="Canva Sans Bold"/>
                  <a:cs typeface="Canva Sans Bold"/>
                  <a:sym typeface="Canva Sans Bold"/>
                </a:rPr>
                <a:t>UMass</a:t>
              </a:r>
            </a:p>
          </p:txBody>
        </p:sp>
        <p:sp>
          <p:nvSpPr>
            <p:cNvPr id="55" name="TextBox 55"/>
            <p:cNvSpPr txBox="1"/>
            <p:nvPr/>
          </p:nvSpPr>
          <p:spPr>
            <a:xfrm>
              <a:off x="9933218" y="4771582"/>
              <a:ext cx="1356912" cy="207740"/>
            </a:xfrm>
            <a:prstGeom prst="rect">
              <a:avLst/>
            </a:prstGeom>
          </p:spPr>
          <p:txBody>
            <a:bodyPr lIns="0" tIns="0" rIns="0" bIns="0" rtlCol="0" anchor="t">
              <a:spAutoFit/>
            </a:bodyPr>
            <a:lstStyle/>
            <a:p>
              <a:pPr algn="ctr">
                <a:lnSpc>
                  <a:spcPts val="930"/>
                </a:lnSpc>
              </a:pPr>
              <a:r>
                <a:rPr lang="en-US" sz="664" b="1">
                  <a:solidFill>
                    <a:srgbClr val="00BF63"/>
                  </a:solidFill>
                  <a:latin typeface="Canva Sans Bold"/>
                  <a:ea typeface="Canva Sans Bold"/>
                  <a:cs typeface="Canva Sans Bold"/>
                  <a:sym typeface="Canva Sans Bold"/>
                </a:rPr>
                <a:t>Menilai Kualitas dan Keragaman Topik dari Kedua Model</a:t>
              </a:r>
            </a:p>
          </p:txBody>
        </p:sp>
      </p:grpSp>
      <p:grpSp>
        <p:nvGrpSpPr>
          <p:cNvPr id="72" name="Group 71">
            <a:extLst>
              <a:ext uri="{FF2B5EF4-FFF2-40B4-BE49-F238E27FC236}">
                <a16:creationId xmlns:a16="http://schemas.microsoft.com/office/drawing/2014/main" id="{14BD5582-29A8-758F-7633-43C31E79E249}"/>
              </a:ext>
            </a:extLst>
          </p:cNvPr>
          <p:cNvGrpSpPr/>
          <p:nvPr/>
        </p:nvGrpSpPr>
        <p:grpSpPr>
          <a:xfrm>
            <a:off x="11379090" y="2648670"/>
            <a:ext cx="1691146" cy="2091547"/>
            <a:chOff x="12021664" y="2842068"/>
            <a:chExt cx="1842308" cy="2322083"/>
          </a:xfrm>
        </p:grpSpPr>
        <p:grpSp>
          <p:nvGrpSpPr>
            <p:cNvPr id="56" name="Group 56"/>
            <p:cNvGrpSpPr/>
            <p:nvPr/>
          </p:nvGrpSpPr>
          <p:grpSpPr>
            <a:xfrm>
              <a:off x="12021664" y="2842068"/>
              <a:ext cx="1842308" cy="2322083"/>
              <a:chOff x="0" y="0"/>
              <a:chExt cx="825973" cy="1049645"/>
            </a:xfrm>
          </p:grpSpPr>
          <p:sp>
            <p:nvSpPr>
              <p:cNvPr id="57" name="Freeform 57"/>
              <p:cNvSpPr/>
              <p:nvPr/>
            </p:nvSpPr>
            <p:spPr>
              <a:xfrm>
                <a:off x="0" y="0"/>
                <a:ext cx="825973" cy="1049645"/>
              </a:xfrm>
              <a:custGeom>
                <a:avLst/>
                <a:gdLst/>
                <a:ahLst/>
                <a:cxnLst/>
                <a:rect l="l" t="t" r="r" b="b"/>
                <a:pathLst>
                  <a:path w="825973" h="1049645">
                    <a:moveTo>
                      <a:pt x="102823" y="0"/>
                    </a:moveTo>
                    <a:lnTo>
                      <a:pt x="723150" y="0"/>
                    </a:lnTo>
                    <a:cubicBezTo>
                      <a:pt x="750420" y="0"/>
                      <a:pt x="776574" y="10833"/>
                      <a:pt x="795857" y="30116"/>
                    </a:cubicBezTo>
                    <a:cubicBezTo>
                      <a:pt x="815140" y="49399"/>
                      <a:pt x="825973" y="75553"/>
                      <a:pt x="825973" y="102823"/>
                    </a:cubicBezTo>
                    <a:lnTo>
                      <a:pt x="825973" y="946822"/>
                    </a:lnTo>
                    <a:cubicBezTo>
                      <a:pt x="825973" y="974092"/>
                      <a:pt x="815140" y="1000246"/>
                      <a:pt x="795857" y="1019529"/>
                    </a:cubicBezTo>
                    <a:cubicBezTo>
                      <a:pt x="776574" y="1038812"/>
                      <a:pt x="750420" y="1049645"/>
                      <a:pt x="723150" y="1049645"/>
                    </a:cubicBezTo>
                    <a:lnTo>
                      <a:pt x="102823" y="1049645"/>
                    </a:lnTo>
                    <a:cubicBezTo>
                      <a:pt x="75553" y="1049645"/>
                      <a:pt x="49399" y="1038812"/>
                      <a:pt x="30116" y="1019529"/>
                    </a:cubicBezTo>
                    <a:cubicBezTo>
                      <a:pt x="10833" y="1000246"/>
                      <a:pt x="0" y="974092"/>
                      <a:pt x="0" y="946822"/>
                    </a:cubicBezTo>
                    <a:lnTo>
                      <a:pt x="0" y="102823"/>
                    </a:lnTo>
                    <a:cubicBezTo>
                      <a:pt x="0" y="75553"/>
                      <a:pt x="10833" y="49399"/>
                      <a:pt x="30116" y="30116"/>
                    </a:cubicBezTo>
                    <a:cubicBezTo>
                      <a:pt x="49399" y="10833"/>
                      <a:pt x="75553" y="0"/>
                      <a:pt x="102823" y="0"/>
                    </a:cubicBezTo>
                    <a:close/>
                  </a:path>
                </a:pathLst>
              </a:custGeom>
              <a:solidFill>
                <a:srgbClr val="FFFFFF"/>
              </a:solidFill>
              <a:ln w="38100" cap="rnd">
                <a:solidFill>
                  <a:srgbClr val="CF4119"/>
                </a:solidFill>
                <a:prstDash val="solid"/>
                <a:round/>
              </a:ln>
            </p:spPr>
          </p:sp>
          <p:sp>
            <p:nvSpPr>
              <p:cNvPr id="58" name="TextBox 58"/>
              <p:cNvSpPr txBox="1"/>
              <p:nvPr/>
            </p:nvSpPr>
            <p:spPr>
              <a:xfrm>
                <a:off x="0" y="-47625"/>
                <a:ext cx="825973" cy="1097270"/>
              </a:xfrm>
              <a:prstGeom prst="rect">
                <a:avLst/>
              </a:prstGeom>
            </p:spPr>
            <p:txBody>
              <a:bodyPr lIns="31711" tIns="31711" rIns="31711" bIns="31711" rtlCol="0" anchor="ctr"/>
              <a:lstStyle/>
              <a:p>
                <a:pPr algn="ctr">
                  <a:lnSpc>
                    <a:spcPts val="2659"/>
                  </a:lnSpc>
                </a:pPr>
                <a:endParaRPr/>
              </a:p>
            </p:txBody>
          </p:sp>
        </p:grpSp>
        <p:sp>
          <p:nvSpPr>
            <p:cNvPr id="59" name="Freeform 59"/>
            <p:cNvSpPr/>
            <p:nvPr/>
          </p:nvSpPr>
          <p:spPr>
            <a:xfrm>
              <a:off x="12453891" y="3518175"/>
              <a:ext cx="977853" cy="969868"/>
            </a:xfrm>
            <a:custGeom>
              <a:avLst/>
              <a:gdLst/>
              <a:ahLst/>
              <a:cxnLst/>
              <a:rect l="l" t="t" r="r" b="b"/>
              <a:pathLst>
                <a:path w="1385424" h="1385424">
                  <a:moveTo>
                    <a:pt x="0" y="0"/>
                  </a:moveTo>
                  <a:lnTo>
                    <a:pt x="1385424" y="0"/>
                  </a:lnTo>
                  <a:lnTo>
                    <a:pt x="1385424" y="1385424"/>
                  </a:lnTo>
                  <a:lnTo>
                    <a:pt x="0" y="1385424"/>
                  </a:lnTo>
                  <a:lnTo>
                    <a:pt x="0" y="0"/>
                  </a:lnTo>
                  <a:close/>
                </a:path>
              </a:pathLst>
            </a:custGeom>
            <a:blipFill>
              <a:blip r:embed="rId12"/>
              <a:stretch>
                <a:fillRect/>
              </a:stretch>
            </a:blipFill>
          </p:spPr>
        </p:sp>
        <p:sp>
          <p:nvSpPr>
            <p:cNvPr id="60" name="TextBox 60"/>
            <p:cNvSpPr txBox="1"/>
            <p:nvPr/>
          </p:nvSpPr>
          <p:spPr>
            <a:xfrm>
              <a:off x="12060421" y="3042499"/>
              <a:ext cx="1764792" cy="240733"/>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 GABUNGAN</a:t>
              </a:r>
            </a:p>
          </p:txBody>
        </p:sp>
        <p:sp>
          <p:nvSpPr>
            <p:cNvPr id="61" name="TextBox 61"/>
            <p:cNvSpPr txBox="1"/>
            <p:nvPr/>
          </p:nvSpPr>
          <p:spPr>
            <a:xfrm>
              <a:off x="12360317" y="4393924"/>
              <a:ext cx="1356912" cy="312822"/>
            </a:xfrm>
            <a:prstGeom prst="rect">
              <a:avLst/>
            </a:prstGeom>
          </p:spPr>
          <p:txBody>
            <a:bodyPr lIns="0" tIns="0" rIns="0" bIns="0" rtlCol="0" anchor="t">
              <a:spAutoFit/>
            </a:bodyPr>
            <a:lstStyle/>
            <a:p>
              <a:pPr algn="ctr">
                <a:lnSpc>
                  <a:spcPts val="930"/>
                </a:lnSpc>
              </a:pPr>
              <a:r>
                <a:rPr lang="en-US" sz="664" b="1">
                  <a:solidFill>
                    <a:srgbClr val="1800AD"/>
                  </a:solidFill>
                  <a:latin typeface="Canva Sans Bold"/>
                  <a:ea typeface="Canva Sans Bold"/>
                  <a:cs typeface="Canva Sans Bold"/>
                  <a:sym typeface="Canva Sans Bold"/>
                </a:rPr>
                <a:t>Menggabungkan hasil topik CTM dan BERTopic dengan model Jaccard Similiarity</a:t>
              </a:r>
            </a:p>
          </p:txBody>
        </p:sp>
      </p:grpSp>
      <p:grpSp>
        <p:nvGrpSpPr>
          <p:cNvPr id="62" name="Group 62"/>
          <p:cNvGrpSpPr/>
          <p:nvPr/>
        </p:nvGrpSpPr>
        <p:grpSpPr>
          <a:xfrm>
            <a:off x="14061084" y="2726590"/>
            <a:ext cx="1523997" cy="2013311"/>
            <a:chOff x="0" y="0"/>
            <a:chExt cx="825973" cy="1049645"/>
          </a:xfrm>
        </p:grpSpPr>
        <p:sp>
          <p:nvSpPr>
            <p:cNvPr id="63" name="Freeform 63"/>
            <p:cNvSpPr/>
            <p:nvPr/>
          </p:nvSpPr>
          <p:spPr>
            <a:xfrm>
              <a:off x="0" y="0"/>
              <a:ext cx="825973" cy="1049645"/>
            </a:xfrm>
            <a:custGeom>
              <a:avLst/>
              <a:gdLst/>
              <a:ahLst/>
              <a:cxnLst/>
              <a:rect l="l" t="t" r="r" b="b"/>
              <a:pathLst>
                <a:path w="825973" h="1049645">
                  <a:moveTo>
                    <a:pt x="102823" y="0"/>
                  </a:moveTo>
                  <a:lnTo>
                    <a:pt x="723150" y="0"/>
                  </a:lnTo>
                  <a:cubicBezTo>
                    <a:pt x="750420" y="0"/>
                    <a:pt x="776574" y="10833"/>
                    <a:pt x="795857" y="30116"/>
                  </a:cubicBezTo>
                  <a:cubicBezTo>
                    <a:pt x="815140" y="49399"/>
                    <a:pt x="825973" y="75553"/>
                    <a:pt x="825973" y="102823"/>
                  </a:cubicBezTo>
                  <a:lnTo>
                    <a:pt x="825973" y="946822"/>
                  </a:lnTo>
                  <a:cubicBezTo>
                    <a:pt x="825973" y="974092"/>
                    <a:pt x="815140" y="1000246"/>
                    <a:pt x="795857" y="1019529"/>
                  </a:cubicBezTo>
                  <a:cubicBezTo>
                    <a:pt x="776574" y="1038812"/>
                    <a:pt x="750420" y="1049645"/>
                    <a:pt x="723150" y="1049645"/>
                  </a:cubicBezTo>
                  <a:lnTo>
                    <a:pt x="102823" y="1049645"/>
                  </a:lnTo>
                  <a:cubicBezTo>
                    <a:pt x="75553" y="1049645"/>
                    <a:pt x="49399" y="1038812"/>
                    <a:pt x="30116" y="1019529"/>
                  </a:cubicBezTo>
                  <a:cubicBezTo>
                    <a:pt x="10833" y="1000246"/>
                    <a:pt x="0" y="974092"/>
                    <a:pt x="0" y="946822"/>
                  </a:cubicBezTo>
                  <a:lnTo>
                    <a:pt x="0" y="102823"/>
                  </a:lnTo>
                  <a:cubicBezTo>
                    <a:pt x="0" y="75553"/>
                    <a:pt x="10833" y="49399"/>
                    <a:pt x="30116" y="30116"/>
                  </a:cubicBezTo>
                  <a:cubicBezTo>
                    <a:pt x="49399" y="10833"/>
                    <a:pt x="75553" y="0"/>
                    <a:pt x="102823" y="0"/>
                  </a:cubicBezTo>
                  <a:close/>
                </a:path>
              </a:pathLst>
            </a:custGeom>
            <a:solidFill>
              <a:srgbClr val="FFFFFF"/>
            </a:solidFill>
            <a:ln w="38100" cap="rnd">
              <a:solidFill>
                <a:srgbClr val="CF4119"/>
              </a:solidFill>
              <a:prstDash val="solid"/>
              <a:round/>
            </a:ln>
          </p:spPr>
        </p:sp>
        <p:sp>
          <p:nvSpPr>
            <p:cNvPr id="64" name="TextBox 64"/>
            <p:cNvSpPr txBox="1"/>
            <p:nvPr/>
          </p:nvSpPr>
          <p:spPr>
            <a:xfrm>
              <a:off x="0" y="-47625"/>
              <a:ext cx="825973" cy="1097270"/>
            </a:xfrm>
            <a:prstGeom prst="rect">
              <a:avLst/>
            </a:prstGeom>
          </p:spPr>
          <p:txBody>
            <a:bodyPr lIns="31711" tIns="31711" rIns="31711" bIns="31711" rtlCol="0" anchor="ctr"/>
            <a:lstStyle/>
            <a:p>
              <a:pPr algn="ctr">
                <a:lnSpc>
                  <a:spcPts val="2659"/>
                </a:lnSpc>
              </a:pPr>
              <a:endParaRPr/>
            </a:p>
          </p:txBody>
        </p:sp>
      </p:grpSp>
      <p:sp>
        <p:nvSpPr>
          <p:cNvPr id="65" name="Freeform 65"/>
          <p:cNvSpPr/>
          <p:nvPr/>
        </p:nvSpPr>
        <p:spPr>
          <a:xfrm>
            <a:off x="14457513" y="3255568"/>
            <a:ext cx="693404" cy="720836"/>
          </a:xfrm>
          <a:custGeom>
            <a:avLst/>
            <a:gdLst/>
            <a:ahLst/>
            <a:cxnLst/>
            <a:rect l="l" t="t" r="r" b="b"/>
            <a:pathLst>
              <a:path w="1187609" h="1187609">
                <a:moveTo>
                  <a:pt x="0" y="0"/>
                </a:moveTo>
                <a:lnTo>
                  <a:pt x="1187609" y="0"/>
                </a:lnTo>
                <a:lnTo>
                  <a:pt x="1187609" y="1187610"/>
                </a:lnTo>
                <a:lnTo>
                  <a:pt x="0" y="1187610"/>
                </a:lnTo>
                <a:lnTo>
                  <a:pt x="0" y="0"/>
                </a:lnTo>
                <a:close/>
              </a:path>
            </a:pathLst>
          </a:custGeom>
          <a:blipFill>
            <a:blip r:embed="rId13"/>
            <a:stretch>
              <a:fillRect/>
            </a:stretch>
          </a:blipFill>
        </p:spPr>
      </p:sp>
      <p:sp>
        <p:nvSpPr>
          <p:cNvPr id="66" name="TextBox 66"/>
          <p:cNvSpPr txBox="1"/>
          <p:nvPr/>
        </p:nvSpPr>
        <p:spPr>
          <a:xfrm>
            <a:off x="14093145" y="2900369"/>
            <a:ext cx="1459874" cy="208722"/>
          </a:xfrm>
          <a:prstGeom prst="rect">
            <a:avLst/>
          </a:prstGeom>
        </p:spPr>
        <p:txBody>
          <a:bodyPr lIns="0" tIns="0" rIns="0" bIns="0" rtlCol="0" anchor="t">
            <a:spAutoFit/>
          </a:bodyPr>
          <a:lstStyle/>
          <a:p>
            <a:pPr algn="ctr">
              <a:lnSpc>
                <a:spcPts val="2190"/>
              </a:lnSpc>
            </a:pPr>
            <a:r>
              <a:rPr lang="en-US" sz="1564" b="1">
                <a:solidFill>
                  <a:srgbClr val="1800AD"/>
                </a:solidFill>
                <a:latin typeface="Canva Sans Bold"/>
                <a:ea typeface="Canva Sans Bold"/>
                <a:cs typeface="Canva Sans Bold"/>
                <a:sym typeface="Canva Sans Bold"/>
              </a:rPr>
              <a:t>INTEPPRETASI</a:t>
            </a:r>
          </a:p>
        </p:txBody>
      </p:sp>
      <p:sp>
        <p:nvSpPr>
          <p:cNvPr id="67" name="TextBox 67"/>
          <p:cNvSpPr txBox="1"/>
          <p:nvPr/>
        </p:nvSpPr>
        <p:spPr>
          <a:xfrm>
            <a:off x="14341225" y="4072093"/>
            <a:ext cx="1122467" cy="271225"/>
          </a:xfrm>
          <a:prstGeom prst="rect">
            <a:avLst/>
          </a:prstGeom>
        </p:spPr>
        <p:txBody>
          <a:bodyPr lIns="0" tIns="0" rIns="0" bIns="0" rtlCol="0" anchor="t">
            <a:spAutoFit/>
          </a:bodyPr>
          <a:lstStyle/>
          <a:p>
            <a:pPr algn="ctr">
              <a:lnSpc>
                <a:spcPts val="930"/>
              </a:lnSpc>
            </a:pPr>
            <a:r>
              <a:rPr lang="en-US" sz="664" b="1" dirty="0" err="1">
                <a:solidFill>
                  <a:srgbClr val="1800AD"/>
                </a:solidFill>
                <a:latin typeface="Canva Sans Bold"/>
                <a:ea typeface="Canva Sans Bold"/>
                <a:cs typeface="Canva Sans Bold"/>
                <a:sym typeface="Canva Sans Bold"/>
              </a:rPr>
              <a:t>Menginterpretasikan</a:t>
            </a:r>
            <a:r>
              <a:rPr lang="en-US" sz="664" b="1" dirty="0">
                <a:solidFill>
                  <a:srgbClr val="1800AD"/>
                </a:solidFill>
                <a:latin typeface="Canva Sans Bold"/>
                <a:ea typeface="Canva Sans Bold"/>
                <a:cs typeface="Canva Sans Bold"/>
                <a:sym typeface="Canva Sans Bold"/>
              </a:rPr>
              <a:t> Kata </a:t>
            </a:r>
            <a:r>
              <a:rPr lang="en-US" sz="664" b="1" dirty="0" err="1">
                <a:solidFill>
                  <a:srgbClr val="1800AD"/>
                </a:solidFill>
                <a:latin typeface="Canva Sans Bold"/>
                <a:ea typeface="Canva Sans Bold"/>
                <a:cs typeface="Canva Sans Bold"/>
                <a:sym typeface="Canva Sans Bold"/>
              </a:rPr>
              <a:t>kunci</a:t>
            </a:r>
            <a:r>
              <a:rPr lang="en-US" sz="664" b="1" dirty="0">
                <a:solidFill>
                  <a:srgbClr val="1800AD"/>
                </a:solidFill>
                <a:latin typeface="Canva Sans Bold"/>
                <a:ea typeface="Canva Sans Bold"/>
                <a:cs typeface="Canva Sans Bold"/>
                <a:sym typeface="Canva Sans Bold"/>
              </a:rPr>
              <a:t> yang </a:t>
            </a:r>
            <a:r>
              <a:rPr lang="en-US" sz="664" b="1" dirty="0" err="1">
                <a:solidFill>
                  <a:srgbClr val="1800AD"/>
                </a:solidFill>
                <a:latin typeface="Canva Sans Bold"/>
                <a:ea typeface="Canva Sans Bold"/>
                <a:cs typeface="Canva Sans Bold"/>
                <a:sym typeface="Canva Sans Bold"/>
              </a:rPr>
              <a:t>terbentuk</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sesuai</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dengan</a:t>
            </a:r>
            <a:r>
              <a:rPr lang="en-US" sz="664" b="1" dirty="0">
                <a:solidFill>
                  <a:srgbClr val="1800AD"/>
                </a:solidFill>
                <a:latin typeface="Canva Sans Bold"/>
                <a:ea typeface="Canva Sans Bold"/>
                <a:cs typeface="Canva Sans Bold"/>
                <a:sym typeface="Canva Sans Bold"/>
              </a:rPr>
              <a:t> </a:t>
            </a:r>
            <a:r>
              <a:rPr lang="en-US" sz="664" b="1" dirty="0" err="1">
                <a:solidFill>
                  <a:srgbClr val="1800AD"/>
                </a:solidFill>
                <a:latin typeface="Canva Sans Bold"/>
                <a:ea typeface="Canva Sans Bold"/>
                <a:cs typeface="Canva Sans Bold"/>
                <a:sym typeface="Canva Sans Bold"/>
              </a:rPr>
              <a:t>tema</a:t>
            </a:r>
            <a:r>
              <a:rPr lang="en-US" sz="664" b="1" dirty="0">
                <a:solidFill>
                  <a:srgbClr val="1800AD"/>
                </a:solidFill>
                <a:latin typeface="Canva Sans Bold"/>
                <a:ea typeface="Canva Sans Bold"/>
                <a:cs typeface="Canva Sans Bold"/>
                <a:sym typeface="Canva Sans Bold"/>
              </a:rPr>
              <a:t> </a:t>
            </a:r>
          </a:p>
        </p:txBody>
      </p:sp>
      <p:sp>
        <p:nvSpPr>
          <p:cNvPr id="68" name="TextBox 68"/>
          <p:cNvSpPr txBox="1"/>
          <p:nvPr/>
        </p:nvSpPr>
        <p:spPr>
          <a:xfrm>
            <a:off x="1028700" y="1200862"/>
            <a:ext cx="11742081" cy="1009635"/>
          </a:xfrm>
          <a:prstGeom prst="rect">
            <a:avLst/>
          </a:prstGeom>
        </p:spPr>
        <p:txBody>
          <a:bodyPr lIns="0" tIns="0" rIns="0" bIns="0" rtlCol="0" anchor="t">
            <a:spAutoFit/>
          </a:bodyPr>
          <a:lstStyle/>
          <a:p>
            <a:pPr algn="l">
              <a:lnSpc>
                <a:spcPts val="8300"/>
              </a:lnSpc>
            </a:pPr>
            <a:r>
              <a:rPr lang="en-US" sz="5929" b="1" dirty="0">
                <a:solidFill>
                  <a:srgbClr val="1800AD"/>
                </a:solidFill>
                <a:latin typeface="Archivo Narrow Bold"/>
                <a:ea typeface="Archivo Narrow Bold"/>
                <a:cs typeface="Archivo Narrow Bold"/>
                <a:sym typeface="Archivo Narrow Bold"/>
              </a:rPr>
              <a:t>Research Pipeline</a:t>
            </a:r>
          </a:p>
        </p:txBody>
      </p:sp>
      <p:sp>
        <p:nvSpPr>
          <p:cNvPr id="69" name="TextBox 69"/>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dirty="0">
                <a:solidFill>
                  <a:srgbClr val="FF751F"/>
                </a:solidFill>
                <a:latin typeface="Montserrat Bold"/>
                <a:ea typeface="Montserrat Bold"/>
                <a:cs typeface="Montserrat Bold"/>
                <a:sym typeface="Montserrat Bold"/>
              </a:rPr>
              <a:t>05 | </a:t>
            </a:r>
            <a:r>
              <a:rPr lang="en-US" sz="4746" b="1" dirty="0" err="1">
                <a:solidFill>
                  <a:srgbClr val="FF751F"/>
                </a:solidFill>
                <a:latin typeface="Montserrat Bold"/>
                <a:ea typeface="Montserrat Bold"/>
                <a:cs typeface="Montserrat Bold"/>
                <a:sym typeface="Montserrat Bold"/>
              </a:rPr>
              <a:t>Metodelogi</a:t>
            </a:r>
            <a:endParaRPr lang="en-US" sz="4746" b="1" dirty="0">
              <a:solidFill>
                <a:srgbClr val="FF751F"/>
              </a:solidFill>
              <a:latin typeface="Montserrat Bold"/>
              <a:ea typeface="Montserrat Bold"/>
              <a:cs typeface="Montserrat Bold"/>
              <a:sym typeface="Montserrat Bold"/>
            </a:endParaRPr>
          </a:p>
        </p:txBody>
      </p:sp>
      <p:sp>
        <p:nvSpPr>
          <p:cNvPr id="75" name="Freeform 16">
            <a:extLst>
              <a:ext uri="{FF2B5EF4-FFF2-40B4-BE49-F238E27FC236}">
                <a16:creationId xmlns:a16="http://schemas.microsoft.com/office/drawing/2014/main" id="{42DBB169-7411-2F0D-6D33-1335DA9C3733}"/>
              </a:ext>
            </a:extLst>
          </p:cNvPr>
          <p:cNvSpPr/>
          <p:nvPr/>
        </p:nvSpPr>
        <p:spPr>
          <a:xfrm>
            <a:off x="533400" y="4876506"/>
            <a:ext cx="16421099" cy="4696691"/>
          </a:xfrm>
          <a:custGeom>
            <a:avLst/>
            <a:gdLst/>
            <a:ahLst/>
            <a:cxnLst/>
            <a:rect l="l" t="t" r="r" b="b"/>
            <a:pathLst>
              <a:path w="11203811" h="6731551">
                <a:moveTo>
                  <a:pt x="0" y="0"/>
                </a:moveTo>
                <a:lnTo>
                  <a:pt x="11203811" y="0"/>
                </a:lnTo>
                <a:lnTo>
                  <a:pt x="11203811" y="6731551"/>
                </a:lnTo>
                <a:lnTo>
                  <a:pt x="0" y="6731551"/>
                </a:lnTo>
                <a:lnTo>
                  <a:pt x="0" y="0"/>
                </a:lnTo>
                <a:close/>
              </a:path>
            </a:pathLst>
          </a:custGeom>
          <a:blipFill>
            <a:blip r:embed="rId14"/>
            <a:stretch>
              <a:fillRect t="-8902" b="-1985"/>
            </a:stretch>
          </a:blipFill>
        </p:spPr>
      </p:sp>
      <p:sp>
        <p:nvSpPr>
          <p:cNvPr id="77" name="TextBox 67">
            <a:extLst>
              <a:ext uri="{FF2B5EF4-FFF2-40B4-BE49-F238E27FC236}">
                <a16:creationId xmlns:a16="http://schemas.microsoft.com/office/drawing/2014/main" id="{0B240000-E7E5-D111-BFCC-62B36194C4E1}"/>
              </a:ext>
            </a:extLst>
          </p:cNvPr>
          <p:cNvSpPr txBox="1"/>
          <p:nvPr/>
        </p:nvSpPr>
        <p:spPr>
          <a:xfrm>
            <a:off x="14318365" y="4487331"/>
            <a:ext cx="1122467" cy="108556"/>
          </a:xfrm>
          <a:prstGeom prst="rect">
            <a:avLst/>
          </a:prstGeom>
        </p:spPr>
        <p:txBody>
          <a:bodyPr lIns="0" tIns="0" rIns="0" bIns="0" rtlCol="0" anchor="t">
            <a:spAutoFit/>
          </a:bodyPr>
          <a:lstStyle/>
          <a:p>
            <a:pPr algn="ctr">
              <a:lnSpc>
                <a:spcPts val="930"/>
              </a:lnSpc>
            </a:pPr>
            <a:r>
              <a:rPr lang="en-US" sz="664" b="1" dirty="0">
                <a:solidFill>
                  <a:srgbClr val="1800AD"/>
                </a:solidFill>
                <a:latin typeface="Canva Sans Bold"/>
                <a:ea typeface="Canva Sans Bold"/>
                <a:cs typeface="Canva Sans Bold"/>
                <a:sym typeface="Canva Sans Bold"/>
              </a:rPr>
              <a:t>Human Interpretability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3421339" y="2796810"/>
            <a:ext cx="11203811" cy="6731551"/>
          </a:xfrm>
          <a:custGeom>
            <a:avLst/>
            <a:gdLst/>
            <a:ahLst/>
            <a:cxnLst/>
            <a:rect l="l" t="t" r="r" b="b"/>
            <a:pathLst>
              <a:path w="11203811" h="6731551">
                <a:moveTo>
                  <a:pt x="0" y="0"/>
                </a:moveTo>
                <a:lnTo>
                  <a:pt x="11203811" y="0"/>
                </a:lnTo>
                <a:lnTo>
                  <a:pt x="11203811" y="6731551"/>
                </a:lnTo>
                <a:lnTo>
                  <a:pt x="0" y="6731551"/>
                </a:lnTo>
                <a:lnTo>
                  <a:pt x="0" y="0"/>
                </a:lnTo>
                <a:close/>
              </a:path>
            </a:pathLst>
          </a:custGeom>
          <a:blipFill>
            <a:blip r:embed="rId4"/>
            <a:stretch>
              <a:fillRect t="-8902" b="-1985"/>
            </a:stretch>
          </a:blipFill>
        </p:spPr>
      </p:sp>
      <p:sp>
        <p:nvSpPr>
          <p:cNvPr id="17" name="TextBox 17"/>
          <p:cNvSpPr txBox="1"/>
          <p:nvPr/>
        </p:nvSpPr>
        <p:spPr>
          <a:xfrm>
            <a:off x="1028700" y="1200862"/>
            <a:ext cx="11742081" cy="2068060"/>
          </a:xfrm>
          <a:prstGeom prst="rect">
            <a:avLst/>
          </a:prstGeom>
        </p:spPr>
        <p:txBody>
          <a:bodyPr lIns="0" tIns="0" rIns="0" bIns="0" rtlCol="0" anchor="t">
            <a:spAutoFit/>
          </a:bodyPr>
          <a:lstStyle/>
          <a:p>
            <a:pPr algn="l">
              <a:lnSpc>
                <a:spcPts val="8300"/>
              </a:lnSpc>
            </a:pPr>
            <a:r>
              <a:rPr lang="en-US" sz="5929" b="1">
                <a:solidFill>
                  <a:srgbClr val="1800AD"/>
                </a:solidFill>
                <a:latin typeface="Archivo Narrow Bold"/>
                <a:ea typeface="Archivo Narrow Bold"/>
                <a:cs typeface="Archivo Narrow Bold"/>
                <a:sym typeface="Archivo Narrow Bold"/>
              </a:rPr>
              <a:t>Research Pipeline</a:t>
            </a:r>
          </a:p>
          <a:p>
            <a:pPr algn="l">
              <a:lnSpc>
                <a:spcPts val="8300"/>
              </a:lnSpc>
              <a:spcBef>
                <a:spcPct val="0"/>
              </a:spcBef>
            </a:pPr>
            <a:endParaRPr lang="en-US" sz="5929" b="1">
              <a:solidFill>
                <a:srgbClr val="1800AD"/>
              </a:solidFill>
              <a:latin typeface="Archivo Narrow Bold"/>
              <a:ea typeface="Archivo Narrow Bold"/>
              <a:cs typeface="Archivo Narrow Bold"/>
              <a:sym typeface="Archivo Narrow Bold"/>
            </a:endParaRPr>
          </a:p>
        </p:txBody>
      </p:sp>
      <p:sp>
        <p:nvSpPr>
          <p:cNvPr id="18" name="TextBox 18"/>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04 | Metodelogi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7724579" y="3061834"/>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2866368"/>
            <a:ext cx="7204666" cy="801526"/>
            <a:chOff x="0" y="0"/>
            <a:chExt cx="2773450" cy="308549"/>
          </a:xfrm>
        </p:grpSpPr>
        <p:sp>
          <p:nvSpPr>
            <p:cNvPr id="17" name="Freeform 17"/>
            <p:cNvSpPr/>
            <p:nvPr/>
          </p:nvSpPr>
          <p:spPr>
            <a:xfrm>
              <a:off x="0" y="0"/>
              <a:ext cx="2773450" cy="308549"/>
            </a:xfrm>
            <a:custGeom>
              <a:avLst/>
              <a:gdLst/>
              <a:ahLst/>
              <a:cxnLst/>
              <a:rect l="l" t="t" r="r" b="b"/>
              <a:pathLst>
                <a:path w="2773450" h="308549">
                  <a:moveTo>
                    <a:pt x="27939" y="0"/>
                  </a:moveTo>
                  <a:lnTo>
                    <a:pt x="2745511" y="0"/>
                  </a:lnTo>
                  <a:cubicBezTo>
                    <a:pt x="2760941" y="0"/>
                    <a:pt x="2773450" y="12509"/>
                    <a:pt x="2773450" y="27939"/>
                  </a:cubicBezTo>
                  <a:lnTo>
                    <a:pt x="2773450" y="280610"/>
                  </a:lnTo>
                  <a:cubicBezTo>
                    <a:pt x="2773450" y="288020"/>
                    <a:pt x="2770506" y="295126"/>
                    <a:pt x="2765267" y="300366"/>
                  </a:cubicBezTo>
                  <a:cubicBezTo>
                    <a:pt x="2760027" y="305605"/>
                    <a:pt x="2752921" y="308549"/>
                    <a:pt x="2745511" y="308549"/>
                  </a:cubicBezTo>
                  <a:lnTo>
                    <a:pt x="27939" y="308549"/>
                  </a:lnTo>
                  <a:cubicBezTo>
                    <a:pt x="20529" y="308549"/>
                    <a:pt x="13423" y="305605"/>
                    <a:pt x="8183" y="300366"/>
                  </a:cubicBezTo>
                  <a:cubicBezTo>
                    <a:pt x="2944" y="295126"/>
                    <a:pt x="0" y="288020"/>
                    <a:pt x="0" y="280610"/>
                  </a:cubicBezTo>
                  <a:lnTo>
                    <a:pt x="0" y="27939"/>
                  </a:lnTo>
                  <a:cubicBezTo>
                    <a:pt x="0" y="20529"/>
                    <a:pt x="2944" y="13423"/>
                    <a:pt x="8183" y="8183"/>
                  </a:cubicBezTo>
                  <a:cubicBezTo>
                    <a:pt x="13423" y="2944"/>
                    <a:pt x="20529" y="0"/>
                    <a:pt x="27939" y="0"/>
                  </a:cubicBezTo>
                  <a:close/>
                </a:path>
              </a:pathLst>
            </a:custGeom>
            <a:solidFill>
              <a:srgbClr val="FFFFFF"/>
            </a:solidFill>
            <a:ln w="38100" cap="rnd">
              <a:solidFill>
                <a:srgbClr val="00BF63"/>
              </a:solidFill>
              <a:prstDash val="solid"/>
              <a:round/>
            </a:ln>
          </p:spPr>
        </p:sp>
        <p:sp>
          <p:nvSpPr>
            <p:cNvPr id="18" name="TextBox 18"/>
            <p:cNvSpPr txBox="1"/>
            <p:nvPr/>
          </p:nvSpPr>
          <p:spPr>
            <a:xfrm>
              <a:off x="0" y="-47625"/>
              <a:ext cx="2773450" cy="356174"/>
            </a:xfrm>
            <a:prstGeom prst="rect">
              <a:avLst/>
            </a:prstGeom>
          </p:spPr>
          <p:txBody>
            <a:bodyPr lIns="34756" tIns="34756" rIns="34756" bIns="34756" rtlCol="0" anchor="ctr"/>
            <a:lstStyle/>
            <a:p>
              <a:pPr algn="ctr">
                <a:lnSpc>
                  <a:spcPts val="2659"/>
                </a:lnSpc>
              </a:pPr>
              <a:endParaRPr/>
            </a:p>
          </p:txBody>
        </p:sp>
      </p:grpSp>
      <p:sp>
        <p:nvSpPr>
          <p:cNvPr id="19" name="Freeform 19"/>
          <p:cNvSpPr/>
          <p:nvPr/>
        </p:nvSpPr>
        <p:spPr>
          <a:xfrm>
            <a:off x="1156363" y="2946551"/>
            <a:ext cx="671693" cy="641162"/>
          </a:xfrm>
          <a:custGeom>
            <a:avLst/>
            <a:gdLst/>
            <a:ahLst/>
            <a:cxnLst/>
            <a:rect l="l" t="t" r="r" b="b"/>
            <a:pathLst>
              <a:path w="671693" h="641162">
                <a:moveTo>
                  <a:pt x="0" y="0"/>
                </a:moveTo>
                <a:lnTo>
                  <a:pt x="671693" y="0"/>
                </a:lnTo>
                <a:lnTo>
                  <a:pt x="671693" y="641161"/>
                </a:lnTo>
                <a:lnTo>
                  <a:pt x="0" y="64116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0" name="Group 20"/>
          <p:cNvGrpSpPr/>
          <p:nvPr/>
        </p:nvGrpSpPr>
        <p:grpSpPr>
          <a:xfrm>
            <a:off x="9144000" y="2866368"/>
            <a:ext cx="8115300" cy="801526"/>
            <a:chOff x="0" y="0"/>
            <a:chExt cx="3124000" cy="308549"/>
          </a:xfrm>
        </p:grpSpPr>
        <p:sp>
          <p:nvSpPr>
            <p:cNvPr id="21" name="Freeform 21"/>
            <p:cNvSpPr/>
            <p:nvPr/>
          </p:nvSpPr>
          <p:spPr>
            <a:xfrm>
              <a:off x="0" y="0"/>
              <a:ext cx="3124000" cy="308549"/>
            </a:xfrm>
            <a:custGeom>
              <a:avLst/>
              <a:gdLst/>
              <a:ahLst/>
              <a:cxnLst/>
              <a:rect l="l" t="t" r="r" b="b"/>
              <a:pathLst>
                <a:path w="3124000" h="308549">
                  <a:moveTo>
                    <a:pt x="24804" y="0"/>
                  </a:moveTo>
                  <a:lnTo>
                    <a:pt x="3099196" y="0"/>
                  </a:lnTo>
                  <a:cubicBezTo>
                    <a:pt x="3105775" y="0"/>
                    <a:pt x="3112083" y="2613"/>
                    <a:pt x="3116735" y="7265"/>
                  </a:cubicBezTo>
                  <a:cubicBezTo>
                    <a:pt x="3121387" y="11916"/>
                    <a:pt x="3124000" y="18225"/>
                    <a:pt x="3124000" y="24804"/>
                  </a:cubicBezTo>
                  <a:lnTo>
                    <a:pt x="3124000" y="283745"/>
                  </a:lnTo>
                  <a:cubicBezTo>
                    <a:pt x="3124000" y="290324"/>
                    <a:pt x="3121387" y="296633"/>
                    <a:pt x="3116735" y="301284"/>
                  </a:cubicBezTo>
                  <a:cubicBezTo>
                    <a:pt x="3112083" y="305936"/>
                    <a:pt x="3105775" y="308549"/>
                    <a:pt x="3099196" y="308549"/>
                  </a:cubicBezTo>
                  <a:lnTo>
                    <a:pt x="24804" y="308549"/>
                  </a:lnTo>
                  <a:cubicBezTo>
                    <a:pt x="18225" y="308549"/>
                    <a:pt x="11916" y="305936"/>
                    <a:pt x="7265" y="301284"/>
                  </a:cubicBezTo>
                  <a:cubicBezTo>
                    <a:pt x="2613" y="296633"/>
                    <a:pt x="0" y="290324"/>
                    <a:pt x="0" y="283745"/>
                  </a:cubicBezTo>
                  <a:lnTo>
                    <a:pt x="0" y="24804"/>
                  </a:lnTo>
                  <a:cubicBezTo>
                    <a:pt x="0" y="18225"/>
                    <a:pt x="2613" y="11916"/>
                    <a:pt x="7265" y="7265"/>
                  </a:cubicBezTo>
                  <a:cubicBezTo>
                    <a:pt x="11916" y="2613"/>
                    <a:pt x="18225" y="0"/>
                    <a:pt x="24804" y="0"/>
                  </a:cubicBezTo>
                  <a:close/>
                </a:path>
              </a:pathLst>
            </a:custGeom>
            <a:solidFill>
              <a:srgbClr val="FFFFFF"/>
            </a:solidFill>
            <a:ln w="38100" cap="rnd">
              <a:solidFill>
                <a:srgbClr val="00BF63"/>
              </a:solidFill>
              <a:prstDash val="solid"/>
              <a:round/>
            </a:ln>
          </p:spPr>
        </p:sp>
        <p:sp>
          <p:nvSpPr>
            <p:cNvPr id="22" name="TextBox 22"/>
            <p:cNvSpPr txBox="1"/>
            <p:nvPr/>
          </p:nvSpPr>
          <p:spPr>
            <a:xfrm>
              <a:off x="0" y="-47625"/>
              <a:ext cx="3124000" cy="356174"/>
            </a:xfrm>
            <a:prstGeom prst="rect">
              <a:avLst/>
            </a:prstGeom>
          </p:spPr>
          <p:txBody>
            <a:bodyPr lIns="34756" tIns="34756" rIns="34756" bIns="34756" rtlCol="0" anchor="ctr"/>
            <a:lstStyle/>
            <a:p>
              <a:pPr algn="ctr">
                <a:lnSpc>
                  <a:spcPts val="2659"/>
                </a:lnSpc>
              </a:pPr>
              <a:endParaRPr/>
            </a:p>
          </p:txBody>
        </p:sp>
      </p:grpSp>
      <p:sp>
        <p:nvSpPr>
          <p:cNvPr id="23" name="Freeform 23"/>
          <p:cNvSpPr/>
          <p:nvPr/>
        </p:nvSpPr>
        <p:spPr>
          <a:xfrm>
            <a:off x="9415186" y="2946551"/>
            <a:ext cx="671693" cy="641162"/>
          </a:xfrm>
          <a:custGeom>
            <a:avLst/>
            <a:gdLst/>
            <a:ahLst/>
            <a:cxnLst/>
            <a:rect l="l" t="t" r="r" b="b"/>
            <a:pathLst>
              <a:path w="671693" h="641162">
                <a:moveTo>
                  <a:pt x="0" y="0"/>
                </a:moveTo>
                <a:lnTo>
                  <a:pt x="671693" y="0"/>
                </a:lnTo>
                <a:lnTo>
                  <a:pt x="671693" y="641161"/>
                </a:lnTo>
                <a:lnTo>
                  <a:pt x="0" y="64116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4" name="Group 24"/>
          <p:cNvGrpSpPr/>
          <p:nvPr/>
        </p:nvGrpSpPr>
        <p:grpSpPr>
          <a:xfrm>
            <a:off x="8447614" y="3091555"/>
            <a:ext cx="482138" cy="482138"/>
            <a:chOff x="0" y="0"/>
            <a:chExt cx="812800" cy="812800"/>
          </a:xfrm>
        </p:grpSpPr>
        <p:sp>
          <p:nvSpPr>
            <p:cNvPr id="25" name="Freeform 2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FFF"/>
            </a:solidFill>
            <a:ln w="38100" cap="sq">
              <a:solidFill>
                <a:srgbClr val="00BF63"/>
              </a:solidFill>
              <a:prstDash val="solid"/>
              <a:miter/>
            </a:ln>
          </p:spPr>
        </p:sp>
        <p:sp>
          <p:nvSpPr>
            <p:cNvPr id="26" name="TextBox 26"/>
            <p:cNvSpPr txBox="1"/>
            <p:nvPr/>
          </p:nvSpPr>
          <p:spPr>
            <a:xfrm>
              <a:off x="0" y="155575"/>
              <a:ext cx="711200" cy="454025"/>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156363" y="3906020"/>
            <a:ext cx="4065711" cy="1980318"/>
            <a:chOff x="0" y="0"/>
            <a:chExt cx="1565103" cy="762327"/>
          </a:xfrm>
        </p:grpSpPr>
        <p:sp>
          <p:nvSpPr>
            <p:cNvPr id="28" name="Freeform 28"/>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29" name="TextBox 29"/>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0" name="Group 30"/>
          <p:cNvGrpSpPr/>
          <p:nvPr/>
        </p:nvGrpSpPr>
        <p:grpSpPr>
          <a:xfrm>
            <a:off x="5501523" y="3906020"/>
            <a:ext cx="4065711" cy="1980318"/>
            <a:chOff x="0" y="0"/>
            <a:chExt cx="1565103" cy="762327"/>
          </a:xfrm>
        </p:grpSpPr>
        <p:sp>
          <p:nvSpPr>
            <p:cNvPr id="31" name="Freeform 31"/>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32" name="TextBox 32"/>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3" name="Group 33"/>
          <p:cNvGrpSpPr/>
          <p:nvPr/>
        </p:nvGrpSpPr>
        <p:grpSpPr>
          <a:xfrm>
            <a:off x="9586604" y="3906020"/>
            <a:ext cx="4065711" cy="1980318"/>
            <a:chOff x="0" y="0"/>
            <a:chExt cx="1565103" cy="762327"/>
          </a:xfrm>
        </p:grpSpPr>
        <p:sp>
          <p:nvSpPr>
            <p:cNvPr id="34" name="Freeform 34"/>
            <p:cNvSpPr/>
            <p:nvPr/>
          </p:nvSpPr>
          <p:spPr>
            <a:xfrm>
              <a:off x="0" y="0"/>
              <a:ext cx="1565103" cy="762327"/>
            </a:xfrm>
            <a:custGeom>
              <a:avLst/>
              <a:gdLst/>
              <a:ahLst/>
              <a:cxnLst/>
              <a:rect l="l" t="t" r="r" b="b"/>
              <a:pathLst>
                <a:path w="1565103" h="762327">
                  <a:moveTo>
                    <a:pt x="49509" y="0"/>
                  </a:moveTo>
                  <a:lnTo>
                    <a:pt x="1515594" y="0"/>
                  </a:lnTo>
                  <a:cubicBezTo>
                    <a:pt x="1542937" y="0"/>
                    <a:pt x="1565103" y="22166"/>
                    <a:pt x="1565103" y="49509"/>
                  </a:cubicBezTo>
                  <a:lnTo>
                    <a:pt x="1565103" y="712818"/>
                  </a:lnTo>
                  <a:cubicBezTo>
                    <a:pt x="1565103" y="740161"/>
                    <a:pt x="1542937" y="762327"/>
                    <a:pt x="1515594" y="762327"/>
                  </a:cubicBezTo>
                  <a:lnTo>
                    <a:pt x="49509" y="762327"/>
                  </a:lnTo>
                  <a:cubicBezTo>
                    <a:pt x="22166" y="762327"/>
                    <a:pt x="0" y="740161"/>
                    <a:pt x="0" y="712818"/>
                  </a:cubicBezTo>
                  <a:lnTo>
                    <a:pt x="0" y="49509"/>
                  </a:lnTo>
                  <a:cubicBezTo>
                    <a:pt x="0" y="22166"/>
                    <a:pt x="22166" y="0"/>
                    <a:pt x="49509" y="0"/>
                  </a:cubicBezTo>
                  <a:close/>
                </a:path>
              </a:pathLst>
            </a:custGeom>
            <a:solidFill>
              <a:srgbClr val="FFFFFF"/>
            </a:solidFill>
            <a:ln w="38100" cap="rnd">
              <a:solidFill>
                <a:srgbClr val="00BF63"/>
              </a:solidFill>
              <a:prstDash val="solid"/>
              <a:round/>
            </a:ln>
          </p:spPr>
        </p:sp>
        <p:sp>
          <p:nvSpPr>
            <p:cNvPr id="35" name="TextBox 35"/>
            <p:cNvSpPr txBox="1"/>
            <p:nvPr/>
          </p:nvSpPr>
          <p:spPr>
            <a:xfrm>
              <a:off x="0" y="-47625"/>
              <a:ext cx="1565103" cy="809952"/>
            </a:xfrm>
            <a:prstGeom prst="rect">
              <a:avLst/>
            </a:prstGeom>
          </p:spPr>
          <p:txBody>
            <a:bodyPr lIns="34756" tIns="34756" rIns="34756" bIns="34756" rtlCol="0" anchor="ctr"/>
            <a:lstStyle/>
            <a:p>
              <a:pPr algn="ctr">
                <a:lnSpc>
                  <a:spcPts val="2659"/>
                </a:lnSpc>
              </a:pPr>
              <a:endParaRPr/>
            </a:p>
          </p:txBody>
        </p:sp>
      </p:grpSp>
      <p:grpSp>
        <p:nvGrpSpPr>
          <p:cNvPr id="36" name="Group 36"/>
          <p:cNvGrpSpPr/>
          <p:nvPr/>
        </p:nvGrpSpPr>
        <p:grpSpPr>
          <a:xfrm>
            <a:off x="13801725" y="3906020"/>
            <a:ext cx="3457575" cy="1980318"/>
            <a:chOff x="0" y="0"/>
            <a:chExt cx="1331000" cy="762327"/>
          </a:xfrm>
        </p:grpSpPr>
        <p:sp>
          <p:nvSpPr>
            <p:cNvPr id="37" name="Freeform 37"/>
            <p:cNvSpPr/>
            <p:nvPr/>
          </p:nvSpPr>
          <p:spPr>
            <a:xfrm>
              <a:off x="0" y="0"/>
              <a:ext cx="1331000" cy="762327"/>
            </a:xfrm>
            <a:custGeom>
              <a:avLst/>
              <a:gdLst/>
              <a:ahLst/>
              <a:cxnLst/>
              <a:rect l="l" t="t" r="r" b="b"/>
              <a:pathLst>
                <a:path w="1331000" h="762327">
                  <a:moveTo>
                    <a:pt x="58217" y="0"/>
                  </a:moveTo>
                  <a:lnTo>
                    <a:pt x="1272783" y="0"/>
                  </a:lnTo>
                  <a:cubicBezTo>
                    <a:pt x="1304935" y="0"/>
                    <a:pt x="1331000" y="26065"/>
                    <a:pt x="1331000" y="58217"/>
                  </a:cubicBezTo>
                  <a:lnTo>
                    <a:pt x="1331000" y="704110"/>
                  </a:lnTo>
                  <a:cubicBezTo>
                    <a:pt x="1331000" y="719550"/>
                    <a:pt x="1324867" y="734358"/>
                    <a:pt x="1313949" y="745276"/>
                  </a:cubicBezTo>
                  <a:cubicBezTo>
                    <a:pt x="1303031" y="756194"/>
                    <a:pt x="1288223" y="762327"/>
                    <a:pt x="1272783" y="762327"/>
                  </a:cubicBezTo>
                  <a:lnTo>
                    <a:pt x="58217" y="762327"/>
                  </a:lnTo>
                  <a:cubicBezTo>
                    <a:pt x="26065" y="762327"/>
                    <a:pt x="0" y="736263"/>
                    <a:pt x="0" y="704110"/>
                  </a:cubicBezTo>
                  <a:lnTo>
                    <a:pt x="0" y="58217"/>
                  </a:lnTo>
                  <a:cubicBezTo>
                    <a:pt x="0" y="26065"/>
                    <a:pt x="26065" y="0"/>
                    <a:pt x="58217" y="0"/>
                  </a:cubicBezTo>
                  <a:close/>
                </a:path>
              </a:pathLst>
            </a:custGeom>
            <a:solidFill>
              <a:srgbClr val="FFFFFF"/>
            </a:solidFill>
            <a:ln w="38100" cap="rnd">
              <a:solidFill>
                <a:srgbClr val="00BF63"/>
              </a:solidFill>
              <a:prstDash val="solid"/>
              <a:round/>
            </a:ln>
          </p:spPr>
        </p:sp>
        <p:sp>
          <p:nvSpPr>
            <p:cNvPr id="38" name="TextBox 38"/>
            <p:cNvSpPr txBox="1"/>
            <p:nvPr/>
          </p:nvSpPr>
          <p:spPr>
            <a:xfrm>
              <a:off x="0" y="-47625"/>
              <a:ext cx="1331000" cy="809952"/>
            </a:xfrm>
            <a:prstGeom prst="rect">
              <a:avLst/>
            </a:prstGeom>
          </p:spPr>
          <p:txBody>
            <a:bodyPr lIns="34756" tIns="34756" rIns="34756" bIns="34756" rtlCol="0" anchor="ctr"/>
            <a:lstStyle/>
            <a:p>
              <a:pPr algn="ctr">
                <a:lnSpc>
                  <a:spcPts val="2659"/>
                </a:lnSpc>
              </a:pPr>
              <a:endParaRPr/>
            </a:p>
          </p:txBody>
        </p:sp>
      </p:grpSp>
      <p:graphicFrame>
        <p:nvGraphicFramePr>
          <p:cNvPr id="39" name="Table 39"/>
          <p:cNvGraphicFramePr>
            <a:graphicFrameLocks noGrp="1"/>
          </p:cNvGraphicFramePr>
          <p:nvPr/>
        </p:nvGraphicFramePr>
        <p:xfrm>
          <a:off x="3189219" y="6298576"/>
          <a:ext cx="11077473" cy="3124200"/>
        </p:xfrm>
        <a:graphic>
          <a:graphicData uri="http://schemas.openxmlformats.org/drawingml/2006/table">
            <a:tbl>
              <a:tblPr/>
              <a:tblGrid>
                <a:gridCol w="2075514">
                  <a:extLst>
                    <a:ext uri="{9D8B030D-6E8A-4147-A177-3AD203B41FA5}">
                      <a16:colId xmlns:a16="http://schemas.microsoft.com/office/drawing/2014/main" val="20000"/>
                    </a:ext>
                  </a:extLst>
                </a:gridCol>
                <a:gridCol w="2075514">
                  <a:extLst>
                    <a:ext uri="{9D8B030D-6E8A-4147-A177-3AD203B41FA5}">
                      <a16:colId xmlns:a16="http://schemas.microsoft.com/office/drawing/2014/main" val="20001"/>
                    </a:ext>
                  </a:extLst>
                </a:gridCol>
                <a:gridCol w="6926445">
                  <a:extLst>
                    <a:ext uri="{9D8B030D-6E8A-4147-A177-3AD203B41FA5}">
                      <a16:colId xmlns:a16="http://schemas.microsoft.com/office/drawing/2014/main" val="20002"/>
                    </a:ext>
                  </a:extLst>
                </a:gridCol>
              </a:tblGrid>
              <a:tr h="781050">
                <a:tc>
                  <a:txBody>
                    <a:bodyPr/>
                    <a:lstStyle/>
                    <a:p>
                      <a:pPr algn="ctr">
                        <a:lnSpc>
                          <a:spcPts val="2659"/>
                        </a:lnSpc>
                        <a:defRPr/>
                      </a:pPr>
                      <a:r>
                        <a:rPr lang="en-US" sz="1899">
                          <a:solidFill>
                            <a:srgbClr val="000000"/>
                          </a:solidFill>
                          <a:latin typeface="Antic Bold"/>
                          <a:ea typeface="Antic Bold"/>
                          <a:cs typeface="Antic Bold"/>
                          <a:sym typeface="Antic Bold"/>
                        </a:rPr>
                        <a:t>Kolom</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tc>
                  <a:txBody>
                    <a:bodyPr/>
                    <a:lstStyle/>
                    <a:p>
                      <a:pPr algn="ctr">
                        <a:lnSpc>
                          <a:spcPts val="2659"/>
                        </a:lnSpc>
                        <a:defRPr/>
                      </a:pPr>
                      <a:r>
                        <a:rPr lang="en-US" sz="1899">
                          <a:solidFill>
                            <a:srgbClr val="000000"/>
                          </a:solidFill>
                          <a:latin typeface="Antic Bold"/>
                          <a:ea typeface="Antic Bold"/>
                          <a:cs typeface="Antic Bold"/>
                          <a:sym typeface="Antic Bold"/>
                        </a:rPr>
                        <a:t>Tipe</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tc>
                  <a:txBody>
                    <a:bodyPr/>
                    <a:lstStyle/>
                    <a:p>
                      <a:pPr algn="ctr">
                        <a:lnSpc>
                          <a:spcPts val="2659"/>
                        </a:lnSpc>
                        <a:defRPr/>
                      </a:pPr>
                      <a:r>
                        <a:rPr lang="en-US" sz="1899">
                          <a:solidFill>
                            <a:srgbClr val="000000"/>
                          </a:solidFill>
                          <a:latin typeface="Antic Bold"/>
                          <a:ea typeface="Antic Bold"/>
                          <a:cs typeface="Antic Bold"/>
                          <a:sym typeface="Antic Bold"/>
                        </a:rPr>
                        <a:t>Deskripsi</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solidFill>
                      <a:srgbClr val="7ED957"/>
                    </a:solidFill>
                  </a:tcPr>
                </a:tc>
                <a:extLst>
                  <a:ext uri="{0D108BD9-81ED-4DB2-BD59-A6C34878D82A}">
                    <a16:rowId xmlns:a16="http://schemas.microsoft.com/office/drawing/2014/main" val="10000"/>
                  </a:ext>
                </a:extLst>
              </a:tr>
              <a:tr h="781050">
                <a:tc>
                  <a:txBody>
                    <a:bodyPr/>
                    <a:lstStyle/>
                    <a:p>
                      <a:pPr algn="ctr">
                        <a:lnSpc>
                          <a:spcPts val="2659"/>
                        </a:lnSpc>
                        <a:defRPr/>
                      </a:pPr>
                      <a:r>
                        <a:rPr lang="en-US" sz="1899">
                          <a:solidFill>
                            <a:srgbClr val="000000"/>
                          </a:solidFill>
                          <a:latin typeface="Antic"/>
                          <a:ea typeface="Antic"/>
                          <a:cs typeface="Antic"/>
                          <a:sym typeface="Antic"/>
                        </a:rPr>
                        <a:t>Surat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INT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Nomor surat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1"/>
                  </a:ext>
                </a:extLst>
              </a:tr>
              <a:tr h="781050">
                <a:tc>
                  <a:txBody>
                    <a:bodyPr/>
                    <a:lstStyle/>
                    <a:p>
                      <a:pPr algn="ctr">
                        <a:lnSpc>
                          <a:spcPts val="2659"/>
                        </a:lnSpc>
                        <a:defRPr/>
                      </a:pPr>
                      <a:r>
                        <a:rPr lang="en-US" sz="1899">
                          <a:solidFill>
                            <a:srgbClr val="000000"/>
                          </a:solidFill>
                          <a:latin typeface="Antic"/>
                          <a:ea typeface="Antic"/>
                          <a:cs typeface="Antic"/>
                          <a:sym typeface="Antic"/>
                        </a:rPr>
                        <a:t>Ayat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INT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Nomor Ayat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2"/>
                  </a:ext>
                </a:extLst>
              </a:tr>
              <a:tr h="781050">
                <a:tc>
                  <a:txBody>
                    <a:bodyPr/>
                    <a:lstStyle/>
                    <a:p>
                      <a:pPr algn="ctr">
                        <a:lnSpc>
                          <a:spcPts val="2659"/>
                        </a:lnSpc>
                        <a:defRPr/>
                      </a:pPr>
                      <a:r>
                        <a:rPr lang="en-US" sz="1899">
                          <a:solidFill>
                            <a:srgbClr val="000000"/>
                          </a:solidFill>
                          <a:latin typeface="Antic"/>
                          <a:ea typeface="Antic"/>
                          <a:cs typeface="Antic"/>
                          <a:sym typeface="Antic"/>
                        </a:rPr>
                        <a:t>Teks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TEKS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2659"/>
                        </a:lnSpc>
                        <a:defRPr/>
                      </a:pPr>
                      <a:r>
                        <a:rPr lang="en-US" sz="1899">
                          <a:solidFill>
                            <a:srgbClr val="000000"/>
                          </a:solidFill>
                          <a:latin typeface="Antic"/>
                          <a:ea typeface="Antic"/>
                          <a:cs typeface="Antic"/>
                          <a:sym typeface="Antic"/>
                        </a:rPr>
                        <a:t>Teks Terjemahan </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0" name="TextBox 40"/>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Terjemahan Al-Quran Bahasa Indonesia</a:t>
            </a:r>
          </a:p>
        </p:txBody>
      </p:sp>
      <p:sp>
        <p:nvSpPr>
          <p:cNvPr id="41" name="TextBox 41"/>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05 | Dataset</a:t>
            </a:r>
          </a:p>
        </p:txBody>
      </p:sp>
      <p:sp>
        <p:nvSpPr>
          <p:cNvPr id="42" name="TextBox 42"/>
          <p:cNvSpPr txBox="1"/>
          <p:nvPr/>
        </p:nvSpPr>
        <p:spPr>
          <a:xfrm>
            <a:off x="2026168" y="2951854"/>
            <a:ext cx="6056920" cy="563879"/>
          </a:xfrm>
          <a:prstGeom prst="rect">
            <a:avLst/>
          </a:prstGeom>
        </p:spPr>
        <p:txBody>
          <a:bodyPr lIns="0" tIns="0" rIns="0" bIns="0" rtlCol="0" anchor="t">
            <a:spAutoFit/>
          </a:bodyPr>
          <a:lstStyle/>
          <a:p>
            <a:pPr algn="l">
              <a:lnSpc>
                <a:spcPts val="4620"/>
              </a:lnSpc>
            </a:pPr>
            <a:r>
              <a:rPr lang="en-US" sz="3300" b="1">
                <a:solidFill>
                  <a:srgbClr val="000000"/>
                </a:solidFill>
                <a:latin typeface="Canva Sans Bold"/>
                <a:ea typeface="Canva Sans Bold"/>
                <a:cs typeface="Canva Sans Bold"/>
                <a:sym typeface="Canva Sans Bold"/>
              </a:rPr>
              <a:t>https ://quran.kemenag.go.id</a:t>
            </a:r>
          </a:p>
        </p:txBody>
      </p:sp>
      <p:sp>
        <p:nvSpPr>
          <p:cNvPr id="43" name="TextBox 43"/>
          <p:cNvSpPr txBox="1"/>
          <p:nvPr/>
        </p:nvSpPr>
        <p:spPr>
          <a:xfrm>
            <a:off x="10364147" y="3034405"/>
            <a:ext cx="6556966" cy="454548"/>
          </a:xfrm>
          <a:prstGeom prst="rect">
            <a:avLst/>
          </a:prstGeom>
        </p:spPr>
        <p:txBody>
          <a:bodyPr lIns="0" tIns="0" rIns="0" bIns="0" rtlCol="0" anchor="t">
            <a:spAutoFit/>
          </a:bodyPr>
          <a:lstStyle/>
          <a:p>
            <a:pPr algn="l">
              <a:lnSpc>
                <a:spcPts val="3920"/>
              </a:lnSpc>
            </a:pPr>
            <a:r>
              <a:rPr lang="en-US" sz="2400" b="1" dirty="0">
                <a:solidFill>
                  <a:srgbClr val="000000"/>
                </a:solidFill>
                <a:latin typeface="Canva Sans Bold"/>
                <a:ea typeface="Canva Sans Bold"/>
                <a:cs typeface="Canva Sans Bold"/>
                <a:sym typeface="Canva Sans Bold"/>
              </a:rPr>
              <a:t>https ://pustakalajnah.kemenag.go.id/</a:t>
            </a:r>
          </a:p>
        </p:txBody>
      </p:sp>
      <p:sp>
        <p:nvSpPr>
          <p:cNvPr id="44" name="TextBox 44"/>
          <p:cNvSpPr txBox="1"/>
          <p:nvPr/>
        </p:nvSpPr>
        <p:spPr>
          <a:xfrm>
            <a:off x="1700394" y="3890840"/>
            <a:ext cx="2695598"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6.236</a:t>
            </a:r>
          </a:p>
        </p:txBody>
      </p:sp>
      <p:sp>
        <p:nvSpPr>
          <p:cNvPr id="45" name="TextBox 45"/>
          <p:cNvSpPr txBox="1"/>
          <p:nvPr/>
        </p:nvSpPr>
        <p:spPr>
          <a:xfrm>
            <a:off x="6658467" y="3991309"/>
            <a:ext cx="2028333" cy="1243318"/>
          </a:xfrm>
          <a:prstGeom prst="rect">
            <a:avLst/>
          </a:prstGeom>
        </p:spPr>
        <p:txBody>
          <a:bodyPr wrap="square" lIns="0" tIns="0" rIns="0" bIns="0" rtlCol="0" anchor="t">
            <a:spAutoFit/>
          </a:bodyPr>
          <a:lstStyle/>
          <a:p>
            <a:pPr algn="ctr">
              <a:lnSpc>
                <a:spcPts val="10220"/>
              </a:lnSpc>
            </a:pPr>
            <a:r>
              <a:rPr lang="en-US" sz="7300" b="1" dirty="0">
                <a:solidFill>
                  <a:srgbClr val="000000"/>
                </a:solidFill>
                <a:latin typeface="Canva Sans Bold"/>
                <a:ea typeface="Canva Sans Bold"/>
                <a:cs typeface="Canva Sans Bold"/>
                <a:sym typeface="Canva Sans Bold"/>
              </a:rPr>
              <a:t>114</a:t>
            </a:r>
          </a:p>
        </p:txBody>
      </p:sp>
      <p:sp>
        <p:nvSpPr>
          <p:cNvPr id="46" name="TextBox 46"/>
          <p:cNvSpPr txBox="1"/>
          <p:nvPr/>
        </p:nvSpPr>
        <p:spPr>
          <a:xfrm>
            <a:off x="10269054" y="4016893"/>
            <a:ext cx="2989746"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77.439</a:t>
            </a:r>
          </a:p>
        </p:txBody>
      </p:sp>
      <p:sp>
        <p:nvSpPr>
          <p:cNvPr id="47" name="TextBox 47"/>
          <p:cNvSpPr txBox="1"/>
          <p:nvPr/>
        </p:nvSpPr>
        <p:spPr>
          <a:xfrm>
            <a:off x="14179227" y="4016893"/>
            <a:ext cx="2952409" cy="1203313"/>
          </a:xfrm>
          <a:prstGeom prst="rect">
            <a:avLst/>
          </a:prstGeom>
        </p:spPr>
        <p:txBody>
          <a:bodyPr wrap="square" lIns="0" tIns="0" rIns="0" bIns="0" rtlCol="0" anchor="t">
            <a:spAutoFit/>
          </a:bodyPr>
          <a:lstStyle/>
          <a:p>
            <a:pPr algn="ctr">
              <a:lnSpc>
                <a:spcPts val="9800"/>
              </a:lnSpc>
            </a:pPr>
            <a:r>
              <a:rPr lang="en-US" sz="7000" b="1" dirty="0">
                <a:solidFill>
                  <a:srgbClr val="000000"/>
                </a:solidFill>
                <a:latin typeface="Canva Sans Bold"/>
                <a:ea typeface="Canva Sans Bold"/>
                <a:cs typeface="Canva Sans Bold"/>
                <a:sym typeface="Canva Sans Bold"/>
              </a:rPr>
              <a:t>18.742</a:t>
            </a:r>
          </a:p>
        </p:txBody>
      </p:sp>
      <p:sp>
        <p:nvSpPr>
          <p:cNvPr id="48" name="TextBox 48"/>
          <p:cNvSpPr txBox="1"/>
          <p:nvPr/>
        </p:nvSpPr>
        <p:spPr>
          <a:xfrm>
            <a:off x="1156363"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Ayat</a:t>
            </a:r>
          </a:p>
        </p:txBody>
      </p:sp>
      <p:sp>
        <p:nvSpPr>
          <p:cNvPr id="49" name="TextBox 49"/>
          <p:cNvSpPr txBox="1"/>
          <p:nvPr/>
        </p:nvSpPr>
        <p:spPr>
          <a:xfrm>
            <a:off x="5402420"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Surat</a:t>
            </a:r>
          </a:p>
        </p:txBody>
      </p:sp>
      <p:sp>
        <p:nvSpPr>
          <p:cNvPr id="50" name="TextBox 50"/>
          <p:cNvSpPr txBox="1"/>
          <p:nvPr/>
        </p:nvSpPr>
        <p:spPr>
          <a:xfrm>
            <a:off x="9576919" y="5200973"/>
            <a:ext cx="4065711"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Total Kata</a:t>
            </a:r>
          </a:p>
        </p:txBody>
      </p:sp>
      <p:sp>
        <p:nvSpPr>
          <p:cNvPr id="51" name="TextBox 51"/>
          <p:cNvSpPr txBox="1"/>
          <p:nvPr/>
        </p:nvSpPr>
        <p:spPr>
          <a:xfrm>
            <a:off x="13801725" y="5200973"/>
            <a:ext cx="3457575" cy="563879"/>
          </a:xfrm>
          <a:prstGeom prst="rect">
            <a:avLst/>
          </a:prstGeom>
        </p:spPr>
        <p:txBody>
          <a:bodyPr lIns="0" tIns="0" rIns="0" bIns="0" rtlCol="0" anchor="t">
            <a:spAutoFit/>
          </a:bodyPr>
          <a:lstStyle/>
          <a:p>
            <a:pPr algn="ctr">
              <a:lnSpc>
                <a:spcPts val="4620"/>
              </a:lnSpc>
            </a:pPr>
            <a:r>
              <a:rPr lang="en-US" sz="3300" b="1">
                <a:solidFill>
                  <a:srgbClr val="000000"/>
                </a:solidFill>
                <a:latin typeface="Canva Sans Bold"/>
                <a:ea typeface="Canva Sans Bold"/>
                <a:cs typeface="Canva Sans Bold"/>
                <a:sym typeface="Canva Sans Bold"/>
              </a:rPr>
              <a:t>Kosakata Unik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65705" y="2735430"/>
            <a:ext cx="2527223" cy="3192650"/>
            <a:chOff x="0" y="0"/>
            <a:chExt cx="3369631" cy="4256867"/>
          </a:xfrm>
        </p:grpSpPr>
        <p:grpSp>
          <p:nvGrpSpPr>
            <p:cNvPr id="17" name="Group 17"/>
            <p:cNvGrpSpPr/>
            <p:nvPr/>
          </p:nvGrpSpPr>
          <p:grpSpPr>
            <a:xfrm>
              <a:off x="0" y="0"/>
              <a:ext cx="3369631" cy="4256867"/>
              <a:chOff x="0" y="0"/>
              <a:chExt cx="972859" cy="1229017"/>
            </a:xfrm>
          </p:grpSpPr>
          <p:sp>
            <p:nvSpPr>
              <p:cNvPr id="18" name="Freeform 18"/>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19" name="TextBox 19"/>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20" name="Group 20"/>
            <p:cNvGrpSpPr/>
            <p:nvPr/>
          </p:nvGrpSpPr>
          <p:grpSpPr>
            <a:xfrm>
              <a:off x="133238" y="2501322"/>
              <a:ext cx="3143320" cy="1551800"/>
              <a:chOff x="0" y="0"/>
              <a:chExt cx="907520" cy="448026"/>
            </a:xfrm>
          </p:grpSpPr>
          <p:sp>
            <p:nvSpPr>
              <p:cNvPr id="21" name="Freeform 21"/>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22" name="TextBox 22"/>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23" name="Group 23"/>
            <p:cNvGrpSpPr/>
            <p:nvPr/>
          </p:nvGrpSpPr>
          <p:grpSpPr>
            <a:xfrm>
              <a:off x="1305083" y="126975"/>
              <a:ext cx="925422" cy="923447"/>
              <a:chOff x="0" y="0"/>
              <a:chExt cx="551635" cy="550458"/>
            </a:xfrm>
          </p:grpSpPr>
          <p:sp>
            <p:nvSpPr>
              <p:cNvPr id="24" name="Freeform 24"/>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25" name="TextBox 25"/>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1</a:t>
                </a:r>
              </a:p>
            </p:txBody>
          </p:sp>
        </p:grpSp>
        <p:grpSp>
          <p:nvGrpSpPr>
            <p:cNvPr id="26" name="Group 26"/>
            <p:cNvGrpSpPr/>
            <p:nvPr/>
          </p:nvGrpSpPr>
          <p:grpSpPr>
            <a:xfrm>
              <a:off x="1517182" y="3094338"/>
              <a:ext cx="263312" cy="263312"/>
              <a:chOff x="0" y="0"/>
              <a:chExt cx="812800" cy="812800"/>
            </a:xfrm>
          </p:grpSpPr>
          <p:sp>
            <p:nvSpPr>
              <p:cNvPr id="27" name="Freeform 27"/>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28" name="TextBox 28"/>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255227"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Case Folding</a:t>
              </a:r>
            </a:p>
          </p:txBody>
        </p:sp>
        <p:sp>
          <p:nvSpPr>
            <p:cNvPr id="30" name="TextBox 30"/>
            <p:cNvSpPr txBox="1"/>
            <p:nvPr/>
          </p:nvSpPr>
          <p:spPr>
            <a:xfrm>
              <a:off x="531654" y="251755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31" name="TextBox 31"/>
            <p:cNvSpPr txBox="1"/>
            <p:nvPr/>
          </p:nvSpPr>
          <p:spPr>
            <a:xfrm>
              <a:off x="501901" y="340210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grpSp>
      <p:grpSp>
        <p:nvGrpSpPr>
          <p:cNvPr id="32" name="Group 32"/>
          <p:cNvGrpSpPr/>
          <p:nvPr/>
        </p:nvGrpSpPr>
        <p:grpSpPr>
          <a:xfrm>
            <a:off x="7560145" y="2735430"/>
            <a:ext cx="2527223" cy="3192650"/>
            <a:chOff x="0" y="0"/>
            <a:chExt cx="3369631" cy="4256867"/>
          </a:xfrm>
        </p:grpSpPr>
        <p:grpSp>
          <p:nvGrpSpPr>
            <p:cNvPr id="33" name="Group 33"/>
            <p:cNvGrpSpPr/>
            <p:nvPr/>
          </p:nvGrpSpPr>
          <p:grpSpPr>
            <a:xfrm>
              <a:off x="0" y="0"/>
              <a:ext cx="3369631" cy="4256867"/>
              <a:chOff x="0" y="0"/>
              <a:chExt cx="972859" cy="1229017"/>
            </a:xfrm>
          </p:grpSpPr>
          <p:sp>
            <p:nvSpPr>
              <p:cNvPr id="34" name="Freeform 34"/>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35" name="TextBox 35"/>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36" name="Group 36"/>
            <p:cNvGrpSpPr/>
            <p:nvPr/>
          </p:nvGrpSpPr>
          <p:grpSpPr>
            <a:xfrm>
              <a:off x="133238" y="2490587"/>
              <a:ext cx="3143320" cy="1551800"/>
              <a:chOff x="0" y="0"/>
              <a:chExt cx="907520" cy="448026"/>
            </a:xfrm>
          </p:grpSpPr>
          <p:sp>
            <p:nvSpPr>
              <p:cNvPr id="37" name="Freeform 37"/>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38" name="TextBox 38"/>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39" name="Group 39"/>
            <p:cNvGrpSpPr/>
            <p:nvPr/>
          </p:nvGrpSpPr>
          <p:grpSpPr>
            <a:xfrm>
              <a:off x="1305083" y="126975"/>
              <a:ext cx="925422" cy="923447"/>
              <a:chOff x="0" y="0"/>
              <a:chExt cx="551635" cy="550458"/>
            </a:xfrm>
          </p:grpSpPr>
          <p:sp>
            <p:nvSpPr>
              <p:cNvPr id="40" name="Freeform 40"/>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41" name="TextBox 41"/>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3</a:t>
                </a:r>
              </a:p>
            </p:txBody>
          </p:sp>
        </p:grpSp>
        <p:grpSp>
          <p:nvGrpSpPr>
            <p:cNvPr id="42" name="Group 42"/>
            <p:cNvGrpSpPr/>
            <p:nvPr/>
          </p:nvGrpSpPr>
          <p:grpSpPr>
            <a:xfrm>
              <a:off x="1517182" y="3107038"/>
              <a:ext cx="263312" cy="263312"/>
              <a:chOff x="0" y="0"/>
              <a:chExt cx="812800" cy="812800"/>
            </a:xfrm>
          </p:grpSpPr>
          <p:sp>
            <p:nvSpPr>
              <p:cNvPr id="43" name="Freeform 43"/>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44" name="TextBox 44"/>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45" name="TextBox 45"/>
            <p:cNvSpPr txBox="1"/>
            <p:nvPr/>
          </p:nvSpPr>
          <p:spPr>
            <a:xfrm>
              <a:off x="310931"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Tokenization</a:t>
              </a:r>
            </a:p>
          </p:txBody>
        </p:sp>
        <p:sp>
          <p:nvSpPr>
            <p:cNvPr id="46" name="TextBox 46"/>
            <p:cNvSpPr txBox="1"/>
            <p:nvPr/>
          </p:nvSpPr>
          <p:spPr>
            <a:xfrm>
              <a:off x="531654" y="2530250"/>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47" name="TextBox 47"/>
            <p:cNvSpPr txBox="1"/>
            <p:nvPr/>
          </p:nvSpPr>
          <p:spPr>
            <a:xfrm>
              <a:off x="501901" y="3414800"/>
              <a:ext cx="2472279" cy="513288"/>
            </a:xfrm>
            <a:prstGeom prst="rect">
              <a:avLst/>
            </a:prstGeom>
          </p:spPr>
          <p:txBody>
            <a:bodyPr lIns="0" tIns="0" rIns="0" bIns="0" rtlCol="0" anchor="t">
              <a:spAutoFit/>
            </a:bodyPr>
            <a:lstStyle/>
            <a:p>
              <a:pPr algn="just">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48" name="Group 48"/>
          <p:cNvGrpSpPr/>
          <p:nvPr/>
        </p:nvGrpSpPr>
        <p:grpSpPr>
          <a:xfrm>
            <a:off x="4555854" y="2735430"/>
            <a:ext cx="2527223" cy="3192650"/>
            <a:chOff x="0" y="0"/>
            <a:chExt cx="3369631" cy="4256867"/>
          </a:xfrm>
        </p:grpSpPr>
        <p:grpSp>
          <p:nvGrpSpPr>
            <p:cNvPr id="49" name="Group 49"/>
            <p:cNvGrpSpPr/>
            <p:nvPr/>
          </p:nvGrpSpPr>
          <p:grpSpPr>
            <a:xfrm>
              <a:off x="0" y="0"/>
              <a:ext cx="3369631" cy="4256867"/>
              <a:chOff x="0" y="0"/>
              <a:chExt cx="972859" cy="1229017"/>
            </a:xfrm>
          </p:grpSpPr>
          <p:sp>
            <p:nvSpPr>
              <p:cNvPr id="50" name="Freeform 50"/>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51" name="TextBox 51"/>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52" name="Group 52"/>
            <p:cNvGrpSpPr/>
            <p:nvPr/>
          </p:nvGrpSpPr>
          <p:grpSpPr>
            <a:xfrm>
              <a:off x="133238" y="2537885"/>
              <a:ext cx="3143320" cy="1551800"/>
              <a:chOff x="0" y="0"/>
              <a:chExt cx="907520" cy="448026"/>
            </a:xfrm>
          </p:grpSpPr>
          <p:sp>
            <p:nvSpPr>
              <p:cNvPr id="53" name="Freeform 53"/>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54" name="TextBox 54"/>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55" name="Group 55"/>
            <p:cNvGrpSpPr/>
            <p:nvPr/>
          </p:nvGrpSpPr>
          <p:grpSpPr>
            <a:xfrm>
              <a:off x="1305083" y="126975"/>
              <a:ext cx="925422" cy="923447"/>
              <a:chOff x="0" y="0"/>
              <a:chExt cx="551635" cy="550458"/>
            </a:xfrm>
          </p:grpSpPr>
          <p:sp>
            <p:nvSpPr>
              <p:cNvPr id="56" name="Freeform 56"/>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57" name="TextBox 57"/>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2</a:t>
                </a:r>
              </a:p>
            </p:txBody>
          </p:sp>
        </p:grpSp>
        <p:grpSp>
          <p:nvGrpSpPr>
            <p:cNvPr id="58" name="Group 58"/>
            <p:cNvGrpSpPr/>
            <p:nvPr/>
          </p:nvGrpSpPr>
          <p:grpSpPr>
            <a:xfrm>
              <a:off x="1517182" y="3154336"/>
              <a:ext cx="263312" cy="263312"/>
              <a:chOff x="0" y="0"/>
              <a:chExt cx="812800" cy="812800"/>
            </a:xfrm>
          </p:grpSpPr>
          <p:sp>
            <p:nvSpPr>
              <p:cNvPr id="59" name="Freeform 59"/>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60" name="TextBox 60"/>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61" name="TextBox 61"/>
            <p:cNvSpPr txBox="1"/>
            <p:nvPr/>
          </p:nvSpPr>
          <p:spPr>
            <a:xfrm>
              <a:off x="133238" y="1170351"/>
              <a:ext cx="3143320"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Stopwords Removal</a:t>
              </a:r>
            </a:p>
          </p:txBody>
        </p:sp>
        <p:sp>
          <p:nvSpPr>
            <p:cNvPr id="62" name="TextBox 62"/>
            <p:cNvSpPr txBox="1"/>
            <p:nvPr/>
          </p:nvSpPr>
          <p:spPr>
            <a:xfrm>
              <a:off x="531654" y="2577548"/>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63" name="TextBox 63"/>
            <p:cNvSpPr txBox="1"/>
            <p:nvPr/>
          </p:nvSpPr>
          <p:spPr>
            <a:xfrm>
              <a:off x="501901" y="3462098"/>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64" name="Group 64"/>
          <p:cNvGrpSpPr/>
          <p:nvPr/>
        </p:nvGrpSpPr>
        <p:grpSpPr>
          <a:xfrm>
            <a:off x="10449318" y="2735430"/>
            <a:ext cx="2527223" cy="3192650"/>
            <a:chOff x="0" y="0"/>
            <a:chExt cx="3369631" cy="4256867"/>
          </a:xfrm>
        </p:grpSpPr>
        <p:grpSp>
          <p:nvGrpSpPr>
            <p:cNvPr id="65" name="Group 65"/>
            <p:cNvGrpSpPr/>
            <p:nvPr/>
          </p:nvGrpSpPr>
          <p:grpSpPr>
            <a:xfrm>
              <a:off x="0" y="0"/>
              <a:ext cx="3369631" cy="4256867"/>
              <a:chOff x="0" y="0"/>
              <a:chExt cx="972859" cy="1229017"/>
            </a:xfrm>
          </p:grpSpPr>
          <p:sp>
            <p:nvSpPr>
              <p:cNvPr id="66" name="Freeform 66"/>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00BF63"/>
                </a:solidFill>
                <a:prstDash val="solid"/>
                <a:round/>
              </a:ln>
            </p:spPr>
          </p:sp>
          <p:sp>
            <p:nvSpPr>
              <p:cNvPr id="67" name="TextBox 67"/>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68" name="Group 68"/>
            <p:cNvGrpSpPr/>
            <p:nvPr/>
          </p:nvGrpSpPr>
          <p:grpSpPr>
            <a:xfrm>
              <a:off x="133238" y="2471613"/>
              <a:ext cx="3143320" cy="1551800"/>
              <a:chOff x="0" y="0"/>
              <a:chExt cx="907520" cy="448026"/>
            </a:xfrm>
          </p:grpSpPr>
          <p:sp>
            <p:nvSpPr>
              <p:cNvPr id="69" name="Freeform 69"/>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70" name="TextBox 70"/>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grpSp>
          <p:nvGrpSpPr>
            <p:cNvPr id="71" name="Group 71"/>
            <p:cNvGrpSpPr/>
            <p:nvPr/>
          </p:nvGrpSpPr>
          <p:grpSpPr>
            <a:xfrm>
              <a:off x="1335285" y="126975"/>
              <a:ext cx="890418" cy="888518"/>
              <a:chOff x="0" y="0"/>
              <a:chExt cx="551635" cy="550458"/>
            </a:xfrm>
          </p:grpSpPr>
          <p:sp>
            <p:nvSpPr>
              <p:cNvPr id="72" name="Freeform 72"/>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73" name="TextBox 73"/>
              <p:cNvSpPr txBox="1"/>
              <p:nvPr/>
            </p:nvSpPr>
            <p:spPr>
              <a:xfrm>
                <a:off x="51716" y="13505"/>
                <a:ext cx="448204" cy="485347"/>
              </a:xfrm>
              <a:prstGeom prst="rect">
                <a:avLst/>
              </a:prstGeom>
            </p:spPr>
            <p:txBody>
              <a:bodyPr lIns="50800" tIns="50800" rIns="50800" bIns="50800" rtlCol="0" anchor="ctr"/>
              <a:lstStyle/>
              <a:p>
                <a:pPr algn="ctr">
                  <a:lnSpc>
                    <a:spcPts val="2799"/>
                  </a:lnSpc>
                </a:pPr>
                <a:r>
                  <a:rPr lang="en-US" sz="1999">
                    <a:solidFill>
                      <a:srgbClr val="000000"/>
                    </a:solidFill>
                    <a:latin typeface="Antic"/>
                    <a:ea typeface="Antic"/>
                    <a:cs typeface="Antic"/>
                    <a:sym typeface="Antic"/>
                  </a:rPr>
                  <a:t>4</a:t>
                </a:r>
              </a:p>
            </p:txBody>
          </p:sp>
        </p:grpSp>
        <p:grpSp>
          <p:nvGrpSpPr>
            <p:cNvPr id="74" name="Group 74"/>
            <p:cNvGrpSpPr/>
            <p:nvPr/>
          </p:nvGrpSpPr>
          <p:grpSpPr>
            <a:xfrm>
              <a:off x="1517182" y="3088064"/>
              <a:ext cx="263312" cy="263312"/>
              <a:chOff x="0" y="0"/>
              <a:chExt cx="812800" cy="812800"/>
            </a:xfrm>
          </p:grpSpPr>
          <p:sp>
            <p:nvSpPr>
              <p:cNvPr id="75" name="Freeform 75"/>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76" name="TextBox 76"/>
              <p:cNvSpPr txBox="1"/>
              <p:nvPr/>
            </p:nvSpPr>
            <p:spPr>
              <a:xfrm>
                <a:off x="203200" y="-47625"/>
                <a:ext cx="406400" cy="758825"/>
              </a:xfrm>
              <a:prstGeom prst="rect">
                <a:avLst/>
              </a:prstGeom>
            </p:spPr>
            <p:txBody>
              <a:bodyPr lIns="50800" tIns="50800" rIns="50800" bIns="50800" rtlCol="0" anchor="ctr"/>
              <a:lstStyle/>
              <a:p>
                <a:pPr algn="ctr">
                  <a:lnSpc>
                    <a:spcPts val="2659"/>
                  </a:lnSpc>
                </a:pPr>
                <a:endParaRPr/>
              </a:p>
            </p:txBody>
          </p:sp>
        </p:grpSp>
        <p:sp>
          <p:nvSpPr>
            <p:cNvPr id="77" name="TextBox 77"/>
            <p:cNvSpPr txBox="1"/>
            <p:nvPr/>
          </p:nvSpPr>
          <p:spPr>
            <a:xfrm>
              <a:off x="310931" y="1170351"/>
              <a:ext cx="2965627" cy="3860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Stemming</a:t>
              </a:r>
            </a:p>
          </p:txBody>
        </p:sp>
        <p:sp>
          <p:nvSpPr>
            <p:cNvPr id="78" name="TextBox 78"/>
            <p:cNvSpPr txBox="1"/>
            <p:nvPr/>
          </p:nvSpPr>
          <p:spPr>
            <a:xfrm>
              <a:off x="531654" y="2511276"/>
              <a:ext cx="2472279" cy="5132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Segala puji bagi Allah, Tuhan semesta alam</a:t>
              </a:r>
            </a:p>
          </p:txBody>
        </p:sp>
        <p:sp>
          <p:nvSpPr>
            <p:cNvPr id="79" name="TextBox 79"/>
            <p:cNvSpPr txBox="1"/>
            <p:nvPr/>
          </p:nvSpPr>
          <p:spPr>
            <a:xfrm>
              <a:off x="501901" y="3395826"/>
              <a:ext cx="2472279" cy="513288"/>
            </a:xfrm>
            <a:prstGeom prst="rect">
              <a:avLst/>
            </a:prstGeom>
          </p:spPr>
          <p:txBody>
            <a:bodyPr lIns="0" tIns="0" rIns="0" bIns="0" rtlCol="0" anchor="t">
              <a:spAutoFit/>
            </a:bodyPr>
            <a:lstStyle/>
            <a:p>
              <a:pPr algn="just">
                <a:lnSpc>
                  <a:spcPts val="1618"/>
                </a:lnSpc>
              </a:pPr>
              <a:r>
                <a:rPr lang="en-US" sz="1156">
                  <a:solidFill>
                    <a:srgbClr val="FFFFFF"/>
                  </a:solidFill>
                  <a:latin typeface="Canva Sans"/>
                  <a:ea typeface="Canva Sans"/>
                  <a:cs typeface="Canva Sans"/>
                  <a:sym typeface="Canva Sans"/>
                </a:rPr>
                <a:t>puji allah tuhan semesta alam                                      </a:t>
              </a:r>
            </a:p>
          </p:txBody>
        </p:sp>
      </p:grpSp>
      <p:grpSp>
        <p:nvGrpSpPr>
          <p:cNvPr id="80" name="Group 80"/>
          <p:cNvGrpSpPr/>
          <p:nvPr/>
        </p:nvGrpSpPr>
        <p:grpSpPr>
          <a:xfrm>
            <a:off x="13452791" y="2735430"/>
            <a:ext cx="2591203" cy="3192650"/>
            <a:chOff x="0" y="0"/>
            <a:chExt cx="3454938" cy="4256867"/>
          </a:xfrm>
        </p:grpSpPr>
        <p:grpSp>
          <p:nvGrpSpPr>
            <p:cNvPr id="81" name="Group 81"/>
            <p:cNvGrpSpPr/>
            <p:nvPr/>
          </p:nvGrpSpPr>
          <p:grpSpPr>
            <a:xfrm>
              <a:off x="0" y="0"/>
              <a:ext cx="3454938" cy="4256867"/>
              <a:chOff x="0" y="0"/>
              <a:chExt cx="972859" cy="1198671"/>
            </a:xfrm>
          </p:grpSpPr>
          <p:sp>
            <p:nvSpPr>
              <p:cNvPr id="82" name="Freeform 82"/>
              <p:cNvSpPr/>
              <p:nvPr/>
            </p:nvSpPr>
            <p:spPr>
              <a:xfrm>
                <a:off x="0" y="0"/>
                <a:ext cx="972859" cy="1198671"/>
              </a:xfrm>
              <a:custGeom>
                <a:avLst/>
                <a:gdLst/>
                <a:ahLst/>
                <a:cxnLst/>
                <a:rect l="l" t="t" r="r" b="b"/>
                <a:pathLst>
                  <a:path w="972859" h="1198671">
                    <a:moveTo>
                      <a:pt x="77682" y="0"/>
                    </a:moveTo>
                    <a:lnTo>
                      <a:pt x="895177" y="0"/>
                    </a:lnTo>
                    <a:cubicBezTo>
                      <a:pt x="938080" y="0"/>
                      <a:pt x="972859" y="34779"/>
                      <a:pt x="972859" y="77682"/>
                    </a:cubicBezTo>
                    <a:lnTo>
                      <a:pt x="972859" y="1120989"/>
                    </a:lnTo>
                    <a:cubicBezTo>
                      <a:pt x="972859" y="1163891"/>
                      <a:pt x="938080" y="1198671"/>
                      <a:pt x="895177" y="1198671"/>
                    </a:cubicBezTo>
                    <a:lnTo>
                      <a:pt x="77682" y="1198671"/>
                    </a:lnTo>
                    <a:cubicBezTo>
                      <a:pt x="34779" y="1198671"/>
                      <a:pt x="0" y="1163891"/>
                      <a:pt x="0" y="1120989"/>
                    </a:cubicBezTo>
                    <a:lnTo>
                      <a:pt x="0" y="77682"/>
                    </a:lnTo>
                    <a:cubicBezTo>
                      <a:pt x="0" y="34779"/>
                      <a:pt x="34779" y="0"/>
                      <a:pt x="77682" y="0"/>
                    </a:cubicBezTo>
                    <a:close/>
                  </a:path>
                </a:pathLst>
              </a:custGeom>
              <a:solidFill>
                <a:srgbClr val="FFFFFF"/>
              </a:solidFill>
              <a:ln w="38100" cap="rnd">
                <a:solidFill>
                  <a:srgbClr val="00BF63"/>
                </a:solidFill>
                <a:prstDash val="solid"/>
                <a:round/>
              </a:ln>
            </p:spPr>
          </p:sp>
          <p:sp>
            <p:nvSpPr>
              <p:cNvPr id="83" name="TextBox 83"/>
              <p:cNvSpPr txBox="1"/>
              <p:nvPr/>
            </p:nvSpPr>
            <p:spPr>
              <a:xfrm>
                <a:off x="0" y="-47625"/>
                <a:ext cx="972859" cy="1246296"/>
              </a:xfrm>
              <a:prstGeom prst="rect">
                <a:avLst/>
              </a:prstGeom>
            </p:spPr>
            <p:txBody>
              <a:bodyPr lIns="35636" tIns="35636" rIns="35636" bIns="35636" rtlCol="0" anchor="ctr"/>
              <a:lstStyle/>
              <a:p>
                <a:pPr algn="ctr">
                  <a:lnSpc>
                    <a:spcPts val="2659"/>
                  </a:lnSpc>
                </a:pPr>
                <a:endParaRPr/>
              </a:p>
            </p:txBody>
          </p:sp>
        </p:grpSp>
        <p:grpSp>
          <p:nvGrpSpPr>
            <p:cNvPr id="84" name="Group 84"/>
            <p:cNvGrpSpPr/>
            <p:nvPr/>
          </p:nvGrpSpPr>
          <p:grpSpPr>
            <a:xfrm>
              <a:off x="136611" y="2432327"/>
              <a:ext cx="3222897" cy="1591086"/>
              <a:chOff x="0" y="0"/>
              <a:chExt cx="907520" cy="448026"/>
            </a:xfrm>
          </p:grpSpPr>
          <p:sp>
            <p:nvSpPr>
              <p:cNvPr id="85" name="Freeform 85"/>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00BF63"/>
              </a:solidFill>
              <a:ln w="38100" cap="sq">
                <a:solidFill>
                  <a:srgbClr val="00BF63"/>
                </a:solidFill>
                <a:prstDash val="solid"/>
                <a:miter/>
              </a:ln>
            </p:spPr>
          </p:sp>
          <p:sp>
            <p:nvSpPr>
              <p:cNvPr id="86" name="TextBox 86"/>
              <p:cNvSpPr txBox="1"/>
              <p:nvPr/>
            </p:nvSpPr>
            <p:spPr>
              <a:xfrm>
                <a:off x="0" y="-47625"/>
                <a:ext cx="907520" cy="495651"/>
              </a:xfrm>
              <a:prstGeom prst="rect">
                <a:avLst/>
              </a:prstGeom>
            </p:spPr>
            <p:txBody>
              <a:bodyPr lIns="35636" tIns="35636" rIns="35636" bIns="35636" rtlCol="0" anchor="ctr"/>
              <a:lstStyle/>
              <a:p>
                <a:pPr algn="ctr">
                  <a:lnSpc>
                    <a:spcPts val="2659"/>
                  </a:lnSpc>
                </a:pPr>
                <a:endParaRPr/>
              </a:p>
            </p:txBody>
          </p:sp>
        </p:grpSp>
        <p:grpSp>
          <p:nvGrpSpPr>
            <p:cNvPr id="87" name="Group 87"/>
            <p:cNvGrpSpPr/>
            <p:nvPr/>
          </p:nvGrpSpPr>
          <p:grpSpPr>
            <a:xfrm>
              <a:off x="1369090" y="130190"/>
              <a:ext cx="912960" cy="911012"/>
              <a:chOff x="0" y="0"/>
              <a:chExt cx="551635" cy="550458"/>
            </a:xfrm>
          </p:grpSpPr>
          <p:sp>
            <p:nvSpPr>
              <p:cNvPr id="88" name="Freeform 88"/>
              <p:cNvSpPr/>
              <p:nvPr/>
            </p:nvSpPr>
            <p:spPr>
              <a:xfrm>
                <a:off x="0" y="0"/>
                <a:ext cx="551635" cy="550458"/>
              </a:xfrm>
              <a:custGeom>
                <a:avLst/>
                <a:gdLst/>
                <a:ahLst/>
                <a:cxnLst/>
                <a:rect l="l" t="t" r="r" b="b"/>
                <a:pathLst>
                  <a:path w="551635" h="550458">
                    <a:moveTo>
                      <a:pt x="275818" y="0"/>
                    </a:moveTo>
                    <a:cubicBezTo>
                      <a:pt x="123488" y="0"/>
                      <a:pt x="0" y="123224"/>
                      <a:pt x="0" y="275229"/>
                    </a:cubicBezTo>
                    <a:cubicBezTo>
                      <a:pt x="0" y="427234"/>
                      <a:pt x="123488" y="550458"/>
                      <a:pt x="275818" y="550458"/>
                    </a:cubicBezTo>
                    <a:cubicBezTo>
                      <a:pt x="428147" y="550458"/>
                      <a:pt x="551635" y="427234"/>
                      <a:pt x="551635" y="275229"/>
                    </a:cubicBezTo>
                    <a:cubicBezTo>
                      <a:pt x="551635" y="123224"/>
                      <a:pt x="428147" y="0"/>
                      <a:pt x="275818" y="0"/>
                    </a:cubicBezTo>
                    <a:close/>
                  </a:path>
                </a:pathLst>
              </a:custGeom>
              <a:solidFill>
                <a:srgbClr val="FFFFFF"/>
              </a:solidFill>
              <a:ln w="38100" cap="sq">
                <a:solidFill>
                  <a:srgbClr val="5CE1E6"/>
                </a:solidFill>
                <a:prstDash val="solid"/>
                <a:miter/>
              </a:ln>
            </p:spPr>
          </p:sp>
          <p:sp>
            <p:nvSpPr>
              <p:cNvPr id="89" name="TextBox 89"/>
              <p:cNvSpPr txBox="1"/>
              <p:nvPr/>
            </p:nvSpPr>
            <p:spPr>
              <a:xfrm>
                <a:off x="51716" y="13505"/>
                <a:ext cx="448204" cy="485347"/>
              </a:xfrm>
              <a:prstGeom prst="rect">
                <a:avLst/>
              </a:prstGeom>
            </p:spPr>
            <p:txBody>
              <a:bodyPr lIns="52086" tIns="52086" rIns="52086" bIns="52086" rtlCol="0" anchor="ctr"/>
              <a:lstStyle/>
              <a:p>
                <a:pPr algn="ctr">
                  <a:lnSpc>
                    <a:spcPts val="2799"/>
                  </a:lnSpc>
                </a:pPr>
                <a:r>
                  <a:rPr lang="en-US" sz="1999">
                    <a:solidFill>
                      <a:srgbClr val="000000"/>
                    </a:solidFill>
                    <a:latin typeface="Antic"/>
                    <a:ea typeface="Antic"/>
                    <a:cs typeface="Antic"/>
                    <a:sym typeface="Antic"/>
                  </a:rPr>
                  <a:t>5</a:t>
                </a:r>
              </a:p>
            </p:txBody>
          </p:sp>
        </p:grpSp>
        <p:grpSp>
          <p:nvGrpSpPr>
            <p:cNvPr id="90" name="Group 90"/>
            <p:cNvGrpSpPr/>
            <p:nvPr/>
          </p:nvGrpSpPr>
          <p:grpSpPr>
            <a:xfrm>
              <a:off x="1555592" y="3064384"/>
              <a:ext cx="269978" cy="269978"/>
              <a:chOff x="0" y="0"/>
              <a:chExt cx="812800" cy="812800"/>
            </a:xfrm>
          </p:grpSpPr>
          <p:sp>
            <p:nvSpPr>
              <p:cNvPr id="91" name="Freeform 91"/>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a:ln w="9525" cap="sq">
                <a:solidFill>
                  <a:srgbClr val="FFFFFF"/>
                </a:solidFill>
                <a:prstDash val="solid"/>
                <a:miter/>
              </a:ln>
            </p:spPr>
          </p:sp>
          <p:sp>
            <p:nvSpPr>
              <p:cNvPr id="92" name="TextBox 92"/>
              <p:cNvSpPr txBox="1"/>
              <p:nvPr/>
            </p:nvSpPr>
            <p:spPr>
              <a:xfrm>
                <a:off x="203200" y="-47625"/>
                <a:ext cx="406400" cy="758825"/>
              </a:xfrm>
              <a:prstGeom prst="rect">
                <a:avLst/>
              </a:prstGeom>
            </p:spPr>
            <p:txBody>
              <a:bodyPr lIns="52086" tIns="52086" rIns="52086" bIns="52086" rtlCol="0" anchor="ctr"/>
              <a:lstStyle/>
              <a:p>
                <a:pPr algn="ctr">
                  <a:lnSpc>
                    <a:spcPts val="2659"/>
                  </a:lnSpc>
                </a:pPr>
                <a:endParaRPr/>
              </a:p>
            </p:txBody>
          </p:sp>
        </p:grpSp>
        <p:sp>
          <p:nvSpPr>
            <p:cNvPr id="93" name="TextBox 93"/>
            <p:cNvSpPr txBox="1"/>
            <p:nvPr/>
          </p:nvSpPr>
          <p:spPr>
            <a:xfrm>
              <a:off x="318802" y="1160826"/>
              <a:ext cx="3040706" cy="418962"/>
            </a:xfrm>
            <a:prstGeom prst="rect">
              <a:avLst/>
            </a:prstGeom>
          </p:spPr>
          <p:txBody>
            <a:bodyPr lIns="0" tIns="0" rIns="0" bIns="0" rtlCol="0" anchor="t">
              <a:spAutoFit/>
            </a:bodyPr>
            <a:lstStyle/>
            <a:p>
              <a:pPr algn="ctr">
                <a:lnSpc>
                  <a:spcPts val="2630"/>
                </a:lnSpc>
              </a:pPr>
              <a:r>
                <a:rPr lang="en-US" sz="1879" b="1">
                  <a:solidFill>
                    <a:srgbClr val="1800AD"/>
                  </a:solidFill>
                  <a:latin typeface="Canva Sans Bold"/>
                  <a:ea typeface="Canva Sans Bold"/>
                  <a:cs typeface="Canva Sans Bold"/>
                  <a:sym typeface="Canva Sans Bold"/>
                </a:rPr>
                <a:t>Lemmatization</a:t>
              </a:r>
            </a:p>
          </p:txBody>
        </p:sp>
        <p:sp>
          <p:nvSpPr>
            <p:cNvPr id="94" name="TextBox 94"/>
            <p:cNvSpPr txBox="1"/>
            <p:nvPr/>
          </p:nvSpPr>
          <p:spPr>
            <a:xfrm>
              <a:off x="545114" y="2473477"/>
              <a:ext cx="2534869" cy="525800"/>
            </a:xfrm>
            <a:prstGeom prst="rect">
              <a:avLst/>
            </a:prstGeom>
          </p:spPr>
          <p:txBody>
            <a:bodyPr lIns="0" tIns="0" rIns="0" bIns="0" rtlCol="0" anchor="t">
              <a:spAutoFit/>
            </a:bodyPr>
            <a:lstStyle/>
            <a:p>
              <a:pPr algn="ctr">
                <a:lnSpc>
                  <a:spcPts val="1659"/>
                </a:lnSpc>
              </a:pPr>
              <a:r>
                <a:rPr lang="en-US" sz="1185">
                  <a:solidFill>
                    <a:srgbClr val="FFFFFF"/>
                  </a:solidFill>
                  <a:latin typeface="Canva Sans"/>
                  <a:ea typeface="Canva Sans"/>
                  <a:cs typeface="Canva Sans"/>
                  <a:sym typeface="Canva Sans"/>
                </a:rPr>
                <a:t>Segala puji bagi Allah, Tuhan semesta alam</a:t>
              </a:r>
            </a:p>
          </p:txBody>
        </p:sp>
        <p:sp>
          <p:nvSpPr>
            <p:cNvPr id="95" name="TextBox 95"/>
            <p:cNvSpPr txBox="1"/>
            <p:nvPr/>
          </p:nvSpPr>
          <p:spPr>
            <a:xfrm>
              <a:off x="514607" y="3380420"/>
              <a:ext cx="2534869" cy="525800"/>
            </a:xfrm>
            <a:prstGeom prst="rect">
              <a:avLst/>
            </a:prstGeom>
          </p:spPr>
          <p:txBody>
            <a:bodyPr lIns="0" tIns="0" rIns="0" bIns="0" rtlCol="0" anchor="t">
              <a:spAutoFit/>
            </a:bodyPr>
            <a:lstStyle/>
            <a:p>
              <a:pPr algn="just">
                <a:lnSpc>
                  <a:spcPts val="1659"/>
                </a:lnSpc>
              </a:pPr>
              <a:r>
                <a:rPr lang="en-US" sz="1185">
                  <a:solidFill>
                    <a:srgbClr val="FFFFFF"/>
                  </a:solidFill>
                  <a:latin typeface="Canva Sans"/>
                  <a:ea typeface="Canva Sans"/>
                  <a:cs typeface="Canva Sans"/>
                  <a:sym typeface="Canva Sans"/>
                </a:rPr>
                <a:t>puji allah tuhan semesta alam                                      </a:t>
              </a:r>
            </a:p>
          </p:txBody>
        </p:sp>
      </p:grpSp>
      <p:graphicFrame>
        <p:nvGraphicFramePr>
          <p:cNvPr id="96" name="Table 96"/>
          <p:cNvGraphicFramePr>
            <a:graphicFrameLocks noGrp="1"/>
          </p:cNvGraphicFramePr>
          <p:nvPr>
            <p:extLst>
              <p:ext uri="{D42A27DB-BD31-4B8C-83A1-F6EECF244321}">
                <p14:modId xmlns:p14="http://schemas.microsoft.com/office/powerpoint/2010/main" val="2434727855"/>
              </p:ext>
            </p:extLst>
          </p:nvPr>
        </p:nvGraphicFramePr>
        <p:xfrm>
          <a:off x="1665705" y="6101585"/>
          <a:ext cx="10539337" cy="3433714"/>
        </p:xfrm>
        <a:graphic>
          <a:graphicData uri="http://schemas.openxmlformats.org/drawingml/2006/table">
            <a:tbl>
              <a:tblPr/>
              <a:tblGrid>
                <a:gridCol w="3674517">
                  <a:extLst>
                    <a:ext uri="{9D8B030D-6E8A-4147-A177-3AD203B41FA5}">
                      <a16:colId xmlns:a16="http://schemas.microsoft.com/office/drawing/2014/main" val="20000"/>
                    </a:ext>
                  </a:extLst>
                </a:gridCol>
                <a:gridCol w="2405683">
                  <a:extLst>
                    <a:ext uri="{9D8B030D-6E8A-4147-A177-3AD203B41FA5}">
                      <a16:colId xmlns:a16="http://schemas.microsoft.com/office/drawing/2014/main" val="20001"/>
                    </a:ext>
                  </a:extLst>
                </a:gridCol>
                <a:gridCol w="2228991">
                  <a:extLst>
                    <a:ext uri="{9D8B030D-6E8A-4147-A177-3AD203B41FA5}">
                      <a16:colId xmlns:a16="http://schemas.microsoft.com/office/drawing/2014/main" val="20002"/>
                    </a:ext>
                  </a:extLst>
                </a:gridCol>
                <a:gridCol w="2230146">
                  <a:extLst>
                    <a:ext uri="{9D8B030D-6E8A-4147-A177-3AD203B41FA5}">
                      <a16:colId xmlns:a16="http://schemas.microsoft.com/office/drawing/2014/main" val="20003"/>
                    </a:ext>
                  </a:extLst>
                </a:gridCol>
              </a:tblGrid>
              <a:tr h="965512">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Variasi Preprocessing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Reduksi Token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Reduksi Kosatakata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tc>
                  <a:txBody>
                    <a:bodyPr/>
                    <a:lstStyle/>
                    <a:p>
                      <a:pPr algn="ctr">
                        <a:lnSpc>
                          <a:spcPts val="1618"/>
                        </a:lnSpc>
                        <a:defRPr/>
                      </a:pPr>
                      <a:r>
                        <a:rPr lang="en-US" sz="1156" b="1">
                          <a:solidFill>
                            <a:srgbClr val="000000"/>
                          </a:solidFill>
                          <a:latin typeface="Canva Sans Bold"/>
                          <a:ea typeface="Canva Sans Bold"/>
                          <a:cs typeface="Canva Sans Bold"/>
                          <a:sym typeface="Canva Sans Bold"/>
                        </a:rPr>
                        <a:t>Preservasi Makna (%)</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00BF63"/>
                    </a:solidFill>
                  </a:tcPr>
                </a:tc>
                <a:extLst>
                  <a:ext uri="{0D108BD9-81ED-4DB2-BD59-A6C34878D82A}">
                    <a16:rowId xmlns:a16="http://schemas.microsoft.com/office/drawing/2014/main" val="10000"/>
                  </a:ext>
                </a:extLst>
              </a:tr>
              <a:tr h="1005564">
                <a:tc>
                  <a:txBody>
                    <a:bodyPr/>
                    <a:lstStyle/>
                    <a:p>
                      <a:pPr algn="l">
                        <a:lnSpc>
                          <a:spcPts val="1679"/>
                        </a:lnSpc>
                        <a:defRPr/>
                      </a:pPr>
                      <a:r>
                        <a:rPr lang="en-US" sz="1200" b="1">
                          <a:solidFill>
                            <a:srgbClr val="000000"/>
                          </a:solidFill>
                          <a:latin typeface="Arimo Bold"/>
                          <a:ea typeface="Arimo Bold"/>
                          <a:cs typeface="Arimo Bold"/>
                          <a:sym typeface="Arimo Bold"/>
                        </a:rPr>
                        <a:t>preprocessed Basic (tanpa Stopword, dan steming)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6.81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58.43</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68.61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731319">
                <a:tc>
                  <a:txBody>
                    <a:bodyPr/>
                    <a:lstStyle/>
                    <a:p>
                      <a:pPr algn="l">
                        <a:lnSpc>
                          <a:spcPts val="1618"/>
                        </a:lnSpc>
                        <a:defRPr/>
                      </a:pPr>
                      <a:r>
                        <a:rPr lang="en-US" sz="1156" b="1">
                          <a:solidFill>
                            <a:srgbClr val="000000"/>
                          </a:solidFill>
                          <a:latin typeface="Canva Sans Bold"/>
                          <a:ea typeface="Canva Sans Bold"/>
                          <a:cs typeface="Canva Sans Bold"/>
                          <a:sym typeface="Canva Sans Bold"/>
                        </a:rPr>
                        <a:t>preprocessed no steam (tanpa stemming)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55.7</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59.31</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74.45</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731319">
                <a:tc>
                  <a:txBody>
                    <a:bodyPr/>
                    <a:lstStyle/>
                    <a:p>
                      <a:pPr algn="l">
                        <a:lnSpc>
                          <a:spcPts val="1618"/>
                        </a:lnSpc>
                        <a:defRPr/>
                      </a:pPr>
                      <a:r>
                        <a:rPr lang="en-US" sz="1156" b="1">
                          <a:solidFill>
                            <a:srgbClr val="000000"/>
                          </a:solidFill>
                          <a:latin typeface="Canva Sans Bold"/>
                          <a:ea typeface="Canva Sans Bold"/>
                          <a:cs typeface="Canva Sans Bold"/>
                          <a:sym typeface="Canva Sans Bold"/>
                        </a:rPr>
                        <a:t>preprocessed advance</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55.6</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83.75</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1618"/>
                        </a:lnSpc>
                        <a:defRPr/>
                      </a:pPr>
                      <a:r>
                        <a:rPr lang="en-US" sz="1400" dirty="0">
                          <a:solidFill>
                            <a:srgbClr val="000000"/>
                          </a:solidFill>
                          <a:latin typeface="Canva Sans"/>
                          <a:ea typeface="Canva Sans"/>
                          <a:cs typeface="Canva Sans"/>
                          <a:sym typeface="Canva Sans"/>
                        </a:rPr>
                        <a:t>73.20</a:t>
                      </a:r>
                      <a:endParaRPr lang="en-US" sz="1400" dirty="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bl>
          </a:graphicData>
        </a:graphic>
      </p:graphicFrame>
      <p:sp>
        <p:nvSpPr>
          <p:cNvPr id="97" name="TextBox 9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Tahapan Text Preprocessing</a:t>
            </a:r>
          </a:p>
        </p:txBody>
      </p:sp>
      <p:sp>
        <p:nvSpPr>
          <p:cNvPr id="98" name="TextBox 98"/>
          <p:cNvSpPr txBox="1"/>
          <p:nvPr/>
        </p:nvSpPr>
        <p:spPr>
          <a:xfrm>
            <a:off x="1028700" y="215814"/>
            <a:ext cx="8131423"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06 | Preprocessing Teks</a:t>
            </a:r>
          </a:p>
        </p:txBody>
      </p:sp>
      <p:grpSp>
        <p:nvGrpSpPr>
          <p:cNvPr id="99" name="Group 99"/>
          <p:cNvGrpSpPr/>
          <p:nvPr/>
        </p:nvGrpSpPr>
        <p:grpSpPr>
          <a:xfrm>
            <a:off x="13516772" y="6270980"/>
            <a:ext cx="2527223" cy="3192650"/>
            <a:chOff x="0" y="0"/>
            <a:chExt cx="3369631" cy="4256867"/>
          </a:xfrm>
        </p:grpSpPr>
        <p:grpSp>
          <p:nvGrpSpPr>
            <p:cNvPr id="100" name="Group 100"/>
            <p:cNvGrpSpPr/>
            <p:nvPr/>
          </p:nvGrpSpPr>
          <p:grpSpPr>
            <a:xfrm>
              <a:off x="0" y="0"/>
              <a:ext cx="3369631" cy="4256867"/>
              <a:chOff x="0" y="0"/>
              <a:chExt cx="972859" cy="1229017"/>
            </a:xfrm>
          </p:grpSpPr>
          <p:sp>
            <p:nvSpPr>
              <p:cNvPr id="101" name="Freeform 101"/>
              <p:cNvSpPr/>
              <p:nvPr/>
            </p:nvSpPr>
            <p:spPr>
              <a:xfrm>
                <a:off x="0" y="0"/>
                <a:ext cx="972859" cy="1229017"/>
              </a:xfrm>
              <a:custGeom>
                <a:avLst/>
                <a:gdLst/>
                <a:ahLst/>
                <a:cxnLst/>
                <a:rect l="l" t="t" r="r" b="b"/>
                <a:pathLst>
                  <a:path w="972859" h="1229017">
                    <a:moveTo>
                      <a:pt x="79649" y="0"/>
                    </a:moveTo>
                    <a:lnTo>
                      <a:pt x="893211" y="0"/>
                    </a:lnTo>
                    <a:cubicBezTo>
                      <a:pt x="914335" y="0"/>
                      <a:pt x="934594" y="8392"/>
                      <a:pt x="949531" y="23329"/>
                    </a:cubicBezTo>
                    <a:cubicBezTo>
                      <a:pt x="964468" y="38266"/>
                      <a:pt x="972859" y="58525"/>
                      <a:pt x="972859" y="79649"/>
                    </a:cubicBezTo>
                    <a:lnTo>
                      <a:pt x="972859" y="1149368"/>
                    </a:lnTo>
                    <a:cubicBezTo>
                      <a:pt x="972859" y="1170492"/>
                      <a:pt x="964468" y="1190751"/>
                      <a:pt x="949531" y="1205688"/>
                    </a:cubicBezTo>
                    <a:cubicBezTo>
                      <a:pt x="934594" y="1220625"/>
                      <a:pt x="914335" y="1229017"/>
                      <a:pt x="893211" y="1229017"/>
                    </a:cubicBezTo>
                    <a:lnTo>
                      <a:pt x="79649" y="1229017"/>
                    </a:lnTo>
                    <a:cubicBezTo>
                      <a:pt x="35660" y="1229017"/>
                      <a:pt x="0" y="1193357"/>
                      <a:pt x="0" y="1149368"/>
                    </a:cubicBezTo>
                    <a:lnTo>
                      <a:pt x="0" y="79649"/>
                    </a:lnTo>
                    <a:cubicBezTo>
                      <a:pt x="0" y="58525"/>
                      <a:pt x="8392" y="38266"/>
                      <a:pt x="23329" y="23329"/>
                    </a:cubicBezTo>
                    <a:cubicBezTo>
                      <a:pt x="38266" y="8392"/>
                      <a:pt x="58525" y="0"/>
                      <a:pt x="79649" y="0"/>
                    </a:cubicBezTo>
                    <a:close/>
                  </a:path>
                </a:pathLst>
              </a:custGeom>
              <a:solidFill>
                <a:srgbClr val="FFFFFF"/>
              </a:solidFill>
              <a:ln w="38100" cap="rnd">
                <a:solidFill>
                  <a:srgbClr val="FF751F"/>
                </a:solidFill>
                <a:prstDash val="solid"/>
                <a:round/>
              </a:ln>
            </p:spPr>
          </p:sp>
          <p:sp>
            <p:nvSpPr>
              <p:cNvPr id="102" name="TextBox 102"/>
              <p:cNvSpPr txBox="1"/>
              <p:nvPr/>
            </p:nvSpPr>
            <p:spPr>
              <a:xfrm>
                <a:off x="0" y="-47625"/>
                <a:ext cx="972859" cy="1276642"/>
              </a:xfrm>
              <a:prstGeom prst="rect">
                <a:avLst/>
              </a:prstGeom>
            </p:spPr>
            <p:txBody>
              <a:bodyPr lIns="34756" tIns="34756" rIns="34756" bIns="34756" rtlCol="0" anchor="ctr"/>
              <a:lstStyle/>
              <a:p>
                <a:pPr algn="ctr">
                  <a:lnSpc>
                    <a:spcPts val="2659"/>
                  </a:lnSpc>
                </a:pPr>
                <a:endParaRPr/>
              </a:p>
            </p:txBody>
          </p:sp>
        </p:grpSp>
        <p:grpSp>
          <p:nvGrpSpPr>
            <p:cNvPr id="103" name="Group 103"/>
            <p:cNvGrpSpPr/>
            <p:nvPr/>
          </p:nvGrpSpPr>
          <p:grpSpPr>
            <a:xfrm>
              <a:off x="133238" y="2501322"/>
              <a:ext cx="3143320" cy="1551800"/>
              <a:chOff x="0" y="0"/>
              <a:chExt cx="907520" cy="448026"/>
            </a:xfrm>
          </p:grpSpPr>
          <p:sp>
            <p:nvSpPr>
              <p:cNvPr id="104" name="Freeform 104"/>
              <p:cNvSpPr/>
              <p:nvPr/>
            </p:nvSpPr>
            <p:spPr>
              <a:xfrm>
                <a:off x="0" y="0"/>
                <a:ext cx="907520" cy="448026"/>
              </a:xfrm>
              <a:custGeom>
                <a:avLst/>
                <a:gdLst/>
                <a:ahLst/>
                <a:cxnLst/>
                <a:rect l="l" t="t" r="r" b="b"/>
                <a:pathLst>
                  <a:path w="907520" h="448026">
                    <a:moveTo>
                      <a:pt x="0" y="0"/>
                    </a:moveTo>
                    <a:lnTo>
                      <a:pt x="907520" y="0"/>
                    </a:lnTo>
                    <a:lnTo>
                      <a:pt x="907520" y="448026"/>
                    </a:lnTo>
                    <a:lnTo>
                      <a:pt x="0" y="448026"/>
                    </a:lnTo>
                    <a:close/>
                  </a:path>
                </a:pathLst>
              </a:custGeom>
              <a:solidFill>
                <a:srgbClr val="FF751F"/>
              </a:solidFill>
              <a:ln w="38100" cap="sq">
                <a:solidFill>
                  <a:srgbClr val="FF751F"/>
                </a:solidFill>
                <a:prstDash val="solid"/>
                <a:miter/>
              </a:ln>
            </p:spPr>
          </p:sp>
          <p:sp>
            <p:nvSpPr>
              <p:cNvPr id="105" name="TextBox 105"/>
              <p:cNvSpPr txBox="1"/>
              <p:nvPr/>
            </p:nvSpPr>
            <p:spPr>
              <a:xfrm>
                <a:off x="0" y="-47625"/>
                <a:ext cx="907520" cy="495651"/>
              </a:xfrm>
              <a:prstGeom prst="rect">
                <a:avLst/>
              </a:prstGeom>
            </p:spPr>
            <p:txBody>
              <a:bodyPr lIns="34756" tIns="34756" rIns="34756" bIns="34756" rtlCol="0" anchor="ctr"/>
              <a:lstStyle/>
              <a:p>
                <a:pPr algn="ctr">
                  <a:lnSpc>
                    <a:spcPts val="2659"/>
                  </a:lnSpc>
                </a:pPr>
                <a:endParaRPr/>
              </a:p>
            </p:txBody>
          </p:sp>
        </p:grpSp>
        <p:sp>
          <p:nvSpPr>
            <p:cNvPr id="106" name="Freeform 106"/>
            <p:cNvSpPr/>
            <p:nvPr/>
          </p:nvSpPr>
          <p:spPr>
            <a:xfrm>
              <a:off x="1173878" y="241584"/>
              <a:ext cx="957342" cy="957342"/>
            </a:xfrm>
            <a:custGeom>
              <a:avLst/>
              <a:gdLst/>
              <a:ahLst/>
              <a:cxnLst/>
              <a:rect l="l" t="t" r="r" b="b"/>
              <a:pathLst>
                <a:path w="957342" h="957342">
                  <a:moveTo>
                    <a:pt x="0" y="0"/>
                  </a:moveTo>
                  <a:lnTo>
                    <a:pt x="957341" y="0"/>
                  </a:lnTo>
                  <a:lnTo>
                    <a:pt x="957341" y="957342"/>
                  </a:lnTo>
                  <a:lnTo>
                    <a:pt x="0" y="95734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7" name="TextBox 107"/>
            <p:cNvSpPr txBox="1"/>
            <p:nvPr/>
          </p:nvSpPr>
          <p:spPr>
            <a:xfrm>
              <a:off x="202002" y="1338348"/>
              <a:ext cx="2965627" cy="1224227"/>
            </a:xfrm>
            <a:prstGeom prst="rect">
              <a:avLst/>
            </a:prstGeom>
          </p:spPr>
          <p:txBody>
            <a:bodyPr lIns="0" tIns="0" rIns="0" bIns="0" rtlCol="0" anchor="t">
              <a:spAutoFit/>
            </a:bodyPr>
            <a:lstStyle/>
            <a:p>
              <a:pPr algn="ctr">
                <a:lnSpc>
                  <a:spcPts val="2548"/>
                </a:lnSpc>
              </a:pPr>
              <a:r>
                <a:rPr lang="en-US" sz="1820" b="1">
                  <a:solidFill>
                    <a:srgbClr val="1800AD"/>
                  </a:solidFill>
                  <a:latin typeface="Canva Sans Bold"/>
                  <a:ea typeface="Canva Sans Bold"/>
                  <a:cs typeface="Canva Sans Bold"/>
                  <a:sym typeface="Canva Sans Bold"/>
                </a:rPr>
                <a:t>Preprocessed Advanced</a:t>
              </a:r>
            </a:p>
            <a:p>
              <a:pPr algn="ctr">
                <a:lnSpc>
                  <a:spcPts val="2548"/>
                </a:lnSpc>
              </a:pPr>
              <a:endParaRPr lang="en-US" sz="1820" b="1">
                <a:solidFill>
                  <a:srgbClr val="1800AD"/>
                </a:solidFill>
                <a:latin typeface="Canva Sans Bold"/>
                <a:ea typeface="Canva Sans Bold"/>
                <a:cs typeface="Canva Sans Bold"/>
                <a:sym typeface="Canva Sans Bold"/>
              </a:endParaRPr>
            </a:p>
          </p:txBody>
        </p:sp>
        <p:sp>
          <p:nvSpPr>
            <p:cNvPr id="108" name="TextBox 108"/>
            <p:cNvSpPr txBox="1"/>
            <p:nvPr/>
          </p:nvSpPr>
          <p:spPr>
            <a:xfrm>
              <a:off x="531654" y="2739735"/>
              <a:ext cx="2472279" cy="1313388"/>
            </a:xfrm>
            <a:prstGeom prst="rect">
              <a:avLst/>
            </a:prstGeom>
          </p:spPr>
          <p:txBody>
            <a:bodyPr lIns="0" tIns="0" rIns="0" bIns="0" rtlCol="0" anchor="t">
              <a:spAutoFit/>
            </a:bodyPr>
            <a:lstStyle/>
            <a:p>
              <a:pPr algn="ctr">
                <a:lnSpc>
                  <a:spcPts val="1618"/>
                </a:lnSpc>
              </a:pPr>
              <a:r>
                <a:rPr lang="en-US" sz="1156">
                  <a:solidFill>
                    <a:srgbClr val="FFFFFF"/>
                  </a:solidFill>
                  <a:latin typeface="Canva Sans"/>
                  <a:ea typeface="Canva Sans"/>
                  <a:cs typeface="Canva Sans"/>
                  <a:sym typeface="Canva Sans"/>
                </a:rPr>
                <a:t>Keseimbangan terbaik antara reduksi noise dan preservasi makna semantik teks Al-Qur'an</a:t>
              </a:r>
            </a:p>
            <a:p>
              <a:pPr algn="ctr">
                <a:lnSpc>
                  <a:spcPts val="1618"/>
                </a:lnSpc>
              </a:pPr>
              <a:endParaRPr lang="en-US" sz="1156">
                <a:solidFill>
                  <a:srgbClr val="FFFFFF"/>
                </a:solidFill>
                <a:latin typeface="Canva Sans"/>
                <a:ea typeface="Canva Sans"/>
                <a:cs typeface="Canva Sans"/>
                <a:sym typeface="Canva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28700" y="2854732"/>
            <a:ext cx="4423258" cy="793726"/>
            <a:chOff x="0" y="0"/>
            <a:chExt cx="5897677" cy="1058301"/>
          </a:xfrm>
        </p:grpSpPr>
        <p:grpSp>
          <p:nvGrpSpPr>
            <p:cNvPr id="17" name="Group 17"/>
            <p:cNvGrpSpPr/>
            <p:nvPr/>
          </p:nvGrpSpPr>
          <p:grpSpPr>
            <a:xfrm>
              <a:off x="0" y="0"/>
              <a:ext cx="5897677" cy="1058301"/>
              <a:chOff x="0" y="0"/>
              <a:chExt cx="2496752" cy="448026"/>
            </a:xfrm>
          </p:grpSpPr>
          <p:sp>
            <p:nvSpPr>
              <p:cNvPr id="18" name="Freeform 18"/>
              <p:cNvSpPr/>
              <p:nvPr/>
            </p:nvSpPr>
            <p:spPr>
              <a:xfrm>
                <a:off x="0" y="0"/>
                <a:ext cx="2496752" cy="448026"/>
              </a:xfrm>
              <a:custGeom>
                <a:avLst/>
                <a:gdLst/>
                <a:ahLst/>
                <a:cxnLst/>
                <a:rect l="l" t="t" r="r" b="b"/>
                <a:pathLst>
                  <a:path w="2496752" h="448026">
                    <a:moveTo>
                      <a:pt x="0" y="0"/>
                    </a:moveTo>
                    <a:lnTo>
                      <a:pt x="2496752" y="0"/>
                    </a:lnTo>
                    <a:lnTo>
                      <a:pt x="2496752" y="448026"/>
                    </a:lnTo>
                    <a:lnTo>
                      <a:pt x="0" y="448026"/>
                    </a:lnTo>
                    <a:close/>
                  </a:path>
                </a:pathLst>
              </a:custGeom>
              <a:solidFill>
                <a:srgbClr val="FEFCFB"/>
              </a:solidFill>
              <a:ln w="38100" cap="sq">
                <a:solidFill>
                  <a:srgbClr val="FF751F"/>
                </a:solidFill>
                <a:prstDash val="solid"/>
                <a:miter/>
              </a:ln>
            </p:spPr>
          </p:sp>
          <p:sp>
            <p:nvSpPr>
              <p:cNvPr id="19" name="TextBox 19"/>
              <p:cNvSpPr txBox="1"/>
              <p:nvPr/>
            </p:nvSpPr>
            <p:spPr>
              <a:xfrm>
                <a:off x="0" y="-47625"/>
                <a:ext cx="2496752" cy="495651"/>
              </a:xfrm>
              <a:prstGeom prst="rect">
                <a:avLst/>
              </a:prstGeom>
            </p:spPr>
            <p:txBody>
              <a:bodyPr lIns="34756" tIns="34756" rIns="34756" bIns="34756" rtlCol="0" anchor="ctr"/>
              <a:lstStyle/>
              <a:p>
                <a:pPr algn="ctr">
                  <a:lnSpc>
                    <a:spcPts val="2659"/>
                  </a:lnSpc>
                </a:pPr>
                <a:endParaRPr/>
              </a:p>
            </p:txBody>
          </p:sp>
        </p:grpSp>
        <p:sp>
          <p:nvSpPr>
            <p:cNvPr id="20" name="TextBox 20"/>
            <p:cNvSpPr txBox="1"/>
            <p:nvPr/>
          </p:nvSpPr>
          <p:spPr>
            <a:xfrm>
              <a:off x="613466" y="245303"/>
              <a:ext cx="4340416" cy="548645"/>
            </a:xfrm>
            <a:prstGeom prst="rect">
              <a:avLst/>
            </a:prstGeom>
          </p:spPr>
          <p:txBody>
            <a:bodyPr lIns="0" tIns="0" rIns="0" bIns="0" rtlCol="0" anchor="t">
              <a:spAutoFit/>
            </a:bodyPr>
            <a:lstStyle/>
            <a:p>
              <a:pPr algn="ctr">
                <a:lnSpc>
                  <a:spcPts val="1738"/>
                </a:lnSpc>
              </a:pPr>
              <a:r>
                <a:rPr lang="en-US" sz="1241" b="1">
                  <a:solidFill>
                    <a:srgbClr val="CF4119"/>
                  </a:solidFill>
                  <a:latin typeface="Canva Sans Bold"/>
                  <a:ea typeface="Canva Sans Bold"/>
                  <a:cs typeface="Canva Sans Bold"/>
                  <a:sym typeface="Canva Sans Bold"/>
                </a:rPr>
                <a:t>Optimasi parameter jumlah topik (K)</a:t>
              </a:r>
            </a:p>
            <a:p>
              <a:pPr algn="ctr">
                <a:lnSpc>
                  <a:spcPts val="1738"/>
                </a:lnSpc>
              </a:pPr>
              <a:r>
                <a:rPr lang="en-US" sz="1241" b="1">
                  <a:solidFill>
                    <a:srgbClr val="CF4119"/>
                  </a:solidFill>
                  <a:latin typeface="Canva Sans Bold"/>
                  <a:ea typeface="Canva Sans Bold"/>
                  <a:cs typeface="Canva Sans Bold"/>
                  <a:sym typeface="Canva Sans Bold"/>
                </a:rPr>
                <a:t>K = 8 sampai K=19</a:t>
              </a:r>
            </a:p>
          </p:txBody>
        </p:sp>
      </p:grpSp>
      <p:grpSp>
        <p:nvGrpSpPr>
          <p:cNvPr id="21" name="Group 21"/>
          <p:cNvGrpSpPr/>
          <p:nvPr/>
        </p:nvGrpSpPr>
        <p:grpSpPr>
          <a:xfrm>
            <a:off x="5661322" y="2800148"/>
            <a:ext cx="6608985" cy="947517"/>
            <a:chOff x="0" y="0"/>
            <a:chExt cx="8811980" cy="1263356"/>
          </a:xfrm>
        </p:grpSpPr>
        <p:grpSp>
          <p:nvGrpSpPr>
            <p:cNvPr id="22" name="Group 22"/>
            <p:cNvGrpSpPr/>
            <p:nvPr/>
          </p:nvGrpSpPr>
          <p:grpSpPr>
            <a:xfrm>
              <a:off x="0" y="0"/>
              <a:ext cx="8811980" cy="1263356"/>
              <a:chOff x="0" y="0"/>
              <a:chExt cx="3165274" cy="453799"/>
            </a:xfrm>
          </p:grpSpPr>
          <p:sp>
            <p:nvSpPr>
              <p:cNvPr id="23" name="Freeform 23"/>
              <p:cNvSpPr/>
              <p:nvPr/>
            </p:nvSpPr>
            <p:spPr>
              <a:xfrm>
                <a:off x="0" y="0"/>
                <a:ext cx="3165274" cy="453799"/>
              </a:xfrm>
              <a:custGeom>
                <a:avLst/>
                <a:gdLst/>
                <a:ahLst/>
                <a:cxnLst/>
                <a:rect l="l" t="t" r="r" b="b"/>
                <a:pathLst>
                  <a:path w="3165274" h="453799">
                    <a:moveTo>
                      <a:pt x="0" y="0"/>
                    </a:moveTo>
                    <a:lnTo>
                      <a:pt x="3165274" y="0"/>
                    </a:lnTo>
                    <a:lnTo>
                      <a:pt x="3165274" y="453799"/>
                    </a:lnTo>
                    <a:lnTo>
                      <a:pt x="0" y="453799"/>
                    </a:lnTo>
                    <a:close/>
                  </a:path>
                </a:pathLst>
              </a:custGeom>
              <a:solidFill>
                <a:srgbClr val="FFFFFF"/>
              </a:solidFill>
              <a:ln w="38100" cap="sq">
                <a:solidFill>
                  <a:srgbClr val="FF751F"/>
                </a:solidFill>
                <a:prstDash val="solid"/>
                <a:miter/>
              </a:ln>
            </p:spPr>
          </p:sp>
          <p:sp>
            <p:nvSpPr>
              <p:cNvPr id="24" name="TextBox 24"/>
              <p:cNvSpPr txBox="1"/>
              <p:nvPr/>
            </p:nvSpPr>
            <p:spPr>
              <a:xfrm>
                <a:off x="0" y="-38100"/>
                <a:ext cx="3165274" cy="491899"/>
              </a:xfrm>
              <a:prstGeom prst="rect">
                <a:avLst/>
              </a:prstGeom>
            </p:spPr>
            <p:txBody>
              <a:bodyPr lIns="36010" tIns="36010" rIns="36010" bIns="36010" rtlCol="0" anchor="ctr"/>
              <a:lstStyle/>
              <a:p>
                <a:pPr algn="ctr">
                  <a:lnSpc>
                    <a:spcPts val="2799"/>
                  </a:lnSpc>
                </a:pPr>
                <a:endParaRPr/>
              </a:p>
            </p:txBody>
          </p:sp>
        </p:grpSp>
        <p:sp>
          <p:nvSpPr>
            <p:cNvPr id="25" name="TextBox 25"/>
            <p:cNvSpPr txBox="1"/>
            <p:nvPr/>
          </p:nvSpPr>
          <p:spPr>
            <a:xfrm>
              <a:off x="348122" y="261272"/>
              <a:ext cx="8115737" cy="712237"/>
            </a:xfrm>
            <a:prstGeom prst="rect">
              <a:avLst/>
            </a:prstGeom>
          </p:spPr>
          <p:txBody>
            <a:bodyPr lIns="0" tIns="0" rIns="0" bIns="0" rtlCol="0" anchor="t">
              <a:spAutoFit/>
            </a:bodyPr>
            <a:lstStyle/>
            <a:p>
              <a:pPr algn="ctr">
                <a:lnSpc>
                  <a:spcPts val="2188"/>
                </a:lnSpc>
              </a:pPr>
              <a:r>
                <a:rPr lang="en-US" sz="1563" b="1">
                  <a:solidFill>
                    <a:srgbClr val="FF751F"/>
                  </a:solidFill>
                  <a:latin typeface="Canva Sans Bold"/>
                  <a:ea typeface="Canva Sans Bold"/>
                  <a:cs typeface="Canva Sans Bold"/>
                  <a:sym typeface="Canva Sans Bold"/>
                </a:rPr>
                <a:t>114 Dokumen</a:t>
              </a:r>
            </a:p>
            <a:p>
              <a:pPr algn="ctr">
                <a:lnSpc>
                  <a:spcPts val="2188"/>
                </a:lnSpc>
              </a:pPr>
              <a:r>
                <a:rPr lang="en-US" sz="1563" b="1">
                  <a:solidFill>
                    <a:srgbClr val="FF751F"/>
                  </a:solidFill>
                  <a:latin typeface="Canva Sans Bold"/>
                  <a:ea typeface="Canva Sans Bold"/>
                  <a:cs typeface="Canva Sans Bold"/>
                  <a:sym typeface="Canva Sans Bold"/>
                </a:rPr>
                <a:t> 75.940 token</a:t>
              </a:r>
            </a:p>
          </p:txBody>
        </p:sp>
      </p:grpSp>
      <p:graphicFrame>
        <p:nvGraphicFramePr>
          <p:cNvPr id="26" name="Object 26"/>
          <p:cNvGraphicFramePr/>
          <p:nvPr/>
        </p:nvGraphicFramePr>
        <p:xfrm>
          <a:off x="1028700" y="3833520"/>
          <a:ext cx="11315700" cy="8172450"/>
        </p:xfrm>
        <a:graphic>
          <a:graphicData uri="http://schemas.openxmlformats.org/presentationml/2006/ole">
            <mc:AlternateContent xmlns:mc="http://schemas.openxmlformats.org/markup-compatibility/2006">
              <mc:Choice xmlns:v="urn:schemas-microsoft-com:vml" Requires="v">
                <p:oleObj name="Worksheet" r:id="rId4" imgW="13576300" imgH="10439400" progId="Excel.Sheet.12">
                  <p:embed/>
                </p:oleObj>
              </mc:Choice>
              <mc:Fallback>
                <p:oleObj name="Worksheet" r:id="rId4" imgW="13576300" imgH="10439400" progId="Excel.Sheet.12">
                  <p:embed/>
                  <p:pic>
                    <p:nvPicPr>
                      <p:cNvPr id="0" name=""/>
                      <p:cNvPicPr/>
                      <p:nvPr/>
                    </p:nvPicPr>
                    <p:blipFill>
                      <a:blip r:embed="rId5"/>
                      <a:stretch>
                        <a:fillRect/>
                      </a:stretch>
                    </p:blipFill>
                    <p:spPr>
                      <a:xfrm>
                        <a:off x="1028700" y="3833520"/>
                        <a:ext cx="11315700" cy="8172450"/>
                      </a:xfrm>
                      <a:prstGeom prst="rect">
                        <a:avLst/>
                      </a:prstGeom>
                    </p:spPr>
                  </p:pic>
                </p:oleObj>
              </mc:Fallback>
            </mc:AlternateContent>
          </a:graphicData>
        </a:graphic>
      </p:graphicFrame>
      <p:sp>
        <p:nvSpPr>
          <p:cNvPr id="27" name="Freeform 27"/>
          <p:cNvSpPr/>
          <p:nvPr/>
        </p:nvSpPr>
        <p:spPr>
          <a:xfrm>
            <a:off x="12479857" y="3563830"/>
            <a:ext cx="5356464" cy="3720450"/>
          </a:xfrm>
          <a:custGeom>
            <a:avLst/>
            <a:gdLst/>
            <a:ahLst/>
            <a:cxnLst/>
            <a:rect l="l" t="t" r="r" b="b"/>
            <a:pathLst>
              <a:path w="5356464" h="3720450">
                <a:moveTo>
                  <a:pt x="0" y="0"/>
                </a:moveTo>
                <a:lnTo>
                  <a:pt x="5356463" y="0"/>
                </a:lnTo>
                <a:lnTo>
                  <a:pt x="5356463" y="3720449"/>
                </a:lnTo>
                <a:lnTo>
                  <a:pt x="0" y="3720449"/>
                </a:lnTo>
                <a:lnTo>
                  <a:pt x="0" y="0"/>
                </a:lnTo>
                <a:close/>
              </a:path>
            </a:pathLst>
          </a:custGeom>
          <a:blipFill>
            <a:blip r:embed="rId6"/>
            <a:stretch>
              <a:fillRect l="-233" r="-233"/>
            </a:stretch>
          </a:blipFill>
        </p:spPr>
      </p:sp>
      <p:sp>
        <p:nvSpPr>
          <p:cNvPr id="28" name="TextBox 28"/>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Optimasi Parameter K</a:t>
            </a:r>
          </a:p>
        </p:txBody>
      </p:sp>
      <p:sp>
        <p:nvSpPr>
          <p:cNvPr id="29" name="TextBox 29"/>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07 | Correlated Topic Model</a:t>
            </a:r>
          </a:p>
        </p:txBody>
      </p:sp>
      <p:grpSp>
        <p:nvGrpSpPr>
          <p:cNvPr id="30" name="Group 30"/>
          <p:cNvGrpSpPr/>
          <p:nvPr/>
        </p:nvGrpSpPr>
        <p:grpSpPr>
          <a:xfrm>
            <a:off x="12658490" y="7324461"/>
            <a:ext cx="5177830" cy="1814562"/>
            <a:chOff x="0" y="0"/>
            <a:chExt cx="6903774" cy="2419417"/>
          </a:xfrm>
        </p:grpSpPr>
        <p:grpSp>
          <p:nvGrpSpPr>
            <p:cNvPr id="31" name="Group 31"/>
            <p:cNvGrpSpPr/>
            <p:nvPr/>
          </p:nvGrpSpPr>
          <p:grpSpPr>
            <a:xfrm>
              <a:off x="0" y="0"/>
              <a:ext cx="6903774" cy="2419417"/>
              <a:chOff x="0" y="0"/>
              <a:chExt cx="3506983" cy="1229017"/>
            </a:xfrm>
          </p:grpSpPr>
          <p:sp>
            <p:nvSpPr>
              <p:cNvPr id="32" name="Freeform 32"/>
              <p:cNvSpPr/>
              <p:nvPr/>
            </p:nvSpPr>
            <p:spPr>
              <a:xfrm>
                <a:off x="0" y="0"/>
                <a:ext cx="3506983" cy="1229017"/>
              </a:xfrm>
              <a:custGeom>
                <a:avLst/>
                <a:gdLst/>
                <a:ahLst/>
                <a:cxnLst/>
                <a:rect l="l" t="t" r="r" b="b"/>
                <a:pathLst>
                  <a:path w="3506983" h="1229017">
                    <a:moveTo>
                      <a:pt x="38875" y="0"/>
                    </a:moveTo>
                    <a:lnTo>
                      <a:pt x="3468108" y="0"/>
                    </a:lnTo>
                    <a:cubicBezTo>
                      <a:pt x="3478418" y="0"/>
                      <a:pt x="3488306" y="4096"/>
                      <a:pt x="3495597" y="11386"/>
                    </a:cubicBezTo>
                    <a:cubicBezTo>
                      <a:pt x="3502887" y="18677"/>
                      <a:pt x="3506983" y="28565"/>
                      <a:pt x="3506983" y="38875"/>
                    </a:cubicBezTo>
                    <a:lnTo>
                      <a:pt x="3506983" y="1190141"/>
                    </a:lnTo>
                    <a:cubicBezTo>
                      <a:pt x="3506983" y="1200452"/>
                      <a:pt x="3502887" y="1210340"/>
                      <a:pt x="3495597" y="1217630"/>
                    </a:cubicBezTo>
                    <a:cubicBezTo>
                      <a:pt x="3488306" y="1224921"/>
                      <a:pt x="3478418" y="1229017"/>
                      <a:pt x="3468108" y="1229017"/>
                    </a:cubicBezTo>
                    <a:lnTo>
                      <a:pt x="38875" y="1229017"/>
                    </a:lnTo>
                    <a:cubicBezTo>
                      <a:pt x="17405" y="1229017"/>
                      <a:pt x="0" y="1211612"/>
                      <a:pt x="0" y="1190141"/>
                    </a:cubicBezTo>
                    <a:lnTo>
                      <a:pt x="0" y="38875"/>
                    </a:lnTo>
                    <a:cubicBezTo>
                      <a:pt x="0" y="28565"/>
                      <a:pt x="4096" y="18677"/>
                      <a:pt x="11386" y="11386"/>
                    </a:cubicBezTo>
                    <a:cubicBezTo>
                      <a:pt x="18677" y="4096"/>
                      <a:pt x="28565" y="0"/>
                      <a:pt x="38875" y="0"/>
                    </a:cubicBezTo>
                    <a:close/>
                  </a:path>
                </a:pathLst>
              </a:custGeom>
              <a:solidFill>
                <a:srgbClr val="FFFFFF"/>
              </a:solidFill>
              <a:ln w="38100" cap="rnd">
                <a:solidFill>
                  <a:srgbClr val="FF751F"/>
                </a:solidFill>
                <a:prstDash val="solid"/>
                <a:round/>
              </a:ln>
            </p:spPr>
          </p:sp>
          <p:sp>
            <p:nvSpPr>
              <p:cNvPr id="33" name="TextBox 33"/>
              <p:cNvSpPr txBox="1"/>
              <p:nvPr/>
            </p:nvSpPr>
            <p:spPr>
              <a:xfrm>
                <a:off x="0" y="-47625"/>
                <a:ext cx="3506983" cy="1276642"/>
              </a:xfrm>
              <a:prstGeom prst="rect">
                <a:avLst/>
              </a:prstGeom>
            </p:spPr>
            <p:txBody>
              <a:bodyPr lIns="19754" tIns="19754" rIns="19754" bIns="19754" rtlCol="0" anchor="ctr"/>
              <a:lstStyle/>
              <a:p>
                <a:pPr algn="ctr">
                  <a:lnSpc>
                    <a:spcPts val="2659"/>
                  </a:lnSpc>
                </a:pPr>
                <a:endParaRPr/>
              </a:p>
            </p:txBody>
          </p:sp>
        </p:grpSp>
        <p:grpSp>
          <p:nvGrpSpPr>
            <p:cNvPr id="34" name="Group 34"/>
            <p:cNvGrpSpPr/>
            <p:nvPr/>
          </p:nvGrpSpPr>
          <p:grpSpPr>
            <a:xfrm>
              <a:off x="1756112" y="1057861"/>
              <a:ext cx="4560625" cy="1128792"/>
              <a:chOff x="0" y="0"/>
              <a:chExt cx="2316709" cy="573404"/>
            </a:xfrm>
          </p:grpSpPr>
          <p:sp>
            <p:nvSpPr>
              <p:cNvPr id="35" name="Freeform 35"/>
              <p:cNvSpPr/>
              <p:nvPr/>
            </p:nvSpPr>
            <p:spPr>
              <a:xfrm>
                <a:off x="0" y="0"/>
                <a:ext cx="2316709" cy="573404"/>
              </a:xfrm>
              <a:custGeom>
                <a:avLst/>
                <a:gdLst/>
                <a:ahLst/>
                <a:cxnLst/>
                <a:rect l="l" t="t" r="r" b="b"/>
                <a:pathLst>
                  <a:path w="2316709" h="573404">
                    <a:moveTo>
                      <a:pt x="0" y="0"/>
                    </a:moveTo>
                    <a:lnTo>
                      <a:pt x="2316709" y="0"/>
                    </a:lnTo>
                    <a:lnTo>
                      <a:pt x="2316709" y="573404"/>
                    </a:lnTo>
                    <a:lnTo>
                      <a:pt x="0" y="573404"/>
                    </a:lnTo>
                    <a:close/>
                  </a:path>
                </a:pathLst>
              </a:custGeom>
              <a:solidFill>
                <a:srgbClr val="FF751F"/>
              </a:solidFill>
              <a:ln w="38100" cap="sq">
                <a:solidFill>
                  <a:srgbClr val="FF751F"/>
                </a:solidFill>
                <a:prstDash val="solid"/>
                <a:miter/>
              </a:ln>
            </p:spPr>
          </p:sp>
          <p:sp>
            <p:nvSpPr>
              <p:cNvPr id="36" name="TextBox 36"/>
              <p:cNvSpPr txBox="1"/>
              <p:nvPr/>
            </p:nvSpPr>
            <p:spPr>
              <a:xfrm>
                <a:off x="0" y="-47625"/>
                <a:ext cx="2316709" cy="621029"/>
              </a:xfrm>
              <a:prstGeom prst="rect">
                <a:avLst/>
              </a:prstGeom>
            </p:spPr>
            <p:txBody>
              <a:bodyPr lIns="19754" tIns="19754" rIns="19754" bIns="19754" rtlCol="0" anchor="ctr"/>
              <a:lstStyle/>
              <a:p>
                <a:pPr algn="ctr">
                  <a:lnSpc>
                    <a:spcPts val="2659"/>
                  </a:lnSpc>
                </a:pPr>
                <a:endParaRPr/>
              </a:p>
            </p:txBody>
          </p:sp>
        </p:grpSp>
        <p:sp>
          <p:nvSpPr>
            <p:cNvPr id="37" name="Freeform 37"/>
            <p:cNvSpPr/>
            <p:nvPr/>
          </p:nvSpPr>
          <p:spPr>
            <a:xfrm>
              <a:off x="335610" y="822326"/>
              <a:ext cx="1176319" cy="1176319"/>
            </a:xfrm>
            <a:custGeom>
              <a:avLst/>
              <a:gdLst/>
              <a:ahLst/>
              <a:cxnLst/>
              <a:rect l="l" t="t" r="r" b="b"/>
              <a:pathLst>
                <a:path w="1176319" h="1176319">
                  <a:moveTo>
                    <a:pt x="0" y="0"/>
                  </a:moveTo>
                  <a:lnTo>
                    <a:pt x="1176318" y="0"/>
                  </a:lnTo>
                  <a:lnTo>
                    <a:pt x="1176318" y="1176319"/>
                  </a:lnTo>
                  <a:lnTo>
                    <a:pt x="0" y="11763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8" name="TextBox 38"/>
            <p:cNvSpPr txBox="1"/>
            <p:nvPr/>
          </p:nvSpPr>
          <p:spPr>
            <a:xfrm>
              <a:off x="2680509" y="90698"/>
              <a:ext cx="2182316" cy="848037"/>
            </a:xfrm>
            <a:prstGeom prst="rect">
              <a:avLst/>
            </a:prstGeom>
          </p:spPr>
          <p:txBody>
            <a:bodyPr lIns="0" tIns="0" rIns="0" bIns="0" rtlCol="0" anchor="t">
              <a:spAutoFit/>
            </a:bodyPr>
            <a:lstStyle/>
            <a:p>
              <a:pPr algn="ctr">
                <a:lnSpc>
                  <a:spcPts val="5368"/>
                </a:lnSpc>
              </a:pPr>
              <a:r>
                <a:rPr lang="en-US" sz="3834" b="1">
                  <a:solidFill>
                    <a:srgbClr val="1800AD"/>
                  </a:solidFill>
                  <a:latin typeface="Canva Sans Bold"/>
                  <a:ea typeface="Canva Sans Bold"/>
                  <a:cs typeface="Canva Sans Bold"/>
                  <a:sym typeface="Canva Sans Bold"/>
                </a:rPr>
                <a:t>K = 14</a:t>
              </a:r>
            </a:p>
          </p:txBody>
        </p:sp>
        <p:sp>
          <p:nvSpPr>
            <p:cNvPr id="39" name="TextBox 39"/>
            <p:cNvSpPr txBox="1"/>
            <p:nvPr/>
          </p:nvSpPr>
          <p:spPr>
            <a:xfrm>
              <a:off x="1894811" y="1222752"/>
              <a:ext cx="4283227" cy="779959"/>
            </a:xfrm>
            <a:prstGeom prst="rect">
              <a:avLst/>
            </a:prstGeom>
          </p:spPr>
          <p:txBody>
            <a:bodyPr lIns="0" tIns="0" rIns="0" bIns="0" rtlCol="0" anchor="t">
              <a:spAutoFit/>
            </a:bodyPr>
            <a:lstStyle/>
            <a:p>
              <a:pPr algn="ctr">
                <a:lnSpc>
                  <a:spcPts val="1620"/>
                </a:lnSpc>
              </a:pPr>
              <a:r>
                <a:rPr lang="en-US" sz="1157" b="1">
                  <a:solidFill>
                    <a:srgbClr val="FFFFFF"/>
                  </a:solidFill>
                  <a:latin typeface="Canva Sans Bold"/>
                  <a:ea typeface="Canva Sans Bold"/>
                  <a:cs typeface="Canva Sans Bold"/>
                  <a:sym typeface="Canva Sans Bold"/>
                </a:rPr>
                <a:t>hampir seluruh metrik berada pada posisi yang relatif tinggi dan seimbang dibandingkan jumlah topik lainnya</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1314450" y="4423935"/>
          <a:ext cx="3771900" cy="3771900"/>
        </p:xfrm>
        <a:graphic>
          <a:graphicData uri="http://schemas.openxmlformats.org/presentationml/2006/ole">
            <mc:AlternateContent xmlns:mc="http://schemas.openxmlformats.org/markup-compatibility/2006">
              <mc:Choice xmlns:v="urn:schemas-microsoft-com:vml" Requires="v">
                <p:oleObj name="Worksheet" r:id="rId4" imgW="4521200" imgH="4521200" progId="Excel.Sheet.12">
                  <p:embed/>
                </p:oleObj>
              </mc:Choice>
              <mc:Fallback>
                <p:oleObj name="Worksheet" r:id="rId4" imgW="4521200" imgH="4521200" progId="Excel.Sheet.12">
                  <p:embed/>
                  <p:pic>
                    <p:nvPicPr>
                      <p:cNvPr id="0" name=""/>
                      <p:cNvPicPr/>
                      <p:nvPr/>
                    </p:nvPicPr>
                    <p:blipFill>
                      <a:blip r:embed="rId5"/>
                      <a:stretch>
                        <a:fillRect/>
                      </a:stretch>
                    </p:blipFill>
                    <p:spPr>
                      <a:xfrm>
                        <a:off x="1314450" y="4423935"/>
                        <a:ext cx="3771900" cy="3771900"/>
                      </a:xfrm>
                      <a:prstGeom prst="rect">
                        <a:avLst/>
                      </a:prstGeom>
                    </p:spPr>
                  </p:pic>
                </p:oleObj>
              </mc:Fallback>
            </mc:AlternateContent>
          </a:graphicData>
        </a:graphic>
      </p:graphicFrame>
      <p:grpSp>
        <p:nvGrpSpPr>
          <p:cNvPr id="17" name="Group 17"/>
          <p:cNvGrpSpPr/>
          <p:nvPr/>
        </p:nvGrpSpPr>
        <p:grpSpPr>
          <a:xfrm>
            <a:off x="5657782" y="3229788"/>
            <a:ext cx="6331146" cy="6160194"/>
            <a:chOff x="0" y="0"/>
            <a:chExt cx="1667462" cy="1622438"/>
          </a:xfrm>
        </p:grpSpPr>
        <p:sp>
          <p:nvSpPr>
            <p:cNvPr id="18" name="Freeform 18"/>
            <p:cNvSpPr/>
            <p:nvPr/>
          </p:nvSpPr>
          <p:spPr>
            <a:xfrm>
              <a:off x="0" y="0"/>
              <a:ext cx="1667462" cy="1622438"/>
            </a:xfrm>
            <a:custGeom>
              <a:avLst/>
              <a:gdLst/>
              <a:ahLst/>
              <a:cxnLst/>
              <a:rect l="l" t="t" r="r" b="b"/>
              <a:pathLst>
                <a:path w="1667462" h="1622438">
                  <a:moveTo>
                    <a:pt x="0" y="0"/>
                  </a:moveTo>
                  <a:lnTo>
                    <a:pt x="1667462" y="0"/>
                  </a:lnTo>
                  <a:lnTo>
                    <a:pt x="1667462" y="1622438"/>
                  </a:lnTo>
                  <a:lnTo>
                    <a:pt x="0" y="1622438"/>
                  </a:lnTo>
                  <a:close/>
                </a:path>
              </a:pathLst>
            </a:custGeom>
            <a:solidFill>
              <a:srgbClr val="FFFFFF"/>
            </a:solidFill>
            <a:ln w="38100" cap="sq">
              <a:solidFill>
                <a:srgbClr val="FF751F"/>
              </a:solidFill>
              <a:prstDash val="solid"/>
              <a:miter/>
            </a:ln>
          </p:spPr>
        </p:sp>
        <p:sp>
          <p:nvSpPr>
            <p:cNvPr id="19" name="TextBox 19"/>
            <p:cNvSpPr txBox="1"/>
            <p:nvPr/>
          </p:nvSpPr>
          <p:spPr>
            <a:xfrm>
              <a:off x="0" y="-47625"/>
              <a:ext cx="1667462" cy="1670063"/>
            </a:xfrm>
            <a:prstGeom prst="rect">
              <a:avLst/>
            </a:prstGeom>
          </p:spPr>
          <p:txBody>
            <a:bodyPr lIns="50800" tIns="50800" rIns="50800" bIns="50800" rtlCol="0" anchor="ctr"/>
            <a:lstStyle/>
            <a:p>
              <a:pPr algn="ctr">
                <a:lnSpc>
                  <a:spcPts val="2659"/>
                </a:lnSpc>
              </a:pPr>
              <a:endParaRPr/>
            </a:p>
          </p:txBody>
        </p:sp>
      </p:grpSp>
      <p:pic>
        <p:nvPicPr>
          <p:cNvPr id="20" name="Picture 20"/>
          <p:cNvPicPr>
            <a:picLocks noChangeAspect="1"/>
          </p:cNvPicPr>
          <p:nvPr/>
        </p:nvPicPr>
        <p:blipFill>
          <a:blip r:embed="rId6"/>
          <a:stretch>
            <a:fillRect/>
          </a:stretch>
        </p:blipFill>
        <p:spPr>
          <a:xfrm>
            <a:off x="5264555" y="2779207"/>
            <a:ext cx="7117601" cy="7061358"/>
          </a:xfrm>
          <a:prstGeom prst="rect">
            <a:avLst/>
          </a:prstGeom>
        </p:spPr>
      </p:pic>
      <p:sp>
        <p:nvSpPr>
          <p:cNvPr id="21" name="TextBox 21"/>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Optimasi Parameter K</a:t>
            </a:r>
          </a:p>
        </p:txBody>
      </p:sp>
      <p:sp>
        <p:nvSpPr>
          <p:cNvPr id="22" name="TextBox 22"/>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08 | Correlated Topic Model</a:t>
            </a:r>
          </a:p>
        </p:txBody>
      </p:sp>
      <p:grpSp>
        <p:nvGrpSpPr>
          <p:cNvPr id="23" name="Group 23"/>
          <p:cNvGrpSpPr/>
          <p:nvPr/>
        </p:nvGrpSpPr>
        <p:grpSpPr>
          <a:xfrm>
            <a:off x="12309225" y="4486816"/>
            <a:ext cx="4388356" cy="2915042"/>
            <a:chOff x="0" y="0"/>
            <a:chExt cx="2972266" cy="1974380"/>
          </a:xfrm>
        </p:grpSpPr>
        <p:sp>
          <p:nvSpPr>
            <p:cNvPr id="24" name="Freeform 24"/>
            <p:cNvSpPr/>
            <p:nvPr/>
          </p:nvSpPr>
          <p:spPr>
            <a:xfrm>
              <a:off x="0" y="0"/>
              <a:ext cx="2972266" cy="1974380"/>
            </a:xfrm>
            <a:custGeom>
              <a:avLst/>
              <a:gdLst/>
              <a:ahLst/>
              <a:cxnLst/>
              <a:rect l="l" t="t" r="r" b="b"/>
              <a:pathLst>
                <a:path w="2972266" h="1974380">
                  <a:moveTo>
                    <a:pt x="45869" y="0"/>
                  </a:moveTo>
                  <a:lnTo>
                    <a:pt x="2926397" y="0"/>
                  </a:lnTo>
                  <a:cubicBezTo>
                    <a:pt x="2938562" y="0"/>
                    <a:pt x="2950229" y="4833"/>
                    <a:pt x="2958831" y="13435"/>
                  </a:cubicBezTo>
                  <a:cubicBezTo>
                    <a:pt x="2967433" y="22037"/>
                    <a:pt x="2972266" y="33704"/>
                    <a:pt x="2972266" y="45869"/>
                  </a:cubicBezTo>
                  <a:lnTo>
                    <a:pt x="2972266" y="1928511"/>
                  </a:lnTo>
                  <a:cubicBezTo>
                    <a:pt x="2972266" y="1953844"/>
                    <a:pt x="2951730" y="1974380"/>
                    <a:pt x="2926397" y="1974380"/>
                  </a:cubicBezTo>
                  <a:lnTo>
                    <a:pt x="45869" y="1974380"/>
                  </a:lnTo>
                  <a:cubicBezTo>
                    <a:pt x="20536" y="1974380"/>
                    <a:pt x="0" y="1953844"/>
                    <a:pt x="0" y="1928511"/>
                  </a:cubicBezTo>
                  <a:lnTo>
                    <a:pt x="0" y="45869"/>
                  </a:lnTo>
                  <a:cubicBezTo>
                    <a:pt x="0" y="20536"/>
                    <a:pt x="20536" y="0"/>
                    <a:pt x="45869" y="0"/>
                  </a:cubicBezTo>
                  <a:close/>
                </a:path>
              </a:pathLst>
            </a:custGeom>
            <a:solidFill>
              <a:srgbClr val="FFFFFF"/>
            </a:solidFill>
            <a:ln w="38100" cap="rnd">
              <a:solidFill>
                <a:srgbClr val="FF751F"/>
              </a:solidFill>
              <a:prstDash val="solid"/>
              <a:round/>
            </a:ln>
          </p:spPr>
        </p:sp>
        <p:sp>
          <p:nvSpPr>
            <p:cNvPr id="25" name="TextBox 25"/>
            <p:cNvSpPr txBox="1"/>
            <p:nvPr/>
          </p:nvSpPr>
          <p:spPr>
            <a:xfrm>
              <a:off x="0" y="-47625"/>
              <a:ext cx="2972266" cy="2022005"/>
            </a:xfrm>
            <a:prstGeom prst="rect">
              <a:avLst/>
            </a:prstGeom>
          </p:spPr>
          <p:txBody>
            <a:bodyPr lIns="19754" tIns="19754" rIns="19754" bIns="19754" rtlCol="0" anchor="ctr"/>
            <a:lstStyle/>
            <a:p>
              <a:pPr algn="ctr">
                <a:lnSpc>
                  <a:spcPts val="2659"/>
                </a:lnSpc>
              </a:pPr>
              <a:endParaRPr/>
            </a:p>
          </p:txBody>
        </p:sp>
      </p:grpSp>
      <p:grpSp>
        <p:nvGrpSpPr>
          <p:cNvPr id="26" name="Group 26"/>
          <p:cNvGrpSpPr/>
          <p:nvPr/>
        </p:nvGrpSpPr>
        <p:grpSpPr>
          <a:xfrm>
            <a:off x="12824091" y="4729972"/>
            <a:ext cx="3420469" cy="2434764"/>
            <a:chOff x="0" y="0"/>
            <a:chExt cx="2316709" cy="1649084"/>
          </a:xfrm>
        </p:grpSpPr>
        <p:sp>
          <p:nvSpPr>
            <p:cNvPr id="27" name="Freeform 27"/>
            <p:cNvSpPr/>
            <p:nvPr/>
          </p:nvSpPr>
          <p:spPr>
            <a:xfrm>
              <a:off x="0" y="0"/>
              <a:ext cx="2316709" cy="1649084"/>
            </a:xfrm>
            <a:custGeom>
              <a:avLst/>
              <a:gdLst/>
              <a:ahLst/>
              <a:cxnLst/>
              <a:rect l="l" t="t" r="r" b="b"/>
              <a:pathLst>
                <a:path w="2316709" h="1649084">
                  <a:moveTo>
                    <a:pt x="0" y="0"/>
                  </a:moveTo>
                  <a:lnTo>
                    <a:pt x="2316709" y="0"/>
                  </a:lnTo>
                  <a:lnTo>
                    <a:pt x="2316709" y="1649084"/>
                  </a:lnTo>
                  <a:lnTo>
                    <a:pt x="0" y="1649084"/>
                  </a:lnTo>
                  <a:close/>
                </a:path>
              </a:pathLst>
            </a:custGeom>
            <a:solidFill>
              <a:srgbClr val="FF751F"/>
            </a:solidFill>
            <a:ln w="38100" cap="sq">
              <a:solidFill>
                <a:srgbClr val="FF751F"/>
              </a:solidFill>
              <a:prstDash val="solid"/>
              <a:miter/>
            </a:ln>
          </p:spPr>
        </p:sp>
        <p:sp>
          <p:nvSpPr>
            <p:cNvPr id="28" name="TextBox 28"/>
            <p:cNvSpPr txBox="1"/>
            <p:nvPr/>
          </p:nvSpPr>
          <p:spPr>
            <a:xfrm>
              <a:off x="0" y="-47625"/>
              <a:ext cx="2316709" cy="1696709"/>
            </a:xfrm>
            <a:prstGeom prst="rect">
              <a:avLst/>
            </a:prstGeom>
          </p:spPr>
          <p:txBody>
            <a:bodyPr lIns="19754" tIns="19754" rIns="19754" bIns="19754" rtlCol="0" anchor="ctr"/>
            <a:lstStyle/>
            <a:p>
              <a:pPr algn="ctr">
                <a:lnSpc>
                  <a:spcPts val="2659"/>
                </a:lnSpc>
              </a:pPr>
              <a:endParaRPr/>
            </a:p>
          </p:txBody>
        </p:sp>
      </p:grpSp>
      <p:sp>
        <p:nvSpPr>
          <p:cNvPr id="29" name="Freeform 29"/>
          <p:cNvSpPr/>
          <p:nvPr/>
        </p:nvSpPr>
        <p:spPr>
          <a:xfrm>
            <a:off x="13716000" y="3438814"/>
            <a:ext cx="882239" cy="882239"/>
          </a:xfrm>
          <a:custGeom>
            <a:avLst/>
            <a:gdLst/>
            <a:ahLst/>
            <a:cxnLst/>
            <a:rect l="l" t="t" r="r" b="b"/>
            <a:pathLst>
              <a:path w="882239" h="882239">
                <a:moveTo>
                  <a:pt x="0" y="0"/>
                </a:moveTo>
                <a:lnTo>
                  <a:pt x="882239" y="0"/>
                </a:lnTo>
                <a:lnTo>
                  <a:pt x="882239" y="882239"/>
                </a:lnTo>
                <a:lnTo>
                  <a:pt x="0" y="88223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0" name="TextBox 30"/>
          <p:cNvSpPr txBox="1"/>
          <p:nvPr/>
        </p:nvSpPr>
        <p:spPr>
          <a:xfrm>
            <a:off x="12928115" y="5105400"/>
            <a:ext cx="3212420" cy="1888307"/>
          </a:xfrm>
          <a:prstGeom prst="rect">
            <a:avLst/>
          </a:prstGeom>
        </p:spPr>
        <p:txBody>
          <a:bodyPr lIns="0" tIns="0" rIns="0" bIns="0" rtlCol="0" anchor="t">
            <a:spAutoFit/>
          </a:bodyPr>
          <a:lstStyle/>
          <a:p>
            <a:pPr algn="ctr">
              <a:lnSpc>
                <a:spcPts val="3020"/>
              </a:lnSpc>
            </a:pPr>
            <a:r>
              <a:rPr lang="en-US" sz="2157" b="1">
                <a:solidFill>
                  <a:srgbClr val="FFFFFF"/>
                </a:solidFill>
                <a:latin typeface="Canva Sans Bold"/>
                <a:ea typeface="Canva Sans Bold"/>
                <a:cs typeface="Canva Sans Bold"/>
                <a:sym typeface="Canva Sans Bold"/>
              </a:rPr>
              <a:t>model telah mencapai kondisi konvergensi (menuju satu titik pemusatan) pada iterasi ke-100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1028700" y="3205137"/>
          <a:ext cx="3291840" cy="8229600"/>
        </p:xfrm>
        <a:graphic>
          <a:graphicData uri="http://schemas.openxmlformats.org/presentationml/2006/ole">
            <mc:AlternateContent xmlns:mc="http://schemas.openxmlformats.org/markup-compatibility/2006">
              <mc:Choice xmlns:v="urn:schemas-microsoft-com:vml" Requires="v">
                <p:oleObj name="Worksheet" r:id="rId4" imgW="4927600" imgH="9867900" progId="Excel.Sheet.12">
                  <p:embed/>
                </p:oleObj>
              </mc:Choice>
              <mc:Fallback>
                <p:oleObj name="Worksheet" r:id="rId4" imgW="4927600" imgH="9867900" progId="Excel.Sheet.12">
                  <p:embed/>
                  <p:pic>
                    <p:nvPicPr>
                      <p:cNvPr id="0" name=""/>
                      <p:cNvPicPr/>
                      <p:nvPr/>
                    </p:nvPicPr>
                    <p:blipFill>
                      <a:blip r:embed="rId5"/>
                      <a:stretch>
                        <a:fillRect/>
                      </a:stretch>
                    </p:blipFill>
                    <p:spPr>
                      <a:xfrm>
                        <a:off x="1028700" y="3205137"/>
                        <a:ext cx="3291840" cy="822960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CTM</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09 | Correlated Topic Model</a:t>
            </a:r>
          </a:p>
        </p:txBody>
      </p:sp>
      <p:sp>
        <p:nvSpPr>
          <p:cNvPr id="19" name="Freeform 19"/>
          <p:cNvSpPr/>
          <p:nvPr/>
        </p:nvSpPr>
        <p:spPr>
          <a:xfrm>
            <a:off x="6800542" y="3151433"/>
            <a:ext cx="6448822" cy="5844904"/>
          </a:xfrm>
          <a:custGeom>
            <a:avLst/>
            <a:gdLst/>
            <a:ahLst/>
            <a:cxnLst/>
            <a:rect l="l" t="t" r="r" b="b"/>
            <a:pathLst>
              <a:path w="6448822" h="5844904">
                <a:moveTo>
                  <a:pt x="0" y="0"/>
                </a:moveTo>
                <a:lnTo>
                  <a:pt x="6448822" y="0"/>
                </a:lnTo>
                <a:lnTo>
                  <a:pt x="6448822" y="5844904"/>
                </a:lnTo>
                <a:lnTo>
                  <a:pt x="0" y="5844904"/>
                </a:lnTo>
                <a:lnTo>
                  <a:pt x="0" y="0"/>
                </a:lnTo>
                <a:close/>
              </a:path>
            </a:pathLst>
          </a:custGeom>
          <a:blipFill>
            <a:blip r:embed="rId6"/>
            <a:stretch>
              <a:fillRect b="-918"/>
            </a:stretch>
          </a:blipFill>
        </p:spPr>
      </p:sp>
      <p:grpSp>
        <p:nvGrpSpPr>
          <p:cNvPr id="20" name="Group 20"/>
          <p:cNvGrpSpPr/>
          <p:nvPr/>
        </p:nvGrpSpPr>
        <p:grpSpPr>
          <a:xfrm>
            <a:off x="13354734" y="3572398"/>
            <a:ext cx="4270876" cy="5423939"/>
            <a:chOff x="0" y="0"/>
            <a:chExt cx="2892696" cy="3673674"/>
          </a:xfrm>
        </p:grpSpPr>
        <p:sp>
          <p:nvSpPr>
            <p:cNvPr id="21" name="Freeform 21"/>
            <p:cNvSpPr/>
            <p:nvPr/>
          </p:nvSpPr>
          <p:spPr>
            <a:xfrm>
              <a:off x="0" y="0"/>
              <a:ext cx="2892696" cy="3673674"/>
            </a:xfrm>
            <a:custGeom>
              <a:avLst/>
              <a:gdLst/>
              <a:ahLst/>
              <a:cxnLst/>
              <a:rect l="l" t="t" r="r" b="b"/>
              <a:pathLst>
                <a:path w="2892696" h="3673674">
                  <a:moveTo>
                    <a:pt x="47131" y="0"/>
                  </a:moveTo>
                  <a:lnTo>
                    <a:pt x="2845565" y="0"/>
                  </a:lnTo>
                  <a:cubicBezTo>
                    <a:pt x="2858065" y="0"/>
                    <a:pt x="2870053" y="4966"/>
                    <a:pt x="2878892" y="13804"/>
                  </a:cubicBezTo>
                  <a:cubicBezTo>
                    <a:pt x="2887730" y="22643"/>
                    <a:pt x="2892696" y="34631"/>
                    <a:pt x="2892696" y="47131"/>
                  </a:cubicBezTo>
                  <a:lnTo>
                    <a:pt x="2892696" y="3626543"/>
                  </a:lnTo>
                  <a:cubicBezTo>
                    <a:pt x="2892696" y="3639043"/>
                    <a:pt x="2887730" y="3651031"/>
                    <a:pt x="2878892" y="3659870"/>
                  </a:cubicBezTo>
                  <a:cubicBezTo>
                    <a:pt x="2870053" y="3668709"/>
                    <a:pt x="2858065" y="3673674"/>
                    <a:pt x="2845565" y="3673674"/>
                  </a:cubicBezTo>
                  <a:lnTo>
                    <a:pt x="47131" y="3673674"/>
                  </a:lnTo>
                  <a:cubicBezTo>
                    <a:pt x="34631" y="3673674"/>
                    <a:pt x="22643" y="3668709"/>
                    <a:pt x="13804" y="3659870"/>
                  </a:cubicBezTo>
                  <a:cubicBezTo>
                    <a:pt x="4966" y="3651031"/>
                    <a:pt x="0" y="3639043"/>
                    <a:pt x="0" y="3626543"/>
                  </a:cubicBezTo>
                  <a:lnTo>
                    <a:pt x="0" y="47131"/>
                  </a:lnTo>
                  <a:cubicBezTo>
                    <a:pt x="0" y="34631"/>
                    <a:pt x="4966" y="22643"/>
                    <a:pt x="13804" y="13804"/>
                  </a:cubicBezTo>
                  <a:cubicBezTo>
                    <a:pt x="22643" y="4966"/>
                    <a:pt x="34631" y="0"/>
                    <a:pt x="47131" y="0"/>
                  </a:cubicBezTo>
                  <a:close/>
                </a:path>
              </a:pathLst>
            </a:custGeom>
            <a:solidFill>
              <a:srgbClr val="FFFFFF"/>
            </a:solidFill>
            <a:ln w="38100" cap="rnd">
              <a:solidFill>
                <a:srgbClr val="FF751F"/>
              </a:solidFill>
              <a:prstDash val="solid"/>
              <a:round/>
            </a:ln>
          </p:spPr>
        </p:sp>
        <p:sp>
          <p:nvSpPr>
            <p:cNvPr id="22" name="TextBox 22"/>
            <p:cNvSpPr txBox="1"/>
            <p:nvPr/>
          </p:nvSpPr>
          <p:spPr>
            <a:xfrm>
              <a:off x="0" y="-47625"/>
              <a:ext cx="2892696" cy="3721299"/>
            </a:xfrm>
            <a:prstGeom prst="rect">
              <a:avLst/>
            </a:prstGeom>
          </p:spPr>
          <p:txBody>
            <a:bodyPr lIns="19754" tIns="19754" rIns="19754" bIns="19754" rtlCol="0" anchor="ctr"/>
            <a:lstStyle/>
            <a:p>
              <a:pPr algn="ctr">
                <a:lnSpc>
                  <a:spcPts val="2659"/>
                </a:lnSpc>
              </a:pPr>
              <a:endParaRPr/>
            </a:p>
          </p:txBody>
        </p:sp>
      </p:grpSp>
      <p:sp>
        <p:nvSpPr>
          <p:cNvPr id="23" name="TextBox 23"/>
          <p:cNvSpPr txBox="1"/>
          <p:nvPr/>
        </p:nvSpPr>
        <p:spPr>
          <a:xfrm>
            <a:off x="13487488" y="3839332"/>
            <a:ext cx="2514511"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 Topic 1 ↔ Topic 2 = 0.12</a:t>
            </a:r>
          </a:p>
        </p:txBody>
      </p:sp>
      <p:sp>
        <p:nvSpPr>
          <p:cNvPr id="24" name="TextBox 24"/>
          <p:cNvSpPr txBox="1"/>
          <p:nvPr/>
        </p:nvSpPr>
        <p:spPr>
          <a:xfrm>
            <a:off x="13665478" y="5732351"/>
            <a:ext cx="2717521"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Topic 0 ↔ Topic 1 = 0.10</a:t>
            </a:r>
          </a:p>
        </p:txBody>
      </p:sp>
      <p:sp>
        <p:nvSpPr>
          <p:cNvPr id="25" name="TextBox 25"/>
          <p:cNvSpPr txBox="1"/>
          <p:nvPr/>
        </p:nvSpPr>
        <p:spPr>
          <a:xfrm>
            <a:off x="13606656" y="4187264"/>
            <a:ext cx="4018953" cy="78971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Kebenaran - Rosul</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Janji Allah - Bukti Kerasulan</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Setan - Pendusta</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Ajaran - Datang Pembuktian</a:t>
            </a:r>
          </a:p>
        </p:txBody>
      </p:sp>
      <p:sp>
        <p:nvSpPr>
          <p:cNvPr id="26" name="Freeform 26"/>
          <p:cNvSpPr/>
          <p:nvPr/>
        </p:nvSpPr>
        <p:spPr>
          <a:xfrm>
            <a:off x="13354734" y="2903515"/>
            <a:ext cx="621491" cy="621491"/>
          </a:xfrm>
          <a:custGeom>
            <a:avLst/>
            <a:gdLst/>
            <a:ahLst/>
            <a:cxnLst/>
            <a:rect l="l" t="t" r="r" b="b"/>
            <a:pathLst>
              <a:path w="621491" h="621491">
                <a:moveTo>
                  <a:pt x="0" y="0"/>
                </a:moveTo>
                <a:lnTo>
                  <a:pt x="621490" y="0"/>
                </a:lnTo>
                <a:lnTo>
                  <a:pt x="621490" y="621491"/>
                </a:lnTo>
                <a:lnTo>
                  <a:pt x="0" y="621491"/>
                </a:lnTo>
                <a:lnTo>
                  <a:pt x="0" y="0"/>
                </a:lnTo>
                <a:close/>
              </a:path>
            </a:pathLst>
          </a:custGeom>
          <a:blipFill>
            <a:blip r:embed="rId7"/>
            <a:stretch>
              <a:fillRect/>
            </a:stretch>
          </a:blipFill>
        </p:spPr>
      </p:sp>
      <p:sp>
        <p:nvSpPr>
          <p:cNvPr id="27" name="TextBox 27"/>
          <p:cNvSpPr txBox="1"/>
          <p:nvPr/>
        </p:nvSpPr>
        <p:spPr>
          <a:xfrm>
            <a:off x="14080999" y="3008373"/>
            <a:ext cx="2934799" cy="345902"/>
          </a:xfrm>
          <a:prstGeom prst="rect">
            <a:avLst/>
          </a:prstGeom>
        </p:spPr>
        <p:txBody>
          <a:bodyPr lIns="0" tIns="0" rIns="0" bIns="0" rtlCol="0" anchor="t">
            <a:spAutoFit/>
          </a:bodyPr>
          <a:lstStyle/>
          <a:p>
            <a:pPr algn="ctr">
              <a:lnSpc>
                <a:spcPts val="2742"/>
              </a:lnSpc>
            </a:pPr>
            <a:r>
              <a:rPr lang="en-US" sz="1958" b="1">
                <a:solidFill>
                  <a:srgbClr val="CF4119"/>
                </a:solidFill>
                <a:latin typeface="Canva Sans Bold"/>
                <a:ea typeface="Canva Sans Bold"/>
                <a:cs typeface="Canva Sans Bold"/>
                <a:sym typeface="Canva Sans Bold"/>
              </a:rPr>
              <a:t>CONTOH INTERPRETASI</a:t>
            </a:r>
          </a:p>
        </p:txBody>
      </p:sp>
      <p:sp>
        <p:nvSpPr>
          <p:cNvPr id="28" name="TextBox 28"/>
          <p:cNvSpPr txBox="1"/>
          <p:nvPr/>
        </p:nvSpPr>
        <p:spPr>
          <a:xfrm>
            <a:off x="13606656" y="6004692"/>
            <a:ext cx="4018953" cy="78971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Ayat - Kebenaran</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Setan - Perbuatan Dosa</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Ingat -  Ajaran Allah</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Baca dan Dengan - Ambil dari kebenaran </a:t>
            </a:r>
          </a:p>
        </p:txBody>
      </p:sp>
      <p:sp>
        <p:nvSpPr>
          <p:cNvPr id="29" name="TextBox 29"/>
          <p:cNvSpPr txBox="1"/>
          <p:nvPr/>
        </p:nvSpPr>
        <p:spPr>
          <a:xfrm>
            <a:off x="13785606" y="5021374"/>
            <a:ext cx="3661053" cy="653827"/>
          </a:xfrm>
          <a:prstGeom prst="rect">
            <a:avLst/>
          </a:prstGeom>
        </p:spPr>
        <p:txBody>
          <a:bodyPr lIns="0" tIns="0" rIns="0" bIns="0" rtlCol="0" anchor="t">
            <a:spAutoFit/>
          </a:bodyPr>
          <a:lstStyle/>
          <a:p>
            <a:pPr algn="l">
              <a:lnSpc>
                <a:spcPts val="1762"/>
              </a:lnSpc>
            </a:pPr>
            <a:r>
              <a:rPr lang="en-US" sz="1258" b="1">
                <a:solidFill>
                  <a:srgbClr val="CF4119"/>
                </a:solidFill>
                <a:latin typeface="Canva Sans Bold"/>
                <a:ea typeface="Canva Sans Bold"/>
                <a:cs typeface="Canva Sans Bold"/>
                <a:sym typeface="Canva Sans Bold"/>
              </a:rPr>
              <a:t>Ketika Al-Quran  Membahas Rosul sering juga </a:t>
            </a:r>
          </a:p>
          <a:p>
            <a:pPr algn="l">
              <a:lnSpc>
                <a:spcPts val="1762"/>
              </a:lnSpc>
            </a:pPr>
            <a:r>
              <a:rPr lang="en-US" sz="1258" b="1">
                <a:solidFill>
                  <a:srgbClr val="CF4119"/>
                </a:solidFill>
                <a:latin typeface="Canva Sans Bold"/>
                <a:ea typeface="Canva Sans Bold"/>
                <a:cs typeface="Canva Sans Bold"/>
                <a:sym typeface="Canva Sans Bold"/>
              </a:rPr>
              <a:t> dibahas Pembenaran Ajaran, Gangguan Setan, </a:t>
            </a:r>
          </a:p>
          <a:p>
            <a:pPr algn="l">
              <a:lnSpc>
                <a:spcPts val="1762"/>
              </a:lnSpc>
            </a:pPr>
            <a:r>
              <a:rPr lang="en-US" sz="1258" b="1">
                <a:solidFill>
                  <a:srgbClr val="CF4119"/>
                </a:solidFill>
                <a:latin typeface="Canva Sans Bold"/>
                <a:ea typeface="Canva Sans Bold"/>
                <a:cs typeface="Canva Sans Bold"/>
                <a:sym typeface="Canva Sans Bold"/>
              </a:rPr>
              <a:t>Pendustaan orang-orang kafi </a:t>
            </a:r>
          </a:p>
        </p:txBody>
      </p:sp>
      <p:sp>
        <p:nvSpPr>
          <p:cNvPr id="30" name="TextBox 30"/>
          <p:cNvSpPr txBox="1"/>
          <p:nvPr/>
        </p:nvSpPr>
        <p:spPr>
          <a:xfrm>
            <a:off x="13785606" y="6803934"/>
            <a:ext cx="3661053" cy="653827"/>
          </a:xfrm>
          <a:prstGeom prst="rect">
            <a:avLst/>
          </a:prstGeom>
        </p:spPr>
        <p:txBody>
          <a:bodyPr lIns="0" tIns="0" rIns="0" bIns="0" rtlCol="0" anchor="t">
            <a:spAutoFit/>
          </a:bodyPr>
          <a:lstStyle/>
          <a:p>
            <a:pPr algn="l">
              <a:lnSpc>
                <a:spcPts val="1762"/>
              </a:lnSpc>
            </a:pPr>
            <a:r>
              <a:rPr lang="en-US" sz="1258" b="1">
                <a:solidFill>
                  <a:srgbClr val="CF4119"/>
                </a:solidFill>
                <a:latin typeface="Canva Sans Bold"/>
                <a:ea typeface="Canva Sans Bold"/>
                <a:cs typeface="Canva Sans Bold"/>
                <a:sym typeface="Canva Sans Bold"/>
              </a:rPr>
              <a:t>Ayat-ayat Allah  merupakan kebenaran yang harus </a:t>
            </a:r>
          </a:p>
          <a:p>
            <a:pPr algn="l">
              <a:lnSpc>
                <a:spcPts val="1762"/>
              </a:lnSpc>
            </a:pPr>
            <a:r>
              <a:rPr lang="en-US" sz="1258" b="1">
                <a:solidFill>
                  <a:srgbClr val="CF4119"/>
                </a:solidFill>
                <a:latin typeface="Canva Sans Bold"/>
                <a:ea typeface="Canva Sans Bold"/>
                <a:cs typeface="Canva Sans Bold"/>
                <a:sym typeface="Canva Sans Bold"/>
              </a:rPr>
              <a:t>dibaca </a:t>
            </a:r>
          </a:p>
        </p:txBody>
      </p:sp>
      <p:sp>
        <p:nvSpPr>
          <p:cNvPr id="31" name="TextBox 31"/>
          <p:cNvSpPr txBox="1"/>
          <p:nvPr/>
        </p:nvSpPr>
        <p:spPr>
          <a:xfrm>
            <a:off x="13515810" y="7448236"/>
            <a:ext cx="2714789" cy="240579"/>
          </a:xfrm>
          <a:prstGeom prst="rect">
            <a:avLst/>
          </a:prstGeom>
        </p:spPr>
        <p:txBody>
          <a:bodyPr wrap="square" lIns="0" tIns="0" rIns="0" bIns="0" rtlCol="0" anchor="t">
            <a:spAutoFit/>
          </a:bodyPr>
          <a:lstStyle/>
          <a:p>
            <a:pPr algn="ctr">
              <a:lnSpc>
                <a:spcPts val="2042"/>
              </a:lnSpc>
            </a:pPr>
            <a:r>
              <a:rPr lang="en-US" sz="1458" b="1" dirty="0">
                <a:solidFill>
                  <a:srgbClr val="000000"/>
                </a:solidFill>
                <a:latin typeface="Canva Sans Bold"/>
                <a:ea typeface="Canva Sans Bold"/>
                <a:cs typeface="Canva Sans Bold"/>
                <a:sym typeface="Canva Sans Bold"/>
              </a:rPr>
              <a:t>Topic 5 ↔ Topic 3 = 0.10</a:t>
            </a:r>
          </a:p>
        </p:txBody>
      </p:sp>
      <p:sp>
        <p:nvSpPr>
          <p:cNvPr id="32" name="TextBox 32"/>
          <p:cNvSpPr txBox="1"/>
          <p:nvPr/>
        </p:nvSpPr>
        <p:spPr>
          <a:xfrm>
            <a:off x="13665479" y="7754082"/>
            <a:ext cx="4018953" cy="1189767"/>
          </a:xfrm>
          <a:prstGeom prst="rect">
            <a:avLst/>
          </a:prstGeom>
        </p:spPr>
        <p:txBody>
          <a:bodyPr lIns="0" tIns="0" rIns="0" bIns="0" rtlCol="0" anchor="t">
            <a:spAutoFit/>
          </a:bodyPr>
          <a:lstStyle/>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bumi - langit</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Hidup - mati, waktu</a:t>
            </a:r>
          </a:p>
          <a:p>
            <a:pPr marL="250182" lvl="1" indent="-125091" algn="l">
              <a:lnSpc>
                <a:spcPts val="1622"/>
              </a:lnSpc>
              <a:buFont typeface="Arial"/>
              <a:buChar char="•"/>
            </a:pPr>
            <a:r>
              <a:rPr lang="en-US" sz="1158" b="1">
                <a:solidFill>
                  <a:srgbClr val="000000"/>
                </a:solidFill>
                <a:latin typeface="Canva Sans Bold"/>
                <a:ea typeface="Canva Sans Bold"/>
                <a:cs typeface="Canva Sans Bold"/>
                <a:sym typeface="Canva Sans Bold"/>
              </a:rPr>
              <a:t>tanda kekuasaan Allah</a:t>
            </a:r>
          </a:p>
          <a:p>
            <a:pPr algn="l">
              <a:lnSpc>
                <a:spcPts val="1622"/>
              </a:lnSpc>
            </a:pPr>
            <a:r>
              <a:rPr lang="en-US" sz="1158" b="1">
                <a:solidFill>
                  <a:srgbClr val="CF4119"/>
                </a:solidFill>
                <a:latin typeface="Canva Sans Bold"/>
                <a:ea typeface="Canva Sans Bold"/>
                <a:cs typeface="Canva Sans Bold"/>
                <a:sym typeface="Canva Sans Bold"/>
              </a:rPr>
              <a:t>Menbahas Penciptaan Alam Dan kekuasaan Allah</a:t>
            </a:r>
          </a:p>
          <a:p>
            <a:pPr algn="l">
              <a:lnSpc>
                <a:spcPts val="1622"/>
              </a:lnSpc>
            </a:pPr>
            <a:endParaRPr lang="en-US" sz="1158" b="1">
              <a:solidFill>
                <a:srgbClr val="CF4119"/>
              </a:solidFill>
              <a:latin typeface="Canva Sans Bold"/>
              <a:ea typeface="Canva Sans Bold"/>
              <a:cs typeface="Canva Sans Bold"/>
              <a:sym typeface="Canva Sans Bold"/>
            </a:endParaRPr>
          </a:p>
          <a:p>
            <a:pPr algn="l">
              <a:lnSpc>
                <a:spcPts val="1622"/>
              </a:lnSpc>
            </a:pPr>
            <a:endParaRPr lang="en-US" sz="1158" b="1">
              <a:solidFill>
                <a:srgbClr val="CF4119"/>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56467" y="4000466"/>
            <a:ext cx="318524" cy="318524"/>
          </a:xfrm>
          <a:custGeom>
            <a:avLst/>
            <a:gdLst/>
            <a:ahLst/>
            <a:cxnLst/>
            <a:rect l="l" t="t" r="r" b="b"/>
            <a:pathLst>
              <a:path w="318524" h="318524">
                <a:moveTo>
                  <a:pt x="0" y="0"/>
                </a:moveTo>
                <a:lnTo>
                  <a:pt x="318525" y="0"/>
                </a:lnTo>
                <a:lnTo>
                  <a:pt x="318525" y="318524"/>
                </a:lnTo>
                <a:lnTo>
                  <a:pt x="0" y="31852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Evaluasi Model</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11 | Correlated Topic Model</a:t>
            </a:r>
          </a:p>
        </p:txBody>
      </p:sp>
      <p:grpSp>
        <p:nvGrpSpPr>
          <p:cNvPr id="19" name="Group 19"/>
          <p:cNvGrpSpPr/>
          <p:nvPr/>
        </p:nvGrpSpPr>
        <p:grpSpPr>
          <a:xfrm>
            <a:off x="930705" y="2760342"/>
            <a:ext cx="3044503" cy="1643868"/>
            <a:chOff x="0" y="0"/>
            <a:chExt cx="4059338" cy="2191824"/>
          </a:xfrm>
        </p:grpSpPr>
        <p:grpSp>
          <p:nvGrpSpPr>
            <p:cNvPr id="20" name="Group 20"/>
            <p:cNvGrpSpPr/>
            <p:nvPr/>
          </p:nvGrpSpPr>
          <p:grpSpPr>
            <a:xfrm>
              <a:off x="0" y="1387472"/>
              <a:ext cx="4059338" cy="804352"/>
              <a:chOff x="0" y="0"/>
              <a:chExt cx="2062065" cy="408595"/>
            </a:xfrm>
          </p:grpSpPr>
          <p:sp>
            <p:nvSpPr>
              <p:cNvPr id="21" name="Freeform 21"/>
              <p:cNvSpPr/>
              <p:nvPr/>
            </p:nvSpPr>
            <p:spPr>
              <a:xfrm>
                <a:off x="0" y="0"/>
                <a:ext cx="2062065" cy="408595"/>
              </a:xfrm>
              <a:custGeom>
                <a:avLst/>
                <a:gdLst/>
                <a:ahLst/>
                <a:cxnLst/>
                <a:rect l="l" t="t" r="r" b="b"/>
                <a:pathLst>
                  <a:path w="2062065" h="408595">
                    <a:moveTo>
                      <a:pt x="20946" y="0"/>
                    </a:moveTo>
                    <a:lnTo>
                      <a:pt x="2041119" y="0"/>
                    </a:lnTo>
                    <a:cubicBezTo>
                      <a:pt x="2046674" y="0"/>
                      <a:pt x="2052002" y="2207"/>
                      <a:pt x="2055930" y="6135"/>
                    </a:cubicBezTo>
                    <a:cubicBezTo>
                      <a:pt x="2059858" y="10063"/>
                      <a:pt x="2062065" y="15390"/>
                      <a:pt x="2062065" y="20946"/>
                    </a:cubicBezTo>
                    <a:lnTo>
                      <a:pt x="2062065" y="387650"/>
                    </a:lnTo>
                    <a:cubicBezTo>
                      <a:pt x="2062065" y="393205"/>
                      <a:pt x="2059858" y="398532"/>
                      <a:pt x="2055930" y="402460"/>
                    </a:cubicBezTo>
                    <a:cubicBezTo>
                      <a:pt x="2052002" y="406388"/>
                      <a:pt x="2046674" y="408595"/>
                      <a:pt x="2041119" y="408595"/>
                    </a:cubicBezTo>
                    <a:lnTo>
                      <a:pt x="20946" y="408595"/>
                    </a:lnTo>
                    <a:cubicBezTo>
                      <a:pt x="9378" y="408595"/>
                      <a:pt x="0" y="399218"/>
                      <a:pt x="0" y="387650"/>
                    </a:cubicBezTo>
                    <a:lnTo>
                      <a:pt x="0" y="20946"/>
                    </a:lnTo>
                    <a:cubicBezTo>
                      <a:pt x="0" y="15390"/>
                      <a:pt x="2207" y="10063"/>
                      <a:pt x="6135" y="6135"/>
                    </a:cubicBezTo>
                    <a:cubicBezTo>
                      <a:pt x="10063" y="2207"/>
                      <a:pt x="15390" y="0"/>
                      <a:pt x="20946" y="0"/>
                    </a:cubicBezTo>
                    <a:close/>
                  </a:path>
                </a:pathLst>
              </a:custGeom>
              <a:solidFill>
                <a:srgbClr val="FFFFFF"/>
              </a:solidFill>
              <a:ln w="38100" cap="sq">
                <a:solidFill>
                  <a:srgbClr val="FF751F"/>
                </a:solidFill>
                <a:prstDash val="solid"/>
                <a:miter/>
              </a:ln>
            </p:spPr>
          </p:sp>
          <p:sp>
            <p:nvSpPr>
              <p:cNvPr id="22" name="TextBox 22"/>
              <p:cNvSpPr txBox="1"/>
              <p:nvPr/>
            </p:nvSpPr>
            <p:spPr>
              <a:xfrm>
                <a:off x="0" y="-47625"/>
                <a:ext cx="2062065" cy="456220"/>
              </a:xfrm>
              <a:prstGeom prst="rect">
                <a:avLst/>
              </a:prstGeom>
            </p:spPr>
            <p:txBody>
              <a:bodyPr lIns="21584" tIns="21584" rIns="21584" bIns="21584" rtlCol="0" anchor="ctr"/>
              <a:lstStyle/>
              <a:p>
                <a:pPr algn="ctr">
                  <a:lnSpc>
                    <a:spcPts val="2659"/>
                  </a:lnSpc>
                </a:pPr>
                <a:endParaRPr/>
              </a:p>
            </p:txBody>
          </p:sp>
        </p:grpSp>
        <p:grpSp>
          <p:nvGrpSpPr>
            <p:cNvPr id="23" name="Group 23"/>
            <p:cNvGrpSpPr/>
            <p:nvPr/>
          </p:nvGrpSpPr>
          <p:grpSpPr>
            <a:xfrm>
              <a:off x="0" y="0"/>
              <a:ext cx="4059338" cy="1591018"/>
              <a:chOff x="0" y="0"/>
              <a:chExt cx="2253126" cy="883091"/>
            </a:xfrm>
          </p:grpSpPr>
          <p:sp>
            <p:nvSpPr>
              <p:cNvPr id="24" name="Freeform 24"/>
              <p:cNvSpPr/>
              <p:nvPr/>
            </p:nvSpPr>
            <p:spPr>
              <a:xfrm>
                <a:off x="0" y="0"/>
                <a:ext cx="2253126" cy="883091"/>
              </a:xfrm>
              <a:custGeom>
                <a:avLst/>
                <a:gdLst/>
                <a:ahLst/>
                <a:cxnLst/>
                <a:rect l="l" t="t" r="r" b="b"/>
                <a:pathLst>
                  <a:path w="2253126" h="883091">
                    <a:moveTo>
                      <a:pt x="20946" y="0"/>
                    </a:moveTo>
                    <a:lnTo>
                      <a:pt x="2232180" y="0"/>
                    </a:lnTo>
                    <a:cubicBezTo>
                      <a:pt x="2237735" y="0"/>
                      <a:pt x="2243063" y="2207"/>
                      <a:pt x="2246991" y="6135"/>
                    </a:cubicBezTo>
                    <a:cubicBezTo>
                      <a:pt x="2250919" y="10063"/>
                      <a:pt x="2253126" y="15390"/>
                      <a:pt x="2253126" y="20946"/>
                    </a:cubicBezTo>
                    <a:lnTo>
                      <a:pt x="2253126" y="862145"/>
                    </a:lnTo>
                    <a:cubicBezTo>
                      <a:pt x="2253126" y="867700"/>
                      <a:pt x="2250919" y="873028"/>
                      <a:pt x="2246991" y="876956"/>
                    </a:cubicBezTo>
                    <a:cubicBezTo>
                      <a:pt x="2243063" y="880884"/>
                      <a:pt x="2237735" y="883091"/>
                      <a:pt x="2232180" y="883091"/>
                    </a:cubicBezTo>
                    <a:lnTo>
                      <a:pt x="20946" y="883091"/>
                    </a:lnTo>
                    <a:cubicBezTo>
                      <a:pt x="15390" y="883091"/>
                      <a:pt x="10063" y="880884"/>
                      <a:pt x="6135" y="876956"/>
                    </a:cubicBezTo>
                    <a:cubicBezTo>
                      <a:pt x="2207" y="873028"/>
                      <a:pt x="0" y="867700"/>
                      <a:pt x="0" y="862145"/>
                    </a:cubicBezTo>
                    <a:lnTo>
                      <a:pt x="0" y="20946"/>
                    </a:lnTo>
                    <a:cubicBezTo>
                      <a:pt x="0" y="15390"/>
                      <a:pt x="2207" y="10063"/>
                      <a:pt x="6135" y="6135"/>
                    </a:cubicBezTo>
                    <a:cubicBezTo>
                      <a:pt x="10063" y="2207"/>
                      <a:pt x="15390" y="0"/>
                      <a:pt x="20946" y="0"/>
                    </a:cubicBezTo>
                    <a:close/>
                  </a:path>
                </a:pathLst>
              </a:custGeom>
              <a:solidFill>
                <a:srgbClr val="FF751F"/>
              </a:solidFill>
              <a:ln w="38100" cap="sq">
                <a:solidFill>
                  <a:srgbClr val="FF751F"/>
                </a:solidFill>
                <a:prstDash val="solid"/>
                <a:miter/>
              </a:ln>
            </p:spPr>
          </p:sp>
          <p:sp>
            <p:nvSpPr>
              <p:cNvPr id="25" name="TextBox 25"/>
              <p:cNvSpPr txBox="1"/>
              <p:nvPr/>
            </p:nvSpPr>
            <p:spPr>
              <a:xfrm>
                <a:off x="0" y="-47625"/>
                <a:ext cx="2253126" cy="930716"/>
              </a:xfrm>
              <a:prstGeom prst="rect">
                <a:avLst/>
              </a:prstGeom>
            </p:spPr>
            <p:txBody>
              <a:bodyPr lIns="19754" tIns="19754" rIns="19754" bIns="19754" rtlCol="0" anchor="ctr"/>
              <a:lstStyle/>
              <a:p>
                <a:pPr algn="ctr">
                  <a:lnSpc>
                    <a:spcPts val="2659"/>
                  </a:lnSpc>
                </a:pPr>
                <a:endParaRPr/>
              </a:p>
            </p:txBody>
          </p:sp>
        </p:grpSp>
        <p:sp>
          <p:nvSpPr>
            <p:cNvPr id="26" name="TextBox 26"/>
            <p:cNvSpPr txBox="1"/>
            <p:nvPr/>
          </p:nvSpPr>
          <p:spPr>
            <a:xfrm>
              <a:off x="776403" y="599310"/>
              <a:ext cx="2506531" cy="782205"/>
            </a:xfrm>
            <a:prstGeom prst="rect">
              <a:avLst/>
            </a:prstGeom>
          </p:spPr>
          <p:txBody>
            <a:bodyPr lIns="0" tIns="0" rIns="0" bIns="0" rtlCol="0" anchor="t">
              <a:spAutoFit/>
            </a:bodyPr>
            <a:lstStyle/>
            <a:p>
              <a:pPr algn="ctr">
                <a:lnSpc>
                  <a:spcPts val="4954"/>
                </a:lnSpc>
              </a:pPr>
              <a:r>
                <a:rPr lang="en-US" sz="3538" b="1">
                  <a:solidFill>
                    <a:srgbClr val="1800AD"/>
                  </a:solidFill>
                  <a:latin typeface="Canva Sans Bold"/>
                  <a:ea typeface="Canva Sans Bold"/>
                  <a:cs typeface="Canva Sans Bold"/>
                  <a:sym typeface="Canva Sans Bold"/>
                </a:rPr>
                <a:t>0.517</a:t>
              </a:r>
            </a:p>
          </p:txBody>
        </p:sp>
        <p:sp>
          <p:nvSpPr>
            <p:cNvPr id="27" name="TextBox 27"/>
            <p:cNvSpPr txBox="1"/>
            <p:nvPr/>
          </p:nvSpPr>
          <p:spPr>
            <a:xfrm>
              <a:off x="1461971" y="-38100"/>
              <a:ext cx="1135396" cy="529739"/>
            </a:xfrm>
            <a:prstGeom prst="rect">
              <a:avLst/>
            </a:prstGeom>
          </p:spPr>
          <p:txBody>
            <a:bodyPr lIns="0" tIns="0" rIns="0" bIns="0" rtlCol="0" anchor="t">
              <a:spAutoFit/>
            </a:bodyPr>
            <a:lstStyle/>
            <a:p>
              <a:pPr algn="ctr">
                <a:lnSpc>
                  <a:spcPts val="3389"/>
                </a:lnSpc>
              </a:pPr>
              <a:r>
                <a:rPr lang="en-US" sz="2421" b="1">
                  <a:solidFill>
                    <a:srgbClr val="FFFFFF"/>
                  </a:solidFill>
                  <a:latin typeface="Canva Sans Bold"/>
                  <a:ea typeface="Canva Sans Bold"/>
                  <a:cs typeface="Canva Sans Bold"/>
                  <a:sym typeface="Canva Sans Bold"/>
                </a:rPr>
                <a:t>C_v</a:t>
              </a:r>
            </a:p>
          </p:txBody>
        </p:sp>
      </p:grpSp>
      <p:grpSp>
        <p:nvGrpSpPr>
          <p:cNvPr id="28" name="Group 28"/>
          <p:cNvGrpSpPr/>
          <p:nvPr/>
        </p:nvGrpSpPr>
        <p:grpSpPr>
          <a:xfrm>
            <a:off x="4343362" y="3800946"/>
            <a:ext cx="3044503" cy="603264"/>
            <a:chOff x="0" y="0"/>
            <a:chExt cx="2062065" cy="408595"/>
          </a:xfrm>
        </p:grpSpPr>
        <p:sp>
          <p:nvSpPr>
            <p:cNvPr id="29" name="Freeform 29"/>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30" name="TextBox 30"/>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grpSp>
        <p:nvGrpSpPr>
          <p:cNvPr id="31" name="Group 31"/>
          <p:cNvGrpSpPr/>
          <p:nvPr/>
        </p:nvGrpSpPr>
        <p:grpSpPr>
          <a:xfrm>
            <a:off x="4343362" y="2760342"/>
            <a:ext cx="3044503" cy="1240124"/>
            <a:chOff x="0" y="0"/>
            <a:chExt cx="2253126" cy="917770"/>
          </a:xfrm>
        </p:grpSpPr>
        <p:sp>
          <p:nvSpPr>
            <p:cNvPr id="32" name="Freeform 32"/>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33" name="TextBox 33"/>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sp>
        <p:nvSpPr>
          <p:cNvPr id="34" name="TextBox 34"/>
          <p:cNvSpPr txBox="1"/>
          <p:nvPr/>
        </p:nvSpPr>
        <p:spPr>
          <a:xfrm>
            <a:off x="5152244" y="3224029"/>
            <a:ext cx="1426740" cy="576917"/>
          </a:xfrm>
          <a:prstGeom prst="rect">
            <a:avLst/>
          </a:prstGeom>
        </p:spPr>
        <p:txBody>
          <a:bodyPr lIns="0" tIns="0" rIns="0" bIns="0" rtlCol="0" anchor="t">
            <a:spAutoFit/>
          </a:bodyPr>
          <a:lstStyle/>
          <a:p>
            <a:pPr algn="ctr">
              <a:lnSpc>
                <a:spcPts val="4798"/>
              </a:lnSpc>
            </a:pPr>
            <a:r>
              <a:rPr lang="en-US" sz="3427" b="1">
                <a:solidFill>
                  <a:srgbClr val="1800AD"/>
                </a:solidFill>
                <a:latin typeface="Canva Sans Bold"/>
                <a:ea typeface="Canva Sans Bold"/>
                <a:cs typeface="Canva Sans Bold"/>
                <a:sym typeface="Canva Sans Bold"/>
              </a:rPr>
              <a:t>-0.022</a:t>
            </a:r>
          </a:p>
        </p:txBody>
      </p:sp>
      <p:sp>
        <p:nvSpPr>
          <p:cNvPr id="35" name="TextBox 35"/>
          <p:cNvSpPr txBox="1"/>
          <p:nvPr/>
        </p:nvSpPr>
        <p:spPr>
          <a:xfrm>
            <a:off x="5330129" y="2854492"/>
            <a:ext cx="1070971"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NPMI</a:t>
            </a:r>
          </a:p>
        </p:txBody>
      </p:sp>
      <p:grpSp>
        <p:nvGrpSpPr>
          <p:cNvPr id="36" name="Group 36"/>
          <p:cNvGrpSpPr/>
          <p:nvPr/>
        </p:nvGrpSpPr>
        <p:grpSpPr>
          <a:xfrm>
            <a:off x="7750718" y="2760342"/>
            <a:ext cx="3044503" cy="1240124"/>
            <a:chOff x="0" y="0"/>
            <a:chExt cx="2253126" cy="917770"/>
          </a:xfrm>
        </p:grpSpPr>
        <p:sp>
          <p:nvSpPr>
            <p:cNvPr id="37" name="Freeform 37"/>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38" name="TextBox 38"/>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sp>
        <p:nvSpPr>
          <p:cNvPr id="39" name="TextBox 39"/>
          <p:cNvSpPr txBox="1"/>
          <p:nvPr/>
        </p:nvSpPr>
        <p:spPr>
          <a:xfrm>
            <a:off x="8568966" y="3185434"/>
            <a:ext cx="1426740" cy="576917"/>
          </a:xfrm>
          <a:prstGeom prst="rect">
            <a:avLst/>
          </a:prstGeom>
        </p:spPr>
        <p:txBody>
          <a:bodyPr lIns="0" tIns="0" rIns="0" bIns="0" rtlCol="0" anchor="t">
            <a:spAutoFit/>
          </a:bodyPr>
          <a:lstStyle/>
          <a:p>
            <a:pPr algn="ctr">
              <a:lnSpc>
                <a:spcPts val="4798"/>
              </a:lnSpc>
            </a:pPr>
            <a:r>
              <a:rPr lang="en-US" sz="3427" b="1">
                <a:solidFill>
                  <a:srgbClr val="1800AD"/>
                </a:solidFill>
                <a:latin typeface="Canva Sans Bold"/>
                <a:ea typeface="Canva Sans Bold"/>
                <a:cs typeface="Canva Sans Bold"/>
                <a:sym typeface="Canva Sans Bold"/>
              </a:rPr>
              <a:t>-5.066</a:t>
            </a:r>
          </a:p>
        </p:txBody>
      </p:sp>
      <p:sp>
        <p:nvSpPr>
          <p:cNvPr id="40" name="TextBox 40"/>
          <p:cNvSpPr txBox="1"/>
          <p:nvPr/>
        </p:nvSpPr>
        <p:spPr>
          <a:xfrm>
            <a:off x="1989779" y="3982945"/>
            <a:ext cx="911709" cy="336045"/>
          </a:xfrm>
          <a:prstGeom prst="rect">
            <a:avLst/>
          </a:prstGeom>
        </p:spPr>
        <p:txBody>
          <a:bodyPr lIns="0" tIns="0" rIns="0" bIns="0" rtlCol="0" anchor="t">
            <a:spAutoFit/>
          </a:bodyPr>
          <a:lstStyle/>
          <a:p>
            <a:pPr algn="ctr">
              <a:lnSpc>
                <a:spcPts val="2795"/>
              </a:lnSpc>
            </a:pPr>
            <a:r>
              <a:rPr lang="en-US" sz="1996" b="1">
                <a:solidFill>
                  <a:srgbClr val="000000"/>
                </a:solidFill>
                <a:latin typeface="Canva Sans Bold"/>
                <a:ea typeface="Canva Sans Bold"/>
                <a:cs typeface="Canva Sans Bold"/>
                <a:sym typeface="Canva Sans Bold"/>
              </a:rPr>
              <a:t>&gt; 0.5</a:t>
            </a:r>
          </a:p>
        </p:txBody>
      </p:sp>
      <p:grpSp>
        <p:nvGrpSpPr>
          <p:cNvPr id="41" name="Group 41"/>
          <p:cNvGrpSpPr/>
          <p:nvPr/>
        </p:nvGrpSpPr>
        <p:grpSpPr>
          <a:xfrm>
            <a:off x="930705" y="4546868"/>
            <a:ext cx="3105810" cy="1358020"/>
            <a:chOff x="0" y="0"/>
            <a:chExt cx="2103588" cy="919797"/>
          </a:xfrm>
        </p:grpSpPr>
        <p:sp>
          <p:nvSpPr>
            <p:cNvPr id="42" name="Freeform 42"/>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43" name="TextBox 43"/>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44" name="TextBox 44"/>
          <p:cNvSpPr txBox="1"/>
          <p:nvPr/>
        </p:nvSpPr>
        <p:spPr>
          <a:xfrm>
            <a:off x="1028700" y="4703812"/>
            <a:ext cx="2689206" cy="103632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koherensi topik  kategori sedang ( artinya kata-kata dalam setiap topik sudah cukup saling berkaitan secara semantik dan dapat diinterpretasikan dengan baik)</a:t>
            </a:r>
          </a:p>
        </p:txBody>
      </p:sp>
      <p:grpSp>
        <p:nvGrpSpPr>
          <p:cNvPr id="45" name="Group 45"/>
          <p:cNvGrpSpPr/>
          <p:nvPr/>
        </p:nvGrpSpPr>
        <p:grpSpPr>
          <a:xfrm>
            <a:off x="4343362" y="4546868"/>
            <a:ext cx="3105810" cy="1358020"/>
            <a:chOff x="0" y="0"/>
            <a:chExt cx="2103588" cy="919797"/>
          </a:xfrm>
        </p:grpSpPr>
        <p:sp>
          <p:nvSpPr>
            <p:cNvPr id="46" name="Freeform 46"/>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47" name="TextBox 47"/>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48" name="TextBox 48"/>
          <p:cNvSpPr txBox="1"/>
          <p:nvPr/>
        </p:nvSpPr>
        <p:spPr>
          <a:xfrm>
            <a:off x="4572000" y="4703812"/>
            <a:ext cx="2689206" cy="61722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mendekati nol dengan nilai  negatif menunjukkan bahwa keterkaitan antar kata dalam topik relatif lemah</a:t>
            </a:r>
          </a:p>
        </p:txBody>
      </p:sp>
      <p:grpSp>
        <p:nvGrpSpPr>
          <p:cNvPr id="49" name="Group 49"/>
          <p:cNvGrpSpPr/>
          <p:nvPr/>
        </p:nvGrpSpPr>
        <p:grpSpPr>
          <a:xfrm>
            <a:off x="7750718" y="3800946"/>
            <a:ext cx="3044503" cy="603264"/>
            <a:chOff x="0" y="0"/>
            <a:chExt cx="2062065" cy="408595"/>
          </a:xfrm>
        </p:grpSpPr>
        <p:sp>
          <p:nvSpPr>
            <p:cNvPr id="50" name="Freeform 50"/>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51" name="TextBox 51"/>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52" name="TextBox 52"/>
          <p:cNvSpPr txBox="1"/>
          <p:nvPr/>
        </p:nvSpPr>
        <p:spPr>
          <a:xfrm>
            <a:off x="8740416" y="2854492"/>
            <a:ext cx="1245923"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UMASS</a:t>
            </a:r>
          </a:p>
        </p:txBody>
      </p:sp>
      <p:grpSp>
        <p:nvGrpSpPr>
          <p:cNvPr id="53" name="Group 53"/>
          <p:cNvGrpSpPr/>
          <p:nvPr/>
        </p:nvGrpSpPr>
        <p:grpSpPr>
          <a:xfrm>
            <a:off x="11050132" y="2760342"/>
            <a:ext cx="3044503" cy="1240124"/>
            <a:chOff x="0" y="0"/>
            <a:chExt cx="2253126" cy="917770"/>
          </a:xfrm>
        </p:grpSpPr>
        <p:sp>
          <p:nvSpPr>
            <p:cNvPr id="54" name="Freeform 54"/>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55" name="TextBox 55"/>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grpSp>
        <p:nvGrpSpPr>
          <p:cNvPr id="56" name="Group 56"/>
          <p:cNvGrpSpPr/>
          <p:nvPr/>
        </p:nvGrpSpPr>
        <p:grpSpPr>
          <a:xfrm>
            <a:off x="11050132" y="3800946"/>
            <a:ext cx="3044503" cy="603264"/>
            <a:chOff x="0" y="0"/>
            <a:chExt cx="2062065" cy="408595"/>
          </a:xfrm>
        </p:grpSpPr>
        <p:sp>
          <p:nvSpPr>
            <p:cNvPr id="57" name="Freeform 57"/>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58" name="TextBox 58"/>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59" name="TextBox 59"/>
          <p:cNvSpPr txBox="1"/>
          <p:nvPr/>
        </p:nvSpPr>
        <p:spPr>
          <a:xfrm>
            <a:off x="12039830" y="2854492"/>
            <a:ext cx="1245923"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UCl</a:t>
            </a:r>
          </a:p>
        </p:txBody>
      </p:sp>
      <p:sp>
        <p:nvSpPr>
          <p:cNvPr id="60" name="TextBox 60"/>
          <p:cNvSpPr txBox="1"/>
          <p:nvPr/>
        </p:nvSpPr>
        <p:spPr>
          <a:xfrm>
            <a:off x="11774910" y="3204731"/>
            <a:ext cx="1426740" cy="576917"/>
          </a:xfrm>
          <a:prstGeom prst="rect">
            <a:avLst/>
          </a:prstGeom>
        </p:spPr>
        <p:txBody>
          <a:bodyPr lIns="0" tIns="0" rIns="0" bIns="0" rtlCol="0" anchor="t">
            <a:spAutoFit/>
          </a:bodyPr>
          <a:lstStyle/>
          <a:p>
            <a:pPr algn="ctr">
              <a:lnSpc>
                <a:spcPts val="4798"/>
              </a:lnSpc>
            </a:pPr>
            <a:r>
              <a:rPr lang="en-US" sz="3427" b="1">
                <a:solidFill>
                  <a:srgbClr val="1800AD"/>
                </a:solidFill>
                <a:latin typeface="Canva Sans Bold"/>
                <a:ea typeface="Canva Sans Bold"/>
                <a:cs typeface="Canva Sans Bold"/>
                <a:sym typeface="Canva Sans Bold"/>
              </a:rPr>
              <a:t>-2.137</a:t>
            </a:r>
          </a:p>
        </p:txBody>
      </p:sp>
      <p:grpSp>
        <p:nvGrpSpPr>
          <p:cNvPr id="61" name="Group 61"/>
          <p:cNvGrpSpPr/>
          <p:nvPr/>
        </p:nvGrpSpPr>
        <p:grpSpPr>
          <a:xfrm>
            <a:off x="14252600" y="2760342"/>
            <a:ext cx="3044503" cy="1240124"/>
            <a:chOff x="0" y="0"/>
            <a:chExt cx="2253126" cy="917770"/>
          </a:xfrm>
        </p:grpSpPr>
        <p:sp>
          <p:nvSpPr>
            <p:cNvPr id="62" name="Freeform 62"/>
            <p:cNvSpPr/>
            <p:nvPr/>
          </p:nvSpPr>
          <p:spPr>
            <a:xfrm>
              <a:off x="0" y="0"/>
              <a:ext cx="2253126" cy="917770"/>
            </a:xfrm>
            <a:custGeom>
              <a:avLst/>
              <a:gdLst/>
              <a:ahLst/>
              <a:cxnLst/>
              <a:rect l="l" t="t" r="r" b="b"/>
              <a:pathLst>
                <a:path w="2253126" h="917770">
                  <a:moveTo>
                    <a:pt x="22886" y="0"/>
                  </a:moveTo>
                  <a:lnTo>
                    <a:pt x="2230239" y="0"/>
                  </a:lnTo>
                  <a:cubicBezTo>
                    <a:pt x="2236309" y="0"/>
                    <a:pt x="2242130" y="2411"/>
                    <a:pt x="2246422" y="6703"/>
                  </a:cubicBezTo>
                  <a:cubicBezTo>
                    <a:pt x="2250714" y="10995"/>
                    <a:pt x="2253126" y="16816"/>
                    <a:pt x="2253126" y="22886"/>
                  </a:cubicBezTo>
                  <a:lnTo>
                    <a:pt x="2253126" y="894884"/>
                  </a:lnTo>
                  <a:cubicBezTo>
                    <a:pt x="2253126" y="907524"/>
                    <a:pt x="2242879" y="917770"/>
                    <a:pt x="2230239" y="917770"/>
                  </a:cubicBezTo>
                  <a:lnTo>
                    <a:pt x="22886" y="917770"/>
                  </a:lnTo>
                  <a:cubicBezTo>
                    <a:pt x="10247" y="917770"/>
                    <a:pt x="0" y="907524"/>
                    <a:pt x="0" y="894884"/>
                  </a:cubicBezTo>
                  <a:lnTo>
                    <a:pt x="0" y="22886"/>
                  </a:lnTo>
                  <a:cubicBezTo>
                    <a:pt x="0" y="10247"/>
                    <a:pt x="10247" y="0"/>
                    <a:pt x="22886" y="0"/>
                  </a:cubicBezTo>
                  <a:close/>
                </a:path>
              </a:pathLst>
            </a:custGeom>
            <a:solidFill>
              <a:srgbClr val="FF751F"/>
            </a:solidFill>
            <a:ln w="38100" cap="sq">
              <a:solidFill>
                <a:srgbClr val="FF751F"/>
              </a:solidFill>
              <a:prstDash val="solid"/>
              <a:miter/>
            </a:ln>
          </p:spPr>
        </p:sp>
        <p:sp>
          <p:nvSpPr>
            <p:cNvPr id="63" name="TextBox 63"/>
            <p:cNvSpPr txBox="1"/>
            <p:nvPr/>
          </p:nvSpPr>
          <p:spPr>
            <a:xfrm>
              <a:off x="0" y="-47625"/>
              <a:ext cx="2253126" cy="965395"/>
            </a:xfrm>
            <a:prstGeom prst="rect">
              <a:avLst/>
            </a:prstGeom>
          </p:spPr>
          <p:txBody>
            <a:bodyPr lIns="18079" tIns="18079" rIns="18079" bIns="18079" rtlCol="0" anchor="ctr"/>
            <a:lstStyle/>
            <a:p>
              <a:pPr algn="ctr">
                <a:lnSpc>
                  <a:spcPts val="2659"/>
                </a:lnSpc>
              </a:pPr>
              <a:endParaRPr/>
            </a:p>
          </p:txBody>
        </p:sp>
      </p:grpSp>
      <p:grpSp>
        <p:nvGrpSpPr>
          <p:cNvPr id="64" name="Group 64"/>
          <p:cNvGrpSpPr/>
          <p:nvPr/>
        </p:nvGrpSpPr>
        <p:grpSpPr>
          <a:xfrm>
            <a:off x="14252600" y="3800946"/>
            <a:ext cx="3044503" cy="603264"/>
            <a:chOff x="0" y="0"/>
            <a:chExt cx="2062065" cy="408595"/>
          </a:xfrm>
        </p:grpSpPr>
        <p:sp>
          <p:nvSpPr>
            <p:cNvPr id="65" name="Freeform 65"/>
            <p:cNvSpPr/>
            <p:nvPr/>
          </p:nvSpPr>
          <p:spPr>
            <a:xfrm>
              <a:off x="0" y="0"/>
              <a:ext cx="2062065" cy="408595"/>
            </a:xfrm>
            <a:custGeom>
              <a:avLst/>
              <a:gdLst/>
              <a:ahLst/>
              <a:cxnLst/>
              <a:rect l="l" t="t" r="r" b="b"/>
              <a:pathLst>
                <a:path w="2062065" h="408595">
                  <a:moveTo>
                    <a:pt x="22886" y="0"/>
                  </a:moveTo>
                  <a:lnTo>
                    <a:pt x="2039179" y="0"/>
                  </a:lnTo>
                  <a:cubicBezTo>
                    <a:pt x="2051818" y="0"/>
                    <a:pt x="2062065" y="10247"/>
                    <a:pt x="2062065" y="22886"/>
                  </a:cubicBezTo>
                  <a:lnTo>
                    <a:pt x="2062065" y="385709"/>
                  </a:lnTo>
                  <a:cubicBezTo>
                    <a:pt x="2062065" y="391779"/>
                    <a:pt x="2059654" y="397600"/>
                    <a:pt x="2055362" y="401892"/>
                  </a:cubicBezTo>
                  <a:cubicBezTo>
                    <a:pt x="2051070" y="406184"/>
                    <a:pt x="2045248" y="408595"/>
                    <a:pt x="2039179" y="408595"/>
                  </a:cubicBezTo>
                  <a:lnTo>
                    <a:pt x="22886" y="408595"/>
                  </a:lnTo>
                  <a:cubicBezTo>
                    <a:pt x="10247" y="408595"/>
                    <a:pt x="0" y="398349"/>
                    <a:pt x="0" y="385709"/>
                  </a:cubicBezTo>
                  <a:lnTo>
                    <a:pt x="0" y="22886"/>
                  </a:lnTo>
                  <a:cubicBezTo>
                    <a:pt x="0" y="10247"/>
                    <a:pt x="10247" y="0"/>
                    <a:pt x="22886" y="0"/>
                  </a:cubicBezTo>
                  <a:close/>
                </a:path>
              </a:pathLst>
            </a:custGeom>
            <a:solidFill>
              <a:srgbClr val="FFFFFF"/>
            </a:solidFill>
            <a:ln w="38100" cap="sq">
              <a:solidFill>
                <a:srgbClr val="FF751F"/>
              </a:solidFill>
              <a:prstDash val="solid"/>
              <a:miter/>
            </a:ln>
          </p:spPr>
        </p:sp>
        <p:sp>
          <p:nvSpPr>
            <p:cNvPr id="66" name="TextBox 66"/>
            <p:cNvSpPr txBox="1"/>
            <p:nvPr/>
          </p:nvSpPr>
          <p:spPr>
            <a:xfrm>
              <a:off x="0" y="-47625"/>
              <a:ext cx="2062065" cy="456220"/>
            </a:xfrm>
            <a:prstGeom prst="rect">
              <a:avLst/>
            </a:prstGeom>
          </p:spPr>
          <p:txBody>
            <a:bodyPr lIns="19754" tIns="19754" rIns="19754" bIns="19754" rtlCol="0" anchor="ctr"/>
            <a:lstStyle/>
            <a:p>
              <a:pPr algn="ctr">
                <a:lnSpc>
                  <a:spcPts val="2659"/>
                </a:lnSpc>
              </a:pPr>
              <a:endParaRPr/>
            </a:p>
          </p:txBody>
        </p:sp>
      </p:grpSp>
      <p:sp>
        <p:nvSpPr>
          <p:cNvPr id="67" name="TextBox 67"/>
          <p:cNvSpPr txBox="1"/>
          <p:nvPr/>
        </p:nvSpPr>
        <p:spPr>
          <a:xfrm>
            <a:off x="15001084" y="2853989"/>
            <a:ext cx="1909168" cy="388092"/>
          </a:xfrm>
          <a:prstGeom prst="rect">
            <a:avLst/>
          </a:prstGeom>
        </p:spPr>
        <p:txBody>
          <a:bodyPr lIns="0" tIns="0" rIns="0" bIns="0" rtlCol="0" anchor="t">
            <a:spAutoFit/>
          </a:bodyPr>
          <a:lstStyle/>
          <a:p>
            <a:pPr algn="ctr">
              <a:lnSpc>
                <a:spcPts val="3284"/>
              </a:lnSpc>
            </a:pPr>
            <a:r>
              <a:rPr lang="en-US" sz="2345" b="1">
                <a:solidFill>
                  <a:srgbClr val="FFFFFF"/>
                </a:solidFill>
                <a:latin typeface="Canva Sans Bold"/>
                <a:ea typeface="Canva Sans Bold"/>
                <a:cs typeface="Canva Sans Bold"/>
                <a:sym typeface="Canva Sans Bold"/>
              </a:rPr>
              <a:t>Perplexity</a:t>
            </a:r>
          </a:p>
        </p:txBody>
      </p:sp>
      <p:sp>
        <p:nvSpPr>
          <p:cNvPr id="68" name="TextBox 68"/>
          <p:cNvSpPr txBox="1"/>
          <p:nvPr/>
        </p:nvSpPr>
        <p:spPr>
          <a:xfrm>
            <a:off x="15242298" y="3261131"/>
            <a:ext cx="1426740" cy="464118"/>
          </a:xfrm>
          <a:prstGeom prst="rect">
            <a:avLst/>
          </a:prstGeom>
        </p:spPr>
        <p:txBody>
          <a:bodyPr lIns="0" tIns="0" rIns="0" bIns="0" rtlCol="0" anchor="t">
            <a:spAutoFit/>
          </a:bodyPr>
          <a:lstStyle/>
          <a:p>
            <a:pPr algn="ctr">
              <a:lnSpc>
                <a:spcPts val="3818"/>
              </a:lnSpc>
            </a:pPr>
            <a:r>
              <a:rPr lang="en-US" sz="2727" b="1">
                <a:solidFill>
                  <a:srgbClr val="1800AD"/>
                </a:solidFill>
                <a:latin typeface="Canva Sans Bold"/>
                <a:ea typeface="Canva Sans Bold"/>
                <a:cs typeface="Canva Sans Bold"/>
                <a:sym typeface="Canva Sans Bold"/>
              </a:rPr>
              <a:t>1720.28</a:t>
            </a:r>
          </a:p>
        </p:txBody>
      </p:sp>
      <p:grpSp>
        <p:nvGrpSpPr>
          <p:cNvPr id="69" name="Group 69"/>
          <p:cNvGrpSpPr/>
          <p:nvPr/>
        </p:nvGrpSpPr>
        <p:grpSpPr>
          <a:xfrm>
            <a:off x="7810473" y="4546868"/>
            <a:ext cx="6284162" cy="1358020"/>
            <a:chOff x="0" y="0"/>
            <a:chExt cx="4256310" cy="919797"/>
          </a:xfrm>
        </p:grpSpPr>
        <p:sp>
          <p:nvSpPr>
            <p:cNvPr id="70" name="Freeform 70"/>
            <p:cNvSpPr/>
            <p:nvPr/>
          </p:nvSpPr>
          <p:spPr>
            <a:xfrm>
              <a:off x="0" y="0"/>
              <a:ext cx="4256310" cy="919797"/>
            </a:xfrm>
            <a:custGeom>
              <a:avLst/>
              <a:gdLst/>
              <a:ahLst/>
              <a:cxnLst/>
              <a:rect l="l" t="t" r="r" b="b"/>
              <a:pathLst>
                <a:path w="4256310" h="919797">
                  <a:moveTo>
                    <a:pt x="11088" y="0"/>
                  </a:moveTo>
                  <a:lnTo>
                    <a:pt x="4245222" y="0"/>
                  </a:lnTo>
                  <a:cubicBezTo>
                    <a:pt x="4248163" y="0"/>
                    <a:pt x="4250983" y="1168"/>
                    <a:pt x="4253062" y="3248"/>
                  </a:cubicBezTo>
                  <a:cubicBezTo>
                    <a:pt x="4255142" y="5327"/>
                    <a:pt x="4256310" y="8147"/>
                    <a:pt x="4256310" y="11088"/>
                  </a:cubicBezTo>
                  <a:lnTo>
                    <a:pt x="4256310" y="908709"/>
                  </a:lnTo>
                  <a:cubicBezTo>
                    <a:pt x="4256310" y="914833"/>
                    <a:pt x="4251346" y="919797"/>
                    <a:pt x="4245222" y="919797"/>
                  </a:cubicBezTo>
                  <a:lnTo>
                    <a:pt x="11088" y="919797"/>
                  </a:lnTo>
                  <a:cubicBezTo>
                    <a:pt x="8147" y="919797"/>
                    <a:pt x="5327" y="918629"/>
                    <a:pt x="3248" y="916550"/>
                  </a:cubicBezTo>
                  <a:cubicBezTo>
                    <a:pt x="1168" y="914470"/>
                    <a:pt x="0" y="911650"/>
                    <a:pt x="0" y="908709"/>
                  </a:cubicBezTo>
                  <a:lnTo>
                    <a:pt x="0" y="11088"/>
                  </a:lnTo>
                  <a:cubicBezTo>
                    <a:pt x="0" y="8147"/>
                    <a:pt x="1168" y="5327"/>
                    <a:pt x="3248" y="3248"/>
                  </a:cubicBezTo>
                  <a:cubicBezTo>
                    <a:pt x="5327" y="1168"/>
                    <a:pt x="8147" y="0"/>
                    <a:pt x="11088" y="0"/>
                  </a:cubicBezTo>
                  <a:close/>
                </a:path>
              </a:pathLst>
            </a:custGeom>
            <a:solidFill>
              <a:srgbClr val="081F8C"/>
            </a:solidFill>
            <a:ln w="38100" cap="sq">
              <a:solidFill>
                <a:srgbClr val="FF751F"/>
              </a:solidFill>
              <a:prstDash val="solid"/>
              <a:miter/>
            </a:ln>
          </p:spPr>
        </p:sp>
        <p:sp>
          <p:nvSpPr>
            <p:cNvPr id="71" name="TextBox 71"/>
            <p:cNvSpPr txBox="1"/>
            <p:nvPr/>
          </p:nvSpPr>
          <p:spPr>
            <a:xfrm>
              <a:off x="0" y="-47625"/>
              <a:ext cx="4256310" cy="967422"/>
            </a:xfrm>
            <a:prstGeom prst="rect">
              <a:avLst/>
            </a:prstGeom>
          </p:spPr>
          <p:txBody>
            <a:bodyPr lIns="19754" tIns="19754" rIns="19754" bIns="19754" rtlCol="0" anchor="ctr"/>
            <a:lstStyle/>
            <a:p>
              <a:pPr algn="ctr">
                <a:lnSpc>
                  <a:spcPts val="2659"/>
                </a:lnSpc>
              </a:pPr>
              <a:endParaRPr/>
            </a:p>
          </p:txBody>
        </p:sp>
      </p:grpSp>
      <p:sp>
        <p:nvSpPr>
          <p:cNvPr id="72" name="TextBox 72"/>
          <p:cNvSpPr txBox="1"/>
          <p:nvPr/>
        </p:nvSpPr>
        <p:spPr>
          <a:xfrm>
            <a:off x="7982572" y="4703812"/>
            <a:ext cx="5881378" cy="82677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UMass  dan UCI  keduanya bernilai negatif dan mengindikasikan bahwa dari perspektif probabilistik berbasis corpus, hubungan antar kata dalam topik masih kurang kuat atau kurang konsisten muncul bersama dalam dokumen yang sama</a:t>
            </a:r>
          </a:p>
        </p:txBody>
      </p:sp>
      <p:grpSp>
        <p:nvGrpSpPr>
          <p:cNvPr id="73" name="Group 73"/>
          <p:cNvGrpSpPr/>
          <p:nvPr/>
        </p:nvGrpSpPr>
        <p:grpSpPr>
          <a:xfrm>
            <a:off x="14252600" y="4546868"/>
            <a:ext cx="3105810" cy="1358020"/>
            <a:chOff x="0" y="0"/>
            <a:chExt cx="2103588" cy="919797"/>
          </a:xfrm>
        </p:grpSpPr>
        <p:sp>
          <p:nvSpPr>
            <p:cNvPr id="74" name="Freeform 74"/>
            <p:cNvSpPr/>
            <p:nvPr/>
          </p:nvSpPr>
          <p:spPr>
            <a:xfrm>
              <a:off x="0" y="0"/>
              <a:ext cx="2103588" cy="919797"/>
            </a:xfrm>
            <a:custGeom>
              <a:avLst/>
              <a:gdLst/>
              <a:ahLst/>
              <a:cxnLst/>
              <a:rect l="l" t="t" r="r" b="b"/>
              <a:pathLst>
                <a:path w="2103588" h="919797">
                  <a:moveTo>
                    <a:pt x="22434" y="0"/>
                  </a:moveTo>
                  <a:lnTo>
                    <a:pt x="2081154" y="0"/>
                  </a:lnTo>
                  <a:cubicBezTo>
                    <a:pt x="2093544" y="0"/>
                    <a:pt x="2103588" y="10044"/>
                    <a:pt x="2103588" y="22434"/>
                  </a:cubicBezTo>
                  <a:lnTo>
                    <a:pt x="2103588" y="897363"/>
                  </a:lnTo>
                  <a:cubicBezTo>
                    <a:pt x="2103588" y="909753"/>
                    <a:pt x="2093544" y="919797"/>
                    <a:pt x="2081154" y="919797"/>
                  </a:cubicBezTo>
                  <a:lnTo>
                    <a:pt x="22434" y="919797"/>
                  </a:lnTo>
                  <a:cubicBezTo>
                    <a:pt x="10044" y="919797"/>
                    <a:pt x="0" y="909753"/>
                    <a:pt x="0" y="897363"/>
                  </a:cubicBezTo>
                  <a:lnTo>
                    <a:pt x="0" y="22434"/>
                  </a:lnTo>
                  <a:cubicBezTo>
                    <a:pt x="0" y="10044"/>
                    <a:pt x="10044" y="0"/>
                    <a:pt x="22434" y="0"/>
                  </a:cubicBezTo>
                  <a:close/>
                </a:path>
              </a:pathLst>
            </a:custGeom>
            <a:solidFill>
              <a:srgbClr val="081F8C"/>
            </a:solidFill>
            <a:ln w="38100" cap="sq">
              <a:solidFill>
                <a:srgbClr val="FF751F"/>
              </a:solidFill>
              <a:prstDash val="solid"/>
              <a:miter/>
            </a:ln>
          </p:spPr>
        </p:sp>
        <p:sp>
          <p:nvSpPr>
            <p:cNvPr id="75" name="TextBox 75"/>
            <p:cNvSpPr txBox="1"/>
            <p:nvPr/>
          </p:nvSpPr>
          <p:spPr>
            <a:xfrm>
              <a:off x="0" y="-47625"/>
              <a:ext cx="2103588" cy="967422"/>
            </a:xfrm>
            <a:prstGeom prst="rect">
              <a:avLst/>
            </a:prstGeom>
          </p:spPr>
          <p:txBody>
            <a:bodyPr lIns="19754" tIns="19754" rIns="19754" bIns="19754" rtlCol="0" anchor="ctr"/>
            <a:lstStyle/>
            <a:p>
              <a:pPr algn="ctr">
                <a:lnSpc>
                  <a:spcPts val="2659"/>
                </a:lnSpc>
              </a:pPr>
              <a:endParaRPr/>
            </a:p>
          </p:txBody>
        </p:sp>
      </p:grpSp>
      <p:sp>
        <p:nvSpPr>
          <p:cNvPr id="76" name="TextBox 76"/>
          <p:cNvSpPr txBox="1"/>
          <p:nvPr/>
        </p:nvSpPr>
        <p:spPr>
          <a:xfrm>
            <a:off x="14460902" y="4703812"/>
            <a:ext cx="2689206" cy="826770"/>
          </a:xfrm>
          <a:prstGeom prst="rect">
            <a:avLst/>
          </a:prstGeom>
        </p:spPr>
        <p:txBody>
          <a:bodyPr lIns="0" tIns="0" rIns="0" bIns="0" rtlCol="0" anchor="t">
            <a:spAutoFit/>
          </a:bodyPr>
          <a:lstStyle/>
          <a:p>
            <a:pPr algn="ctr">
              <a:lnSpc>
                <a:spcPts val="1680"/>
              </a:lnSpc>
            </a:pPr>
            <a:r>
              <a:rPr lang="en-US" sz="1200" b="1">
                <a:solidFill>
                  <a:srgbClr val="FFFFFF"/>
                </a:solidFill>
                <a:latin typeface="Canva Sans Bold"/>
                <a:ea typeface="Canva Sans Bold"/>
                <a:cs typeface="Canva Sans Bold"/>
                <a:sym typeface="Canva Sans Bold"/>
              </a:rPr>
              <a:t>menunjukkan yang digunakan masih belum optimal dalam menangkap struktur distribusi kata pada dataset</a:t>
            </a:r>
          </a:p>
        </p:txBody>
      </p:sp>
      <p:sp>
        <p:nvSpPr>
          <p:cNvPr id="77" name="TextBox 77"/>
          <p:cNvSpPr txBox="1"/>
          <p:nvPr/>
        </p:nvSpPr>
        <p:spPr>
          <a:xfrm>
            <a:off x="4781256" y="4023611"/>
            <a:ext cx="2163414" cy="264237"/>
          </a:xfrm>
          <a:prstGeom prst="rect">
            <a:avLst/>
          </a:prstGeom>
        </p:spPr>
        <p:txBody>
          <a:bodyPr lIns="0" tIns="0" rIns="0" bIns="0" rtlCol="0" anchor="t">
            <a:spAutoFit/>
          </a:bodyPr>
          <a:lstStyle/>
          <a:p>
            <a:pPr algn="ctr">
              <a:lnSpc>
                <a:spcPts val="2235"/>
              </a:lnSpc>
            </a:pPr>
            <a:r>
              <a:rPr lang="en-US" sz="1596" b="1">
                <a:solidFill>
                  <a:srgbClr val="000000"/>
                </a:solidFill>
                <a:latin typeface="Canva Sans Bold"/>
                <a:ea typeface="Canva Sans Bold"/>
                <a:cs typeface="Canva Sans Bold"/>
                <a:sym typeface="Canva Sans Bold"/>
              </a:rPr>
              <a:t>&lt; 0 = hubungan lemah</a:t>
            </a:r>
          </a:p>
        </p:txBody>
      </p:sp>
      <p:sp>
        <p:nvSpPr>
          <p:cNvPr id="78" name="TextBox 78"/>
          <p:cNvSpPr txBox="1"/>
          <p:nvPr/>
        </p:nvSpPr>
        <p:spPr>
          <a:xfrm>
            <a:off x="8281670" y="3956172"/>
            <a:ext cx="2163414" cy="264237"/>
          </a:xfrm>
          <a:prstGeom prst="rect">
            <a:avLst/>
          </a:prstGeom>
        </p:spPr>
        <p:txBody>
          <a:bodyPr lIns="0" tIns="0" rIns="0" bIns="0" rtlCol="0" anchor="t">
            <a:spAutoFit/>
          </a:bodyPr>
          <a:lstStyle/>
          <a:p>
            <a:pPr algn="ctr">
              <a:lnSpc>
                <a:spcPts val="2235"/>
              </a:lnSpc>
            </a:pPr>
            <a:r>
              <a:rPr lang="en-US" sz="1596" b="1">
                <a:solidFill>
                  <a:srgbClr val="000000"/>
                </a:solidFill>
                <a:latin typeface="Canva Sans Bold"/>
                <a:ea typeface="Canva Sans Bold"/>
                <a:cs typeface="Canva Sans Bold"/>
                <a:sym typeface="Canva Sans Bold"/>
              </a:rPr>
              <a:t>-4 s/d -6 (sedang)</a:t>
            </a:r>
          </a:p>
        </p:txBody>
      </p:sp>
      <p:sp>
        <p:nvSpPr>
          <p:cNvPr id="79" name="TextBox 79"/>
          <p:cNvSpPr txBox="1"/>
          <p:nvPr/>
        </p:nvSpPr>
        <p:spPr>
          <a:xfrm>
            <a:off x="930705" y="6581163"/>
            <a:ext cx="16427705" cy="1190310"/>
          </a:xfrm>
          <a:prstGeom prst="rect">
            <a:avLst/>
          </a:prstGeom>
        </p:spPr>
        <p:txBody>
          <a:bodyPr lIns="0" tIns="0" rIns="0" bIns="0" rtlCol="0" anchor="t">
            <a:spAutoFit/>
          </a:bodyPr>
          <a:lstStyle/>
          <a:p>
            <a:pPr algn="ctr">
              <a:lnSpc>
                <a:spcPts val="3209"/>
              </a:lnSpc>
            </a:pPr>
            <a:r>
              <a:rPr lang="en-US" sz="2292" b="1">
                <a:solidFill>
                  <a:srgbClr val="000000"/>
                </a:solidFill>
                <a:latin typeface="Canva Sans Bold"/>
                <a:ea typeface="Canva Sans Bold"/>
                <a:cs typeface="Canva Sans Bold"/>
                <a:sym typeface="Canva Sans Bold"/>
              </a:rPr>
              <a:t>model Correlated Topic Model (CTM) menghasilkan kualitas topik yang cukup baik dan dapat diinterpretasikan, Nilai NPMI mendekati nol menunjukkan adanya hubungan semantik antar kata dalam topik meskipun belum terlalu kuat,nilai UMass dan UCl  mengindikasikan bahwa koherensi topik masih berada pada tingkat sedang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884998" y="3004234"/>
            <a:ext cx="8259002" cy="5906689"/>
          </a:xfrm>
          <a:custGeom>
            <a:avLst/>
            <a:gdLst/>
            <a:ahLst/>
            <a:cxnLst/>
            <a:rect l="l" t="t" r="r" b="b"/>
            <a:pathLst>
              <a:path w="8259002" h="5906689">
                <a:moveTo>
                  <a:pt x="0" y="0"/>
                </a:moveTo>
                <a:lnTo>
                  <a:pt x="8259002" y="0"/>
                </a:lnTo>
                <a:lnTo>
                  <a:pt x="8259002" y="5906689"/>
                </a:lnTo>
                <a:lnTo>
                  <a:pt x="0" y="5906689"/>
                </a:lnTo>
                <a:lnTo>
                  <a:pt x="0" y="0"/>
                </a:lnTo>
                <a:close/>
              </a:path>
            </a:pathLst>
          </a:custGeom>
          <a:blipFill>
            <a:blip r:embed="rId4"/>
            <a:stretch>
              <a:fillRect/>
            </a:stretch>
          </a:blipFill>
        </p:spPr>
      </p:sp>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Distribusi Topik Pada 20 Surat Pertama</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12 | Correlated Topic Model</a:t>
            </a:r>
          </a:p>
        </p:txBody>
      </p:sp>
      <p:sp>
        <p:nvSpPr>
          <p:cNvPr id="19" name="TextBox 19"/>
          <p:cNvSpPr txBox="1"/>
          <p:nvPr/>
        </p:nvSpPr>
        <p:spPr>
          <a:xfrm>
            <a:off x="9299426" y="3326131"/>
            <a:ext cx="7852040" cy="4563110"/>
          </a:xfrm>
          <a:prstGeom prst="rect">
            <a:avLst/>
          </a:prstGeom>
        </p:spPr>
        <p:txBody>
          <a:bodyPr lIns="0" tIns="0" rIns="0" bIns="0" rtlCol="0" anchor="t">
            <a:spAutoFit/>
          </a:bodyPr>
          <a:lstStyle/>
          <a:p>
            <a:pPr algn="just">
              <a:lnSpc>
                <a:spcPts val="3639"/>
              </a:lnSpc>
            </a:pPr>
            <a:r>
              <a:rPr lang="en-US" sz="2599" b="1">
                <a:solidFill>
                  <a:srgbClr val="000000"/>
                </a:solidFill>
                <a:latin typeface="Canva Sans Bold"/>
                <a:ea typeface="Canva Sans Bold"/>
                <a:cs typeface="Canva Sans Bold"/>
                <a:sym typeface="Canva Sans Bold"/>
              </a:rPr>
              <a:t>Secara umum, distribusi topik terlihat tidak merata, yang mengindikasikan bahwa setiap surat memiliki kecenderungan kuat terhadap topik tertentu. </a:t>
            </a:r>
          </a:p>
          <a:p>
            <a:pPr algn="just">
              <a:lnSpc>
                <a:spcPts val="3639"/>
              </a:lnSpc>
            </a:pPr>
            <a:endParaRPr lang="en-US" sz="2599" b="1">
              <a:solidFill>
                <a:srgbClr val="000000"/>
              </a:solidFill>
              <a:latin typeface="Canva Sans Bold"/>
              <a:ea typeface="Canva Sans Bold"/>
              <a:cs typeface="Canva Sans Bold"/>
              <a:sym typeface="Canva Sans Bold"/>
            </a:endParaRPr>
          </a:p>
          <a:p>
            <a:pPr algn="just">
              <a:lnSpc>
                <a:spcPts val="3639"/>
              </a:lnSpc>
            </a:pPr>
            <a:r>
              <a:rPr lang="en-US" sz="2599" b="1">
                <a:solidFill>
                  <a:srgbClr val="000000"/>
                </a:solidFill>
                <a:latin typeface="Canva Sans Bold"/>
                <a:ea typeface="Canva Sans Bold"/>
                <a:cs typeface="Canva Sans Bold"/>
                <a:sym typeface="Canva Sans Bold"/>
              </a:rPr>
              <a:t>Beberapa topik seperti Topik 12 dan 13 tampak memiliki nilai yang relatif tinggi dan konsisten di banyak surat (misalnya mencapai kisaran 0.15–0.26), sehingga dapat diasumsikan sebagai topik dominan global dalam korpus 20 surat pertama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5715617" y="3097965"/>
          <a:ext cx="16230600" cy="4360949"/>
        </p:xfrm>
        <a:graphic>
          <a:graphicData uri="http://schemas.openxmlformats.org/presentationml/2006/ole">
            <mc:AlternateContent xmlns:mc="http://schemas.openxmlformats.org/markup-compatibility/2006">
              <mc:Choice xmlns:v="urn:schemas-microsoft-com:vml" Requires="v">
                <p:oleObj name="Worksheet" r:id="rId4" imgW="19469100" imgH="7607300" progId="Excel.Sheet.12">
                  <p:embed/>
                </p:oleObj>
              </mc:Choice>
              <mc:Fallback>
                <p:oleObj name="Worksheet" r:id="rId4" imgW="19469100" imgH="7607300" progId="Excel.Sheet.12">
                  <p:embed/>
                  <p:pic>
                    <p:nvPicPr>
                      <p:cNvPr id="0" name=""/>
                      <p:cNvPicPr/>
                      <p:nvPr/>
                    </p:nvPicPr>
                    <p:blipFill>
                      <a:blip r:embed="rId5"/>
                      <a:stretch>
                        <a:fillRect/>
                      </a:stretch>
                    </p:blipFill>
                    <p:spPr>
                      <a:xfrm>
                        <a:off x="5715617" y="3097965"/>
                        <a:ext cx="16230600" cy="4360949"/>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Uji Parameter Jumlah</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13 | BERTopic Model</a:t>
            </a:r>
          </a:p>
        </p:txBody>
      </p:sp>
      <p:grpSp>
        <p:nvGrpSpPr>
          <p:cNvPr id="19" name="Group 19"/>
          <p:cNvGrpSpPr/>
          <p:nvPr/>
        </p:nvGrpSpPr>
        <p:grpSpPr>
          <a:xfrm>
            <a:off x="794026" y="3067588"/>
            <a:ext cx="4744620" cy="1828038"/>
            <a:chOff x="0" y="0"/>
            <a:chExt cx="3213566" cy="1238144"/>
          </a:xfrm>
        </p:grpSpPr>
        <p:sp>
          <p:nvSpPr>
            <p:cNvPr id="20" name="Freeform 20"/>
            <p:cNvSpPr/>
            <p:nvPr/>
          </p:nvSpPr>
          <p:spPr>
            <a:xfrm>
              <a:off x="0" y="0"/>
              <a:ext cx="3213566" cy="1238144"/>
            </a:xfrm>
            <a:custGeom>
              <a:avLst/>
              <a:gdLst/>
              <a:ahLst/>
              <a:cxnLst/>
              <a:rect l="l" t="t" r="r" b="b"/>
              <a:pathLst>
                <a:path w="3213566" h="1238144">
                  <a:moveTo>
                    <a:pt x="42425" y="0"/>
                  </a:moveTo>
                  <a:lnTo>
                    <a:pt x="3171142" y="0"/>
                  </a:lnTo>
                  <a:cubicBezTo>
                    <a:pt x="3182393" y="0"/>
                    <a:pt x="3193184" y="4470"/>
                    <a:pt x="3201140" y="12426"/>
                  </a:cubicBezTo>
                  <a:cubicBezTo>
                    <a:pt x="3209097" y="20382"/>
                    <a:pt x="3213566" y="31173"/>
                    <a:pt x="3213566" y="42425"/>
                  </a:cubicBezTo>
                  <a:lnTo>
                    <a:pt x="3213566" y="1195719"/>
                  </a:lnTo>
                  <a:cubicBezTo>
                    <a:pt x="3213566" y="1206971"/>
                    <a:pt x="3209097" y="1217762"/>
                    <a:pt x="3201140" y="1225718"/>
                  </a:cubicBezTo>
                  <a:cubicBezTo>
                    <a:pt x="3193184" y="1233674"/>
                    <a:pt x="3182393" y="1238144"/>
                    <a:pt x="3171142" y="1238144"/>
                  </a:cubicBezTo>
                  <a:lnTo>
                    <a:pt x="42425" y="1238144"/>
                  </a:lnTo>
                  <a:cubicBezTo>
                    <a:pt x="31173" y="1238144"/>
                    <a:pt x="20382" y="1233674"/>
                    <a:pt x="12426" y="1225718"/>
                  </a:cubicBezTo>
                  <a:cubicBezTo>
                    <a:pt x="4470" y="1217762"/>
                    <a:pt x="0" y="1206971"/>
                    <a:pt x="0" y="1195719"/>
                  </a:cubicBezTo>
                  <a:lnTo>
                    <a:pt x="0" y="42425"/>
                  </a:lnTo>
                  <a:cubicBezTo>
                    <a:pt x="0" y="31173"/>
                    <a:pt x="4470" y="20382"/>
                    <a:pt x="12426" y="12426"/>
                  </a:cubicBezTo>
                  <a:cubicBezTo>
                    <a:pt x="20382" y="4470"/>
                    <a:pt x="31173" y="0"/>
                    <a:pt x="42425" y="0"/>
                  </a:cubicBezTo>
                  <a:close/>
                </a:path>
              </a:pathLst>
            </a:custGeom>
            <a:solidFill>
              <a:srgbClr val="FFFFFF"/>
            </a:solidFill>
            <a:ln w="38100" cap="rnd">
              <a:solidFill>
                <a:srgbClr val="1800AD"/>
              </a:solidFill>
              <a:prstDash val="solid"/>
              <a:round/>
            </a:ln>
          </p:spPr>
        </p:sp>
        <p:sp>
          <p:nvSpPr>
            <p:cNvPr id="21" name="TextBox 21"/>
            <p:cNvSpPr txBox="1"/>
            <p:nvPr/>
          </p:nvSpPr>
          <p:spPr>
            <a:xfrm>
              <a:off x="0" y="-47625"/>
              <a:ext cx="3213566" cy="1285769"/>
            </a:xfrm>
            <a:prstGeom prst="rect">
              <a:avLst/>
            </a:prstGeom>
          </p:spPr>
          <p:txBody>
            <a:bodyPr lIns="19754" tIns="19754" rIns="19754" bIns="19754" rtlCol="0" anchor="ctr"/>
            <a:lstStyle/>
            <a:p>
              <a:pPr algn="ctr">
                <a:lnSpc>
                  <a:spcPts val="2659"/>
                </a:lnSpc>
              </a:pPr>
              <a:endParaRPr/>
            </a:p>
          </p:txBody>
        </p:sp>
      </p:grpSp>
      <p:sp>
        <p:nvSpPr>
          <p:cNvPr id="22" name="TextBox 22"/>
          <p:cNvSpPr txBox="1"/>
          <p:nvPr/>
        </p:nvSpPr>
        <p:spPr>
          <a:xfrm>
            <a:off x="1206889" y="3214009"/>
            <a:ext cx="4275272" cy="1296669"/>
          </a:xfrm>
          <a:prstGeom prst="rect">
            <a:avLst/>
          </a:prstGeom>
        </p:spPr>
        <p:txBody>
          <a:bodyPr lIns="0" tIns="0" rIns="0" bIns="0" rtlCol="0" anchor="t">
            <a:spAutoFit/>
          </a:bodyPr>
          <a:lstStyle/>
          <a:p>
            <a:pPr algn="ctr">
              <a:lnSpc>
                <a:spcPts val="3256"/>
              </a:lnSpc>
            </a:pPr>
            <a:r>
              <a:rPr lang="en-US" sz="2325" b="1">
                <a:solidFill>
                  <a:srgbClr val="CF4119"/>
                </a:solidFill>
                <a:latin typeface="Canva Sans Bold"/>
                <a:ea typeface="Canva Sans Bold"/>
                <a:cs typeface="Canva Sans Bold"/>
                <a:sym typeface="Canva Sans Bold"/>
              </a:rPr>
              <a:t>Topic size 25 </a:t>
            </a:r>
          </a:p>
          <a:p>
            <a:pPr algn="ctr">
              <a:lnSpc>
                <a:spcPts val="3256"/>
              </a:lnSpc>
            </a:pPr>
            <a:r>
              <a:rPr lang="en-US" sz="2325" b="1">
                <a:solidFill>
                  <a:srgbClr val="000000"/>
                </a:solidFill>
                <a:latin typeface="Canva Sans Bold"/>
                <a:ea typeface="Canva Sans Bold"/>
                <a:cs typeface="Canva Sans Bold"/>
                <a:sym typeface="Canva Sans Bold"/>
              </a:rPr>
              <a:t>(keseimbangan terbaik)</a:t>
            </a:r>
          </a:p>
          <a:p>
            <a:pPr algn="ctr">
              <a:lnSpc>
                <a:spcPts val="3953"/>
              </a:lnSpc>
            </a:pPr>
            <a:r>
              <a:rPr lang="en-US" sz="2824" b="1">
                <a:solidFill>
                  <a:srgbClr val="000000"/>
                </a:solidFill>
                <a:latin typeface="Canva Sans Bold"/>
                <a:ea typeface="Canva Sans Bold"/>
                <a:cs typeface="Canva Sans Bold"/>
                <a:sym typeface="Canva Sans Bold"/>
              </a:rPr>
              <a:t>Final Score 0.87 </a:t>
            </a:r>
          </a:p>
        </p:txBody>
      </p:sp>
      <p:grpSp>
        <p:nvGrpSpPr>
          <p:cNvPr id="23" name="Group 23"/>
          <p:cNvGrpSpPr/>
          <p:nvPr/>
        </p:nvGrpSpPr>
        <p:grpSpPr>
          <a:xfrm>
            <a:off x="737541" y="5043560"/>
            <a:ext cx="4744620" cy="1828038"/>
            <a:chOff x="0" y="0"/>
            <a:chExt cx="3213566" cy="1238144"/>
          </a:xfrm>
        </p:grpSpPr>
        <p:sp>
          <p:nvSpPr>
            <p:cNvPr id="24" name="Freeform 24"/>
            <p:cNvSpPr/>
            <p:nvPr/>
          </p:nvSpPr>
          <p:spPr>
            <a:xfrm>
              <a:off x="0" y="0"/>
              <a:ext cx="3213566" cy="1238144"/>
            </a:xfrm>
            <a:custGeom>
              <a:avLst/>
              <a:gdLst/>
              <a:ahLst/>
              <a:cxnLst/>
              <a:rect l="l" t="t" r="r" b="b"/>
              <a:pathLst>
                <a:path w="3213566" h="1238144">
                  <a:moveTo>
                    <a:pt x="42425" y="0"/>
                  </a:moveTo>
                  <a:lnTo>
                    <a:pt x="3171142" y="0"/>
                  </a:lnTo>
                  <a:cubicBezTo>
                    <a:pt x="3182393" y="0"/>
                    <a:pt x="3193184" y="4470"/>
                    <a:pt x="3201140" y="12426"/>
                  </a:cubicBezTo>
                  <a:cubicBezTo>
                    <a:pt x="3209097" y="20382"/>
                    <a:pt x="3213566" y="31173"/>
                    <a:pt x="3213566" y="42425"/>
                  </a:cubicBezTo>
                  <a:lnTo>
                    <a:pt x="3213566" y="1195719"/>
                  </a:lnTo>
                  <a:cubicBezTo>
                    <a:pt x="3213566" y="1206971"/>
                    <a:pt x="3209097" y="1217762"/>
                    <a:pt x="3201140" y="1225718"/>
                  </a:cubicBezTo>
                  <a:cubicBezTo>
                    <a:pt x="3193184" y="1233674"/>
                    <a:pt x="3182393" y="1238144"/>
                    <a:pt x="3171142" y="1238144"/>
                  </a:cubicBezTo>
                  <a:lnTo>
                    <a:pt x="42425" y="1238144"/>
                  </a:lnTo>
                  <a:cubicBezTo>
                    <a:pt x="31173" y="1238144"/>
                    <a:pt x="20382" y="1233674"/>
                    <a:pt x="12426" y="1225718"/>
                  </a:cubicBezTo>
                  <a:cubicBezTo>
                    <a:pt x="4470" y="1217762"/>
                    <a:pt x="0" y="1206971"/>
                    <a:pt x="0" y="1195719"/>
                  </a:cubicBezTo>
                  <a:lnTo>
                    <a:pt x="0" y="42425"/>
                  </a:lnTo>
                  <a:cubicBezTo>
                    <a:pt x="0" y="31173"/>
                    <a:pt x="4470" y="20382"/>
                    <a:pt x="12426" y="12426"/>
                  </a:cubicBezTo>
                  <a:cubicBezTo>
                    <a:pt x="20382" y="4470"/>
                    <a:pt x="31173" y="0"/>
                    <a:pt x="42425" y="0"/>
                  </a:cubicBezTo>
                  <a:close/>
                </a:path>
              </a:pathLst>
            </a:custGeom>
            <a:solidFill>
              <a:srgbClr val="FFFFFF"/>
            </a:solidFill>
            <a:ln w="38100" cap="rnd">
              <a:solidFill>
                <a:srgbClr val="FF751F"/>
              </a:solidFill>
              <a:prstDash val="solid"/>
              <a:round/>
            </a:ln>
          </p:spPr>
        </p:sp>
        <p:sp>
          <p:nvSpPr>
            <p:cNvPr id="25" name="TextBox 25"/>
            <p:cNvSpPr txBox="1"/>
            <p:nvPr/>
          </p:nvSpPr>
          <p:spPr>
            <a:xfrm>
              <a:off x="0" y="-47625"/>
              <a:ext cx="3213566" cy="1285769"/>
            </a:xfrm>
            <a:prstGeom prst="rect">
              <a:avLst/>
            </a:prstGeom>
          </p:spPr>
          <p:txBody>
            <a:bodyPr lIns="19754" tIns="19754" rIns="19754" bIns="19754" rtlCol="0" anchor="ctr"/>
            <a:lstStyle/>
            <a:p>
              <a:pPr algn="ctr">
                <a:lnSpc>
                  <a:spcPts val="2659"/>
                </a:lnSpc>
              </a:pPr>
              <a:endParaRPr/>
            </a:p>
          </p:txBody>
        </p:sp>
      </p:grpSp>
      <p:sp>
        <p:nvSpPr>
          <p:cNvPr id="26" name="TextBox 26"/>
          <p:cNvSpPr txBox="1"/>
          <p:nvPr/>
        </p:nvSpPr>
        <p:spPr>
          <a:xfrm>
            <a:off x="1028700" y="5095875"/>
            <a:ext cx="4275272" cy="2611119"/>
          </a:xfrm>
          <a:prstGeom prst="rect">
            <a:avLst/>
          </a:prstGeom>
        </p:spPr>
        <p:txBody>
          <a:bodyPr lIns="0" tIns="0" rIns="0" bIns="0" rtlCol="0" anchor="t">
            <a:spAutoFit/>
          </a:bodyPr>
          <a:lstStyle/>
          <a:p>
            <a:pPr algn="ctr">
              <a:lnSpc>
                <a:spcPts val="3256"/>
              </a:lnSpc>
            </a:pPr>
            <a:r>
              <a:rPr lang="en-US" sz="2325" b="1">
                <a:solidFill>
                  <a:srgbClr val="CF4119"/>
                </a:solidFill>
                <a:latin typeface="Canva Sans Bold"/>
                <a:ea typeface="Canva Sans Bold"/>
                <a:cs typeface="Canva Sans Bold"/>
                <a:sym typeface="Canva Sans Bold"/>
              </a:rPr>
              <a:t>C_v = 0.5735</a:t>
            </a:r>
          </a:p>
          <a:p>
            <a:pPr algn="ctr">
              <a:lnSpc>
                <a:spcPts val="3256"/>
              </a:lnSpc>
            </a:pPr>
            <a:r>
              <a:rPr lang="en-US" sz="2325" b="1">
                <a:solidFill>
                  <a:srgbClr val="CF4119"/>
                </a:solidFill>
                <a:latin typeface="Canva Sans Bold"/>
                <a:ea typeface="Canva Sans Bold"/>
                <a:cs typeface="Canva Sans Bold"/>
                <a:sym typeface="Canva Sans Bold"/>
              </a:rPr>
              <a:t>NPMI = 0.0530 </a:t>
            </a:r>
          </a:p>
          <a:p>
            <a:pPr algn="ctr">
              <a:lnSpc>
                <a:spcPts val="3256"/>
              </a:lnSpc>
            </a:pPr>
            <a:r>
              <a:rPr lang="en-US" sz="2325" b="1">
                <a:solidFill>
                  <a:srgbClr val="CF4119"/>
                </a:solidFill>
                <a:latin typeface="Canva Sans Bold"/>
                <a:ea typeface="Canva Sans Bold"/>
                <a:cs typeface="Canva Sans Bold"/>
                <a:sym typeface="Canva Sans Bold"/>
              </a:rPr>
              <a:t>UMass yang paling mendekati nol (-5.3257)</a:t>
            </a:r>
          </a:p>
          <a:p>
            <a:pPr algn="ctr">
              <a:lnSpc>
                <a:spcPts val="3953"/>
              </a:lnSpc>
            </a:pPr>
            <a:endParaRPr lang="en-US" sz="2325" b="1">
              <a:solidFill>
                <a:srgbClr val="CF4119"/>
              </a:solidFill>
              <a:latin typeface="Canva Sans Bold"/>
              <a:ea typeface="Canva Sans Bold"/>
              <a:cs typeface="Canva Sans Bold"/>
              <a:sym typeface="Canva Sans Bold"/>
            </a:endParaRPr>
          </a:p>
          <a:p>
            <a:pPr algn="ctr">
              <a:lnSpc>
                <a:spcPts val="3953"/>
              </a:lnSpc>
            </a:pPr>
            <a:endParaRPr lang="en-US" sz="2325" b="1">
              <a:solidFill>
                <a:srgbClr val="CF4119"/>
              </a:solidFill>
              <a:latin typeface="Canva Sans Bold"/>
              <a:ea typeface="Canva Sans Bold"/>
              <a:cs typeface="Canva Sans Bold"/>
              <a:sym typeface="Canva San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42846" y="6414494"/>
            <a:ext cx="6258307" cy="2843806"/>
          </a:xfrm>
          <a:custGeom>
            <a:avLst/>
            <a:gdLst/>
            <a:ahLst/>
            <a:cxnLst/>
            <a:rect l="l" t="t" r="r" b="b"/>
            <a:pathLst>
              <a:path w="6258307" h="2843806">
                <a:moveTo>
                  <a:pt x="0" y="0"/>
                </a:moveTo>
                <a:lnTo>
                  <a:pt x="6258308" y="0"/>
                </a:lnTo>
                <a:lnTo>
                  <a:pt x="6258308" y="2843806"/>
                </a:lnTo>
                <a:lnTo>
                  <a:pt x="0" y="2843806"/>
                </a:lnTo>
                <a:lnTo>
                  <a:pt x="0" y="0"/>
                </a:lnTo>
                <a:close/>
              </a:path>
            </a:pathLst>
          </a:custGeom>
          <a:blipFill>
            <a:blip r:embed="rId4"/>
            <a:stretch>
              <a:fillRect/>
            </a:stretch>
          </a:blipFill>
        </p:spPr>
      </p:sp>
      <p:sp>
        <p:nvSpPr>
          <p:cNvPr id="17" name="Freeform 17"/>
          <p:cNvSpPr/>
          <p:nvPr/>
        </p:nvSpPr>
        <p:spPr>
          <a:xfrm>
            <a:off x="2691998" y="2954273"/>
            <a:ext cx="13295787" cy="2712302"/>
          </a:xfrm>
          <a:custGeom>
            <a:avLst/>
            <a:gdLst/>
            <a:ahLst/>
            <a:cxnLst/>
            <a:rect l="l" t="t" r="r" b="b"/>
            <a:pathLst>
              <a:path w="13295787" h="2712302">
                <a:moveTo>
                  <a:pt x="0" y="0"/>
                </a:moveTo>
                <a:lnTo>
                  <a:pt x="13295787" y="0"/>
                </a:lnTo>
                <a:lnTo>
                  <a:pt x="13295787" y="2712302"/>
                </a:lnTo>
                <a:lnTo>
                  <a:pt x="0" y="2712302"/>
                </a:lnTo>
                <a:lnTo>
                  <a:pt x="0" y="0"/>
                </a:lnTo>
                <a:close/>
              </a:path>
            </a:pathLst>
          </a:custGeom>
          <a:blipFill>
            <a:blip r:embed="rId5"/>
            <a:stretch>
              <a:fillRect t="-8824" b="-8824"/>
            </a:stretch>
          </a:blipFill>
        </p:spPr>
      </p:sp>
      <p:sp>
        <p:nvSpPr>
          <p:cNvPr id="18" name="TextBox 18"/>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Evaluasi Model</a:t>
            </a:r>
          </a:p>
        </p:txBody>
      </p:sp>
      <p:sp>
        <p:nvSpPr>
          <p:cNvPr id="19" name="TextBox 19"/>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14 | BERTopic Model</a:t>
            </a:r>
          </a:p>
        </p:txBody>
      </p:sp>
      <p:sp>
        <p:nvSpPr>
          <p:cNvPr id="20" name="TextBox 20"/>
          <p:cNvSpPr txBox="1"/>
          <p:nvPr/>
        </p:nvSpPr>
        <p:spPr>
          <a:xfrm>
            <a:off x="2691998" y="6548957"/>
            <a:ext cx="3985545" cy="632877"/>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Parameter Optimal BERTopic</a:t>
            </a:r>
          </a:p>
          <a:p>
            <a:pPr algn="ctr">
              <a:lnSpc>
                <a:spcPts val="2327"/>
              </a:lnSpc>
            </a:pPr>
            <a:endParaRPr lang="en-US" sz="1994" b="1">
              <a:solidFill>
                <a:srgbClr val="FEFCFB"/>
              </a:solidFill>
              <a:latin typeface="Canva Sans Bold"/>
              <a:ea typeface="Canva Sans Bold"/>
              <a:cs typeface="Canva Sans Bold"/>
              <a:sym typeface="Canva Sans Bold"/>
            </a:endParaRPr>
          </a:p>
        </p:txBody>
      </p:sp>
      <p:sp>
        <p:nvSpPr>
          <p:cNvPr id="21" name="TextBox 21"/>
          <p:cNvSpPr txBox="1"/>
          <p:nvPr/>
        </p:nvSpPr>
        <p:spPr>
          <a:xfrm>
            <a:off x="1659117" y="7143734"/>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Min Topic Size </a:t>
            </a:r>
          </a:p>
        </p:txBody>
      </p:sp>
      <p:sp>
        <p:nvSpPr>
          <p:cNvPr id="22" name="TextBox 22"/>
          <p:cNvSpPr txBox="1"/>
          <p:nvPr/>
        </p:nvSpPr>
        <p:spPr>
          <a:xfrm>
            <a:off x="4684770" y="7076275"/>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25</a:t>
            </a:r>
          </a:p>
        </p:txBody>
      </p:sp>
      <p:sp>
        <p:nvSpPr>
          <p:cNvPr id="23" name="TextBox 23"/>
          <p:cNvSpPr txBox="1"/>
          <p:nvPr/>
        </p:nvSpPr>
        <p:spPr>
          <a:xfrm>
            <a:off x="1819391" y="7649471"/>
            <a:ext cx="2394352" cy="335752"/>
          </a:xfrm>
          <a:prstGeom prst="rect">
            <a:avLst/>
          </a:prstGeom>
        </p:spPr>
        <p:txBody>
          <a:bodyPr lIns="0" tIns="0" rIns="0" bIns="0" rtlCol="0" anchor="t">
            <a:spAutoFit/>
          </a:bodyPr>
          <a:lstStyle/>
          <a:p>
            <a:pPr algn="ctr">
              <a:lnSpc>
                <a:spcPts val="2792"/>
              </a:lnSpc>
            </a:pPr>
            <a:r>
              <a:rPr lang="en-US" sz="1994" b="1">
                <a:solidFill>
                  <a:srgbClr val="FEFCFB"/>
                </a:solidFill>
                <a:latin typeface="Canva Sans Bold"/>
                <a:ea typeface="Canva Sans Bold"/>
                <a:cs typeface="Canva Sans Bold"/>
                <a:sym typeface="Canva Sans Bold"/>
              </a:rPr>
              <a:t>Sentence Model</a:t>
            </a:r>
          </a:p>
        </p:txBody>
      </p:sp>
      <p:sp>
        <p:nvSpPr>
          <p:cNvPr id="24" name="TextBox 24"/>
          <p:cNvSpPr txBox="1"/>
          <p:nvPr/>
        </p:nvSpPr>
        <p:spPr>
          <a:xfrm>
            <a:off x="4803309" y="7623620"/>
            <a:ext cx="2519708" cy="685106"/>
          </a:xfrm>
          <a:prstGeom prst="rect">
            <a:avLst/>
          </a:prstGeom>
        </p:spPr>
        <p:txBody>
          <a:bodyPr lIns="0" tIns="0" rIns="0" bIns="0" rtlCol="0" anchor="t">
            <a:spAutoFit/>
          </a:bodyPr>
          <a:lstStyle/>
          <a:p>
            <a:pPr algn="ctr">
              <a:lnSpc>
                <a:spcPts val="1817"/>
              </a:lnSpc>
            </a:pPr>
            <a:r>
              <a:rPr lang="en-US" sz="1298" b="1">
                <a:solidFill>
                  <a:srgbClr val="FEFCFB"/>
                </a:solidFill>
                <a:latin typeface="Canva Sans Bold"/>
                <a:ea typeface="Canva Sans Bold"/>
                <a:cs typeface="Canva Sans Bold"/>
                <a:sym typeface="Canva Sans Bold"/>
              </a:rPr>
              <a:t>paraphrase-multilingual-MiniLM-L12paraphrase-multilingual-MiniLM-L12</a:t>
            </a:r>
          </a:p>
        </p:txBody>
      </p:sp>
      <p:sp>
        <p:nvSpPr>
          <p:cNvPr id="25" name="Freeform 25"/>
          <p:cNvSpPr/>
          <p:nvPr/>
        </p:nvSpPr>
        <p:spPr>
          <a:xfrm>
            <a:off x="8291704"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4"/>
            <a:stretch>
              <a:fillRect r="-157593"/>
            </a:stretch>
          </a:blipFill>
        </p:spPr>
      </p:sp>
      <p:sp>
        <p:nvSpPr>
          <p:cNvPr id="26" name="Freeform 26"/>
          <p:cNvSpPr/>
          <p:nvPr/>
        </p:nvSpPr>
        <p:spPr>
          <a:xfrm>
            <a:off x="11026306"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4"/>
            <a:stretch>
              <a:fillRect r="-157593"/>
            </a:stretch>
          </a:blipFill>
        </p:spPr>
      </p:sp>
      <p:sp>
        <p:nvSpPr>
          <p:cNvPr id="27" name="Freeform 27"/>
          <p:cNvSpPr/>
          <p:nvPr/>
        </p:nvSpPr>
        <p:spPr>
          <a:xfrm>
            <a:off x="13716000" y="6414494"/>
            <a:ext cx="2429525" cy="2843806"/>
          </a:xfrm>
          <a:custGeom>
            <a:avLst/>
            <a:gdLst/>
            <a:ahLst/>
            <a:cxnLst/>
            <a:rect l="l" t="t" r="r" b="b"/>
            <a:pathLst>
              <a:path w="2429525" h="2843806">
                <a:moveTo>
                  <a:pt x="0" y="0"/>
                </a:moveTo>
                <a:lnTo>
                  <a:pt x="2429525" y="0"/>
                </a:lnTo>
                <a:lnTo>
                  <a:pt x="2429525" y="2843806"/>
                </a:lnTo>
                <a:lnTo>
                  <a:pt x="0" y="2843806"/>
                </a:lnTo>
                <a:lnTo>
                  <a:pt x="0" y="0"/>
                </a:lnTo>
                <a:close/>
              </a:path>
            </a:pathLst>
          </a:custGeom>
          <a:blipFill>
            <a:blip r:embed="rId4"/>
            <a:stretch>
              <a:fillRect r="-157593"/>
            </a:stretch>
          </a:blipFill>
        </p:spPr>
      </p:sp>
      <p:sp>
        <p:nvSpPr>
          <p:cNvPr id="28" name="TextBox 28"/>
          <p:cNvSpPr txBox="1"/>
          <p:nvPr/>
        </p:nvSpPr>
        <p:spPr>
          <a:xfrm>
            <a:off x="8765702" y="6607703"/>
            <a:ext cx="1481529"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C_v Coherence</a:t>
            </a:r>
          </a:p>
        </p:txBody>
      </p:sp>
      <p:sp>
        <p:nvSpPr>
          <p:cNvPr id="29" name="TextBox 29"/>
          <p:cNvSpPr txBox="1"/>
          <p:nvPr/>
        </p:nvSpPr>
        <p:spPr>
          <a:xfrm>
            <a:off x="11632255" y="6607703"/>
            <a:ext cx="1172719"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NPMI Score</a:t>
            </a:r>
          </a:p>
        </p:txBody>
      </p:sp>
      <p:sp>
        <p:nvSpPr>
          <p:cNvPr id="30" name="TextBox 30"/>
          <p:cNvSpPr txBox="1"/>
          <p:nvPr/>
        </p:nvSpPr>
        <p:spPr>
          <a:xfrm>
            <a:off x="14257207" y="6558482"/>
            <a:ext cx="1347111" cy="276743"/>
          </a:xfrm>
          <a:prstGeom prst="rect">
            <a:avLst/>
          </a:prstGeom>
        </p:spPr>
        <p:txBody>
          <a:bodyPr lIns="0" tIns="0" rIns="0" bIns="0" rtlCol="0" anchor="t">
            <a:spAutoFit/>
          </a:bodyPr>
          <a:lstStyle/>
          <a:p>
            <a:pPr algn="ctr">
              <a:lnSpc>
                <a:spcPts val="2299"/>
              </a:lnSpc>
            </a:pPr>
            <a:r>
              <a:rPr lang="en-US" sz="1642">
                <a:solidFill>
                  <a:srgbClr val="FFFFFF"/>
                </a:solidFill>
                <a:latin typeface="Canva Sans"/>
                <a:ea typeface="Canva Sans"/>
                <a:cs typeface="Canva Sans"/>
                <a:sym typeface="Canva Sans"/>
              </a:rPr>
              <a:t>Umass  Score</a:t>
            </a:r>
          </a:p>
        </p:txBody>
      </p:sp>
      <p:sp>
        <p:nvSpPr>
          <p:cNvPr id="31" name="TextBox 31"/>
          <p:cNvSpPr txBox="1"/>
          <p:nvPr/>
        </p:nvSpPr>
        <p:spPr>
          <a:xfrm>
            <a:off x="8649693" y="7040837"/>
            <a:ext cx="1713548"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0.5735</a:t>
            </a:r>
          </a:p>
        </p:txBody>
      </p:sp>
      <p:sp>
        <p:nvSpPr>
          <p:cNvPr id="32" name="TextBox 32"/>
          <p:cNvSpPr txBox="1"/>
          <p:nvPr/>
        </p:nvSpPr>
        <p:spPr>
          <a:xfrm>
            <a:off x="11417558" y="7141620"/>
            <a:ext cx="1854637"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0.0530</a:t>
            </a:r>
          </a:p>
        </p:txBody>
      </p:sp>
      <p:sp>
        <p:nvSpPr>
          <p:cNvPr id="33" name="TextBox 33"/>
          <p:cNvSpPr txBox="1"/>
          <p:nvPr/>
        </p:nvSpPr>
        <p:spPr>
          <a:xfrm>
            <a:off x="14039713" y="7141620"/>
            <a:ext cx="1867972" cy="711794"/>
          </a:xfrm>
          <a:prstGeom prst="rect">
            <a:avLst/>
          </a:prstGeom>
        </p:spPr>
        <p:txBody>
          <a:bodyPr lIns="0" tIns="0" rIns="0" bIns="0" rtlCol="0" anchor="t">
            <a:spAutoFit/>
          </a:bodyPr>
          <a:lstStyle/>
          <a:p>
            <a:pPr algn="ctr">
              <a:lnSpc>
                <a:spcPts val="5917"/>
              </a:lnSpc>
            </a:pPr>
            <a:r>
              <a:rPr lang="en-US" sz="4226" b="1">
                <a:solidFill>
                  <a:srgbClr val="FF751F"/>
                </a:solidFill>
                <a:latin typeface="Canva Sans Bold"/>
                <a:ea typeface="Canva Sans Bold"/>
                <a:cs typeface="Canva Sans Bold"/>
                <a:sym typeface="Canva Sans Bold"/>
              </a:rPr>
              <a:t>-5.3257</a:t>
            </a:r>
          </a:p>
        </p:txBody>
      </p:sp>
      <p:sp>
        <p:nvSpPr>
          <p:cNvPr id="34" name="TextBox 34"/>
          <p:cNvSpPr txBox="1"/>
          <p:nvPr/>
        </p:nvSpPr>
        <p:spPr>
          <a:xfrm>
            <a:off x="8563607" y="8019331"/>
            <a:ext cx="1885718" cy="9043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topik yang dihasilkan memiliki tingkat koherensi yang cukup baik.</a:t>
            </a:r>
          </a:p>
        </p:txBody>
      </p:sp>
      <p:sp>
        <p:nvSpPr>
          <p:cNvPr id="35" name="TextBox 35"/>
          <p:cNvSpPr txBox="1"/>
          <p:nvPr/>
        </p:nvSpPr>
        <p:spPr>
          <a:xfrm>
            <a:off x="11310199" y="8019331"/>
            <a:ext cx="2069355" cy="11316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bernilai positif menunjukkan bahwa terdapat asosiasi statistik yang bermakna antar kata dalam topik</a:t>
            </a:r>
          </a:p>
        </p:txBody>
      </p:sp>
      <p:sp>
        <p:nvSpPr>
          <p:cNvPr id="36" name="TextBox 36"/>
          <p:cNvSpPr txBox="1"/>
          <p:nvPr/>
        </p:nvSpPr>
        <p:spPr>
          <a:xfrm>
            <a:off x="13896085" y="8132981"/>
            <a:ext cx="2069355" cy="904332"/>
          </a:xfrm>
          <a:prstGeom prst="rect">
            <a:avLst/>
          </a:prstGeom>
        </p:spPr>
        <p:txBody>
          <a:bodyPr lIns="0" tIns="0" rIns="0" bIns="0" rtlCol="0" anchor="t">
            <a:spAutoFit/>
          </a:bodyPr>
          <a:lstStyle/>
          <a:p>
            <a:pPr algn="ctr">
              <a:lnSpc>
                <a:spcPts val="1843"/>
              </a:lnSpc>
            </a:pPr>
            <a:r>
              <a:rPr lang="en-US" sz="1316">
                <a:solidFill>
                  <a:srgbClr val="FCEE16"/>
                </a:solidFill>
                <a:latin typeface="Canva Sans"/>
                <a:ea typeface="Canva Sans"/>
                <a:cs typeface="Canva Sans"/>
                <a:sym typeface="Canva Sans"/>
              </a:rPr>
              <a:t>bahwa model memiliki konsistensi probabilistik yang baik terhadap distribusi dokumen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2"/>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2435555" y="2911642"/>
            <a:ext cx="7197292" cy="6310018"/>
          </a:xfrm>
          <a:custGeom>
            <a:avLst/>
            <a:gdLst/>
            <a:ahLst/>
            <a:cxnLst/>
            <a:rect l="l" t="t" r="r" b="b"/>
            <a:pathLst>
              <a:path w="7197292" h="6310018">
                <a:moveTo>
                  <a:pt x="0" y="0"/>
                </a:moveTo>
                <a:lnTo>
                  <a:pt x="7197291" y="0"/>
                </a:lnTo>
                <a:lnTo>
                  <a:pt x="7197291" y="6310018"/>
                </a:lnTo>
                <a:lnTo>
                  <a:pt x="0" y="6310018"/>
                </a:lnTo>
                <a:lnTo>
                  <a:pt x="0" y="0"/>
                </a:lnTo>
                <a:close/>
              </a:path>
            </a:pathLst>
          </a:custGeom>
          <a:blipFill>
            <a:blip r:embed="rId3"/>
            <a:stretch>
              <a:fillRect r="-5966"/>
            </a:stretch>
          </a:blipFill>
        </p:spPr>
      </p:sp>
      <p:sp>
        <p:nvSpPr>
          <p:cNvPr id="16" name="TextBox 16"/>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Grafik Topic Word Scores</a:t>
            </a:r>
          </a:p>
        </p:txBody>
      </p:sp>
      <p:sp>
        <p:nvSpPr>
          <p:cNvPr id="17" name="TextBox 17"/>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15 | BERTopic Model</a:t>
            </a:r>
          </a:p>
        </p:txBody>
      </p:sp>
      <p:sp>
        <p:nvSpPr>
          <p:cNvPr id="18" name="TextBox 18"/>
          <p:cNvSpPr txBox="1"/>
          <p:nvPr/>
        </p:nvSpPr>
        <p:spPr>
          <a:xfrm>
            <a:off x="10945284" y="4693571"/>
            <a:ext cx="6022255" cy="2601234"/>
          </a:xfrm>
          <a:prstGeom prst="rect">
            <a:avLst/>
          </a:prstGeom>
        </p:spPr>
        <p:txBody>
          <a:bodyPr lIns="0" tIns="0" rIns="0" bIns="0" rtlCol="0" anchor="t">
            <a:spAutoFit/>
          </a:bodyPr>
          <a:lstStyle/>
          <a:p>
            <a:pPr algn="ctr">
              <a:lnSpc>
                <a:spcPts val="4149"/>
              </a:lnSpc>
            </a:pPr>
            <a:r>
              <a:rPr lang="en-US" sz="2964" b="1">
                <a:solidFill>
                  <a:srgbClr val="000000"/>
                </a:solidFill>
                <a:latin typeface="Canva Sans Bold"/>
                <a:ea typeface="Canva Sans Bold"/>
                <a:cs typeface="Canva Sans Bold"/>
                <a:sym typeface="Canva Sans Bold"/>
              </a:rPr>
              <a:t>Grafik Topic Word Scores secara khusus fungsi menampilkan topik berdasarkan tingkat dominansi atau frekuensi kemunculannya dalam dokumen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2"/>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nvGraphicFramePr>
        <p:xfrm>
          <a:off x="1830232" y="2659237"/>
          <a:ext cx="6686550" cy="8229600"/>
        </p:xfrm>
        <a:graphic>
          <a:graphicData uri="http://schemas.openxmlformats.org/presentationml/2006/ole">
            <mc:AlternateContent xmlns:mc="http://schemas.openxmlformats.org/markup-compatibility/2006">
              <mc:Choice xmlns:v="urn:schemas-microsoft-com:vml" Requires="v">
                <p:oleObj name="Worksheet" r:id="rId3" imgW="8331200" imgH="9867900" progId="Excel.Sheet.12">
                  <p:embed/>
                </p:oleObj>
              </mc:Choice>
              <mc:Fallback>
                <p:oleObj name="Worksheet" r:id="rId3" imgW="8331200" imgH="9867900" progId="Excel.Sheet.12">
                  <p:embed/>
                  <p:pic>
                    <p:nvPicPr>
                      <p:cNvPr id="0" name=""/>
                      <p:cNvPicPr/>
                      <p:nvPr/>
                    </p:nvPicPr>
                    <p:blipFill>
                      <a:blip r:embed="rId4"/>
                      <a:stretch>
                        <a:fillRect/>
                      </a:stretch>
                    </p:blipFill>
                    <p:spPr>
                      <a:xfrm>
                        <a:off x="1830232" y="2659237"/>
                        <a:ext cx="6686550" cy="8229600"/>
                      </a:xfrm>
                      <a:prstGeom prst="rect">
                        <a:avLst/>
                      </a:prstGeom>
                    </p:spPr>
                  </p:pic>
                </p:oleObj>
              </mc:Fallback>
            </mc:AlternateContent>
          </a:graphicData>
        </a:graphic>
      </p:graphicFrame>
      <p:graphicFrame>
        <p:nvGraphicFramePr>
          <p:cNvPr id="16" name="Object 16"/>
          <p:cNvGraphicFramePr/>
          <p:nvPr/>
        </p:nvGraphicFramePr>
        <p:xfrm>
          <a:off x="9800719" y="2659237"/>
          <a:ext cx="7243762" cy="7738110"/>
        </p:xfrm>
        <a:graphic>
          <a:graphicData uri="http://schemas.openxmlformats.org/presentationml/2006/ole">
            <mc:AlternateContent xmlns:mc="http://schemas.openxmlformats.org/markup-compatibility/2006">
              <mc:Choice xmlns:v="urn:schemas-microsoft-com:vml" Requires="v">
                <p:oleObj name="Worksheet" r:id="rId5" imgW="8788400" imgH="9283700" progId="Excel.Sheet.12">
                  <p:embed/>
                </p:oleObj>
              </mc:Choice>
              <mc:Fallback>
                <p:oleObj name="Worksheet" r:id="rId5" imgW="8788400" imgH="9283700" progId="Excel.Sheet.12">
                  <p:embed/>
                  <p:pic>
                    <p:nvPicPr>
                      <p:cNvPr id="0" name=""/>
                      <p:cNvPicPr/>
                      <p:nvPr/>
                    </p:nvPicPr>
                    <p:blipFill>
                      <a:blip r:embed="rId6"/>
                      <a:stretch>
                        <a:fillRect/>
                      </a:stretch>
                    </p:blipFill>
                    <p:spPr>
                      <a:xfrm>
                        <a:off x="9800719" y="2659237"/>
                        <a:ext cx="7243762" cy="773811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16 | BERTopic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2"/>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nvGraphicFramePr>
        <p:xfrm>
          <a:off x="950119" y="2805886"/>
          <a:ext cx="7243762" cy="7463790"/>
        </p:xfrm>
        <a:graphic>
          <a:graphicData uri="http://schemas.openxmlformats.org/presentationml/2006/ole">
            <mc:AlternateContent xmlns:mc="http://schemas.openxmlformats.org/markup-compatibility/2006">
              <mc:Choice xmlns:v="urn:schemas-microsoft-com:vml" Requires="v">
                <p:oleObj name="Worksheet" r:id="rId3" imgW="8724900" imgH="8953500" progId="Excel.Sheet.12">
                  <p:embed/>
                </p:oleObj>
              </mc:Choice>
              <mc:Fallback>
                <p:oleObj name="Worksheet" r:id="rId3" imgW="8724900" imgH="8953500" progId="Excel.Sheet.12">
                  <p:embed/>
                  <p:pic>
                    <p:nvPicPr>
                      <p:cNvPr id="0" name=""/>
                      <p:cNvPicPr/>
                      <p:nvPr/>
                    </p:nvPicPr>
                    <p:blipFill>
                      <a:blip r:embed="rId4"/>
                      <a:stretch>
                        <a:fillRect/>
                      </a:stretch>
                    </p:blipFill>
                    <p:spPr>
                      <a:xfrm>
                        <a:off x="950119" y="2805886"/>
                        <a:ext cx="7243762" cy="7463790"/>
                      </a:xfrm>
                      <a:prstGeom prst="rect">
                        <a:avLst/>
                      </a:prstGeom>
                    </p:spPr>
                  </p:pic>
                </p:oleObj>
              </mc:Fallback>
            </mc:AlternateContent>
          </a:graphicData>
        </a:graphic>
      </p:graphicFrame>
      <p:graphicFrame>
        <p:nvGraphicFramePr>
          <p:cNvPr id="16" name="Object 16"/>
          <p:cNvGraphicFramePr/>
          <p:nvPr/>
        </p:nvGraphicFramePr>
        <p:xfrm>
          <a:off x="9405519" y="2805886"/>
          <a:ext cx="7243762" cy="7463790"/>
        </p:xfrm>
        <a:graphic>
          <a:graphicData uri="http://schemas.openxmlformats.org/presentationml/2006/ole">
            <mc:AlternateContent xmlns:mc="http://schemas.openxmlformats.org/markup-compatibility/2006">
              <mc:Choice xmlns:v="urn:schemas-microsoft-com:vml" Requires="v">
                <p:oleObj name="Worksheet" r:id="rId5" imgW="8724900" imgH="8953500" progId="Excel.Sheet.12">
                  <p:embed/>
                </p:oleObj>
              </mc:Choice>
              <mc:Fallback>
                <p:oleObj name="Worksheet" r:id="rId5" imgW="8724900" imgH="8953500" progId="Excel.Sheet.12">
                  <p:embed/>
                  <p:pic>
                    <p:nvPicPr>
                      <p:cNvPr id="0" name=""/>
                      <p:cNvPicPr/>
                      <p:nvPr/>
                    </p:nvPicPr>
                    <p:blipFill>
                      <a:blip r:embed="rId6"/>
                      <a:stretch>
                        <a:fillRect/>
                      </a:stretch>
                    </p:blipFill>
                    <p:spPr>
                      <a:xfrm>
                        <a:off x="9405519" y="2805886"/>
                        <a:ext cx="7243762" cy="7463790"/>
                      </a:xfrm>
                      <a:prstGeom prst="rect">
                        <a:avLst/>
                      </a:prstGeom>
                    </p:spPr>
                  </p:pic>
                </p:oleObj>
              </mc:Fallback>
            </mc:AlternateContent>
          </a:graphicData>
        </a:graphic>
      </p:graphicFrame>
      <p:sp>
        <p:nvSpPr>
          <p:cNvPr id="17" name="TextBox 17"/>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17 | BERTopic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479309"/>
            <a:ext cx="8115300" cy="137058"/>
            <a:chOff x="0" y="0"/>
            <a:chExt cx="2137363" cy="36097"/>
          </a:xfrm>
        </p:grpSpPr>
        <p:sp>
          <p:nvSpPr>
            <p:cNvPr id="6" name="Freeform 6"/>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7" name="TextBox 7"/>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144000" y="2479309"/>
            <a:ext cx="8115300" cy="137058"/>
            <a:chOff x="0" y="0"/>
            <a:chExt cx="2137363" cy="36097"/>
          </a:xfrm>
        </p:grpSpPr>
        <p:sp>
          <p:nvSpPr>
            <p:cNvPr id="9" name="Freeform 9"/>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0" name="TextBox 10"/>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2"/>
            <a:stretch>
              <a:fillRect/>
            </a:stretch>
          </a:blipFill>
        </p:spPr>
      </p:sp>
      <p:grpSp>
        <p:nvGrpSpPr>
          <p:cNvPr id="12" name="Group 12"/>
          <p:cNvGrpSpPr/>
          <p:nvPr/>
        </p:nvGrpSpPr>
        <p:grpSpPr>
          <a:xfrm>
            <a:off x="9144000" y="9708804"/>
            <a:ext cx="9144000" cy="560871"/>
            <a:chOff x="0" y="0"/>
            <a:chExt cx="2408296" cy="147719"/>
          </a:xfrm>
        </p:grpSpPr>
        <p:sp>
          <p:nvSpPr>
            <p:cNvPr id="13" name="Freeform 1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4" name="TextBox 1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5" name="Object 15"/>
          <p:cNvGraphicFramePr/>
          <p:nvPr/>
        </p:nvGraphicFramePr>
        <p:xfrm>
          <a:off x="1190016" y="2911642"/>
          <a:ext cx="7243762" cy="7658100"/>
        </p:xfrm>
        <a:graphic>
          <a:graphicData uri="http://schemas.openxmlformats.org/presentationml/2006/ole">
            <mc:AlternateContent xmlns:mc="http://schemas.openxmlformats.org/markup-compatibility/2006">
              <mc:Choice xmlns:v="urn:schemas-microsoft-com:vml" Requires="v">
                <p:oleObj name="Worksheet" r:id="rId3" imgW="8763000" imgH="9182100" progId="Excel.Sheet.12">
                  <p:embed/>
                </p:oleObj>
              </mc:Choice>
              <mc:Fallback>
                <p:oleObj name="Worksheet" r:id="rId3" imgW="8763000" imgH="9182100" progId="Excel.Sheet.12">
                  <p:embed/>
                  <p:pic>
                    <p:nvPicPr>
                      <p:cNvPr id="0" name=""/>
                      <p:cNvPicPr/>
                      <p:nvPr/>
                    </p:nvPicPr>
                    <p:blipFill>
                      <a:blip r:embed="rId4"/>
                      <a:stretch>
                        <a:fillRect/>
                      </a:stretch>
                    </p:blipFill>
                    <p:spPr>
                      <a:xfrm>
                        <a:off x="1190016" y="2911642"/>
                        <a:ext cx="7243762" cy="7658100"/>
                      </a:xfrm>
                      <a:prstGeom prst="rect">
                        <a:avLst/>
                      </a:prstGeom>
                    </p:spPr>
                  </p:pic>
                </p:oleObj>
              </mc:Fallback>
            </mc:AlternateContent>
          </a:graphicData>
        </a:graphic>
      </p:graphicFrame>
      <p:sp>
        <p:nvSpPr>
          <p:cNvPr id="16" name="TextBox 16"/>
          <p:cNvSpPr txBox="1"/>
          <p:nvPr/>
        </p:nvSpPr>
        <p:spPr>
          <a:xfrm>
            <a:off x="1028700" y="1210387"/>
            <a:ext cx="11543683" cy="995966"/>
          </a:xfrm>
          <a:prstGeom prst="rect">
            <a:avLst/>
          </a:prstGeom>
        </p:spPr>
        <p:txBody>
          <a:bodyPr lIns="0" tIns="0" rIns="0" bIns="0" rtlCol="0" anchor="t">
            <a:spAutoFit/>
          </a:bodyPr>
          <a:lstStyle/>
          <a:p>
            <a:pPr algn="l">
              <a:lnSpc>
                <a:spcPts val="8160"/>
              </a:lnSpc>
              <a:spcBef>
                <a:spcPct val="0"/>
              </a:spcBef>
            </a:pPr>
            <a:r>
              <a:rPr lang="en-US" sz="5828" b="1">
                <a:solidFill>
                  <a:srgbClr val="1800AD"/>
                </a:solidFill>
                <a:latin typeface="Archivo Narrow Bold"/>
                <a:ea typeface="Archivo Narrow Bold"/>
                <a:cs typeface="Archivo Narrow Bold"/>
                <a:sym typeface="Archivo Narrow Bold"/>
              </a:rPr>
              <a:t>Hasil Topik Model BERTopic</a:t>
            </a:r>
          </a:p>
        </p:txBody>
      </p:sp>
      <p:sp>
        <p:nvSpPr>
          <p:cNvPr id="17" name="TextBox 17"/>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18 | BERTopic Model</a:t>
            </a:r>
          </a:p>
        </p:txBody>
      </p:sp>
      <p:grpSp>
        <p:nvGrpSpPr>
          <p:cNvPr id="18" name="Group 18"/>
          <p:cNvGrpSpPr/>
          <p:nvPr/>
        </p:nvGrpSpPr>
        <p:grpSpPr>
          <a:xfrm>
            <a:off x="8813294" y="3685979"/>
            <a:ext cx="8446006" cy="4243868"/>
            <a:chOff x="0" y="0"/>
            <a:chExt cx="5720543" cy="2874403"/>
          </a:xfrm>
        </p:grpSpPr>
        <p:sp>
          <p:nvSpPr>
            <p:cNvPr id="19" name="Freeform 19"/>
            <p:cNvSpPr/>
            <p:nvPr/>
          </p:nvSpPr>
          <p:spPr>
            <a:xfrm>
              <a:off x="0" y="0"/>
              <a:ext cx="5720543" cy="2874403"/>
            </a:xfrm>
            <a:custGeom>
              <a:avLst/>
              <a:gdLst/>
              <a:ahLst/>
              <a:cxnLst/>
              <a:rect l="l" t="t" r="r" b="b"/>
              <a:pathLst>
                <a:path w="5720543" h="2874403">
                  <a:moveTo>
                    <a:pt x="23833" y="0"/>
                  </a:moveTo>
                  <a:lnTo>
                    <a:pt x="5696710" y="0"/>
                  </a:lnTo>
                  <a:cubicBezTo>
                    <a:pt x="5709872" y="0"/>
                    <a:pt x="5720543" y="10670"/>
                    <a:pt x="5720543" y="23833"/>
                  </a:cubicBezTo>
                  <a:lnTo>
                    <a:pt x="5720543" y="2850571"/>
                  </a:lnTo>
                  <a:cubicBezTo>
                    <a:pt x="5720543" y="2863733"/>
                    <a:pt x="5709872" y="2874403"/>
                    <a:pt x="5696710" y="2874403"/>
                  </a:cubicBezTo>
                  <a:lnTo>
                    <a:pt x="23833" y="2874403"/>
                  </a:lnTo>
                  <a:cubicBezTo>
                    <a:pt x="10670" y="2874403"/>
                    <a:pt x="0" y="2863733"/>
                    <a:pt x="0" y="2850571"/>
                  </a:cubicBezTo>
                  <a:lnTo>
                    <a:pt x="0" y="23833"/>
                  </a:lnTo>
                  <a:cubicBezTo>
                    <a:pt x="0" y="10670"/>
                    <a:pt x="10670" y="0"/>
                    <a:pt x="23833" y="0"/>
                  </a:cubicBezTo>
                  <a:close/>
                </a:path>
              </a:pathLst>
            </a:custGeom>
            <a:solidFill>
              <a:srgbClr val="FFFFFF"/>
            </a:solidFill>
            <a:ln w="38100" cap="rnd">
              <a:solidFill>
                <a:srgbClr val="FF751F"/>
              </a:solidFill>
              <a:prstDash val="solid"/>
              <a:round/>
            </a:ln>
          </p:spPr>
        </p:sp>
        <p:sp>
          <p:nvSpPr>
            <p:cNvPr id="20" name="TextBox 20"/>
            <p:cNvSpPr txBox="1"/>
            <p:nvPr/>
          </p:nvSpPr>
          <p:spPr>
            <a:xfrm>
              <a:off x="0" y="-47625"/>
              <a:ext cx="5720543" cy="2922028"/>
            </a:xfrm>
            <a:prstGeom prst="rect">
              <a:avLst/>
            </a:prstGeom>
          </p:spPr>
          <p:txBody>
            <a:bodyPr lIns="19754" tIns="19754" rIns="19754" bIns="19754" rtlCol="0" anchor="ctr"/>
            <a:lstStyle/>
            <a:p>
              <a:pPr algn="ctr">
                <a:lnSpc>
                  <a:spcPts val="2659"/>
                </a:lnSpc>
              </a:pPr>
              <a:endParaRPr/>
            </a:p>
          </p:txBody>
        </p:sp>
      </p:grpSp>
      <p:sp>
        <p:nvSpPr>
          <p:cNvPr id="21" name="TextBox 21"/>
          <p:cNvSpPr txBox="1"/>
          <p:nvPr/>
        </p:nvSpPr>
        <p:spPr>
          <a:xfrm>
            <a:off x="9032564" y="3970186"/>
            <a:ext cx="8007466" cy="3714749"/>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Topik-topik yang dihasilkan memiliki koherensi semantik yang jelas dan mencerminkan tema-tema seperti ketuhanan, kenabian, keimanan, akhlak, eskatologi (hari kiamat, surga, dan neraka), ilmu pengetahuan (science), sosial, dan hukum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08804"/>
            <a:ext cx="9144000" cy="560871"/>
            <a:chOff x="0" y="0"/>
            <a:chExt cx="2408296" cy="147719"/>
          </a:xfrm>
        </p:grpSpPr>
        <p:sp>
          <p:nvSpPr>
            <p:cNvPr id="3" name="Freeform 3"/>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4" name="TextBox 4"/>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2180455"/>
            <a:ext cx="16230600" cy="137058"/>
            <a:chOff x="0" y="0"/>
            <a:chExt cx="21640800" cy="182743"/>
          </a:xfrm>
        </p:grpSpPr>
        <p:grpSp>
          <p:nvGrpSpPr>
            <p:cNvPr id="6" name="Group 6"/>
            <p:cNvGrpSpPr/>
            <p:nvPr/>
          </p:nvGrpSpPr>
          <p:grpSpPr>
            <a:xfrm>
              <a:off x="0" y="0"/>
              <a:ext cx="10820400" cy="182743"/>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820400" y="0"/>
              <a:ext cx="10820400" cy="182743"/>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2"/>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extLst>
              <p:ext uri="{D42A27DB-BD31-4B8C-83A1-F6EECF244321}">
                <p14:modId xmlns:p14="http://schemas.microsoft.com/office/powerpoint/2010/main" val="2484431996"/>
              </p:ext>
            </p:extLst>
          </p:nvPr>
        </p:nvGraphicFramePr>
        <p:xfrm>
          <a:off x="2133600" y="2422809"/>
          <a:ext cx="14773275" cy="7543800"/>
        </p:xfrm>
        <a:graphic>
          <a:graphicData uri="http://schemas.openxmlformats.org/presentationml/2006/ole">
            <mc:AlternateContent xmlns:mc="http://schemas.openxmlformats.org/markup-compatibility/2006">
              <mc:Choice xmlns:v="urn:schemas-microsoft-com:vml" Requires="v">
                <p:oleObj name="Worksheet" r:id="rId3" imgW="17716500" imgH="10490200" progId="Excel.Sheet.12">
                  <p:embed/>
                </p:oleObj>
              </mc:Choice>
              <mc:Fallback>
                <p:oleObj name="Worksheet" r:id="rId3" imgW="17716500" imgH="10490200" progId="Excel.Sheet.12">
                  <p:embed/>
                  <p:pic>
                    <p:nvPicPr>
                      <p:cNvPr id="0" name=""/>
                      <p:cNvPicPr/>
                      <p:nvPr/>
                    </p:nvPicPr>
                    <p:blipFill>
                      <a:blip r:embed="rId4"/>
                      <a:stretch>
                        <a:fillRect/>
                      </a:stretch>
                    </p:blipFill>
                    <p:spPr>
                      <a:xfrm>
                        <a:off x="2133600" y="2422809"/>
                        <a:ext cx="14773275" cy="7543800"/>
                      </a:xfrm>
                      <a:prstGeom prst="rect">
                        <a:avLst/>
                      </a:prstGeom>
                    </p:spPr>
                  </p:pic>
                </p:oleObj>
              </mc:Fallback>
            </mc:AlternateContent>
          </a:graphicData>
        </a:graphic>
      </p:graphicFrame>
      <p:sp>
        <p:nvSpPr>
          <p:cNvPr id="17" name="TextBox 17"/>
          <p:cNvSpPr txBox="1"/>
          <p:nvPr/>
        </p:nvSpPr>
        <p:spPr>
          <a:xfrm>
            <a:off x="1028700" y="1219912"/>
            <a:ext cx="15290653" cy="862867"/>
          </a:xfrm>
          <a:prstGeom prst="rect">
            <a:avLst/>
          </a:prstGeom>
        </p:spPr>
        <p:txBody>
          <a:bodyPr lIns="0" tIns="0" rIns="0" bIns="0" rtlCol="0" anchor="t">
            <a:spAutoFit/>
          </a:bodyPr>
          <a:lstStyle/>
          <a:p>
            <a:pPr algn="l">
              <a:lnSpc>
                <a:spcPts val="7040"/>
              </a:lnSpc>
              <a:spcBef>
                <a:spcPct val="0"/>
              </a:spcBef>
            </a:pPr>
            <a:r>
              <a:rPr lang="en-US" sz="5028" b="1">
                <a:solidFill>
                  <a:srgbClr val="1800AD"/>
                </a:solidFill>
                <a:latin typeface="Archivo Narrow Bold"/>
                <a:ea typeface="Archivo Narrow Bold"/>
                <a:cs typeface="Archivo Narrow Bold"/>
                <a:sym typeface="Archivo Narrow Bold"/>
              </a:rPr>
              <a:t>Penggabungan hasil topik model CTM dan BERTopic</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19 | BERTopic Model</a:t>
            </a:r>
          </a:p>
        </p:txBody>
      </p:sp>
      <p:sp>
        <p:nvSpPr>
          <p:cNvPr id="19" name="TextBox 19"/>
          <p:cNvSpPr txBox="1"/>
          <p:nvPr/>
        </p:nvSpPr>
        <p:spPr>
          <a:xfrm>
            <a:off x="6540484" y="2520485"/>
            <a:ext cx="4267084" cy="505508"/>
          </a:xfrm>
          <a:prstGeom prst="rect">
            <a:avLst/>
          </a:prstGeom>
        </p:spPr>
        <p:txBody>
          <a:bodyPr lIns="0" tIns="0" rIns="0" bIns="0" rtlCol="0" anchor="t">
            <a:spAutoFit/>
          </a:bodyPr>
          <a:lstStyle/>
          <a:p>
            <a:pPr algn="ctr">
              <a:lnSpc>
                <a:spcPts val="4162"/>
              </a:lnSpc>
            </a:pPr>
            <a:r>
              <a:rPr lang="en-US" sz="2973" b="1" dirty="0">
                <a:solidFill>
                  <a:srgbClr val="000000"/>
                </a:solidFill>
                <a:latin typeface="Canva Sans Bold"/>
                <a:ea typeface="Canva Sans Bold"/>
                <a:cs typeface="Canva Sans Bold"/>
                <a:sym typeface="Canva Sans Bold"/>
              </a:rPr>
              <a:t>Jaccard similarity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aphicFrame>
        <p:nvGraphicFramePr>
          <p:cNvPr id="16" name="Object 16"/>
          <p:cNvGraphicFramePr/>
          <p:nvPr/>
        </p:nvGraphicFramePr>
        <p:xfrm>
          <a:off x="2389763" y="2892592"/>
          <a:ext cx="7185280" cy="8229600"/>
        </p:xfrm>
        <a:graphic>
          <a:graphicData uri="http://schemas.openxmlformats.org/presentationml/2006/ole">
            <mc:AlternateContent xmlns:mc="http://schemas.openxmlformats.org/markup-compatibility/2006">
              <mc:Choice xmlns:v="urn:schemas-microsoft-com:vml" Requires="v">
                <p:oleObj name="Worksheet" r:id="rId4" imgW="8826500" imgH="9867900" progId="Excel.Sheet.12">
                  <p:embed/>
                </p:oleObj>
              </mc:Choice>
              <mc:Fallback>
                <p:oleObj name="Worksheet" r:id="rId4" imgW="8826500" imgH="9867900" progId="Excel.Sheet.12">
                  <p:embed/>
                  <p:pic>
                    <p:nvPicPr>
                      <p:cNvPr id="0" name=""/>
                      <p:cNvPicPr/>
                      <p:nvPr/>
                    </p:nvPicPr>
                    <p:blipFill>
                      <a:blip r:embed="rId5"/>
                      <a:stretch>
                        <a:fillRect/>
                      </a:stretch>
                    </p:blipFill>
                    <p:spPr>
                      <a:xfrm>
                        <a:off x="2389763" y="2892592"/>
                        <a:ext cx="7185280" cy="8229600"/>
                      </a:xfrm>
                      <a:prstGeom prst="rect">
                        <a:avLst/>
                      </a:prstGeom>
                    </p:spPr>
                  </p:pic>
                </p:oleObj>
              </mc:Fallback>
            </mc:AlternateContent>
          </a:graphicData>
        </a:graphic>
      </p:graphicFrame>
      <p:sp>
        <p:nvSpPr>
          <p:cNvPr id="17" name="TextBox 17"/>
          <p:cNvSpPr txBox="1"/>
          <p:nvPr/>
        </p:nvSpPr>
        <p:spPr>
          <a:xfrm>
            <a:off x="1028700" y="1210387"/>
            <a:ext cx="11543683" cy="2025684"/>
          </a:xfrm>
          <a:prstGeom prst="rect">
            <a:avLst/>
          </a:prstGeom>
        </p:spPr>
        <p:txBody>
          <a:bodyPr lIns="0" tIns="0" rIns="0" bIns="0" rtlCol="0" anchor="t">
            <a:spAutoFit/>
          </a:bodyPr>
          <a:lstStyle/>
          <a:p>
            <a:pPr algn="l">
              <a:lnSpc>
                <a:spcPts val="8160"/>
              </a:lnSpc>
            </a:pPr>
            <a:r>
              <a:rPr lang="en-US" sz="5828" b="1">
                <a:solidFill>
                  <a:srgbClr val="1800AD"/>
                </a:solidFill>
                <a:latin typeface="Archivo Narrow Bold"/>
                <a:ea typeface="Archivo Narrow Bold"/>
                <a:cs typeface="Archivo Narrow Bold"/>
                <a:sym typeface="Archivo Narrow Bold"/>
              </a:rPr>
              <a:t>Human Interpretability Analysis</a:t>
            </a:r>
          </a:p>
          <a:p>
            <a:pPr algn="l">
              <a:lnSpc>
                <a:spcPts val="8160"/>
              </a:lnSpc>
              <a:spcBef>
                <a:spcPct val="0"/>
              </a:spcBef>
            </a:pPr>
            <a:endParaRPr lang="en-US" sz="5828" b="1">
              <a:solidFill>
                <a:srgbClr val="1800AD"/>
              </a:solidFill>
              <a:latin typeface="Archivo Narrow Bold"/>
              <a:ea typeface="Archivo Narrow Bold"/>
              <a:cs typeface="Archivo Narrow Bold"/>
              <a:sym typeface="Archivo Narrow Bold"/>
            </a:endParaRP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20 | Correlated Topic 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20| </a:t>
            </a:r>
            <a:r>
              <a:rPr lang="en-US" sz="2400" b="1" dirty="0" err="1">
                <a:solidFill>
                  <a:srgbClr val="FF751F"/>
                </a:solidFill>
                <a:latin typeface="Calibri" pitchFamily="34" charset="0"/>
                <a:ea typeface="Calibri" pitchFamily="34" charset="-122"/>
                <a:cs typeface="Calibri" pitchFamily="34" charset="-120"/>
              </a:rPr>
              <a:t>Temuan</a:t>
            </a:r>
            <a:r>
              <a:rPr lang="en-US" sz="2400" b="1" dirty="0">
                <a:solidFill>
                  <a:srgbClr val="FF751F"/>
                </a:solidFill>
                <a:latin typeface="Calibri" pitchFamily="34" charset="0"/>
                <a:ea typeface="Calibri" pitchFamily="34" charset="-122"/>
                <a:cs typeface="Calibri" pitchFamily="34" charset="-120"/>
              </a:rPr>
              <a:t> Utama</a:t>
            </a:r>
            <a:endParaRPr lang="en-US" sz="24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2948940"/>
            <a:ext cx="5417820" cy="1851660"/>
          </a:xfrm>
          <a:prstGeom prst="roundRect">
            <a:avLst>
              <a:gd name="adj" fmla="val 2634"/>
            </a:avLst>
          </a:prstGeom>
          <a:solidFill>
            <a:srgbClr val="1800AD"/>
          </a:solidFill>
          <a:ln/>
        </p:spPr>
      </p:sp>
      <p:sp>
        <p:nvSpPr>
          <p:cNvPr id="12" name="Text 9"/>
          <p:cNvSpPr/>
          <p:nvPr/>
        </p:nvSpPr>
        <p:spPr>
          <a:xfrm>
            <a:off x="1028700" y="3336036"/>
            <a:ext cx="4869180" cy="754380"/>
          </a:xfrm>
          <a:prstGeom prst="rect">
            <a:avLst/>
          </a:prstGeom>
          <a:noFill/>
          <a:ln/>
        </p:spPr>
        <p:txBody>
          <a:bodyPr wrap="square" lIns="0" tIns="0" rIns="0" bIns="0" rtlCol="0" anchor="t"/>
          <a:lstStyle/>
          <a:p>
            <a:r>
              <a:rPr lang="en-US" sz="2175" b="1" dirty="0">
                <a:solidFill>
                  <a:srgbClr val="FFFFFF"/>
                </a:solidFill>
                <a:latin typeface="Calibri" pitchFamily="34" charset="0"/>
                <a:ea typeface="Calibri" pitchFamily="34" charset="-122"/>
                <a:cs typeface="Calibri" pitchFamily="34" charset="-120"/>
              </a:rPr>
              <a:t>Aqidah (Keimanan)</a:t>
            </a:r>
            <a:endParaRPr lang="en-US" sz="2175" dirty="0"/>
          </a:p>
        </p:txBody>
      </p:sp>
      <p:sp>
        <p:nvSpPr>
          <p:cNvPr id="13" name="Text 10"/>
          <p:cNvSpPr/>
          <p:nvPr/>
        </p:nvSpPr>
        <p:spPr>
          <a:xfrm>
            <a:off x="1028700" y="3977640"/>
            <a:ext cx="4869180" cy="685800"/>
          </a:xfrm>
          <a:prstGeom prst="rect">
            <a:avLst/>
          </a:prstGeom>
          <a:noFill/>
          <a:ln/>
        </p:spPr>
        <p:txBody>
          <a:bodyPr wrap="square" lIns="0" tIns="0" rIns="0" bIns="0" rtlCol="0" anchor="ctr"/>
          <a:lstStyle/>
          <a:p>
            <a:r>
              <a:rPr lang="en-US" sz="3000" b="1" dirty="0">
                <a:solidFill>
                  <a:srgbClr val="FFDE59"/>
                </a:solidFill>
                <a:latin typeface="Calibri" pitchFamily="34" charset="0"/>
                <a:ea typeface="Calibri" pitchFamily="34" charset="-122"/>
                <a:cs typeface="Calibri" pitchFamily="34" charset="-120"/>
              </a:rPr>
              <a:t>12 topik</a:t>
            </a:r>
            <a:endParaRPr lang="en-US" sz="3000" dirty="0"/>
          </a:p>
        </p:txBody>
      </p:sp>
      <p:sp>
        <p:nvSpPr>
          <p:cNvPr id="14" name="Text 11"/>
          <p:cNvSpPr/>
          <p:nvPr/>
        </p:nvSpPr>
        <p:spPr>
          <a:xfrm>
            <a:off x="1028700" y="3017520"/>
            <a:ext cx="4869180" cy="342900"/>
          </a:xfrm>
          <a:prstGeom prst="rect">
            <a:avLst/>
          </a:prstGeom>
          <a:noFill/>
          <a:ln/>
        </p:spPr>
        <p:txBody>
          <a:bodyPr wrap="square" lIns="0" tIns="0" rIns="0" bIns="0" rtlCol="0" anchor="ctr"/>
          <a:lstStyle/>
          <a:p>
            <a:r>
              <a:rPr lang="en-US" sz="1350" b="1" dirty="0">
                <a:solidFill>
                  <a:srgbClr val="5CE1E6"/>
                </a:solidFill>
                <a:latin typeface="Calibri" pitchFamily="34" charset="0"/>
                <a:ea typeface="Calibri" pitchFamily="34" charset="-122"/>
                <a:cs typeface="Calibri" pitchFamily="34" charset="-120"/>
              </a:rPr>
              <a:t>TEMA DOMINAN</a:t>
            </a:r>
            <a:endParaRPr lang="en-US" sz="1350" dirty="0"/>
          </a:p>
        </p:txBody>
      </p:sp>
      <p:sp>
        <p:nvSpPr>
          <p:cNvPr id="15" name="Shape 12"/>
          <p:cNvSpPr/>
          <p:nvPr/>
        </p:nvSpPr>
        <p:spPr>
          <a:xfrm>
            <a:off x="6377940" y="2948940"/>
            <a:ext cx="5417820" cy="1851660"/>
          </a:xfrm>
          <a:prstGeom prst="roundRect">
            <a:avLst>
              <a:gd name="adj" fmla="val 5926"/>
            </a:avLst>
          </a:prstGeom>
          <a:solidFill>
            <a:srgbClr val="FF751F"/>
          </a:solidFill>
          <a:ln/>
        </p:spPr>
      </p:sp>
      <p:sp>
        <p:nvSpPr>
          <p:cNvPr id="16" name="Text 13"/>
          <p:cNvSpPr/>
          <p:nvPr/>
        </p:nvSpPr>
        <p:spPr>
          <a:xfrm>
            <a:off x="6652260" y="3276600"/>
            <a:ext cx="4869180" cy="754380"/>
          </a:xfrm>
          <a:prstGeom prst="rect">
            <a:avLst/>
          </a:prstGeom>
          <a:noFill/>
          <a:ln/>
        </p:spPr>
        <p:txBody>
          <a:bodyPr wrap="square" lIns="0" tIns="0" rIns="0" bIns="0" rtlCol="0" anchor="t"/>
          <a:lstStyle/>
          <a:p>
            <a:r>
              <a:rPr lang="en-US" sz="2175" b="1" dirty="0">
                <a:solidFill>
                  <a:srgbClr val="FFFFFF"/>
                </a:solidFill>
                <a:latin typeface="Calibri" pitchFamily="34" charset="0"/>
                <a:ea typeface="Calibri" pitchFamily="34" charset="-122"/>
                <a:cs typeface="Calibri" pitchFamily="34" charset="-120"/>
              </a:rPr>
              <a:t>Eskatologi (Akhirat)</a:t>
            </a:r>
            <a:endParaRPr lang="en-US" sz="2175" dirty="0"/>
          </a:p>
        </p:txBody>
      </p:sp>
      <p:sp>
        <p:nvSpPr>
          <p:cNvPr id="17" name="Text 14"/>
          <p:cNvSpPr/>
          <p:nvPr/>
        </p:nvSpPr>
        <p:spPr>
          <a:xfrm>
            <a:off x="6652260" y="3977640"/>
            <a:ext cx="4869180" cy="685800"/>
          </a:xfrm>
          <a:prstGeom prst="rect">
            <a:avLst/>
          </a:prstGeom>
          <a:noFill/>
          <a:ln/>
        </p:spPr>
        <p:txBody>
          <a:bodyPr wrap="square" lIns="0" tIns="0" rIns="0" bIns="0" rtlCol="0" anchor="ctr"/>
          <a:lstStyle/>
          <a:p>
            <a:r>
              <a:rPr lang="en-US" sz="3000" b="1" dirty="0">
                <a:solidFill>
                  <a:srgbClr val="FFDE59"/>
                </a:solidFill>
                <a:latin typeface="Calibri" pitchFamily="34" charset="0"/>
                <a:ea typeface="Calibri" pitchFamily="34" charset="-122"/>
                <a:cs typeface="Calibri" pitchFamily="34" charset="-120"/>
              </a:rPr>
              <a:t>11 topik</a:t>
            </a:r>
            <a:endParaRPr lang="en-US" sz="3000" dirty="0"/>
          </a:p>
        </p:txBody>
      </p:sp>
      <p:sp>
        <p:nvSpPr>
          <p:cNvPr id="18" name="Text 15"/>
          <p:cNvSpPr/>
          <p:nvPr/>
        </p:nvSpPr>
        <p:spPr>
          <a:xfrm>
            <a:off x="6652260" y="3017520"/>
            <a:ext cx="4869180" cy="342900"/>
          </a:xfrm>
          <a:prstGeom prst="rect">
            <a:avLst/>
          </a:prstGeom>
          <a:noFill/>
          <a:ln/>
        </p:spPr>
        <p:txBody>
          <a:bodyPr wrap="square" lIns="0" tIns="0" rIns="0" bIns="0" rtlCol="0" anchor="ctr"/>
          <a:lstStyle/>
          <a:p>
            <a:r>
              <a:rPr lang="en-US" sz="1350" b="1" dirty="0">
                <a:solidFill>
                  <a:srgbClr val="5CE1E6"/>
                </a:solidFill>
                <a:latin typeface="Calibri" pitchFamily="34" charset="0"/>
                <a:ea typeface="Calibri" pitchFamily="34" charset="-122"/>
                <a:cs typeface="Calibri" pitchFamily="34" charset="-120"/>
              </a:rPr>
              <a:t>TEMA DOMINAN</a:t>
            </a:r>
            <a:endParaRPr lang="en-US" sz="1350" dirty="0"/>
          </a:p>
        </p:txBody>
      </p:sp>
      <p:sp>
        <p:nvSpPr>
          <p:cNvPr id="19" name="Shape 16"/>
          <p:cNvSpPr/>
          <p:nvPr/>
        </p:nvSpPr>
        <p:spPr>
          <a:xfrm>
            <a:off x="12001500" y="2948940"/>
            <a:ext cx="5417820" cy="1851660"/>
          </a:xfrm>
          <a:prstGeom prst="roundRect">
            <a:avLst>
              <a:gd name="adj" fmla="val 5926"/>
            </a:avLst>
          </a:prstGeom>
          <a:solidFill>
            <a:srgbClr val="F4F5FB"/>
          </a:solidFill>
          <a:ln/>
        </p:spPr>
      </p:sp>
      <p:sp>
        <p:nvSpPr>
          <p:cNvPr id="20" name="Text 17"/>
          <p:cNvSpPr/>
          <p:nvPr/>
        </p:nvSpPr>
        <p:spPr>
          <a:xfrm>
            <a:off x="12275820" y="3154680"/>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Akhlak (Moral &amp; Sikap)</a:t>
            </a:r>
            <a:endParaRPr lang="en-US" sz="2175" dirty="0"/>
          </a:p>
        </p:txBody>
      </p:sp>
      <p:sp>
        <p:nvSpPr>
          <p:cNvPr id="21" name="Text 18"/>
          <p:cNvSpPr/>
          <p:nvPr/>
        </p:nvSpPr>
        <p:spPr>
          <a:xfrm>
            <a:off x="12275820" y="3977640"/>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7 topik</a:t>
            </a:r>
            <a:endParaRPr lang="en-US" sz="3000" dirty="0"/>
          </a:p>
        </p:txBody>
      </p:sp>
      <p:sp>
        <p:nvSpPr>
          <p:cNvPr id="22" name="Shape 19"/>
          <p:cNvSpPr/>
          <p:nvPr/>
        </p:nvSpPr>
        <p:spPr>
          <a:xfrm>
            <a:off x="754380" y="5047488"/>
            <a:ext cx="5417820" cy="1851660"/>
          </a:xfrm>
          <a:prstGeom prst="roundRect">
            <a:avLst>
              <a:gd name="adj" fmla="val 5926"/>
            </a:avLst>
          </a:prstGeom>
          <a:solidFill>
            <a:srgbClr val="F4F5FB"/>
          </a:solidFill>
          <a:ln/>
        </p:spPr>
      </p:sp>
      <p:sp>
        <p:nvSpPr>
          <p:cNvPr id="23" name="Text 20"/>
          <p:cNvSpPr/>
          <p:nvPr/>
        </p:nvSpPr>
        <p:spPr>
          <a:xfrm>
            <a:off x="102870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Syariah (Hukum &amp; Ibadah)</a:t>
            </a:r>
            <a:endParaRPr lang="en-US" sz="2175" dirty="0"/>
          </a:p>
        </p:txBody>
      </p:sp>
      <p:sp>
        <p:nvSpPr>
          <p:cNvPr id="24" name="Text 21"/>
          <p:cNvSpPr/>
          <p:nvPr/>
        </p:nvSpPr>
        <p:spPr>
          <a:xfrm>
            <a:off x="102870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5 topik</a:t>
            </a:r>
            <a:endParaRPr lang="en-US" sz="3000" dirty="0"/>
          </a:p>
        </p:txBody>
      </p:sp>
      <p:sp>
        <p:nvSpPr>
          <p:cNvPr id="25" name="Shape 22"/>
          <p:cNvSpPr/>
          <p:nvPr/>
        </p:nvSpPr>
        <p:spPr>
          <a:xfrm>
            <a:off x="6377940" y="5047488"/>
            <a:ext cx="5417820" cy="1851660"/>
          </a:xfrm>
          <a:prstGeom prst="roundRect">
            <a:avLst>
              <a:gd name="adj" fmla="val 5926"/>
            </a:avLst>
          </a:prstGeom>
          <a:solidFill>
            <a:srgbClr val="F4F5FB"/>
          </a:solidFill>
          <a:ln/>
        </p:spPr>
      </p:sp>
      <p:sp>
        <p:nvSpPr>
          <p:cNvPr id="26" name="Text 23"/>
          <p:cNvSpPr/>
          <p:nvPr/>
        </p:nvSpPr>
        <p:spPr>
          <a:xfrm>
            <a:off x="665226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Alam (Kauniyah)</a:t>
            </a:r>
            <a:endParaRPr lang="en-US" sz="2175" dirty="0"/>
          </a:p>
        </p:txBody>
      </p:sp>
      <p:sp>
        <p:nvSpPr>
          <p:cNvPr id="27" name="Text 24"/>
          <p:cNvSpPr/>
          <p:nvPr/>
        </p:nvSpPr>
        <p:spPr>
          <a:xfrm>
            <a:off x="665226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5 topik</a:t>
            </a:r>
            <a:endParaRPr lang="en-US" sz="3000" dirty="0"/>
          </a:p>
        </p:txBody>
      </p:sp>
      <p:sp>
        <p:nvSpPr>
          <p:cNvPr id="28" name="Shape 25"/>
          <p:cNvSpPr/>
          <p:nvPr/>
        </p:nvSpPr>
        <p:spPr>
          <a:xfrm>
            <a:off x="12001500" y="5047488"/>
            <a:ext cx="5417820" cy="1851660"/>
          </a:xfrm>
          <a:prstGeom prst="roundRect">
            <a:avLst>
              <a:gd name="adj" fmla="val 5926"/>
            </a:avLst>
          </a:prstGeom>
          <a:solidFill>
            <a:srgbClr val="F4F5FB"/>
          </a:solidFill>
          <a:ln/>
        </p:spPr>
      </p:sp>
      <p:sp>
        <p:nvSpPr>
          <p:cNvPr id="29" name="Text 26"/>
          <p:cNvSpPr/>
          <p:nvPr/>
        </p:nvSpPr>
        <p:spPr>
          <a:xfrm>
            <a:off x="12275820" y="5253228"/>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Muamalah (Sosial)</a:t>
            </a:r>
            <a:endParaRPr lang="en-US" sz="2175" dirty="0"/>
          </a:p>
        </p:txBody>
      </p:sp>
      <p:sp>
        <p:nvSpPr>
          <p:cNvPr id="30" name="Text 27"/>
          <p:cNvSpPr/>
          <p:nvPr/>
        </p:nvSpPr>
        <p:spPr>
          <a:xfrm>
            <a:off x="12275820" y="6076188"/>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1" name="Shape 28"/>
          <p:cNvSpPr/>
          <p:nvPr/>
        </p:nvSpPr>
        <p:spPr>
          <a:xfrm>
            <a:off x="754380" y="7146036"/>
            <a:ext cx="5417820" cy="1851660"/>
          </a:xfrm>
          <a:prstGeom prst="roundRect">
            <a:avLst>
              <a:gd name="adj" fmla="val 5926"/>
            </a:avLst>
          </a:prstGeom>
          <a:solidFill>
            <a:srgbClr val="F4F5FB"/>
          </a:solidFill>
          <a:ln/>
        </p:spPr>
      </p:sp>
      <p:sp>
        <p:nvSpPr>
          <p:cNvPr id="32" name="Text 29"/>
          <p:cNvSpPr/>
          <p:nvPr/>
        </p:nvSpPr>
        <p:spPr>
          <a:xfrm>
            <a:off x="102870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Ilmu Pengetahuan (Science)</a:t>
            </a:r>
            <a:endParaRPr lang="en-US" sz="2175" dirty="0"/>
          </a:p>
        </p:txBody>
      </p:sp>
      <p:sp>
        <p:nvSpPr>
          <p:cNvPr id="33" name="Text 30"/>
          <p:cNvSpPr/>
          <p:nvPr/>
        </p:nvSpPr>
        <p:spPr>
          <a:xfrm>
            <a:off x="102870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4" name="Shape 31"/>
          <p:cNvSpPr/>
          <p:nvPr/>
        </p:nvSpPr>
        <p:spPr>
          <a:xfrm>
            <a:off x="6377940" y="7146036"/>
            <a:ext cx="5417820" cy="1851660"/>
          </a:xfrm>
          <a:prstGeom prst="roundRect">
            <a:avLst>
              <a:gd name="adj" fmla="val 5926"/>
            </a:avLst>
          </a:prstGeom>
          <a:solidFill>
            <a:srgbClr val="F4F5FB"/>
          </a:solidFill>
          <a:ln/>
        </p:spPr>
      </p:sp>
      <p:sp>
        <p:nvSpPr>
          <p:cNvPr id="35" name="Text 32"/>
          <p:cNvSpPr/>
          <p:nvPr/>
        </p:nvSpPr>
        <p:spPr>
          <a:xfrm>
            <a:off x="665226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History (Kisah Umat)</a:t>
            </a:r>
            <a:endParaRPr lang="en-US" sz="2175" dirty="0"/>
          </a:p>
        </p:txBody>
      </p:sp>
      <p:sp>
        <p:nvSpPr>
          <p:cNvPr id="36" name="Text 33"/>
          <p:cNvSpPr/>
          <p:nvPr/>
        </p:nvSpPr>
        <p:spPr>
          <a:xfrm>
            <a:off x="665226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3 topik</a:t>
            </a:r>
            <a:endParaRPr lang="en-US" sz="3000" dirty="0"/>
          </a:p>
        </p:txBody>
      </p:sp>
      <p:sp>
        <p:nvSpPr>
          <p:cNvPr id="37" name="Shape 34"/>
          <p:cNvSpPr/>
          <p:nvPr/>
        </p:nvSpPr>
        <p:spPr>
          <a:xfrm>
            <a:off x="12001500" y="7146036"/>
            <a:ext cx="5417820" cy="1851660"/>
          </a:xfrm>
          <a:prstGeom prst="roundRect">
            <a:avLst>
              <a:gd name="adj" fmla="val 5926"/>
            </a:avLst>
          </a:prstGeom>
          <a:solidFill>
            <a:srgbClr val="F4F5FB"/>
          </a:solidFill>
          <a:ln/>
        </p:spPr>
      </p:sp>
      <p:sp>
        <p:nvSpPr>
          <p:cNvPr id="38" name="Text 35"/>
          <p:cNvSpPr/>
          <p:nvPr/>
        </p:nvSpPr>
        <p:spPr>
          <a:xfrm>
            <a:off x="12275820" y="7351776"/>
            <a:ext cx="4869180" cy="754380"/>
          </a:xfrm>
          <a:prstGeom prst="rect">
            <a:avLst/>
          </a:prstGeom>
          <a:noFill/>
          <a:ln/>
        </p:spPr>
        <p:txBody>
          <a:bodyPr wrap="square" lIns="0" tIns="0" rIns="0" bIns="0" rtlCol="0" anchor="t"/>
          <a:lstStyle/>
          <a:p>
            <a:r>
              <a:rPr lang="en-US" sz="2175" b="1" dirty="0">
                <a:solidFill>
                  <a:srgbClr val="1800AD"/>
                </a:solidFill>
                <a:latin typeface="Calibri" pitchFamily="34" charset="0"/>
                <a:ea typeface="Calibri" pitchFamily="34" charset="-122"/>
                <a:cs typeface="Calibri" pitchFamily="34" charset="-120"/>
              </a:rPr>
              <a:t>Psikologis (Batin Manusia)</a:t>
            </a:r>
            <a:endParaRPr lang="en-US" sz="2175" dirty="0"/>
          </a:p>
        </p:txBody>
      </p:sp>
      <p:sp>
        <p:nvSpPr>
          <p:cNvPr id="39" name="Text 36"/>
          <p:cNvSpPr/>
          <p:nvPr/>
        </p:nvSpPr>
        <p:spPr>
          <a:xfrm>
            <a:off x="12275820" y="8174736"/>
            <a:ext cx="4869180" cy="685800"/>
          </a:xfrm>
          <a:prstGeom prst="rect">
            <a:avLst/>
          </a:prstGeom>
          <a:noFill/>
          <a:ln/>
        </p:spPr>
        <p:txBody>
          <a:bodyPr wrap="square" lIns="0" tIns="0" rIns="0" bIns="0" rtlCol="0" anchor="ctr"/>
          <a:lstStyle/>
          <a:p>
            <a:r>
              <a:rPr lang="en-US" sz="3000" b="1" dirty="0">
                <a:solidFill>
                  <a:srgbClr val="FF751F"/>
                </a:solidFill>
                <a:latin typeface="Calibri" pitchFamily="34" charset="0"/>
                <a:ea typeface="Calibri" pitchFamily="34" charset="-122"/>
                <a:cs typeface="Calibri" pitchFamily="34" charset="-120"/>
              </a:rPr>
              <a:t>1 topik</a:t>
            </a:r>
            <a:endParaRPr lang="en-US" sz="3000" dirty="0"/>
          </a:p>
        </p:txBody>
      </p:sp>
      <p:sp>
        <p:nvSpPr>
          <p:cNvPr id="40" name="Text 37"/>
          <p:cNvSpPr/>
          <p:nvPr/>
        </p:nvSpPr>
        <p:spPr>
          <a:xfrm>
            <a:off x="754380" y="9313164"/>
            <a:ext cx="16733520" cy="548640"/>
          </a:xfrm>
          <a:prstGeom prst="rect">
            <a:avLst/>
          </a:prstGeom>
          <a:noFill/>
          <a:ln/>
        </p:spPr>
        <p:txBody>
          <a:bodyPr wrap="square" lIns="0" tIns="0" rIns="0" bIns="0" rtlCol="0" anchor="ctr"/>
          <a:lstStyle/>
          <a:p>
            <a:r>
              <a:rPr lang="en-US" sz="1725" i="1" dirty="0">
                <a:solidFill>
                  <a:srgbClr val="666666"/>
                </a:solidFill>
                <a:latin typeface="Calibri" pitchFamily="34" charset="0"/>
                <a:ea typeface="Calibri" pitchFamily="34" charset="-122"/>
                <a:cs typeface="Calibri" pitchFamily="34" charset="-120"/>
              </a:rPr>
              <a:t>Total 50 topik BERTopic terpetakan ke 9 kategori tematik melalui interpretasi manusia berbasis kata kunci hasil penggabungan CTM + BERTopic (Jaccard Similarity).</a:t>
            </a:r>
            <a:endParaRPr lang="en-US" sz="1725" dirty="0"/>
          </a:p>
        </p:txBody>
      </p:sp>
      <p:sp>
        <p:nvSpPr>
          <p:cNvPr id="42" name="TextBox 17">
            <a:extLst>
              <a:ext uri="{FF2B5EF4-FFF2-40B4-BE49-F238E27FC236}">
                <a16:creationId xmlns:a16="http://schemas.microsoft.com/office/drawing/2014/main" id="{95562284-1EC6-0B44-2A56-EB56B9062F7F}"/>
              </a:ext>
            </a:extLst>
          </p:cNvPr>
          <p:cNvSpPr txBox="1"/>
          <p:nvPr/>
        </p:nvSpPr>
        <p:spPr>
          <a:xfrm>
            <a:off x="650748" y="921393"/>
            <a:ext cx="11468100" cy="996427"/>
          </a:xfrm>
          <a:prstGeom prst="rect">
            <a:avLst/>
          </a:prstGeom>
        </p:spPr>
        <p:txBody>
          <a:bodyPr wrap="square" lIns="0" tIns="0" rIns="0" bIns="0" rtlCol="0" anchor="t">
            <a:spAutoFit/>
          </a:bodyPr>
          <a:lstStyle/>
          <a:p>
            <a:pPr algn="l">
              <a:lnSpc>
                <a:spcPts val="8160"/>
              </a:lnSpc>
            </a:pPr>
            <a:r>
              <a:rPr lang="en-US" sz="5828" b="1" dirty="0">
                <a:solidFill>
                  <a:srgbClr val="1800AD"/>
                </a:solidFill>
                <a:latin typeface="Archivo Narrow Bold"/>
                <a:ea typeface="Archivo Narrow Bold"/>
                <a:cs typeface="Archivo Narrow Bold"/>
                <a:sym typeface="Archivo Narrow Bold"/>
              </a:rPr>
              <a:t>Human Interpretability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5434946" y="547167"/>
            <a:ext cx="6313412" cy="11932565"/>
          </a:xfrm>
          <a:custGeom>
            <a:avLst/>
            <a:gdLst/>
            <a:ahLst/>
            <a:cxnLst/>
            <a:rect l="l" t="t" r="r" b="b"/>
            <a:pathLst>
              <a:path w="6313412" h="11932565">
                <a:moveTo>
                  <a:pt x="0" y="11932565"/>
                </a:moveTo>
                <a:lnTo>
                  <a:pt x="6313412" y="11932565"/>
                </a:lnTo>
                <a:lnTo>
                  <a:pt x="6313412" y="0"/>
                </a:lnTo>
                <a:lnTo>
                  <a:pt x="0" y="0"/>
                </a:lnTo>
                <a:lnTo>
                  <a:pt x="0" y="11932565"/>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28700" y="3000781"/>
            <a:ext cx="8458954" cy="4416150"/>
          </a:xfrm>
          <a:custGeom>
            <a:avLst/>
            <a:gdLst/>
            <a:ahLst/>
            <a:cxnLst/>
            <a:rect l="l" t="t" r="r" b="b"/>
            <a:pathLst>
              <a:path w="8458954" h="4416150">
                <a:moveTo>
                  <a:pt x="0" y="0"/>
                </a:moveTo>
                <a:lnTo>
                  <a:pt x="8458954" y="0"/>
                </a:lnTo>
                <a:lnTo>
                  <a:pt x="8458954" y="4416150"/>
                </a:lnTo>
                <a:lnTo>
                  <a:pt x="0" y="4416150"/>
                </a:lnTo>
                <a:lnTo>
                  <a:pt x="0" y="0"/>
                </a:lnTo>
                <a:close/>
              </a:path>
            </a:pathLst>
          </a:custGeom>
          <a:blipFill>
            <a:blip r:embed="rId4"/>
            <a:stretch>
              <a:fillRect/>
            </a:stretch>
          </a:blipFill>
        </p:spPr>
      </p:sp>
      <p:sp>
        <p:nvSpPr>
          <p:cNvPr id="17" name="TextBox 17"/>
          <p:cNvSpPr txBox="1"/>
          <p:nvPr/>
        </p:nvSpPr>
        <p:spPr>
          <a:xfrm>
            <a:off x="1028700" y="1210387"/>
            <a:ext cx="11468100" cy="996427"/>
          </a:xfrm>
          <a:prstGeom prst="rect">
            <a:avLst/>
          </a:prstGeom>
        </p:spPr>
        <p:txBody>
          <a:bodyPr wrap="square" lIns="0" tIns="0" rIns="0" bIns="0" rtlCol="0" anchor="t">
            <a:spAutoFit/>
          </a:bodyPr>
          <a:lstStyle/>
          <a:p>
            <a:pPr algn="l">
              <a:lnSpc>
                <a:spcPts val="8160"/>
              </a:lnSpc>
            </a:pPr>
            <a:r>
              <a:rPr lang="en-US" sz="5828" b="1" dirty="0">
                <a:solidFill>
                  <a:srgbClr val="1800AD"/>
                </a:solidFill>
                <a:latin typeface="Archivo Narrow Bold"/>
                <a:ea typeface="Archivo Narrow Bold"/>
                <a:cs typeface="Archivo Narrow Bold"/>
                <a:sym typeface="Archivo Narrow Bold"/>
              </a:rPr>
              <a:t>Human Interpretability Analysis</a:t>
            </a:r>
          </a:p>
        </p:txBody>
      </p:sp>
      <p:sp>
        <p:nvSpPr>
          <p:cNvPr id="18" name="TextBox 18"/>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21 | Correlated Topic Model</a:t>
            </a:r>
          </a:p>
        </p:txBody>
      </p:sp>
      <p:grpSp>
        <p:nvGrpSpPr>
          <p:cNvPr id="19" name="Group 19"/>
          <p:cNvGrpSpPr/>
          <p:nvPr/>
        </p:nvGrpSpPr>
        <p:grpSpPr>
          <a:xfrm>
            <a:off x="9792944" y="3685979"/>
            <a:ext cx="7466356" cy="2574010"/>
            <a:chOff x="0" y="0"/>
            <a:chExt cx="5057019" cy="1743396"/>
          </a:xfrm>
        </p:grpSpPr>
        <p:sp>
          <p:nvSpPr>
            <p:cNvPr id="20" name="Freeform 20"/>
            <p:cNvSpPr/>
            <p:nvPr/>
          </p:nvSpPr>
          <p:spPr>
            <a:xfrm>
              <a:off x="0" y="0"/>
              <a:ext cx="5057019" cy="1743396"/>
            </a:xfrm>
            <a:custGeom>
              <a:avLst/>
              <a:gdLst/>
              <a:ahLst/>
              <a:cxnLst/>
              <a:rect l="l" t="t" r="r" b="b"/>
              <a:pathLst>
                <a:path w="5057019" h="1743396">
                  <a:moveTo>
                    <a:pt x="26960" y="0"/>
                  </a:moveTo>
                  <a:lnTo>
                    <a:pt x="5030059" y="0"/>
                  </a:lnTo>
                  <a:cubicBezTo>
                    <a:pt x="5037209" y="0"/>
                    <a:pt x="5044067" y="2840"/>
                    <a:pt x="5049122" y="7896"/>
                  </a:cubicBezTo>
                  <a:cubicBezTo>
                    <a:pt x="5054178" y="12952"/>
                    <a:pt x="5057019" y="19809"/>
                    <a:pt x="5057019" y="26960"/>
                  </a:cubicBezTo>
                  <a:lnTo>
                    <a:pt x="5057019" y="1716437"/>
                  </a:lnTo>
                  <a:cubicBezTo>
                    <a:pt x="5057019" y="1723587"/>
                    <a:pt x="5054178" y="1730444"/>
                    <a:pt x="5049122" y="1735500"/>
                  </a:cubicBezTo>
                  <a:cubicBezTo>
                    <a:pt x="5044067" y="1740556"/>
                    <a:pt x="5037209" y="1743396"/>
                    <a:pt x="5030059" y="1743396"/>
                  </a:cubicBezTo>
                  <a:lnTo>
                    <a:pt x="26960" y="1743396"/>
                  </a:lnTo>
                  <a:cubicBezTo>
                    <a:pt x="19809" y="1743396"/>
                    <a:pt x="12952" y="1740556"/>
                    <a:pt x="7896" y="1735500"/>
                  </a:cubicBezTo>
                  <a:cubicBezTo>
                    <a:pt x="2840" y="1730444"/>
                    <a:pt x="0" y="1723587"/>
                    <a:pt x="0" y="1716437"/>
                  </a:cubicBezTo>
                  <a:lnTo>
                    <a:pt x="0" y="26960"/>
                  </a:lnTo>
                  <a:cubicBezTo>
                    <a:pt x="0" y="19809"/>
                    <a:pt x="2840" y="12952"/>
                    <a:pt x="7896" y="7896"/>
                  </a:cubicBezTo>
                  <a:cubicBezTo>
                    <a:pt x="12952" y="2840"/>
                    <a:pt x="19809" y="0"/>
                    <a:pt x="26960" y="0"/>
                  </a:cubicBezTo>
                  <a:close/>
                </a:path>
              </a:pathLst>
            </a:custGeom>
            <a:solidFill>
              <a:srgbClr val="FFFFFF"/>
            </a:solidFill>
            <a:ln w="38100" cap="rnd">
              <a:solidFill>
                <a:srgbClr val="FF751F"/>
              </a:solidFill>
              <a:prstDash val="solid"/>
              <a:round/>
            </a:ln>
          </p:spPr>
        </p:sp>
        <p:sp>
          <p:nvSpPr>
            <p:cNvPr id="21" name="TextBox 21"/>
            <p:cNvSpPr txBox="1"/>
            <p:nvPr/>
          </p:nvSpPr>
          <p:spPr>
            <a:xfrm>
              <a:off x="0" y="-47625"/>
              <a:ext cx="5057019" cy="1791021"/>
            </a:xfrm>
            <a:prstGeom prst="rect">
              <a:avLst/>
            </a:prstGeom>
          </p:spPr>
          <p:txBody>
            <a:bodyPr lIns="19754" tIns="19754" rIns="19754" bIns="19754" rtlCol="0" anchor="ctr"/>
            <a:lstStyle/>
            <a:p>
              <a:pPr algn="ctr">
                <a:lnSpc>
                  <a:spcPts val="2659"/>
                </a:lnSpc>
              </a:pPr>
              <a:endParaRPr/>
            </a:p>
          </p:txBody>
        </p:sp>
      </p:grpSp>
      <p:sp>
        <p:nvSpPr>
          <p:cNvPr id="22" name="TextBox 22"/>
          <p:cNvSpPr txBox="1"/>
          <p:nvPr/>
        </p:nvSpPr>
        <p:spPr>
          <a:xfrm>
            <a:off x="10036875" y="4355739"/>
            <a:ext cx="5972225" cy="1126074"/>
          </a:xfrm>
          <a:prstGeom prst="rect">
            <a:avLst/>
          </a:prstGeom>
        </p:spPr>
        <p:txBody>
          <a:bodyPr lIns="0" tIns="0" rIns="0" bIns="0" rtlCol="0" anchor="t">
            <a:spAutoFit/>
          </a:bodyPr>
          <a:lstStyle/>
          <a:p>
            <a:pPr algn="ctr">
              <a:lnSpc>
                <a:spcPts val="3032"/>
              </a:lnSpc>
            </a:pPr>
            <a:r>
              <a:rPr lang="en-US" sz="2166" b="1">
                <a:solidFill>
                  <a:srgbClr val="000000"/>
                </a:solidFill>
                <a:latin typeface="Canva Sans Bold"/>
                <a:ea typeface="Canva Sans Bold"/>
                <a:cs typeface="Canva Sans Bold"/>
                <a:sym typeface="Canva Sans Bold"/>
              </a:rPr>
              <a:t>Contoh distribusi topik terhadap ayat pada tiga surat, yaitu Surat Al-Fatihah (Surat 1), Al-Baqarah (Surat 2), dan Ali Imran (Surat 3).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23|  Kontribusi Praktis</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Implementasi Aplikasi Web</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pic>
        <p:nvPicPr>
          <p:cNvPr id="11" name="Image 1" descr="assets/dashboard.png"/>
          <p:cNvPicPr>
            <a:picLocks noChangeAspect="1"/>
          </p:cNvPicPr>
          <p:nvPr/>
        </p:nvPicPr>
        <p:blipFill>
          <a:blip r:embed="rId4"/>
          <a:stretch>
            <a:fillRect/>
          </a:stretch>
        </p:blipFill>
        <p:spPr>
          <a:xfrm>
            <a:off x="754380" y="2948941"/>
            <a:ext cx="10424160" cy="4425080"/>
          </a:xfrm>
          <a:prstGeom prst="rect">
            <a:avLst/>
          </a:prstGeom>
        </p:spPr>
      </p:pic>
      <p:sp>
        <p:nvSpPr>
          <p:cNvPr id="12" name="Text 8"/>
          <p:cNvSpPr/>
          <p:nvPr/>
        </p:nvSpPr>
        <p:spPr>
          <a:xfrm>
            <a:off x="754380" y="7442600"/>
            <a:ext cx="10424160" cy="411480"/>
          </a:xfrm>
          <a:prstGeom prst="rect">
            <a:avLst/>
          </a:prstGeom>
          <a:noFill/>
          <a:ln/>
        </p:spPr>
        <p:txBody>
          <a:bodyPr wrap="square" lIns="0" tIns="0" rIns="0" bIns="0" rtlCol="0" anchor="ctr"/>
          <a:lstStyle/>
          <a:p>
            <a:pPr algn="ctr"/>
            <a:r>
              <a:rPr lang="en-US" sz="1575" i="1" dirty="0">
                <a:solidFill>
                  <a:srgbClr val="666666"/>
                </a:solidFill>
                <a:latin typeface="Calibri" pitchFamily="34" charset="0"/>
                <a:ea typeface="Calibri" pitchFamily="34" charset="-122"/>
                <a:cs typeface="Calibri" pitchFamily="34" charset="-120"/>
              </a:rPr>
              <a:t>Dashboard Login &amp; dashboard sistem</a:t>
            </a:r>
            <a:endParaRPr lang="en-US" sz="1575" dirty="0"/>
          </a:p>
        </p:txBody>
      </p:sp>
      <p:pic>
        <p:nvPicPr>
          <p:cNvPr id="13" name="Image 2" descr="assets/arsitektur.png"/>
          <p:cNvPicPr>
            <a:picLocks noChangeAspect="1"/>
          </p:cNvPicPr>
          <p:nvPr/>
        </p:nvPicPr>
        <p:blipFill>
          <a:blip r:embed="rId5"/>
          <a:stretch>
            <a:fillRect/>
          </a:stretch>
        </p:blipFill>
        <p:spPr>
          <a:xfrm>
            <a:off x="11452860" y="2948941"/>
            <a:ext cx="5623560" cy="3468764"/>
          </a:xfrm>
          <a:prstGeom prst="rect">
            <a:avLst/>
          </a:prstGeom>
        </p:spPr>
      </p:pic>
      <p:sp>
        <p:nvSpPr>
          <p:cNvPr id="14" name="Text 9"/>
          <p:cNvSpPr/>
          <p:nvPr/>
        </p:nvSpPr>
        <p:spPr>
          <a:xfrm>
            <a:off x="11452860" y="6486284"/>
            <a:ext cx="5623560" cy="411480"/>
          </a:xfrm>
          <a:prstGeom prst="rect">
            <a:avLst/>
          </a:prstGeom>
          <a:noFill/>
          <a:ln/>
        </p:spPr>
        <p:txBody>
          <a:bodyPr wrap="square" lIns="0" tIns="0" rIns="0" bIns="0" rtlCol="0" anchor="ctr"/>
          <a:lstStyle/>
          <a:p>
            <a:pPr algn="ctr"/>
            <a:r>
              <a:rPr lang="en-US" sz="1575" i="1" dirty="0">
                <a:solidFill>
                  <a:srgbClr val="666666"/>
                </a:solidFill>
                <a:latin typeface="Calibri" pitchFamily="34" charset="0"/>
                <a:ea typeface="Calibri" pitchFamily="34" charset="-122"/>
                <a:cs typeface="Calibri" pitchFamily="34" charset="-120"/>
              </a:rPr>
              <a:t>Arsitektur sistem</a:t>
            </a:r>
            <a:endParaRPr lang="en-US" sz="1575" dirty="0"/>
          </a:p>
        </p:txBody>
      </p:sp>
      <p:sp>
        <p:nvSpPr>
          <p:cNvPr id="15" name="Shape 10"/>
          <p:cNvSpPr/>
          <p:nvPr/>
        </p:nvSpPr>
        <p:spPr>
          <a:xfrm>
            <a:off x="11452860" y="7103504"/>
            <a:ext cx="5623560" cy="576072"/>
          </a:xfrm>
          <a:prstGeom prst="roundRect">
            <a:avLst>
              <a:gd name="adj" fmla="val 14286"/>
            </a:avLst>
          </a:prstGeom>
          <a:solidFill>
            <a:srgbClr val="EDF1FB"/>
          </a:solidFill>
          <a:ln/>
        </p:spPr>
      </p:sp>
      <p:sp>
        <p:nvSpPr>
          <p:cNvPr id="16" name="Text 11"/>
          <p:cNvSpPr/>
          <p:nvPr/>
        </p:nvSpPr>
        <p:spPr>
          <a:xfrm>
            <a:off x="11590020" y="71035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Frontend: HTML / CSS / Bootstrap</a:t>
            </a:r>
            <a:endParaRPr lang="en-US" sz="1650" dirty="0"/>
          </a:p>
        </p:txBody>
      </p:sp>
      <p:sp>
        <p:nvSpPr>
          <p:cNvPr id="17" name="Shape 12"/>
          <p:cNvSpPr/>
          <p:nvPr/>
        </p:nvSpPr>
        <p:spPr>
          <a:xfrm>
            <a:off x="11452860" y="7789304"/>
            <a:ext cx="5623560" cy="576072"/>
          </a:xfrm>
          <a:prstGeom prst="roundRect">
            <a:avLst>
              <a:gd name="adj" fmla="val 14286"/>
            </a:avLst>
          </a:prstGeom>
          <a:solidFill>
            <a:srgbClr val="EDF1FB"/>
          </a:solidFill>
          <a:ln/>
        </p:spPr>
      </p:sp>
      <p:sp>
        <p:nvSpPr>
          <p:cNvPr id="18" name="Text 13"/>
          <p:cNvSpPr/>
          <p:nvPr/>
        </p:nvSpPr>
        <p:spPr>
          <a:xfrm>
            <a:off x="11590020" y="77893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Backend: Flask (Python)</a:t>
            </a:r>
            <a:endParaRPr lang="en-US" sz="1650" dirty="0"/>
          </a:p>
        </p:txBody>
      </p:sp>
      <p:sp>
        <p:nvSpPr>
          <p:cNvPr id="19" name="Shape 14"/>
          <p:cNvSpPr/>
          <p:nvPr/>
        </p:nvSpPr>
        <p:spPr>
          <a:xfrm>
            <a:off x="11452860" y="8475104"/>
            <a:ext cx="5623560" cy="576072"/>
          </a:xfrm>
          <a:prstGeom prst="roundRect">
            <a:avLst>
              <a:gd name="adj" fmla="val 14286"/>
            </a:avLst>
          </a:prstGeom>
          <a:solidFill>
            <a:srgbClr val="EDF1FB"/>
          </a:solidFill>
          <a:ln/>
        </p:spPr>
      </p:sp>
      <p:sp>
        <p:nvSpPr>
          <p:cNvPr id="20" name="Text 15"/>
          <p:cNvSpPr/>
          <p:nvPr/>
        </p:nvSpPr>
        <p:spPr>
          <a:xfrm>
            <a:off x="11590020" y="84751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Database: MySQL</a:t>
            </a:r>
            <a:endParaRPr lang="en-US" sz="1650" dirty="0"/>
          </a:p>
        </p:txBody>
      </p:sp>
      <p:sp>
        <p:nvSpPr>
          <p:cNvPr id="21" name="Shape 16"/>
          <p:cNvSpPr/>
          <p:nvPr/>
        </p:nvSpPr>
        <p:spPr>
          <a:xfrm>
            <a:off x="11452860" y="9160904"/>
            <a:ext cx="5623560" cy="576072"/>
          </a:xfrm>
          <a:prstGeom prst="roundRect">
            <a:avLst>
              <a:gd name="adj" fmla="val 14286"/>
            </a:avLst>
          </a:prstGeom>
          <a:solidFill>
            <a:srgbClr val="EDF1FB"/>
          </a:solidFill>
          <a:ln/>
        </p:spPr>
      </p:sp>
      <p:sp>
        <p:nvSpPr>
          <p:cNvPr id="22" name="Text 17"/>
          <p:cNvSpPr/>
          <p:nvPr/>
        </p:nvSpPr>
        <p:spPr>
          <a:xfrm>
            <a:off x="11590020" y="9160904"/>
            <a:ext cx="5349240" cy="576072"/>
          </a:xfrm>
          <a:prstGeom prst="rect">
            <a:avLst/>
          </a:prstGeom>
          <a:noFill/>
          <a:ln/>
        </p:spPr>
        <p:txBody>
          <a:bodyPr wrap="square" lIns="0" tIns="0" rIns="0" bIns="0" rtlCol="0" anchor="ctr"/>
          <a:lstStyle/>
          <a:p>
            <a:r>
              <a:rPr lang="en-US" sz="1650" dirty="0">
                <a:solidFill>
                  <a:srgbClr val="1800AD"/>
                </a:solidFill>
                <a:latin typeface="Calibri" pitchFamily="34" charset="0"/>
                <a:ea typeface="Calibri" pitchFamily="34" charset="-122"/>
                <a:cs typeface="Calibri" pitchFamily="34" charset="-120"/>
              </a:rPr>
              <a:t>Model: CTM &amp; BERTopic terintegrasi</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REKOMENDASI 05  |  Refleksi Ilmiah</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Keterbatasan Penelitian</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1" name="Shape 8"/>
          <p:cNvSpPr/>
          <p:nvPr/>
        </p:nvSpPr>
        <p:spPr>
          <a:xfrm>
            <a:off x="754380" y="3017520"/>
            <a:ext cx="850392" cy="850392"/>
          </a:xfrm>
          <a:prstGeom prst="ellipse">
            <a:avLst/>
          </a:prstGeom>
          <a:solidFill>
            <a:srgbClr val="1800AD"/>
          </a:solidFill>
          <a:ln/>
        </p:spPr>
      </p:sp>
      <p:sp>
        <p:nvSpPr>
          <p:cNvPr id="12" name="Text 9"/>
          <p:cNvSpPr/>
          <p:nvPr/>
        </p:nvSpPr>
        <p:spPr>
          <a:xfrm>
            <a:off x="754380" y="301752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13" name="Shape 10"/>
          <p:cNvSpPr/>
          <p:nvPr/>
        </p:nvSpPr>
        <p:spPr>
          <a:xfrm>
            <a:off x="1851660" y="2907792"/>
            <a:ext cx="15636240" cy="1097280"/>
          </a:xfrm>
          <a:prstGeom prst="roundRect">
            <a:avLst>
              <a:gd name="adj" fmla="val 7500"/>
            </a:avLst>
          </a:prstGeom>
          <a:solidFill>
            <a:srgbClr val="F7F7F7"/>
          </a:solidFill>
          <a:ln/>
        </p:spPr>
      </p:sp>
      <p:sp>
        <p:nvSpPr>
          <p:cNvPr id="14" name="Text 11"/>
          <p:cNvSpPr/>
          <p:nvPr/>
        </p:nvSpPr>
        <p:spPr>
          <a:xfrm>
            <a:off x="2125980" y="290779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Proporsi outlier BERTopic masih cukup besar (≈ sepertiga dokumen), akibat sifat ayat yang multitematik dan pendek.</a:t>
            </a:r>
            <a:endParaRPr lang="en-US" sz="1950" dirty="0"/>
          </a:p>
        </p:txBody>
      </p:sp>
      <p:sp>
        <p:nvSpPr>
          <p:cNvPr id="15" name="Shape 12"/>
          <p:cNvSpPr/>
          <p:nvPr/>
        </p:nvSpPr>
        <p:spPr>
          <a:xfrm>
            <a:off x="754380" y="4457700"/>
            <a:ext cx="850392" cy="850392"/>
          </a:xfrm>
          <a:prstGeom prst="ellipse">
            <a:avLst/>
          </a:prstGeom>
          <a:solidFill>
            <a:srgbClr val="1800AD"/>
          </a:solidFill>
          <a:ln/>
        </p:spPr>
      </p:sp>
      <p:sp>
        <p:nvSpPr>
          <p:cNvPr id="16" name="Text 13"/>
          <p:cNvSpPr/>
          <p:nvPr/>
        </p:nvSpPr>
        <p:spPr>
          <a:xfrm>
            <a:off x="754380" y="445770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7" name="Shape 14"/>
          <p:cNvSpPr/>
          <p:nvPr/>
        </p:nvSpPr>
        <p:spPr>
          <a:xfrm>
            <a:off x="1851660" y="4347972"/>
            <a:ext cx="15636240" cy="1097280"/>
          </a:xfrm>
          <a:prstGeom prst="roundRect">
            <a:avLst>
              <a:gd name="adj" fmla="val 7500"/>
            </a:avLst>
          </a:prstGeom>
          <a:solidFill>
            <a:srgbClr val="F7F7F7"/>
          </a:solidFill>
          <a:ln/>
        </p:spPr>
      </p:sp>
      <p:sp>
        <p:nvSpPr>
          <p:cNvPr id="18" name="Text 15"/>
          <p:cNvSpPr/>
          <p:nvPr/>
        </p:nvSpPr>
        <p:spPr>
          <a:xfrm>
            <a:off x="2125980" y="434797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Nilai koherensi CTM (C_v = 0,517) dan BERTopic (C_v = 0,5735) masih tergolong SEDANG, belum tinggi.</a:t>
            </a:r>
            <a:endParaRPr lang="en-US" sz="1950" dirty="0"/>
          </a:p>
        </p:txBody>
      </p:sp>
      <p:sp>
        <p:nvSpPr>
          <p:cNvPr id="19" name="Shape 16"/>
          <p:cNvSpPr/>
          <p:nvPr/>
        </p:nvSpPr>
        <p:spPr>
          <a:xfrm>
            <a:off x="754380" y="5897880"/>
            <a:ext cx="850392" cy="850392"/>
          </a:xfrm>
          <a:prstGeom prst="ellipse">
            <a:avLst/>
          </a:prstGeom>
          <a:solidFill>
            <a:srgbClr val="1800AD"/>
          </a:solidFill>
          <a:ln/>
        </p:spPr>
      </p:sp>
      <p:sp>
        <p:nvSpPr>
          <p:cNvPr id="20" name="Text 17"/>
          <p:cNvSpPr/>
          <p:nvPr/>
        </p:nvSpPr>
        <p:spPr>
          <a:xfrm>
            <a:off x="754380" y="589788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21" name="Shape 18"/>
          <p:cNvSpPr/>
          <p:nvPr/>
        </p:nvSpPr>
        <p:spPr>
          <a:xfrm>
            <a:off x="1851660" y="5788152"/>
            <a:ext cx="15636240" cy="1097280"/>
          </a:xfrm>
          <a:prstGeom prst="roundRect">
            <a:avLst>
              <a:gd name="adj" fmla="val 7500"/>
            </a:avLst>
          </a:prstGeom>
          <a:solidFill>
            <a:srgbClr val="F7F7F7"/>
          </a:solidFill>
          <a:ln/>
        </p:spPr>
      </p:sp>
      <p:sp>
        <p:nvSpPr>
          <p:cNvPr id="22" name="Text 19"/>
          <p:cNvSpPr/>
          <p:nvPr/>
        </p:nvSpPr>
        <p:spPr>
          <a:xfrm>
            <a:off x="2125980" y="578815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Penelitian terbatas pada teks terjemahan Bahasa Indonesia, belum menyentuh teks asli berbahasa Arab.</a:t>
            </a:r>
            <a:endParaRPr lang="en-US" sz="1950" dirty="0"/>
          </a:p>
        </p:txBody>
      </p:sp>
      <p:sp>
        <p:nvSpPr>
          <p:cNvPr id="23" name="Shape 20"/>
          <p:cNvSpPr/>
          <p:nvPr/>
        </p:nvSpPr>
        <p:spPr>
          <a:xfrm>
            <a:off x="754380" y="7338060"/>
            <a:ext cx="850392" cy="850392"/>
          </a:xfrm>
          <a:prstGeom prst="ellipse">
            <a:avLst/>
          </a:prstGeom>
          <a:solidFill>
            <a:srgbClr val="1800AD"/>
          </a:solidFill>
          <a:ln/>
        </p:spPr>
      </p:sp>
      <p:sp>
        <p:nvSpPr>
          <p:cNvPr id="24" name="Text 21"/>
          <p:cNvSpPr/>
          <p:nvPr/>
        </p:nvSpPr>
        <p:spPr>
          <a:xfrm>
            <a:off x="754380" y="7338060"/>
            <a:ext cx="850392" cy="85039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25" name="Shape 22"/>
          <p:cNvSpPr/>
          <p:nvPr/>
        </p:nvSpPr>
        <p:spPr>
          <a:xfrm>
            <a:off x="1851660" y="7228332"/>
            <a:ext cx="15636240" cy="1097280"/>
          </a:xfrm>
          <a:prstGeom prst="roundRect">
            <a:avLst>
              <a:gd name="adj" fmla="val 7500"/>
            </a:avLst>
          </a:prstGeom>
          <a:solidFill>
            <a:srgbClr val="F7F7F7"/>
          </a:solidFill>
          <a:ln/>
        </p:spPr>
      </p:sp>
      <p:sp>
        <p:nvSpPr>
          <p:cNvPr id="26" name="Text 23"/>
          <p:cNvSpPr/>
          <p:nvPr/>
        </p:nvSpPr>
        <p:spPr>
          <a:xfrm>
            <a:off x="2125980" y="7228332"/>
            <a:ext cx="15087600" cy="1097280"/>
          </a:xfrm>
          <a:prstGeom prst="rect">
            <a:avLst/>
          </a:prstGeom>
          <a:noFill/>
          <a:ln/>
        </p:spPr>
        <p:txBody>
          <a:bodyPr wrap="square" lIns="0" tIns="0" rIns="0" bIns="0" rtlCol="0" anchor="ctr"/>
          <a:lstStyle/>
          <a:p>
            <a:r>
              <a:rPr lang="en-US" sz="1950" dirty="0">
                <a:solidFill>
                  <a:srgbClr val="222222"/>
                </a:solidFill>
                <a:latin typeface="Calibri" pitchFamily="34" charset="0"/>
                <a:ea typeface="Calibri" pitchFamily="34" charset="-122"/>
                <a:cs typeface="Calibri" pitchFamily="34" charset="-120"/>
              </a:rPr>
              <a:t>Interpretasi tema (Aqidah, Akhlak, dst.) masih melibatkan penilaian kualitatif oleh satu peneliti.</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6899734" y="5748474"/>
            <a:ext cx="6313412" cy="11932565"/>
          </a:xfrm>
          <a:custGeom>
            <a:avLst/>
            <a:gdLst/>
            <a:ahLst/>
            <a:cxnLst/>
            <a:rect l="l" t="t" r="r" b="b"/>
            <a:pathLst>
              <a:path w="6313412" h="11932565">
                <a:moveTo>
                  <a:pt x="0" y="11932564"/>
                </a:moveTo>
                <a:lnTo>
                  <a:pt x="6313412" y="11932564"/>
                </a:lnTo>
                <a:lnTo>
                  <a:pt x="6313412" y="0"/>
                </a:lnTo>
                <a:lnTo>
                  <a:pt x="0" y="0"/>
                </a:lnTo>
                <a:lnTo>
                  <a:pt x="0" y="11932564"/>
                </a:lnTo>
                <a:close/>
              </a:path>
            </a:pathLst>
          </a:custGeom>
          <a:blipFill>
            <a:blip>
              <a:alphaModFix amt="7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9708804"/>
            <a:ext cx="9144000" cy="560871"/>
            <a:chOff x="0" y="0"/>
            <a:chExt cx="2408296" cy="147719"/>
          </a:xfrm>
        </p:grpSpPr>
        <p:sp>
          <p:nvSpPr>
            <p:cNvPr id="4" name="Freeform 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1800AD"/>
            </a:solidFill>
          </p:spPr>
        </p:sp>
        <p:sp>
          <p:nvSpPr>
            <p:cNvPr id="5" name="TextBox 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8700" y="2479309"/>
            <a:ext cx="8115300" cy="137058"/>
            <a:chOff x="0" y="0"/>
            <a:chExt cx="2137363" cy="36097"/>
          </a:xfrm>
        </p:grpSpPr>
        <p:sp>
          <p:nvSpPr>
            <p:cNvPr id="7" name="Freeform 7"/>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8" name="TextBox 8"/>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144000" y="2479309"/>
            <a:ext cx="8115300" cy="137058"/>
            <a:chOff x="0" y="0"/>
            <a:chExt cx="2137363" cy="36097"/>
          </a:xfrm>
        </p:grpSpPr>
        <p:sp>
          <p:nvSpPr>
            <p:cNvPr id="10" name="Freeform 10"/>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11" name="TextBox 11"/>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487240" y="516545"/>
            <a:ext cx="1664226" cy="1616285"/>
          </a:xfrm>
          <a:custGeom>
            <a:avLst/>
            <a:gdLst/>
            <a:ahLst/>
            <a:cxnLst/>
            <a:rect l="l" t="t" r="r" b="b"/>
            <a:pathLst>
              <a:path w="1664226" h="1616285">
                <a:moveTo>
                  <a:pt x="0" y="0"/>
                </a:moveTo>
                <a:lnTo>
                  <a:pt x="1664226" y="0"/>
                </a:lnTo>
                <a:lnTo>
                  <a:pt x="1664226" y="1616285"/>
                </a:lnTo>
                <a:lnTo>
                  <a:pt x="0" y="1616285"/>
                </a:lnTo>
                <a:lnTo>
                  <a:pt x="0" y="0"/>
                </a:lnTo>
                <a:close/>
              </a:path>
            </a:pathLst>
          </a:custGeom>
          <a:blipFill>
            <a:blip r:embed="rId3"/>
            <a:stretch>
              <a:fillRect/>
            </a:stretch>
          </a:blipFill>
        </p:spPr>
      </p:sp>
      <p:grpSp>
        <p:nvGrpSpPr>
          <p:cNvPr id="13" name="Group 13"/>
          <p:cNvGrpSpPr/>
          <p:nvPr/>
        </p:nvGrpSpPr>
        <p:grpSpPr>
          <a:xfrm>
            <a:off x="9144000" y="9708804"/>
            <a:ext cx="9144000" cy="560871"/>
            <a:chOff x="0" y="0"/>
            <a:chExt cx="2408296" cy="147719"/>
          </a:xfrm>
        </p:grpSpPr>
        <p:sp>
          <p:nvSpPr>
            <p:cNvPr id="14" name="Freeform 14"/>
            <p:cNvSpPr/>
            <p:nvPr/>
          </p:nvSpPr>
          <p:spPr>
            <a:xfrm>
              <a:off x="0" y="0"/>
              <a:ext cx="2408296" cy="147719"/>
            </a:xfrm>
            <a:custGeom>
              <a:avLst/>
              <a:gdLst/>
              <a:ahLst/>
              <a:cxnLst/>
              <a:rect l="l" t="t" r="r" b="b"/>
              <a:pathLst>
                <a:path w="2408296" h="147719">
                  <a:moveTo>
                    <a:pt x="0" y="0"/>
                  </a:moveTo>
                  <a:lnTo>
                    <a:pt x="2408296" y="0"/>
                  </a:lnTo>
                  <a:lnTo>
                    <a:pt x="2408296" y="147719"/>
                  </a:lnTo>
                  <a:lnTo>
                    <a:pt x="0" y="147719"/>
                  </a:lnTo>
                  <a:close/>
                </a:path>
              </a:pathLst>
            </a:custGeom>
            <a:solidFill>
              <a:srgbClr val="FFDE59"/>
            </a:solidFill>
          </p:spPr>
        </p:sp>
        <p:sp>
          <p:nvSpPr>
            <p:cNvPr id="15" name="TextBox 15"/>
            <p:cNvSpPr txBox="1"/>
            <p:nvPr/>
          </p:nvSpPr>
          <p:spPr>
            <a:xfrm>
              <a:off x="0" y="-47625"/>
              <a:ext cx="2408296" cy="195344"/>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140233" y="1285638"/>
            <a:ext cx="11543683" cy="2025684"/>
          </a:xfrm>
          <a:prstGeom prst="rect">
            <a:avLst/>
          </a:prstGeom>
        </p:spPr>
        <p:txBody>
          <a:bodyPr lIns="0" tIns="0" rIns="0" bIns="0" rtlCol="0" anchor="t">
            <a:spAutoFit/>
          </a:bodyPr>
          <a:lstStyle/>
          <a:p>
            <a:pPr algn="l">
              <a:lnSpc>
                <a:spcPts val="8160"/>
              </a:lnSpc>
            </a:pPr>
            <a:r>
              <a:rPr lang="en-US" sz="5828" b="1" dirty="0">
                <a:solidFill>
                  <a:srgbClr val="1800AD"/>
                </a:solidFill>
                <a:latin typeface="Archivo Narrow Bold"/>
                <a:ea typeface="Archivo Narrow Bold"/>
                <a:cs typeface="Archivo Narrow Bold"/>
                <a:sym typeface="Archivo Narrow Bold"/>
              </a:rPr>
              <a:t>Human Interpretability Analysis</a:t>
            </a:r>
          </a:p>
          <a:p>
            <a:pPr algn="l">
              <a:lnSpc>
                <a:spcPts val="8160"/>
              </a:lnSpc>
              <a:spcBef>
                <a:spcPct val="0"/>
              </a:spcBef>
            </a:pPr>
            <a:endParaRPr lang="en-US" sz="5828" b="1" dirty="0">
              <a:solidFill>
                <a:srgbClr val="1800AD"/>
              </a:solidFill>
              <a:latin typeface="Archivo Narrow Bold"/>
              <a:ea typeface="Archivo Narrow Bold"/>
              <a:cs typeface="Archivo Narrow Bold"/>
              <a:sym typeface="Archivo Narrow Bold"/>
            </a:endParaRPr>
          </a:p>
        </p:txBody>
      </p:sp>
      <p:sp>
        <p:nvSpPr>
          <p:cNvPr id="17" name="TextBox 17"/>
          <p:cNvSpPr txBox="1"/>
          <p:nvPr/>
        </p:nvSpPr>
        <p:spPr>
          <a:xfrm>
            <a:off x="1028700" y="215814"/>
            <a:ext cx="10960228" cy="812886"/>
          </a:xfrm>
          <a:prstGeom prst="rect">
            <a:avLst/>
          </a:prstGeom>
        </p:spPr>
        <p:txBody>
          <a:bodyPr lIns="0" tIns="0" rIns="0" bIns="0" rtlCol="0" anchor="t">
            <a:spAutoFit/>
          </a:bodyPr>
          <a:lstStyle/>
          <a:p>
            <a:pPr algn="l">
              <a:lnSpc>
                <a:spcPts val="6645"/>
              </a:lnSpc>
              <a:spcBef>
                <a:spcPct val="0"/>
              </a:spcBef>
            </a:pPr>
            <a:r>
              <a:rPr lang="en-US" sz="4746" b="1">
                <a:solidFill>
                  <a:srgbClr val="FF751F"/>
                </a:solidFill>
                <a:latin typeface="Montserrat Bold"/>
                <a:ea typeface="Montserrat Bold"/>
                <a:cs typeface="Montserrat Bold"/>
                <a:sym typeface="Montserrat Bold"/>
              </a:rPr>
              <a:t>22 | Kesimpulan</a:t>
            </a:r>
          </a:p>
        </p:txBody>
      </p:sp>
      <p:sp>
        <p:nvSpPr>
          <p:cNvPr id="18" name="TextBox 18"/>
          <p:cNvSpPr txBox="1"/>
          <p:nvPr/>
        </p:nvSpPr>
        <p:spPr>
          <a:xfrm>
            <a:off x="1002433" y="3493247"/>
            <a:ext cx="16256867" cy="1289905"/>
          </a:xfrm>
          <a:prstGeom prst="rect">
            <a:avLst/>
          </a:prstGeom>
        </p:spPr>
        <p:txBody>
          <a:bodyPr lIns="0" tIns="0" rIns="0" bIns="0" rtlCol="0" anchor="t">
            <a:spAutoFit/>
          </a:bodyPr>
          <a:lstStyle/>
          <a:p>
            <a:pPr algn="ctr">
              <a:lnSpc>
                <a:spcPts val="3452"/>
              </a:lnSpc>
            </a:pPr>
            <a:r>
              <a:rPr lang="en-US" sz="2466" b="1">
                <a:solidFill>
                  <a:srgbClr val="000000"/>
                </a:solidFill>
                <a:latin typeface="Canva Sans Bold"/>
                <a:ea typeface="Canva Sans Bold"/>
                <a:cs typeface="Canva Sans Bold"/>
                <a:sym typeface="Canva Sans Bold"/>
              </a:rPr>
              <a:t>Secara keseluruhan model CTM mampu menghasilkan topik yang representatif meski dengan korelasi antar topik yang belum benar-benar optimal (berdasarkan nilai Cv = 0.517, NPMI= -0.226, Umass = -5.0661, UCI = -2.1370 dan Perplexity 1720.28)</a:t>
            </a:r>
          </a:p>
        </p:txBody>
      </p:sp>
      <p:sp>
        <p:nvSpPr>
          <p:cNvPr id="19" name="TextBox 19"/>
          <p:cNvSpPr txBox="1"/>
          <p:nvPr/>
        </p:nvSpPr>
        <p:spPr>
          <a:xfrm>
            <a:off x="1028700" y="5234272"/>
            <a:ext cx="16256867" cy="1325465"/>
          </a:xfrm>
          <a:prstGeom prst="rect">
            <a:avLst/>
          </a:prstGeom>
        </p:spPr>
        <p:txBody>
          <a:bodyPr lIns="0" tIns="0" rIns="0" bIns="0" rtlCol="0" anchor="t">
            <a:spAutoFit/>
          </a:bodyPr>
          <a:lstStyle/>
          <a:p>
            <a:pPr algn="ctr">
              <a:lnSpc>
                <a:spcPts val="3592"/>
              </a:lnSpc>
            </a:pPr>
            <a:r>
              <a:rPr lang="en-US" sz="2566" b="1">
                <a:solidFill>
                  <a:srgbClr val="000000"/>
                </a:solidFill>
                <a:latin typeface="Canva Sans Bold"/>
                <a:ea typeface="Canva Sans Bold"/>
                <a:cs typeface="Canva Sans Bold"/>
                <a:sym typeface="Canva Sans Bold"/>
              </a:rPr>
              <a:t>Model BERTopic mampu menghasilkan topik dengan koherensi semantik yang cukup baik dengan nilai 0.5735 (C_v &gt; 0,5), Nilai NPMI = 0.0530 yang bernilai positif menunjukkan bahwa terdapat asosiasi statistik yang bermakna antar kata dalam topik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033559" flipV="1">
            <a:off x="3863225" y="-4766268"/>
            <a:ext cx="9848495" cy="18613993"/>
          </a:xfrm>
          <a:custGeom>
            <a:avLst/>
            <a:gdLst/>
            <a:ahLst/>
            <a:cxnLst/>
            <a:rect l="l" t="t" r="r" b="b"/>
            <a:pathLst>
              <a:path w="9848495" h="18613993">
                <a:moveTo>
                  <a:pt x="0" y="18613994"/>
                </a:moveTo>
                <a:lnTo>
                  <a:pt x="9848494" y="18613994"/>
                </a:lnTo>
                <a:lnTo>
                  <a:pt x="9848494" y="0"/>
                </a:lnTo>
                <a:lnTo>
                  <a:pt x="0" y="0"/>
                </a:lnTo>
                <a:lnTo>
                  <a:pt x="0" y="18613994"/>
                </a:lnTo>
                <a:close/>
              </a:path>
            </a:pathLst>
          </a:custGeom>
          <a:blipFill>
            <a:blip>
              <a:alphaModFix amt="6999"/>
              <a:extLst>
                <a:ext uri="{96DAC541-7B7A-43D3-8B79-37D633B846F1}">
                  <asvg:svgBlip xmlns:asvg="http://schemas.microsoft.com/office/drawing/2016/SVG/main" r:embed="rId2"/>
                </a:ext>
              </a:extLst>
            </a:blip>
            <a:stretch>
              <a:fillRect/>
            </a:stretch>
          </a:blipFill>
        </p:spPr>
      </p:sp>
      <p:sp>
        <p:nvSpPr>
          <p:cNvPr id="3" name="Freeform 3"/>
          <p:cNvSpPr/>
          <p:nvPr/>
        </p:nvSpPr>
        <p:spPr>
          <a:xfrm>
            <a:off x="2341902"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946098"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028700" y="516545"/>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4632896" y="9371229"/>
            <a:ext cx="1313202" cy="434551"/>
          </a:xfrm>
          <a:custGeom>
            <a:avLst/>
            <a:gdLst/>
            <a:ahLst/>
            <a:cxnLst/>
            <a:rect l="l" t="t" r="r" b="b"/>
            <a:pathLst>
              <a:path w="1313202" h="434551">
                <a:moveTo>
                  <a:pt x="0" y="0"/>
                </a:moveTo>
                <a:lnTo>
                  <a:pt x="1313202" y="0"/>
                </a:lnTo>
                <a:lnTo>
                  <a:pt x="1313202" y="434550"/>
                </a:lnTo>
                <a:lnTo>
                  <a:pt x="0" y="43455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028700" y="3648296"/>
            <a:ext cx="16230600" cy="2625312"/>
            <a:chOff x="0" y="0"/>
            <a:chExt cx="4274726" cy="691440"/>
          </a:xfrm>
        </p:grpSpPr>
        <p:sp>
          <p:nvSpPr>
            <p:cNvPr id="8" name="Freeform 8"/>
            <p:cNvSpPr/>
            <p:nvPr/>
          </p:nvSpPr>
          <p:spPr>
            <a:xfrm>
              <a:off x="0" y="0"/>
              <a:ext cx="4274726" cy="691440"/>
            </a:xfrm>
            <a:custGeom>
              <a:avLst/>
              <a:gdLst/>
              <a:ahLst/>
              <a:cxnLst/>
              <a:rect l="l" t="t" r="r" b="b"/>
              <a:pathLst>
                <a:path w="4274726" h="691440">
                  <a:moveTo>
                    <a:pt x="0" y="0"/>
                  </a:moveTo>
                  <a:lnTo>
                    <a:pt x="4274726" y="0"/>
                  </a:lnTo>
                  <a:lnTo>
                    <a:pt x="4274726" y="691440"/>
                  </a:lnTo>
                  <a:lnTo>
                    <a:pt x="0" y="691440"/>
                  </a:lnTo>
                  <a:close/>
                </a:path>
              </a:pathLst>
            </a:custGeom>
            <a:solidFill>
              <a:srgbClr val="3C6295"/>
            </a:solidFill>
          </p:spPr>
        </p:sp>
        <p:sp>
          <p:nvSpPr>
            <p:cNvPr id="9" name="TextBox 9"/>
            <p:cNvSpPr txBox="1"/>
            <p:nvPr/>
          </p:nvSpPr>
          <p:spPr>
            <a:xfrm>
              <a:off x="0" y="-47625"/>
              <a:ext cx="4274726" cy="739065"/>
            </a:xfrm>
            <a:prstGeom prst="rect">
              <a:avLst/>
            </a:prstGeom>
          </p:spPr>
          <p:txBody>
            <a:bodyPr lIns="50800" tIns="50800" rIns="50800" bIns="50800" rtlCol="0" anchor="ctr"/>
            <a:lstStyle/>
            <a:p>
              <a:pPr algn="ctr">
                <a:lnSpc>
                  <a:spcPts val="2659"/>
                </a:lnSpc>
              </a:pPr>
              <a:endParaRPr>
                <a:highlight>
                  <a:srgbClr val="FFFF00"/>
                </a:highlight>
              </a:endParaRPr>
            </a:p>
          </p:txBody>
        </p:sp>
      </p:grpSp>
      <p:sp>
        <p:nvSpPr>
          <p:cNvPr id="16" name="TextBox 16"/>
          <p:cNvSpPr txBox="1"/>
          <p:nvPr/>
        </p:nvSpPr>
        <p:spPr>
          <a:xfrm>
            <a:off x="4604432" y="3391121"/>
            <a:ext cx="10413877" cy="2299217"/>
          </a:xfrm>
          <a:prstGeom prst="rect">
            <a:avLst/>
          </a:prstGeom>
        </p:spPr>
        <p:txBody>
          <a:bodyPr lIns="0" tIns="0" rIns="0" bIns="0" rtlCol="0" anchor="t">
            <a:spAutoFit/>
          </a:bodyPr>
          <a:lstStyle/>
          <a:p>
            <a:pPr algn="ctr">
              <a:lnSpc>
                <a:spcPts val="18878"/>
              </a:lnSpc>
              <a:spcBef>
                <a:spcPct val="0"/>
              </a:spcBef>
            </a:pPr>
            <a:r>
              <a:rPr lang="en-US" sz="13484" b="1" dirty="0" err="1">
                <a:solidFill>
                  <a:srgbClr val="FFFFFF"/>
                </a:solidFill>
                <a:latin typeface="Archivo Narrow Bold"/>
                <a:ea typeface="Archivo Narrow Bold"/>
                <a:cs typeface="Archivo Narrow Bold"/>
                <a:sym typeface="Archivo Narrow Bold"/>
              </a:rPr>
              <a:t>Terimakasih</a:t>
            </a:r>
            <a:endParaRPr lang="en-US" sz="13484" b="1" dirty="0">
              <a:solidFill>
                <a:srgbClr val="FFFFFF"/>
              </a:solidFill>
              <a:latin typeface="Archivo Narrow Bold"/>
              <a:ea typeface="Archivo Narrow Bold"/>
              <a:cs typeface="Archivo Narrow Bold"/>
              <a:sym typeface="Archivo Narrow Bold"/>
            </a:endParaRPr>
          </a:p>
        </p:txBody>
      </p:sp>
      <p:grpSp>
        <p:nvGrpSpPr>
          <p:cNvPr id="20" name="Group 9">
            <a:extLst>
              <a:ext uri="{FF2B5EF4-FFF2-40B4-BE49-F238E27FC236}">
                <a16:creationId xmlns:a16="http://schemas.microsoft.com/office/drawing/2014/main" id="{9836C6D6-414B-80BC-DBC0-44A0EEDDB8DC}"/>
              </a:ext>
            </a:extLst>
          </p:cNvPr>
          <p:cNvGrpSpPr/>
          <p:nvPr/>
        </p:nvGrpSpPr>
        <p:grpSpPr>
          <a:xfrm>
            <a:off x="9601200" y="1333500"/>
            <a:ext cx="8115300" cy="137058"/>
            <a:chOff x="0" y="0"/>
            <a:chExt cx="2137363" cy="36097"/>
          </a:xfrm>
        </p:grpSpPr>
        <p:sp>
          <p:nvSpPr>
            <p:cNvPr id="21" name="Freeform 10">
              <a:extLst>
                <a:ext uri="{FF2B5EF4-FFF2-40B4-BE49-F238E27FC236}">
                  <a16:creationId xmlns:a16="http://schemas.microsoft.com/office/drawing/2014/main" id="{0F83FDBB-916C-145C-DCE5-A15919895C0C}"/>
                </a:ext>
              </a:extLst>
            </p:cNvPr>
            <p:cNvSpPr/>
            <p:nvPr/>
          </p:nvSpPr>
          <p:spPr>
            <a:xfrm>
              <a:off x="0" y="0"/>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1800AD"/>
            </a:solidFill>
          </p:spPr>
        </p:sp>
        <p:sp>
          <p:nvSpPr>
            <p:cNvPr id="22" name="TextBox 11">
              <a:extLst>
                <a:ext uri="{FF2B5EF4-FFF2-40B4-BE49-F238E27FC236}">
                  <a16:creationId xmlns:a16="http://schemas.microsoft.com/office/drawing/2014/main" id="{C48EBB66-B018-E494-025F-737493D26662}"/>
                </a:ext>
              </a:extLst>
            </p:cNvPr>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grpSp>
        <p:nvGrpSpPr>
          <p:cNvPr id="23" name="Group 6">
            <a:extLst>
              <a:ext uri="{FF2B5EF4-FFF2-40B4-BE49-F238E27FC236}">
                <a16:creationId xmlns:a16="http://schemas.microsoft.com/office/drawing/2014/main" id="{4B9F312A-8671-864C-53DD-A75DB7EEEA73}"/>
              </a:ext>
            </a:extLst>
          </p:cNvPr>
          <p:cNvGrpSpPr/>
          <p:nvPr/>
        </p:nvGrpSpPr>
        <p:grpSpPr>
          <a:xfrm>
            <a:off x="1028700" y="1356361"/>
            <a:ext cx="8572501" cy="1260006"/>
            <a:chOff x="0" y="-295751"/>
            <a:chExt cx="2257778" cy="331848"/>
          </a:xfrm>
        </p:grpSpPr>
        <p:sp>
          <p:nvSpPr>
            <p:cNvPr id="24" name="Freeform 7">
              <a:extLst>
                <a:ext uri="{FF2B5EF4-FFF2-40B4-BE49-F238E27FC236}">
                  <a16:creationId xmlns:a16="http://schemas.microsoft.com/office/drawing/2014/main" id="{7F4AD406-32B5-B7C2-CCF6-9C5203AC05F3}"/>
                </a:ext>
              </a:extLst>
            </p:cNvPr>
            <p:cNvSpPr/>
            <p:nvPr/>
          </p:nvSpPr>
          <p:spPr>
            <a:xfrm>
              <a:off x="120415" y="-295751"/>
              <a:ext cx="2137363" cy="36097"/>
            </a:xfrm>
            <a:custGeom>
              <a:avLst/>
              <a:gdLst/>
              <a:ahLst/>
              <a:cxnLst/>
              <a:rect l="l" t="t" r="r" b="b"/>
              <a:pathLst>
                <a:path w="2137363" h="36097">
                  <a:moveTo>
                    <a:pt x="0" y="0"/>
                  </a:moveTo>
                  <a:lnTo>
                    <a:pt x="2137363" y="0"/>
                  </a:lnTo>
                  <a:lnTo>
                    <a:pt x="2137363" y="36097"/>
                  </a:lnTo>
                  <a:lnTo>
                    <a:pt x="0" y="36097"/>
                  </a:lnTo>
                  <a:close/>
                </a:path>
              </a:pathLst>
            </a:custGeom>
            <a:solidFill>
              <a:srgbClr val="FFDE59"/>
            </a:solidFill>
          </p:spPr>
        </p:sp>
        <p:sp>
          <p:nvSpPr>
            <p:cNvPr id="25" name="TextBox 8">
              <a:extLst>
                <a:ext uri="{FF2B5EF4-FFF2-40B4-BE49-F238E27FC236}">
                  <a16:creationId xmlns:a16="http://schemas.microsoft.com/office/drawing/2014/main" id="{10475774-DB31-4BBC-17B0-D7C157CF3C2C}"/>
                </a:ext>
              </a:extLst>
            </p:cNvPr>
            <p:cNvSpPr txBox="1"/>
            <p:nvPr/>
          </p:nvSpPr>
          <p:spPr>
            <a:xfrm>
              <a:off x="0" y="-47625"/>
              <a:ext cx="2137363" cy="8372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logo.png"/>
          <p:cNvPicPr>
            <a:picLocks noChangeAspect="1"/>
          </p:cNvPicPr>
          <p:nvPr/>
        </p:nvPicPr>
        <p:blipFill>
          <a:blip r:embed="rId3"/>
          <a:stretch>
            <a:fillRect/>
          </a:stretch>
        </p:blipFill>
        <p:spPr>
          <a:xfrm>
            <a:off x="16664940" y="384048"/>
            <a:ext cx="987552" cy="960120"/>
          </a:xfrm>
          <a:prstGeom prst="rect">
            <a:avLst/>
          </a:prstGeom>
        </p:spPr>
      </p:pic>
      <p:sp>
        <p:nvSpPr>
          <p:cNvPr id="3" name="Text 0"/>
          <p:cNvSpPr/>
          <p:nvPr/>
        </p:nvSpPr>
        <p:spPr>
          <a:xfrm>
            <a:off x="754380" y="411480"/>
            <a:ext cx="14401800" cy="548640"/>
          </a:xfrm>
          <a:prstGeom prst="rect">
            <a:avLst/>
          </a:prstGeom>
          <a:noFill/>
          <a:ln/>
        </p:spPr>
        <p:txBody>
          <a:bodyPr wrap="square" lIns="0" tIns="0" rIns="0" bIns="0" rtlCol="0" anchor="ctr"/>
          <a:lstStyle/>
          <a:p>
            <a:r>
              <a:rPr lang="en-US" sz="2400" b="1" dirty="0">
                <a:solidFill>
                  <a:srgbClr val="FF751F"/>
                </a:solidFill>
                <a:latin typeface="Calibri" pitchFamily="34" charset="0"/>
                <a:ea typeface="Calibri" pitchFamily="34" charset="-122"/>
                <a:cs typeface="Calibri" pitchFamily="34" charset="-120"/>
              </a:rPr>
              <a:t>REKOMENDASI 08  |  Persiapan Tanya-Jawab</a:t>
            </a:r>
            <a:endParaRPr lang="en-US" sz="2400" dirty="0"/>
          </a:p>
        </p:txBody>
      </p:sp>
      <p:sp>
        <p:nvSpPr>
          <p:cNvPr id="4" name="Text 1"/>
          <p:cNvSpPr/>
          <p:nvPr/>
        </p:nvSpPr>
        <p:spPr>
          <a:xfrm>
            <a:off x="754380" y="850392"/>
            <a:ext cx="15361920" cy="1028700"/>
          </a:xfrm>
          <a:prstGeom prst="rect">
            <a:avLst/>
          </a:prstGeom>
          <a:noFill/>
          <a:ln/>
        </p:spPr>
        <p:txBody>
          <a:bodyPr wrap="square" lIns="0" tIns="0" rIns="0" bIns="0" rtlCol="0" anchor="ctr"/>
          <a:lstStyle/>
          <a:p>
            <a:r>
              <a:rPr lang="en-US" sz="4200" b="1" dirty="0">
                <a:solidFill>
                  <a:srgbClr val="1800AD"/>
                </a:solidFill>
                <a:latin typeface="Calibri" pitchFamily="34" charset="0"/>
                <a:ea typeface="Calibri" pitchFamily="34" charset="-122"/>
                <a:cs typeface="Calibri" pitchFamily="34" charset="-120"/>
              </a:rPr>
              <a:t>Ringkasan Angka Penting (Slide Cadangan)</a:t>
            </a:r>
            <a:endParaRPr lang="en-US" sz="4200" dirty="0"/>
          </a:p>
        </p:txBody>
      </p:sp>
      <p:sp>
        <p:nvSpPr>
          <p:cNvPr id="5" name="Shape 2"/>
          <p:cNvSpPr/>
          <p:nvPr/>
        </p:nvSpPr>
        <p:spPr>
          <a:xfrm>
            <a:off x="754380" y="1947672"/>
            <a:ext cx="2331720" cy="82296"/>
          </a:xfrm>
          <a:prstGeom prst="rect">
            <a:avLst/>
          </a:prstGeom>
          <a:solidFill>
            <a:srgbClr val="FFDE59"/>
          </a:solidFill>
          <a:ln/>
        </p:spPr>
      </p:sp>
      <p:sp>
        <p:nvSpPr>
          <p:cNvPr id="6" name="Shape 3"/>
          <p:cNvSpPr/>
          <p:nvPr/>
        </p:nvSpPr>
        <p:spPr>
          <a:xfrm>
            <a:off x="3086100" y="1947672"/>
            <a:ext cx="14470380" cy="82296"/>
          </a:xfrm>
          <a:prstGeom prst="rect">
            <a:avLst/>
          </a:prstGeom>
          <a:solidFill>
            <a:srgbClr val="1800AD"/>
          </a:solidFill>
          <a:ln/>
        </p:spPr>
      </p:sp>
      <p:sp>
        <p:nvSpPr>
          <p:cNvPr id="7" name="Shape 4"/>
          <p:cNvSpPr/>
          <p:nvPr/>
        </p:nvSpPr>
        <p:spPr>
          <a:xfrm>
            <a:off x="0" y="9793224"/>
            <a:ext cx="14950440" cy="493776"/>
          </a:xfrm>
          <a:prstGeom prst="rect">
            <a:avLst/>
          </a:prstGeom>
          <a:solidFill>
            <a:srgbClr val="1800AD"/>
          </a:solidFill>
          <a:ln/>
        </p:spPr>
      </p:sp>
      <p:sp>
        <p:nvSpPr>
          <p:cNvPr id="8" name="Shape 5"/>
          <p:cNvSpPr/>
          <p:nvPr/>
        </p:nvSpPr>
        <p:spPr>
          <a:xfrm>
            <a:off x="14950441" y="9793224"/>
            <a:ext cx="3337103" cy="493776"/>
          </a:xfrm>
          <a:prstGeom prst="rect">
            <a:avLst/>
          </a:prstGeom>
          <a:solidFill>
            <a:srgbClr val="FFDE59"/>
          </a:solidFill>
          <a:ln/>
        </p:spPr>
      </p:sp>
      <p:sp>
        <p:nvSpPr>
          <p:cNvPr id="9" name="Text 6"/>
          <p:cNvSpPr/>
          <p:nvPr/>
        </p:nvSpPr>
        <p:spPr>
          <a:xfrm>
            <a:off x="14950440" y="9793224"/>
            <a:ext cx="3223260" cy="493776"/>
          </a:xfrm>
          <a:prstGeom prst="rect">
            <a:avLst/>
          </a:prstGeom>
          <a:noFill/>
          <a:ln/>
        </p:spPr>
        <p:txBody>
          <a:bodyPr wrap="square" lIns="0" tIns="0" rIns="0" bIns="0" rtlCol="0" anchor="ctr"/>
          <a:lstStyle/>
          <a:p>
            <a:pPr algn="ctr"/>
            <a:r>
              <a:rPr lang="en-US" sz="1350" b="1" dirty="0">
                <a:solidFill>
                  <a:srgbClr val="1800AD"/>
                </a:solidFill>
                <a:latin typeface="Calibri" pitchFamily="34" charset="0"/>
                <a:ea typeface="Calibri" pitchFamily="34" charset="-122"/>
                <a:cs typeface="Calibri" pitchFamily="34" charset="-120"/>
              </a:rPr>
              <a:t>UNIVERSITAS PAMULANG</a:t>
            </a:r>
            <a:endParaRPr lang="en-US" sz="1350" dirty="0"/>
          </a:p>
        </p:txBody>
      </p:sp>
      <p:sp>
        <p:nvSpPr>
          <p:cNvPr id="10" name="Text 7"/>
          <p:cNvSpPr/>
          <p:nvPr/>
        </p:nvSpPr>
        <p:spPr>
          <a:xfrm>
            <a:off x="754380" y="2221992"/>
            <a:ext cx="16322040" cy="548640"/>
          </a:xfrm>
          <a:prstGeom prst="rect">
            <a:avLst/>
          </a:prstGeom>
          <a:noFill/>
          <a:ln/>
        </p:spPr>
        <p:txBody>
          <a:bodyPr wrap="square" lIns="0" tIns="0" rIns="0" bIns="0" rtlCol="0" anchor="ctr"/>
          <a:lstStyle/>
          <a:p>
            <a:r>
              <a:rPr lang="en-US" i="1" dirty="0">
                <a:solidFill>
                  <a:srgbClr val="666666"/>
                </a:solidFill>
                <a:latin typeface="Calibri" pitchFamily="34" charset="0"/>
                <a:ea typeface="Calibri" pitchFamily="34" charset="-122"/>
                <a:cs typeface="Calibri" pitchFamily="34" charset="-120"/>
              </a:rPr>
              <a:t>Ditaruh setelah “Terima Kasih”, TIDAK ditampilkan kecuali penguji meminta detail angka — buka cepat saat sesi tanya jawab.</a:t>
            </a:r>
            <a:endParaRPr lang="en-US" dirty="0"/>
          </a:p>
        </p:txBody>
      </p:sp>
      <p:graphicFrame>
        <p:nvGraphicFramePr>
          <p:cNvPr id="11" name="Table 0"/>
          <p:cNvGraphicFramePr>
            <a:graphicFrameLocks noGrp="1"/>
          </p:cNvGraphicFramePr>
          <p:nvPr/>
        </p:nvGraphicFramePr>
        <p:xfrm>
          <a:off x="754380" y="2948940"/>
          <a:ext cx="16733520" cy="5184648"/>
        </p:xfrm>
        <a:graphic>
          <a:graphicData uri="http://schemas.openxmlformats.org/drawingml/2006/table">
            <a:tbl>
              <a:tblPr/>
              <a:tblGrid>
                <a:gridCol w="493776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gridCol w="5897880">
                  <a:extLst>
                    <a:ext uri="{9D8B030D-6E8A-4147-A177-3AD203B41FA5}">
                      <a16:colId xmlns:a16="http://schemas.microsoft.com/office/drawing/2014/main" val="20002"/>
                    </a:ext>
                  </a:extLst>
                </a:gridCol>
              </a:tblGrid>
              <a:tr h="576072">
                <a:tc>
                  <a:txBody>
                    <a:bodyPr/>
                    <a:lstStyle/>
                    <a:p>
                      <a:pPr marL="0" indent="0">
                        <a:buNone/>
                      </a:pPr>
                      <a:r>
                        <a:rPr lang="en-US" sz="1900" b="1" dirty="0">
                          <a:solidFill>
                            <a:srgbClr val="FFFFFF"/>
                          </a:solidFill>
                        </a:rPr>
                        <a:t>Metrik</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800AD"/>
                    </a:solidFill>
                  </a:tcPr>
                </a:tc>
                <a:tc>
                  <a:txBody>
                    <a:bodyPr/>
                    <a:lstStyle/>
                    <a:p>
                      <a:pPr marL="0" indent="0" algn="ctr">
                        <a:buNone/>
                      </a:pPr>
                      <a:r>
                        <a:rPr lang="en-US" sz="1900" b="1" dirty="0">
                          <a:solidFill>
                            <a:srgbClr val="FFFFFF"/>
                          </a:solidFill>
                        </a:rPr>
                        <a:t>CTM</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800AD"/>
                    </a:solidFill>
                  </a:tcPr>
                </a:tc>
                <a:tc>
                  <a:txBody>
                    <a:bodyPr/>
                    <a:lstStyle/>
                    <a:p>
                      <a:pPr marL="0" indent="0" algn="ctr">
                        <a:buNone/>
                      </a:pPr>
                      <a:r>
                        <a:rPr lang="en-US" sz="1900" b="1" dirty="0">
                          <a:solidFill>
                            <a:srgbClr val="FFFFFF"/>
                          </a:solidFill>
                        </a:rPr>
                        <a:t>BERTopic</a:t>
                      </a:r>
                      <a:endParaRPr lang="en-US" sz="19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751F"/>
                    </a:solidFill>
                  </a:tcPr>
                </a:tc>
                <a:extLst>
                  <a:ext uri="{0D108BD9-81ED-4DB2-BD59-A6C34878D82A}">
                    <a16:rowId xmlns:a16="http://schemas.microsoft.com/office/drawing/2014/main" val="10000"/>
                  </a:ext>
                </a:extLst>
              </a:tr>
              <a:tr h="576072">
                <a:tc>
                  <a:txBody>
                    <a:bodyPr/>
                    <a:lstStyle/>
                    <a:p>
                      <a:pPr marL="0" indent="0">
                        <a:buNone/>
                      </a:pPr>
                      <a:r>
                        <a:rPr lang="en-US" sz="1700" b="1" dirty="0">
                          <a:solidFill>
                            <a:srgbClr val="222222"/>
                          </a:solidFill>
                        </a:rPr>
                        <a:t>Parameter optimal</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K = 14</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min_topic_size = 25</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buNone/>
                      </a:pPr>
                      <a:r>
                        <a:rPr lang="en-US" sz="1700" b="1" dirty="0">
                          <a:solidFill>
                            <a:srgbClr val="222222"/>
                          </a:solidFill>
                        </a:rPr>
                        <a:t>C_v (Coherence)</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0,517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0,5735</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76072">
                <a:tc>
                  <a:txBody>
                    <a:bodyPr/>
                    <a:lstStyle/>
                    <a:p>
                      <a:pPr marL="0" indent="0">
                        <a:buNone/>
                      </a:pPr>
                      <a:r>
                        <a:rPr lang="en-US" sz="1700" b="1" dirty="0">
                          <a:solidFill>
                            <a:srgbClr val="222222"/>
                          </a:solidFill>
                        </a:rPr>
                        <a:t>NPMI</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-0,022 (-0,226 versi kesimpulan)</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0,0530</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buNone/>
                      </a:pPr>
                      <a:r>
                        <a:rPr lang="en-US" sz="1700" b="1" dirty="0">
                          <a:solidFill>
                            <a:srgbClr val="222222"/>
                          </a:solidFill>
                        </a:rPr>
                        <a:t>UMass</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-5,066</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-5,3257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76072">
                <a:tc>
                  <a:txBody>
                    <a:bodyPr/>
                    <a:lstStyle/>
                    <a:p>
                      <a:pPr marL="0" indent="0">
                        <a:buNone/>
                      </a:pPr>
                      <a:r>
                        <a:rPr lang="en-US" sz="1700" b="1" dirty="0">
                          <a:solidFill>
                            <a:srgbClr val="222222"/>
                          </a:solidFill>
                        </a:rPr>
                        <a:t>UCI</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-2,137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6072">
                <a:tc>
                  <a:txBody>
                    <a:bodyPr/>
                    <a:lstStyle/>
                    <a:p>
                      <a:pPr marL="0" indent="0">
                        <a:buNone/>
                      </a:pPr>
                      <a:r>
                        <a:rPr lang="en-US" sz="1700" b="1" dirty="0">
                          <a:solidFill>
                            <a:srgbClr val="222222"/>
                          </a:solidFill>
                        </a:rPr>
                        <a:t>Perplexity</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1720,28</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576072">
                <a:tc>
                  <a:txBody>
                    <a:bodyPr/>
                    <a:lstStyle/>
                    <a:p>
                      <a:pPr marL="0" indent="0">
                        <a:buNone/>
                      </a:pPr>
                      <a:r>
                        <a:rPr lang="en-US" sz="1700" b="1" dirty="0">
                          <a:solidFill>
                            <a:srgbClr val="222222"/>
                          </a:solidFill>
                        </a:rPr>
                        <a:t>Final Score / Composite</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0,64</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700" dirty="0">
                          <a:solidFill>
                            <a:srgbClr val="222222"/>
                          </a:solidFill>
                        </a:rPr>
                        <a:t>0,87</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76072">
                <a:tc>
                  <a:txBody>
                    <a:bodyPr/>
                    <a:lstStyle/>
                    <a:p>
                      <a:pPr marL="0" indent="0">
                        <a:buNone/>
                      </a:pPr>
                      <a:r>
                        <a:rPr lang="en-US" sz="1700" b="1" dirty="0">
                          <a:solidFill>
                            <a:srgbClr val="222222"/>
                          </a:solidFill>
                        </a:rPr>
                        <a:t>Jumlah topik terbentuk</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700" dirty="0">
                          <a:solidFill>
                            <a:srgbClr val="222222"/>
                          </a:solidFill>
                        </a:rPr>
                        <a:t>14 topik</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marL="0" indent="0">
                        <a:buNone/>
                      </a:pPr>
                      <a:r>
                        <a:rPr lang="en-US" sz="1700" dirty="0">
                          <a:solidFill>
                            <a:srgbClr val="222222"/>
                          </a:solidFill>
                        </a:rPr>
                        <a:t>39 / 47 / 50* (cek catatan)</a:t>
                      </a:r>
                      <a:endParaRPr lang="en-US" sz="1700" dirty="0"/>
                    </a:p>
                  </a:txBody>
                  <a:tcPr marL="137160" marR="137160" marT="68580" marB="6858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10008"/>
                  </a:ext>
                </a:extLst>
              </a:tr>
            </a:tbl>
          </a:graphicData>
        </a:graphic>
      </p:graphicFrame>
      <p:sp>
        <p:nvSpPr>
          <p:cNvPr id="12" name="Shape 8"/>
          <p:cNvSpPr/>
          <p:nvPr/>
        </p:nvSpPr>
        <p:spPr>
          <a:xfrm>
            <a:off x="754380" y="8641080"/>
            <a:ext cx="16733520" cy="1028700"/>
          </a:xfrm>
          <a:prstGeom prst="roundRect">
            <a:avLst>
              <a:gd name="adj" fmla="val 8000"/>
            </a:avLst>
          </a:prstGeom>
          <a:solidFill>
            <a:srgbClr val="FFF4E5"/>
          </a:solidFill>
          <a:ln/>
        </p:spPr>
      </p:sp>
      <p:sp>
        <p:nvSpPr>
          <p:cNvPr id="13" name="Text 9"/>
          <p:cNvSpPr/>
          <p:nvPr/>
        </p:nvSpPr>
        <p:spPr>
          <a:xfrm>
            <a:off x="1028700" y="8641080"/>
            <a:ext cx="16184880" cy="1028700"/>
          </a:xfrm>
          <a:prstGeom prst="rect">
            <a:avLst/>
          </a:prstGeom>
          <a:noFill/>
          <a:ln/>
        </p:spPr>
        <p:txBody>
          <a:bodyPr wrap="square" lIns="0" tIns="0" rIns="0" bIns="0" rtlCol="0" anchor="ctr"/>
          <a:lstStyle/>
          <a:p>
            <a:r>
              <a:rPr lang="en-US" sz="1575" i="1" dirty="0">
                <a:solidFill>
                  <a:srgbClr val="8A5A00"/>
                </a:solidFill>
                <a:latin typeface="Calibri" pitchFamily="34" charset="0"/>
                <a:ea typeface="Calibri" pitchFamily="34" charset="-122"/>
                <a:cs typeface="Calibri" pitchFamily="34" charset="-120"/>
              </a:rPr>
              <a:t>* Perlu diklarifikasi sebelum sidang: (a) jumlah token pada slide metodologi tertulis 75.940, sedangkan naskah tesis menyebut 75.490; (b) jumlah topik final BERTopic disebut berbeda-beda (39/47/50) di beberapa bagian — siapkan penjelasan singkat jika ditanya.</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2303</Words>
  <Application>Microsoft Office PowerPoint</Application>
  <PresentationFormat>Custom</PresentationFormat>
  <Paragraphs>385</Paragraphs>
  <Slides>29</Slides>
  <Notes>10</Notes>
  <HiddenSlides>1</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3" baseType="lpstr">
      <vt:lpstr>Montserrat</vt:lpstr>
      <vt:lpstr>Montserrat Bold</vt:lpstr>
      <vt:lpstr>Canva Sans</vt:lpstr>
      <vt:lpstr>Arimo Bold</vt:lpstr>
      <vt:lpstr>Antic</vt:lpstr>
      <vt:lpstr>Arial</vt:lpstr>
      <vt:lpstr>Canva Sans Bold</vt:lpstr>
      <vt:lpstr>Wingdings</vt:lpstr>
      <vt:lpstr>Calibri</vt:lpstr>
      <vt:lpstr>Archivo Narrow Bold</vt:lpstr>
      <vt:lpstr>Open Sauce Bold</vt:lpstr>
      <vt:lpstr>Antic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tesis</dc:title>
  <dc:creator>rido mr</dc:creator>
  <cp:lastModifiedBy>rido mr</cp:lastModifiedBy>
  <cp:revision>18</cp:revision>
  <dcterms:created xsi:type="dcterms:W3CDTF">2006-08-16T00:00:00Z</dcterms:created>
  <dcterms:modified xsi:type="dcterms:W3CDTF">2026-07-22T23:04:43Z</dcterms:modified>
  <dc:identifier>DAHLdvlc6Pk</dc:identifier>
</cp:coreProperties>
</file>