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rchivo Narrow Bold" charset="1" panose="020B0806020202020B04"/>
      <p:regular r:id="rId22"/>
    </p:embeddedFont>
    <p:embeddedFont>
      <p:font typeface="Open Sauce Bold" charset="1" panose="00000800000000000000"/>
      <p:regular r:id="rId23"/>
    </p:embeddedFont>
    <p:embeddedFont>
      <p:font typeface="Montserrat Bold" charset="1" panose="00000800000000000000"/>
      <p:regular r:id="rId24"/>
    </p:embeddedFont>
    <p:embeddedFont>
      <p:font typeface="Canva Sans Bold" charset="1" panose="020B0803030501040103"/>
      <p:regular r:id="rId25"/>
    </p:embeddedFont>
    <p:embeddedFont>
      <p:font typeface="Canva Sans" charset="1" panose="020B0503030501040103"/>
      <p:regular r:id="rId26"/>
    </p:embeddedFont>
    <p:embeddedFont>
      <p:font typeface="Montserrat" charset="1" panose="00000500000000000000"/>
      <p:regular r:id="rId27"/>
    </p:embeddedFont>
    <p:embeddedFont>
      <p:font typeface="Alegreya" charset="1" panose="00000500000000000000"/>
      <p:regular r:id="rId28"/>
    </p:embeddedFont>
    <p:embeddedFont>
      <p:font typeface="Alegreya Bold" charset="1" panose="000008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 Id="rId5" Target="../media/image7.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2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17" Target="../media/image43.png" Type="http://schemas.openxmlformats.org/officeDocument/2006/relationships/image"/><Relationship Id="rId18" Target="../media/image4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4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4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 Id="rId5"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7.jpeg" Type="http://schemas.openxmlformats.org/officeDocument/2006/relationships/image"/><Relationship Id="rId9" Target="../media/image4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9.jpeg" Type="http://schemas.openxmlformats.org/officeDocument/2006/relationships/image"/><Relationship Id="rId9" Target="../media/image5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jpeg" Type="http://schemas.openxmlformats.org/officeDocument/2006/relationships/image"/><Relationship Id="rId11" Target="../media/image55.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2.jpeg" Type="http://schemas.openxmlformats.org/officeDocument/2006/relationships/image"/><Relationship Id="rId9" Target="../media/image5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6.jpeg" Type="http://schemas.openxmlformats.org/officeDocument/2006/relationships/image"/><Relationship Id="rId9" Target="../media/image57.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8.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33559">
            <a:off x="4219753" y="-4163497"/>
            <a:ext cx="9848495" cy="18613993"/>
          </a:xfrm>
          <a:custGeom>
            <a:avLst/>
            <a:gdLst/>
            <a:ahLst/>
            <a:cxnLst/>
            <a:rect r="r" b="b" t="t" l="l"/>
            <a:pathLst>
              <a:path h="18613993" w="9848495">
                <a:moveTo>
                  <a:pt x="0" y="0"/>
                </a:moveTo>
                <a:lnTo>
                  <a:pt x="9848494" y="0"/>
                </a:lnTo>
                <a:lnTo>
                  <a:pt x="9848494" y="18613994"/>
                </a:lnTo>
                <a:lnTo>
                  <a:pt x="0" y="18613994"/>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28700" y="6632988"/>
            <a:ext cx="16230600" cy="2625312"/>
            <a:chOff x="0" y="0"/>
            <a:chExt cx="4274726" cy="691440"/>
          </a:xfrm>
        </p:grpSpPr>
        <p:sp>
          <p:nvSpPr>
            <p:cNvPr name="Freeform 6" id="6"/>
            <p:cNvSpPr/>
            <p:nvPr/>
          </p:nvSpPr>
          <p:spPr>
            <a:xfrm flipH="false" flipV="false" rot="0">
              <a:off x="0" y="0"/>
              <a:ext cx="4274726" cy="691440"/>
            </a:xfrm>
            <a:custGeom>
              <a:avLst/>
              <a:gdLst/>
              <a:ahLst/>
              <a:cxnLst/>
              <a:rect r="r" b="b" t="t" l="l"/>
              <a:pathLst>
                <a:path h="691440" w="4274726">
                  <a:moveTo>
                    <a:pt x="0" y="0"/>
                  </a:moveTo>
                  <a:lnTo>
                    <a:pt x="4274726" y="0"/>
                  </a:lnTo>
                  <a:lnTo>
                    <a:pt x="4274726" y="691440"/>
                  </a:lnTo>
                  <a:lnTo>
                    <a:pt x="0" y="691440"/>
                  </a:lnTo>
                  <a:close/>
                </a:path>
              </a:pathLst>
            </a:custGeom>
            <a:solidFill>
              <a:srgbClr val="FFDE59">
                <a:alpha val="27843"/>
              </a:srgbClr>
            </a:solidFill>
          </p:spPr>
        </p:sp>
        <p:sp>
          <p:nvSpPr>
            <p:cNvPr name="TextBox 7" id="7"/>
            <p:cNvSpPr txBox="true"/>
            <p:nvPr/>
          </p:nvSpPr>
          <p:spPr>
            <a:xfrm>
              <a:off x="0" y="-47625"/>
              <a:ext cx="4274726" cy="73906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975885" y="144357"/>
            <a:ext cx="16312115" cy="2062447"/>
          </a:xfrm>
          <a:prstGeom prst="rect">
            <a:avLst/>
          </a:prstGeom>
        </p:spPr>
        <p:txBody>
          <a:bodyPr anchor="t" rtlCol="false" tIns="0" lIns="0" bIns="0" rIns="0">
            <a:spAutoFit/>
          </a:bodyPr>
          <a:lstStyle/>
          <a:p>
            <a:pPr algn="ctr">
              <a:lnSpc>
                <a:spcPts val="5496"/>
              </a:lnSpc>
              <a:spcBef>
                <a:spcPct val="0"/>
              </a:spcBef>
            </a:pPr>
            <a:r>
              <a:rPr lang="en-US" b="true" sz="3926">
                <a:solidFill>
                  <a:srgbClr val="FF751F"/>
                </a:solidFill>
                <a:latin typeface="Archivo Narrow Bold"/>
                <a:ea typeface="Archivo Narrow Bold"/>
                <a:cs typeface="Archivo Narrow Bold"/>
                <a:sym typeface="Archivo Narrow Bold"/>
              </a:rPr>
              <a:t>ANALISIS </a:t>
            </a:r>
            <a:r>
              <a:rPr lang="en-US" b="true" sz="3926">
                <a:solidFill>
                  <a:srgbClr val="FF751F"/>
                </a:solidFill>
                <a:latin typeface="Archivo Narrow Bold"/>
                <a:ea typeface="Archivo Narrow Bold"/>
                <a:cs typeface="Archivo Narrow Bold"/>
                <a:sym typeface="Archivo Narrow Bold"/>
              </a:rPr>
              <a:t>PEMODELAN TOPIK PADA TEKS TERJEMAHAN AL-QUR’AN BERBAHASA INDONESIA DENGAN METODE CORRELATED TOPIC MODELING (CTM)  DAN BERTOPIC </a:t>
            </a:r>
          </a:p>
        </p:txBody>
      </p:sp>
      <p:sp>
        <p:nvSpPr>
          <p:cNvPr name="TextBox 9" id="9"/>
          <p:cNvSpPr txBox="true"/>
          <p:nvPr/>
        </p:nvSpPr>
        <p:spPr>
          <a:xfrm rot="0">
            <a:off x="6677528" y="6824627"/>
            <a:ext cx="5854846" cy="697929"/>
          </a:xfrm>
          <a:prstGeom prst="rect">
            <a:avLst/>
          </a:prstGeom>
        </p:spPr>
        <p:txBody>
          <a:bodyPr anchor="t" rtlCol="false" tIns="0" lIns="0" bIns="0" rIns="0">
            <a:spAutoFit/>
          </a:bodyPr>
          <a:lstStyle/>
          <a:p>
            <a:pPr algn="ctr">
              <a:lnSpc>
                <a:spcPts val="5659"/>
              </a:lnSpc>
              <a:spcBef>
                <a:spcPct val="0"/>
              </a:spcBef>
            </a:pPr>
            <a:r>
              <a:rPr lang="en-US" b="true" sz="4042">
                <a:solidFill>
                  <a:srgbClr val="3C6295"/>
                </a:solidFill>
                <a:latin typeface="Archivo Narrow Bold"/>
                <a:ea typeface="Archivo Narrow Bold"/>
                <a:cs typeface="Archivo Narrow Bold"/>
                <a:sym typeface="Archivo Narrow Bold"/>
              </a:rPr>
              <a:t>ASEP RIDWAN HIDAYAT</a:t>
            </a:r>
          </a:p>
        </p:txBody>
      </p:sp>
      <p:sp>
        <p:nvSpPr>
          <p:cNvPr name="Freeform 10" id="10"/>
          <p:cNvSpPr/>
          <p:nvPr/>
        </p:nvSpPr>
        <p:spPr>
          <a:xfrm flipH="false" flipV="false" rot="0">
            <a:off x="311659" y="220557"/>
            <a:ext cx="1664226" cy="1616285"/>
          </a:xfrm>
          <a:custGeom>
            <a:avLst/>
            <a:gdLst/>
            <a:ahLst/>
            <a:cxnLst/>
            <a:rect r="r" b="b" t="t" l="l"/>
            <a:pathLst>
              <a:path h="1616285" w="1664226">
                <a:moveTo>
                  <a:pt x="0" y="0"/>
                </a:moveTo>
                <a:lnTo>
                  <a:pt x="1664226" y="0"/>
                </a:lnTo>
                <a:lnTo>
                  <a:pt x="1664226" y="1616286"/>
                </a:lnTo>
                <a:lnTo>
                  <a:pt x="0" y="1616286"/>
                </a:lnTo>
                <a:lnTo>
                  <a:pt x="0" y="0"/>
                </a:lnTo>
                <a:close/>
              </a:path>
            </a:pathLst>
          </a:custGeom>
          <a:blipFill>
            <a:blip r:embed="rId8"/>
            <a:stretch>
              <a:fillRect l="0" t="0" r="0" b="0"/>
            </a:stretch>
          </a:blipFill>
        </p:spPr>
      </p:sp>
      <p:sp>
        <p:nvSpPr>
          <p:cNvPr name="TextBox 11" id="11"/>
          <p:cNvSpPr txBox="true"/>
          <p:nvPr/>
        </p:nvSpPr>
        <p:spPr>
          <a:xfrm rot="0">
            <a:off x="5468142" y="2750702"/>
            <a:ext cx="9327601" cy="2162248"/>
          </a:xfrm>
          <a:prstGeom prst="rect">
            <a:avLst/>
          </a:prstGeom>
        </p:spPr>
        <p:txBody>
          <a:bodyPr anchor="t" rtlCol="false" tIns="0" lIns="0" bIns="0" rIns="0">
            <a:spAutoFit/>
          </a:bodyPr>
          <a:lstStyle/>
          <a:p>
            <a:pPr algn="ctr">
              <a:lnSpc>
                <a:spcPts val="4305"/>
              </a:lnSpc>
            </a:pPr>
            <a:r>
              <a:rPr lang="en-US" sz="3075" b="true">
                <a:solidFill>
                  <a:srgbClr val="3C6295"/>
                </a:solidFill>
                <a:latin typeface="Open Sauce Bold"/>
                <a:ea typeface="Open Sauce Bold"/>
                <a:cs typeface="Open Sauce Bold"/>
                <a:sym typeface="Open Sauce Bold"/>
              </a:rPr>
              <a:t>Dosen Pembimbing :</a:t>
            </a:r>
          </a:p>
          <a:p>
            <a:pPr algn="ctr">
              <a:lnSpc>
                <a:spcPts val="4305"/>
              </a:lnSpc>
            </a:pPr>
            <a:r>
              <a:rPr lang="en-US" sz="3075" b="true">
                <a:solidFill>
                  <a:srgbClr val="3C6295"/>
                </a:solidFill>
                <a:latin typeface="Open Sauce Bold"/>
                <a:ea typeface="Open Sauce Bold"/>
                <a:cs typeface="Open Sauce Bold"/>
                <a:sym typeface="Open Sauce Bold"/>
              </a:rPr>
              <a:t>Dr. Sajarwo Anggai, S.ST., M.T.</a:t>
            </a:r>
          </a:p>
          <a:p>
            <a:pPr algn="ctr">
              <a:lnSpc>
                <a:spcPts val="4305"/>
              </a:lnSpc>
            </a:pPr>
            <a:r>
              <a:rPr lang="en-US" sz="3075" b="true">
                <a:solidFill>
                  <a:srgbClr val="3C6295"/>
                </a:solidFill>
                <a:latin typeface="Open Sauce Bold"/>
                <a:ea typeface="Open Sauce Bold"/>
                <a:cs typeface="Open Sauce Bold"/>
                <a:sym typeface="Open Sauce Bold"/>
              </a:rPr>
              <a:t>Dr. Arya Adhyaksa Waskita, S.Si.,M.Si</a:t>
            </a:r>
          </a:p>
          <a:p>
            <a:pPr algn="ctr">
              <a:lnSpc>
                <a:spcPts val="4305"/>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1617035" y="-4923805"/>
            <a:ext cx="9848495" cy="18613993"/>
          </a:xfrm>
          <a:custGeom>
            <a:avLst/>
            <a:gdLst/>
            <a:ahLst/>
            <a:cxnLst/>
            <a:rect r="r" b="b" t="t" l="l"/>
            <a:pathLst>
              <a:path h="18613993" w="9848495">
                <a:moveTo>
                  <a:pt x="0" y="18613994"/>
                </a:moveTo>
                <a:lnTo>
                  <a:pt x="9848495" y="18613994"/>
                </a:lnTo>
                <a:lnTo>
                  <a:pt x="9848495" y="0"/>
                </a:lnTo>
                <a:lnTo>
                  <a:pt x="0" y="0"/>
                </a:lnTo>
                <a:lnTo>
                  <a:pt x="0" y="1861399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8804"/>
            <a:ext cx="9144000" cy="560871"/>
            <a:chOff x="0" y="0"/>
            <a:chExt cx="2408296" cy="147719"/>
          </a:xfrm>
        </p:grpSpPr>
        <p:sp>
          <p:nvSpPr>
            <p:cNvPr name="Freeform 4" id="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1800AD"/>
            </a:solidFill>
          </p:spPr>
        </p:sp>
        <p:sp>
          <p:nvSpPr>
            <p:cNvPr name="TextBox 5" id="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2479309"/>
            <a:ext cx="8115300" cy="137058"/>
            <a:chOff x="0" y="0"/>
            <a:chExt cx="2137363" cy="36097"/>
          </a:xfrm>
        </p:grpSpPr>
        <p:sp>
          <p:nvSpPr>
            <p:cNvPr name="Freeform 7" id="7"/>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DE59"/>
            </a:solidFill>
          </p:spPr>
        </p:sp>
        <p:sp>
          <p:nvSpPr>
            <p:cNvPr name="TextBox 8" id="8"/>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44000" y="2479309"/>
            <a:ext cx="8115300" cy="137058"/>
            <a:chOff x="0" y="0"/>
            <a:chExt cx="2137363" cy="36097"/>
          </a:xfrm>
        </p:grpSpPr>
        <p:sp>
          <p:nvSpPr>
            <p:cNvPr name="Freeform 10" id="10"/>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1800AD"/>
            </a:solidFill>
          </p:spPr>
        </p:sp>
        <p:sp>
          <p:nvSpPr>
            <p:cNvPr name="TextBox 11" id="11"/>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028700" y="2729780"/>
            <a:ext cx="7684248" cy="4064375"/>
          </a:xfrm>
          <a:custGeom>
            <a:avLst/>
            <a:gdLst/>
            <a:ahLst/>
            <a:cxnLst/>
            <a:rect r="r" b="b" t="t" l="l"/>
            <a:pathLst>
              <a:path h="4064375" w="7684248">
                <a:moveTo>
                  <a:pt x="0" y="0"/>
                </a:moveTo>
                <a:lnTo>
                  <a:pt x="7684248" y="0"/>
                </a:lnTo>
                <a:lnTo>
                  <a:pt x="7684248" y="4064375"/>
                </a:lnTo>
                <a:lnTo>
                  <a:pt x="0" y="4064375"/>
                </a:lnTo>
                <a:lnTo>
                  <a:pt x="0" y="0"/>
                </a:lnTo>
                <a:close/>
              </a:path>
            </a:pathLst>
          </a:custGeom>
          <a:blipFill>
            <a:blip r:embed="rId4"/>
            <a:stretch>
              <a:fillRect l="0" t="-17748" r="0" b="-8215"/>
            </a:stretch>
          </a:blipFill>
        </p:spPr>
      </p:sp>
      <p:sp>
        <p:nvSpPr>
          <p:cNvPr name="Freeform 13" id="13"/>
          <p:cNvSpPr/>
          <p:nvPr/>
        </p:nvSpPr>
        <p:spPr>
          <a:xfrm flipH="false" flipV="false" rot="0">
            <a:off x="15487240" y="516545"/>
            <a:ext cx="1664226" cy="1616285"/>
          </a:xfrm>
          <a:custGeom>
            <a:avLst/>
            <a:gdLst/>
            <a:ahLst/>
            <a:cxnLst/>
            <a:rect r="r" b="b" t="t" l="l"/>
            <a:pathLst>
              <a:path h="1616285" w="1664226">
                <a:moveTo>
                  <a:pt x="0" y="0"/>
                </a:moveTo>
                <a:lnTo>
                  <a:pt x="1664226" y="0"/>
                </a:lnTo>
                <a:lnTo>
                  <a:pt x="1664226" y="1616285"/>
                </a:lnTo>
                <a:lnTo>
                  <a:pt x="0" y="1616285"/>
                </a:lnTo>
                <a:lnTo>
                  <a:pt x="0" y="0"/>
                </a:lnTo>
                <a:close/>
              </a:path>
            </a:pathLst>
          </a:custGeom>
          <a:blipFill>
            <a:blip r:embed="rId5"/>
            <a:stretch>
              <a:fillRect l="0" t="0" r="0" b="0"/>
            </a:stretch>
          </a:blipFill>
        </p:spPr>
      </p:sp>
      <p:grpSp>
        <p:nvGrpSpPr>
          <p:cNvPr name="Group 14" id="14"/>
          <p:cNvGrpSpPr/>
          <p:nvPr/>
        </p:nvGrpSpPr>
        <p:grpSpPr>
          <a:xfrm rot="0">
            <a:off x="10355839" y="4397077"/>
            <a:ext cx="6903461" cy="1228734"/>
            <a:chOff x="0" y="0"/>
            <a:chExt cx="2330355" cy="414776"/>
          </a:xfrm>
        </p:grpSpPr>
        <p:sp>
          <p:nvSpPr>
            <p:cNvPr name="Freeform 15" id="15"/>
            <p:cNvSpPr/>
            <p:nvPr/>
          </p:nvSpPr>
          <p:spPr>
            <a:xfrm flipH="false" flipV="false" rot="0">
              <a:off x="0" y="0"/>
              <a:ext cx="2330355" cy="414776"/>
            </a:xfrm>
            <a:custGeom>
              <a:avLst/>
              <a:gdLst/>
              <a:ahLst/>
              <a:cxnLst/>
              <a:rect r="r" b="b" t="t" l="l"/>
              <a:pathLst>
                <a:path h="414776" w="2330355">
                  <a:moveTo>
                    <a:pt x="45980" y="0"/>
                  </a:moveTo>
                  <a:lnTo>
                    <a:pt x="2284376" y="0"/>
                  </a:lnTo>
                  <a:cubicBezTo>
                    <a:pt x="2296570" y="0"/>
                    <a:pt x="2308266" y="4844"/>
                    <a:pt x="2316888" y="13467"/>
                  </a:cubicBezTo>
                  <a:cubicBezTo>
                    <a:pt x="2325511" y="22090"/>
                    <a:pt x="2330355" y="33785"/>
                    <a:pt x="2330355" y="45980"/>
                  </a:cubicBezTo>
                  <a:lnTo>
                    <a:pt x="2330355" y="368796"/>
                  </a:lnTo>
                  <a:cubicBezTo>
                    <a:pt x="2330355" y="380991"/>
                    <a:pt x="2325511" y="392686"/>
                    <a:pt x="2316888" y="401309"/>
                  </a:cubicBezTo>
                  <a:cubicBezTo>
                    <a:pt x="2308266" y="409931"/>
                    <a:pt x="2296570" y="414776"/>
                    <a:pt x="2284376" y="414776"/>
                  </a:cubicBezTo>
                  <a:lnTo>
                    <a:pt x="45980" y="414776"/>
                  </a:lnTo>
                  <a:cubicBezTo>
                    <a:pt x="20586" y="414776"/>
                    <a:pt x="0" y="394190"/>
                    <a:pt x="0" y="368796"/>
                  </a:cubicBezTo>
                  <a:lnTo>
                    <a:pt x="0" y="45980"/>
                  </a:lnTo>
                  <a:cubicBezTo>
                    <a:pt x="0" y="33785"/>
                    <a:pt x="4844" y="22090"/>
                    <a:pt x="13467" y="13467"/>
                  </a:cubicBezTo>
                  <a:cubicBezTo>
                    <a:pt x="22090" y="4844"/>
                    <a:pt x="33785" y="0"/>
                    <a:pt x="45980" y="0"/>
                  </a:cubicBezTo>
                  <a:close/>
                </a:path>
              </a:pathLst>
            </a:custGeom>
            <a:gradFill rotWithShape="true">
              <a:gsLst>
                <a:gs pos="0">
                  <a:srgbClr val="000000">
                    <a:alpha val="100000"/>
                  </a:srgbClr>
                </a:gs>
                <a:gs pos="100000">
                  <a:srgbClr val="3533CD">
                    <a:alpha val="100000"/>
                  </a:srgbClr>
                </a:gs>
              </a:gsLst>
              <a:lin ang="0"/>
            </a:gradFill>
          </p:spPr>
        </p:sp>
        <p:sp>
          <p:nvSpPr>
            <p:cNvPr name="TextBox 16" id="16"/>
            <p:cNvSpPr txBox="true"/>
            <p:nvPr/>
          </p:nvSpPr>
          <p:spPr>
            <a:xfrm>
              <a:off x="0" y="-47625"/>
              <a:ext cx="2330355" cy="46240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355839" y="2664890"/>
            <a:ext cx="6903461" cy="1513113"/>
            <a:chOff x="0" y="0"/>
            <a:chExt cx="2336122" cy="512035"/>
          </a:xfrm>
        </p:grpSpPr>
        <p:sp>
          <p:nvSpPr>
            <p:cNvPr name="Freeform 18" id="18"/>
            <p:cNvSpPr/>
            <p:nvPr/>
          </p:nvSpPr>
          <p:spPr>
            <a:xfrm flipH="false" flipV="false" rot="0">
              <a:off x="0" y="0"/>
              <a:ext cx="2336122" cy="512035"/>
            </a:xfrm>
            <a:custGeom>
              <a:avLst/>
              <a:gdLst/>
              <a:ahLst/>
              <a:cxnLst/>
              <a:rect r="r" b="b" t="t" l="l"/>
              <a:pathLst>
                <a:path h="512035" w="2336122">
                  <a:moveTo>
                    <a:pt x="45980" y="0"/>
                  </a:moveTo>
                  <a:lnTo>
                    <a:pt x="2290142" y="0"/>
                  </a:lnTo>
                  <a:cubicBezTo>
                    <a:pt x="2302337" y="0"/>
                    <a:pt x="2314032" y="4844"/>
                    <a:pt x="2322655" y="13467"/>
                  </a:cubicBezTo>
                  <a:cubicBezTo>
                    <a:pt x="2331278" y="22090"/>
                    <a:pt x="2336122" y="33785"/>
                    <a:pt x="2336122" y="45980"/>
                  </a:cubicBezTo>
                  <a:lnTo>
                    <a:pt x="2336122" y="466056"/>
                  </a:lnTo>
                  <a:cubicBezTo>
                    <a:pt x="2336122" y="491450"/>
                    <a:pt x="2315536" y="512035"/>
                    <a:pt x="2290142" y="512035"/>
                  </a:cubicBezTo>
                  <a:lnTo>
                    <a:pt x="45980" y="512035"/>
                  </a:lnTo>
                  <a:cubicBezTo>
                    <a:pt x="33785" y="512035"/>
                    <a:pt x="22090" y="507191"/>
                    <a:pt x="13467" y="498568"/>
                  </a:cubicBezTo>
                  <a:cubicBezTo>
                    <a:pt x="4844" y="489945"/>
                    <a:pt x="0" y="478250"/>
                    <a:pt x="0" y="466056"/>
                  </a:cubicBezTo>
                  <a:lnTo>
                    <a:pt x="0" y="45980"/>
                  </a:lnTo>
                  <a:cubicBezTo>
                    <a:pt x="0" y="33785"/>
                    <a:pt x="4844" y="22090"/>
                    <a:pt x="13467" y="13467"/>
                  </a:cubicBezTo>
                  <a:cubicBezTo>
                    <a:pt x="22090" y="4844"/>
                    <a:pt x="33785" y="0"/>
                    <a:pt x="45980" y="0"/>
                  </a:cubicBezTo>
                  <a:close/>
                </a:path>
              </a:pathLst>
            </a:custGeom>
            <a:gradFill rotWithShape="true">
              <a:gsLst>
                <a:gs pos="0">
                  <a:srgbClr val="000000">
                    <a:alpha val="100000"/>
                  </a:srgbClr>
                </a:gs>
                <a:gs pos="100000">
                  <a:srgbClr val="3432C7">
                    <a:alpha val="100000"/>
                  </a:srgbClr>
                </a:gs>
              </a:gsLst>
              <a:lin ang="16200000"/>
            </a:gradFill>
          </p:spPr>
        </p:sp>
        <p:sp>
          <p:nvSpPr>
            <p:cNvPr name="TextBox 19" id="19"/>
            <p:cNvSpPr txBox="true"/>
            <p:nvPr/>
          </p:nvSpPr>
          <p:spPr>
            <a:xfrm>
              <a:off x="0" y="-47625"/>
              <a:ext cx="2336122" cy="55966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0355839" y="7520733"/>
            <a:ext cx="6903461" cy="1415475"/>
            <a:chOff x="0" y="0"/>
            <a:chExt cx="2075061" cy="425467"/>
          </a:xfrm>
        </p:grpSpPr>
        <p:sp>
          <p:nvSpPr>
            <p:cNvPr name="Freeform 21" id="21"/>
            <p:cNvSpPr/>
            <p:nvPr/>
          </p:nvSpPr>
          <p:spPr>
            <a:xfrm flipH="false" flipV="false" rot="0">
              <a:off x="0" y="0"/>
              <a:ext cx="2075061" cy="425467"/>
            </a:xfrm>
            <a:custGeom>
              <a:avLst/>
              <a:gdLst/>
              <a:ahLst/>
              <a:cxnLst/>
              <a:rect r="r" b="b" t="t" l="l"/>
              <a:pathLst>
                <a:path h="425467" w="2075061">
                  <a:moveTo>
                    <a:pt x="45980" y="0"/>
                  </a:moveTo>
                  <a:lnTo>
                    <a:pt x="2029081" y="0"/>
                  </a:lnTo>
                  <a:cubicBezTo>
                    <a:pt x="2041276" y="0"/>
                    <a:pt x="2052971" y="4844"/>
                    <a:pt x="2061594" y="13467"/>
                  </a:cubicBezTo>
                  <a:cubicBezTo>
                    <a:pt x="2070216" y="22090"/>
                    <a:pt x="2075061" y="33785"/>
                    <a:pt x="2075061" y="45980"/>
                  </a:cubicBezTo>
                  <a:lnTo>
                    <a:pt x="2075061" y="379488"/>
                  </a:lnTo>
                  <a:cubicBezTo>
                    <a:pt x="2075061" y="391682"/>
                    <a:pt x="2070216" y="403377"/>
                    <a:pt x="2061594" y="412000"/>
                  </a:cubicBezTo>
                  <a:cubicBezTo>
                    <a:pt x="2052971" y="420623"/>
                    <a:pt x="2041276" y="425467"/>
                    <a:pt x="2029081" y="425467"/>
                  </a:cubicBezTo>
                  <a:lnTo>
                    <a:pt x="45980" y="425467"/>
                  </a:lnTo>
                  <a:cubicBezTo>
                    <a:pt x="20586" y="425467"/>
                    <a:pt x="0" y="404882"/>
                    <a:pt x="0" y="379488"/>
                  </a:cubicBezTo>
                  <a:lnTo>
                    <a:pt x="0" y="45980"/>
                  </a:lnTo>
                  <a:cubicBezTo>
                    <a:pt x="0" y="33785"/>
                    <a:pt x="4844" y="22090"/>
                    <a:pt x="13467" y="13467"/>
                  </a:cubicBezTo>
                  <a:cubicBezTo>
                    <a:pt x="22090" y="4844"/>
                    <a:pt x="33785" y="0"/>
                    <a:pt x="45980" y="0"/>
                  </a:cubicBezTo>
                  <a:close/>
                </a:path>
              </a:pathLst>
            </a:custGeom>
            <a:gradFill rotWithShape="true">
              <a:gsLst>
                <a:gs pos="0">
                  <a:srgbClr val="000000">
                    <a:alpha val="100000"/>
                  </a:srgbClr>
                </a:gs>
                <a:gs pos="100000">
                  <a:srgbClr val="3533CD">
                    <a:alpha val="100000"/>
                  </a:srgbClr>
                </a:gs>
              </a:gsLst>
              <a:lin ang="0"/>
            </a:gradFill>
            <a:ln w="38100" cap="rnd">
              <a:solidFill>
                <a:srgbClr val="FFDE59"/>
              </a:solidFill>
              <a:prstDash val="solid"/>
              <a:round/>
            </a:ln>
          </p:spPr>
        </p:sp>
        <p:sp>
          <p:nvSpPr>
            <p:cNvPr name="TextBox 22" id="22"/>
            <p:cNvSpPr txBox="true"/>
            <p:nvPr/>
          </p:nvSpPr>
          <p:spPr>
            <a:xfrm>
              <a:off x="0" y="-47625"/>
              <a:ext cx="2075061" cy="47309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0355839" y="6016337"/>
            <a:ext cx="6903461" cy="1228171"/>
            <a:chOff x="0" y="0"/>
            <a:chExt cx="2391521" cy="425467"/>
          </a:xfrm>
        </p:grpSpPr>
        <p:sp>
          <p:nvSpPr>
            <p:cNvPr name="Freeform 24" id="24"/>
            <p:cNvSpPr/>
            <p:nvPr/>
          </p:nvSpPr>
          <p:spPr>
            <a:xfrm flipH="false" flipV="false" rot="0">
              <a:off x="0" y="0"/>
              <a:ext cx="2391520" cy="425467"/>
            </a:xfrm>
            <a:custGeom>
              <a:avLst/>
              <a:gdLst/>
              <a:ahLst/>
              <a:cxnLst/>
              <a:rect r="r" b="b" t="t" l="l"/>
              <a:pathLst>
                <a:path h="425467" w="2391520">
                  <a:moveTo>
                    <a:pt x="45980" y="0"/>
                  </a:moveTo>
                  <a:lnTo>
                    <a:pt x="2345541" y="0"/>
                  </a:lnTo>
                  <a:cubicBezTo>
                    <a:pt x="2370935" y="0"/>
                    <a:pt x="2391520" y="20586"/>
                    <a:pt x="2391520" y="45980"/>
                  </a:cubicBezTo>
                  <a:lnTo>
                    <a:pt x="2391520" y="379488"/>
                  </a:lnTo>
                  <a:cubicBezTo>
                    <a:pt x="2391520" y="391682"/>
                    <a:pt x="2386676" y="403377"/>
                    <a:pt x="2378053" y="412000"/>
                  </a:cubicBezTo>
                  <a:cubicBezTo>
                    <a:pt x="2369431" y="420623"/>
                    <a:pt x="2357735" y="425467"/>
                    <a:pt x="2345541" y="425467"/>
                  </a:cubicBezTo>
                  <a:lnTo>
                    <a:pt x="45980" y="425467"/>
                  </a:lnTo>
                  <a:cubicBezTo>
                    <a:pt x="20586" y="425467"/>
                    <a:pt x="0" y="404882"/>
                    <a:pt x="0" y="379488"/>
                  </a:cubicBezTo>
                  <a:lnTo>
                    <a:pt x="0" y="45980"/>
                  </a:lnTo>
                  <a:cubicBezTo>
                    <a:pt x="0" y="33785"/>
                    <a:pt x="4844" y="22090"/>
                    <a:pt x="13467" y="13467"/>
                  </a:cubicBezTo>
                  <a:cubicBezTo>
                    <a:pt x="22090" y="4844"/>
                    <a:pt x="33785" y="0"/>
                    <a:pt x="45980" y="0"/>
                  </a:cubicBezTo>
                  <a:close/>
                </a:path>
              </a:pathLst>
            </a:custGeom>
            <a:gradFill rotWithShape="true">
              <a:gsLst>
                <a:gs pos="0">
                  <a:srgbClr val="000000">
                    <a:alpha val="100000"/>
                  </a:srgbClr>
                </a:gs>
                <a:gs pos="100000">
                  <a:srgbClr val="3533CD">
                    <a:alpha val="100000"/>
                  </a:srgbClr>
                </a:gs>
              </a:gsLst>
              <a:lin ang="0"/>
            </a:gradFill>
          </p:spPr>
        </p:sp>
        <p:sp>
          <p:nvSpPr>
            <p:cNvPr name="TextBox 25" id="25"/>
            <p:cNvSpPr txBox="true"/>
            <p:nvPr/>
          </p:nvSpPr>
          <p:spPr>
            <a:xfrm>
              <a:off x="0" y="-47625"/>
              <a:ext cx="2391521" cy="473092"/>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false" flipV="false" rot="0">
            <a:off x="1028700" y="6832255"/>
            <a:ext cx="3700572" cy="1543092"/>
          </a:xfrm>
          <a:custGeom>
            <a:avLst/>
            <a:gdLst/>
            <a:ahLst/>
            <a:cxnLst/>
            <a:rect r="r" b="b" t="t" l="l"/>
            <a:pathLst>
              <a:path h="1543092" w="3700572">
                <a:moveTo>
                  <a:pt x="0" y="0"/>
                </a:moveTo>
                <a:lnTo>
                  <a:pt x="3700572" y="0"/>
                </a:lnTo>
                <a:lnTo>
                  <a:pt x="3700572" y="1543092"/>
                </a:lnTo>
                <a:lnTo>
                  <a:pt x="0" y="1543092"/>
                </a:lnTo>
                <a:lnTo>
                  <a:pt x="0" y="0"/>
                </a:lnTo>
                <a:close/>
              </a:path>
            </a:pathLst>
          </a:custGeom>
          <a:blipFill>
            <a:blip r:embed="rId6"/>
            <a:stretch>
              <a:fillRect l="0" t="0" r="-29648" b="0"/>
            </a:stretch>
          </a:blipFill>
        </p:spPr>
      </p:sp>
      <p:sp>
        <p:nvSpPr>
          <p:cNvPr name="Freeform 27" id="27"/>
          <p:cNvSpPr/>
          <p:nvPr/>
        </p:nvSpPr>
        <p:spPr>
          <a:xfrm flipH="false" flipV="false" rot="0">
            <a:off x="5080191" y="6832255"/>
            <a:ext cx="3632756" cy="1554408"/>
          </a:xfrm>
          <a:custGeom>
            <a:avLst/>
            <a:gdLst/>
            <a:ahLst/>
            <a:cxnLst/>
            <a:rect r="r" b="b" t="t" l="l"/>
            <a:pathLst>
              <a:path h="1554408" w="3632756">
                <a:moveTo>
                  <a:pt x="0" y="0"/>
                </a:moveTo>
                <a:lnTo>
                  <a:pt x="3632757" y="0"/>
                </a:lnTo>
                <a:lnTo>
                  <a:pt x="3632757" y="1554407"/>
                </a:lnTo>
                <a:lnTo>
                  <a:pt x="0" y="1554407"/>
                </a:lnTo>
                <a:lnTo>
                  <a:pt x="0" y="0"/>
                </a:lnTo>
                <a:close/>
              </a:path>
            </a:pathLst>
          </a:custGeom>
          <a:blipFill>
            <a:blip r:embed="rId7"/>
            <a:stretch>
              <a:fillRect l="-16518" t="0" r="-16518" b="0"/>
            </a:stretch>
          </a:blipFill>
        </p:spPr>
      </p:sp>
      <p:grpSp>
        <p:nvGrpSpPr>
          <p:cNvPr name="Group 28" id="28"/>
          <p:cNvGrpSpPr/>
          <p:nvPr/>
        </p:nvGrpSpPr>
        <p:grpSpPr>
          <a:xfrm rot="0">
            <a:off x="9144000" y="9708804"/>
            <a:ext cx="9144000" cy="560871"/>
            <a:chOff x="0" y="0"/>
            <a:chExt cx="2408296" cy="147719"/>
          </a:xfrm>
        </p:grpSpPr>
        <p:sp>
          <p:nvSpPr>
            <p:cNvPr name="Freeform 29" id="29"/>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FFDE59"/>
            </a:solidFill>
          </p:spPr>
        </p:sp>
        <p:sp>
          <p:nvSpPr>
            <p:cNvPr name="TextBox 30" id="30"/>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9144000" y="5984215"/>
            <a:ext cx="1138016" cy="1138016"/>
          </a:xfrm>
          <a:custGeom>
            <a:avLst/>
            <a:gdLst/>
            <a:ahLst/>
            <a:cxnLst/>
            <a:rect r="r" b="b" t="t" l="l"/>
            <a:pathLst>
              <a:path h="1138016" w="1138016">
                <a:moveTo>
                  <a:pt x="0" y="0"/>
                </a:moveTo>
                <a:lnTo>
                  <a:pt x="1138016" y="0"/>
                </a:lnTo>
                <a:lnTo>
                  <a:pt x="1138016" y="1138016"/>
                </a:lnTo>
                <a:lnTo>
                  <a:pt x="0" y="11380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0">
            <a:off x="9137362" y="7708747"/>
            <a:ext cx="1029460" cy="1103709"/>
          </a:xfrm>
          <a:custGeom>
            <a:avLst/>
            <a:gdLst/>
            <a:ahLst/>
            <a:cxnLst/>
            <a:rect r="r" b="b" t="t" l="l"/>
            <a:pathLst>
              <a:path h="1103709" w="1029460">
                <a:moveTo>
                  <a:pt x="0" y="0"/>
                </a:moveTo>
                <a:lnTo>
                  <a:pt x="1029459" y="0"/>
                </a:lnTo>
                <a:lnTo>
                  <a:pt x="1029459" y="1103709"/>
                </a:lnTo>
                <a:lnTo>
                  <a:pt x="0" y="11037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9144000" y="2823729"/>
            <a:ext cx="1038944" cy="1021943"/>
          </a:xfrm>
          <a:custGeom>
            <a:avLst/>
            <a:gdLst/>
            <a:ahLst/>
            <a:cxnLst/>
            <a:rect r="r" b="b" t="t" l="l"/>
            <a:pathLst>
              <a:path h="1021943" w="1038944">
                <a:moveTo>
                  <a:pt x="0" y="0"/>
                </a:moveTo>
                <a:lnTo>
                  <a:pt x="1038944" y="0"/>
                </a:lnTo>
                <a:lnTo>
                  <a:pt x="1038944" y="1021943"/>
                </a:lnTo>
                <a:lnTo>
                  <a:pt x="0" y="102194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9160123" y="4432187"/>
            <a:ext cx="1000060" cy="965513"/>
          </a:xfrm>
          <a:custGeom>
            <a:avLst/>
            <a:gdLst/>
            <a:ahLst/>
            <a:cxnLst/>
            <a:rect r="r" b="b" t="t" l="l"/>
            <a:pathLst>
              <a:path h="965513" w="1000060">
                <a:moveTo>
                  <a:pt x="0" y="0"/>
                </a:moveTo>
                <a:lnTo>
                  <a:pt x="1000060" y="0"/>
                </a:lnTo>
                <a:lnTo>
                  <a:pt x="1000060" y="965513"/>
                </a:lnTo>
                <a:lnTo>
                  <a:pt x="0" y="96551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5" id="35"/>
          <p:cNvSpPr txBox="true"/>
          <p:nvPr/>
        </p:nvSpPr>
        <p:spPr>
          <a:xfrm rot="0">
            <a:off x="1028700" y="215814"/>
            <a:ext cx="6360073" cy="812886"/>
          </a:xfrm>
          <a:prstGeom prst="rect">
            <a:avLst/>
          </a:prstGeom>
        </p:spPr>
        <p:txBody>
          <a:bodyPr anchor="t" rtlCol="false" tIns="0" lIns="0" bIns="0" rIns="0">
            <a:spAutoFit/>
          </a:bodyPr>
          <a:lstStyle/>
          <a:p>
            <a:pPr algn="l">
              <a:lnSpc>
                <a:spcPts val="6645"/>
              </a:lnSpc>
              <a:spcBef>
                <a:spcPct val="0"/>
              </a:spcBef>
            </a:pPr>
            <a:r>
              <a:rPr lang="en-US" sz="4746" b="true">
                <a:solidFill>
                  <a:srgbClr val="FF751F"/>
                </a:solidFill>
                <a:latin typeface="Montserrat Bold"/>
                <a:ea typeface="Montserrat Bold"/>
                <a:cs typeface="Montserrat Bold"/>
                <a:sym typeface="Montserrat Bold"/>
              </a:rPr>
              <a:t>01 | Latar Belakang</a:t>
            </a:r>
          </a:p>
        </p:txBody>
      </p:sp>
      <p:sp>
        <p:nvSpPr>
          <p:cNvPr name="TextBox 36" id="36"/>
          <p:cNvSpPr txBox="true"/>
          <p:nvPr/>
        </p:nvSpPr>
        <p:spPr>
          <a:xfrm rot="0">
            <a:off x="11985570" y="4611073"/>
            <a:ext cx="3654391" cy="962343"/>
          </a:xfrm>
          <a:prstGeom prst="rect">
            <a:avLst/>
          </a:prstGeom>
        </p:spPr>
        <p:txBody>
          <a:bodyPr anchor="t" rtlCol="false" tIns="0" lIns="0" bIns="0" rIns="0">
            <a:spAutoFit/>
          </a:bodyPr>
          <a:lstStyle/>
          <a:p>
            <a:pPr algn="ctr">
              <a:lnSpc>
                <a:spcPts val="2607"/>
              </a:lnSpc>
            </a:pPr>
            <a:r>
              <a:rPr lang="en-US" sz="1862" b="true">
                <a:solidFill>
                  <a:srgbClr val="FF751F"/>
                </a:solidFill>
                <a:latin typeface="Canva Sans Bold"/>
                <a:ea typeface="Canva Sans Bold"/>
                <a:cs typeface="Canva Sans Bold"/>
                <a:sym typeface="Canva Sans Bold"/>
              </a:rPr>
              <a:t>Teks </a:t>
            </a:r>
            <a:r>
              <a:rPr lang="en-US" b="true" sz="1862">
                <a:solidFill>
                  <a:srgbClr val="FF751F"/>
                </a:solidFill>
                <a:latin typeface="Canva Sans Bold"/>
                <a:ea typeface="Canva Sans Bold"/>
                <a:cs typeface="Canva Sans Bold"/>
                <a:sym typeface="Canva Sans Bold"/>
              </a:rPr>
              <a:t>Al-Qur’an kompleks dan kontekstual</a:t>
            </a:r>
          </a:p>
          <a:p>
            <a:pPr algn="ctr">
              <a:lnSpc>
                <a:spcPts val="2607"/>
              </a:lnSpc>
            </a:pPr>
          </a:p>
        </p:txBody>
      </p:sp>
      <p:sp>
        <p:nvSpPr>
          <p:cNvPr name="TextBox 37" id="37"/>
          <p:cNvSpPr txBox="true"/>
          <p:nvPr/>
        </p:nvSpPr>
        <p:spPr>
          <a:xfrm rot="0">
            <a:off x="10586074" y="2805388"/>
            <a:ext cx="6453382" cy="1203541"/>
          </a:xfrm>
          <a:prstGeom prst="rect">
            <a:avLst/>
          </a:prstGeom>
        </p:spPr>
        <p:txBody>
          <a:bodyPr anchor="t" rtlCol="false" tIns="0" lIns="0" bIns="0" rIns="0">
            <a:spAutoFit/>
          </a:bodyPr>
          <a:lstStyle/>
          <a:p>
            <a:pPr algn="ctr">
              <a:lnSpc>
                <a:spcPts val="2438"/>
              </a:lnSpc>
            </a:pPr>
            <a:r>
              <a:rPr lang="en-US" b="true" sz="1741">
                <a:solidFill>
                  <a:srgbClr val="FF751F"/>
                </a:solidFill>
                <a:latin typeface="Canva Sans Bold"/>
                <a:ea typeface="Canva Sans Bold"/>
                <a:cs typeface="Canva Sans Bold"/>
                <a:sym typeface="Canva Sans Bold"/>
              </a:rPr>
              <a:t>Pemodelan topik merupakan pen</a:t>
            </a:r>
            <a:r>
              <a:rPr lang="en-US" b="true" sz="1741">
                <a:solidFill>
                  <a:srgbClr val="FF751F"/>
                </a:solidFill>
                <a:latin typeface="Canva Sans Bold"/>
                <a:ea typeface="Canva Sans Bold"/>
                <a:cs typeface="Canva Sans Bold"/>
                <a:sym typeface="Canva Sans Bold"/>
              </a:rPr>
              <a:t>dekatan penting dalam analisis teks untuk menemukan tema tersembunyi dalam kumpulan dokumen besar secara otomatis (Blei et al., 2003a).</a:t>
            </a:r>
          </a:p>
        </p:txBody>
      </p:sp>
      <p:sp>
        <p:nvSpPr>
          <p:cNvPr name="TextBox 38" id="38"/>
          <p:cNvSpPr txBox="true"/>
          <p:nvPr/>
        </p:nvSpPr>
        <p:spPr>
          <a:xfrm rot="0">
            <a:off x="10737164" y="7749333"/>
            <a:ext cx="6302292" cy="1055934"/>
          </a:xfrm>
          <a:prstGeom prst="rect">
            <a:avLst/>
          </a:prstGeom>
        </p:spPr>
        <p:txBody>
          <a:bodyPr anchor="t" rtlCol="false" tIns="0" lIns="0" bIns="0" rIns="0">
            <a:spAutoFit/>
          </a:bodyPr>
          <a:lstStyle/>
          <a:p>
            <a:pPr algn="ctr">
              <a:lnSpc>
                <a:spcPts val="2173"/>
              </a:lnSpc>
            </a:pPr>
            <a:r>
              <a:rPr lang="en-US" sz="1552" b="true">
                <a:solidFill>
                  <a:srgbClr val="FF751F"/>
                </a:solidFill>
                <a:latin typeface="Canva Sans Bold"/>
                <a:ea typeface="Canva Sans Bold"/>
                <a:cs typeface="Canva Sans Bold"/>
                <a:sym typeface="Canva Sans Bold"/>
              </a:rPr>
              <a:t>penerapan kedua metode ini pada korpus teks religius terutama teks terjemahan Al-Q</a:t>
            </a:r>
            <a:r>
              <a:rPr lang="en-US" b="true" sz="1552">
                <a:solidFill>
                  <a:srgbClr val="FF751F"/>
                </a:solidFill>
                <a:latin typeface="Canva Sans Bold"/>
                <a:ea typeface="Canva Sans Bold"/>
                <a:cs typeface="Canva Sans Bold"/>
                <a:sym typeface="Canva Sans Bold"/>
              </a:rPr>
              <a:t>ur’an dalam bahasa Indonesia belum banyak digunakan</a:t>
            </a:r>
          </a:p>
          <a:p>
            <a:pPr algn="ctr">
              <a:lnSpc>
                <a:spcPts val="2173"/>
              </a:lnSpc>
            </a:pPr>
          </a:p>
        </p:txBody>
      </p:sp>
      <p:sp>
        <p:nvSpPr>
          <p:cNvPr name="TextBox 39" id="39"/>
          <p:cNvSpPr txBox="true"/>
          <p:nvPr/>
        </p:nvSpPr>
        <p:spPr>
          <a:xfrm rot="0">
            <a:off x="10586074" y="6235412"/>
            <a:ext cx="6453382" cy="558743"/>
          </a:xfrm>
          <a:prstGeom prst="rect">
            <a:avLst/>
          </a:prstGeom>
        </p:spPr>
        <p:txBody>
          <a:bodyPr anchor="t" rtlCol="false" tIns="0" lIns="0" bIns="0" rIns="0">
            <a:spAutoFit/>
          </a:bodyPr>
          <a:lstStyle/>
          <a:p>
            <a:pPr algn="ctr">
              <a:lnSpc>
                <a:spcPts val="2278"/>
              </a:lnSpc>
            </a:pPr>
            <a:r>
              <a:rPr lang="en-US" sz="1627" b="true">
                <a:solidFill>
                  <a:srgbClr val="FF751F"/>
                </a:solidFill>
                <a:latin typeface="Canva Sans Bold"/>
                <a:ea typeface="Canva Sans Bold"/>
                <a:cs typeface="Canva Sans Bold"/>
                <a:sym typeface="Canva Sans Bold"/>
              </a:rPr>
              <a:t>CTM &amp;</a:t>
            </a:r>
            <a:r>
              <a:rPr lang="en-US" b="true" sz="1627">
                <a:solidFill>
                  <a:srgbClr val="FF751F"/>
                </a:solidFill>
                <a:latin typeface="Canva Sans Bold"/>
                <a:ea typeface="Canva Sans Bold"/>
                <a:cs typeface="Canva Sans Bold"/>
                <a:sym typeface="Canva Sans Bold"/>
              </a:rPr>
              <a:t> BERTopic sebagai solusi alternatif terbaruan dalam menganalisis Teks Al-Qur’an</a:t>
            </a:r>
          </a:p>
        </p:txBody>
      </p:sp>
      <p:sp>
        <p:nvSpPr>
          <p:cNvPr name="TextBox 40" id="40"/>
          <p:cNvSpPr txBox="true"/>
          <p:nvPr/>
        </p:nvSpPr>
        <p:spPr>
          <a:xfrm rot="0">
            <a:off x="2121610" y="6839530"/>
            <a:ext cx="1514753" cy="764271"/>
          </a:xfrm>
          <a:prstGeom prst="rect">
            <a:avLst/>
          </a:prstGeom>
        </p:spPr>
        <p:txBody>
          <a:bodyPr anchor="t" rtlCol="false" tIns="0" lIns="0" bIns="0" rIns="0">
            <a:spAutoFit/>
          </a:bodyPr>
          <a:lstStyle/>
          <a:p>
            <a:pPr algn="ctr">
              <a:lnSpc>
                <a:spcPts val="6150"/>
              </a:lnSpc>
            </a:pPr>
            <a:r>
              <a:rPr lang="en-US" sz="4393" b="true">
                <a:solidFill>
                  <a:srgbClr val="FF751F"/>
                </a:solidFill>
                <a:latin typeface="Canva Sans Bold"/>
                <a:ea typeface="Canva Sans Bold"/>
                <a:cs typeface="Canva Sans Bold"/>
                <a:sym typeface="Canva Sans Bold"/>
              </a:rPr>
              <a:t>6.236</a:t>
            </a:r>
          </a:p>
        </p:txBody>
      </p:sp>
      <p:sp>
        <p:nvSpPr>
          <p:cNvPr name="TextBox 41" id="41"/>
          <p:cNvSpPr txBox="true"/>
          <p:nvPr/>
        </p:nvSpPr>
        <p:spPr>
          <a:xfrm rot="0">
            <a:off x="1238068" y="7557159"/>
            <a:ext cx="3632756" cy="481330"/>
          </a:xfrm>
          <a:prstGeom prst="rect">
            <a:avLst/>
          </a:prstGeom>
        </p:spPr>
        <p:txBody>
          <a:bodyPr anchor="t" rtlCol="false" tIns="0" lIns="0" bIns="0" rIns="0">
            <a:spAutoFit/>
          </a:bodyPr>
          <a:lstStyle/>
          <a:p>
            <a:pPr algn="ctr">
              <a:lnSpc>
                <a:spcPts val="3920"/>
              </a:lnSpc>
            </a:pPr>
            <a:r>
              <a:rPr lang="en-US" sz="2800">
                <a:solidFill>
                  <a:srgbClr val="5CE1E6"/>
                </a:solidFill>
                <a:latin typeface="Canva Sans"/>
                <a:ea typeface="Canva Sans"/>
                <a:cs typeface="Canva Sans"/>
                <a:sym typeface="Canva Sans"/>
              </a:rPr>
              <a:t>Ayat Al-Qur’an</a:t>
            </a:r>
          </a:p>
        </p:txBody>
      </p:sp>
      <p:sp>
        <p:nvSpPr>
          <p:cNvPr name="TextBox 42" id="42"/>
          <p:cNvSpPr txBox="true"/>
          <p:nvPr/>
        </p:nvSpPr>
        <p:spPr>
          <a:xfrm rot="0">
            <a:off x="6426910" y="6856492"/>
            <a:ext cx="939319" cy="757817"/>
          </a:xfrm>
          <a:prstGeom prst="rect">
            <a:avLst/>
          </a:prstGeom>
        </p:spPr>
        <p:txBody>
          <a:bodyPr anchor="t" rtlCol="false" tIns="0" lIns="0" bIns="0" rIns="0">
            <a:spAutoFit/>
          </a:bodyPr>
          <a:lstStyle/>
          <a:p>
            <a:pPr algn="ctr">
              <a:lnSpc>
                <a:spcPts val="6179"/>
              </a:lnSpc>
            </a:pPr>
            <a:r>
              <a:rPr lang="en-US" sz="4413" b="true">
                <a:solidFill>
                  <a:srgbClr val="5CE1E6"/>
                </a:solidFill>
                <a:latin typeface="Canva Sans Bold"/>
                <a:ea typeface="Canva Sans Bold"/>
                <a:cs typeface="Canva Sans Bold"/>
                <a:sym typeface="Canva Sans Bold"/>
              </a:rPr>
              <a:t>114</a:t>
            </a:r>
          </a:p>
        </p:txBody>
      </p:sp>
      <p:sp>
        <p:nvSpPr>
          <p:cNvPr name="TextBox 43" id="43"/>
          <p:cNvSpPr txBox="true"/>
          <p:nvPr/>
        </p:nvSpPr>
        <p:spPr>
          <a:xfrm rot="0">
            <a:off x="5080191" y="7541960"/>
            <a:ext cx="3632756" cy="481330"/>
          </a:xfrm>
          <a:prstGeom prst="rect">
            <a:avLst/>
          </a:prstGeom>
        </p:spPr>
        <p:txBody>
          <a:bodyPr anchor="t" rtlCol="false" tIns="0" lIns="0" bIns="0" rIns="0">
            <a:spAutoFit/>
          </a:bodyPr>
          <a:lstStyle/>
          <a:p>
            <a:pPr algn="ctr">
              <a:lnSpc>
                <a:spcPts val="3920"/>
              </a:lnSpc>
            </a:pPr>
            <a:r>
              <a:rPr lang="en-US" sz="2800">
                <a:solidFill>
                  <a:srgbClr val="FF751F"/>
                </a:solidFill>
                <a:latin typeface="Canva Sans"/>
                <a:ea typeface="Canva Sans"/>
                <a:cs typeface="Canva Sans"/>
                <a:sym typeface="Canva Sans"/>
              </a:rPr>
              <a:t>Surat</a:t>
            </a:r>
          </a:p>
        </p:txBody>
      </p:sp>
      <p:sp>
        <p:nvSpPr>
          <p:cNvPr name="TextBox 44" id="44"/>
          <p:cNvSpPr txBox="true"/>
          <p:nvPr/>
        </p:nvSpPr>
        <p:spPr>
          <a:xfrm rot="0">
            <a:off x="1028700" y="1129213"/>
            <a:ext cx="10183956" cy="1072602"/>
          </a:xfrm>
          <a:prstGeom prst="rect">
            <a:avLst/>
          </a:prstGeom>
        </p:spPr>
        <p:txBody>
          <a:bodyPr anchor="t" rtlCol="false" tIns="0" lIns="0" bIns="0" rIns="0">
            <a:spAutoFit/>
          </a:bodyPr>
          <a:lstStyle/>
          <a:p>
            <a:pPr algn="l">
              <a:lnSpc>
                <a:spcPts val="8605"/>
              </a:lnSpc>
              <a:spcBef>
                <a:spcPct val="0"/>
              </a:spcBef>
            </a:pPr>
            <a:r>
              <a:rPr lang="en-US" b="true" sz="6146">
                <a:solidFill>
                  <a:srgbClr val="1800AD"/>
                </a:solidFill>
                <a:latin typeface="Archivo Narrow Bold"/>
                <a:ea typeface="Archivo Narrow Bold"/>
                <a:cs typeface="Archivo Narrow Bold"/>
                <a:sym typeface="Archivo Narrow Bold"/>
              </a:rPr>
              <a:t>Mengapa Peneletian Ini Penting?</a:t>
            </a:r>
          </a:p>
        </p:txBody>
      </p:sp>
      <p:sp>
        <p:nvSpPr>
          <p:cNvPr name="TextBox 45" id="45"/>
          <p:cNvSpPr txBox="true"/>
          <p:nvPr/>
        </p:nvSpPr>
        <p:spPr>
          <a:xfrm rot="0">
            <a:off x="14532285" y="9745882"/>
            <a:ext cx="3574137" cy="439092"/>
          </a:xfrm>
          <a:prstGeom prst="rect">
            <a:avLst/>
          </a:prstGeom>
        </p:spPr>
        <p:txBody>
          <a:bodyPr anchor="t" rtlCol="false" tIns="0" lIns="0" bIns="0" rIns="0">
            <a:spAutoFit/>
          </a:bodyPr>
          <a:lstStyle/>
          <a:p>
            <a:pPr algn="ctr">
              <a:lnSpc>
                <a:spcPts val="3623"/>
              </a:lnSpc>
            </a:pPr>
            <a:r>
              <a:rPr lang="en-US" sz="2587">
                <a:solidFill>
                  <a:srgbClr val="000000"/>
                </a:solidFill>
                <a:latin typeface="Montserrat"/>
                <a:ea typeface="Montserrat"/>
                <a:cs typeface="Montserrat"/>
                <a:sym typeface="Montserrat"/>
              </a:rPr>
              <a:t>universitas pamulang</a:t>
            </a:r>
          </a:p>
        </p:txBody>
      </p:sp>
      <p:sp>
        <p:nvSpPr>
          <p:cNvPr name="Freeform 46" id="46"/>
          <p:cNvSpPr/>
          <p:nvPr/>
        </p:nvSpPr>
        <p:spPr>
          <a:xfrm flipH="false" flipV="false" rot="0">
            <a:off x="2949762" y="8228471"/>
            <a:ext cx="3700572" cy="1543092"/>
          </a:xfrm>
          <a:custGeom>
            <a:avLst/>
            <a:gdLst/>
            <a:ahLst/>
            <a:cxnLst/>
            <a:rect r="r" b="b" t="t" l="l"/>
            <a:pathLst>
              <a:path h="1543092" w="3700572">
                <a:moveTo>
                  <a:pt x="0" y="0"/>
                </a:moveTo>
                <a:lnTo>
                  <a:pt x="3700572" y="0"/>
                </a:lnTo>
                <a:lnTo>
                  <a:pt x="3700572" y="1543092"/>
                </a:lnTo>
                <a:lnTo>
                  <a:pt x="0" y="1543092"/>
                </a:lnTo>
                <a:lnTo>
                  <a:pt x="0" y="0"/>
                </a:lnTo>
                <a:close/>
              </a:path>
            </a:pathLst>
          </a:custGeom>
          <a:blipFill>
            <a:blip r:embed="rId6"/>
            <a:stretch>
              <a:fillRect l="0" t="0" r="-29648" b="0"/>
            </a:stretch>
          </a:blipFill>
        </p:spPr>
      </p:sp>
      <p:sp>
        <p:nvSpPr>
          <p:cNvPr name="TextBox 47" id="47"/>
          <p:cNvSpPr txBox="true"/>
          <p:nvPr/>
        </p:nvSpPr>
        <p:spPr>
          <a:xfrm rot="0">
            <a:off x="3954400" y="8235746"/>
            <a:ext cx="1691296" cy="1544884"/>
          </a:xfrm>
          <a:prstGeom prst="rect">
            <a:avLst/>
          </a:prstGeom>
        </p:spPr>
        <p:txBody>
          <a:bodyPr anchor="t" rtlCol="false" tIns="0" lIns="0" bIns="0" rIns="0">
            <a:spAutoFit/>
          </a:bodyPr>
          <a:lstStyle/>
          <a:p>
            <a:pPr algn="ctr">
              <a:lnSpc>
                <a:spcPts val="6150"/>
              </a:lnSpc>
            </a:pPr>
            <a:r>
              <a:rPr lang="en-US" sz="4393" b="true">
                <a:solidFill>
                  <a:srgbClr val="FF751F"/>
                </a:solidFill>
                <a:latin typeface="Canva Sans Bold"/>
                <a:ea typeface="Canva Sans Bold"/>
                <a:cs typeface="Canva Sans Bold"/>
                <a:sym typeface="Canva Sans Bold"/>
              </a:rPr>
              <a:t>77.439</a:t>
            </a:r>
          </a:p>
          <a:p>
            <a:pPr algn="ctr">
              <a:lnSpc>
                <a:spcPts val="6150"/>
              </a:lnSpc>
            </a:pPr>
          </a:p>
        </p:txBody>
      </p:sp>
      <p:sp>
        <p:nvSpPr>
          <p:cNvPr name="TextBox 48" id="48"/>
          <p:cNvSpPr txBox="true"/>
          <p:nvPr/>
        </p:nvSpPr>
        <p:spPr>
          <a:xfrm rot="0">
            <a:off x="3159129" y="8953375"/>
            <a:ext cx="3632756" cy="481330"/>
          </a:xfrm>
          <a:prstGeom prst="rect">
            <a:avLst/>
          </a:prstGeom>
        </p:spPr>
        <p:txBody>
          <a:bodyPr anchor="t" rtlCol="false" tIns="0" lIns="0" bIns="0" rIns="0">
            <a:spAutoFit/>
          </a:bodyPr>
          <a:lstStyle/>
          <a:p>
            <a:pPr algn="ctr">
              <a:lnSpc>
                <a:spcPts val="3920"/>
              </a:lnSpc>
            </a:pPr>
            <a:r>
              <a:rPr lang="en-US" sz="2800">
                <a:solidFill>
                  <a:srgbClr val="5CE1E6"/>
                </a:solidFill>
                <a:latin typeface="Canva Sans"/>
                <a:ea typeface="Canva Sans"/>
                <a:cs typeface="Canva Sans"/>
                <a:sym typeface="Canva Sans"/>
              </a:rPr>
              <a:t>Kata Terjemah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1617035" y="-4923805"/>
            <a:ext cx="9848495" cy="18613993"/>
          </a:xfrm>
          <a:custGeom>
            <a:avLst/>
            <a:gdLst/>
            <a:ahLst/>
            <a:cxnLst/>
            <a:rect r="r" b="b" t="t" l="l"/>
            <a:pathLst>
              <a:path h="18613993" w="9848495">
                <a:moveTo>
                  <a:pt x="0" y="18613994"/>
                </a:moveTo>
                <a:lnTo>
                  <a:pt x="9848495" y="18613994"/>
                </a:lnTo>
                <a:lnTo>
                  <a:pt x="9848495" y="0"/>
                </a:lnTo>
                <a:lnTo>
                  <a:pt x="0" y="0"/>
                </a:lnTo>
                <a:lnTo>
                  <a:pt x="0" y="1861399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8804"/>
            <a:ext cx="9144000" cy="560871"/>
            <a:chOff x="0" y="0"/>
            <a:chExt cx="2408296" cy="147719"/>
          </a:xfrm>
        </p:grpSpPr>
        <p:sp>
          <p:nvSpPr>
            <p:cNvPr name="Freeform 4" id="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1800AD"/>
            </a:solidFill>
          </p:spPr>
        </p:sp>
        <p:sp>
          <p:nvSpPr>
            <p:cNvPr name="TextBox 5" id="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2479309"/>
            <a:ext cx="8115300" cy="137058"/>
            <a:chOff x="0" y="0"/>
            <a:chExt cx="2137363" cy="36097"/>
          </a:xfrm>
        </p:grpSpPr>
        <p:sp>
          <p:nvSpPr>
            <p:cNvPr name="Freeform 7" id="7"/>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DE59"/>
            </a:solidFill>
          </p:spPr>
        </p:sp>
        <p:sp>
          <p:nvSpPr>
            <p:cNvPr name="TextBox 8" id="8"/>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44000" y="2479309"/>
            <a:ext cx="8115300" cy="137058"/>
            <a:chOff x="0" y="0"/>
            <a:chExt cx="2137363" cy="36097"/>
          </a:xfrm>
        </p:grpSpPr>
        <p:sp>
          <p:nvSpPr>
            <p:cNvPr name="Freeform 10" id="10"/>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1800AD"/>
            </a:solidFill>
          </p:spPr>
        </p:sp>
        <p:sp>
          <p:nvSpPr>
            <p:cNvPr name="TextBox 11" id="11"/>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487240" y="516545"/>
            <a:ext cx="1664226" cy="1616285"/>
          </a:xfrm>
          <a:custGeom>
            <a:avLst/>
            <a:gdLst/>
            <a:ahLst/>
            <a:cxnLst/>
            <a:rect r="r" b="b" t="t" l="l"/>
            <a:pathLst>
              <a:path h="1616285" w="1664226">
                <a:moveTo>
                  <a:pt x="0" y="0"/>
                </a:moveTo>
                <a:lnTo>
                  <a:pt x="1664226" y="0"/>
                </a:lnTo>
                <a:lnTo>
                  <a:pt x="1664226" y="1616285"/>
                </a:lnTo>
                <a:lnTo>
                  <a:pt x="0" y="1616285"/>
                </a:lnTo>
                <a:lnTo>
                  <a:pt x="0" y="0"/>
                </a:lnTo>
                <a:close/>
              </a:path>
            </a:pathLst>
          </a:custGeom>
          <a:blipFill>
            <a:blip r:embed="rId4"/>
            <a:stretch>
              <a:fillRect l="0" t="0" r="0" b="0"/>
            </a:stretch>
          </a:blipFill>
        </p:spPr>
      </p:sp>
      <p:grpSp>
        <p:nvGrpSpPr>
          <p:cNvPr name="Group 13" id="13"/>
          <p:cNvGrpSpPr/>
          <p:nvPr/>
        </p:nvGrpSpPr>
        <p:grpSpPr>
          <a:xfrm rot="0">
            <a:off x="9144000" y="9708804"/>
            <a:ext cx="9144000" cy="560871"/>
            <a:chOff x="0" y="0"/>
            <a:chExt cx="2408296" cy="147719"/>
          </a:xfrm>
        </p:grpSpPr>
        <p:sp>
          <p:nvSpPr>
            <p:cNvPr name="Freeform 14" id="1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FFDE59"/>
            </a:solidFill>
          </p:spPr>
        </p:sp>
        <p:sp>
          <p:nvSpPr>
            <p:cNvPr name="TextBox 15" id="1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65541" y="3421446"/>
            <a:ext cx="8337260" cy="1670231"/>
            <a:chOff x="0" y="0"/>
            <a:chExt cx="2195822" cy="439896"/>
          </a:xfrm>
        </p:grpSpPr>
        <p:sp>
          <p:nvSpPr>
            <p:cNvPr name="Freeform 17" id="17"/>
            <p:cNvSpPr/>
            <p:nvPr/>
          </p:nvSpPr>
          <p:spPr>
            <a:xfrm flipH="false" flipV="false" rot="0">
              <a:off x="0" y="0"/>
              <a:ext cx="2195822" cy="439896"/>
            </a:xfrm>
            <a:custGeom>
              <a:avLst/>
              <a:gdLst/>
              <a:ahLst/>
              <a:cxnLst/>
              <a:rect r="r" b="b" t="t" l="l"/>
              <a:pathLst>
                <a:path h="439896" w="2195822">
                  <a:moveTo>
                    <a:pt x="0" y="0"/>
                  </a:moveTo>
                  <a:lnTo>
                    <a:pt x="2195822" y="0"/>
                  </a:lnTo>
                  <a:lnTo>
                    <a:pt x="2195822" y="439896"/>
                  </a:lnTo>
                  <a:lnTo>
                    <a:pt x="0" y="439896"/>
                  </a:lnTo>
                  <a:close/>
                </a:path>
              </a:pathLst>
            </a:custGeom>
            <a:solidFill>
              <a:srgbClr val="1800AD"/>
            </a:solidFill>
            <a:ln w="38100" cap="sq">
              <a:solidFill>
                <a:srgbClr val="FF751F"/>
              </a:solidFill>
              <a:prstDash val="solid"/>
              <a:miter/>
            </a:ln>
          </p:spPr>
        </p:sp>
        <p:sp>
          <p:nvSpPr>
            <p:cNvPr name="TextBox 18" id="18"/>
            <p:cNvSpPr txBox="true"/>
            <p:nvPr/>
          </p:nvSpPr>
          <p:spPr>
            <a:xfrm>
              <a:off x="0" y="-47625"/>
              <a:ext cx="2195822" cy="48752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962221" y="5327470"/>
            <a:ext cx="8337260" cy="1670231"/>
            <a:chOff x="0" y="0"/>
            <a:chExt cx="2195822" cy="439896"/>
          </a:xfrm>
        </p:grpSpPr>
        <p:sp>
          <p:nvSpPr>
            <p:cNvPr name="Freeform 20" id="20"/>
            <p:cNvSpPr/>
            <p:nvPr/>
          </p:nvSpPr>
          <p:spPr>
            <a:xfrm flipH="false" flipV="false" rot="0">
              <a:off x="0" y="0"/>
              <a:ext cx="2195822" cy="439896"/>
            </a:xfrm>
            <a:custGeom>
              <a:avLst/>
              <a:gdLst/>
              <a:ahLst/>
              <a:cxnLst/>
              <a:rect r="r" b="b" t="t" l="l"/>
              <a:pathLst>
                <a:path h="439896" w="2195822">
                  <a:moveTo>
                    <a:pt x="0" y="0"/>
                  </a:moveTo>
                  <a:lnTo>
                    <a:pt x="2195822" y="0"/>
                  </a:lnTo>
                  <a:lnTo>
                    <a:pt x="2195822" y="439896"/>
                  </a:lnTo>
                  <a:lnTo>
                    <a:pt x="0" y="439896"/>
                  </a:lnTo>
                  <a:close/>
                </a:path>
              </a:pathLst>
            </a:custGeom>
            <a:solidFill>
              <a:srgbClr val="1800AD"/>
            </a:solidFill>
            <a:ln w="38100" cap="sq">
              <a:solidFill>
                <a:srgbClr val="FFDE59"/>
              </a:solidFill>
              <a:prstDash val="solid"/>
              <a:miter/>
            </a:ln>
          </p:spPr>
        </p:sp>
        <p:sp>
          <p:nvSpPr>
            <p:cNvPr name="TextBox 21" id="21"/>
            <p:cNvSpPr txBox="true"/>
            <p:nvPr/>
          </p:nvSpPr>
          <p:spPr>
            <a:xfrm>
              <a:off x="0" y="-47625"/>
              <a:ext cx="2195822" cy="48752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965541" y="7283014"/>
            <a:ext cx="8337260" cy="1670231"/>
            <a:chOff x="0" y="0"/>
            <a:chExt cx="2195822" cy="439896"/>
          </a:xfrm>
        </p:grpSpPr>
        <p:sp>
          <p:nvSpPr>
            <p:cNvPr name="Freeform 23" id="23"/>
            <p:cNvSpPr/>
            <p:nvPr/>
          </p:nvSpPr>
          <p:spPr>
            <a:xfrm flipH="false" flipV="false" rot="0">
              <a:off x="0" y="0"/>
              <a:ext cx="2195822" cy="439896"/>
            </a:xfrm>
            <a:custGeom>
              <a:avLst/>
              <a:gdLst/>
              <a:ahLst/>
              <a:cxnLst/>
              <a:rect r="r" b="b" t="t" l="l"/>
              <a:pathLst>
                <a:path h="439896" w="2195822">
                  <a:moveTo>
                    <a:pt x="0" y="0"/>
                  </a:moveTo>
                  <a:lnTo>
                    <a:pt x="2195822" y="0"/>
                  </a:lnTo>
                  <a:lnTo>
                    <a:pt x="2195822" y="439896"/>
                  </a:lnTo>
                  <a:lnTo>
                    <a:pt x="0" y="439896"/>
                  </a:lnTo>
                  <a:close/>
                </a:path>
              </a:pathLst>
            </a:custGeom>
            <a:solidFill>
              <a:srgbClr val="1800AD"/>
            </a:solidFill>
            <a:ln w="38100" cap="sq">
              <a:solidFill>
                <a:srgbClr val="00BF63"/>
              </a:solidFill>
              <a:prstDash val="solid"/>
              <a:miter/>
            </a:ln>
          </p:spPr>
        </p:sp>
        <p:sp>
          <p:nvSpPr>
            <p:cNvPr name="TextBox 24" id="24"/>
            <p:cNvSpPr txBox="true"/>
            <p:nvPr/>
          </p:nvSpPr>
          <p:spPr>
            <a:xfrm>
              <a:off x="0" y="-47625"/>
              <a:ext cx="2195822" cy="487521"/>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1102579" y="3752539"/>
            <a:ext cx="1008045" cy="1008045"/>
          </a:xfrm>
          <a:custGeom>
            <a:avLst/>
            <a:gdLst/>
            <a:ahLst/>
            <a:cxnLst/>
            <a:rect r="r" b="b" t="t" l="l"/>
            <a:pathLst>
              <a:path h="1008045" w="1008045">
                <a:moveTo>
                  <a:pt x="0" y="0"/>
                </a:moveTo>
                <a:lnTo>
                  <a:pt x="1008045" y="0"/>
                </a:lnTo>
                <a:lnTo>
                  <a:pt x="1008045" y="1008045"/>
                </a:lnTo>
                <a:lnTo>
                  <a:pt x="0" y="10080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1123797" y="5715447"/>
            <a:ext cx="965608" cy="1038437"/>
          </a:xfrm>
          <a:custGeom>
            <a:avLst/>
            <a:gdLst/>
            <a:ahLst/>
            <a:cxnLst/>
            <a:rect r="r" b="b" t="t" l="l"/>
            <a:pathLst>
              <a:path h="1038437" w="965608">
                <a:moveTo>
                  <a:pt x="0" y="0"/>
                </a:moveTo>
                <a:lnTo>
                  <a:pt x="965608" y="0"/>
                </a:lnTo>
                <a:lnTo>
                  <a:pt x="965608" y="1038437"/>
                </a:lnTo>
                <a:lnTo>
                  <a:pt x="0" y="10384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7" id="27"/>
          <p:cNvSpPr/>
          <p:nvPr/>
        </p:nvSpPr>
        <p:spPr>
          <a:xfrm flipH="false" flipV="false" rot="0">
            <a:off x="1102579" y="7708747"/>
            <a:ext cx="1008045" cy="649147"/>
          </a:xfrm>
          <a:custGeom>
            <a:avLst/>
            <a:gdLst/>
            <a:ahLst/>
            <a:cxnLst/>
            <a:rect r="r" b="b" t="t" l="l"/>
            <a:pathLst>
              <a:path h="649147" w="1008045">
                <a:moveTo>
                  <a:pt x="0" y="0"/>
                </a:moveTo>
                <a:lnTo>
                  <a:pt x="1008045" y="0"/>
                </a:lnTo>
                <a:lnTo>
                  <a:pt x="1008045" y="649147"/>
                </a:lnTo>
                <a:lnTo>
                  <a:pt x="0" y="64914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8" id="28"/>
          <p:cNvGrpSpPr/>
          <p:nvPr/>
        </p:nvGrpSpPr>
        <p:grpSpPr>
          <a:xfrm rot="0">
            <a:off x="9553792" y="3394681"/>
            <a:ext cx="8337260" cy="1372624"/>
            <a:chOff x="0" y="0"/>
            <a:chExt cx="2195822" cy="361514"/>
          </a:xfrm>
        </p:grpSpPr>
        <p:sp>
          <p:nvSpPr>
            <p:cNvPr name="Freeform 29" id="29"/>
            <p:cNvSpPr/>
            <p:nvPr/>
          </p:nvSpPr>
          <p:spPr>
            <a:xfrm flipH="false" flipV="false" rot="0">
              <a:off x="0" y="0"/>
              <a:ext cx="2195822" cy="361514"/>
            </a:xfrm>
            <a:custGeom>
              <a:avLst/>
              <a:gdLst/>
              <a:ahLst/>
              <a:cxnLst/>
              <a:rect r="r" b="b" t="t" l="l"/>
              <a:pathLst>
                <a:path h="361514" w="2195822">
                  <a:moveTo>
                    <a:pt x="0" y="0"/>
                  </a:moveTo>
                  <a:lnTo>
                    <a:pt x="2195822" y="0"/>
                  </a:lnTo>
                  <a:lnTo>
                    <a:pt x="2195822" y="361514"/>
                  </a:lnTo>
                  <a:lnTo>
                    <a:pt x="0" y="361514"/>
                  </a:lnTo>
                  <a:close/>
                </a:path>
              </a:pathLst>
            </a:custGeom>
            <a:solidFill>
              <a:srgbClr val="1800AD"/>
            </a:solidFill>
            <a:ln w="38100" cap="sq">
              <a:solidFill>
                <a:srgbClr val="FF751F"/>
              </a:solidFill>
              <a:prstDash val="solid"/>
              <a:miter/>
            </a:ln>
          </p:spPr>
        </p:sp>
        <p:sp>
          <p:nvSpPr>
            <p:cNvPr name="TextBox 30" id="30"/>
            <p:cNvSpPr txBox="true"/>
            <p:nvPr/>
          </p:nvSpPr>
          <p:spPr>
            <a:xfrm>
              <a:off x="0" y="-47625"/>
              <a:ext cx="2195822" cy="409139"/>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9547370" y="4957805"/>
            <a:ext cx="8337260" cy="1222119"/>
            <a:chOff x="0" y="0"/>
            <a:chExt cx="2195822" cy="321875"/>
          </a:xfrm>
        </p:grpSpPr>
        <p:sp>
          <p:nvSpPr>
            <p:cNvPr name="Freeform 32" id="32"/>
            <p:cNvSpPr/>
            <p:nvPr/>
          </p:nvSpPr>
          <p:spPr>
            <a:xfrm flipH="false" flipV="false" rot="0">
              <a:off x="0" y="0"/>
              <a:ext cx="2195822" cy="321875"/>
            </a:xfrm>
            <a:custGeom>
              <a:avLst/>
              <a:gdLst/>
              <a:ahLst/>
              <a:cxnLst/>
              <a:rect r="r" b="b" t="t" l="l"/>
              <a:pathLst>
                <a:path h="321875" w="2195822">
                  <a:moveTo>
                    <a:pt x="0" y="0"/>
                  </a:moveTo>
                  <a:lnTo>
                    <a:pt x="2195822" y="0"/>
                  </a:lnTo>
                  <a:lnTo>
                    <a:pt x="2195822" y="321875"/>
                  </a:lnTo>
                  <a:lnTo>
                    <a:pt x="0" y="321875"/>
                  </a:lnTo>
                  <a:close/>
                </a:path>
              </a:pathLst>
            </a:custGeom>
            <a:solidFill>
              <a:srgbClr val="1800AD"/>
            </a:solidFill>
            <a:ln w="38100" cap="sq">
              <a:solidFill>
                <a:srgbClr val="FFDE59"/>
              </a:solidFill>
              <a:prstDash val="solid"/>
              <a:miter/>
            </a:ln>
          </p:spPr>
        </p:sp>
        <p:sp>
          <p:nvSpPr>
            <p:cNvPr name="TextBox 33" id="33"/>
            <p:cNvSpPr txBox="true"/>
            <p:nvPr/>
          </p:nvSpPr>
          <p:spPr>
            <a:xfrm>
              <a:off x="0" y="-47625"/>
              <a:ext cx="2195822" cy="369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9553792" y="6370424"/>
            <a:ext cx="8337260" cy="1167838"/>
            <a:chOff x="0" y="0"/>
            <a:chExt cx="2195822" cy="307579"/>
          </a:xfrm>
        </p:grpSpPr>
        <p:sp>
          <p:nvSpPr>
            <p:cNvPr name="Freeform 35" id="35"/>
            <p:cNvSpPr/>
            <p:nvPr/>
          </p:nvSpPr>
          <p:spPr>
            <a:xfrm flipH="false" flipV="false" rot="0">
              <a:off x="0" y="0"/>
              <a:ext cx="2195822" cy="307579"/>
            </a:xfrm>
            <a:custGeom>
              <a:avLst/>
              <a:gdLst/>
              <a:ahLst/>
              <a:cxnLst/>
              <a:rect r="r" b="b" t="t" l="l"/>
              <a:pathLst>
                <a:path h="307579" w="2195822">
                  <a:moveTo>
                    <a:pt x="0" y="0"/>
                  </a:moveTo>
                  <a:lnTo>
                    <a:pt x="2195822" y="0"/>
                  </a:lnTo>
                  <a:lnTo>
                    <a:pt x="2195822" y="307579"/>
                  </a:lnTo>
                  <a:lnTo>
                    <a:pt x="0" y="307579"/>
                  </a:lnTo>
                  <a:close/>
                </a:path>
              </a:pathLst>
            </a:custGeom>
            <a:solidFill>
              <a:srgbClr val="1800AD"/>
            </a:solidFill>
            <a:ln w="38100" cap="sq">
              <a:solidFill>
                <a:srgbClr val="00BF63"/>
              </a:solidFill>
              <a:prstDash val="solid"/>
              <a:miter/>
            </a:ln>
          </p:spPr>
        </p:sp>
        <p:sp>
          <p:nvSpPr>
            <p:cNvPr name="TextBox 36" id="36"/>
            <p:cNvSpPr txBox="true"/>
            <p:nvPr/>
          </p:nvSpPr>
          <p:spPr>
            <a:xfrm>
              <a:off x="0" y="-47625"/>
              <a:ext cx="2195822" cy="355204"/>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1028700" y="215814"/>
            <a:ext cx="8131423" cy="812886"/>
          </a:xfrm>
          <a:prstGeom prst="rect">
            <a:avLst/>
          </a:prstGeom>
        </p:spPr>
        <p:txBody>
          <a:bodyPr anchor="t" rtlCol="false" tIns="0" lIns="0" bIns="0" rIns="0">
            <a:spAutoFit/>
          </a:bodyPr>
          <a:lstStyle/>
          <a:p>
            <a:pPr algn="l">
              <a:lnSpc>
                <a:spcPts val="6645"/>
              </a:lnSpc>
              <a:spcBef>
                <a:spcPct val="0"/>
              </a:spcBef>
            </a:pPr>
            <a:r>
              <a:rPr lang="en-US" sz="4746" b="true">
                <a:solidFill>
                  <a:srgbClr val="FF751F"/>
                </a:solidFill>
                <a:latin typeface="Montserrat Bold"/>
                <a:ea typeface="Montserrat Bold"/>
                <a:cs typeface="Montserrat Bold"/>
                <a:sym typeface="Montserrat Bold"/>
              </a:rPr>
              <a:t>02 | Rumusan Masalah</a:t>
            </a:r>
          </a:p>
        </p:txBody>
      </p:sp>
      <p:sp>
        <p:nvSpPr>
          <p:cNvPr name="TextBox 38" id="38"/>
          <p:cNvSpPr txBox="true"/>
          <p:nvPr/>
        </p:nvSpPr>
        <p:spPr>
          <a:xfrm rot="0">
            <a:off x="1028700" y="1129213"/>
            <a:ext cx="10183956" cy="1072602"/>
          </a:xfrm>
          <a:prstGeom prst="rect">
            <a:avLst/>
          </a:prstGeom>
        </p:spPr>
        <p:txBody>
          <a:bodyPr anchor="t" rtlCol="false" tIns="0" lIns="0" bIns="0" rIns="0">
            <a:spAutoFit/>
          </a:bodyPr>
          <a:lstStyle/>
          <a:p>
            <a:pPr algn="l">
              <a:lnSpc>
                <a:spcPts val="8605"/>
              </a:lnSpc>
              <a:spcBef>
                <a:spcPct val="0"/>
              </a:spcBef>
            </a:pPr>
            <a:r>
              <a:rPr lang="en-US" sz="6146" b="true">
                <a:solidFill>
                  <a:srgbClr val="1800AD"/>
                </a:solidFill>
                <a:latin typeface="Archivo Narrow Bold"/>
                <a:ea typeface="Archivo Narrow Bold"/>
                <a:cs typeface="Archivo Narrow Bold"/>
                <a:sym typeface="Archivo Narrow Bold"/>
              </a:rPr>
              <a:t>Permasalahan Penelitian</a:t>
            </a:r>
          </a:p>
        </p:txBody>
      </p:sp>
      <p:sp>
        <p:nvSpPr>
          <p:cNvPr name="TextBox 39" id="39"/>
          <p:cNvSpPr txBox="true"/>
          <p:nvPr/>
        </p:nvSpPr>
        <p:spPr>
          <a:xfrm rot="0">
            <a:off x="952696" y="2709612"/>
            <a:ext cx="7715250" cy="521334"/>
          </a:xfrm>
          <a:prstGeom prst="rect">
            <a:avLst/>
          </a:prstGeom>
        </p:spPr>
        <p:txBody>
          <a:bodyPr anchor="t" rtlCol="false" tIns="0" lIns="0" bIns="0" rIns="0">
            <a:spAutoFit/>
          </a:bodyPr>
          <a:lstStyle/>
          <a:p>
            <a:pPr algn="l">
              <a:lnSpc>
                <a:spcPts val="4340"/>
              </a:lnSpc>
            </a:pPr>
            <a:r>
              <a:rPr lang="en-US" sz="3100" b="true">
                <a:solidFill>
                  <a:srgbClr val="FF751F"/>
                </a:solidFill>
                <a:latin typeface="Canva Sans Bold"/>
                <a:ea typeface="Canva Sans Bold"/>
                <a:cs typeface="Canva Sans Bold"/>
                <a:sym typeface="Canva Sans Bold"/>
              </a:rPr>
              <a:t>Identifikasi Masalah</a:t>
            </a:r>
          </a:p>
        </p:txBody>
      </p:sp>
      <p:sp>
        <p:nvSpPr>
          <p:cNvPr name="TextBox 40" id="40"/>
          <p:cNvSpPr txBox="true"/>
          <p:nvPr/>
        </p:nvSpPr>
        <p:spPr>
          <a:xfrm rot="0">
            <a:off x="2276322" y="3566911"/>
            <a:ext cx="6830081" cy="1355723"/>
          </a:xfrm>
          <a:prstGeom prst="rect">
            <a:avLst/>
          </a:prstGeom>
        </p:spPr>
        <p:txBody>
          <a:bodyPr anchor="t" rtlCol="false" tIns="0" lIns="0" bIns="0" rIns="0">
            <a:spAutoFit/>
          </a:bodyPr>
          <a:lstStyle/>
          <a:p>
            <a:pPr algn="just">
              <a:lnSpc>
                <a:spcPts val="2940"/>
              </a:lnSpc>
            </a:pPr>
            <a:r>
              <a:rPr lang="en-US" sz="2100" b="true">
                <a:solidFill>
                  <a:srgbClr val="FFFFFF"/>
                </a:solidFill>
                <a:latin typeface="Canva Sans Bold"/>
                <a:ea typeface="Canva Sans Bold"/>
                <a:cs typeface="Canva Sans Bold"/>
                <a:sym typeface="Canva Sans Bold"/>
              </a:rPr>
              <a:t>Teks</a:t>
            </a:r>
            <a:r>
              <a:rPr lang="en-US" b="true" sz="2100">
                <a:solidFill>
                  <a:srgbClr val="FFFFFF"/>
                </a:solidFill>
                <a:latin typeface="Canva Sans Bold"/>
                <a:ea typeface="Canva Sans Bold"/>
                <a:cs typeface="Canva Sans Bold"/>
                <a:sym typeface="Canva Sans Bold"/>
              </a:rPr>
              <a:t> terjemahan Al-Qur'an memiliki kompleksitas linguistik tinggi yang menyulitkan pemodelan semantik</a:t>
            </a:r>
          </a:p>
          <a:p>
            <a:pPr algn="just">
              <a:lnSpc>
                <a:spcPts val="1960"/>
              </a:lnSpc>
            </a:pPr>
          </a:p>
        </p:txBody>
      </p:sp>
      <p:sp>
        <p:nvSpPr>
          <p:cNvPr name="TextBox 41" id="41"/>
          <p:cNvSpPr txBox="true"/>
          <p:nvPr/>
        </p:nvSpPr>
        <p:spPr>
          <a:xfrm rot="0">
            <a:off x="2304897" y="5651412"/>
            <a:ext cx="6830081" cy="984248"/>
          </a:xfrm>
          <a:prstGeom prst="rect">
            <a:avLst/>
          </a:prstGeom>
        </p:spPr>
        <p:txBody>
          <a:bodyPr anchor="t" rtlCol="false" tIns="0" lIns="0" bIns="0" rIns="0">
            <a:spAutoFit/>
          </a:bodyPr>
          <a:lstStyle/>
          <a:p>
            <a:pPr algn="just">
              <a:lnSpc>
                <a:spcPts val="2940"/>
              </a:lnSpc>
            </a:pPr>
            <a:r>
              <a:rPr lang="en-US" sz="2100" b="true">
                <a:solidFill>
                  <a:srgbClr val="FFFFFF"/>
                </a:solidFill>
                <a:latin typeface="Canva Sans Bold"/>
                <a:ea typeface="Canva Sans Bold"/>
                <a:cs typeface="Canva Sans Bold"/>
                <a:sym typeface="Canva Sans Bold"/>
              </a:rPr>
              <a:t>CTM &amp; BERTopic memiliki</a:t>
            </a:r>
            <a:r>
              <a:rPr lang="en-US" b="true" sz="2100">
                <a:solidFill>
                  <a:srgbClr val="FFFFFF"/>
                </a:solidFill>
                <a:latin typeface="Canva Sans Bold"/>
                <a:ea typeface="Canva Sans Bold"/>
                <a:cs typeface="Canva Sans Bold"/>
                <a:sym typeface="Canva Sans Bold"/>
              </a:rPr>
              <a:t> keterbatasan berbeda: performa, komputasi, dan interpretabilitas</a:t>
            </a:r>
          </a:p>
          <a:p>
            <a:pPr algn="just">
              <a:lnSpc>
                <a:spcPts val="1960"/>
              </a:lnSpc>
            </a:pPr>
          </a:p>
        </p:txBody>
      </p:sp>
      <p:sp>
        <p:nvSpPr>
          <p:cNvPr name="TextBox 42" id="42"/>
          <p:cNvSpPr txBox="true"/>
          <p:nvPr/>
        </p:nvSpPr>
        <p:spPr>
          <a:xfrm rot="0">
            <a:off x="2247747" y="7670647"/>
            <a:ext cx="6830081" cy="984248"/>
          </a:xfrm>
          <a:prstGeom prst="rect">
            <a:avLst/>
          </a:prstGeom>
        </p:spPr>
        <p:txBody>
          <a:bodyPr anchor="t" rtlCol="false" tIns="0" lIns="0" bIns="0" rIns="0">
            <a:spAutoFit/>
          </a:bodyPr>
          <a:lstStyle/>
          <a:p>
            <a:pPr algn="just">
              <a:lnSpc>
                <a:spcPts val="2940"/>
              </a:lnSpc>
            </a:pPr>
            <a:r>
              <a:rPr lang="en-US" sz="2100" b="true">
                <a:solidFill>
                  <a:srgbClr val="FFFFFF"/>
                </a:solidFill>
                <a:latin typeface="Canva Sans Bold"/>
                <a:ea typeface="Canva Sans Bold"/>
                <a:cs typeface="Canva Sans Bold"/>
                <a:sym typeface="Canva Sans Bold"/>
              </a:rPr>
              <a:t>Belum</a:t>
            </a:r>
            <a:r>
              <a:rPr lang="en-US" b="true" sz="2100">
                <a:solidFill>
                  <a:srgbClr val="FFFFFF"/>
                </a:solidFill>
                <a:latin typeface="Canva Sans Bold"/>
                <a:ea typeface="Canva Sans Bold"/>
                <a:cs typeface="Canva Sans Bold"/>
                <a:sym typeface="Canva Sans Bold"/>
              </a:rPr>
              <a:t> ada perbandingan komprehensif kedua metode pada korpus teks religius bahasa Indonesia</a:t>
            </a:r>
          </a:p>
          <a:p>
            <a:pPr algn="just">
              <a:lnSpc>
                <a:spcPts val="1960"/>
              </a:lnSpc>
            </a:pPr>
          </a:p>
        </p:txBody>
      </p:sp>
      <p:sp>
        <p:nvSpPr>
          <p:cNvPr name="TextBox 43" id="43"/>
          <p:cNvSpPr txBox="true"/>
          <p:nvPr/>
        </p:nvSpPr>
        <p:spPr>
          <a:xfrm rot="0">
            <a:off x="9540947" y="2682847"/>
            <a:ext cx="7715250" cy="521334"/>
          </a:xfrm>
          <a:prstGeom prst="rect">
            <a:avLst/>
          </a:prstGeom>
        </p:spPr>
        <p:txBody>
          <a:bodyPr anchor="t" rtlCol="false" tIns="0" lIns="0" bIns="0" rIns="0">
            <a:spAutoFit/>
          </a:bodyPr>
          <a:lstStyle/>
          <a:p>
            <a:pPr algn="l">
              <a:lnSpc>
                <a:spcPts val="4340"/>
              </a:lnSpc>
            </a:pPr>
            <a:r>
              <a:rPr lang="en-US" sz="3100" b="true">
                <a:solidFill>
                  <a:srgbClr val="FF751F"/>
                </a:solidFill>
                <a:latin typeface="Canva Sans Bold"/>
                <a:ea typeface="Canva Sans Bold"/>
                <a:cs typeface="Canva Sans Bold"/>
                <a:sym typeface="Canva Sans Bold"/>
              </a:rPr>
              <a:t>Rumusan Masalah</a:t>
            </a:r>
          </a:p>
        </p:txBody>
      </p:sp>
      <p:sp>
        <p:nvSpPr>
          <p:cNvPr name="TextBox 44" id="44"/>
          <p:cNvSpPr txBox="true"/>
          <p:nvPr/>
        </p:nvSpPr>
        <p:spPr>
          <a:xfrm rot="0">
            <a:off x="10893148" y="3709006"/>
            <a:ext cx="6830081" cy="984248"/>
          </a:xfrm>
          <a:prstGeom prst="rect">
            <a:avLst/>
          </a:prstGeom>
        </p:spPr>
        <p:txBody>
          <a:bodyPr anchor="t" rtlCol="false" tIns="0" lIns="0" bIns="0" rIns="0">
            <a:spAutoFit/>
          </a:bodyPr>
          <a:lstStyle/>
          <a:p>
            <a:pPr algn="just">
              <a:lnSpc>
                <a:spcPts val="2940"/>
              </a:lnSpc>
            </a:pPr>
            <a:r>
              <a:rPr lang="en-US" sz="2100" b="true">
                <a:solidFill>
                  <a:srgbClr val="FFFFFF"/>
                </a:solidFill>
                <a:latin typeface="Canva Sans Bold"/>
                <a:ea typeface="Canva Sans Bold"/>
                <a:cs typeface="Canva Sans Bold"/>
                <a:sym typeface="Canva Sans Bold"/>
              </a:rPr>
              <a:t>Bagaimana</a:t>
            </a:r>
            <a:r>
              <a:rPr lang="en-US" b="true" sz="2100">
                <a:solidFill>
                  <a:srgbClr val="FFFFFF"/>
                </a:solidFill>
                <a:latin typeface="Canva Sans Bold"/>
                <a:ea typeface="Canva Sans Bold"/>
                <a:cs typeface="Canva Sans Bold"/>
                <a:sym typeface="Canva Sans Bold"/>
              </a:rPr>
              <a:t> membangun model CTM &amp; BERTopic untuk teks terjemahan Al-Qur'an?</a:t>
            </a:r>
          </a:p>
          <a:p>
            <a:pPr algn="just">
              <a:lnSpc>
                <a:spcPts val="1960"/>
              </a:lnSpc>
            </a:pPr>
          </a:p>
        </p:txBody>
      </p:sp>
      <p:sp>
        <p:nvSpPr>
          <p:cNvPr name="TextBox 45" id="45"/>
          <p:cNvSpPr txBox="true"/>
          <p:nvPr/>
        </p:nvSpPr>
        <p:spPr>
          <a:xfrm rot="0">
            <a:off x="10835998" y="5122195"/>
            <a:ext cx="6830081" cy="984248"/>
          </a:xfrm>
          <a:prstGeom prst="rect">
            <a:avLst/>
          </a:prstGeom>
        </p:spPr>
        <p:txBody>
          <a:bodyPr anchor="t" rtlCol="false" tIns="0" lIns="0" bIns="0" rIns="0">
            <a:spAutoFit/>
          </a:bodyPr>
          <a:lstStyle/>
          <a:p>
            <a:pPr algn="just">
              <a:lnSpc>
                <a:spcPts val="2940"/>
              </a:lnSpc>
            </a:pPr>
            <a:r>
              <a:rPr lang="en-US" sz="2100" b="true">
                <a:solidFill>
                  <a:srgbClr val="FFFFFF"/>
                </a:solidFill>
                <a:latin typeface="Canva Sans Bold"/>
                <a:ea typeface="Canva Sans Bold"/>
                <a:cs typeface="Canva Sans Bold"/>
                <a:sym typeface="Canva Sans Bold"/>
              </a:rPr>
              <a:t>Bagaimana mengukur</a:t>
            </a:r>
            <a:r>
              <a:rPr lang="en-US" b="true" sz="2100">
                <a:solidFill>
                  <a:srgbClr val="FFFFFF"/>
                </a:solidFill>
                <a:latin typeface="Canva Sans Bold"/>
                <a:ea typeface="Canva Sans Bold"/>
                <a:cs typeface="Canva Sans Bold"/>
                <a:sym typeface="Canva Sans Bold"/>
              </a:rPr>
              <a:t> kualitas topik berdasarkan metrik koherensi (C_V, UMass, NPMI)?</a:t>
            </a:r>
          </a:p>
          <a:p>
            <a:pPr algn="just">
              <a:lnSpc>
                <a:spcPts val="1960"/>
              </a:lnSpc>
            </a:pPr>
          </a:p>
        </p:txBody>
      </p:sp>
      <p:sp>
        <p:nvSpPr>
          <p:cNvPr name="TextBox 46" id="46"/>
          <p:cNvSpPr txBox="true"/>
          <p:nvPr/>
        </p:nvSpPr>
        <p:spPr>
          <a:xfrm rot="0">
            <a:off x="10835998" y="6418049"/>
            <a:ext cx="6830081" cy="984248"/>
          </a:xfrm>
          <a:prstGeom prst="rect">
            <a:avLst/>
          </a:prstGeom>
        </p:spPr>
        <p:txBody>
          <a:bodyPr anchor="t" rtlCol="false" tIns="0" lIns="0" bIns="0" rIns="0">
            <a:spAutoFit/>
          </a:bodyPr>
          <a:lstStyle/>
          <a:p>
            <a:pPr algn="just">
              <a:lnSpc>
                <a:spcPts val="2940"/>
              </a:lnSpc>
            </a:pPr>
            <a:r>
              <a:rPr lang="en-US" sz="2100" b="true">
                <a:solidFill>
                  <a:srgbClr val="FFFFFF"/>
                </a:solidFill>
                <a:latin typeface="Canva Sans Bold"/>
                <a:ea typeface="Canva Sans Bold"/>
                <a:cs typeface="Canva Sans Bold"/>
                <a:sym typeface="Canva Sans Bold"/>
              </a:rPr>
              <a:t>Bagaim</a:t>
            </a:r>
            <a:r>
              <a:rPr lang="en-US" b="true" sz="2100">
                <a:solidFill>
                  <a:srgbClr val="FFFFFF"/>
                </a:solidFill>
                <a:latin typeface="Canva Sans Bold"/>
                <a:ea typeface="Canva Sans Bold"/>
                <a:cs typeface="Canva Sans Bold"/>
                <a:sym typeface="Canva Sans Bold"/>
              </a:rPr>
              <a:t>ana menginterpretasikan &amp; mengelompokkan tema dari kedua metode?</a:t>
            </a:r>
          </a:p>
          <a:p>
            <a:pPr algn="just">
              <a:lnSpc>
                <a:spcPts val="1960"/>
              </a:lnSpc>
            </a:pPr>
          </a:p>
        </p:txBody>
      </p:sp>
      <p:sp>
        <p:nvSpPr>
          <p:cNvPr name="TextBox 47" id="47"/>
          <p:cNvSpPr txBox="true"/>
          <p:nvPr/>
        </p:nvSpPr>
        <p:spPr>
          <a:xfrm rot="0">
            <a:off x="9970938" y="3481186"/>
            <a:ext cx="447829" cy="1138591"/>
          </a:xfrm>
          <a:prstGeom prst="rect">
            <a:avLst/>
          </a:prstGeom>
        </p:spPr>
        <p:txBody>
          <a:bodyPr anchor="t" rtlCol="false" tIns="0" lIns="0" bIns="0" rIns="0">
            <a:spAutoFit/>
          </a:bodyPr>
          <a:lstStyle/>
          <a:p>
            <a:pPr algn="ctr">
              <a:lnSpc>
                <a:spcPts val="9368"/>
              </a:lnSpc>
            </a:pPr>
            <a:r>
              <a:rPr lang="en-US" b="true" sz="6691">
                <a:solidFill>
                  <a:srgbClr val="FF751F"/>
                </a:solidFill>
                <a:latin typeface="Canva Sans Bold"/>
                <a:ea typeface="Canva Sans Bold"/>
                <a:cs typeface="Canva Sans Bold"/>
                <a:sym typeface="Canva Sans Bold"/>
              </a:rPr>
              <a:t>1</a:t>
            </a:r>
          </a:p>
        </p:txBody>
      </p:sp>
      <p:sp>
        <p:nvSpPr>
          <p:cNvPr name="TextBox 48" id="48"/>
          <p:cNvSpPr txBox="true"/>
          <p:nvPr/>
        </p:nvSpPr>
        <p:spPr>
          <a:xfrm rot="0">
            <a:off x="9945217" y="4833980"/>
            <a:ext cx="473550" cy="1138591"/>
          </a:xfrm>
          <a:prstGeom prst="rect">
            <a:avLst/>
          </a:prstGeom>
        </p:spPr>
        <p:txBody>
          <a:bodyPr anchor="t" rtlCol="false" tIns="0" lIns="0" bIns="0" rIns="0">
            <a:spAutoFit/>
          </a:bodyPr>
          <a:lstStyle/>
          <a:p>
            <a:pPr algn="ctr">
              <a:lnSpc>
                <a:spcPts val="9368"/>
              </a:lnSpc>
            </a:pPr>
            <a:r>
              <a:rPr lang="en-US" sz="6691" b="true">
                <a:solidFill>
                  <a:srgbClr val="FF751F"/>
                </a:solidFill>
                <a:latin typeface="Canva Sans Bold"/>
                <a:ea typeface="Canva Sans Bold"/>
                <a:cs typeface="Canva Sans Bold"/>
                <a:sym typeface="Canva Sans Bold"/>
              </a:rPr>
              <a:t>2</a:t>
            </a:r>
          </a:p>
        </p:txBody>
      </p:sp>
      <p:sp>
        <p:nvSpPr>
          <p:cNvPr name="TextBox 49" id="49"/>
          <p:cNvSpPr txBox="true"/>
          <p:nvPr/>
        </p:nvSpPr>
        <p:spPr>
          <a:xfrm rot="0">
            <a:off x="9956649" y="6246599"/>
            <a:ext cx="502129" cy="1138591"/>
          </a:xfrm>
          <a:prstGeom prst="rect">
            <a:avLst/>
          </a:prstGeom>
        </p:spPr>
        <p:txBody>
          <a:bodyPr anchor="t" rtlCol="false" tIns="0" lIns="0" bIns="0" rIns="0">
            <a:spAutoFit/>
          </a:bodyPr>
          <a:lstStyle/>
          <a:p>
            <a:pPr algn="ctr">
              <a:lnSpc>
                <a:spcPts val="9368"/>
              </a:lnSpc>
            </a:pPr>
            <a:r>
              <a:rPr lang="en-US" sz="6691" b="true">
                <a:solidFill>
                  <a:srgbClr val="FF751F"/>
                </a:solidFill>
                <a:latin typeface="Canva Sans Bold"/>
                <a:ea typeface="Canva Sans Bold"/>
                <a:cs typeface="Canva Sans Bold"/>
                <a:sym typeface="Canva Sans Bold"/>
              </a:rPr>
              <a:t>3</a:t>
            </a:r>
          </a:p>
        </p:txBody>
      </p:sp>
      <p:grpSp>
        <p:nvGrpSpPr>
          <p:cNvPr name="Group 50" id="50"/>
          <p:cNvGrpSpPr/>
          <p:nvPr/>
        </p:nvGrpSpPr>
        <p:grpSpPr>
          <a:xfrm rot="0">
            <a:off x="9553792" y="7662087"/>
            <a:ext cx="8337260" cy="1167838"/>
            <a:chOff x="0" y="0"/>
            <a:chExt cx="2195822" cy="307579"/>
          </a:xfrm>
        </p:grpSpPr>
        <p:sp>
          <p:nvSpPr>
            <p:cNvPr name="Freeform 51" id="51"/>
            <p:cNvSpPr/>
            <p:nvPr/>
          </p:nvSpPr>
          <p:spPr>
            <a:xfrm flipH="false" flipV="false" rot="0">
              <a:off x="0" y="0"/>
              <a:ext cx="2195822" cy="307579"/>
            </a:xfrm>
            <a:custGeom>
              <a:avLst/>
              <a:gdLst/>
              <a:ahLst/>
              <a:cxnLst/>
              <a:rect r="r" b="b" t="t" l="l"/>
              <a:pathLst>
                <a:path h="307579" w="2195822">
                  <a:moveTo>
                    <a:pt x="0" y="0"/>
                  </a:moveTo>
                  <a:lnTo>
                    <a:pt x="2195822" y="0"/>
                  </a:lnTo>
                  <a:lnTo>
                    <a:pt x="2195822" y="307579"/>
                  </a:lnTo>
                  <a:lnTo>
                    <a:pt x="0" y="307579"/>
                  </a:lnTo>
                  <a:close/>
                </a:path>
              </a:pathLst>
            </a:custGeom>
            <a:solidFill>
              <a:srgbClr val="1800AD"/>
            </a:solidFill>
            <a:ln w="38100" cap="sq">
              <a:solidFill>
                <a:srgbClr val="CF4119"/>
              </a:solidFill>
              <a:prstDash val="solid"/>
              <a:miter/>
            </a:ln>
          </p:spPr>
        </p:sp>
        <p:sp>
          <p:nvSpPr>
            <p:cNvPr name="TextBox 52" id="52"/>
            <p:cNvSpPr txBox="true"/>
            <p:nvPr/>
          </p:nvSpPr>
          <p:spPr>
            <a:xfrm>
              <a:off x="0" y="-47625"/>
              <a:ext cx="2195822" cy="355204"/>
            </a:xfrm>
            <a:prstGeom prst="rect">
              <a:avLst/>
            </a:prstGeom>
          </p:spPr>
          <p:txBody>
            <a:bodyPr anchor="ctr" rtlCol="false" tIns="50800" lIns="50800" bIns="50800" rIns="50800"/>
            <a:lstStyle/>
            <a:p>
              <a:pPr algn="ctr">
                <a:lnSpc>
                  <a:spcPts val="2659"/>
                </a:lnSpc>
              </a:pPr>
            </a:p>
          </p:txBody>
        </p:sp>
      </p:grpSp>
      <p:sp>
        <p:nvSpPr>
          <p:cNvPr name="TextBox 53" id="53"/>
          <p:cNvSpPr txBox="true"/>
          <p:nvPr/>
        </p:nvSpPr>
        <p:spPr>
          <a:xfrm rot="0">
            <a:off x="9903344" y="7584922"/>
            <a:ext cx="528717" cy="1138591"/>
          </a:xfrm>
          <a:prstGeom prst="rect">
            <a:avLst/>
          </a:prstGeom>
        </p:spPr>
        <p:txBody>
          <a:bodyPr anchor="t" rtlCol="false" tIns="0" lIns="0" bIns="0" rIns="0">
            <a:spAutoFit/>
          </a:bodyPr>
          <a:lstStyle/>
          <a:p>
            <a:pPr algn="ctr">
              <a:lnSpc>
                <a:spcPts val="9368"/>
              </a:lnSpc>
            </a:pPr>
            <a:r>
              <a:rPr lang="en-US" sz="6691" b="true">
                <a:solidFill>
                  <a:srgbClr val="FF751F"/>
                </a:solidFill>
                <a:latin typeface="Canva Sans Bold"/>
                <a:ea typeface="Canva Sans Bold"/>
                <a:cs typeface="Canva Sans Bold"/>
                <a:sym typeface="Canva Sans Bold"/>
              </a:rPr>
              <a:t>4</a:t>
            </a:r>
          </a:p>
        </p:txBody>
      </p:sp>
      <p:sp>
        <p:nvSpPr>
          <p:cNvPr name="TextBox 54" id="54"/>
          <p:cNvSpPr txBox="true"/>
          <p:nvPr/>
        </p:nvSpPr>
        <p:spPr>
          <a:xfrm rot="0">
            <a:off x="10835998" y="7766862"/>
            <a:ext cx="6830081" cy="984248"/>
          </a:xfrm>
          <a:prstGeom prst="rect">
            <a:avLst/>
          </a:prstGeom>
        </p:spPr>
        <p:txBody>
          <a:bodyPr anchor="t" rtlCol="false" tIns="0" lIns="0" bIns="0" rIns="0">
            <a:spAutoFit/>
          </a:bodyPr>
          <a:lstStyle/>
          <a:p>
            <a:pPr algn="just">
              <a:lnSpc>
                <a:spcPts val="2940"/>
              </a:lnSpc>
            </a:pPr>
            <a:r>
              <a:rPr lang="en-US" sz="2100" b="true">
                <a:solidFill>
                  <a:srgbClr val="FFFFFF"/>
                </a:solidFill>
                <a:latin typeface="Canva Sans Bold"/>
                <a:ea typeface="Canva Sans Bold"/>
                <a:cs typeface="Canva Sans Bold"/>
                <a:sym typeface="Canva Sans Bold"/>
              </a:rPr>
              <a:t>Apa tema utam</a:t>
            </a:r>
            <a:r>
              <a:rPr lang="en-US" b="true" sz="2100">
                <a:solidFill>
                  <a:srgbClr val="FFFFFF"/>
                </a:solidFill>
                <a:latin typeface="Canva Sans Bold"/>
                <a:ea typeface="Canva Sans Bold"/>
                <a:cs typeface="Canva Sans Bold"/>
                <a:sym typeface="Canva Sans Bold"/>
              </a:rPr>
              <a:t>a yang terbentuk dari hasil kedua model pada terjemahan Al-Qur'an?</a:t>
            </a:r>
          </a:p>
          <a:p>
            <a:pPr algn="just">
              <a:lnSpc>
                <a:spcPts val="196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53792" y="5920701"/>
            <a:ext cx="8337260" cy="1077000"/>
            <a:chOff x="0" y="0"/>
            <a:chExt cx="2195822" cy="283654"/>
          </a:xfrm>
        </p:grpSpPr>
        <p:sp>
          <p:nvSpPr>
            <p:cNvPr name="Freeform 3" id="3"/>
            <p:cNvSpPr/>
            <p:nvPr/>
          </p:nvSpPr>
          <p:spPr>
            <a:xfrm flipH="false" flipV="false" rot="0">
              <a:off x="0" y="0"/>
              <a:ext cx="2195822" cy="283654"/>
            </a:xfrm>
            <a:custGeom>
              <a:avLst/>
              <a:gdLst/>
              <a:ahLst/>
              <a:cxnLst/>
              <a:rect r="r" b="b" t="t" l="l"/>
              <a:pathLst>
                <a:path h="283654" w="2195822">
                  <a:moveTo>
                    <a:pt x="0" y="0"/>
                  </a:moveTo>
                  <a:lnTo>
                    <a:pt x="2195822" y="0"/>
                  </a:lnTo>
                  <a:lnTo>
                    <a:pt x="2195822" y="283654"/>
                  </a:lnTo>
                  <a:lnTo>
                    <a:pt x="0" y="283654"/>
                  </a:lnTo>
                  <a:close/>
                </a:path>
              </a:pathLst>
            </a:custGeom>
            <a:solidFill>
              <a:srgbClr val="081F8C"/>
            </a:solidFill>
            <a:ln w="38100" cap="sq">
              <a:solidFill>
                <a:srgbClr val="FF751F"/>
              </a:solidFill>
              <a:prstDash val="solid"/>
              <a:miter/>
            </a:ln>
          </p:spPr>
        </p:sp>
        <p:sp>
          <p:nvSpPr>
            <p:cNvPr name="TextBox 4" id="4"/>
            <p:cNvSpPr txBox="true"/>
            <p:nvPr/>
          </p:nvSpPr>
          <p:spPr>
            <a:xfrm>
              <a:off x="0" y="-47625"/>
              <a:ext cx="2195822" cy="33127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5033559">
            <a:off x="3743699" y="-3979526"/>
            <a:ext cx="9848495" cy="18613993"/>
          </a:xfrm>
          <a:custGeom>
            <a:avLst/>
            <a:gdLst/>
            <a:ahLst/>
            <a:cxnLst/>
            <a:rect r="r" b="b" t="t" l="l"/>
            <a:pathLst>
              <a:path h="18613993" w="9848495">
                <a:moveTo>
                  <a:pt x="0" y="18613993"/>
                </a:moveTo>
                <a:lnTo>
                  <a:pt x="9848495" y="18613993"/>
                </a:lnTo>
                <a:lnTo>
                  <a:pt x="9848495" y="0"/>
                </a:lnTo>
                <a:lnTo>
                  <a:pt x="0" y="0"/>
                </a:lnTo>
                <a:lnTo>
                  <a:pt x="0" y="18613993"/>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9708804"/>
            <a:ext cx="9144000" cy="560871"/>
            <a:chOff x="0" y="0"/>
            <a:chExt cx="2408296" cy="147719"/>
          </a:xfrm>
        </p:grpSpPr>
        <p:sp>
          <p:nvSpPr>
            <p:cNvPr name="Freeform 7" id="7"/>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1800AD"/>
            </a:solidFill>
          </p:spPr>
        </p:sp>
        <p:sp>
          <p:nvSpPr>
            <p:cNvPr name="TextBox 8" id="8"/>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28700" y="2479309"/>
            <a:ext cx="8115300" cy="137058"/>
            <a:chOff x="0" y="0"/>
            <a:chExt cx="2137363" cy="36097"/>
          </a:xfrm>
        </p:grpSpPr>
        <p:sp>
          <p:nvSpPr>
            <p:cNvPr name="Freeform 10" id="10"/>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DE59"/>
            </a:solidFill>
          </p:spPr>
        </p:sp>
        <p:sp>
          <p:nvSpPr>
            <p:cNvPr name="TextBox 11" id="11"/>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144000" y="2479309"/>
            <a:ext cx="8115300" cy="137058"/>
            <a:chOff x="0" y="0"/>
            <a:chExt cx="2137363" cy="36097"/>
          </a:xfrm>
        </p:grpSpPr>
        <p:sp>
          <p:nvSpPr>
            <p:cNvPr name="Freeform 13" id="13"/>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1800AD"/>
            </a:solidFill>
          </p:spPr>
        </p:sp>
        <p:sp>
          <p:nvSpPr>
            <p:cNvPr name="TextBox 14" id="14"/>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5487240" y="516545"/>
            <a:ext cx="1664226" cy="1616285"/>
          </a:xfrm>
          <a:custGeom>
            <a:avLst/>
            <a:gdLst/>
            <a:ahLst/>
            <a:cxnLst/>
            <a:rect r="r" b="b" t="t" l="l"/>
            <a:pathLst>
              <a:path h="1616285" w="1664226">
                <a:moveTo>
                  <a:pt x="0" y="0"/>
                </a:moveTo>
                <a:lnTo>
                  <a:pt x="1664226" y="0"/>
                </a:lnTo>
                <a:lnTo>
                  <a:pt x="1664226" y="1616285"/>
                </a:lnTo>
                <a:lnTo>
                  <a:pt x="0" y="1616285"/>
                </a:lnTo>
                <a:lnTo>
                  <a:pt x="0" y="0"/>
                </a:lnTo>
                <a:close/>
              </a:path>
            </a:pathLst>
          </a:custGeom>
          <a:blipFill>
            <a:blip r:embed="rId4"/>
            <a:stretch>
              <a:fillRect l="0" t="0" r="0" b="0"/>
            </a:stretch>
          </a:blipFill>
        </p:spPr>
      </p:sp>
      <p:grpSp>
        <p:nvGrpSpPr>
          <p:cNvPr name="Group 16" id="16"/>
          <p:cNvGrpSpPr/>
          <p:nvPr/>
        </p:nvGrpSpPr>
        <p:grpSpPr>
          <a:xfrm rot="0">
            <a:off x="9144000" y="9708804"/>
            <a:ext cx="9144000" cy="560871"/>
            <a:chOff x="0" y="0"/>
            <a:chExt cx="2408296" cy="147719"/>
          </a:xfrm>
        </p:grpSpPr>
        <p:sp>
          <p:nvSpPr>
            <p:cNvPr name="Freeform 17" id="17"/>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FFDE59"/>
            </a:solidFill>
          </p:spPr>
        </p:sp>
        <p:sp>
          <p:nvSpPr>
            <p:cNvPr name="TextBox 18" id="18"/>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965541" y="3421446"/>
            <a:ext cx="8337260" cy="1670231"/>
            <a:chOff x="0" y="0"/>
            <a:chExt cx="2195822" cy="439896"/>
          </a:xfrm>
        </p:grpSpPr>
        <p:sp>
          <p:nvSpPr>
            <p:cNvPr name="Freeform 20" id="20"/>
            <p:cNvSpPr/>
            <p:nvPr/>
          </p:nvSpPr>
          <p:spPr>
            <a:xfrm flipH="false" flipV="false" rot="0">
              <a:off x="0" y="0"/>
              <a:ext cx="2195822" cy="439896"/>
            </a:xfrm>
            <a:custGeom>
              <a:avLst/>
              <a:gdLst/>
              <a:ahLst/>
              <a:cxnLst/>
              <a:rect r="r" b="b" t="t" l="l"/>
              <a:pathLst>
                <a:path h="439896" w="2195822">
                  <a:moveTo>
                    <a:pt x="0" y="0"/>
                  </a:moveTo>
                  <a:lnTo>
                    <a:pt x="2195822" y="0"/>
                  </a:lnTo>
                  <a:lnTo>
                    <a:pt x="2195822" y="439896"/>
                  </a:lnTo>
                  <a:lnTo>
                    <a:pt x="0" y="439896"/>
                  </a:lnTo>
                  <a:close/>
                </a:path>
              </a:pathLst>
            </a:custGeom>
            <a:solidFill>
              <a:srgbClr val="1800AD"/>
            </a:solidFill>
            <a:ln w="38100" cap="sq">
              <a:solidFill>
                <a:srgbClr val="FF751F"/>
              </a:solidFill>
              <a:prstDash val="solid"/>
              <a:miter/>
            </a:ln>
          </p:spPr>
        </p:sp>
        <p:sp>
          <p:nvSpPr>
            <p:cNvPr name="TextBox 21" id="21"/>
            <p:cNvSpPr txBox="true"/>
            <p:nvPr/>
          </p:nvSpPr>
          <p:spPr>
            <a:xfrm>
              <a:off x="0" y="-47625"/>
              <a:ext cx="2195822" cy="48752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962221" y="5327470"/>
            <a:ext cx="8337260" cy="1670231"/>
            <a:chOff x="0" y="0"/>
            <a:chExt cx="2195822" cy="439896"/>
          </a:xfrm>
        </p:grpSpPr>
        <p:sp>
          <p:nvSpPr>
            <p:cNvPr name="Freeform 23" id="23"/>
            <p:cNvSpPr/>
            <p:nvPr/>
          </p:nvSpPr>
          <p:spPr>
            <a:xfrm flipH="false" flipV="false" rot="0">
              <a:off x="0" y="0"/>
              <a:ext cx="2195822" cy="439896"/>
            </a:xfrm>
            <a:custGeom>
              <a:avLst/>
              <a:gdLst/>
              <a:ahLst/>
              <a:cxnLst/>
              <a:rect r="r" b="b" t="t" l="l"/>
              <a:pathLst>
                <a:path h="439896" w="2195822">
                  <a:moveTo>
                    <a:pt x="0" y="0"/>
                  </a:moveTo>
                  <a:lnTo>
                    <a:pt x="2195822" y="0"/>
                  </a:lnTo>
                  <a:lnTo>
                    <a:pt x="2195822" y="439896"/>
                  </a:lnTo>
                  <a:lnTo>
                    <a:pt x="0" y="439896"/>
                  </a:lnTo>
                  <a:close/>
                </a:path>
              </a:pathLst>
            </a:custGeom>
            <a:solidFill>
              <a:srgbClr val="1800AD"/>
            </a:solidFill>
            <a:ln w="38100" cap="sq">
              <a:solidFill>
                <a:srgbClr val="FFDE59"/>
              </a:solidFill>
              <a:prstDash val="solid"/>
              <a:miter/>
            </a:ln>
          </p:spPr>
        </p:sp>
        <p:sp>
          <p:nvSpPr>
            <p:cNvPr name="TextBox 24" id="24"/>
            <p:cNvSpPr txBox="true"/>
            <p:nvPr/>
          </p:nvSpPr>
          <p:spPr>
            <a:xfrm>
              <a:off x="0" y="-47625"/>
              <a:ext cx="2195822" cy="487521"/>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028700" y="7292919"/>
            <a:ext cx="8337260" cy="1670231"/>
            <a:chOff x="0" y="0"/>
            <a:chExt cx="2195822" cy="439896"/>
          </a:xfrm>
        </p:grpSpPr>
        <p:sp>
          <p:nvSpPr>
            <p:cNvPr name="Freeform 26" id="26"/>
            <p:cNvSpPr/>
            <p:nvPr/>
          </p:nvSpPr>
          <p:spPr>
            <a:xfrm flipH="false" flipV="false" rot="0">
              <a:off x="0" y="0"/>
              <a:ext cx="2195822" cy="439896"/>
            </a:xfrm>
            <a:custGeom>
              <a:avLst/>
              <a:gdLst/>
              <a:ahLst/>
              <a:cxnLst/>
              <a:rect r="r" b="b" t="t" l="l"/>
              <a:pathLst>
                <a:path h="439896" w="2195822">
                  <a:moveTo>
                    <a:pt x="0" y="0"/>
                  </a:moveTo>
                  <a:lnTo>
                    <a:pt x="2195822" y="0"/>
                  </a:lnTo>
                  <a:lnTo>
                    <a:pt x="2195822" y="439896"/>
                  </a:lnTo>
                  <a:lnTo>
                    <a:pt x="0" y="439896"/>
                  </a:lnTo>
                  <a:close/>
                </a:path>
              </a:pathLst>
            </a:custGeom>
            <a:solidFill>
              <a:srgbClr val="1800AD"/>
            </a:solidFill>
            <a:ln w="38100" cap="sq">
              <a:solidFill>
                <a:srgbClr val="00BF63"/>
              </a:solidFill>
              <a:prstDash val="solid"/>
              <a:miter/>
            </a:ln>
          </p:spPr>
        </p:sp>
        <p:sp>
          <p:nvSpPr>
            <p:cNvPr name="TextBox 27" id="27"/>
            <p:cNvSpPr txBox="true"/>
            <p:nvPr/>
          </p:nvSpPr>
          <p:spPr>
            <a:xfrm>
              <a:off x="0" y="-47625"/>
              <a:ext cx="2195822" cy="487521"/>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9553792" y="3394681"/>
            <a:ext cx="8337260" cy="601099"/>
            <a:chOff x="0" y="0"/>
            <a:chExt cx="2195822" cy="158314"/>
          </a:xfrm>
        </p:grpSpPr>
        <p:sp>
          <p:nvSpPr>
            <p:cNvPr name="Freeform 29" id="29"/>
            <p:cNvSpPr/>
            <p:nvPr/>
          </p:nvSpPr>
          <p:spPr>
            <a:xfrm flipH="false" flipV="false" rot="0">
              <a:off x="0" y="0"/>
              <a:ext cx="2195822" cy="158314"/>
            </a:xfrm>
            <a:custGeom>
              <a:avLst/>
              <a:gdLst/>
              <a:ahLst/>
              <a:cxnLst/>
              <a:rect r="r" b="b" t="t" l="l"/>
              <a:pathLst>
                <a:path h="158314" w="2195822">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name="TextBox 30" id="30"/>
            <p:cNvSpPr txBox="true"/>
            <p:nvPr/>
          </p:nvSpPr>
          <p:spPr>
            <a:xfrm>
              <a:off x="0" y="-47625"/>
              <a:ext cx="2195822" cy="205939"/>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1123797" y="3669196"/>
            <a:ext cx="905799" cy="905799"/>
          </a:xfrm>
          <a:custGeom>
            <a:avLst/>
            <a:gdLst/>
            <a:ahLst/>
            <a:cxnLst/>
            <a:rect r="r" b="b" t="t" l="l"/>
            <a:pathLst>
              <a:path h="905799" w="905799">
                <a:moveTo>
                  <a:pt x="0" y="0"/>
                </a:moveTo>
                <a:lnTo>
                  <a:pt x="905800" y="0"/>
                </a:lnTo>
                <a:lnTo>
                  <a:pt x="905800" y="905799"/>
                </a:lnTo>
                <a:lnTo>
                  <a:pt x="0" y="9057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2" id="32"/>
          <p:cNvSpPr/>
          <p:nvPr/>
        </p:nvSpPr>
        <p:spPr>
          <a:xfrm flipH="false" flipV="false" rot="0">
            <a:off x="1117793" y="5440219"/>
            <a:ext cx="911804" cy="1107047"/>
          </a:xfrm>
          <a:custGeom>
            <a:avLst/>
            <a:gdLst/>
            <a:ahLst/>
            <a:cxnLst/>
            <a:rect r="r" b="b" t="t" l="l"/>
            <a:pathLst>
              <a:path h="1107047" w="911804">
                <a:moveTo>
                  <a:pt x="0" y="0"/>
                </a:moveTo>
                <a:lnTo>
                  <a:pt x="911804" y="0"/>
                </a:lnTo>
                <a:lnTo>
                  <a:pt x="911804" y="1107046"/>
                </a:lnTo>
                <a:lnTo>
                  <a:pt x="0" y="11070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false" flipV="false" rot="0">
            <a:off x="1238008" y="7538262"/>
            <a:ext cx="803616" cy="803616"/>
          </a:xfrm>
          <a:custGeom>
            <a:avLst/>
            <a:gdLst/>
            <a:ahLst/>
            <a:cxnLst/>
            <a:rect r="r" b="b" t="t" l="l"/>
            <a:pathLst>
              <a:path h="803616" w="803616">
                <a:moveTo>
                  <a:pt x="0" y="0"/>
                </a:moveTo>
                <a:lnTo>
                  <a:pt x="803616" y="0"/>
                </a:lnTo>
                <a:lnTo>
                  <a:pt x="803616" y="803616"/>
                </a:lnTo>
                <a:lnTo>
                  <a:pt x="0" y="8036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4" id="34"/>
          <p:cNvSpPr txBox="true"/>
          <p:nvPr/>
        </p:nvSpPr>
        <p:spPr>
          <a:xfrm rot="0">
            <a:off x="1028700" y="215814"/>
            <a:ext cx="8131423" cy="812886"/>
          </a:xfrm>
          <a:prstGeom prst="rect">
            <a:avLst/>
          </a:prstGeom>
        </p:spPr>
        <p:txBody>
          <a:bodyPr anchor="t" rtlCol="false" tIns="0" lIns="0" bIns="0" rIns="0">
            <a:spAutoFit/>
          </a:bodyPr>
          <a:lstStyle/>
          <a:p>
            <a:pPr algn="l">
              <a:lnSpc>
                <a:spcPts val="6645"/>
              </a:lnSpc>
              <a:spcBef>
                <a:spcPct val="0"/>
              </a:spcBef>
            </a:pPr>
            <a:r>
              <a:rPr lang="en-US" sz="4746" b="true">
                <a:solidFill>
                  <a:srgbClr val="FF751F"/>
                </a:solidFill>
                <a:latin typeface="Montserrat Bold"/>
                <a:ea typeface="Montserrat Bold"/>
                <a:cs typeface="Montserrat Bold"/>
                <a:sym typeface="Montserrat Bold"/>
              </a:rPr>
              <a:t>03 | Tujuan dan Manfaat</a:t>
            </a:r>
          </a:p>
        </p:txBody>
      </p:sp>
      <p:sp>
        <p:nvSpPr>
          <p:cNvPr name="TextBox 35" id="35"/>
          <p:cNvSpPr txBox="true"/>
          <p:nvPr/>
        </p:nvSpPr>
        <p:spPr>
          <a:xfrm rot="0">
            <a:off x="1028700" y="1129213"/>
            <a:ext cx="10183956" cy="2158452"/>
          </a:xfrm>
          <a:prstGeom prst="rect">
            <a:avLst/>
          </a:prstGeom>
        </p:spPr>
        <p:txBody>
          <a:bodyPr anchor="t" rtlCol="false" tIns="0" lIns="0" bIns="0" rIns="0">
            <a:spAutoFit/>
          </a:bodyPr>
          <a:lstStyle/>
          <a:p>
            <a:pPr algn="l">
              <a:lnSpc>
                <a:spcPts val="8605"/>
              </a:lnSpc>
            </a:pPr>
            <a:r>
              <a:rPr lang="en-US" sz="6146" b="true">
                <a:solidFill>
                  <a:srgbClr val="1800AD"/>
                </a:solidFill>
                <a:latin typeface="Archivo Narrow Bold"/>
                <a:ea typeface="Archivo Narrow Bold"/>
                <a:cs typeface="Archivo Narrow Bold"/>
                <a:sym typeface="Archivo Narrow Bold"/>
              </a:rPr>
              <a:t>Research Goals &amp; Kontribusi</a:t>
            </a:r>
          </a:p>
          <a:p>
            <a:pPr algn="l">
              <a:lnSpc>
                <a:spcPts val="8605"/>
              </a:lnSpc>
              <a:spcBef>
                <a:spcPct val="0"/>
              </a:spcBef>
            </a:pPr>
          </a:p>
        </p:txBody>
      </p:sp>
      <p:sp>
        <p:nvSpPr>
          <p:cNvPr name="TextBox 36" id="36"/>
          <p:cNvSpPr txBox="true"/>
          <p:nvPr/>
        </p:nvSpPr>
        <p:spPr>
          <a:xfrm rot="0">
            <a:off x="952696" y="2709612"/>
            <a:ext cx="7715250" cy="521334"/>
          </a:xfrm>
          <a:prstGeom prst="rect">
            <a:avLst/>
          </a:prstGeom>
        </p:spPr>
        <p:txBody>
          <a:bodyPr anchor="t" rtlCol="false" tIns="0" lIns="0" bIns="0" rIns="0">
            <a:spAutoFit/>
          </a:bodyPr>
          <a:lstStyle/>
          <a:p>
            <a:pPr algn="l">
              <a:lnSpc>
                <a:spcPts val="4340"/>
              </a:lnSpc>
            </a:pPr>
            <a:r>
              <a:rPr lang="en-US" sz="3100" b="true">
                <a:solidFill>
                  <a:srgbClr val="FF751F"/>
                </a:solidFill>
                <a:latin typeface="Canva Sans Bold"/>
                <a:ea typeface="Canva Sans Bold"/>
                <a:cs typeface="Canva Sans Bold"/>
                <a:sym typeface="Canva Sans Bold"/>
              </a:rPr>
              <a:t>Tujuan Penelitian</a:t>
            </a:r>
          </a:p>
        </p:txBody>
      </p:sp>
      <p:sp>
        <p:nvSpPr>
          <p:cNvPr name="TextBox 37" id="37"/>
          <p:cNvSpPr txBox="true"/>
          <p:nvPr/>
        </p:nvSpPr>
        <p:spPr>
          <a:xfrm rot="0">
            <a:off x="2276322" y="3519286"/>
            <a:ext cx="6830081" cy="790573"/>
          </a:xfrm>
          <a:prstGeom prst="rect">
            <a:avLst/>
          </a:prstGeom>
        </p:spPr>
        <p:txBody>
          <a:bodyPr anchor="t" rtlCol="false" tIns="0" lIns="0" bIns="0" rIns="0">
            <a:spAutoFit/>
          </a:bodyPr>
          <a:lstStyle/>
          <a:p>
            <a:pPr algn="just">
              <a:lnSpc>
                <a:spcPts val="3640"/>
              </a:lnSpc>
            </a:pPr>
            <a:r>
              <a:rPr lang="en-US" b="true" sz="2600">
                <a:solidFill>
                  <a:srgbClr val="FFFFFF"/>
                </a:solidFill>
                <a:latin typeface="Canva Sans Bold"/>
                <a:ea typeface="Canva Sans Bold"/>
                <a:cs typeface="Canva Sans Bold"/>
                <a:sym typeface="Canva Sans Bold"/>
              </a:rPr>
              <a:t>Analisis Efektivitas</a:t>
            </a:r>
          </a:p>
          <a:p>
            <a:pPr algn="just">
              <a:lnSpc>
                <a:spcPts val="2660"/>
              </a:lnSpc>
            </a:pPr>
          </a:p>
        </p:txBody>
      </p:sp>
      <p:sp>
        <p:nvSpPr>
          <p:cNvPr name="TextBox 38" id="38"/>
          <p:cNvSpPr txBox="true"/>
          <p:nvPr/>
        </p:nvSpPr>
        <p:spPr>
          <a:xfrm rot="0">
            <a:off x="9540947" y="2682847"/>
            <a:ext cx="7715250" cy="521334"/>
          </a:xfrm>
          <a:prstGeom prst="rect">
            <a:avLst/>
          </a:prstGeom>
        </p:spPr>
        <p:txBody>
          <a:bodyPr anchor="t" rtlCol="false" tIns="0" lIns="0" bIns="0" rIns="0">
            <a:spAutoFit/>
          </a:bodyPr>
          <a:lstStyle/>
          <a:p>
            <a:pPr algn="l">
              <a:lnSpc>
                <a:spcPts val="4340"/>
              </a:lnSpc>
            </a:pPr>
            <a:r>
              <a:rPr lang="en-US" sz="3100" b="true">
                <a:solidFill>
                  <a:srgbClr val="FF751F"/>
                </a:solidFill>
                <a:latin typeface="Canva Sans Bold"/>
                <a:ea typeface="Canva Sans Bold"/>
                <a:cs typeface="Canva Sans Bold"/>
                <a:sym typeface="Canva Sans Bold"/>
              </a:rPr>
              <a:t>Manfaat Peneletian</a:t>
            </a:r>
          </a:p>
        </p:txBody>
      </p:sp>
      <p:sp>
        <p:nvSpPr>
          <p:cNvPr name="TextBox 39" id="39"/>
          <p:cNvSpPr txBox="true"/>
          <p:nvPr/>
        </p:nvSpPr>
        <p:spPr>
          <a:xfrm rot="0">
            <a:off x="2276322" y="4093521"/>
            <a:ext cx="6720162" cy="791844"/>
          </a:xfrm>
          <a:prstGeom prst="rect">
            <a:avLst/>
          </a:prstGeom>
        </p:spPr>
        <p:txBody>
          <a:bodyPr anchor="t" rtlCol="false" tIns="0" lIns="0" bIns="0" rIns="0">
            <a:spAutoFit/>
          </a:bodyPr>
          <a:lstStyle/>
          <a:p>
            <a:pPr algn="l">
              <a:lnSpc>
                <a:spcPts val="2380"/>
              </a:lnSpc>
            </a:pPr>
            <a:r>
              <a:rPr lang="en-US" sz="1700">
                <a:solidFill>
                  <a:srgbClr val="5CE1E6"/>
                </a:solidFill>
                <a:latin typeface="Canva Sans"/>
                <a:ea typeface="Canva Sans"/>
                <a:cs typeface="Canva Sans"/>
                <a:sym typeface="Canva Sans"/>
              </a:rPr>
              <a:t>Mengan</a:t>
            </a:r>
            <a:r>
              <a:rPr lang="en-US" sz="1700">
                <a:solidFill>
                  <a:srgbClr val="5CE1E6"/>
                </a:solidFill>
                <a:latin typeface="Canva Sans"/>
                <a:ea typeface="Canva Sans"/>
                <a:cs typeface="Canva Sans"/>
                <a:sym typeface="Canva Sans"/>
              </a:rPr>
              <a:t>alisis efektivitas CTM &amp; BERTopic dalam pemodelan topik teks terjemahan Al-Qur'an</a:t>
            </a:r>
          </a:p>
          <a:p>
            <a:pPr algn="l">
              <a:lnSpc>
                <a:spcPts val="1680"/>
              </a:lnSpc>
            </a:pPr>
          </a:p>
        </p:txBody>
      </p:sp>
      <p:sp>
        <p:nvSpPr>
          <p:cNvPr name="TextBox 40" id="40"/>
          <p:cNvSpPr txBox="true"/>
          <p:nvPr/>
        </p:nvSpPr>
        <p:spPr>
          <a:xfrm rot="0">
            <a:off x="2336288" y="5408038"/>
            <a:ext cx="6830081" cy="448308"/>
          </a:xfrm>
          <a:prstGeom prst="rect">
            <a:avLst/>
          </a:prstGeom>
        </p:spPr>
        <p:txBody>
          <a:bodyPr anchor="t" rtlCol="false" tIns="0" lIns="0" bIns="0" rIns="0">
            <a:spAutoFit/>
          </a:bodyPr>
          <a:lstStyle/>
          <a:p>
            <a:pPr algn="just">
              <a:lnSpc>
                <a:spcPts val="3640"/>
              </a:lnSpc>
            </a:pPr>
            <a:r>
              <a:rPr lang="en-US" sz="2600" b="true">
                <a:solidFill>
                  <a:srgbClr val="FFFFFF"/>
                </a:solidFill>
                <a:latin typeface="Canva Sans Bold"/>
                <a:ea typeface="Canva Sans Bold"/>
                <a:cs typeface="Canva Sans Bold"/>
                <a:sym typeface="Canva Sans Bold"/>
              </a:rPr>
              <a:t>Identifikasi Kemampuan</a:t>
            </a:r>
          </a:p>
        </p:txBody>
      </p:sp>
      <p:sp>
        <p:nvSpPr>
          <p:cNvPr name="TextBox 41" id="41"/>
          <p:cNvSpPr txBox="true"/>
          <p:nvPr/>
        </p:nvSpPr>
        <p:spPr>
          <a:xfrm rot="0">
            <a:off x="2336288" y="5961186"/>
            <a:ext cx="6720162" cy="791844"/>
          </a:xfrm>
          <a:prstGeom prst="rect">
            <a:avLst/>
          </a:prstGeom>
        </p:spPr>
        <p:txBody>
          <a:bodyPr anchor="t" rtlCol="false" tIns="0" lIns="0" bIns="0" rIns="0">
            <a:spAutoFit/>
          </a:bodyPr>
          <a:lstStyle/>
          <a:p>
            <a:pPr algn="l">
              <a:lnSpc>
                <a:spcPts val="2380"/>
              </a:lnSpc>
            </a:pPr>
            <a:r>
              <a:rPr lang="en-US" sz="1700">
                <a:solidFill>
                  <a:srgbClr val="5CE1E6"/>
                </a:solidFill>
                <a:latin typeface="Canva Sans"/>
                <a:ea typeface="Canva Sans"/>
                <a:cs typeface="Canva Sans"/>
                <a:sym typeface="Canva Sans"/>
              </a:rPr>
              <a:t>Meng</a:t>
            </a:r>
            <a:r>
              <a:rPr lang="en-US" sz="1700">
                <a:solidFill>
                  <a:srgbClr val="5CE1E6"/>
                </a:solidFill>
                <a:latin typeface="Canva Sans"/>
                <a:ea typeface="Canva Sans"/>
                <a:cs typeface="Canva Sans"/>
                <a:sym typeface="Canva Sans"/>
              </a:rPr>
              <a:t>identifikasi kemampuan kedua metode dalam menangkap konteks &amp; tema utama Al-Qur'an</a:t>
            </a:r>
          </a:p>
          <a:p>
            <a:pPr algn="l">
              <a:lnSpc>
                <a:spcPts val="1680"/>
              </a:lnSpc>
            </a:pPr>
          </a:p>
        </p:txBody>
      </p:sp>
      <p:sp>
        <p:nvSpPr>
          <p:cNvPr name="TextBox 42" id="42"/>
          <p:cNvSpPr txBox="true"/>
          <p:nvPr/>
        </p:nvSpPr>
        <p:spPr>
          <a:xfrm rot="0">
            <a:off x="2336288" y="7386009"/>
            <a:ext cx="6830081" cy="448308"/>
          </a:xfrm>
          <a:prstGeom prst="rect">
            <a:avLst/>
          </a:prstGeom>
        </p:spPr>
        <p:txBody>
          <a:bodyPr anchor="t" rtlCol="false" tIns="0" lIns="0" bIns="0" rIns="0">
            <a:spAutoFit/>
          </a:bodyPr>
          <a:lstStyle/>
          <a:p>
            <a:pPr algn="just">
              <a:lnSpc>
                <a:spcPts val="3640"/>
              </a:lnSpc>
            </a:pPr>
            <a:r>
              <a:rPr lang="en-US" sz="2600" b="true">
                <a:solidFill>
                  <a:srgbClr val="FFFFFF"/>
                </a:solidFill>
                <a:latin typeface="Canva Sans Bold"/>
                <a:ea typeface="Canva Sans Bold"/>
                <a:cs typeface="Canva Sans Bold"/>
                <a:sym typeface="Canva Sans Bold"/>
              </a:rPr>
              <a:t>Metode Evaluasi</a:t>
            </a:r>
          </a:p>
        </p:txBody>
      </p:sp>
      <p:sp>
        <p:nvSpPr>
          <p:cNvPr name="TextBox 43" id="43"/>
          <p:cNvSpPr txBox="true"/>
          <p:nvPr/>
        </p:nvSpPr>
        <p:spPr>
          <a:xfrm rot="0">
            <a:off x="2336288" y="7931669"/>
            <a:ext cx="6720162" cy="791844"/>
          </a:xfrm>
          <a:prstGeom prst="rect">
            <a:avLst/>
          </a:prstGeom>
        </p:spPr>
        <p:txBody>
          <a:bodyPr anchor="t" rtlCol="false" tIns="0" lIns="0" bIns="0" rIns="0">
            <a:spAutoFit/>
          </a:bodyPr>
          <a:lstStyle/>
          <a:p>
            <a:pPr algn="l">
              <a:lnSpc>
                <a:spcPts val="2380"/>
              </a:lnSpc>
            </a:pPr>
            <a:r>
              <a:rPr lang="en-US" sz="1700">
                <a:solidFill>
                  <a:srgbClr val="5CE1E6"/>
                </a:solidFill>
                <a:latin typeface="Canva Sans"/>
                <a:ea typeface="Canva Sans"/>
                <a:cs typeface="Canva Sans"/>
                <a:sym typeface="Canva Sans"/>
              </a:rPr>
              <a:t>Merumuskan meto</a:t>
            </a:r>
            <a:r>
              <a:rPr lang="en-US" sz="1700">
                <a:solidFill>
                  <a:srgbClr val="5CE1E6"/>
                </a:solidFill>
                <a:latin typeface="Canva Sans"/>
                <a:ea typeface="Canva Sans"/>
                <a:cs typeface="Canva Sans"/>
                <a:sym typeface="Canva Sans"/>
              </a:rPr>
              <a:t>de evaluasi yang tepat untuk menilai kualitas topik dalam konteks kajian Al-Qur'an</a:t>
            </a:r>
          </a:p>
          <a:p>
            <a:pPr algn="l">
              <a:lnSpc>
                <a:spcPts val="1680"/>
              </a:lnSpc>
            </a:pPr>
          </a:p>
        </p:txBody>
      </p:sp>
      <p:sp>
        <p:nvSpPr>
          <p:cNvPr name="TextBox 44" id="44"/>
          <p:cNvSpPr txBox="true"/>
          <p:nvPr/>
        </p:nvSpPr>
        <p:spPr>
          <a:xfrm rot="0">
            <a:off x="10048345" y="3442501"/>
            <a:ext cx="7836286" cy="448308"/>
          </a:xfrm>
          <a:prstGeom prst="rect">
            <a:avLst/>
          </a:prstGeom>
        </p:spPr>
        <p:txBody>
          <a:bodyPr anchor="t" rtlCol="false" tIns="0" lIns="0" bIns="0" rIns="0">
            <a:spAutoFit/>
          </a:bodyPr>
          <a:lstStyle/>
          <a:p>
            <a:pPr algn="l">
              <a:lnSpc>
                <a:spcPts val="3640"/>
              </a:lnSpc>
            </a:pPr>
            <a:r>
              <a:rPr lang="en-US" sz="2600" b="true">
                <a:solidFill>
                  <a:srgbClr val="FFFFFF"/>
                </a:solidFill>
                <a:latin typeface="Canva Sans Bold"/>
                <a:ea typeface="Canva Sans Bold"/>
                <a:cs typeface="Canva Sans Bold"/>
                <a:sym typeface="Canva Sans Bold"/>
              </a:rPr>
              <a:t>Akademik</a:t>
            </a:r>
          </a:p>
        </p:txBody>
      </p:sp>
      <p:grpSp>
        <p:nvGrpSpPr>
          <p:cNvPr name="Group 45" id="45"/>
          <p:cNvGrpSpPr/>
          <p:nvPr/>
        </p:nvGrpSpPr>
        <p:grpSpPr>
          <a:xfrm rot="0">
            <a:off x="9553792" y="3973896"/>
            <a:ext cx="8337260" cy="1107776"/>
            <a:chOff x="0" y="0"/>
            <a:chExt cx="2195822" cy="291760"/>
          </a:xfrm>
        </p:grpSpPr>
        <p:sp>
          <p:nvSpPr>
            <p:cNvPr name="Freeform 46" id="46"/>
            <p:cNvSpPr/>
            <p:nvPr/>
          </p:nvSpPr>
          <p:spPr>
            <a:xfrm flipH="false" flipV="false" rot="0">
              <a:off x="0" y="0"/>
              <a:ext cx="2195822" cy="291760"/>
            </a:xfrm>
            <a:custGeom>
              <a:avLst/>
              <a:gdLst/>
              <a:ahLst/>
              <a:cxnLst/>
              <a:rect r="r" b="b" t="t" l="l"/>
              <a:pathLst>
                <a:path h="291760" w="2195822">
                  <a:moveTo>
                    <a:pt x="0" y="0"/>
                  </a:moveTo>
                  <a:lnTo>
                    <a:pt x="2195822" y="0"/>
                  </a:lnTo>
                  <a:lnTo>
                    <a:pt x="2195822" y="291760"/>
                  </a:lnTo>
                  <a:lnTo>
                    <a:pt x="0" y="291760"/>
                  </a:lnTo>
                  <a:close/>
                </a:path>
              </a:pathLst>
            </a:custGeom>
            <a:solidFill>
              <a:srgbClr val="081F8C"/>
            </a:solidFill>
            <a:ln w="38100" cap="sq">
              <a:solidFill>
                <a:srgbClr val="FF751F"/>
              </a:solidFill>
              <a:prstDash val="solid"/>
              <a:miter/>
            </a:ln>
          </p:spPr>
        </p:sp>
        <p:sp>
          <p:nvSpPr>
            <p:cNvPr name="TextBox 47" id="47"/>
            <p:cNvSpPr txBox="true"/>
            <p:nvPr/>
          </p:nvSpPr>
          <p:spPr>
            <a:xfrm>
              <a:off x="0" y="-47625"/>
              <a:ext cx="2195822" cy="339385"/>
            </a:xfrm>
            <a:prstGeom prst="rect">
              <a:avLst/>
            </a:prstGeom>
          </p:spPr>
          <p:txBody>
            <a:bodyPr anchor="ctr" rtlCol="false" tIns="50800" lIns="50800" bIns="50800" rIns="50800"/>
            <a:lstStyle/>
            <a:p>
              <a:pPr algn="ctr">
                <a:lnSpc>
                  <a:spcPts val="2659"/>
                </a:lnSpc>
              </a:pPr>
            </a:p>
          </p:txBody>
        </p:sp>
      </p:grpSp>
      <p:sp>
        <p:nvSpPr>
          <p:cNvPr name="TextBox 48" id="48"/>
          <p:cNvSpPr txBox="true"/>
          <p:nvPr/>
        </p:nvSpPr>
        <p:spPr>
          <a:xfrm rot="0">
            <a:off x="10048345" y="4139877"/>
            <a:ext cx="5375495" cy="320914"/>
          </a:xfrm>
          <a:prstGeom prst="rect">
            <a:avLst/>
          </a:prstGeom>
        </p:spPr>
        <p:txBody>
          <a:bodyPr anchor="t" rtlCol="false" tIns="0" lIns="0" bIns="0" rIns="0">
            <a:spAutoFit/>
          </a:bodyPr>
          <a:lstStyle/>
          <a:p>
            <a:pPr algn="ctr">
              <a:lnSpc>
                <a:spcPts val="1680"/>
              </a:lnSpc>
            </a:pPr>
            <a:r>
              <a:rPr lang="en-US" sz="1200">
                <a:solidFill>
                  <a:srgbClr val="FFFFFF"/>
                </a:solidFill>
                <a:latin typeface="Canva Sans"/>
                <a:ea typeface="Canva Sans"/>
                <a:cs typeface="Canva Sans"/>
                <a:sym typeface="Canva Sans"/>
              </a:rPr>
              <a:t>Kontribusi</a:t>
            </a:r>
            <a:r>
              <a:rPr lang="en-US" sz="1200">
                <a:solidFill>
                  <a:srgbClr val="FFFFFF"/>
                </a:solidFill>
                <a:latin typeface="Canva Sans"/>
                <a:ea typeface="Canva Sans"/>
                <a:cs typeface="Canva Sans"/>
                <a:sym typeface="Canva Sans"/>
              </a:rPr>
              <a:t> ilmiah pemodelan topik berbasis konteks pada teks keagamaan</a:t>
            </a:r>
          </a:p>
          <a:p>
            <a:pPr algn="ctr">
              <a:lnSpc>
                <a:spcPts val="980"/>
              </a:lnSpc>
            </a:pPr>
          </a:p>
        </p:txBody>
      </p:sp>
      <p:sp>
        <p:nvSpPr>
          <p:cNvPr name="TextBox 49" id="49"/>
          <p:cNvSpPr txBox="true"/>
          <p:nvPr/>
        </p:nvSpPr>
        <p:spPr>
          <a:xfrm rot="0">
            <a:off x="10048345" y="4508734"/>
            <a:ext cx="4056325" cy="320914"/>
          </a:xfrm>
          <a:prstGeom prst="rect">
            <a:avLst/>
          </a:prstGeom>
        </p:spPr>
        <p:txBody>
          <a:bodyPr anchor="t" rtlCol="false" tIns="0" lIns="0" bIns="0" rIns="0">
            <a:spAutoFit/>
          </a:bodyPr>
          <a:lstStyle/>
          <a:p>
            <a:pPr algn="l">
              <a:lnSpc>
                <a:spcPts val="1680"/>
              </a:lnSpc>
            </a:pPr>
            <a:r>
              <a:rPr lang="en-US" sz="1200">
                <a:solidFill>
                  <a:srgbClr val="FFFFFF"/>
                </a:solidFill>
                <a:latin typeface="Canva Sans"/>
                <a:ea typeface="Canva Sans"/>
                <a:cs typeface="Canva Sans"/>
                <a:sym typeface="Canva Sans"/>
              </a:rPr>
              <a:t>Refere</a:t>
            </a:r>
            <a:r>
              <a:rPr lang="en-US" sz="1200">
                <a:solidFill>
                  <a:srgbClr val="FFFFFF"/>
                </a:solidFill>
                <a:latin typeface="Canva Sans"/>
                <a:ea typeface="Canva Sans"/>
                <a:cs typeface="Canva Sans"/>
                <a:sym typeface="Canva Sans"/>
              </a:rPr>
              <a:t>nsi</a:t>
            </a:r>
            <a:r>
              <a:rPr lang="en-US" sz="1200">
                <a:solidFill>
                  <a:srgbClr val="FFFFFF"/>
                </a:solidFill>
                <a:latin typeface="Canva Sans"/>
                <a:ea typeface="Canva Sans"/>
                <a:cs typeface="Canva Sans"/>
                <a:sym typeface="Canva Sans"/>
              </a:rPr>
              <a:t> penelitian NLP pada korpus bahasa Indonesia</a:t>
            </a:r>
          </a:p>
          <a:p>
            <a:pPr algn="l">
              <a:lnSpc>
                <a:spcPts val="980"/>
              </a:lnSpc>
            </a:pPr>
          </a:p>
        </p:txBody>
      </p:sp>
      <p:grpSp>
        <p:nvGrpSpPr>
          <p:cNvPr name="Group 50" id="50"/>
          <p:cNvGrpSpPr/>
          <p:nvPr/>
        </p:nvGrpSpPr>
        <p:grpSpPr>
          <a:xfrm rot="0">
            <a:off x="9553792" y="5338847"/>
            <a:ext cx="8337260" cy="601099"/>
            <a:chOff x="0" y="0"/>
            <a:chExt cx="2195822" cy="158314"/>
          </a:xfrm>
        </p:grpSpPr>
        <p:sp>
          <p:nvSpPr>
            <p:cNvPr name="Freeform 51" id="51"/>
            <p:cNvSpPr/>
            <p:nvPr/>
          </p:nvSpPr>
          <p:spPr>
            <a:xfrm flipH="false" flipV="false" rot="0">
              <a:off x="0" y="0"/>
              <a:ext cx="2195822" cy="158314"/>
            </a:xfrm>
            <a:custGeom>
              <a:avLst/>
              <a:gdLst/>
              <a:ahLst/>
              <a:cxnLst/>
              <a:rect r="r" b="b" t="t" l="l"/>
              <a:pathLst>
                <a:path h="158314" w="2195822">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name="TextBox 52" id="52"/>
            <p:cNvSpPr txBox="true"/>
            <p:nvPr/>
          </p:nvSpPr>
          <p:spPr>
            <a:xfrm>
              <a:off x="0" y="-47625"/>
              <a:ext cx="2195822" cy="205939"/>
            </a:xfrm>
            <a:prstGeom prst="rect">
              <a:avLst/>
            </a:prstGeom>
          </p:spPr>
          <p:txBody>
            <a:bodyPr anchor="ctr" rtlCol="false" tIns="50800" lIns="50800" bIns="50800" rIns="50800"/>
            <a:lstStyle/>
            <a:p>
              <a:pPr algn="ctr">
                <a:lnSpc>
                  <a:spcPts val="2659"/>
                </a:lnSpc>
              </a:pPr>
            </a:p>
          </p:txBody>
        </p:sp>
      </p:grpSp>
      <p:sp>
        <p:nvSpPr>
          <p:cNvPr name="TextBox 53" id="53"/>
          <p:cNvSpPr txBox="true"/>
          <p:nvPr/>
        </p:nvSpPr>
        <p:spPr>
          <a:xfrm rot="0">
            <a:off x="10048345" y="5386668"/>
            <a:ext cx="7836286" cy="448308"/>
          </a:xfrm>
          <a:prstGeom prst="rect">
            <a:avLst/>
          </a:prstGeom>
        </p:spPr>
        <p:txBody>
          <a:bodyPr anchor="t" rtlCol="false" tIns="0" lIns="0" bIns="0" rIns="0">
            <a:spAutoFit/>
          </a:bodyPr>
          <a:lstStyle/>
          <a:p>
            <a:pPr algn="l">
              <a:lnSpc>
                <a:spcPts val="3640"/>
              </a:lnSpc>
            </a:pPr>
            <a:r>
              <a:rPr lang="en-US" sz="2600" b="true">
                <a:solidFill>
                  <a:srgbClr val="FFFFFF"/>
                </a:solidFill>
                <a:latin typeface="Canva Sans Bold"/>
                <a:ea typeface="Canva Sans Bold"/>
                <a:cs typeface="Canva Sans Bold"/>
                <a:sym typeface="Canva Sans Bold"/>
              </a:rPr>
              <a:t>Praktis</a:t>
            </a:r>
          </a:p>
        </p:txBody>
      </p:sp>
      <p:sp>
        <p:nvSpPr>
          <p:cNvPr name="TextBox 54" id="54"/>
          <p:cNvSpPr txBox="true"/>
          <p:nvPr/>
        </p:nvSpPr>
        <p:spPr>
          <a:xfrm rot="0">
            <a:off x="10048345" y="6082821"/>
            <a:ext cx="5326225" cy="320914"/>
          </a:xfrm>
          <a:prstGeom prst="rect">
            <a:avLst/>
          </a:prstGeom>
        </p:spPr>
        <p:txBody>
          <a:bodyPr anchor="t" rtlCol="false" tIns="0" lIns="0" bIns="0" rIns="0">
            <a:spAutoFit/>
          </a:bodyPr>
          <a:lstStyle/>
          <a:p>
            <a:pPr algn="ctr">
              <a:lnSpc>
                <a:spcPts val="1680"/>
              </a:lnSpc>
            </a:pPr>
            <a:r>
              <a:rPr lang="en-US" sz="1200">
                <a:solidFill>
                  <a:srgbClr val="FFFFFF"/>
                </a:solidFill>
                <a:latin typeface="Canva Sans"/>
                <a:ea typeface="Canva Sans"/>
                <a:cs typeface="Canva Sans"/>
                <a:sym typeface="Canva Sans"/>
              </a:rPr>
              <a:t>Mempe</a:t>
            </a:r>
            <a:r>
              <a:rPr lang="en-US" sz="1200">
                <a:solidFill>
                  <a:srgbClr val="FFFFFF"/>
                </a:solidFill>
                <a:latin typeface="Canva Sans"/>
                <a:ea typeface="Canva Sans"/>
                <a:cs typeface="Canva Sans"/>
                <a:sym typeface="Canva Sans"/>
              </a:rPr>
              <a:t>rmud</a:t>
            </a:r>
            <a:r>
              <a:rPr lang="en-US" sz="1200">
                <a:solidFill>
                  <a:srgbClr val="FFFFFF"/>
                </a:solidFill>
                <a:latin typeface="Canva Sans"/>
                <a:ea typeface="Canva Sans"/>
                <a:cs typeface="Canva Sans"/>
                <a:sym typeface="Canva Sans"/>
              </a:rPr>
              <a:t>ah pemahaman struktur tematik Al-Qur'an secara sistematis</a:t>
            </a:r>
          </a:p>
          <a:p>
            <a:pPr algn="ctr">
              <a:lnSpc>
                <a:spcPts val="980"/>
              </a:lnSpc>
            </a:pPr>
          </a:p>
        </p:txBody>
      </p:sp>
      <p:sp>
        <p:nvSpPr>
          <p:cNvPr name="TextBox 55" id="55"/>
          <p:cNvSpPr txBox="true"/>
          <p:nvPr/>
        </p:nvSpPr>
        <p:spPr>
          <a:xfrm rot="0">
            <a:off x="10048345" y="6518035"/>
            <a:ext cx="5283438" cy="320914"/>
          </a:xfrm>
          <a:prstGeom prst="rect">
            <a:avLst/>
          </a:prstGeom>
        </p:spPr>
        <p:txBody>
          <a:bodyPr anchor="t" rtlCol="false" tIns="0" lIns="0" bIns="0" rIns="0">
            <a:spAutoFit/>
          </a:bodyPr>
          <a:lstStyle/>
          <a:p>
            <a:pPr algn="ctr">
              <a:lnSpc>
                <a:spcPts val="1680"/>
              </a:lnSpc>
            </a:pPr>
            <a:r>
              <a:rPr lang="en-US" sz="1200">
                <a:solidFill>
                  <a:srgbClr val="FFFFFF"/>
                </a:solidFill>
                <a:latin typeface="Canva Sans"/>
                <a:ea typeface="Canva Sans"/>
                <a:cs typeface="Canva Sans"/>
                <a:sym typeface="Canva Sans"/>
              </a:rPr>
              <a:t>Mendukung kajian taf</a:t>
            </a:r>
            <a:r>
              <a:rPr lang="en-US" sz="1200">
                <a:solidFill>
                  <a:srgbClr val="FFFFFF"/>
                </a:solidFill>
                <a:latin typeface="Canva Sans"/>
                <a:ea typeface="Canva Sans"/>
                <a:cs typeface="Canva Sans"/>
                <a:sym typeface="Canva Sans"/>
              </a:rPr>
              <a:t>sir</a:t>
            </a:r>
            <a:r>
              <a:rPr lang="en-US" sz="1200">
                <a:solidFill>
                  <a:srgbClr val="FFFFFF"/>
                </a:solidFill>
                <a:latin typeface="Canva Sans"/>
                <a:ea typeface="Canva Sans"/>
                <a:cs typeface="Canva Sans"/>
                <a:sym typeface="Canva Sans"/>
              </a:rPr>
              <a:t> dengan pendekatan teknologi informasi modern</a:t>
            </a:r>
          </a:p>
          <a:p>
            <a:pPr algn="ctr">
              <a:lnSpc>
                <a:spcPts val="980"/>
              </a:lnSpc>
            </a:pPr>
          </a:p>
        </p:txBody>
      </p:sp>
      <p:grpSp>
        <p:nvGrpSpPr>
          <p:cNvPr name="Group 56" id="56"/>
          <p:cNvGrpSpPr/>
          <p:nvPr/>
        </p:nvGrpSpPr>
        <p:grpSpPr>
          <a:xfrm rot="0">
            <a:off x="9598076" y="7862229"/>
            <a:ext cx="8337260" cy="1091016"/>
            <a:chOff x="0" y="0"/>
            <a:chExt cx="2195822" cy="287346"/>
          </a:xfrm>
        </p:grpSpPr>
        <p:sp>
          <p:nvSpPr>
            <p:cNvPr name="Freeform 57" id="57"/>
            <p:cNvSpPr/>
            <p:nvPr/>
          </p:nvSpPr>
          <p:spPr>
            <a:xfrm flipH="false" flipV="false" rot="0">
              <a:off x="0" y="0"/>
              <a:ext cx="2195822" cy="287346"/>
            </a:xfrm>
            <a:custGeom>
              <a:avLst/>
              <a:gdLst/>
              <a:ahLst/>
              <a:cxnLst/>
              <a:rect r="r" b="b" t="t" l="l"/>
              <a:pathLst>
                <a:path h="287346" w="2195822">
                  <a:moveTo>
                    <a:pt x="0" y="0"/>
                  </a:moveTo>
                  <a:lnTo>
                    <a:pt x="2195822" y="0"/>
                  </a:lnTo>
                  <a:lnTo>
                    <a:pt x="2195822" y="287346"/>
                  </a:lnTo>
                  <a:lnTo>
                    <a:pt x="0" y="287346"/>
                  </a:lnTo>
                  <a:close/>
                </a:path>
              </a:pathLst>
            </a:custGeom>
            <a:solidFill>
              <a:srgbClr val="081F8C"/>
            </a:solidFill>
            <a:ln w="38100" cap="sq">
              <a:solidFill>
                <a:srgbClr val="FF751F"/>
              </a:solidFill>
              <a:prstDash val="solid"/>
              <a:miter/>
            </a:ln>
          </p:spPr>
        </p:sp>
        <p:sp>
          <p:nvSpPr>
            <p:cNvPr name="TextBox 58" id="58"/>
            <p:cNvSpPr txBox="true"/>
            <p:nvPr/>
          </p:nvSpPr>
          <p:spPr>
            <a:xfrm>
              <a:off x="0" y="-47625"/>
              <a:ext cx="2195822" cy="334971"/>
            </a:xfrm>
            <a:prstGeom prst="rect">
              <a:avLst/>
            </a:prstGeom>
          </p:spPr>
          <p:txBody>
            <a:bodyPr anchor="ctr" rtlCol="false" tIns="50800" lIns="50800" bIns="50800" rIns="50800"/>
            <a:lstStyle/>
            <a:p>
              <a:pPr algn="ctr">
                <a:lnSpc>
                  <a:spcPts val="2659"/>
                </a:lnSpc>
              </a:pPr>
            </a:p>
          </p:txBody>
        </p:sp>
      </p:grpSp>
      <p:grpSp>
        <p:nvGrpSpPr>
          <p:cNvPr name="Group 59" id="59"/>
          <p:cNvGrpSpPr/>
          <p:nvPr/>
        </p:nvGrpSpPr>
        <p:grpSpPr>
          <a:xfrm rot="0">
            <a:off x="9598076" y="7283014"/>
            <a:ext cx="8337260" cy="601099"/>
            <a:chOff x="0" y="0"/>
            <a:chExt cx="2195822" cy="158314"/>
          </a:xfrm>
        </p:grpSpPr>
        <p:sp>
          <p:nvSpPr>
            <p:cNvPr name="Freeform 60" id="60"/>
            <p:cNvSpPr/>
            <p:nvPr/>
          </p:nvSpPr>
          <p:spPr>
            <a:xfrm flipH="false" flipV="false" rot="0">
              <a:off x="0" y="0"/>
              <a:ext cx="2195822" cy="158314"/>
            </a:xfrm>
            <a:custGeom>
              <a:avLst/>
              <a:gdLst/>
              <a:ahLst/>
              <a:cxnLst/>
              <a:rect r="r" b="b" t="t" l="l"/>
              <a:pathLst>
                <a:path h="158314" w="2195822">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name="TextBox 61" id="61"/>
            <p:cNvSpPr txBox="true"/>
            <p:nvPr/>
          </p:nvSpPr>
          <p:spPr>
            <a:xfrm>
              <a:off x="0" y="-47625"/>
              <a:ext cx="2195822" cy="205939"/>
            </a:xfrm>
            <a:prstGeom prst="rect">
              <a:avLst/>
            </a:prstGeom>
          </p:spPr>
          <p:txBody>
            <a:bodyPr anchor="ctr" rtlCol="false" tIns="50800" lIns="50800" bIns="50800" rIns="50800"/>
            <a:lstStyle/>
            <a:p>
              <a:pPr algn="ctr">
                <a:lnSpc>
                  <a:spcPts val="2659"/>
                </a:lnSpc>
              </a:pPr>
            </a:p>
          </p:txBody>
        </p:sp>
      </p:grpSp>
      <p:sp>
        <p:nvSpPr>
          <p:cNvPr name="TextBox 62" id="62"/>
          <p:cNvSpPr txBox="true"/>
          <p:nvPr/>
        </p:nvSpPr>
        <p:spPr>
          <a:xfrm rot="0">
            <a:off x="10048345" y="7330834"/>
            <a:ext cx="7880570" cy="448308"/>
          </a:xfrm>
          <a:prstGeom prst="rect">
            <a:avLst/>
          </a:prstGeom>
        </p:spPr>
        <p:txBody>
          <a:bodyPr anchor="t" rtlCol="false" tIns="0" lIns="0" bIns="0" rIns="0">
            <a:spAutoFit/>
          </a:bodyPr>
          <a:lstStyle/>
          <a:p>
            <a:pPr algn="l">
              <a:lnSpc>
                <a:spcPts val="3640"/>
              </a:lnSpc>
            </a:pPr>
            <a:r>
              <a:rPr lang="en-US" sz="2600" b="true">
                <a:solidFill>
                  <a:srgbClr val="FFFFFF"/>
                </a:solidFill>
                <a:latin typeface="Canva Sans Bold"/>
                <a:ea typeface="Canva Sans Bold"/>
                <a:cs typeface="Canva Sans Bold"/>
                <a:sym typeface="Canva Sans Bold"/>
              </a:rPr>
              <a:t>Teknologi</a:t>
            </a:r>
          </a:p>
        </p:txBody>
      </p:sp>
      <p:sp>
        <p:nvSpPr>
          <p:cNvPr name="TextBox 63" id="63"/>
          <p:cNvSpPr txBox="true"/>
          <p:nvPr/>
        </p:nvSpPr>
        <p:spPr>
          <a:xfrm rot="0">
            <a:off x="10048345" y="7998413"/>
            <a:ext cx="4636727" cy="320914"/>
          </a:xfrm>
          <a:prstGeom prst="rect">
            <a:avLst/>
          </a:prstGeom>
        </p:spPr>
        <p:txBody>
          <a:bodyPr anchor="t" rtlCol="false" tIns="0" lIns="0" bIns="0" rIns="0">
            <a:spAutoFit/>
          </a:bodyPr>
          <a:lstStyle/>
          <a:p>
            <a:pPr algn="ctr">
              <a:lnSpc>
                <a:spcPts val="1680"/>
              </a:lnSpc>
            </a:pPr>
            <a:r>
              <a:rPr lang="en-US" sz="1200">
                <a:solidFill>
                  <a:srgbClr val="FFFFFF"/>
                </a:solidFill>
                <a:latin typeface="Canva Sans"/>
                <a:ea typeface="Canva Sans"/>
                <a:cs typeface="Canva Sans"/>
                <a:sym typeface="Canva Sans"/>
              </a:rPr>
              <a:t>Refe</a:t>
            </a:r>
            <a:r>
              <a:rPr lang="en-US" sz="1200">
                <a:solidFill>
                  <a:srgbClr val="FFFFFF"/>
                </a:solidFill>
                <a:latin typeface="Canva Sans"/>
                <a:ea typeface="Canva Sans"/>
                <a:cs typeface="Canva Sans"/>
                <a:sym typeface="Canva Sans"/>
              </a:rPr>
              <a:t>rensi</a:t>
            </a:r>
            <a:r>
              <a:rPr lang="en-US" sz="1200">
                <a:solidFill>
                  <a:srgbClr val="FFFFFF"/>
                </a:solidFill>
                <a:latin typeface="Canva Sans"/>
                <a:ea typeface="Canva Sans"/>
                <a:cs typeface="Canva Sans"/>
                <a:sym typeface="Canva Sans"/>
              </a:rPr>
              <a:t> pengembangan aplikasi pencarian ayat berbasis tema</a:t>
            </a:r>
          </a:p>
          <a:p>
            <a:pPr algn="ctr">
              <a:lnSpc>
                <a:spcPts val="980"/>
              </a:lnSpc>
            </a:pPr>
          </a:p>
        </p:txBody>
      </p:sp>
      <p:sp>
        <p:nvSpPr>
          <p:cNvPr name="TextBox 64" id="64"/>
          <p:cNvSpPr txBox="true"/>
          <p:nvPr/>
        </p:nvSpPr>
        <p:spPr>
          <a:xfrm rot="0">
            <a:off x="10048345" y="8386002"/>
            <a:ext cx="3509635" cy="320914"/>
          </a:xfrm>
          <a:prstGeom prst="rect">
            <a:avLst/>
          </a:prstGeom>
        </p:spPr>
        <p:txBody>
          <a:bodyPr anchor="t" rtlCol="false" tIns="0" lIns="0" bIns="0" rIns="0">
            <a:spAutoFit/>
          </a:bodyPr>
          <a:lstStyle/>
          <a:p>
            <a:pPr algn="ctr">
              <a:lnSpc>
                <a:spcPts val="1680"/>
              </a:lnSpc>
            </a:pPr>
            <a:r>
              <a:rPr lang="en-US" sz="1200">
                <a:solidFill>
                  <a:srgbClr val="FFFFFF"/>
                </a:solidFill>
                <a:latin typeface="Canva Sans"/>
                <a:ea typeface="Canva Sans"/>
                <a:cs typeface="Canva Sans"/>
                <a:sym typeface="Canva Sans"/>
              </a:rPr>
              <a:t>Dasar </a:t>
            </a:r>
            <a:r>
              <a:rPr lang="en-US" sz="1200">
                <a:solidFill>
                  <a:srgbClr val="FFFFFF"/>
                </a:solidFill>
                <a:latin typeface="Canva Sans"/>
                <a:ea typeface="Canva Sans"/>
                <a:cs typeface="Canva Sans"/>
                <a:sym typeface="Canva Sans"/>
              </a:rPr>
              <a:t>sist</a:t>
            </a:r>
            <a:r>
              <a:rPr lang="en-US" sz="1200">
                <a:solidFill>
                  <a:srgbClr val="FFFFFF"/>
                </a:solidFill>
                <a:latin typeface="Canva Sans"/>
                <a:ea typeface="Canva Sans"/>
                <a:cs typeface="Canva Sans"/>
                <a:sym typeface="Canva Sans"/>
              </a:rPr>
              <a:t>em analisis tematik teks religius digital</a:t>
            </a:r>
          </a:p>
          <a:p>
            <a:pPr algn="ctr">
              <a:lnSpc>
                <a:spcPts val="9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7724579" y="3061834"/>
            <a:ext cx="6313412" cy="11932565"/>
          </a:xfrm>
          <a:custGeom>
            <a:avLst/>
            <a:gdLst/>
            <a:ahLst/>
            <a:cxnLst/>
            <a:rect r="r" b="b" t="t" l="l"/>
            <a:pathLst>
              <a:path h="11932565" w="6313412">
                <a:moveTo>
                  <a:pt x="0" y="11932565"/>
                </a:moveTo>
                <a:lnTo>
                  <a:pt x="6313412" y="11932565"/>
                </a:lnTo>
                <a:lnTo>
                  <a:pt x="6313412" y="0"/>
                </a:lnTo>
                <a:lnTo>
                  <a:pt x="0" y="0"/>
                </a:lnTo>
                <a:lnTo>
                  <a:pt x="0" y="11932565"/>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8804"/>
            <a:ext cx="9144000" cy="560871"/>
            <a:chOff x="0" y="0"/>
            <a:chExt cx="2408296" cy="147719"/>
          </a:xfrm>
        </p:grpSpPr>
        <p:sp>
          <p:nvSpPr>
            <p:cNvPr name="Freeform 4" id="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1800AD"/>
            </a:solidFill>
          </p:spPr>
        </p:sp>
        <p:sp>
          <p:nvSpPr>
            <p:cNvPr name="TextBox 5" id="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2479309"/>
            <a:ext cx="8115300" cy="137058"/>
            <a:chOff x="0" y="0"/>
            <a:chExt cx="2137363" cy="36097"/>
          </a:xfrm>
        </p:grpSpPr>
        <p:sp>
          <p:nvSpPr>
            <p:cNvPr name="Freeform 7" id="7"/>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DE59"/>
            </a:solidFill>
          </p:spPr>
        </p:sp>
        <p:sp>
          <p:nvSpPr>
            <p:cNvPr name="TextBox 8" id="8"/>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44000" y="2479309"/>
            <a:ext cx="8115300" cy="137058"/>
            <a:chOff x="0" y="0"/>
            <a:chExt cx="2137363" cy="36097"/>
          </a:xfrm>
        </p:grpSpPr>
        <p:sp>
          <p:nvSpPr>
            <p:cNvPr name="Freeform 10" id="10"/>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1800AD"/>
            </a:solidFill>
          </p:spPr>
        </p:sp>
        <p:sp>
          <p:nvSpPr>
            <p:cNvPr name="TextBox 11" id="11"/>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487240" y="516545"/>
            <a:ext cx="1664226" cy="1616285"/>
          </a:xfrm>
          <a:custGeom>
            <a:avLst/>
            <a:gdLst/>
            <a:ahLst/>
            <a:cxnLst/>
            <a:rect r="r" b="b" t="t" l="l"/>
            <a:pathLst>
              <a:path h="1616285" w="1664226">
                <a:moveTo>
                  <a:pt x="0" y="0"/>
                </a:moveTo>
                <a:lnTo>
                  <a:pt x="1664226" y="0"/>
                </a:lnTo>
                <a:lnTo>
                  <a:pt x="1664226" y="1616285"/>
                </a:lnTo>
                <a:lnTo>
                  <a:pt x="0" y="1616285"/>
                </a:lnTo>
                <a:lnTo>
                  <a:pt x="0" y="0"/>
                </a:lnTo>
                <a:close/>
              </a:path>
            </a:pathLst>
          </a:custGeom>
          <a:blipFill>
            <a:blip r:embed="rId4"/>
            <a:stretch>
              <a:fillRect l="0" t="0" r="0" b="0"/>
            </a:stretch>
          </a:blipFill>
        </p:spPr>
      </p:sp>
      <p:grpSp>
        <p:nvGrpSpPr>
          <p:cNvPr name="Group 13" id="13"/>
          <p:cNvGrpSpPr/>
          <p:nvPr/>
        </p:nvGrpSpPr>
        <p:grpSpPr>
          <a:xfrm rot="0">
            <a:off x="9144000" y="9708804"/>
            <a:ext cx="9144000" cy="560871"/>
            <a:chOff x="0" y="0"/>
            <a:chExt cx="2408296" cy="147719"/>
          </a:xfrm>
        </p:grpSpPr>
        <p:sp>
          <p:nvSpPr>
            <p:cNvPr name="Freeform 14" id="1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FFDE59"/>
            </a:solidFill>
          </p:spPr>
        </p:sp>
        <p:sp>
          <p:nvSpPr>
            <p:cNvPr name="TextBox 15" id="1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28700" y="4447947"/>
            <a:ext cx="1853512" cy="2372258"/>
            <a:chOff x="0" y="0"/>
            <a:chExt cx="2471350" cy="3163011"/>
          </a:xfrm>
        </p:grpSpPr>
        <p:grpSp>
          <p:nvGrpSpPr>
            <p:cNvPr name="Group 17" id="17"/>
            <p:cNvGrpSpPr/>
            <p:nvPr/>
          </p:nvGrpSpPr>
          <p:grpSpPr>
            <a:xfrm rot="0">
              <a:off x="0" y="0"/>
              <a:ext cx="2471350" cy="3163011"/>
              <a:chOff x="0" y="0"/>
              <a:chExt cx="713513" cy="913205"/>
            </a:xfrm>
          </p:grpSpPr>
          <p:sp>
            <p:nvSpPr>
              <p:cNvPr name="Freeform 18" id="18"/>
              <p:cNvSpPr/>
              <p:nvPr/>
            </p:nvSpPr>
            <p:spPr>
              <a:xfrm flipH="false" flipV="false" rot="0">
                <a:off x="0" y="0"/>
                <a:ext cx="713513" cy="913205"/>
              </a:xfrm>
              <a:custGeom>
                <a:avLst/>
                <a:gdLst/>
                <a:ahLst/>
                <a:cxnLst/>
                <a:rect r="r" b="b" t="t" l="l"/>
                <a:pathLst>
                  <a:path h="913205" w="713513">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FFDE59"/>
                </a:solidFill>
                <a:prstDash val="solid"/>
                <a:round/>
              </a:ln>
            </p:spPr>
          </p:sp>
          <p:sp>
            <p:nvSpPr>
              <p:cNvPr name="TextBox 19" id="19"/>
              <p:cNvSpPr txBox="true"/>
              <p:nvPr/>
            </p:nvSpPr>
            <p:spPr>
              <a:xfrm>
                <a:off x="0" y="-47625"/>
                <a:ext cx="713513" cy="960830"/>
              </a:xfrm>
              <a:prstGeom prst="rect">
                <a:avLst/>
              </a:prstGeom>
            </p:spPr>
            <p:txBody>
              <a:bodyPr anchor="ctr" rtlCol="false" tIns="34756" lIns="34756" bIns="34756" rIns="34756"/>
              <a:lstStyle/>
              <a:p>
                <a:pPr algn="ctr">
                  <a:lnSpc>
                    <a:spcPts val="2659"/>
                  </a:lnSpc>
                </a:pPr>
              </a:p>
            </p:txBody>
          </p:sp>
        </p:grpSp>
        <p:sp>
          <p:nvSpPr>
            <p:cNvPr name="Freeform 20" id="20"/>
            <p:cNvSpPr/>
            <p:nvPr/>
          </p:nvSpPr>
          <p:spPr>
            <a:xfrm flipH="false" flipV="false" rot="0">
              <a:off x="660492" y="834757"/>
              <a:ext cx="1150367" cy="1274077"/>
            </a:xfrm>
            <a:custGeom>
              <a:avLst/>
              <a:gdLst/>
              <a:ahLst/>
              <a:cxnLst/>
              <a:rect r="r" b="b" t="t" l="l"/>
              <a:pathLst>
                <a:path h="1274077" w="1150367">
                  <a:moveTo>
                    <a:pt x="0" y="0"/>
                  </a:moveTo>
                  <a:lnTo>
                    <a:pt x="1150366" y="0"/>
                  </a:lnTo>
                  <a:lnTo>
                    <a:pt x="1150366" y="1274077"/>
                  </a:lnTo>
                  <a:lnTo>
                    <a:pt x="0" y="12740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274438" y="2275783"/>
              <a:ext cx="1922474" cy="730255"/>
            </a:xfrm>
            <a:prstGeom prst="rect">
              <a:avLst/>
            </a:prstGeom>
          </p:spPr>
          <p:txBody>
            <a:bodyPr anchor="t" rtlCol="false" tIns="0" lIns="0" bIns="0" rIns="0">
              <a:spAutoFit/>
            </a:bodyPr>
            <a:lstStyle/>
            <a:p>
              <a:pPr algn="ctr">
                <a:lnSpc>
                  <a:spcPts val="1490"/>
                </a:lnSpc>
              </a:pPr>
              <a:r>
                <a:rPr lang="en-US" b="true" sz="1064">
                  <a:solidFill>
                    <a:srgbClr val="1800AD"/>
                  </a:solidFill>
                  <a:latin typeface="Canva Sans Bold"/>
                  <a:ea typeface="Canva Sans Bold"/>
                  <a:cs typeface="Canva Sans Bold"/>
                  <a:sym typeface="Canva Sans Bold"/>
                </a:rPr>
                <a:t>Terjemahan Al-Qur’an</a:t>
              </a:r>
            </a:p>
            <a:p>
              <a:pPr algn="ctr">
                <a:lnSpc>
                  <a:spcPts val="1490"/>
                </a:lnSpc>
              </a:pPr>
              <a:r>
                <a:rPr lang="en-US" b="true" sz="1064">
                  <a:solidFill>
                    <a:srgbClr val="1800AD"/>
                  </a:solidFill>
                  <a:latin typeface="Canva Sans Bold"/>
                  <a:ea typeface="Canva Sans Bold"/>
                  <a:cs typeface="Canva Sans Bold"/>
                  <a:sym typeface="Canva Sans Bold"/>
                </a:rPr>
                <a:t>Bahasa Indonesia</a:t>
              </a:r>
            </a:p>
            <a:p>
              <a:pPr algn="ctr">
                <a:lnSpc>
                  <a:spcPts val="1490"/>
                </a:lnSpc>
              </a:pPr>
              <a:r>
                <a:rPr lang="en-US" b="true" sz="1064">
                  <a:solidFill>
                    <a:srgbClr val="1800AD"/>
                  </a:solidFill>
                  <a:latin typeface="Canva Sans Bold"/>
                  <a:ea typeface="Canva Sans Bold"/>
                  <a:cs typeface="Canva Sans Bold"/>
                  <a:sym typeface="Canva Sans Bold"/>
                </a:rPr>
                <a:t>(114 Surat)</a:t>
              </a:r>
            </a:p>
          </p:txBody>
        </p:sp>
        <p:sp>
          <p:nvSpPr>
            <p:cNvPr name="TextBox 22" id="22"/>
            <p:cNvSpPr txBox="true"/>
            <p:nvPr/>
          </p:nvSpPr>
          <p:spPr>
            <a:xfrm rot="0">
              <a:off x="242437" y="270299"/>
              <a:ext cx="1922474" cy="343879"/>
            </a:xfrm>
            <a:prstGeom prst="rect">
              <a:avLst/>
            </a:prstGeom>
          </p:spPr>
          <p:txBody>
            <a:bodyPr anchor="t" rtlCol="false" tIns="0" lIns="0" bIns="0" rIns="0">
              <a:spAutoFit/>
            </a:bodyPr>
            <a:lstStyle/>
            <a:p>
              <a:pPr algn="ctr">
                <a:lnSpc>
                  <a:spcPts val="2190"/>
                </a:lnSpc>
              </a:pPr>
              <a:r>
                <a:rPr lang="en-US" sz="1564" b="true">
                  <a:solidFill>
                    <a:srgbClr val="1800AD"/>
                  </a:solidFill>
                  <a:latin typeface="Canva Sans Bold"/>
                  <a:ea typeface="Canva Sans Bold"/>
                  <a:cs typeface="Canva Sans Bold"/>
                  <a:sym typeface="Canva Sans Bold"/>
                </a:rPr>
                <a:t>DATASET</a:t>
              </a:r>
            </a:p>
          </p:txBody>
        </p:sp>
      </p:grpSp>
      <p:grpSp>
        <p:nvGrpSpPr>
          <p:cNvPr name="Group 23" id="23"/>
          <p:cNvGrpSpPr/>
          <p:nvPr/>
        </p:nvGrpSpPr>
        <p:grpSpPr>
          <a:xfrm rot="0">
            <a:off x="3449508" y="4505700"/>
            <a:ext cx="1853512" cy="2372258"/>
            <a:chOff x="0" y="0"/>
            <a:chExt cx="2471350" cy="3163011"/>
          </a:xfrm>
        </p:grpSpPr>
        <p:grpSp>
          <p:nvGrpSpPr>
            <p:cNvPr name="Group 24" id="24"/>
            <p:cNvGrpSpPr/>
            <p:nvPr/>
          </p:nvGrpSpPr>
          <p:grpSpPr>
            <a:xfrm rot="0">
              <a:off x="0" y="0"/>
              <a:ext cx="2471350" cy="3163011"/>
              <a:chOff x="0" y="0"/>
              <a:chExt cx="713513" cy="913205"/>
            </a:xfrm>
          </p:grpSpPr>
          <p:sp>
            <p:nvSpPr>
              <p:cNvPr name="Freeform 25" id="25"/>
              <p:cNvSpPr/>
              <p:nvPr/>
            </p:nvSpPr>
            <p:spPr>
              <a:xfrm flipH="false" flipV="false" rot="0">
                <a:off x="0" y="0"/>
                <a:ext cx="713513" cy="913205"/>
              </a:xfrm>
              <a:custGeom>
                <a:avLst/>
                <a:gdLst/>
                <a:ahLst/>
                <a:cxnLst/>
                <a:rect r="r" b="b" t="t" l="l"/>
                <a:pathLst>
                  <a:path h="913205" w="713513">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00BF63"/>
                </a:solidFill>
                <a:prstDash val="solid"/>
                <a:round/>
              </a:ln>
            </p:spPr>
          </p:sp>
          <p:sp>
            <p:nvSpPr>
              <p:cNvPr name="TextBox 26" id="26"/>
              <p:cNvSpPr txBox="true"/>
              <p:nvPr/>
            </p:nvSpPr>
            <p:spPr>
              <a:xfrm>
                <a:off x="0" y="-47625"/>
                <a:ext cx="713513" cy="960830"/>
              </a:xfrm>
              <a:prstGeom prst="rect">
                <a:avLst/>
              </a:prstGeom>
            </p:spPr>
            <p:txBody>
              <a:bodyPr anchor="ctr" rtlCol="false" tIns="34756" lIns="34756" bIns="34756" rIns="34756"/>
              <a:lstStyle/>
              <a:p>
                <a:pPr algn="ctr">
                  <a:lnSpc>
                    <a:spcPts val="2659"/>
                  </a:lnSpc>
                </a:pPr>
              </a:p>
            </p:txBody>
          </p:sp>
        </p:grpSp>
        <p:sp>
          <p:nvSpPr>
            <p:cNvPr name="Freeform 27" id="27"/>
            <p:cNvSpPr/>
            <p:nvPr/>
          </p:nvSpPr>
          <p:spPr>
            <a:xfrm flipH="false" flipV="false" rot="0">
              <a:off x="254636" y="713788"/>
              <a:ext cx="240167" cy="311737"/>
            </a:xfrm>
            <a:custGeom>
              <a:avLst/>
              <a:gdLst/>
              <a:ahLst/>
              <a:cxnLst/>
              <a:rect r="r" b="b" t="t" l="l"/>
              <a:pathLst>
                <a:path h="311737" w="240167">
                  <a:moveTo>
                    <a:pt x="0" y="0"/>
                  </a:moveTo>
                  <a:lnTo>
                    <a:pt x="240167" y="0"/>
                  </a:lnTo>
                  <a:lnTo>
                    <a:pt x="240167" y="311738"/>
                  </a:lnTo>
                  <a:lnTo>
                    <a:pt x="0" y="3117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8" id="28"/>
            <p:cNvSpPr/>
            <p:nvPr/>
          </p:nvSpPr>
          <p:spPr>
            <a:xfrm flipH="false" flipV="false" rot="0">
              <a:off x="216536" y="1158305"/>
              <a:ext cx="278267" cy="320581"/>
            </a:xfrm>
            <a:custGeom>
              <a:avLst/>
              <a:gdLst/>
              <a:ahLst/>
              <a:cxnLst/>
              <a:rect r="r" b="b" t="t" l="l"/>
              <a:pathLst>
                <a:path h="320581" w="278267">
                  <a:moveTo>
                    <a:pt x="0" y="0"/>
                  </a:moveTo>
                  <a:lnTo>
                    <a:pt x="278267" y="0"/>
                  </a:lnTo>
                  <a:lnTo>
                    <a:pt x="278267" y="320581"/>
                  </a:lnTo>
                  <a:lnTo>
                    <a:pt x="0" y="3205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9" id="29"/>
            <p:cNvSpPr/>
            <p:nvPr/>
          </p:nvSpPr>
          <p:spPr>
            <a:xfrm flipH="false" flipV="false" rot="0">
              <a:off x="216536" y="1581505"/>
              <a:ext cx="278267" cy="354275"/>
            </a:xfrm>
            <a:custGeom>
              <a:avLst/>
              <a:gdLst/>
              <a:ahLst/>
              <a:cxnLst/>
              <a:rect r="r" b="b" t="t" l="l"/>
              <a:pathLst>
                <a:path h="354275" w="278267">
                  <a:moveTo>
                    <a:pt x="0" y="0"/>
                  </a:moveTo>
                  <a:lnTo>
                    <a:pt x="278267" y="0"/>
                  </a:lnTo>
                  <a:lnTo>
                    <a:pt x="278267" y="354276"/>
                  </a:lnTo>
                  <a:lnTo>
                    <a:pt x="0" y="3542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0" id="30"/>
            <p:cNvSpPr/>
            <p:nvPr/>
          </p:nvSpPr>
          <p:spPr>
            <a:xfrm flipH="false" flipV="false" rot="0">
              <a:off x="216536" y="2037381"/>
              <a:ext cx="278267" cy="372377"/>
            </a:xfrm>
            <a:custGeom>
              <a:avLst/>
              <a:gdLst/>
              <a:ahLst/>
              <a:cxnLst/>
              <a:rect r="r" b="b" t="t" l="l"/>
              <a:pathLst>
                <a:path h="372377" w="278267">
                  <a:moveTo>
                    <a:pt x="0" y="0"/>
                  </a:moveTo>
                  <a:lnTo>
                    <a:pt x="278267" y="0"/>
                  </a:lnTo>
                  <a:lnTo>
                    <a:pt x="278267" y="372377"/>
                  </a:lnTo>
                  <a:lnTo>
                    <a:pt x="0" y="3723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1" id="31"/>
            <p:cNvSpPr txBox="true"/>
            <p:nvPr/>
          </p:nvSpPr>
          <p:spPr>
            <a:xfrm rot="0">
              <a:off x="45652" y="255506"/>
              <a:ext cx="2380045" cy="343879"/>
            </a:xfrm>
            <a:prstGeom prst="rect">
              <a:avLst/>
            </a:prstGeom>
          </p:spPr>
          <p:txBody>
            <a:bodyPr anchor="t" rtlCol="false" tIns="0" lIns="0" bIns="0" rIns="0">
              <a:spAutoFit/>
            </a:bodyPr>
            <a:lstStyle/>
            <a:p>
              <a:pPr algn="ctr">
                <a:lnSpc>
                  <a:spcPts val="2190"/>
                </a:lnSpc>
              </a:pPr>
              <a:r>
                <a:rPr lang="en-US" sz="1564" b="true">
                  <a:solidFill>
                    <a:srgbClr val="1800AD"/>
                  </a:solidFill>
                  <a:latin typeface="Canva Sans Bold"/>
                  <a:ea typeface="Canva Sans Bold"/>
                  <a:cs typeface="Canva Sans Bold"/>
                  <a:sym typeface="Canva Sans Bold"/>
                </a:rPr>
                <a:t>PREPROCESSING</a:t>
              </a:r>
            </a:p>
          </p:txBody>
        </p:sp>
        <p:sp>
          <p:nvSpPr>
            <p:cNvPr name="TextBox 32" id="32"/>
            <p:cNvSpPr txBox="true"/>
            <p:nvPr/>
          </p:nvSpPr>
          <p:spPr>
            <a:xfrm rot="0">
              <a:off x="580377" y="786741"/>
              <a:ext cx="1162732" cy="156307"/>
            </a:xfrm>
            <a:prstGeom prst="rect">
              <a:avLst/>
            </a:prstGeom>
          </p:spPr>
          <p:txBody>
            <a:bodyPr anchor="t" rtlCol="false" tIns="0" lIns="0" bIns="0" rIns="0">
              <a:spAutoFit/>
            </a:bodyPr>
            <a:lstStyle/>
            <a:p>
              <a:pPr algn="l">
                <a:lnSpc>
                  <a:spcPts val="1070"/>
                </a:lnSpc>
              </a:pPr>
              <a:r>
                <a:rPr lang="en-US" sz="764" b="true">
                  <a:solidFill>
                    <a:srgbClr val="1800AD"/>
                  </a:solidFill>
                  <a:latin typeface="Canva Sans Bold"/>
                  <a:ea typeface="Canva Sans Bold"/>
                  <a:cs typeface="Canva Sans Bold"/>
                  <a:sym typeface="Canva Sans Bold"/>
                </a:rPr>
                <a:t>Case Folding</a:t>
              </a:r>
            </a:p>
          </p:txBody>
        </p:sp>
        <p:sp>
          <p:nvSpPr>
            <p:cNvPr name="TextBox 33" id="33"/>
            <p:cNvSpPr txBox="true"/>
            <p:nvPr/>
          </p:nvSpPr>
          <p:spPr>
            <a:xfrm rot="0">
              <a:off x="580377" y="1206452"/>
              <a:ext cx="1350206" cy="156308"/>
            </a:xfrm>
            <a:prstGeom prst="rect">
              <a:avLst/>
            </a:prstGeom>
          </p:spPr>
          <p:txBody>
            <a:bodyPr anchor="t" rtlCol="false" tIns="0" lIns="0" bIns="0" rIns="0">
              <a:spAutoFit/>
            </a:bodyPr>
            <a:lstStyle/>
            <a:p>
              <a:pPr algn="l">
                <a:lnSpc>
                  <a:spcPts val="1070"/>
                </a:lnSpc>
              </a:pPr>
              <a:r>
                <a:rPr lang="en-US" sz="764" b="true">
                  <a:solidFill>
                    <a:srgbClr val="1800AD"/>
                  </a:solidFill>
                  <a:latin typeface="Canva Sans Bold"/>
                  <a:ea typeface="Canva Sans Bold"/>
                  <a:cs typeface="Canva Sans Bold"/>
                  <a:sym typeface="Canva Sans Bold"/>
                </a:rPr>
                <a:t>Tokenezation</a:t>
              </a:r>
            </a:p>
          </p:txBody>
        </p:sp>
        <p:sp>
          <p:nvSpPr>
            <p:cNvPr name="TextBox 34" id="34"/>
            <p:cNvSpPr txBox="true"/>
            <p:nvPr/>
          </p:nvSpPr>
          <p:spPr>
            <a:xfrm rot="0">
              <a:off x="580377" y="1675727"/>
              <a:ext cx="1350206" cy="156308"/>
            </a:xfrm>
            <a:prstGeom prst="rect">
              <a:avLst/>
            </a:prstGeom>
          </p:spPr>
          <p:txBody>
            <a:bodyPr anchor="t" rtlCol="false" tIns="0" lIns="0" bIns="0" rIns="0">
              <a:spAutoFit/>
            </a:bodyPr>
            <a:lstStyle/>
            <a:p>
              <a:pPr algn="l">
                <a:lnSpc>
                  <a:spcPts val="1070"/>
                </a:lnSpc>
              </a:pPr>
              <a:r>
                <a:rPr lang="en-US" sz="764" b="true">
                  <a:solidFill>
                    <a:srgbClr val="1800AD"/>
                  </a:solidFill>
                  <a:latin typeface="Canva Sans Bold"/>
                  <a:ea typeface="Canva Sans Bold"/>
                  <a:cs typeface="Canva Sans Bold"/>
                  <a:sym typeface="Canva Sans Bold"/>
                </a:rPr>
                <a:t>Stopword Removal</a:t>
              </a:r>
            </a:p>
          </p:txBody>
        </p:sp>
        <p:sp>
          <p:nvSpPr>
            <p:cNvPr name="TextBox 35" id="35"/>
            <p:cNvSpPr txBox="true"/>
            <p:nvPr/>
          </p:nvSpPr>
          <p:spPr>
            <a:xfrm rot="0">
              <a:off x="542277" y="2152709"/>
              <a:ext cx="1723743" cy="156308"/>
            </a:xfrm>
            <a:prstGeom prst="rect">
              <a:avLst/>
            </a:prstGeom>
          </p:spPr>
          <p:txBody>
            <a:bodyPr anchor="t" rtlCol="false" tIns="0" lIns="0" bIns="0" rIns="0">
              <a:spAutoFit/>
            </a:bodyPr>
            <a:lstStyle/>
            <a:p>
              <a:pPr algn="l">
                <a:lnSpc>
                  <a:spcPts val="1070"/>
                </a:lnSpc>
              </a:pPr>
              <a:r>
                <a:rPr lang="en-US" sz="764" b="true">
                  <a:solidFill>
                    <a:srgbClr val="1800AD"/>
                  </a:solidFill>
                  <a:latin typeface="Canva Sans Bold"/>
                  <a:ea typeface="Canva Sans Bold"/>
                  <a:cs typeface="Canva Sans Bold"/>
                  <a:sym typeface="Canva Sans Bold"/>
                </a:rPr>
                <a:t>Stemming/Lemmatization</a:t>
              </a:r>
            </a:p>
          </p:txBody>
        </p:sp>
        <p:sp>
          <p:nvSpPr>
            <p:cNvPr name="TextBox 36" id="36"/>
            <p:cNvSpPr txBox="true"/>
            <p:nvPr/>
          </p:nvSpPr>
          <p:spPr>
            <a:xfrm rot="0">
              <a:off x="282734" y="2517708"/>
              <a:ext cx="1905881" cy="452945"/>
            </a:xfrm>
            <a:prstGeom prst="rect">
              <a:avLst/>
            </a:prstGeom>
          </p:spPr>
          <p:txBody>
            <a:bodyPr anchor="t" rtlCol="false" tIns="0" lIns="0" bIns="0" rIns="0">
              <a:spAutoFit/>
            </a:bodyPr>
            <a:lstStyle/>
            <a:p>
              <a:pPr algn="l" marL="145583" indent="-72792" lvl="1">
                <a:lnSpc>
                  <a:spcPts val="944"/>
                </a:lnSpc>
                <a:buFont typeface="Arial"/>
                <a:buChar char="•"/>
              </a:pPr>
              <a:r>
                <a:rPr lang="en-US" b="true" sz="674">
                  <a:solidFill>
                    <a:srgbClr val="1800AD"/>
                  </a:solidFill>
                  <a:latin typeface="Canva Sans Bold"/>
                  <a:ea typeface="Canva Sans Bold"/>
                  <a:cs typeface="Canva Sans Bold"/>
                  <a:sym typeface="Canva Sans Bold"/>
                </a:rPr>
                <a:t>Preprocessing Basic</a:t>
              </a:r>
            </a:p>
            <a:p>
              <a:pPr algn="l" marL="145583" indent="-72792" lvl="1">
                <a:lnSpc>
                  <a:spcPts val="944"/>
                </a:lnSpc>
                <a:buFont typeface="Arial"/>
                <a:buChar char="•"/>
              </a:pPr>
              <a:r>
                <a:rPr lang="en-US" b="true" sz="674">
                  <a:solidFill>
                    <a:srgbClr val="1800AD"/>
                  </a:solidFill>
                  <a:latin typeface="Canva Sans Bold"/>
                  <a:ea typeface="Canva Sans Bold"/>
                  <a:cs typeface="Canva Sans Bold"/>
                  <a:sym typeface="Canva Sans Bold"/>
                </a:rPr>
                <a:t>Preprocessing No Steam</a:t>
              </a:r>
            </a:p>
            <a:p>
              <a:pPr algn="l" marL="145583" indent="-72792" lvl="1">
                <a:lnSpc>
                  <a:spcPts val="944"/>
                </a:lnSpc>
                <a:buFont typeface="Arial"/>
                <a:buChar char="•"/>
              </a:pPr>
              <a:r>
                <a:rPr lang="en-US" b="true" sz="674">
                  <a:solidFill>
                    <a:srgbClr val="1800AD"/>
                  </a:solidFill>
                  <a:latin typeface="Canva Sans Bold"/>
                  <a:ea typeface="Canva Sans Bold"/>
                  <a:cs typeface="Canva Sans Bold"/>
                  <a:sym typeface="Canva Sans Bold"/>
                </a:rPr>
                <a:t>Preprocessing Advances</a:t>
              </a:r>
            </a:p>
          </p:txBody>
        </p:sp>
      </p:grpSp>
      <p:grpSp>
        <p:nvGrpSpPr>
          <p:cNvPr name="Group 37" id="37"/>
          <p:cNvGrpSpPr/>
          <p:nvPr/>
        </p:nvGrpSpPr>
        <p:grpSpPr>
          <a:xfrm rot="0">
            <a:off x="5874520" y="4505700"/>
            <a:ext cx="3838801" cy="2372258"/>
            <a:chOff x="0" y="0"/>
            <a:chExt cx="5118401" cy="3163011"/>
          </a:xfrm>
        </p:grpSpPr>
        <p:grpSp>
          <p:nvGrpSpPr>
            <p:cNvPr name="Group 38" id="38"/>
            <p:cNvGrpSpPr/>
            <p:nvPr/>
          </p:nvGrpSpPr>
          <p:grpSpPr>
            <a:xfrm rot="0">
              <a:off x="0" y="0"/>
              <a:ext cx="5118401" cy="3163011"/>
              <a:chOff x="0" y="0"/>
              <a:chExt cx="1477754" cy="913205"/>
            </a:xfrm>
          </p:grpSpPr>
          <p:sp>
            <p:nvSpPr>
              <p:cNvPr name="Freeform 39" id="39"/>
              <p:cNvSpPr/>
              <p:nvPr/>
            </p:nvSpPr>
            <p:spPr>
              <a:xfrm flipH="false" flipV="false" rot="0">
                <a:off x="0" y="0"/>
                <a:ext cx="1477754" cy="913205"/>
              </a:xfrm>
              <a:custGeom>
                <a:avLst/>
                <a:gdLst/>
                <a:ahLst/>
                <a:cxnLst/>
                <a:rect r="r" b="b" t="t" l="l"/>
                <a:pathLst>
                  <a:path h="913205" w="1477754">
                    <a:moveTo>
                      <a:pt x="52436" y="0"/>
                    </a:moveTo>
                    <a:lnTo>
                      <a:pt x="1425318" y="0"/>
                    </a:lnTo>
                    <a:cubicBezTo>
                      <a:pt x="1454278" y="0"/>
                      <a:pt x="1477754" y="23476"/>
                      <a:pt x="1477754" y="52436"/>
                    </a:cubicBezTo>
                    <a:lnTo>
                      <a:pt x="1477754" y="860769"/>
                    </a:lnTo>
                    <a:cubicBezTo>
                      <a:pt x="1477754" y="889729"/>
                      <a:pt x="1454278" y="913205"/>
                      <a:pt x="1425318" y="913205"/>
                    </a:cubicBezTo>
                    <a:lnTo>
                      <a:pt x="52436" y="913205"/>
                    </a:lnTo>
                    <a:cubicBezTo>
                      <a:pt x="23476" y="913205"/>
                      <a:pt x="0" y="889729"/>
                      <a:pt x="0" y="860769"/>
                    </a:cubicBezTo>
                    <a:lnTo>
                      <a:pt x="0" y="52436"/>
                    </a:lnTo>
                    <a:cubicBezTo>
                      <a:pt x="0" y="23476"/>
                      <a:pt x="23476" y="0"/>
                      <a:pt x="52436" y="0"/>
                    </a:cubicBezTo>
                    <a:close/>
                  </a:path>
                </a:pathLst>
              </a:custGeom>
              <a:solidFill>
                <a:srgbClr val="FFFFFF"/>
              </a:solidFill>
              <a:ln w="38100" cap="rnd">
                <a:solidFill>
                  <a:srgbClr val="FF751F"/>
                </a:solidFill>
                <a:prstDash val="solid"/>
                <a:round/>
              </a:ln>
            </p:spPr>
          </p:sp>
          <p:sp>
            <p:nvSpPr>
              <p:cNvPr name="TextBox 40" id="40"/>
              <p:cNvSpPr txBox="true"/>
              <p:nvPr/>
            </p:nvSpPr>
            <p:spPr>
              <a:xfrm>
                <a:off x="0" y="-47625"/>
                <a:ext cx="1477754" cy="960830"/>
              </a:xfrm>
              <a:prstGeom prst="rect">
                <a:avLst/>
              </a:prstGeom>
            </p:spPr>
            <p:txBody>
              <a:bodyPr anchor="ctr" rtlCol="false" tIns="34756" lIns="34756" bIns="34756" rIns="34756"/>
              <a:lstStyle/>
              <a:p>
                <a:pPr algn="ctr">
                  <a:lnSpc>
                    <a:spcPts val="2659"/>
                  </a:lnSpc>
                </a:pPr>
              </a:p>
            </p:txBody>
          </p:sp>
        </p:grpSp>
        <p:sp>
          <p:nvSpPr>
            <p:cNvPr name="Freeform 41" id="41"/>
            <p:cNvSpPr/>
            <p:nvPr/>
          </p:nvSpPr>
          <p:spPr>
            <a:xfrm flipH="false" flipV="false" rot="0">
              <a:off x="763500" y="1075160"/>
              <a:ext cx="902216" cy="1012691"/>
            </a:xfrm>
            <a:custGeom>
              <a:avLst/>
              <a:gdLst/>
              <a:ahLst/>
              <a:cxnLst/>
              <a:rect r="r" b="b" t="t" l="l"/>
              <a:pathLst>
                <a:path h="1012691" w="902216">
                  <a:moveTo>
                    <a:pt x="0" y="0"/>
                  </a:moveTo>
                  <a:lnTo>
                    <a:pt x="902216" y="0"/>
                  </a:lnTo>
                  <a:lnTo>
                    <a:pt x="902216" y="1012691"/>
                  </a:lnTo>
                  <a:lnTo>
                    <a:pt x="0" y="101269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42" id="42"/>
            <p:cNvSpPr txBox="true"/>
            <p:nvPr/>
          </p:nvSpPr>
          <p:spPr>
            <a:xfrm rot="0">
              <a:off x="1369178" y="122187"/>
              <a:ext cx="2380045" cy="343879"/>
            </a:xfrm>
            <a:prstGeom prst="rect">
              <a:avLst/>
            </a:prstGeom>
          </p:spPr>
          <p:txBody>
            <a:bodyPr anchor="t" rtlCol="false" tIns="0" lIns="0" bIns="0" rIns="0">
              <a:spAutoFit/>
            </a:bodyPr>
            <a:lstStyle/>
            <a:p>
              <a:pPr algn="ctr">
                <a:lnSpc>
                  <a:spcPts val="2190"/>
                </a:lnSpc>
              </a:pPr>
              <a:r>
                <a:rPr lang="en-US" sz="1564" b="true">
                  <a:solidFill>
                    <a:srgbClr val="1800AD"/>
                  </a:solidFill>
                  <a:latin typeface="Canva Sans Bold"/>
                  <a:ea typeface="Canva Sans Bold"/>
                  <a:cs typeface="Canva Sans Bold"/>
                  <a:sym typeface="Canva Sans Bold"/>
                </a:rPr>
                <a:t>TOPIC MODELING</a:t>
              </a:r>
            </a:p>
          </p:txBody>
        </p:sp>
        <p:sp>
          <p:nvSpPr>
            <p:cNvPr name="TextBox 43" id="43"/>
            <p:cNvSpPr txBox="true"/>
            <p:nvPr/>
          </p:nvSpPr>
          <p:spPr>
            <a:xfrm rot="0">
              <a:off x="342595" y="2230726"/>
              <a:ext cx="2216605" cy="691224"/>
            </a:xfrm>
            <a:prstGeom prst="rect">
              <a:avLst/>
            </a:prstGeom>
          </p:spPr>
          <p:txBody>
            <a:bodyPr anchor="t" rtlCol="false" tIns="0" lIns="0" bIns="0" rIns="0">
              <a:spAutoFit/>
            </a:bodyPr>
            <a:lstStyle/>
            <a:p>
              <a:pPr algn="l" marL="169318" indent="-84659" lvl="1">
                <a:lnSpc>
                  <a:spcPts val="1097"/>
                </a:lnSpc>
                <a:buFont typeface="Arial"/>
                <a:buChar char="•"/>
              </a:pPr>
              <a:r>
                <a:rPr lang="en-US" b="true" sz="784">
                  <a:solidFill>
                    <a:srgbClr val="1800AD"/>
                  </a:solidFill>
                  <a:latin typeface="Canva Sans Bold"/>
                  <a:ea typeface="Canva Sans Bold"/>
                  <a:cs typeface="Canva Sans Bold"/>
                  <a:sym typeface="Canva Sans Bold"/>
                </a:rPr>
                <a:t>Optimasi Jumlah Topik (K)</a:t>
              </a:r>
            </a:p>
            <a:p>
              <a:pPr algn="l" marL="169318" indent="-84659" lvl="1">
                <a:lnSpc>
                  <a:spcPts val="1097"/>
                </a:lnSpc>
                <a:buFont typeface="Arial"/>
                <a:buChar char="•"/>
              </a:pPr>
              <a:r>
                <a:rPr lang="en-US" b="true" sz="784">
                  <a:solidFill>
                    <a:srgbClr val="1800AD"/>
                  </a:solidFill>
                  <a:latin typeface="Canva Sans Bold"/>
                  <a:ea typeface="Canva Sans Bold"/>
                  <a:cs typeface="Canva Sans Bold"/>
                  <a:sym typeface="Canva Sans Bold"/>
                </a:rPr>
                <a:t>Varitional Inference</a:t>
              </a:r>
            </a:p>
            <a:p>
              <a:pPr algn="l" marL="169318" indent="-84659" lvl="1">
                <a:lnSpc>
                  <a:spcPts val="1097"/>
                </a:lnSpc>
                <a:buFont typeface="Arial"/>
                <a:buChar char="•"/>
              </a:pPr>
              <a:r>
                <a:rPr lang="en-US" b="true" sz="784">
                  <a:solidFill>
                    <a:srgbClr val="1800AD"/>
                  </a:solidFill>
                  <a:latin typeface="Canva Sans Bold"/>
                  <a:ea typeface="Canva Sans Bold"/>
                  <a:cs typeface="Canva Sans Bold"/>
                  <a:sym typeface="Canva Sans Bold"/>
                </a:rPr>
                <a:t>Logistic Normal Distribution</a:t>
              </a:r>
            </a:p>
            <a:p>
              <a:pPr algn="l" marL="169318" indent="-84659" lvl="1">
                <a:lnSpc>
                  <a:spcPts val="1097"/>
                </a:lnSpc>
                <a:buFont typeface="Arial"/>
                <a:buChar char="•"/>
              </a:pPr>
              <a:r>
                <a:rPr lang="en-US" b="true" sz="784">
                  <a:solidFill>
                    <a:srgbClr val="1800AD"/>
                  </a:solidFill>
                  <a:latin typeface="Canva Sans Bold"/>
                  <a:ea typeface="Canva Sans Bold"/>
                  <a:cs typeface="Canva Sans Bold"/>
                  <a:sym typeface="Canva Sans Bold"/>
                </a:rPr>
                <a:t>Topic Correlation</a:t>
              </a:r>
            </a:p>
          </p:txBody>
        </p:sp>
        <p:sp>
          <p:nvSpPr>
            <p:cNvPr name="TextBox 44" id="44"/>
            <p:cNvSpPr txBox="true"/>
            <p:nvPr/>
          </p:nvSpPr>
          <p:spPr>
            <a:xfrm rot="0">
              <a:off x="253371" y="584386"/>
              <a:ext cx="1922474" cy="343879"/>
            </a:xfrm>
            <a:prstGeom prst="rect">
              <a:avLst/>
            </a:prstGeom>
          </p:spPr>
          <p:txBody>
            <a:bodyPr anchor="t" rtlCol="false" tIns="0" lIns="0" bIns="0" rIns="0">
              <a:spAutoFit/>
            </a:bodyPr>
            <a:lstStyle/>
            <a:p>
              <a:pPr algn="ctr">
                <a:lnSpc>
                  <a:spcPts val="2190"/>
                </a:lnSpc>
              </a:pPr>
              <a:r>
                <a:rPr lang="en-US" b="true" sz="1564">
                  <a:solidFill>
                    <a:srgbClr val="CF4119"/>
                  </a:solidFill>
                  <a:latin typeface="Canva Sans Bold"/>
                  <a:ea typeface="Canva Sans Bold"/>
                  <a:cs typeface="Canva Sans Bold"/>
                  <a:sym typeface="Canva Sans Bold"/>
                </a:rPr>
                <a:t>CTM</a:t>
              </a:r>
            </a:p>
          </p:txBody>
        </p:sp>
        <p:sp>
          <p:nvSpPr>
            <p:cNvPr name="TextBox 45" id="45"/>
            <p:cNvSpPr txBox="true"/>
            <p:nvPr/>
          </p:nvSpPr>
          <p:spPr>
            <a:xfrm rot="0">
              <a:off x="2645745" y="584386"/>
              <a:ext cx="1922474" cy="343879"/>
            </a:xfrm>
            <a:prstGeom prst="rect">
              <a:avLst/>
            </a:prstGeom>
          </p:spPr>
          <p:txBody>
            <a:bodyPr anchor="t" rtlCol="false" tIns="0" lIns="0" bIns="0" rIns="0">
              <a:spAutoFit/>
            </a:bodyPr>
            <a:lstStyle/>
            <a:p>
              <a:pPr algn="ctr">
                <a:lnSpc>
                  <a:spcPts val="2190"/>
                </a:lnSpc>
              </a:pPr>
              <a:r>
                <a:rPr lang="en-US" b="true" sz="1564">
                  <a:solidFill>
                    <a:srgbClr val="FF751F"/>
                  </a:solidFill>
                  <a:latin typeface="Canva Sans Bold"/>
                  <a:ea typeface="Canva Sans Bold"/>
                  <a:cs typeface="Canva Sans Bold"/>
                  <a:sym typeface="Canva Sans Bold"/>
                </a:rPr>
                <a:t>BERTopic</a:t>
              </a:r>
            </a:p>
          </p:txBody>
        </p:sp>
        <p:sp>
          <p:nvSpPr>
            <p:cNvPr name="Freeform 46" id="46"/>
            <p:cNvSpPr/>
            <p:nvPr/>
          </p:nvSpPr>
          <p:spPr>
            <a:xfrm flipH="false" flipV="false" rot="0">
              <a:off x="3111676" y="980509"/>
              <a:ext cx="450045" cy="505152"/>
            </a:xfrm>
            <a:custGeom>
              <a:avLst/>
              <a:gdLst/>
              <a:ahLst/>
              <a:cxnLst/>
              <a:rect r="r" b="b" t="t" l="l"/>
              <a:pathLst>
                <a:path h="505152" w="450045">
                  <a:moveTo>
                    <a:pt x="0" y="0"/>
                  </a:moveTo>
                  <a:lnTo>
                    <a:pt x="450045" y="0"/>
                  </a:lnTo>
                  <a:lnTo>
                    <a:pt x="450045" y="505152"/>
                  </a:lnTo>
                  <a:lnTo>
                    <a:pt x="0" y="50515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7" id="47"/>
            <p:cNvSpPr/>
            <p:nvPr/>
          </p:nvSpPr>
          <p:spPr>
            <a:xfrm flipH="false" flipV="false" rot="0">
              <a:off x="3677643" y="980509"/>
              <a:ext cx="450045" cy="505152"/>
            </a:xfrm>
            <a:custGeom>
              <a:avLst/>
              <a:gdLst/>
              <a:ahLst/>
              <a:cxnLst/>
              <a:rect r="r" b="b" t="t" l="l"/>
              <a:pathLst>
                <a:path h="505152" w="450045">
                  <a:moveTo>
                    <a:pt x="0" y="0"/>
                  </a:moveTo>
                  <a:lnTo>
                    <a:pt x="450045" y="0"/>
                  </a:lnTo>
                  <a:lnTo>
                    <a:pt x="450045" y="505152"/>
                  </a:lnTo>
                  <a:lnTo>
                    <a:pt x="0" y="50515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8" id="48"/>
            <p:cNvSpPr/>
            <p:nvPr/>
          </p:nvSpPr>
          <p:spPr>
            <a:xfrm flipH="false" flipV="false" rot="0">
              <a:off x="3336699" y="1381173"/>
              <a:ext cx="450045" cy="505152"/>
            </a:xfrm>
            <a:custGeom>
              <a:avLst/>
              <a:gdLst/>
              <a:ahLst/>
              <a:cxnLst/>
              <a:rect r="r" b="b" t="t" l="l"/>
              <a:pathLst>
                <a:path h="505152" w="450045">
                  <a:moveTo>
                    <a:pt x="0" y="0"/>
                  </a:moveTo>
                  <a:lnTo>
                    <a:pt x="450044" y="0"/>
                  </a:lnTo>
                  <a:lnTo>
                    <a:pt x="450044" y="505152"/>
                  </a:lnTo>
                  <a:lnTo>
                    <a:pt x="0" y="50515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49" id="49"/>
            <p:cNvSpPr txBox="true"/>
            <p:nvPr/>
          </p:nvSpPr>
          <p:spPr>
            <a:xfrm rot="0">
              <a:off x="2559201" y="2230726"/>
              <a:ext cx="2549061" cy="691224"/>
            </a:xfrm>
            <a:prstGeom prst="rect">
              <a:avLst/>
            </a:prstGeom>
          </p:spPr>
          <p:txBody>
            <a:bodyPr anchor="t" rtlCol="false" tIns="0" lIns="0" bIns="0" rIns="0">
              <a:spAutoFit/>
            </a:bodyPr>
            <a:lstStyle/>
            <a:p>
              <a:pPr algn="l" marL="169318" indent="-84659" lvl="1">
                <a:lnSpc>
                  <a:spcPts val="1097"/>
                </a:lnSpc>
                <a:buFont typeface="Arial"/>
                <a:buChar char="•"/>
              </a:pPr>
              <a:r>
                <a:rPr lang="en-US" b="true" sz="784">
                  <a:solidFill>
                    <a:srgbClr val="00BF63"/>
                  </a:solidFill>
                  <a:latin typeface="Canva Sans Bold"/>
                  <a:ea typeface="Canva Sans Bold"/>
                  <a:cs typeface="Canva Sans Bold"/>
                  <a:sym typeface="Canva Sans Bold"/>
                </a:rPr>
                <a:t>UMAP (Dimensionality Reduction)</a:t>
              </a:r>
            </a:p>
            <a:p>
              <a:pPr algn="l" marL="169318" indent="-84659" lvl="1">
                <a:lnSpc>
                  <a:spcPts val="1097"/>
                </a:lnSpc>
                <a:buFont typeface="Arial"/>
                <a:buChar char="•"/>
              </a:pPr>
              <a:r>
                <a:rPr lang="en-US" b="true" sz="784">
                  <a:solidFill>
                    <a:srgbClr val="00BF63"/>
                  </a:solidFill>
                  <a:latin typeface="Canva Sans Bold"/>
                  <a:ea typeface="Canva Sans Bold"/>
                  <a:cs typeface="Canva Sans Bold"/>
                  <a:sym typeface="Canva Sans Bold"/>
                </a:rPr>
                <a:t>HDBSCAN (Clustering)</a:t>
              </a:r>
            </a:p>
            <a:p>
              <a:pPr algn="l" marL="169318" indent="-84659" lvl="1">
                <a:lnSpc>
                  <a:spcPts val="1097"/>
                </a:lnSpc>
                <a:buFont typeface="Arial"/>
                <a:buChar char="•"/>
              </a:pPr>
              <a:r>
                <a:rPr lang="en-US" b="true" sz="784">
                  <a:solidFill>
                    <a:srgbClr val="00BF63"/>
                  </a:solidFill>
                  <a:latin typeface="Canva Sans Bold"/>
                  <a:ea typeface="Canva Sans Bold"/>
                  <a:cs typeface="Canva Sans Bold"/>
                  <a:sym typeface="Canva Sans Bold"/>
                </a:rPr>
                <a:t>C-TF-IDF (Topic Representation</a:t>
              </a:r>
            </a:p>
            <a:p>
              <a:pPr algn="l" marL="169318" indent="-84659" lvl="1">
                <a:lnSpc>
                  <a:spcPts val="1097"/>
                </a:lnSpc>
                <a:buFont typeface="Arial"/>
                <a:buChar char="•"/>
              </a:pPr>
              <a:r>
                <a:rPr lang="en-US" b="true" sz="784">
                  <a:solidFill>
                    <a:srgbClr val="00BF63"/>
                  </a:solidFill>
                  <a:latin typeface="Canva Sans Bold"/>
                  <a:ea typeface="Canva Sans Bold"/>
                  <a:cs typeface="Canva Sans Bold"/>
                  <a:sym typeface="Canva Sans Bold"/>
                </a:rPr>
                <a:t>Topic Extraction</a:t>
              </a:r>
            </a:p>
          </p:txBody>
        </p:sp>
        <p:sp>
          <p:nvSpPr>
            <p:cNvPr name="AutoShape 50" id="50"/>
            <p:cNvSpPr/>
            <p:nvPr/>
          </p:nvSpPr>
          <p:spPr>
            <a:xfrm flipV="true">
              <a:off x="2521101" y="783313"/>
              <a:ext cx="0" cy="2107625"/>
            </a:xfrm>
            <a:prstGeom prst="line">
              <a:avLst/>
            </a:prstGeom>
            <a:ln cap="flat" w="12700">
              <a:solidFill>
                <a:srgbClr val="658DEF"/>
              </a:solidFill>
              <a:prstDash val="solid"/>
              <a:headEnd type="none" len="sm" w="sm"/>
              <a:tailEnd type="none" len="sm" w="sm"/>
            </a:ln>
          </p:spPr>
        </p:sp>
      </p:grpSp>
      <p:sp>
        <p:nvSpPr>
          <p:cNvPr name="TextBox 51" id="51"/>
          <p:cNvSpPr txBox="true"/>
          <p:nvPr/>
        </p:nvSpPr>
        <p:spPr>
          <a:xfrm rot="0">
            <a:off x="1028700" y="1200862"/>
            <a:ext cx="11742081" cy="2068060"/>
          </a:xfrm>
          <a:prstGeom prst="rect">
            <a:avLst/>
          </a:prstGeom>
        </p:spPr>
        <p:txBody>
          <a:bodyPr anchor="t" rtlCol="false" tIns="0" lIns="0" bIns="0" rIns="0">
            <a:spAutoFit/>
          </a:bodyPr>
          <a:lstStyle/>
          <a:p>
            <a:pPr algn="l">
              <a:lnSpc>
                <a:spcPts val="8300"/>
              </a:lnSpc>
            </a:pPr>
            <a:r>
              <a:rPr lang="en-US" sz="5929" b="true">
                <a:solidFill>
                  <a:srgbClr val="1800AD"/>
                </a:solidFill>
                <a:latin typeface="Archivo Narrow Bold"/>
                <a:ea typeface="Archivo Narrow Bold"/>
                <a:cs typeface="Archivo Narrow Bold"/>
                <a:sym typeface="Archivo Narrow Bold"/>
              </a:rPr>
              <a:t>Research Pipeline</a:t>
            </a:r>
          </a:p>
          <a:p>
            <a:pPr algn="l">
              <a:lnSpc>
                <a:spcPts val="8300"/>
              </a:lnSpc>
              <a:spcBef>
                <a:spcPct val="0"/>
              </a:spcBef>
            </a:pPr>
          </a:p>
        </p:txBody>
      </p:sp>
      <p:sp>
        <p:nvSpPr>
          <p:cNvPr name="TextBox 52" id="52"/>
          <p:cNvSpPr txBox="true"/>
          <p:nvPr/>
        </p:nvSpPr>
        <p:spPr>
          <a:xfrm rot="0">
            <a:off x="1028700" y="215814"/>
            <a:ext cx="8131423" cy="812886"/>
          </a:xfrm>
          <a:prstGeom prst="rect">
            <a:avLst/>
          </a:prstGeom>
        </p:spPr>
        <p:txBody>
          <a:bodyPr anchor="t" rtlCol="false" tIns="0" lIns="0" bIns="0" rIns="0">
            <a:spAutoFit/>
          </a:bodyPr>
          <a:lstStyle/>
          <a:p>
            <a:pPr algn="l">
              <a:lnSpc>
                <a:spcPts val="6645"/>
              </a:lnSpc>
              <a:spcBef>
                <a:spcPct val="0"/>
              </a:spcBef>
            </a:pPr>
            <a:r>
              <a:rPr lang="en-US" sz="4746" b="true">
                <a:solidFill>
                  <a:srgbClr val="FF751F"/>
                </a:solidFill>
                <a:latin typeface="Montserrat Bold"/>
                <a:ea typeface="Montserrat Bold"/>
                <a:cs typeface="Montserrat Bold"/>
                <a:sym typeface="Montserrat Bold"/>
              </a:rPr>
              <a:t>04 | Metodelogi</a:t>
            </a:r>
          </a:p>
        </p:txBody>
      </p:sp>
      <p:grpSp>
        <p:nvGrpSpPr>
          <p:cNvPr name="Group 53" id="53"/>
          <p:cNvGrpSpPr/>
          <p:nvPr/>
        </p:nvGrpSpPr>
        <p:grpSpPr>
          <a:xfrm rot="0">
            <a:off x="10284821" y="4563452"/>
            <a:ext cx="1853512" cy="2372258"/>
            <a:chOff x="0" y="0"/>
            <a:chExt cx="2471350" cy="3163011"/>
          </a:xfrm>
        </p:grpSpPr>
        <p:grpSp>
          <p:nvGrpSpPr>
            <p:cNvPr name="Group 54" id="54"/>
            <p:cNvGrpSpPr/>
            <p:nvPr/>
          </p:nvGrpSpPr>
          <p:grpSpPr>
            <a:xfrm rot="0">
              <a:off x="0" y="0"/>
              <a:ext cx="2471350" cy="3163011"/>
              <a:chOff x="0" y="0"/>
              <a:chExt cx="713513" cy="913205"/>
            </a:xfrm>
          </p:grpSpPr>
          <p:sp>
            <p:nvSpPr>
              <p:cNvPr name="Freeform 55" id="55"/>
              <p:cNvSpPr/>
              <p:nvPr/>
            </p:nvSpPr>
            <p:spPr>
              <a:xfrm flipH="false" flipV="false" rot="0">
                <a:off x="0" y="0"/>
                <a:ext cx="713513" cy="913205"/>
              </a:xfrm>
              <a:custGeom>
                <a:avLst/>
                <a:gdLst/>
                <a:ahLst/>
                <a:cxnLst/>
                <a:rect r="r" b="b" t="t" l="l"/>
                <a:pathLst>
                  <a:path h="913205" w="713513">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00BF63"/>
                </a:solidFill>
                <a:prstDash val="solid"/>
                <a:round/>
              </a:ln>
            </p:spPr>
          </p:sp>
          <p:sp>
            <p:nvSpPr>
              <p:cNvPr name="TextBox 56" id="56"/>
              <p:cNvSpPr txBox="true"/>
              <p:nvPr/>
            </p:nvSpPr>
            <p:spPr>
              <a:xfrm>
                <a:off x="0" y="-47625"/>
                <a:ext cx="713513" cy="960830"/>
              </a:xfrm>
              <a:prstGeom prst="rect">
                <a:avLst/>
              </a:prstGeom>
            </p:spPr>
            <p:txBody>
              <a:bodyPr anchor="ctr" rtlCol="false" tIns="34756" lIns="34756" bIns="34756" rIns="34756"/>
              <a:lstStyle/>
              <a:p>
                <a:pPr algn="ctr">
                  <a:lnSpc>
                    <a:spcPts val="2659"/>
                  </a:lnSpc>
                </a:pPr>
              </a:p>
            </p:txBody>
          </p:sp>
        </p:grpSp>
        <p:sp>
          <p:nvSpPr>
            <p:cNvPr name="Freeform 57" id="57"/>
            <p:cNvSpPr/>
            <p:nvPr/>
          </p:nvSpPr>
          <p:spPr>
            <a:xfrm flipH="false" flipV="false" rot="0">
              <a:off x="456868" y="661276"/>
              <a:ext cx="1486810" cy="1059690"/>
            </a:xfrm>
            <a:custGeom>
              <a:avLst/>
              <a:gdLst/>
              <a:ahLst/>
              <a:cxnLst/>
              <a:rect r="r" b="b" t="t" l="l"/>
              <a:pathLst>
                <a:path h="1059690" w="1486810">
                  <a:moveTo>
                    <a:pt x="0" y="0"/>
                  </a:moveTo>
                  <a:lnTo>
                    <a:pt x="1486809" y="0"/>
                  </a:lnTo>
                  <a:lnTo>
                    <a:pt x="1486809" y="1059689"/>
                  </a:lnTo>
                  <a:lnTo>
                    <a:pt x="0" y="105968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58" id="58"/>
            <p:cNvSpPr txBox="true"/>
            <p:nvPr/>
          </p:nvSpPr>
          <p:spPr>
            <a:xfrm rot="0">
              <a:off x="91305" y="210679"/>
              <a:ext cx="2380045" cy="343879"/>
            </a:xfrm>
            <a:prstGeom prst="rect">
              <a:avLst/>
            </a:prstGeom>
          </p:spPr>
          <p:txBody>
            <a:bodyPr anchor="t" rtlCol="false" tIns="0" lIns="0" bIns="0" rIns="0">
              <a:spAutoFit/>
            </a:bodyPr>
            <a:lstStyle/>
            <a:p>
              <a:pPr algn="ctr">
                <a:lnSpc>
                  <a:spcPts val="2190"/>
                </a:lnSpc>
              </a:pPr>
              <a:r>
                <a:rPr lang="en-US" sz="1564" b="true">
                  <a:solidFill>
                    <a:srgbClr val="1800AD"/>
                  </a:solidFill>
                  <a:latin typeface="Canva Sans Bold"/>
                  <a:ea typeface="Canva Sans Bold"/>
                  <a:cs typeface="Canva Sans Bold"/>
                  <a:sym typeface="Canva Sans Bold"/>
                </a:rPr>
                <a:t>EVALUATION</a:t>
              </a:r>
            </a:p>
          </p:txBody>
        </p:sp>
        <p:sp>
          <p:nvSpPr>
            <p:cNvPr name="TextBox 59" id="59"/>
            <p:cNvSpPr txBox="true"/>
            <p:nvPr/>
          </p:nvSpPr>
          <p:spPr>
            <a:xfrm rot="0">
              <a:off x="274438" y="1928584"/>
              <a:ext cx="1922474" cy="596964"/>
            </a:xfrm>
            <a:prstGeom prst="rect">
              <a:avLst/>
            </a:prstGeom>
          </p:spPr>
          <p:txBody>
            <a:bodyPr anchor="t" rtlCol="false" tIns="0" lIns="0" bIns="0" rIns="0">
              <a:spAutoFit/>
            </a:bodyPr>
            <a:lstStyle/>
            <a:p>
              <a:pPr algn="ctr">
                <a:lnSpc>
                  <a:spcPts val="930"/>
                </a:lnSpc>
              </a:pPr>
              <a:r>
                <a:rPr lang="en-US" sz="664" b="true">
                  <a:solidFill>
                    <a:srgbClr val="1800AD"/>
                  </a:solidFill>
                  <a:latin typeface="Canva Sans Bold"/>
                  <a:ea typeface="Canva Sans Bold"/>
                  <a:cs typeface="Canva Sans Bold"/>
                  <a:sym typeface="Canva Sans Bold"/>
                </a:rPr>
                <a:t>Coherence Score</a:t>
              </a:r>
            </a:p>
            <a:p>
              <a:pPr algn="ctr">
                <a:lnSpc>
                  <a:spcPts val="930"/>
                </a:lnSpc>
              </a:pPr>
              <a:r>
                <a:rPr lang="en-US" sz="664" b="true">
                  <a:solidFill>
                    <a:srgbClr val="1800AD"/>
                  </a:solidFill>
                  <a:latin typeface="Canva Sans Bold"/>
                  <a:ea typeface="Canva Sans Bold"/>
                  <a:cs typeface="Canva Sans Bold"/>
                  <a:sym typeface="Canva Sans Bold"/>
                </a:rPr>
                <a:t>Diversity Score</a:t>
              </a:r>
            </a:p>
            <a:p>
              <a:pPr algn="ctr">
                <a:lnSpc>
                  <a:spcPts val="930"/>
                </a:lnSpc>
              </a:pPr>
              <a:r>
                <a:rPr lang="en-US" sz="664" b="true">
                  <a:solidFill>
                    <a:srgbClr val="1800AD"/>
                  </a:solidFill>
                  <a:latin typeface="Canva Sans Bold"/>
                  <a:ea typeface="Canva Sans Bold"/>
                  <a:cs typeface="Canva Sans Bold"/>
                  <a:sym typeface="Canva Sans Bold"/>
                </a:rPr>
                <a:t>NPMI</a:t>
              </a:r>
            </a:p>
            <a:p>
              <a:pPr algn="ctr">
                <a:lnSpc>
                  <a:spcPts val="930"/>
                </a:lnSpc>
              </a:pPr>
              <a:r>
                <a:rPr lang="en-US" sz="664" b="true">
                  <a:solidFill>
                    <a:srgbClr val="1800AD"/>
                  </a:solidFill>
                  <a:latin typeface="Canva Sans Bold"/>
                  <a:ea typeface="Canva Sans Bold"/>
                  <a:cs typeface="Canva Sans Bold"/>
                  <a:sym typeface="Canva Sans Bold"/>
                </a:rPr>
                <a:t>UMass</a:t>
              </a:r>
            </a:p>
          </p:txBody>
        </p:sp>
        <p:sp>
          <p:nvSpPr>
            <p:cNvPr name="TextBox 60" id="60"/>
            <p:cNvSpPr txBox="true"/>
            <p:nvPr/>
          </p:nvSpPr>
          <p:spPr>
            <a:xfrm rot="0">
              <a:off x="274438" y="2602239"/>
              <a:ext cx="1922474" cy="296749"/>
            </a:xfrm>
            <a:prstGeom prst="rect">
              <a:avLst/>
            </a:prstGeom>
          </p:spPr>
          <p:txBody>
            <a:bodyPr anchor="t" rtlCol="false" tIns="0" lIns="0" bIns="0" rIns="0">
              <a:spAutoFit/>
            </a:bodyPr>
            <a:lstStyle/>
            <a:p>
              <a:pPr algn="ctr">
                <a:lnSpc>
                  <a:spcPts val="930"/>
                </a:lnSpc>
              </a:pPr>
              <a:r>
                <a:rPr lang="en-US" b="true" sz="664">
                  <a:solidFill>
                    <a:srgbClr val="00BF63"/>
                  </a:solidFill>
                  <a:latin typeface="Canva Sans Bold"/>
                  <a:ea typeface="Canva Sans Bold"/>
                  <a:cs typeface="Canva Sans Bold"/>
                  <a:sym typeface="Canva Sans Bold"/>
                </a:rPr>
                <a:t>Menilai Kualitas dan Keragaman Topik dari Kedua Model</a:t>
              </a:r>
            </a:p>
          </p:txBody>
        </p:sp>
      </p:grpSp>
      <p:grpSp>
        <p:nvGrpSpPr>
          <p:cNvPr name="Group 61" id="61"/>
          <p:cNvGrpSpPr/>
          <p:nvPr/>
        </p:nvGrpSpPr>
        <p:grpSpPr>
          <a:xfrm rot="0">
            <a:off x="13533198" y="2963742"/>
            <a:ext cx="1628620" cy="2324047"/>
            <a:chOff x="0" y="0"/>
            <a:chExt cx="2171493" cy="3098729"/>
          </a:xfrm>
        </p:grpSpPr>
        <p:sp>
          <p:nvSpPr>
            <p:cNvPr name="Freeform 62" id="62"/>
            <p:cNvSpPr/>
            <p:nvPr/>
          </p:nvSpPr>
          <p:spPr>
            <a:xfrm flipH="false" flipV="false" rot="0">
              <a:off x="333530" y="1057097"/>
              <a:ext cx="1356527" cy="966834"/>
            </a:xfrm>
            <a:custGeom>
              <a:avLst/>
              <a:gdLst/>
              <a:ahLst/>
              <a:cxnLst/>
              <a:rect r="r" b="b" t="t" l="l"/>
              <a:pathLst>
                <a:path h="966834" w="1356527">
                  <a:moveTo>
                    <a:pt x="0" y="0"/>
                  </a:moveTo>
                  <a:lnTo>
                    <a:pt x="1356528" y="0"/>
                  </a:lnTo>
                  <a:lnTo>
                    <a:pt x="1356528" y="966834"/>
                  </a:lnTo>
                  <a:lnTo>
                    <a:pt x="0" y="96683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63" id="63"/>
            <p:cNvSpPr txBox="true"/>
            <p:nvPr/>
          </p:nvSpPr>
          <p:spPr>
            <a:xfrm rot="0">
              <a:off x="0" y="-19050"/>
              <a:ext cx="2171493" cy="978781"/>
            </a:xfrm>
            <a:prstGeom prst="rect">
              <a:avLst/>
            </a:prstGeom>
          </p:spPr>
          <p:txBody>
            <a:bodyPr anchor="t" rtlCol="false" tIns="0" lIns="0" bIns="0" rIns="0">
              <a:spAutoFit/>
            </a:bodyPr>
            <a:lstStyle/>
            <a:p>
              <a:pPr algn="ctr">
                <a:lnSpc>
                  <a:spcPts val="1998"/>
                </a:lnSpc>
              </a:pPr>
              <a:r>
                <a:rPr lang="en-US" sz="1427" b="true">
                  <a:solidFill>
                    <a:srgbClr val="1800AD"/>
                  </a:solidFill>
                  <a:latin typeface="Canva Sans Bold"/>
                  <a:ea typeface="Canva Sans Bold"/>
                  <a:cs typeface="Canva Sans Bold"/>
                  <a:sym typeface="Canva Sans Bold"/>
                </a:rPr>
                <a:t>PERBANDINGAN DAN INTERPRETASI</a:t>
              </a:r>
            </a:p>
          </p:txBody>
        </p:sp>
        <p:sp>
          <p:nvSpPr>
            <p:cNvPr name="TextBox 64" id="64"/>
            <p:cNvSpPr txBox="true"/>
            <p:nvPr/>
          </p:nvSpPr>
          <p:spPr>
            <a:xfrm rot="0">
              <a:off x="167086" y="2221213"/>
              <a:ext cx="1754017" cy="536799"/>
            </a:xfrm>
            <a:prstGeom prst="rect">
              <a:avLst/>
            </a:prstGeom>
          </p:spPr>
          <p:txBody>
            <a:bodyPr anchor="t" rtlCol="false" tIns="0" lIns="0" bIns="0" rIns="0">
              <a:spAutoFit/>
            </a:bodyPr>
            <a:lstStyle/>
            <a:p>
              <a:pPr algn="ctr">
                <a:lnSpc>
                  <a:spcPts val="849"/>
                </a:lnSpc>
              </a:pPr>
              <a:r>
                <a:rPr lang="en-US" sz="606" b="true">
                  <a:solidFill>
                    <a:srgbClr val="1800AD"/>
                  </a:solidFill>
                  <a:latin typeface="Canva Sans Bold"/>
                  <a:ea typeface="Canva Sans Bold"/>
                  <a:cs typeface="Canva Sans Bold"/>
                  <a:sym typeface="Canva Sans Bold"/>
                </a:rPr>
                <a:t>Coherence Score</a:t>
              </a:r>
            </a:p>
            <a:p>
              <a:pPr algn="ctr">
                <a:lnSpc>
                  <a:spcPts val="849"/>
                </a:lnSpc>
              </a:pPr>
              <a:r>
                <a:rPr lang="en-US" sz="606" b="true">
                  <a:solidFill>
                    <a:srgbClr val="1800AD"/>
                  </a:solidFill>
                  <a:latin typeface="Canva Sans Bold"/>
                  <a:ea typeface="Canva Sans Bold"/>
                  <a:cs typeface="Canva Sans Bold"/>
                  <a:sym typeface="Canva Sans Bold"/>
                </a:rPr>
                <a:t>Diversity Score</a:t>
              </a:r>
            </a:p>
            <a:p>
              <a:pPr algn="ctr">
                <a:lnSpc>
                  <a:spcPts val="849"/>
                </a:lnSpc>
              </a:pPr>
              <a:r>
                <a:rPr lang="en-US" sz="606" b="true">
                  <a:solidFill>
                    <a:srgbClr val="1800AD"/>
                  </a:solidFill>
                  <a:latin typeface="Canva Sans Bold"/>
                  <a:ea typeface="Canva Sans Bold"/>
                  <a:cs typeface="Canva Sans Bold"/>
                  <a:sym typeface="Canva Sans Bold"/>
                </a:rPr>
                <a:t>NPMI</a:t>
              </a:r>
            </a:p>
            <a:p>
              <a:pPr algn="ctr">
                <a:lnSpc>
                  <a:spcPts val="849"/>
                </a:lnSpc>
              </a:pPr>
              <a:r>
                <a:rPr lang="en-US" sz="606" b="true">
                  <a:solidFill>
                    <a:srgbClr val="1800AD"/>
                  </a:solidFill>
                  <a:latin typeface="Canva Sans Bold"/>
                  <a:ea typeface="Canva Sans Bold"/>
                  <a:cs typeface="Canva Sans Bold"/>
                  <a:sym typeface="Canva Sans Bold"/>
                </a:rPr>
                <a:t>UMass</a:t>
              </a:r>
            </a:p>
          </p:txBody>
        </p:sp>
        <p:sp>
          <p:nvSpPr>
            <p:cNvPr name="TextBox 65" id="65"/>
            <p:cNvSpPr txBox="true"/>
            <p:nvPr/>
          </p:nvSpPr>
          <p:spPr>
            <a:xfrm rot="0">
              <a:off x="167086" y="2835839"/>
              <a:ext cx="1754017" cy="262890"/>
            </a:xfrm>
            <a:prstGeom prst="rect">
              <a:avLst/>
            </a:prstGeom>
          </p:spPr>
          <p:txBody>
            <a:bodyPr anchor="t" rtlCol="false" tIns="0" lIns="0" bIns="0" rIns="0">
              <a:spAutoFit/>
            </a:bodyPr>
            <a:lstStyle/>
            <a:p>
              <a:pPr algn="ctr">
                <a:lnSpc>
                  <a:spcPts val="849"/>
                </a:lnSpc>
              </a:pPr>
              <a:r>
                <a:rPr lang="en-US" b="true" sz="606">
                  <a:solidFill>
                    <a:srgbClr val="00BF63"/>
                  </a:solidFill>
                  <a:latin typeface="Canva Sans Bold"/>
                  <a:ea typeface="Canva Sans Bold"/>
                  <a:cs typeface="Canva Sans Bold"/>
                  <a:sym typeface="Canva Sans Bold"/>
                </a:rPr>
                <a:t>Menilai Kualitas dan Keragaman Topik dari Kedua Model</a:t>
              </a:r>
            </a:p>
          </p:txBody>
        </p:sp>
      </p:grpSp>
      <p:grpSp>
        <p:nvGrpSpPr>
          <p:cNvPr name="Group 66" id="66"/>
          <p:cNvGrpSpPr/>
          <p:nvPr/>
        </p:nvGrpSpPr>
        <p:grpSpPr>
          <a:xfrm rot="0">
            <a:off x="12960312" y="4505700"/>
            <a:ext cx="3955242" cy="2487763"/>
            <a:chOff x="0" y="0"/>
            <a:chExt cx="1668808" cy="1049645"/>
          </a:xfrm>
        </p:grpSpPr>
        <p:sp>
          <p:nvSpPr>
            <p:cNvPr name="Freeform 67" id="67"/>
            <p:cNvSpPr/>
            <p:nvPr/>
          </p:nvSpPr>
          <p:spPr>
            <a:xfrm flipH="false" flipV="false" rot="0">
              <a:off x="0" y="0"/>
              <a:ext cx="1668808" cy="1049645"/>
            </a:xfrm>
            <a:custGeom>
              <a:avLst/>
              <a:gdLst/>
              <a:ahLst/>
              <a:cxnLst/>
              <a:rect r="r" b="b" t="t" l="l"/>
              <a:pathLst>
                <a:path h="1049645" w="1668808">
                  <a:moveTo>
                    <a:pt x="50892" y="0"/>
                  </a:moveTo>
                  <a:lnTo>
                    <a:pt x="1617916" y="0"/>
                  </a:lnTo>
                  <a:cubicBezTo>
                    <a:pt x="1631413" y="0"/>
                    <a:pt x="1644358" y="5362"/>
                    <a:pt x="1653902" y="14906"/>
                  </a:cubicBezTo>
                  <a:cubicBezTo>
                    <a:pt x="1663446" y="24450"/>
                    <a:pt x="1668808" y="37395"/>
                    <a:pt x="1668808" y="50892"/>
                  </a:cubicBezTo>
                  <a:lnTo>
                    <a:pt x="1668808" y="998753"/>
                  </a:lnTo>
                  <a:cubicBezTo>
                    <a:pt x="1668808" y="1012250"/>
                    <a:pt x="1663446" y="1025195"/>
                    <a:pt x="1653902" y="1034739"/>
                  </a:cubicBezTo>
                  <a:cubicBezTo>
                    <a:pt x="1644358" y="1044283"/>
                    <a:pt x="1631413" y="1049645"/>
                    <a:pt x="1617916" y="1049645"/>
                  </a:cubicBezTo>
                  <a:lnTo>
                    <a:pt x="50892" y="1049645"/>
                  </a:lnTo>
                  <a:cubicBezTo>
                    <a:pt x="37395" y="1049645"/>
                    <a:pt x="24450" y="1044283"/>
                    <a:pt x="14906" y="1034739"/>
                  </a:cubicBezTo>
                  <a:cubicBezTo>
                    <a:pt x="5362" y="1025195"/>
                    <a:pt x="0" y="1012250"/>
                    <a:pt x="0" y="998753"/>
                  </a:cubicBezTo>
                  <a:lnTo>
                    <a:pt x="0" y="50892"/>
                  </a:lnTo>
                  <a:cubicBezTo>
                    <a:pt x="0" y="37395"/>
                    <a:pt x="5362" y="24450"/>
                    <a:pt x="14906" y="14906"/>
                  </a:cubicBezTo>
                  <a:cubicBezTo>
                    <a:pt x="24450" y="5362"/>
                    <a:pt x="37395" y="0"/>
                    <a:pt x="50892" y="0"/>
                  </a:cubicBezTo>
                  <a:close/>
                </a:path>
              </a:pathLst>
            </a:custGeom>
            <a:solidFill>
              <a:srgbClr val="FFFFFF"/>
            </a:solidFill>
            <a:ln w="38100" cap="rnd">
              <a:solidFill>
                <a:srgbClr val="00BF63"/>
              </a:solidFill>
              <a:prstDash val="solid"/>
              <a:round/>
            </a:ln>
          </p:spPr>
        </p:sp>
        <p:sp>
          <p:nvSpPr>
            <p:cNvPr name="TextBox 68" id="68"/>
            <p:cNvSpPr txBox="true"/>
            <p:nvPr/>
          </p:nvSpPr>
          <p:spPr>
            <a:xfrm>
              <a:off x="0" y="-47625"/>
              <a:ext cx="1668808" cy="1097270"/>
            </a:xfrm>
            <a:prstGeom prst="rect">
              <a:avLst/>
            </a:prstGeom>
          </p:spPr>
          <p:txBody>
            <a:bodyPr anchor="ctr" rtlCol="false" tIns="31711" lIns="31711" bIns="31711" rIns="31711"/>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7724579" y="3061834"/>
            <a:ext cx="6313412" cy="11932565"/>
          </a:xfrm>
          <a:custGeom>
            <a:avLst/>
            <a:gdLst/>
            <a:ahLst/>
            <a:cxnLst/>
            <a:rect r="r" b="b" t="t" l="l"/>
            <a:pathLst>
              <a:path h="11932565" w="6313412">
                <a:moveTo>
                  <a:pt x="0" y="11932565"/>
                </a:moveTo>
                <a:lnTo>
                  <a:pt x="6313412" y="11932565"/>
                </a:lnTo>
                <a:lnTo>
                  <a:pt x="6313412" y="0"/>
                </a:lnTo>
                <a:lnTo>
                  <a:pt x="0" y="0"/>
                </a:lnTo>
                <a:lnTo>
                  <a:pt x="0" y="11932565"/>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8804"/>
            <a:ext cx="9144000" cy="560871"/>
            <a:chOff x="0" y="0"/>
            <a:chExt cx="2408296" cy="147719"/>
          </a:xfrm>
        </p:grpSpPr>
        <p:sp>
          <p:nvSpPr>
            <p:cNvPr name="Freeform 4" id="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1800AD"/>
            </a:solidFill>
          </p:spPr>
        </p:sp>
        <p:sp>
          <p:nvSpPr>
            <p:cNvPr name="TextBox 5" id="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2479309"/>
            <a:ext cx="8115300" cy="137058"/>
            <a:chOff x="0" y="0"/>
            <a:chExt cx="2137363" cy="36097"/>
          </a:xfrm>
        </p:grpSpPr>
        <p:sp>
          <p:nvSpPr>
            <p:cNvPr name="Freeform 7" id="7"/>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DE59"/>
            </a:solidFill>
          </p:spPr>
        </p:sp>
        <p:sp>
          <p:nvSpPr>
            <p:cNvPr name="TextBox 8" id="8"/>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44000" y="2479309"/>
            <a:ext cx="8115300" cy="137058"/>
            <a:chOff x="0" y="0"/>
            <a:chExt cx="2137363" cy="36097"/>
          </a:xfrm>
        </p:grpSpPr>
        <p:sp>
          <p:nvSpPr>
            <p:cNvPr name="Freeform 10" id="10"/>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1800AD"/>
            </a:solidFill>
          </p:spPr>
        </p:sp>
        <p:sp>
          <p:nvSpPr>
            <p:cNvPr name="TextBox 11" id="11"/>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487240" y="516545"/>
            <a:ext cx="1664226" cy="1616285"/>
          </a:xfrm>
          <a:custGeom>
            <a:avLst/>
            <a:gdLst/>
            <a:ahLst/>
            <a:cxnLst/>
            <a:rect r="r" b="b" t="t" l="l"/>
            <a:pathLst>
              <a:path h="1616285" w="1664226">
                <a:moveTo>
                  <a:pt x="0" y="0"/>
                </a:moveTo>
                <a:lnTo>
                  <a:pt x="1664226" y="0"/>
                </a:lnTo>
                <a:lnTo>
                  <a:pt x="1664226" y="1616285"/>
                </a:lnTo>
                <a:lnTo>
                  <a:pt x="0" y="1616285"/>
                </a:lnTo>
                <a:lnTo>
                  <a:pt x="0" y="0"/>
                </a:lnTo>
                <a:close/>
              </a:path>
            </a:pathLst>
          </a:custGeom>
          <a:blipFill>
            <a:blip r:embed="rId4"/>
            <a:stretch>
              <a:fillRect l="0" t="0" r="0" b="0"/>
            </a:stretch>
          </a:blipFill>
        </p:spPr>
      </p:sp>
      <p:grpSp>
        <p:nvGrpSpPr>
          <p:cNvPr name="Group 13" id="13"/>
          <p:cNvGrpSpPr/>
          <p:nvPr/>
        </p:nvGrpSpPr>
        <p:grpSpPr>
          <a:xfrm rot="0">
            <a:off x="9144000" y="9708804"/>
            <a:ext cx="9144000" cy="560871"/>
            <a:chOff x="0" y="0"/>
            <a:chExt cx="2408296" cy="147719"/>
          </a:xfrm>
        </p:grpSpPr>
        <p:sp>
          <p:nvSpPr>
            <p:cNvPr name="Freeform 14" id="1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FFDE59"/>
            </a:solidFill>
          </p:spPr>
        </p:sp>
        <p:sp>
          <p:nvSpPr>
            <p:cNvPr name="TextBox 15" id="1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4572000" y="2846550"/>
            <a:ext cx="9892744" cy="6411750"/>
          </a:xfrm>
          <a:custGeom>
            <a:avLst/>
            <a:gdLst/>
            <a:ahLst/>
            <a:cxnLst/>
            <a:rect r="r" b="b" t="t" l="l"/>
            <a:pathLst>
              <a:path h="6411750" w="9892744">
                <a:moveTo>
                  <a:pt x="0" y="0"/>
                </a:moveTo>
                <a:lnTo>
                  <a:pt x="9892744" y="0"/>
                </a:lnTo>
                <a:lnTo>
                  <a:pt x="9892744" y="6411750"/>
                </a:lnTo>
                <a:lnTo>
                  <a:pt x="0" y="6411750"/>
                </a:lnTo>
                <a:lnTo>
                  <a:pt x="0" y="0"/>
                </a:lnTo>
                <a:close/>
              </a:path>
            </a:pathLst>
          </a:custGeom>
          <a:blipFill>
            <a:blip r:embed="rId5"/>
            <a:stretch>
              <a:fillRect l="0" t="-1398" r="0" b="-1398"/>
            </a:stretch>
          </a:blipFill>
        </p:spPr>
      </p:sp>
      <p:sp>
        <p:nvSpPr>
          <p:cNvPr name="TextBox 17" id="17"/>
          <p:cNvSpPr txBox="true"/>
          <p:nvPr/>
        </p:nvSpPr>
        <p:spPr>
          <a:xfrm rot="0">
            <a:off x="1028700" y="1200862"/>
            <a:ext cx="11742081" cy="2068060"/>
          </a:xfrm>
          <a:prstGeom prst="rect">
            <a:avLst/>
          </a:prstGeom>
        </p:spPr>
        <p:txBody>
          <a:bodyPr anchor="t" rtlCol="false" tIns="0" lIns="0" bIns="0" rIns="0">
            <a:spAutoFit/>
          </a:bodyPr>
          <a:lstStyle/>
          <a:p>
            <a:pPr algn="l">
              <a:lnSpc>
                <a:spcPts val="8300"/>
              </a:lnSpc>
            </a:pPr>
            <a:r>
              <a:rPr lang="en-US" sz="5929" b="true">
                <a:solidFill>
                  <a:srgbClr val="1800AD"/>
                </a:solidFill>
                <a:latin typeface="Archivo Narrow Bold"/>
                <a:ea typeface="Archivo Narrow Bold"/>
                <a:cs typeface="Archivo Narrow Bold"/>
                <a:sym typeface="Archivo Narrow Bold"/>
              </a:rPr>
              <a:t>Research Pipeline</a:t>
            </a:r>
          </a:p>
          <a:p>
            <a:pPr algn="l">
              <a:lnSpc>
                <a:spcPts val="8300"/>
              </a:lnSpc>
              <a:spcBef>
                <a:spcPct val="0"/>
              </a:spcBef>
            </a:pPr>
          </a:p>
        </p:txBody>
      </p:sp>
      <p:sp>
        <p:nvSpPr>
          <p:cNvPr name="TextBox 18" id="18"/>
          <p:cNvSpPr txBox="true"/>
          <p:nvPr/>
        </p:nvSpPr>
        <p:spPr>
          <a:xfrm rot="0">
            <a:off x="1028700" y="215814"/>
            <a:ext cx="8131423" cy="812886"/>
          </a:xfrm>
          <a:prstGeom prst="rect">
            <a:avLst/>
          </a:prstGeom>
        </p:spPr>
        <p:txBody>
          <a:bodyPr anchor="t" rtlCol="false" tIns="0" lIns="0" bIns="0" rIns="0">
            <a:spAutoFit/>
          </a:bodyPr>
          <a:lstStyle/>
          <a:p>
            <a:pPr algn="l">
              <a:lnSpc>
                <a:spcPts val="6645"/>
              </a:lnSpc>
              <a:spcBef>
                <a:spcPct val="0"/>
              </a:spcBef>
            </a:pPr>
            <a:r>
              <a:rPr lang="en-US" sz="4746" b="true">
                <a:solidFill>
                  <a:srgbClr val="FF751F"/>
                </a:solidFill>
                <a:latin typeface="Montserrat Bold"/>
                <a:ea typeface="Montserrat Bold"/>
                <a:cs typeface="Montserrat Bold"/>
                <a:sym typeface="Montserrat Bold"/>
              </a:rPr>
              <a:t>04 | Metodelogi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7724579" y="3061834"/>
            <a:ext cx="6313412" cy="11932565"/>
          </a:xfrm>
          <a:custGeom>
            <a:avLst/>
            <a:gdLst/>
            <a:ahLst/>
            <a:cxnLst/>
            <a:rect r="r" b="b" t="t" l="l"/>
            <a:pathLst>
              <a:path h="11932565" w="6313412">
                <a:moveTo>
                  <a:pt x="0" y="11932565"/>
                </a:moveTo>
                <a:lnTo>
                  <a:pt x="6313412" y="11932565"/>
                </a:lnTo>
                <a:lnTo>
                  <a:pt x="6313412" y="0"/>
                </a:lnTo>
                <a:lnTo>
                  <a:pt x="0" y="0"/>
                </a:lnTo>
                <a:lnTo>
                  <a:pt x="0" y="11932565"/>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8804"/>
            <a:ext cx="9144000" cy="560871"/>
            <a:chOff x="0" y="0"/>
            <a:chExt cx="2408296" cy="147719"/>
          </a:xfrm>
        </p:grpSpPr>
        <p:sp>
          <p:nvSpPr>
            <p:cNvPr name="Freeform 4" id="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1800AD"/>
            </a:solidFill>
          </p:spPr>
        </p:sp>
        <p:sp>
          <p:nvSpPr>
            <p:cNvPr name="TextBox 5" id="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2479309"/>
            <a:ext cx="8115300" cy="137058"/>
            <a:chOff x="0" y="0"/>
            <a:chExt cx="2137363" cy="36097"/>
          </a:xfrm>
        </p:grpSpPr>
        <p:sp>
          <p:nvSpPr>
            <p:cNvPr name="Freeform 7" id="7"/>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DE59"/>
            </a:solidFill>
          </p:spPr>
        </p:sp>
        <p:sp>
          <p:nvSpPr>
            <p:cNvPr name="TextBox 8" id="8"/>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44000" y="2479309"/>
            <a:ext cx="8115300" cy="137058"/>
            <a:chOff x="0" y="0"/>
            <a:chExt cx="2137363" cy="36097"/>
          </a:xfrm>
        </p:grpSpPr>
        <p:sp>
          <p:nvSpPr>
            <p:cNvPr name="Freeform 10" id="10"/>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1800AD"/>
            </a:solidFill>
          </p:spPr>
        </p:sp>
        <p:sp>
          <p:nvSpPr>
            <p:cNvPr name="TextBox 11" id="11"/>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487240" y="516545"/>
            <a:ext cx="1664226" cy="1616285"/>
          </a:xfrm>
          <a:custGeom>
            <a:avLst/>
            <a:gdLst/>
            <a:ahLst/>
            <a:cxnLst/>
            <a:rect r="r" b="b" t="t" l="l"/>
            <a:pathLst>
              <a:path h="1616285" w="1664226">
                <a:moveTo>
                  <a:pt x="0" y="0"/>
                </a:moveTo>
                <a:lnTo>
                  <a:pt x="1664226" y="0"/>
                </a:lnTo>
                <a:lnTo>
                  <a:pt x="1664226" y="1616285"/>
                </a:lnTo>
                <a:lnTo>
                  <a:pt x="0" y="1616285"/>
                </a:lnTo>
                <a:lnTo>
                  <a:pt x="0" y="0"/>
                </a:lnTo>
                <a:close/>
              </a:path>
            </a:pathLst>
          </a:custGeom>
          <a:blipFill>
            <a:blip r:embed="rId4"/>
            <a:stretch>
              <a:fillRect l="0" t="0" r="0" b="0"/>
            </a:stretch>
          </a:blipFill>
        </p:spPr>
      </p:sp>
      <p:grpSp>
        <p:nvGrpSpPr>
          <p:cNvPr name="Group 13" id="13"/>
          <p:cNvGrpSpPr/>
          <p:nvPr/>
        </p:nvGrpSpPr>
        <p:grpSpPr>
          <a:xfrm rot="0">
            <a:off x="9144000" y="9708804"/>
            <a:ext cx="9144000" cy="560871"/>
            <a:chOff x="0" y="0"/>
            <a:chExt cx="2408296" cy="147719"/>
          </a:xfrm>
        </p:grpSpPr>
        <p:sp>
          <p:nvSpPr>
            <p:cNvPr name="Freeform 14" id="14"/>
            <p:cNvSpPr/>
            <p:nvPr/>
          </p:nvSpPr>
          <p:spPr>
            <a:xfrm flipH="false" flipV="false" rot="0">
              <a:off x="0" y="0"/>
              <a:ext cx="2408296" cy="147719"/>
            </a:xfrm>
            <a:custGeom>
              <a:avLst/>
              <a:gdLst/>
              <a:ahLst/>
              <a:cxnLst/>
              <a:rect r="r" b="b" t="t" l="l"/>
              <a:pathLst>
                <a:path h="147719" w="2408296">
                  <a:moveTo>
                    <a:pt x="0" y="0"/>
                  </a:moveTo>
                  <a:lnTo>
                    <a:pt x="2408296" y="0"/>
                  </a:lnTo>
                  <a:lnTo>
                    <a:pt x="2408296" y="147719"/>
                  </a:lnTo>
                  <a:lnTo>
                    <a:pt x="0" y="147719"/>
                  </a:lnTo>
                  <a:close/>
                </a:path>
              </a:pathLst>
            </a:custGeom>
            <a:solidFill>
              <a:srgbClr val="FFDE59"/>
            </a:solidFill>
          </p:spPr>
        </p:sp>
        <p:sp>
          <p:nvSpPr>
            <p:cNvPr name="TextBox 15" id="15"/>
            <p:cNvSpPr txBox="true"/>
            <p:nvPr/>
          </p:nvSpPr>
          <p:spPr>
            <a:xfrm>
              <a:off x="0" y="-47625"/>
              <a:ext cx="2408296" cy="195344"/>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4572000" y="2846550"/>
            <a:ext cx="9892744" cy="6411750"/>
          </a:xfrm>
          <a:custGeom>
            <a:avLst/>
            <a:gdLst/>
            <a:ahLst/>
            <a:cxnLst/>
            <a:rect r="r" b="b" t="t" l="l"/>
            <a:pathLst>
              <a:path h="6411750" w="9892744">
                <a:moveTo>
                  <a:pt x="0" y="0"/>
                </a:moveTo>
                <a:lnTo>
                  <a:pt x="9892744" y="0"/>
                </a:lnTo>
                <a:lnTo>
                  <a:pt x="9892744" y="6411750"/>
                </a:lnTo>
                <a:lnTo>
                  <a:pt x="0" y="6411750"/>
                </a:lnTo>
                <a:lnTo>
                  <a:pt x="0" y="0"/>
                </a:lnTo>
                <a:close/>
              </a:path>
            </a:pathLst>
          </a:custGeom>
          <a:blipFill>
            <a:blip r:embed="rId5"/>
            <a:stretch>
              <a:fillRect l="0" t="-1398" r="0" b="-1398"/>
            </a:stretch>
          </a:blipFill>
        </p:spPr>
      </p:sp>
      <p:sp>
        <p:nvSpPr>
          <p:cNvPr name="TextBox 17" id="17"/>
          <p:cNvSpPr txBox="true"/>
          <p:nvPr/>
        </p:nvSpPr>
        <p:spPr>
          <a:xfrm rot="0">
            <a:off x="1028700" y="1200862"/>
            <a:ext cx="11742081" cy="2068060"/>
          </a:xfrm>
          <a:prstGeom prst="rect">
            <a:avLst/>
          </a:prstGeom>
        </p:spPr>
        <p:txBody>
          <a:bodyPr anchor="t" rtlCol="false" tIns="0" lIns="0" bIns="0" rIns="0">
            <a:spAutoFit/>
          </a:bodyPr>
          <a:lstStyle/>
          <a:p>
            <a:pPr algn="l">
              <a:lnSpc>
                <a:spcPts val="8300"/>
              </a:lnSpc>
            </a:pPr>
            <a:r>
              <a:rPr lang="en-US" sz="5929" b="true">
                <a:solidFill>
                  <a:srgbClr val="1800AD"/>
                </a:solidFill>
                <a:latin typeface="Archivo Narrow Bold"/>
                <a:ea typeface="Archivo Narrow Bold"/>
                <a:cs typeface="Archivo Narrow Bold"/>
                <a:sym typeface="Archivo Narrow Bold"/>
              </a:rPr>
              <a:t>Research Pipeline</a:t>
            </a:r>
          </a:p>
          <a:p>
            <a:pPr algn="l">
              <a:lnSpc>
                <a:spcPts val="8300"/>
              </a:lnSpc>
              <a:spcBef>
                <a:spcPct val="0"/>
              </a:spcBef>
            </a:pPr>
          </a:p>
        </p:txBody>
      </p:sp>
      <p:sp>
        <p:nvSpPr>
          <p:cNvPr name="TextBox 18" id="18"/>
          <p:cNvSpPr txBox="true"/>
          <p:nvPr/>
        </p:nvSpPr>
        <p:spPr>
          <a:xfrm rot="0">
            <a:off x="1028700" y="215814"/>
            <a:ext cx="8131423" cy="812886"/>
          </a:xfrm>
          <a:prstGeom prst="rect">
            <a:avLst/>
          </a:prstGeom>
        </p:spPr>
        <p:txBody>
          <a:bodyPr anchor="t" rtlCol="false" tIns="0" lIns="0" bIns="0" rIns="0">
            <a:spAutoFit/>
          </a:bodyPr>
          <a:lstStyle/>
          <a:p>
            <a:pPr algn="l">
              <a:lnSpc>
                <a:spcPts val="6645"/>
              </a:lnSpc>
              <a:spcBef>
                <a:spcPct val="0"/>
              </a:spcBef>
            </a:pPr>
            <a:r>
              <a:rPr lang="en-US" sz="4746" b="true">
                <a:solidFill>
                  <a:srgbClr val="FF751F"/>
                </a:solidFill>
                <a:latin typeface="Montserrat Bold"/>
                <a:ea typeface="Montserrat Bold"/>
                <a:cs typeface="Montserrat Bold"/>
                <a:sym typeface="Montserrat Bold"/>
              </a:rPr>
              <a:t>04 | Metodelogi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9258300"/>
            <a:ext cx="8115300" cy="505688"/>
            <a:chOff x="0" y="0"/>
            <a:chExt cx="2137363" cy="133185"/>
          </a:xfrm>
        </p:grpSpPr>
        <p:sp>
          <p:nvSpPr>
            <p:cNvPr name="Freeform 3" id="3"/>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DE59"/>
            </a:solidFill>
          </p:spPr>
        </p:sp>
        <p:sp>
          <p:nvSpPr>
            <p:cNvPr name="TextBox 4" id="4"/>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5033559">
            <a:off x="4219753" y="-3632552"/>
            <a:ext cx="9848495" cy="18613993"/>
          </a:xfrm>
          <a:custGeom>
            <a:avLst/>
            <a:gdLst/>
            <a:ahLst/>
            <a:cxnLst/>
            <a:rect r="r" b="b" t="t" l="l"/>
            <a:pathLst>
              <a:path h="18613993" w="9848495">
                <a:moveTo>
                  <a:pt x="0" y="18613993"/>
                </a:moveTo>
                <a:lnTo>
                  <a:pt x="9848494" y="18613993"/>
                </a:lnTo>
                <a:lnTo>
                  <a:pt x="9848494" y="0"/>
                </a:lnTo>
                <a:lnTo>
                  <a:pt x="0" y="0"/>
                </a:lnTo>
                <a:lnTo>
                  <a:pt x="0" y="18613993"/>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9763988"/>
            <a:ext cx="8115300" cy="505688"/>
            <a:chOff x="0" y="0"/>
            <a:chExt cx="2137363" cy="133185"/>
          </a:xfrm>
        </p:grpSpPr>
        <p:sp>
          <p:nvSpPr>
            <p:cNvPr name="Freeform 7" id="7"/>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1800AD"/>
            </a:solidFill>
          </p:spPr>
        </p:sp>
        <p:sp>
          <p:nvSpPr>
            <p:cNvPr name="TextBox 8" id="8"/>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28700" y="2479309"/>
            <a:ext cx="8115300" cy="137058"/>
            <a:chOff x="0" y="0"/>
            <a:chExt cx="2137363" cy="36097"/>
          </a:xfrm>
        </p:grpSpPr>
        <p:sp>
          <p:nvSpPr>
            <p:cNvPr name="Freeform 10" id="10"/>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DE59"/>
            </a:solidFill>
          </p:spPr>
        </p:sp>
        <p:sp>
          <p:nvSpPr>
            <p:cNvPr name="TextBox 11" id="11"/>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144000" y="2479309"/>
            <a:ext cx="8115300" cy="137058"/>
            <a:chOff x="0" y="0"/>
            <a:chExt cx="2137363" cy="36097"/>
          </a:xfrm>
        </p:grpSpPr>
        <p:sp>
          <p:nvSpPr>
            <p:cNvPr name="Freeform 13" id="13"/>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1800AD"/>
            </a:solidFill>
          </p:spPr>
        </p:sp>
        <p:sp>
          <p:nvSpPr>
            <p:cNvPr name="TextBox 14" id="14"/>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96480" y="4086589"/>
            <a:ext cx="6614771" cy="4064375"/>
          </a:xfrm>
          <a:custGeom>
            <a:avLst/>
            <a:gdLst/>
            <a:ahLst/>
            <a:cxnLst/>
            <a:rect r="r" b="b" t="t" l="l"/>
            <a:pathLst>
              <a:path h="4064375" w="6614771">
                <a:moveTo>
                  <a:pt x="0" y="0"/>
                </a:moveTo>
                <a:lnTo>
                  <a:pt x="6614771" y="0"/>
                </a:lnTo>
                <a:lnTo>
                  <a:pt x="6614771" y="4064375"/>
                </a:lnTo>
                <a:lnTo>
                  <a:pt x="0" y="4064375"/>
                </a:lnTo>
                <a:lnTo>
                  <a:pt x="0" y="0"/>
                </a:lnTo>
                <a:close/>
              </a:path>
            </a:pathLst>
          </a:custGeom>
          <a:blipFill>
            <a:blip r:embed="rId4"/>
            <a:stretch>
              <a:fillRect l="0" t="-8319" r="0" b="-112"/>
            </a:stretch>
          </a:blipFill>
        </p:spPr>
      </p:sp>
      <p:sp>
        <p:nvSpPr>
          <p:cNvPr name="Freeform 16" id="16"/>
          <p:cNvSpPr/>
          <p:nvPr/>
        </p:nvSpPr>
        <p:spPr>
          <a:xfrm flipH="false" flipV="false" rot="0">
            <a:off x="15487240" y="516545"/>
            <a:ext cx="1664226" cy="1616285"/>
          </a:xfrm>
          <a:custGeom>
            <a:avLst/>
            <a:gdLst/>
            <a:ahLst/>
            <a:cxnLst/>
            <a:rect r="r" b="b" t="t" l="l"/>
            <a:pathLst>
              <a:path h="1616285" w="1664226">
                <a:moveTo>
                  <a:pt x="0" y="0"/>
                </a:moveTo>
                <a:lnTo>
                  <a:pt x="1664226" y="0"/>
                </a:lnTo>
                <a:lnTo>
                  <a:pt x="1664226" y="1616285"/>
                </a:lnTo>
                <a:lnTo>
                  <a:pt x="0" y="1616285"/>
                </a:lnTo>
                <a:lnTo>
                  <a:pt x="0" y="0"/>
                </a:lnTo>
                <a:close/>
              </a:path>
            </a:pathLst>
          </a:custGeom>
          <a:blipFill>
            <a:blip r:embed="rId5"/>
            <a:stretch>
              <a:fillRect l="0" t="0" r="0" b="0"/>
            </a:stretch>
          </a:blipFill>
        </p:spPr>
      </p:sp>
      <p:grpSp>
        <p:nvGrpSpPr>
          <p:cNvPr name="Group 17" id="17"/>
          <p:cNvGrpSpPr/>
          <p:nvPr/>
        </p:nvGrpSpPr>
        <p:grpSpPr>
          <a:xfrm rot="0">
            <a:off x="9153525" y="5052758"/>
            <a:ext cx="4297369" cy="1260407"/>
            <a:chOff x="0" y="0"/>
            <a:chExt cx="1450634" cy="425467"/>
          </a:xfrm>
        </p:grpSpPr>
        <p:sp>
          <p:nvSpPr>
            <p:cNvPr name="Freeform 18" id="18"/>
            <p:cNvSpPr/>
            <p:nvPr/>
          </p:nvSpPr>
          <p:spPr>
            <a:xfrm flipH="false" flipV="false" rot="0">
              <a:off x="0" y="0"/>
              <a:ext cx="1450634" cy="425467"/>
            </a:xfrm>
            <a:custGeom>
              <a:avLst/>
              <a:gdLst/>
              <a:ahLst/>
              <a:cxnLst/>
              <a:rect r="r" b="b" t="t" l="l"/>
              <a:pathLst>
                <a:path h="425467" w="1450634">
                  <a:moveTo>
                    <a:pt x="73864" y="0"/>
                  </a:moveTo>
                  <a:lnTo>
                    <a:pt x="1376771" y="0"/>
                  </a:lnTo>
                  <a:cubicBezTo>
                    <a:pt x="1417564" y="0"/>
                    <a:pt x="1450634" y="33070"/>
                    <a:pt x="1450634" y="73864"/>
                  </a:cubicBezTo>
                  <a:lnTo>
                    <a:pt x="1450634" y="351604"/>
                  </a:lnTo>
                  <a:cubicBezTo>
                    <a:pt x="1450634" y="371194"/>
                    <a:pt x="1442852" y="389981"/>
                    <a:pt x="1429000" y="403833"/>
                  </a:cubicBezTo>
                  <a:cubicBezTo>
                    <a:pt x="1415148" y="417685"/>
                    <a:pt x="1396361" y="425467"/>
                    <a:pt x="1376771" y="425467"/>
                  </a:cubicBezTo>
                  <a:lnTo>
                    <a:pt x="73864" y="425467"/>
                  </a:lnTo>
                  <a:cubicBezTo>
                    <a:pt x="33070" y="425467"/>
                    <a:pt x="0" y="392397"/>
                    <a:pt x="0" y="351604"/>
                  </a:cubicBezTo>
                  <a:lnTo>
                    <a:pt x="0" y="73864"/>
                  </a:lnTo>
                  <a:cubicBezTo>
                    <a:pt x="0" y="33070"/>
                    <a:pt x="33070" y="0"/>
                    <a:pt x="73864" y="0"/>
                  </a:cubicBezTo>
                  <a:close/>
                </a:path>
              </a:pathLst>
            </a:custGeom>
            <a:gradFill rotWithShape="true">
              <a:gsLst>
                <a:gs pos="0">
                  <a:srgbClr val="000000">
                    <a:alpha val="100000"/>
                  </a:srgbClr>
                </a:gs>
                <a:gs pos="100000">
                  <a:srgbClr val="3533CD">
                    <a:alpha val="100000"/>
                  </a:srgbClr>
                </a:gs>
              </a:gsLst>
              <a:lin ang="0"/>
            </a:gradFill>
          </p:spPr>
        </p:sp>
        <p:sp>
          <p:nvSpPr>
            <p:cNvPr name="TextBox 19" id="19"/>
            <p:cNvSpPr txBox="true"/>
            <p:nvPr/>
          </p:nvSpPr>
          <p:spPr>
            <a:xfrm>
              <a:off x="0" y="-47625"/>
              <a:ext cx="1450634" cy="47309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826373" y="316520"/>
            <a:ext cx="10507512" cy="1791104"/>
          </a:xfrm>
          <a:prstGeom prst="rect">
            <a:avLst/>
          </a:prstGeom>
        </p:spPr>
        <p:txBody>
          <a:bodyPr anchor="t" rtlCol="false" tIns="0" lIns="0" bIns="0" rIns="0">
            <a:spAutoFit/>
          </a:bodyPr>
          <a:lstStyle/>
          <a:p>
            <a:pPr algn="l">
              <a:lnSpc>
                <a:spcPts val="14677"/>
              </a:lnSpc>
              <a:spcBef>
                <a:spcPct val="0"/>
              </a:spcBef>
            </a:pPr>
            <a:r>
              <a:rPr lang="en-US" sz="10484" b="true">
                <a:solidFill>
                  <a:srgbClr val="FF751F"/>
                </a:solidFill>
                <a:latin typeface="Archivo Narrow Bold"/>
                <a:ea typeface="Archivo Narrow Bold"/>
                <a:cs typeface="Archivo Narrow Bold"/>
                <a:sym typeface="Archivo Narrow Bold"/>
              </a:rPr>
              <a:t>Rumusan Masalah</a:t>
            </a:r>
          </a:p>
        </p:txBody>
      </p:sp>
      <p:sp>
        <p:nvSpPr>
          <p:cNvPr name="TextBox 21" id="21"/>
          <p:cNvSpPr txBox="true"/>
          <p:nvPr/>
        </p:nvSpPr>
        <p:spPr>
          <a:xfrm rot="0">
            <a:off x="9385460" y="5246047"/>
            <a:ext cx="3654391" cy="962343"/>
          </a:xfrm>
          <a:prstGeom prst="rect">
            <a:avLst/>
          </a:prstGeom>
        </p:spPr>
        <p:txBody>
          <a:bodyPr anchor="t" rtlCol="false" tIns="0" lIns="0" bIns="0" rIns="0">
            <a:spAutoFit/>
          </a:bodyPr>
          <a:lstStyle/>
          <a:p>
            <a:pPr algn="l">
              <a:lnSpc>
                <a:spcPts val="2607"/>
              </a:lnSpc>
            </a:pPr>
            <a:r>
              <a:rPr lang="en-US" sz="1862" b="true">
                <a:solidFill>
                  <a:srgbClr val="FF751F"/>
                </a:solidFill>
                <a:latin typeface="Canva Sans Bold"/>
                <a:ea typeface="Canva Sans Bold"/>
                <a:cs typeface="Canva Sans Bold"/>
                <a:sym typeface="Canva Sans Bold"/>
              </a:rPr>
              <a:t>Teks </a:t>
            </a:r>
            <a:r>
              <a:rPr lang="en-US" b="true" sz="1862">
                <a:solidFill>
                  <a:srgbClr val="FF751F"/>
                </a:solidFill>
                <a:latin typeface="Canva Sans Bold"/>
                <a:ea typeface="Canva Sans Bold"/>
                <a:cs typeface="Canva Sans Bold"/>
                <a:sym typeface="Canva Sans Bold"/>
              </a:rPr>
              <a:t>Al-Qur’an kompleks dan kontekstual</a:t>
            </a:r>
          </a:p>
          <a:p>
            <a:pPr algn="l">
              <a:lnSpc>
                <a:spcPts val="2607"/>
              </a:lnSpc>
            </a:pPr>
          </a:p>
        </p:txBody>
      </p:sp>
      <p:grpSp>
        <p:nvGrpSpPr>
          <p:cNvPr name="Group 22" id="22"/>
          <p:cNvGrpSpPr/>
          <p:nvPr/>
        </p:nvGrpSpPr>
        <p:grpSpPr>
          <a:xfrm rot="0">
            <a:off x="9144000" y="2793884"/>
            <a:ext cx="4249522" cy="2206893"/>
            <a:chOff x="0" y="0"/>
            <a:chExt cx="1438033" cy="746810"/>
          </a:xfrm>
        </p:grpSpPr>
        <p:sp>
          <p:nvSpPr>
            <p:cNvPr name="Freeform 23" id="23"/>
            <p:cNvSpPr/>
            <p:nvPr/>
          </p:nvSpPr>
          <p:spPr>
            <a:xfrm flipH="false" flipV="false" rot="0">
              <a:off x="0" y="0"/>
              <a:ext cx="1438033" cy="746810"/>
            </a:xfrm>
            <a:custGeom>
              <a:avLst/>
              <a:gdLst/>
              <a:ahLst/>
              <a:cxnLst/>
              <a:rect r="r" b="b" t="t" l="l"/>
              <a:pathLst>
                <a:path h="746810" w="1438033">
                  <a:moveTo>
                    <a:pt x="74695" y="0"/>
                  </a:moveTo>
                  <a:lnTo>
                    <a:pt x="1363337" y="0"/>
                  </a:lnTo>
                  <a:cubicBezTo>
                    <a:pt x="1404590" y="0"/>
                    <a:pt x="1438033" y="33442"/>
                    <a:pt x="1438033" y="74695"/>
                  </a:cubicBezTo>
                  <a:lnTo>
                    <a:pt x="1438033" y="672115"/>
                  </a:lnTo>
                  <a:cubicBezTo>
                    <a:pt x="1438033" y="713368"/>
                    <a:pt x="1404590" y="746810"/>
                    <a:pt x="1363337" y="746810"/>
                  </a:cubicBezTo>
                  <a:lnTo>
                    <a:pt x="74695" y="746810"/>
                  </a:lnTo>
                  <a:cubicBezTo>
                    <a:pt x="54885" y="746810"/>
                    <a:pt x="35886" y="738940"/>
                    <a:pt x="21878" y="724932"/>
                  </a:cubicBezTo>
                  <a:cubicBezTo>
                    <a:pt x="7870" y="710924"/>
                    <a:pt x="0" y="691925"/>
                    <a:pt x="0" y="672115"/>
                  </a:cubicBezTo>
                  <a:lnTo>
                    <a:pt x="0" y="74695"/>
                  </a:lnTo>
                  <a:cubicBezTo>
                    <a:pt x="0" y="33442"/>
                    <a:pt x="33442" y="0"/>
                    <a:pt x="74695" y="0"/>
                  </a:cubicBezTo>
                  <a:close/>
                </a:path>
              </a:pathLst>
            </a:custGeom>
            <a:gradFill rotWithShape="true">
              <a:gsLst>
                <a:gs pos="0">
                  <a:srgbClr val="000000">
                    <a:alpha val="100000"/>
                  </a:srgbClr>
                </a:gs>
                <a:gs pos="100000">
                  <a:srgbClr val="3432C7">
                    <a:alpha val="100000"/>
                  </a:srgbClr>
                </a:gs>
              </a:gsLst>
              <a:lin ang="16200000"/>
            </a:gradFill>
          </p:spPr>
        </p:sp>
        <p:sp>
          <p:nvSpPr>
            <p:cNvPr name="TextBox 24" id="24"/>
            <p:cNvSpPr txBox="true"/>
            <p:nvPr/>
          </p:nvSpPr>
          <p:spPr>
            <a:xfrm>
              <a:off x="0" y="-47625"/>
              <a:ext cx="1438033" cy="794435"/>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9253909" y="2957061"/>
            <a:ext cx="4029704" cy="1851963"/>
          </a:xfrm>
          <a:prstGeom prst="rect">
            <a:avLst/>
          </a:prstGeom>
        </p:spPr>
        <p:txBody>
          <a:bodyPr anchor="t" rtlCol="false" tIns="0" lIns="0" bIns="0" rIns="0">
            <a:spAutoFit/>
          </a:bodyPr>
          <a:lstStyle/>
          <a:p>
            <a:pPr algn="l">
              <a:lnSpc>
                <a:spcPts val="2466"/>
              </a:lnSpc>
            </a:pPr>
            <a:r>
              <a:rPr lang="en-US" sz="1762" b="true">
                <a:solidFill>
                  <a:srgbClr val="FF751F"/>
                </a:solidFill>
                <a:latin typeface="Canva Sans Bold"/>
                <a:ea typeface="Canva Sans Bold"/>
                <a:cs typeface="Canva Sans Bold"/>
                <a:sym typeface="Canva Sans Bold"/>
              </a:rPr>
              <a:t>Pemodelan topik merupakan pen</a:t>
            </a:r>
            <a:r>
              <a:rPr lang="en-US" b="true" sz="1762">
                <a:solidFill>
                  <a:srgbClr val="FF751F"/>
                </a:solidFill>
                <a:latin typeface="Canva Sans Bold"/>
                <a:ea typeface="Canva Sans Bold"/>
                <a:cs typeface="Canva Sans Bold"/>
                <a:sym typeface="Canva Sans Bold"/>
              </a:rPr>
              <a:t>dekatan penting dalam analisis teks untuk menemukan tema tersembunyi dalam kumpulan dokumen besar secara otomatis (Blei et al., 2003a).</a:t>
            </a:r>
          </a:p>
        </p:txBody>
      </p:sp>
      <p:grpSp>
        <p:nvGrpSpPr>
          <p:cNvPr name="Group 26" id="26"/>
          <p:cNvGrpSpPr/>
          <p:nvPr/>
        </p:nvGrpSpPr>
        <p:grpSpPr>
          <a:xfrm rot="0">
            <a:off x="9144000" y="7798512"/>
            <a:ext cx="4306894" cy="1415475"/>
            <a:chOff x="0" y="0"/>
            <a:chExt cx="1294578" cy="425467"/>
          </a:xfrm>
        </p:grpSpPr>
        <p:sp>
          <p:nvSpPr>
            <p:cNvPr name="Freeform 27" id="27"/>
            <p:cNvSpPr/>
            <p:nvPr/>
          </p:nvSpPr>
          <p:spPr>
            <a:xfrm flipH="false" flipV="false" rot="0">
              <a:off x="0" y="0"/>
              <a:ext cx="1294578" cy="425467"/>
            </a:xfrm>
            <a:custGeom>
              <a:avLst/>
              <a:gdLst/>
              <a:ahLst/>
              <a:cxnLst/>
              <a:rect r="r" b="b" t="t" l="l"/>
              <a:pathLst>
                <a:path h="425467" w="1294578">
                  <a:moveTo>
                    <a:pt x="73700" y="0"/>
                  </a:moveTo>
                  <a:lnTo>
                    <a:pt x="1220878" y="0"/>
                  </a:lnTo>
                  <a:cubicBezTo>
                    <a:pt x="1240424" y="0"/>
                    <a:pt x="1259170" y="7765"/>
                    <a:pt x="1272991" y="21586"/>
                  </a:cubicBezTo>
                  <a:cubicBezTo>
                    <a:pt x="1286813" y="35408"/>
                    <a:pt x="1294578" y="54154"/>
                    <a:pt x="1294578" y="73700"/>
                  </a:cubicBezTo>
                  <a:lnTo>
                    <a:pt x="1294578" y="351767"/>
                  </a:lnTo>
                  <a:cubicBezTo>
                    <a:pt x="1294578" y="371314"/>
                    <a:pt x="1286813" y="390060"/>
                    <a:pt x="1272991" y="403881"/>
                  </a:cubicBezTo>
                  <a:cubicBezTo>
                    <a:pt x="1259170" y="417702"/>
                    <a:pt x="1240424" y="425467"/>
                    <a:pt x="1220878" y="425467"/>
                  </a:cubicBezTo>
                  <a:lnTo>
                    <a:pt x="73700" y="425467"/>
                  </a:lnTo>
                  <a:cubicBezTo>
                    <a:pt x="32997" y="425467"/>
                    <a:pt x="0" y="392471"/>
                    <a:pt x="0" y="351767"/>
                  </a:cubicBezTo>
                  <a:lnTo>
                    <a:pt x="0" y="73700"/>
                  </a:lnTo>
                  <a:cubicBezTo>
                    <a:pt x="0" y="54154"/>
                    <a:pt x="7765" y="35408"/>
                    <a:pt x="21586" y="21586"/>
                  </a:cubicBezTo>
                  <a:cubicBezTo>
                    <a:pt x="35408" y="7765"/>
                    <a:pt x="54154" y="0"/>
                    <a:pt x="73700" y="0"/>
                  </a:cubicBezTo>
                  <a:close/>
                </a:path>
              </a:pathLst>
            </a:custGeom>
            <a:gradFill rotWithShape="true">
              <a:gsLst>
                <a:gs pos="0">
                  <a:srgbClr val="000000">
                    <a:alpha val="100000"/>
                  </a:srgbClr>
                </a:gs>
                <a:gs pos="100000">
                  <a:srgbClr val="3533CD">
                    <a:alpha val="100000"/>
                  </a:srgbClr>
                </a:gs>
              </a:gsLst>
              <a:lin ang="0"/>
            </a:gradFill>
          </p:spPr>
        </p:sp>
        <p:sp>
          <p:nvSpPr>
            <p:cNvPr name="TextBox 28" id="28"/>
            <p:cNvSpPr txBox="true"/>
            <p:nvPr/>
          </p:nvSpPr>
          <p:spPr>
            <a:xfrm>
              <a:off x="0" y="-47625"/>
              <a:ext cx="1294578" cy="473092"/>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253909" y="7924761"/>
            <a:ext cx="3917494" cy="1368622"/>
          </a:xfrm>
          <a:prstGeom prst="rect">
            <a:avLst/>
          </a:prstGeom>
        </p:spPr>
        <p:txBody>
          <a:bodyPr anchor="t" rtlCol="false" tIns="0" lIns="0" bIns="0" rIns="0">
            <a:spAutoFit/>
          </a:bodyPr>
          <a:lstStyle/>
          <a:p>
            <a:pPr algn="ctr">
              <a:lnSpc>
                <a:spcPts val="2173"/>
              </a:lnSpc>
            </a:pPr>
            <a:r>
              <a:rPr lang="en-US" sz="1552" b="true">
                <a:solidFill>
                  <a:srgbClr val="FF751F"/>
                </a:solidFill>
                <a:latin typeface="Canva Sans Bold"/>
                <a:ea typeface="Canva Sans Bold"/>
                <a:cs typeface="Canva Sans Bold"/>
                <a:sym typeface="Canva Sans Bold"/>
              </a:rPr>
              <a:t>penerapan kedua metode ini pada korpus teks religius terutama teks terjemahan Al-Q</a:t>
            </a:r>
            <a:r>
              <a:rPr lang="en-US" b="true" sz="1552">
                <a:solidFill>
                  <a:srgbClr val="FF751F"/>
                </a:solidFill>
                <a:latin typeface="Canva Sans Bold"/>
                <a:ea typeface="Canva Sans Bold"/>
                <a:cs typeface="Canva Sans Bold"/>
                <a:sym typeface="Canva Sans Bold"/>
              </a:rPr>
              <a:t>ur’an dalam bahasa Indonesia belum banyak digunakan</a:t>
            </a:r>
          </a:p>
          <a:p>
            <a:pPr algn="ctr">
              <a:lnSpc>
                <a:spcPts val="2173"/>
              </a:lnSpc>
            </a:pPr>
          </a:p>
        </p:txBody>
      </p:sp>
      <p:grpSp>
        <p:nvGrpSpPr>
          <p:cNvPr name="Group 30" id="30"/>
          <p:cNvGrpSpPr/>
          <p:nvPr/>
        </p:nvGrpSpPr>
        <p:grpSpPr>
          <a:xfrm rot="0">
            <a:off x="9144000" y="6389365"/>
            <a:ext cx="4249522" cy="1228171"/>
            <a:chOff x="0" y="0"/>
            <a:chExt cx="1472134" cy="425467"/>
          </a:xfrm>
        </p:grpSpPr>
        <p:sp>
          <p:nvSpPr>
            <p:cNvPr name="Freeform 31" id="31"/>
            <p:cNvSpPr/>
            <p:nvPr/>
          </p:nvSpPr>
          <p:spPr>
            <a:xfrm flipH="false" flipV="false" rot="0">
              <a:off x="0" y="0"/>
              <a:ext cx="1472134" cy="425467"/>
            </a:xfrm>
            <a:custGeom>
              <a:avLst/>
              <a:gdLst/>
              <a:ahLst/>
              <a:cxnLst/>
              <a:rect r="r" b="b" t="t" l="l"/>
              <a:pathLst>
                <a:path h="425467" w="1472134">
                  <a:moveTo>
                    <a:pt x="74695" y="0"/>
                  </a:moveTo>
                  <a:lnTo>
                    <a:pt x="1397439" y="0"/>
                  </a:lnTo>
                  <a:cubicBezTo>
                    <a:pt x="1438692" y="0"/>
                    <a:pt x="1472134" y="33442"/>
                    <a:pt x="1472134" y="74695"/>
                  </a:cubicBezTo>
                  <a:lnTo>
                    <a:pt x="1472134" y="350772"/>
                  </a:lnTo>
                  <a:cubicBezTo>
                    <a:pt x="1472134" y="370583"/>
                    <a:pt x="1464264" y="389582"/>
                    <a:pt x="1450256" y="403590"/>
                  </a:cubicBezTo>
                  <a:cubicBezTo>
                    <a:pt x="1436248" y="417598"/>
                    <a:pt x="1417249" y="425467"/>
                    <a:pt x="1397439" y="425467"/>
                  </a:cubicBezTo>
                  <a:lnTo>
                    <a:pt x="74695" y="425467"/>
                  </a:lnTo>
                  <a:cubicBezTo>
                    <a:pt x="33442" y="425467"/>
                    <a:pt x="0" y="392025"/>
                    <a:pt x="0" y="350772"/>
                  </a:cubicBezTo>
                  <a:lnTo>
                    <a:pt x="0" y="74695"/>
                  </a:lnTo>
                  <a:cubicBezTo>
                    <a:pt x="0" y="33442"/>
                    <a:pt x="33442" y="0"/>
                    <a:pt x="74695" y="0"/>
                  </a:cubicBezTo>
                  <a:close/>
                </a:path>
              </a:pathLst>
            </a:custGeom>
            <a:gradFill rotWithShape="true">
              <a:gsLst>
                <a:gs pos="0">
                  <a:srgbClr val="000000">
                    <a:alpha val="100000"/>
                  </a:srgbClr>
                </a:gs>
                <a:gs pos="100000">
                  <a:srgbClr val="3533CD">
                    <a:alpha val="100000"/>
                  </a:srgbClr>
                </a:gs>
              </a:gsLst>
              <a:lin ang="0"/>
            </a:gradFill>
          </p:spPr>
        </p:sp>
        <p:sp>
          <p:nvSpPr>
            <p:cNvPr name="TextBox 32" id="32"/>
            <p:cNvSpPr txBox="true"/>
            <p:nvPr/>
          </p:nvSpPr>
          <p:spPr>
            <a:xfrm>
              <a:off x="0" y="-47625"/>
              <a:ext cx="1472134" cy="473092"/>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9424017" y="6561852"/>
            <a:ext cx="3812508" cy="844493"/>
          </a:xfrm>
          <a:prstGeom prst="rect">
            <a:avLst/>
          </a:prstGeom>
        </p:spPr>
        <p:txBody>
          <a:bodyPr anchor="t" rtlCol="false" tIns="0" lIns="0" bIns="0" rIns="0">
            <a:spAutoFit/>
          </a:bodyPr>
          <a:lstStyle/>
          <a:p>
            <a:pPr algn="l">
              <a:lnSpc>
                <a:spcPts val="2278"/>
              </a:lnSpc>
            </a:pPr>
            <a:r>
              <a:rPr lang="en-US" sz="1627" b="true">
                <a:solidFill>
                  <a:srgbClr val="FF751F"/>
                </a:solidFill>
                <a:latin typeface="Canva Sans Bold"/>
                <a:ea typeface="Canva Sans Bold"/>
                <a:cs typeface="Canva Sans Bold"/>
                <a:sym typeface="Canva Sans Bold"/>
              </a:rPr>
              <a:t>CTM &amp;</a:t>
            </a:r>
            <a:r>
              <a:rPr lang="en-US" b="true" sz="1627">
                <a:solidFill>
                  <a:srgbClr val="FF751F"/>
                </a:solidFill>
                <a:latin typeface="Canva Sans Bold"/>
                <a:ea typeface="Canva Sans Bold"/>
                <a:cs typeface="Canva Sans Bold"/>
                <a:sym typeface="Canva Sans Bold"/>
              </a:rPr>
              <a:t> BERTopic sebagai solusi alternatif terbaruan dalam menganalisis Teks Al-Qur’an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033559">
            <a:off x="4219753" y="-4163497"/>
            <a:ext cx="9848495" cy="18613993"/>
          </a:xfrm>
          <a:custGeom>
            <a:avLst/>
            <a:gdLst/>
            <a:ahLst/>
            <a:cxnLst/>
            <a:rect r="r" b="b" t="t" l="l"/>
            <a:pathLst>
              <a:path h="18613993" w="9848495">
                <a:moveTo>
                  <a:pt x="9848494" y="18613994"/>
                </a:moveTo>
                <a:lnTo>
                  <a:pt x="0" y="18613994"/>
                </a:lnTo>
                <a:lnTo>
                  <a:pt x="0" y="0"/>
                </a:lnTo>
                <a:lnTo>
                  <a:pt x="9848494" y="0"/>
                </a:lnTo>
                <a:lnTo>
                  <a:pt x="9848494" y="1861399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28700" y="1028700"/>
            <a:ext cx="8115300" cy="505688"/>
            <a:chOff x="0" y="0"/>
            <a:chExt cx="2137363" cy="133185"/>
          </a:xfrm>
        </p:grpSpPr>
        <p:sp>
          <p:nvSpPr>
            <p:cNvPr name="Freeform 8" id="8"/>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751F"/>
            </a:solidFill>
          </p:spPr>
        </p:sp>
        <p:sp>
          <p:nvSpPr>
            <p:cNvPr name="TextBox 9" id="9"/>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8700" y="9121242"/>
            <a:ext cx="8115300" cy="137058"/>
            <a:chOff x="0" y="0"/>
            <a:chExt cx="2137363" cy="36097"/>
          </a:xfrm>
        </p:grpSpPr>
        <p:sp>
          <p:nvSpPr>
            <p:cNvPr name="Freeform 11" id="11"/>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3C6295"/>
            </a:solidFill>
          </p:spPr>
        </p:sp>
        <p:sp>
          <p:nvSpPr>
            <p:cNvPr name="TextBox 12" id="12"/>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1028700"/>
            <a:ext cx="8115300" cy="505688"/>
            <a:chOff x="0" y="0"/>
            <a:chExt cx="2137363" cy="133185"/>
          </a:xfrm>
        </p:grpSpPr>
        <p:sp>
          <p:nvSpPr>
            <p:cNvPr name="Freeform 14" id="14"/>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3C6295"/>
            </a:solidFill>
          </p:spPr>
        </p:sp>
        <p:sp>
          <p:nvSpPr>
            <p:cNvPr name="TextBox 15" id="15"/>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144000" y="9121242"/>
            <a:ext cx="8115300" cy="137058"/>
            <a:chOff x="0" y="0"/>
            <a:chExt cx="2137363" cy="36097"/>
          </a:xfrm>
        </p:grpSpPr>
        <p:sp>
          <p:nvSpPr>
            <p:cNvPr name="Freeform 17" id="17"/>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751F"/>
            </a:solidFill>
          </p:spPr>
        </p:sp>
        <p:sp>
          <p:nvSpPr>
            <p:cNvPr name="TextBox 18" id="18"/>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337000" y="1245103"/>
            <a:ext cx="5716911" cy="1791104"/>
          </a:xfrm>
          <a:prstGeom prst="rect">
            <a:avLst/>
          </a:prstGeom>
        </p:spPr>
        <p:txBody>
          <a:bodyPr anchor="t" rtlCol="false" tIns="0" lIns="0" bIns="0" rIns="0">
            <a:spAutoFit/>
          </a:bodyPr>
          <a:lstStyle/>
          <a:p>
            <a:pPr algn="l">
              <a:lnSpc>
                <a:spcPts val="14677"/>
              </a:lnSpc>
              <a:spcBef>
                <a:spcPct val="0"/>
              </a:spcBef>
            </a:pPr>
            <a:r>
              <a:rPr lang="en-US" b="true" sz="10484">
                <a:solidFill>
                  <a:srgbClr val="3C6295"/>
                </a:solidFill>
                <a:latin typeface="Archivo Narrow Bold"/>
                <a:ea typeface="Archivo Narrow Bold"/>
                <a:cs typeface="Archivo Narrow Bold"/>
                <a:sym typeface="Archivo Narrow Bold"/>
              </a:rPr>
              <a:t>Our Story</a:t>
            </a:r>
          </a:p>
        </p:txBody>
      </p:sp>
      <p:sp>
        <p:nvSpPr>
          <p:cNvPr name="TextBox 20" id="20"/>
          <p:cNvSpPr txBox="true"/>
          <p:nvPr/>
        </p:nvSpPr>
        <p:spPr>
          <a:xfrm rot="0">
            <a:off x="1337000" y="2872804"/>
            <a:ext cx="7638646" cy="5659818"/>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a:t>
            </a:r>
            <a:r>
              <a:rPr lang="en-US" sz="2030">
                <a:solidFill>
                  <a:srgbClr val="000000"/>
                </a:solidFill>
                <a:latin typeface="Alegreya"/>
                <a:ea typeface="Alegreya"/>
                <a:cs typeface="Alegreya"/>
                <a:sym typeface="Alegreya"/>
              </a:rPr>
              <a:t>nisi id lorem. Ut ut diam ipsum. Vestibulum elementum ex orci, eget efficitur dui convallis vitae. Nam volutpat feugiat nisl in dictum. Morbi tempor et augue in imperdiet. Integer tincidunt efficitur semper.</a:t>
            </a:r>
          </a:p>
        </p:txBody>
      </p:sp>
      <p:sp>
        <p:nvSpPr>
          <p:cNvPr name="TextBox 21" id="21"/>
          <p:cNvSpPr txBox="true"/>
          <p:nvPr/>
        </p:nvSpPr>
        <p:spPr>
          <a:xfrm rot="0">
            <a:off x="9382327" y="2043100"/>
            <a:ext cx="7638646" cy="6723561"/>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a:t>
            </a:r>
            <a:r>
              <a:rPr lang="en-US" sz="2030">
                <a:solidFill>
                  <a:srgbClr val="000000"/>
                </a:solidFill>
                <a:latin typeface="Alegreya"/>
                <a:ea typeface="Alegreya"/>
                <a:cs typeface="Alegreya"/>
                <a:sym typeface="Alegreya"/>
              </a:rPr>
              <a:t>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a:t>
            </a:r>
          </a:p>
        </p:txBody>
      </p:sp>
      <p:sp>
        <p:nvSpPr>
          <p:cNvPr name="TextBox 22" id="22"/>
          <p:cNvSpPr txBox="true"/>
          <p:nvPr/>
        </p:nvSpPr>
        <p:spPr>
          <a:xfrm rot="0">
            <a:off x="15946098" y="1601140"/>
            <a:ext cx="1074875" cy="365760"/>
          </a:xfrm>
          <a:prstGeom prst="rect">
            <a:avLst/>
          </a:prstGeom>
        </p:spPr>
        <p:txBody>
          <a:bodyPr anchor="t" rtlCol="false" tIns="0" lIns="0" bIns="0" rIns="0">
            <a:spAutoFit/>
          </a:bodyPr>
          <a:lstStyle/>
          <a:p>
            <a:pPr algn="r">
              <a:lnSpc>
                <a:spcPts val="2940"/>
              </a:lnSpc>
              <a:spcBef>
                <a:spcPct val="0"/>
              </a:spcBef>
            </a:pPr>
            <a:r>
              <a:rPr lang="en-US" b="true" sz="2100">
                <a:solidFill>
                  <a:srgbClr val="3C6295"/>
                </a:solidFill>
                <a:latin typeface="Archivo Narrow Bold"/>
                <a:ea typeface="Archivo Narrow Bold"/>
                <a:cs typeface="Archivo Narrow Bold"/>
                <a:sym typeface="Archivo Narrow Bold"/>
              </a:rPr>
              <a:t>PAGE 03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033559">
            <a:off x="4219753" y="-4163497"/>
            <a:ext cx="9848495" cy="18613993"/>
          </a:xfrm>
          <a:custGeom>
            <a:avLst/>
            <a:gdLst/>
            <a:ahLst/>
            <a:cxnLst/>
            <a:rect r="r" b="b" t="t" l="l"/>
            <a:pathLst>
              <a:path h="18613993" w="9848495">
                <a:moveTo>
                  <a:pt x="9848494" y="18613994"/>
                </a:moveTo>
                <a:lnTo>
                  <a:pt x="0" y="18613994"/>
                </a:lnTo>
                <a:lnTo>
                  <a:pt x="0" y="0"/>
                </a:lnTo>
                <a:lnTo>
                  <a:pt x="9848494" y="0"/>
                </a:lnTo>
                <a:lnTo>
                  <a:pt x="9848494" y="1861399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28700" y="1028700"/>
            <a:ext cx="8115300" cy="505688"/>
            <a:chOff x="0" y="0"/>
            <a:chExt cx="2137363" cy="133185"/>
          </a:xfrm>
        </p:grpSpPr>
        <p:sp>
          <p:nvSpPr>
            <p:cNvPr name="Freeform 8" id="8"/>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751F"/>
            </a:solidFill>
          </p:spPr>
        </p:sp>
        <p:sp>
          <p:nvSpPr>
            <p:cNvPr name="TextBox 9" id="9"/>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88711" y="2571977"/>
            <a:ext cx="6779015" cy="6888684"/>
            <a:chOff x="0" y="0"/>
            <a:chExt cx="1785420" cy="1814304"/>
          </a:xfrm>
        </p:grpSpPr>
        <p:sp>
          <p:nvSpPr>
            <p:cNvPr name="Freeform 11" id="11"/>
            <p:cNvSpPr/>
            <p:nvPr/>
          </p:nvSpPr>
          <p:spPr>
            <a:xfrm flipH="false" flipV="false" rot="0">
              <a:off x="0" y="0"/>
              <a:ext cx="1785420" cy="1814304"/>
            </a:xfrm>
            <a:custGeom>
              <a:avLst/>
              <a:gdLst/>
              <a:ahLst/>
              <a:cxnLst/>
              <a:rect r="r" b="b" t="t" l="l"/>
              <a:pathLst>
                <a:path h="1814304" w="1785420">
                  <a:moveTo>
                    <a:pt x="0" y="0"/>
                  </a:moveTo>
                  <a:lnTo>
                    <a:pt x="1785420" y="0"/>
                  </a:lnTo>
                  <a:lnTo>
                    <a:pt x="1785420" y="1814304"/>
                  </a:lnTo>
                  <a:lnTo>
                    <a:pt x="0" y="1814304"/>
                  </a:lnTo>
                  <a:close/>
                </a:path>
              </a:pathLst>
            </a:custGeom>
            <a:solidFill>
              <a:srgbClr val="FF751F"/>
            </a:solidFill>
          </p:spPr>
        </p:sp>
        <p:sp>
          <p:nvSpPr>
            <p:cNvPr name="TextBox 12" id="12"/>
            <p:cNvSpPr txBox="true"/>
            <p:nvPr/>
          </p:nvSpPr>
          <p:spPr>
            <a:xfrm>
              <a:off x="0" y="-47625"/>
              <a:ext cx="1785420" cy="186192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1028700"/>
            <a:ext cx="8115300" cy="505688"/>
            <a:chOff x="0" y="0"/>
            <a:chExt cx="2137363" cy="133185"/>
          </a:xfrm>
        </p:grpSpPr>
        <p:sp>
          <p:nvSpPr>
            <p:cNvPr name="Freeform 14" id="14"/>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3C6295"/>
            </a:solidFill>
          </p:spPr>
        </p:sp>
        <p:sp>
          <p:nvSpPr>
            <p:cNvPr name="TextBox 15" id="15"/>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28700" y="1534388"/>
            <a:ext cx="16230600" cy="137058"/>
            <a:chOff x="0" y="0"/>
            <a:chExt cx="21640800" cy="182743"/>
          </a:xfrm>
        </p:grpSpPr>
        <p:grpSp>
          <p:nvGrpSpPr>
            <p:cNvPr name="Group 17" id="17"/>
            <p:cNvGrpSpPr/>
            <p:nvPr/>
          </p:nvGrpSpPr>
          <p:grpSpPr>
            <a:xfrm rot="0">
              <a:off x="0" y="0"/>
              <a:ext cx="10820400" cy="182743"/>
              <a:chOff x="0" y="0"/>
              <a:chExt cx="2137363" cy="36097"/>
            </a:xfrm>
          </p:grpSpPr>
          <p:sp>
            <p:nvSpPr>
              <p:cNvPr name="Freeform 18" id="18"/>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3C6295"/>
              </a:solidFill>
            </p:spPr>
          </p:sp>
          <p:sp>
            <p:nvSpPr>
              <p:cNvPr name="TextBox 19" id="19"/>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0820400" y="0"/>
              <a:ext cx="10820400" cy="182743"/>
              <a:chOff x="0" y="0"/>
              <a:chExt cx="2137363" cy="36097"/>
            </a:xfrm>
          </p:grpSpPr>
          <p:sp>
            <p:nvSpPr>
              <p:cNvPr name="Freeform 21" id="21"/>
              <p:cNvSpPr/>
              <p:nvPr/>
            </p:nvSpPr>
            <p:spPr>
              <a:xfrm flipH="false" flipV="false" rot="0">
                <a:off x="0" y="0"/>
                <a:ext cx="2137363" cy="36097"/>
              </a:xfrm>
              <a:custGeom>
                <a:avLst/>
                <a:gdLst/>
                <a:ahLst/>
                <a:cxnLst/>
                <a:rect r="r" b="b" t="t" l="l"/>
                <a:pathLst>
                  <a:path h="36097" w="2137363">
                    <a:moveTo>
                      <a:pt x="0" y="0"/>
                    </a:moveTo>
                    <a:lnTo>
                      <a:pt x="2137363" y="0"/>
                    </a:lnTo>
                    <a:lnTo>
                      <a:pt x="2137363" y="36097"/>
                    </a:lnTo>
                    <a:lnTo>
                      <a:pt x="0" y="36097"/>
                    </a:lnTo>
                    <a:close/>
                  </a:path>
                </a:pathLst>
              </a:custGeom>
              <a:solidFill>
                <a:srgbClr val="FF751F"/>
              </a:solidFill>
            </p:spPr>
          </p:sp>
          <p:sp>
            <p:nvSpPr>
              <p:cNvPr name="TextBox 22" id="22"/>
              <p:cNvSpPr txBox="true"/>
              <p:nvPr/>
            </p:nvSpPr>
            <p:spPr>
              <a:xfrm>
                <a:off x="0" y="-47625"/>
                <a:ext cx="2137363" cy="83722"/>
              </a:xfrm>
              <a:prstGeom prst="rect">
                <a:avLst/>
              </a:prstGeom>
            </p:spPr>
            <p:txBody>
              <a:bodyPr anchor="ctr" rtlCol="false" tIns="50800" lIns="50800" bIns="50800" rIns="50800"/>
              <a:lstStyle/>
              <a:p>
                <a:pPr algn="ctr">
                  <a:lnSpc>
                    <a:spcPts val="2659"/>
                  </a:lnSpc>
                </a:pPr>
              </a:p>
            </p:txBody>
          </p:sp>
        </p:grpSp>
      </p:grpSp>
      <p:grpSp>
        <p:nvGrpSpPr>
          <p:cNvPr name="Group 23" id="23"/>
          <p:cNvGrpSpPr/>
          <p:nvPr/>
        </p:nvGrpSpPr>
        <p:grpSpPr>
          <a:xfrm rot="0">
            <a:off x="1282112" y="3027182"/>
            <a:ext cx="5649559" cy="5879953"/>
            <a:chOff x="0" y="0"/>
            <a:chExt cx="875265" cy="910959"/>
          </a:xfrm>
        </p:grpSpPr>
        <p:sp>
          <p:nvSpPr>
            <p:cNvPr name="Freeform 24" id="24"/>
            <p:cNvSpPr/>
            <p:nvPr/>
          </p:nvSpPr>
          <p:spPr>
            <a:xfrm flipH="false" flipV="false" rot="0">
              <a:off x="0" y="0"/>
              <a:ext cx="875265" cy="910959"/>
            </a:xfrm>
            <a:custGeom>
              <a:avLst/>
              <a:gdLst/>
              <a:ahLst/>
              <a:cxnLst/>
              <a:rect r="r" b="b" t="t" l="l"/>
              <a:pathLst>
                <a:path h="910959" w="875265">
                  <a:moveTo>
                    <a:pt x="0" y="0"/>
                  </a:moveTo>
                  <a:lnTo>
                    <a:pt x="875265" y="0"/>
                  </a:lnTo>
                  <a:lnTo>
                    <a:pt x="875265" y="910959"/>
                  </a:lnTo>
                  <a:lnTo>
                    <a:pt x="0" y="910959"/>
                  </a:lnTo>
                  <a:close/>
                </a:path>
              </a:pathLst>
            </a:custGeom>
            <a:blipFill>
              <a:blip r:embed="rId8"/>
              <a:stretch>
                <a:fillRect l="0" t="-10051" r="0" b="-10051"/>
              </a:stretch>
            </a:blipFill>
          </p:spPr>
        </p:sp>
      </p:grpSp>
      <p:sp>
        <p:nvSpPr>
          <p:cNvPr name="TextBox 25" id="25"/>
          <p:cNvSpPr txBox="true"/>
          <p:nvPr/>
        </p:nvSpPr>
        <p:spPr>
          <a:xfrm rot="0">
            <a:off x="7650851" y="1748483"/>
            <a:ext cx="4032697" cy="1791104"/>
          </a:xfrm>
          <a:prstGeom prst="rect">
            <a:avLst/>
          </a:prstGeom>
        </p:spPr>
        <p:txBody>
          <a:bodyPr anchor="t" rtlCol="false" tIns="0" lIns="0" bIns="0" rIns="0">
            <a:spAutoFit/>
          </a:bodyPr>
          <a:lstStyle/>
          <a:p>
            <a:pPr algn="l">
              <a:lnSpc>
                <a:spcPts val="14677"/>
              </a:lnSpc>
              <a:spcBef>
                <a:spcPct val="0"/>
              </a:spcBef>
            </a:pPr>
            <a:r>
              <a:rPr lang="en-US" sz="10484" b="true">
                <a:solidFill>
                  <a:srgbClr val="3C6295"/>
                </a:solidFill>
                <a:latin typeface="Archivo Narrow Bold"/>
                <a:ea typeface="Archivo Narrow Bold"/>
                <a:cs typeface="Archivo Narrow Bold"/>
                <a:sym typeface="Archivo Narrow Bold"/>
              </a:rPr>
              <a:t>Visi</a:t>
            </a:r>
            <a:r>
              <a:rPr lang="en-US" b="true" sz="10484">
                <a:solidFill>
                  <a:srgbClr val="3C6295"/>
                </a:solidFill>
                <a:latin typeface="Archivo Narrow Bold"/>
                <a:ea typeface="Archivo Narrow Bold"/>
                <a:cs typeface="Archivo Narrow Bold"/>
                <a:sym typeface="Archivo Narrow Bold"/>
              </a:rPr>
              <a:t>on</a:t>
            </a:r>
          </a:p>
        </p:txBody>
      </p:sp>
      <p:sp>
        <p:nvSpPr>
          <p:cNvPr name="TextBox 26" id="26"/>
          <p:cNvSpPr txBox="true"/>
          <p:nvPr/>
        </p:nvSpPr>
        <p:spPr>
          <a:xfrm rot="0">
            <a:off x="7650851" y="3344650"/>
            <a:ext cx="9345052" cy="6014399"/>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a:t>
            </a:r>
            <a:r>
              <a:rPr lang="en-US" sz="2030">
                <a:solidFill>
                  <a:srgbClr val="000000"/>
                </a:solidFill>
                <a:latin typeface="Alegreya"/>
                <a:ea typeface="Alegreya"/>
                <a:cs typeface="Alegreya"/>
                <a:sym typeface="Alegreya"/>
              </a:rPr>
              <a:t>licitudin purus. Maecenas dignissim mi nisi, rhoncus condimentum urna pulvinar ut.</a:t>
            </a:r>
          </a:p>
        </p:txBody>
      </p:sp>
      <p:sp>
        <p:nvSpPr>
          <p:cNvPr name="TextBox 27" id="27"/>
          <p:cNvSpPr txBox="true"/>
          <p:nvPr/>
        </p:nvSpPr>
        <p:spPr>
          <a:xfrm rot="0">
            <a:off x="15946098" y="8700443"/>
            <a:ext cx="1049805" cy="365760"/>
          </a:xfrm>
          <a:prstGeom prst="rect">
            <a:avLst/>
          </a:prstGeom>
        </p:spPr>
        <p:txBody>
          <a:bodyPr anchor="t" rtlCol="false" tIns="0" lIns="0" bIns="0" rIns="0">
            <a:spAutoFit/>
          </a:bodyPr>
          <a:lstStyle/>
          <a:p>
            <a:pPr algn="r">
              <a:lnSpc>
                <a:spcPts val="2940"/>
              </a:lnSpc>
              <a:spcBef>
                <a:spcPct val="0"/>
              </a:spcBef>
            </a:pPr>
            <a:r>
              <a:rPr lang="en-US" b="true" sz="2100">
                <a:solidFill>
                  <a:srgbClr val="3C6295"/>
                </a:solidFill>
                <a:latin typeface="Archivo Narrow Bold"/>
                <a:ea typeface="Archivo Narrow Bold"/>
                <a:cs typeface="Archivo Narrow Bold"/>
                <a:sym typeface="Archivo Narrow Bold"/>
              </a:rPr>
              <a:t>PAGE 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4219753" y="-4163497"/>
            <a:ext cx="9848495" cy="18613993"/>
          </a:xfrm>
          <a:custGeom>
            <a:avLst/>
            <a:gdLst/>
            <a:ahLst/>
            <a:cxnLst/>
            <a:rect r="r" b="b" t="t" l="l"/>
            <a:pathLst>
              <a:path h="18613993" w="9848495">
                <a:moveTo>
                  <a:pt x="0" y="18613994"/>
                </a:moveTo>
                <a:lnTo>
                  <a:pt x="9848494" y="18613994"/>
                </a:lnTo>
                <a:lnTo>
                  <a:pt x="9848494" y="0"/>
                </a:lnTo>
                <a:lnTo>
                  <a:pt x="0" y="0"/>
                </a:lnTo>
                <a:lnTo>
                  <a:pt x="0" y="1861399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28700" y="1028700"/>
            <a:ext cx="8115300" cy="505688"/>
            <a:chOff x="0" y="0"/>
            <a:chExt cx="2137363" cy="133185"/>
          </a:xfrm>
        </p:grpSpPr>
        <p:sp>
          <p:nvSpPr>
            <p:cNvPr name="Freeform 8" id="8"/>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751F"/>
            </a:solidFill>
          </p:spPr>
        </p:sp>
        <p:sp>
          <p:nvSpPr>
            <p:cNvPr name="TextBox 9" id="9"/>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88711" y="2394667"/>
            <a:ext cx="6779015" cy="6888684"/>
            <a:chOff x="0" y="0"/>
            <a:chExt cx="1785420" cy="1814304"/>
          </a:xfrm>
        </p:grpSpPr>
        <p:sp>
          <p:nvSpPr>
            <p:cNvPr name="Freeform 11" id="11"/>
            <p:cNvSpPr/>
            <p:nvPr/>
          </p:nvSpPr>
          <p:spPr>
            <a:xfrm flipH="false" flipV="false" rot="0">
              <a:off x="0" y="0"/>
              <a:ext cx="1785420" cy="1814304"/>
            </a:xfrm>
            <a:custGeom>
              <a:avLst/>
              <a:gdLst/>
              <a:ahLst/>
              <a:cxnLst/>
              <a:rect r="r" b="b" t="t" l="l"/>
              <a:pathLst>
                <a:path h="1814304" w="1785420">
                  <a:moveTo>
                    <a:pt x="0" y="0"/>
                  </a:moveTo>
                  <a:lnTo>
                    <a:pt x="1785420" y="0"/>
                  </a:lnTo>
                  <a:lnTo>
                    <a:pt x="1785420" y="1814304"/>
                  </a:lnTo>
                  <a:lnTo>
                    <a:pt x="0" y="1814304"/>
                  </a:lnTo>
                  <a:close/>
                </a:path>
              </a:pathLst>
            </a:custGeom>
            <a:solidFill>
              <a:srgbClr val="3C6295"/>
            </a:solidFill>
          </p:spPr>
        </p:sp>
        <p:sp>
          <p:nvSpPr>
            <p:cNvPr name="TextBox 12" id="12"/>
            <p:cNvSpPr txBox="true"/>
            <p:nvPr/>
          </p:nvSpPr>
          <p:spPr>
            <a:xfrm>
              <a:off x="0" y="-47625"/>
              <a:ext cx="1785420" cy="186192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1028700"/>
            <a:ext cx="8115300" cy="505688"/>
            <a:chOff x="0" y="0"/>
            <a:chExt cx="2137363" cy="133185"/>
          </a:xfrm>
        </p:grpSpPr>
        <p:sp>
          <p:nvSpPr>
            <p:cNvPr name="Freeform 14" id="14"/>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3C6295"/>
            </a:solidFill>
          </p:spPr>
        </p:sp>
        <p:sp>
          <p:nvSpPr>
            <p:cNvPr name="TextBox 15" id="15"/>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420348" y="2992623"/>
            <a:ext cx="5649559" cy="2846387"/>
            <a:chOff x="0" y="0"/>
            <a:chExt cx="875265" cy="440980"/>
          </a:xfrm>
        </p:grpSpPr>
        <p:sp>
          <p:nvSpPr>
            <p:cNvPr name="Freeform 17" id="17"/>
            <p:cNvSpPr/>
            <p:nvPr/>
          </p:nvSpPr>
          <p:spPr>
            <a:xfrm flipH="false" flipV="false" rot="0">
              <a:off x="0" y="0"/>
              <a:ext cx="875265" cy="440980"/>
            </a:xfrm>
            <a:custGeom>
              <a:avLst/>
              <a:gdLst/>
              <a:ahLst/>
              <a:cxnLst/>
              <a:rect r="r" b="b" t="t" l="l"/>
              <a:pathLst>
                <a:path h="440980" w="875265">
                  <a:moveTo>
                    <a:pt x="0" y="0"/>
                  </a:moveTo>
                  <a:lnTo>
                    <a:pt x="875265" y="0"/>
                  </a:lnTo>
                  <a:lnTo>
                    <a:pt x="875265" y="440980"/>
                  </a:lnTo>
                  <a:lnTo>
                    <a:pt x="0" y="440980"/>
                  </a:lnTo>
                  <a:close/>
                </a:path>
              </a:pathLst>
            </a:custGeom>
            <a:blipFill>
              <a:blip r:embed="rId8"/>
              <a:stretch>
                <a:fillRect l="0" t="-82481" r="0" b="-82481"/>
              </a:stretch>
            </a:blipFill>
          </p:spPr>
        </p:sp>
      </p:grpSp>
      <p:grpSp>
        <p:nvGrpSpPr>
          <p:cNvPr name="Group 18" id="18"/>
          <p:cNvGrpSpPr/>
          <p:nvPr/>
        </p:nvGrpSpPr>
        <p:grpSpPr>
          <a:xfrm rot="0">
            <a:off x="1420348" y="5901681"/>
            <a:ext cx="5649559" cy="2846387"/>
            <a:chOff x="0" y="0"/>
            <a:chExt cx="875265" cy="440980"/>
          </a:xfrm>
        </p:grpSpPr>
        <p:sp>
          <p:nvSpPr>
            <p:cNvPr name="Freeform 19" id="19"/>
            <p:cNvSpPr/>
            <p:nvPr/>
          </p:nvSpPr>
          <p:spPr>
            <a:xfrm flipH="false" flipV="false" rot="0">
              <a:off x="0" y="0"/>
              <a:ext cx="875265" cy="440980"/>
            </a:xfrm>
            <a:custGeom>
              <a:avLst/>
              <a:gdLst/>
              <a:ahLst/>
              <a:cxnLst/>
              <a:rect r="r" b="b" t="t" l="l"/>
              <a:pathLst>
                <a:path h="440980" w="875265">
                  <a:moveTo>
                    <a:pt x="0" y="0"/>
                  </a:moveTo>
                  <a:lnTo>
                    <a:pt x="875265" y="0"/>
                  </a:lnTo>
                  <a:lnTo>
                    <a:pt x="875265" y="440980"/>
                  </a:lnTo>
                  <a:lnTo>
                    <a:pt x="0" y="440980"/>
                  </a:lnTo>
                  <a:close/>
                </a:path>
              </a:pathLst>
            </a:custGeom>
            <a:blipFill>
              <a:blip r:embed="rId9"/>
              <a:stretch>
                <a:fillRect l="0" t="-4787" r="0" b="-27451"/>
              </a:stretch>
            </a:blipFill>
          </p:spPr>
        </p:sp>
      </p:grpSp>
      <p:sp>
        <p:nvSpPr>
          <p:cNvPr name="TextBox 20" id="20"/>
          <p:cNvSpPr txBox="true"/>
          <p:nvPr/>
        </p:nvSpPr>
        <p:spPr>
          <a:xfrm rot="0">
            <a:off x="7111569" y="1334363"/>
            <a:ext cx="4684564" cy="1791104"/>
          </a:xfrm>
          <a:prstGeom prst="rect">
            <a:avLst/>
          </a:prstGeom>
        </p:spPr>
        <p:txBody>
          <a:bodyPr anchor="t" rtlCol="false" tIns="0" lIns="0" bIns="0" rIns="0">
            <a:spAutoFit/>
          </a:bodyPr>
          <a:lstStyle/>
          <a:p>
            <a:pPr algn="l">
              <a:lnSpc>
                <a:spcPts val="14677"/>
              </a:lnSpc>
              <a:spcBef>
                <a:spcPct val="0"/>
              </a:spcBef>
            </a:pPr>
            <a:r>
              <a:rPr lang="en-US" sz="10484" b="true">
                <a:solidFill>
                  <a:srgbClr val="3C6295"/>
                </a:solidFill>
                <a:latin typeface="Archivo Narrow Bold"/>
                <a:ea typeface="Archivo Narrow Bold"/>
                <a:cs typeface="Archivo Narrow Bold"/>
                <a:sym typeface="Archivo Narrow Bold"/>
              </a:rPr>
              <a:t>Missi</a:t>
            </a:r>
            <a:r>
              <a:rPr lang="en-US" b="true" sz="10484">
                <a:solidFill>
                  <a:srgbClr val="3C6295"/>
                </a:solidFill>
                <a:latin typeface="Archivo Narrow Bold"/>
                <a:ea typeface="Archivo Narrow Bold"/>
                <a:cs typeface="Archivo Narrow Bold"/>
                <a:sym typeface="Archivo Narrow Bold"/>
              </a:rPr>
              <a:t>on</a:t>
            </a:r>
          </a:p>
        </p:txBody>
      </p:sp>
      <p:sp>
        <p:nvSpPr>
          <p:cNvPr name="TextBox 21" id="21"/>
          <p:cNvSpPr txBox="true"/>
          <p:nvPr/>
        </p:nvSpPr>
        <p:spPr>
          <a:xfrm rot="0">
            <a:off x="7224623" y="2797799"/>
            <a:ext cx="9679123" cy="6368980"/>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 Maecenas dignissim mi nisi, rhoncus condimentum urna pulvinar ut. Donec lacus erat, </a:t>
            </a:r>
            <a:r>
              <a:rPr lang="en-US" sz="2030">
                <a:solidFill>
                  <a:srgbClr val="000000"/>
                </a:solidFill>
                <a:latin typeface="Alegreya"/>
                <a:ea typeface="Alegreya"/>
                <a:cs typeface="Alegreya"/>
                <a:sym typeface="Alegreya"/>
              </a:rPr>
              <a:t>ultrices ut lectus quis, ultrices pulvinar mi. Proin dolor odio, luctus quis mi vitae, condimentum facilisis velit. Integer nec dolor sit amet enim pulvinar rhoncus.</a:t>
            </a:r>
          </a:p>
        </p:txBody>
      </p:sp>
      <p:sp>
        <p:nvSpPr>
          <p:cNvPr name="TextBox 22" id="22"/>
          <p:cNvSpPr txBox="true"/>
          <p:nvPr/>
        </p:nvSpPr>
        <p:spPr>
          <a:xfrm rot="0">
            <a:off x="1130212" y="1846490"/>
            <a:ext cx="987811" cy="365760"/>
          </a:xfrm>
          <a:prstGeom prst="rect">
            <a:avLst/>
          </a:prstGeom>
        </p:spPr>
        <p:txBody>
          <a:bodyPr anchor="t" rtlCol="false" tIns="0" lIns="0" bIns="0" rIns="0">
            <a:spAutoFit/>
          </a:bodyPr>
          <a:lstStyle/>
          <a:p>
            <a:pPr algn="l">
              <a:lnSpc>
                <a:spcPts val="2940"/>
              </a:lnSpc>
              <a:spcBef>
                <a:spcPct val="0"/>
              </a:spcBef>
            </a:pPr>
            <a:r>
              <a:rPr lang="en-US" b="true" sz="2100">
                <a:solidFill>
                  <a:srgbClr val="3C6295"/>
                </a:solidFill>
                <a:latin typeface="Archivo Narrow Bold"/>
                <a:ea typeface="Archivo Narrow Bold"/>
                <a:cs typeface="Archivo Narrow Bold"/>
                <a:sym typeface="Archivo Narrow Bold"/>
              </a:rPr>
              <a:t>PAGE 5</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4219753" y="-4163497"/>
            <a:ext cx="9848495" cy="18613993"/>
          </a:xfrm>
          <a:custGeom>
            <a:avLst/>
            <a:gdLst/>
            <a:ahLst/>
            <a:cxnLst/>
            <a:rect r="r" b="b" t="t" l="l"/>
            <a:pathLst>
              <a:path h="18613993" w="9848495">
                <a:moveTo>
                  <a:pt x="0" y="18613994"/>
                </a:moveTo>
                <a:lnTo>
                  <a:pt x="9848494" y="18613994"/>
                </a:lnTo>
                <a:lnTo>
                  <a:pt x="9848494" y="0"/>
                </a:lnTo>
                <a:lnTo>
                  <a:pt x="0" y="0"/>
                </a:lnTo>
                <a:lnTo>
                  <a:pt x="0" y="18613994"/>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28700" y="1028700"/>
            <a:ext cx="8115300" cy="505688"/>
            <a:chOff x="0" y="0"/>
            <a:chExt cx="2137363" cy="133185"/>
          </a:xfrm>
        </p:grpSpPr>
        <p:sp>
          <p:nvSpPr>
            <p:cNvPr name="Freeform 8" id="8"/>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751F"/>
            </a:solidFill>
          </p:spPr>
        </p:sp>
        <p:sp>
          <p:nvSpPr>
            <p:cNvPr name="TextBox 9" id="9"/>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042536" y="3485194"/>
            <a:ext cx="7216764" cy="5773106"/>
            <a:chOff x="0" y="0"/>
            <a:chExt cx="1900711" cy="1520489"/>
          </a:xfrm>
        </p:grpSpPr>
        <p:sp>
          <p:nvSpPr>
            <p:cNvPr name="Freeform 11" id="11"/>
            <p:cNvSpPr/>
            <p:nvPr/>
          </p:nvSpPr>
          <p:spPr>
            <a:xfrm flipH="false" flipV="false" rot="0">
              <a:off x="0" y="0"/>
              <a:ext cx="1900712" cy="1520489"/>
            </a:xfrm>
            <a:custGeom>
              <a:avLst/>
              <a:gdLst/>
              <a:ahLst/>
              <a:cxnLst/>
              <a:rect r="r" b="b" t="t" l="l"/>
              <a:pathLst>
                <a:path h="1520489" w="1900712">
                  <a:moveTo>
                    <a:pt x="0" y="0"/>
                  </a:moveTo>
                  <a:lnTo>
                    <a:pt x="1900712" y="0"/>
                  </a:lnTo>
                  <a:lnTo>
                    <a:pt x="1900712" y="1520489"/>
                  </a:lnTo>
                  <a:lnTo>
                    <a:pt x="0" y="1520489"/>
                  </a:lnTo>
                  <a:close/>
                </a:path>
              </a:pathLst>
            </a:custGeom>
            <a:solidFill>
              <a:srgbClr val="FF751F"/>
            </a:solidFill>
          </p:spPr>
        </p:sp>
        <p:sp>
          <p:nvSpPr>
            <p:cNvPr name="TextBox 12" id="12"/>
            <p:cNvSpPr txBox="true"/>
            <p:nvPr/>
          </p:nvSpPr>
          <p:spPr>
            <a:xfrm>
              <a:off x="0" y="-47625"/>
              <a:ext cx="1900711" cy="156811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5720731"/>
            <a:ext cx="10042536" cy="3537569"/>
            <a:chOff x="0" y="0"/>
            <a:chExt cx="2644948" cy="931705"/>
          </a:xfrm>
        </p:grpSpPr>
        <p:sp>
          <p:nvSpPr>
            <p:cNvPr name="Freeform 14" id="14"/>
            <p:cNvSpPr/>
            <p:nvPr/>
          </p:nvSpPr>
          <p:spPr>
            <a:xfrm flipH="false" flipV="false" rot="0">
              <a:off x="0" y="0"/>
              <a:ext cx="2644948" cy="931705"/>
            </a:xfrm>
            <a:custGeom>
              <a:avLst/>
              <a:gdLst/>
              <a:ahLst/>
              <a:cxnLst/>
              <a:rect r="r" b="b" t="t" l="l"/>
              <a:pathLst>
                <a:path h="931705" w="2644948">
                  <a:moveTo>
                    <a:pt x="0" y="0"/>
                  </a:moveTo>
                  <a:lnTo>
                    <a:pt x="2644948" y="0"/>
                  </a:lnTo>
                  <a:lnTo>
                    <a:pt x="2644948" y="931705"/>
                  </a:lnTo>
                  <a:lnTo>
                    <a:pt x="0" y="931705"/>
                  </a:lnTo>
                  <a:close/>
                </a:path>
              </a:pathLst>
            </a:custGeom>
            <a:solidFill>
              <a:srgbClr val="3C6295"/>
            </a:solidFill>
          </p:spPr>
        </p:sp>
        <p:sp>
          <p:nvSpPr>
            <p:cNvPr name="TextBox 15" id="15"/>
            <p:cNvSpPr txBox="true"/>
            <p:nvPr/>
          </p:nvSpPr>
          <p:spPr>
            <a:xfrm>
              <a:off x="0" y="-47625"/>
              <a:ext cx="2644948" cy="97933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144000" y="1028700"/>
            <a:ext cx="8115300" cy="505688"/>
            <a:chOff x="0" y="0"/>
            <a:chExt cx="2137363" cy="133185"/>
          </a:xfrm>
        </p:grpSpPr>
        <p:sp>
          <p:nvSpPr>
            <p:cNvPr name="Freeform 17" id="17"/>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3C6295"/>
            </a:solidFill>
          </p:spPr>
        </p:sp>
        <p:sp>
          <p:nvSpPr>
            <p:cNvPr name="TextBox 18" id="18"/>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51230" y="5901681"/>
            <a:ext cx="3837892" cy="2846387"/>
            <a:chOff x="0" y="0"/>
            <a:chExt cx="594590" cy="440980"/>
          </a:xfrm>
        </p:grpSpPr>
        <p:sp>
          <p:nvSpPr>
            <p:cNvPr name="Freeform 20" id="20"/>
            <p:cNvSpPr/>
            <p:nvPr/>
          </p:nvSpPr>
          <p:spPr>
            <a:xfrm flipH="false" flipV="false" rot="0">
              <a:off x="0" y="0"/>
              <a:ext cx="594590" cy="440980"/>
            </a:xfrm>
            <a:custGeom>
              <a:avLst/>
              <a:gdLst/>
              <a:ahLst/>
              <a:cxnLst/>
              <a:rect r="r" b="b" t="t" l="l"/>
              <a:pathLst>
                <a:path h="440980" w="594590">
                  <a:moveTo>
                    <a:pt x="0" y="0"/>
                  </a:moveTo>
                  <a:lnTo>
                    <a:pt x="594590" y="0"/>
                  </a:lnTo>
                  <a:lnTo>
                    <a:pt x="594590" y="440980"/>
                  </a:lnTo>
                  <a:lnTo>
                    <a:pt x="0" y="440980"/>
                  </a:lnTo>
                  <a:close/>
                </a:path>
              </a:pathLst>
            </a:custGeom>
            <a:blipFill>
              <a:blip r:embed="rId8"/>
              <a:stretch>
                <a:fillRect l="-35589" t="-28222" r="-69452" b="-56255"/>
              </a:stretch>
            </a:blipFill>
          </p:spPr>
        </p:sp>
      </p:grpSp>
      <p:grpSp>
        <p:nvGrpSpPr>
          <p:cNvPr name="Group 21" id="21"/>
          <p:cNvGrpSpPr/>
          <p:nvPr/>
        </p:nvGrpSpPr>
        <p:grpSpPr>
          <a:xfrm rot="0">
            <a:off x="5306108" y="5901681"/>
            <a:ext cx="3837892" cy="2846387"/>
            <a:chOff x="0" y="0"/>
            <a:chExt cx="594590" cy="440980"/>
          </a:xfrm>
        </p:grpSpPr>
        <p:sp>
          <p:nvSpPr>
            <p:cNvPr name="Freeform 22" id="22"/>
            <p:cNvSpPr/>
            <p:nvPr/>
          </p:nvSpPr>
          <p:spPr>
            <a:xfrm flipH="false" flipV="false" rot="0">
              <a:off x="0" y="0"/>
              <a:ext cx="594590" cy="440980"/>
            </a:xfrm>
            <a:custGeom>
              <a:avLst/>
              <a:gdLst/>
              <a:ahLst/>
              <a:cxnLst/>
              <a:rect r="r" b="b" t="t" l="l"/>
              <a:pathLst>
                <a:path h="440980" w="594590">
                  <a:moveTo>
                    <a:pt x="0" y="0"/>
                  </a:moveTo>
                  <a:lnTo>
                    <a:pt x="594590" y="0"/>
                  </a:lnTo>
                  <a:lnTo>
                    <a:pt x="594590" y="440980"/>
                  </a:lnTo>
                  <a:lnTo>
                    <a:pt x="0" y="440980"/>
                  </a:lnTo>
                  <a:close/>
                </a:path>
              </a:pathLst>
            </a:custGeom>
            <a:blipFill>
              <a:blip r:embed="rId9"/>
              <a:stretch>
                <a:fillRect l="-56300" t="-34471" r="-30946" b="-33995"/>
              </a:stretch>
            </a:blipFill>
          </p:spPr>
        </p:sp>
      </p:grpSp>
      <p:grpSp>
        <p:nvGrpSpPr>
          <p:cNvPr name="Group 23" id="23"/>
          <p:cNvGrpSpPr/>
          <p:nvPr/>
        </p:nvGrpSpPr>
        <p:grpSpPr>
          <a:xfrm rot="0">
            <a:off x="9639937" y="3800299"/>
            <a:ext cx="7619363" cy="4947769"/>
            <a:chOff x="0" y="0"/>
            <a:chExt cx="1180439" cy="766539"/>
          </a:xfrm>
        </p:grpSpPr>
        <p:sp>
          <p:nvSpPr>
            <p:cNvPr name="Freeform 24" id="24"/>
            <p:cNvSpPr/>
            <p:nvPr/>
          </p:nvSpPr>
          <p:spPr>
            <a:xfrm flipH="false" flipV="false" rot="0">
              <a:off x="0" y="0"/>
              <a:ext cx="1180439" cy="766539"/>
            </a:xfrm>
            <a:custGeom>
              <a:avLst/>
              <a:gdLst/>
              <a:ahLst/>
              <a:cxnLst/>
              <a:rect r="r" b="b" t="t" l="l"/>
              <a:pathLst>
                <a:path h="766539" w="1180439">
                  <a:moveTo>
                    <a:pt x="0" y="0"/>
                  </a:moveTo>
                  <a:lnTo>
                    <a:pt x="1180439" y="0"/>
                  </a:lnTo>
                  <a:lnTo>
                    <a:pt x="1180439" y="766539"/>
                  </a:lnTo>
                  <a:lnTo>
                    <a:pt x="0" y="766539"/>
                  </a:lnTo>
                  <a:close/>
                </a:path>
              </a:pathLst>
            </a:custGeom>
            <a:blipFill>
              <a:blip r:embed="rId10"/>
              <a:stretch>
                <a:fillRect l="-99898" t="-53140" r="-14896" b="-22584"/>
              </a:stretch>
            </a:blipFill>
          </p:spPr>
        </p:sp>
      </p:grpSp>
      <p:sp>
        <p:nvSpPr>
          <p:cNvPr name="TextBox 25" id="25"/>
          <p:cNvSpPr txBox="true"/>
          <p:nvPr/>
        </p:nvSpPr>
        <p:spPr>
          <a:xfrm rot="0">
            <a:off x="9961617" y="1694090"/>
            <a:ext cx="4480944" cy="1791104"/>
          </a:xfrm>
          <a:prstGeom prst="rect">
            <a:avLst/>
          </a:prstGeom>
        </p:spPr>
        <p:txBody>
          <a:bodyPr anchor="t" rtlCol="false" tIns="0" lIns="0" bIns="0" rIns="0">
            <a:spAutoFit/>
          </a:bodyPr>
          <a:lstStyle/>
          <a:p>
            <a:pPr algn="l">
              <a:lnSpc>
                <a:spcPts val="14677"/>
              </a:lnSpc>
              <a:spcBef>
                <a:spcPct val="0"/>
              </a:spcBef>
            </a:pPr>
            <a:r>
              <a:rPr lang="en-US" sz="10484" b="true">
                <a:solidFill>
                  <a:srgbClr val="3C6295"/>
                </a:solidFill>
                <a:latin typeface="Archivo Narrow Bold"/>
                <a:ea typeface="Archivo Narrow Bold"/>
                <a:cs typeface="Archivo Narrow Bold"/>
                <a:sym typeface="Archivo Narrow Bold"/>
              </a:rPr>
              <a:t>Pr</a:t>
            </a:r>
            <a:r>
              <a:rPr lang="en-US" b="true" sz="10484">
                <a:solidFill>
                  <a:srgbClr val="3C6295"/>
                </a:solidFill>
                <a:latin typeface="Archivo Narrow Bold"/>
                <a:ea typeface="Archivo Narrow Bold"/>
                <a:cs typeface="Archivo Narrow Bold"/>
                <a:sym typeface="Archivo Narrow Bold"/>
              </a:rPr>
              <a:t>oduct</a:t>
            </a:r>
          </a:p>
        </p:txBody>
      </p:sp>
      <p:sp>
        <p:nvSpPr>
          <p:cNvPr name="TextBox 26" id="26"/>
          <p:cNvSpPr txBox="true"/>
          <p:nvPr/>
        </p:nvSpPr>
        <p:spPr>
          <a:xfrm rot="0">
            <a:off x="1351230" y="2649848"/>
            <a:ext cx="7799698" cy="2468591"/>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a:t>
            </a:r>
            <a:r>
              <a:rPr lang="en-US" sz="2030">
                <a:solidFill>
                  <a:srgbClr val="000000"/>
                </a:solidFill>
                <a:latin typeface="Alegreya"/>
                <a:ea typeface="Alegreya"/>
                <a:cs typeface="Alegreya"/>
                <a:sym typeface="Alegreya"/>
              </a:rPr>
              <a:t>mmodo sapien quis diam dignissim imperdiet. Duis quis ligula id nulla ultricies convallis.</a:t>
            </a:r>
          </a:p>
        </p:txBody>
      </p:sp>
      <p:sp>
        <p:nvSpPr>
          <p:cNvPr name="TextBox 27" id="27"/>
          <p:cNvSpPr txBox="true"/>
          <p:nvPr/>
        </p:nvSpPr>
        <p:spPr>
          <a:xfrm rot="0">
            <a:off x="1351230" y="1655990"/>
            <a:ext cx="1127244" cy="365760"/>
          </a:xfrm>
          <a:prstGeom prst="rect">
            <a:avLst/>
          </a:prstGeom>
        </p:spPr>
        <p:txBody>
          <a:bodyPr anchor="t" rtlCol="false" tIns="0" lIns="0" bIns="0" rIns="0">
            <a:spAutoFit/>
          </a:bodyPr>
          <a:lstStyle/>
          <a:p>
            <a:pPr algn="l">
              <a:lnSpc>
                <a:spcPts val="2940"/>
              </a:lnSpc>
              <a:spcBef>
                <a:spcPct val="0"/>
              </a:spcBef>
            </a:pPr>
            <a:r>
              <a:rPr lang="en-US" b="true" sz="2100">
                <a:solidFill>
                  <a:srgbClr val="3C6295"/>
                </a:solidFill>
                <a:latin typeface="Archivo Narrow Bold"/>
                <a:ea typeface="Archivo Narrow Bold"/>
                <a:cs typeface="Archivo Narrow Bold"/>
                <a:sym typeface="Archivo Narrow Bold"/>
              </a:rPr>
              <a:t>PAGE 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33559">
            <a:off x="4219753" y="-4163497"/>
            <a:ext cx="9848495" cy="18613993"/>
          </a:xfrm>
          <a:custGeom>
            <a:avLst/>
            <a:gdLst/>
            <a:ahLst/>
            <a:cxnLst/>
            <a:rect r="r" b="b" t="t" l="l"/>
            <a:pathLst>
              <a:path h="18613993" w="9848495">
                <a:moveTo>
                  <a:pt x="0" y="0"/>
                </a:moveTo>
                <a:lnTo>
                  <a:pt x="9848494" y="0"/>
                </a:lnTo>
                <a:lnTo>
                  <a:pt x="9848494" y="18613994"/>
                </a:lnTo>
                <a:lnTo>
                  <a:pt x="0" y="1861399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28700" y="8738033"/>
            <a:ext cx="8115300" cy="505688"/>
            <a:chOff x="0" y="0"/>
            <a:chExt cx="2137363" cy="133185"/>
          </a:xfrm>
        </p:grpSpPr>
        <p:sp>
          <p:nvSpPr>
            <p:cNvPr name="Freeform 8" id="8"/>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751F"/>
            </a:solidFill>
          </p:spPr>
        </p:sp>
        <p:sp>
          <p:nvSpPr>
            <p:cNvPr name="TextBox 9" id="9"/>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1028700"/>
            <a:ext cx="17259300" cy="3537569"/>
            <a:chOff x="0" y="0"/>
            <a:chExt cx="4545659" cy="931705"/>
          </a:xfrm>
        </p:grpSpPr>
        <p:sp>
          <p:nvSpPr>
            <p:cNvPr name="Freeform 11" id="11"/>
            <p:cNvSpPr/>
            <p:nvPr/>
          </p:nvSpPr>
          <p:spPr>
            <a:xfrm flipH="false" flipV="false" rot="0">
              <a:off x="0" y="0"/>
              <a:ext cx="4545659" cy="931705"/>
            </a:xfrm>
            <a:custGeom>
              <a:avLst/>
              <a:gdLst/>
              <a:ahLst/>
              <a:cxnLst/>
              <a:rect r="r" b="b" t="t" l="l"/>
              <a:pathLst>
                <a:path h="931705" w="4545659">
                  <a:moveTo>
                    <a:pt x="0" y="0"/>
                  </a:moveTo>
                  <a:lnTo>
                    <a:pt x="4545659" y="0"/>
                  </a:lnTo>
                  <a:lnTo>
                    <a:pt x="4545659" y="931705"/>
                  </a:lnTo>
                  <a:lnTo>
                    <a:pt x="0" y="931705"/>
                  </a:lnTo>
                  <a:close/>
                </a:path>
              </a:pathLst>
            </a:custGeom>
            <a:solidFill>
              <a:srgbClr val="3C6295"/>
            </a:solidFill>
          </p:spPr>
        </p:sp>
        <p:sp>
          <p:nvSpPr>
            <p:cNvPr name="TextBox 12" id="12"/>
            <p:cNvSpPr txBox="true"/>
            <p:nvPr/>
          </p:nvSpPr>
          <p:spPr>
            <a:xfrm>
              <a:off x="0" y="-47625"/>
              <a:ext cx="4545659" cy="97933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8738033"/>
            <a:ext cx="8115300" cy="505688"/>
            <a:chOff x="0" y="0"/>
            <a:chExt cx="2137363" cy="133185"/>
          </a:xfrm>
        </p:grpSpPr>
        <p:sp>
          <p:nvSpPr>
            <p:cNvPr name="Freeform 14" id="14"/>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3C6295"/>
            </a:solidFill>
          </p:spPr>
        </p:sp>
        <p:sp>
          <p:nvSpPr>
            <p:cNvPr name="TextBox 15" id="15"/>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51230" y="1209649"/>
            <a:ext cx="3837892" cy="2846387"/>
            <a:chOff x="0" y="0"/>
            <a:chExt cx="594590" cy="440980"/>
          </a:xfrm>
        </p:grpSpPr>
        <p:sp>
          <p:nvSpPr>
            <p:cNvPr name="Freeform 17" id="17"/>
            <p:cNvSpPr/>
            <p:nvPr/>
          </p:nvSpPr>
          <p:spPr>
            <a:xfrm flipH="false" flipV="false" rot="0">
              <a:off x="0" y="0"/>
              <a:ext cx="594590" cy="440980"/>
            </a:xfrm>
            <a:custGeom>
              <a:avLst/>
              <a:gdLst/>
              <a:ahLst/>
              <a:cxnLst/>
              <a:rect r="r" b="b" t="t" l="l"/>
              <a:pathLst>
                <a:path h="440980" w="594590">
                  <a:moveTo>
                    <a:pt x="0" y="0"/>
                  </a:moveTo>
                  <a:lnTo>
                    <a:pt x="594590" y="0"/>
                  </a:lnTo>
                  <a:lnTo>
                    <a:pt x="594590" y="440980"/>
                  </a:lnTo>
                  <a:lnTo>
                    <a:pt x="0" y="440980"/>
                  </a:lnTo>
                  <a:close/>
                </a:path>
              </a:pathLst>
            </a:custGeom>
            <a:blipFill>
              <a:blip r:embed="rId8"/>
              <a:stretch>
                <a:fillRect l="-5658" t="0" r="-5658" b="0"/>
              </a:stretch>
            </a:blipFill>
          </p:spPr>
        </p:sp>
      </p:grpSp>
      <p:grpSp>
        <p:nvGrpSpPr>
          <p:cNvPr name="Group 18" id="18"/>
          <p:cNvGrpSpPr/>
          <p:nvPr/>
        </p:nvGrpSpPr>
        <p:grpSpPr>
          <a:xfrm rot="0">
            <a:off x="5306108" y="1209649"/>
            <a:ext cx="3837892" cy="2846387"/>
            <a:chOff x="0" y="0"/>
            <a:chExt cx="594590" cy="440980"/>
          </a:xfrm>
        </p:grpSpPr>
        <p:sp>
          <p:nvSpPr>
            <p:cNvPr name="Freeform 19" id="19"/>
            <p:cNvSpPr/>
            <p:nvPr/>
          </p:nvSpPr>
          <p:spPr>
            <a:xfrm flipH="false" flipV="false" rot="0">
              <a:off x="0" y="0"/>
              <a:ext cx="594590" cy="440980"/>
            </a:xfrm>
            <a:custGeom>
              <a:avLst/>
              <a:gdLst/>
              <a:ahLst/>
              <a:cxnLst/>
              <a:rect r="r" b="b" t="t" l="l"/>
              <a:pathLst>
                <a:path h="440980" w="594590">
                  <a:moveTo>
                    <a:pt x="0" y="0"/>
                  </a:moveTo>
                  <a:lnTo>
                    <a:pt x="594590" y="0"/>
                  </a:lnTo>
                  <a:lnTo>
                    <a:pt x="594590" y="440980"/>
                  </a:lnTo>
                  <a:lnTo>
                    <a:pt x="0" y="440980"/>
                  </a:lnTo>
                  <a:close/>
                </a:path>
              </a:pathLst>
            </a:custGeom>
            <a:blipFill>
              <a:blip r:embed="rId9"/>
              <a:stretch>
                <a:fillRect l="0" t="-51033" r="0" b="-51033"/>
              </a:stretch>
            </a:blipFill>
          </p:spPr>
        </p:sp>
      </p:grpSp>
      <p:grpSp>
        <p:nvGrpSpPr>
          <p:cNvPr name="Group 20" id="20"/>
          <p:cNvGrpSpPr/>
          <p:nvPr/>
        </p:nvGrpSpPr>
        <p:grpSpPr>
          <a:xfrm rot="0">
            <a:off x="9258300" y="1209649"/>
            <a:ext cx="3837892" cy="2846387"/>
            <a:chOff x="0" y="0"/>
            <a:chExt cx="594590" cy="440980"/>
          </a:xfrm>
        </p:grpSpPr>
        <p:sp>
          <p:nvSpPr>
            <p:cNvPr name="Freeform 21" id="21"/>
            <p:cNvSpPr/>
            <p:nvPr/>
          </p:nvSpPr>
          <p:spPr>
            <a:xfrm flipH="false" flipV="false" rot="0">
              <a:off x="0" y="0"/>
              <a:ext cx="594590" cy="440980"/>
            </a:xfrm>
            <a:custGeom>
              <a:avLst/>
              <a:gdLst/>
              <a:ahLst/>
              <a:cxnLst/>
              <a:rect r="r" b="b" t="t" l="l"/>
              <a:pathLst>
                <a:path h="440980" w="594590">
                  <a:moveTo>
                    <a:pt x="0" y="0"/>
                  </a:moveTo>
                  <a:lnTo>
                    <a:pt x="594590" y="0"/>
                  </a:lnTo>
                  <a:lnTo>
                    <a:pt x="594590" y="440980"/>
                  </a:lnTo>
                  <a:lnTo>
                    <a:pt x="0" y="440980"/>
                  </a:lnTo>
                  <a:close/>
                </a:path>
              </a:pathLst>
            </a:custGeom>
            <a:blipFill>
              <a:blip r:embed="rId10"/>
              <a:stretch>
                <a:fillRect l="-1954" t="0" r="-1954" b="0"/>
              </a:stretch>
            </a:blipFill>
          </p:spPr>
        </p:sp>
      </p:grpSp>
      <p:grpSp>
        <p:nvGrpSpPr>
          <p:cNvPr name="Group 22" id="22"/>
          <p:cNvGrpSpPr/>
          <p:nvPr/>
        </p:nvGrpSpPr>
        <p:grpSpPr>
          <a:xfrm rot="0">
            <a:off x="13210492" y="1209649"/>
            <a:ext cx="3837892" cy="2846387"/>
            <a:chOff x="0" y="0"/>
            <a:chExt cx="594590" cy="440980"/>
          </a:xfrm>
        </p:grpSpPr>
        <p:sp>
          <p:nvSpPr>
            <p:cNvPr name="Freeform 23" id="23"/>
            <p:cNvSpPr/>
            <p:nvPr/>
          </p:nvSpPr>
          <p:spPr>
            <a:xfrm flipH="false" flipV="false" rot="0">
              <a:off x="0" y="0"/>
              <a:ext cx="594590" cy="440980"/>
            </a:xfrm>
            <a:custGeom>
              <a:avLst/>
              <a:gdLst/>
              <a:ahLst/>
              <a:cxnLst/>
              <a:rect r="r" b="b" t="t" l="l"/>
              <a:pathLst>
                <a:path h="440980" w="594590">
                  <a:moveTo>
                    <a:pt x="0" y="0"/>
                  </a:moveTo>
                  <a:lnTo>
                    <a:pt x="594590" y="0"/>
                  </a:lnTo>
                  <a:lnTo>
                    <a:pt x="594590" y="440980"/>
                  </a:lnTo>
                  <a:lnTo>
                    <a:pt x="0" y="440980"/>
                  </a:lnTo>
                  <a:close/>
                </a:path>
              </a:pathLst>
            </a:custGeom>
            <a:blipFill>
              <a:blip r:embed="rId11"/>
              <a:stretch>
                <a:fillRect l="-5658" t="0" r="-5658" b="0"/>
              </a:stretch>
            </a:blipFill>
          </p:spPr>
        </p:sp>
      </p:grpSp>
      <p:sp>
        <p:nvSpPr>
          <p:cNvPr name="TextBox 24" id="24"/>
          <p:cNvSpPr txBox="true"/>
          <p:nvPr/>
        </p:nvSpPr>
        <p:spPr>
          <a:xfrm rot="0">
            <a:off x="1455762" y="4442444"/>
            <a:ext cx="4906437" cy="1791104"/>
          </a:xfrm>
          <a:prstGeom prst="rect">
            <a:avLst/>
          </a:prstGeom>
        </p:spPr>
        <p:txBody>
          <a:bodyPr anchor="t" rtlCol="false" tIns="0" lIns="0" bIns="0" rIns="0">
            <a:spAutoFit/>
          </a:bodyPr>
          <a:lstStyle/>
          <a:p>
            <a:pPr algn="l">
              <a:lnSpc>
                <a:spcPts val="14677"/>
              </a:lnSpc>
              <a:spcBef>
                <a:spcPct val="0"/>
              </a:spcBef>
            </a:pPr>
            <a:r>
              <a:rPr lang="en-US" sz="10484" b="true">
                <a:solidFill>
                  <a:srgbClr val="3C6295"/>
                </a:solidFill>
                <a:latin typeface="Archivo Narrow Bold"/>
                <a:ea typeface="Archivo Narrow Bold"/>
                <a:cs typeface="Archivo Narrow Bold"/>
                <a:sym typeface="Archivo Narrow Bold"/>
              </a:rPr>
              <a:t>Streng</a:t>
            </a:r>
            <a:r>
              <a:rPr lang="en-US" b="true" sz="10484">
                <a:solidFill>
                  <a:srgbClr val="3C6295"/>
                </a:solidFill>
                <a:latin typeface="Archivo Narrow Bold"/>
                <a:ea typeface="Archivo Narrow Bold"/>
                <a:cs typeface="Archivo Narrow Bold"/>
                <a:sym typeface="Archivo Narrow Bold"/>
              </a:rPr>
              <a:t>th</a:t>
            </a:r>
          </a:p>
        </p:txBody>
      </p:sp>
      <p:sp>
        <p:nvSpPr>
          <p:cNvPr name="TextBox 25" id="25"/>
          <p:cNvSpPr txBox="true"/>
          <p:nvPr/>
        </p:nvSpPr>
        <p:spPr>
          <a:xfrm rot="0">
            <a:off x="1455762" y="6120492"/>
            <a:ext cx="6083263" cy="2468591"/>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a:t>
            </a:r>
          </a:p>
        </p:txBody>
      </p:sp>
      <p:sp>
        <p:nvSpPr>
          <p:cNvPr name="TextBox 26" id="26"/>
          <p:cNvSpPr txBox="true"/>
          <p:nvPr/>
        </p:nvSpPr>
        <p:spPr>
          <a:xfrm rot="0">
            <a:off x="7743884" y="4983049"/>
            <a:ext cx="4655279" cy="3532333"/>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a:t>
            </a:r>
          </a:p>
        </p:txBody>
      </p:sp>
      <p:sp>
        <p:nvSpPr>
          <p:cNvPr name="TextBox 27" id="27"/>
          <p:cNvSpPr txBox="true"/>
          <p:nvPr/>
        </p:nvSpPr>
        <p:spPr>
          <a:xfrm rot="0">
            <a:off x="12604021" y="4983049"/>
            <a:ext cx="4655279" cy="3177752"/>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a:t>
            </a:r>
          </a:p>
        </p:txBody>
      </p:sp>
      <p:sp>
        <p:nvSpPr>
          <p:cNvPr name="TextBox 28" id="28"/>
          <p:cNvSpPr txBox="true"/>
          <p:nvPr/>
        </p:nvSpPr>
        <p:spPr>
          <a:xfrm rot="0">
            <a:off x="16122543" y="8308690"/>
            <a:ext cx="925841" cy="365760"/>
          </a:xfrm>
          <a:prstGeom prst="rect">
            <a:avLst/>
          </a:prstGeom>
        </p:spPr>
        <p:txBody>
          <a:bodyPr anchor="t" rtlCol="false" tIns="0" lIns="0" bIns="0" rIns="0">
            <a:spAutoFit/>
          </a:bodyPr>
          <a:lstStyle/>
          <a:p>
            <a:pPr algn="r">
              <a:lnSpc>
                <a:spcPts val="2940"/>
              </a:lnSpc>
              <a:spcBef>
                <a:spcPct val="0"/>
              </a:spcBef>
            </a:pPr>
            <a:r>
              <a:rPr lang="en-US" b="true" sz="2100">
                <a:solidFill>
                  <a:srgbClr val="3C6295"/>
                </a:solidFill>
                <a:latin typeface="Archivo Narrow Bold"/>
                <a:ea typeface="Archivo Narrow Bold"/>
                <a:cs typeface="Archivo Narrow Bold"/>
                <a:sym typeface="Archivo Narrow Bold"/>
              </a:rPr>
              <a:t>PAGE 7</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33559">
            <a:off x="4219753" y="-4163497"/>
            <a:ext cx="9848495" cy="18613993"/>
          </a:xfrm>
          <a:custGeom>
            <a:avLst/>
            <a:gdLst/>
            <a:ahLst/>
            <a:cxnLst/>
            <a:rect r="r" b="b" t="t" l="l"/>
            <a:pathLst>
              <a:path h="18613993" w="9848495">
                <a:moveTo>
                  <a:pt x="0" y="0"/>
                </a:moveTo>
                <a:lnTo>
                  <a:pt x="9848494" y="0"/>
                </a:lnTo>
                <a:lnTo>
                  <a:pt x="9848494" y="18613994"/>
                </a:lnTo>
                <a:lnTo>
                  <a:pt x="0" y="1861399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28700" y="8738033"/>
            <a:ext cx="8115300" cy="505688"/>
            <a:chOff x="0" y="0"/>
            <a:chExt cx="2137363" cy="133185"/>
          </a:xfrm>
        </p:grpSpPr>
        <p:sp>
          <p:nvSpPr>
            <p:cNvPr name="Freeform 8" id="8"/>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751F"/>
            </a:solidFill>
          </p:spPr>
        </p:sp>
        <p:sp>
          <p:nvSpPr>
            <p:cNvPr name="TextBox 9" id="9"/>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5086350" y="0"/>
            <a:ext cx="4057650" cy="8990877"/>
            <a:chOff x="0" y="0"/>
            <a:chExt cx="1068681" cy="2367968"/>
          </a:xfrm>
        </p:grpSpPr>
        <p:sp>
          <p:nvSpPr>
            <p:cNvPr name="Freeform 11" id="11"/>
            <p:cNvSpPr/>
            <p:nvPr/>
          </p:nvSpPr>
          <p:spPr>
            <a:xfrm flipH="false" flipV="false" rot="0">
              <a:off x="0" y="0"/>
              <a:ext cx="1068681" cy="2367968"/>
            </a:xfrm>
            <a:custGeom>
              <a:avLst/>
              <a:gdLst/>
              <a:ahLst/>
              <a:cxnLst/>
              <a:rect r="r" b="b" t="t" l="l"/>
              <a:pathLst>
                <a:path h="2367968" w="1068681">
                  <a:moveTo>
                    <a:pt x="0" y="0"/>
                  </a:moveTo>
                  <a:lnTo>
                    <a:pt x="1068681" y="0"/>
                  </a:lnTo>
                  <a:lnTo>
                    <a:pt x="1068681" y="2367968"/>
                  </a:lnTo>
                  <a:lnTo>
                    <a:pt x="0" y="2367968"/>
                  </a:lnTo>
                  <a:close/>
                </a:path>
              </a:pathLst>
            </a:custGeom>
            <a:solidFill>
              <a:srgbClr val="FF751F"/>
            </a:solidFill>
          </p:spPr>
        </p:sp>
        <p:sp>
          <p:nvSpPr>
            <p:cNvPr name="TextBox 12" id="12"/>
            <p:cNvSpPr txBox="true"/>
            <p:nvPr/>
          </p:nvSpPr>
          <p:spPr>
            <a:xfrm>
              <a:off x="0" y="-47625"/>
              <a:ext cx="1068681" cy="241559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8738033"/>
            <a:ext cx="8115300" cy="505688"/>
            <a:chOff x="0" y="0"/>
            <a:chExt cx="2137363" cy="133185"/>
          </a:xfrm>
        </p:grpSpPr>
        <p:sp>
          <p:nvSpPr>
            <p:cNvPr name="Freeform 14" id="14"/>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3C6295"/>
            </a:solidFill>
          </p:spPr>
        </p:sp>
        <p:sp>
          <p:nvSpPr>
            <p:cNvPr name="TextBox 15" id="15"/>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5306108" y="4891604"/>
            <a:ext cx="3837892" cy="3846429"/>
            <a:chOff x="0" y="0"/>
            <a:chExt cx="594590" cy="595912"/>
          </a:xfrm>
        </p:grpSpPr>
        <p:sp>
          <p:nvSpPr>
            <p:cNvPr name="Freeform 17" id="17"/>
            <p:cNvSpPr/>
            <p:nvPr/>
          </p:nvSpPr>
          <p:spPr>
            <a:xfrm flipH="false" flipV="false" rot="0">
              <a:off x="0" y="0"/>
              <a:ext cx="594590" cy="595912"/>
            </a:xfrm>
            <a:custGeom>
              <a:avLst/>
              <a:gdLst/>
              <a:ahLst/>
              <a:cxnLst/>
              <a:rect r="r" b="b" t="t" l="l"/>
              <a:pathLst>
                <a:path h="595912" w="594590">
                  <a:moveTo>
                    <a:pt x="0" y="0"/>
                  </a:moveTo>
                  <a:lnTo>
                    <a:pt x="594590" y="0"/>
                  </a:lnTo>
                  <a:lnTo>
                    <a:pt x="594590" y="595912"/>
                  </a:lnTo>
                  <a:lnTo>
                    <a:pt x="0" y="595912"/>
                  </a:lnTo>
                  <a:close/>
                </a:path>
              </a:pathLst>
            </a:custGeom>
            <a:blipFill>
              <a:blip r:embed="rId8"/>
              <a:stretch>
                <a:fillRect l="-33317" t="-12560" r="-30648" b="-132996"/>
              </a:stretch>
            </a:blipFill>
          </p:spPr>
        </p:sp>
      </p:grpSp>
      <p:grpSp>
        <p:nvGrpSpPr>
          <p:cNvPr name="Group 18" id="18"/>
          <p:cNvGrpSpPr/>
          <p:nvPr/>
        </p:nvGrpSpPr>
        <p:grpSpPr>
          <a:xfrm rot="0">
            <a:off x="5306108" y="1045176"/>
            <a:ext cx="3837892" cy="3846429"/>
            <a:chOff x="0" y="0"/>
            <a:chExt cx="594590" cy="595912"/>
          </a:xfrm>
        </p:grpSpPr>
        <p:sp>
          <p:nvSpPr>
            <p:cNvPr name="Freeform 19" id="19"/>
            <p:cNvSpPr/>
            <p:nvPr/>
          </p:nvSpPr>
          <p:spPr>
            <a:xfrm flipH="false" flipV="false" rot="0">
              <a:off x="0" y="0"/>
              <a:ext cx="594590" cy="595912"/>
            </a:xfrm>
            <a:custGeom>
              <a:avLst/>
              <a:gdLst/>
              <a:ahLst/>
              <a:cxnLst/>
              <a:rect r="r" b="b" t="t" l="l"/>
              <a:pathLst>
                <a:path h="595912" w="594590">
                  <a:moveTo>
                    <a:pt x="0" y="0"/>
                  </a:moveTo>
                  <a:lnTo>
                    <a:pt x="594590" y="0"/>
                  </a:lnTo>
                  <a:lnTo>
                    <a:pt x="594590" y="595912"/>
                  </a:lnTo>
                  <a:lnTo>
                    <a:pt x="0" y="595912"/>
                  </a:lnTo>
                  <a:close/>
                </a:path>
              </a:pathLst>
            </a:custGeom>
            <a:blipFill>
              <a:blip r:embed="rId9"/>
              <a:stretch>
                <a:fillRect l="-26413" t="-24880" r="-26067" b="-103475"/>
              </a:stretch>
            </a:blipFill>
          </p:spPr>
        </p:sp>
      </p:grpSp>
      <p:sp>
        <p:nvSpPr>
          <p:cNvPr name="TextBox 20" id="20"/>
          <p:cNvSpPr txBox="true"/>
          <p:nvPr/>
        </p:nvSpPr>
        <p:spPr>
          <a:xfrm rot="0">
            <a:off x="1434890" y="1467214"/>
            <a:ext cx="3871218" cy="1791104"/>
          </a:xfrm>
          <a:prstGeom prst="rect">
            <a:avLst/>
          </a:prstGeom>
        </p:spPr>
        <p:txBody>
          <a:bodyPr anchor="t" rtlCol="false" tIns="0" lIns="0" bIns="0" rIns="0">
            <a:spAutoFit/>
          </a:bodyPr>
          <a:lstStyle/>
          <a:p>
            <a:pPr algn="l">
              <a:lnSpc>
                <a:spcPts val="14677"/>
              </a:lnSpc>
              <a:spcBef>
                <a:spcPct val="0"/>
              </a:spcBef>
            </a:pPr>
            <a:r>
              <a:rPr lang="en-US" sz="10484" b="true">
                <a:solidFill>
                  <a:srgbClr val="3C6295"/>
                </a:solidFill>
                <a:latin typeface="Archivo Narrow Bold"/>
                <a:ea typeface="Archivo Narrow Bold"/>
                <a:cs typeface="Archivo Narrow Bold"/>
                <a:sym typeface="Archivo Narrow Bold"/>
              </a:rPr>
              <a:t>Marke</a:t>
            </a:r>
            <a:r>
              <a:rPr lang="en-US" b="true" sz="10484">
                <a:solidFill>
                  <a:srgbClr val="3C6295"/>
                </a:solidFill>
                <a:latin typeface="Archivo Narrow Bold"/>
                <a:ea typeface="Archivo Narrow Bold"/>
                <a:cs typeface="Archivo Narrow Bold"/>
                <a:sym typeface="Archivo Narrow Bold"/>
              </a:rPr>
              <a:t>t</a:t>
            </a:r>
          </a:p>
        </p:txBody>
      </p:sp>
      <p:sp>
        <p:nvSpPr>
          <p:cNvPr name="TextBox 21" id="21"/>
          <p:cNvSpPr txBox="true"/>
          <p:nvPr/>
        </p:nvSpPr>
        <p:spPr>
          <a:xfrm rot="0">
            <a:off x="1434890" y="3368350"/>
            <a:ext cx="3518896" cy="5305238"/>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a:t>
            </a:r>
            <a:r>
              <a:rPr lang="en-US" sz="2030">
                <a:solidFill>
                  <a:srgbClr val="000000"/>
                </a:solidFill>
                <a:latin typeface="Alegreya"/>
                <a:ea typeface="Alegreya"/>
                <a:cs typeface="Alegreya"/>
                <a:sym typeface="Alegreya"/>
              </a:rPr>
              <a:t>ricies convallis.</a:t>
            </a:r>
          </a:p>
        </p:txBody>
      </p:sp>
      <p:sp>
        <p:nvSpPr>
          <p:cNvPr name="TextBox 22" id="22"/>
          <p:cNvSpPr txBox="true"/>
          <p:nvPr/>
        </p:nvSpPr>
        <p:spPr>
          <a:xfrm rot="0">
            <a:off x="9313278" y="1558154"/>
            <a:ext cx="7735105" cy="7078142"/>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a:t>
            </a:r>
            <a:r>
              <a:rPr lang="en-US" sz="2030">
                <a:solidFill>
                  <a:srgbClr val="000000"/>
                </a:solidFill>
                <a:latin typeface="Alegreya"/>
                <a:ea typeface="Alegreya"/>
                <a:cs typeface="Alegreya"/>
                <a:sym typeface="Alegreya"/>
              </a:rPr>
              <a:t>etur adipiscing elit. Duis vel sollicitudin purus. Maecenas dignissim mi nisi, rhoncus condimentum urna pulvinar ut.</a:t>
            </a:r>
          </a:p>
        </p:txBody>
      </p:sp>
      <p:sp>
        <p:nvSpPr>
          <p:cNvPr name="TextBox 23" id="23"/>
          <p:cNvSpPr txBox="true"/>
          <p:nvPr/>
        </p:nvSpPr>
        <p:spPr>
          <a:xfrm rot="0">
            <a:off x="15946098" y="1162024"/>
            <a:ext cx="1102286" cy="365760"/>
          </a:xfrm>
          <a:prstGeom prst="rect">
            <a:avLst/>
          </a:prstGeom>
        </p:spPr>
        <p:txBody>
          <a:bodyPr anchor="t" rtlCol="false" tIns="0" lIns="0" bIns="0" rIns="0">
            <a:spAutoFit/>
          </a:bodyPr>
          <a:lstStyle/>
          <a:p>
            <a:pPr algn="r">
              <a:lnSpc>
                <a:spcPts val="2940"/>
              </a:lnSpc>
              <a:spcBef>
                <a:spcPct val="0"/>
              </a:spcBef>
            </a:pPr>
            <a:r>
              <a:rPr lang="en-US" b="true" sz="2100">
                <a:solidFill>
                  <a:srgbClr val="3C6295"/>
                </a:solidFill>
                <a:latin typeface="Archivo Narrow Bold"/>
                <a:ea typeface="Archivo Narrow Bold"/>
                <a:cs typeface="Archivo Narrow Bold"/>
                <a:sym typeface="Archivo Narrow Bold"/>
              </a:rPr>
              <a:t>PAGE 8</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033559">
            <a:off x="4219753" y="-4163497"/>
            <a:ext cx="9848495" cy="18613993"/>
          </a:xfrm>
          <a:custGeom>
            <a:avLst/>
            <a:gdLst/>
            <a:ahLst/>
            <a:cxnLst/>
            <a:rect r="r" b="b" t="t" l="l"/>
            <a:pathLst>
              <a:path h="18613993" w="9848495">
                <a:moveTo>
                  <a:pt x="9848494" y="0"/>
                </a:moveTo>
                <a:lnTo>
                  <a:pt x="0" y="0"/>
                </a:lnTo>
                <a:lnTo>
                  <a:pt x="0" y="18613994"/>
                </a:lnTo>
                <a:lnTo>
                  <a:pt x="9848494" y="18613994"/>
                </a:lnTo>
                <a:lnTo>
                  <a:pt x="9848494"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9067800" y="1028700"/>
            <a:ext cx="4095750" cy="505688"/>
            <a:chOff x="0" y="0"/>
            <a:chExt cx="1078716" cy="133185"/>
          </a:xfrm>
        </p:grpSpPr>
        <p:sp>
          <p:nvSpPr>
            <p:cNvPr name="Freeform 8" id="8"/>
            <p:cNvSpPr/>
            <p:nvPr/>
          </p:nvSpPr>
          <p:spPr>
            <a:xfrm flipH="false" flipV="false" rot="0">
              <a:off x="0" y="0"/>
              <a:ext cx="1078716" cy="133185"/>
            </a:xfrm>
            <a:custGeom>
              <a:avLst/>
              <a:gdLst/>
              <a:ahLst/>
              <a:cxnLst/>
              <a:rect r="r" b="b" t="t" l="l"/>
              <a:pathLst>
                <a:path h="133185" w="1078716">
                  <a:moveTo>
                    <a:pt x="0" y="0"/>
                  </a:moveTo>
                  <a:lnTo>
                    <a:pt x="1078716" y="0"/>
                  </a:lnTo>
                  <a:lnTo>
                    <a:pt x="1078716" y="133185"/>
                  </a:lnTo>
                  <a:lnTo>
                    <a:pt x="0" y="133185"/>
                  </a:lnTo>
                  <a:close/>
                </a:path>
              </a:pathLst>
            </a:custGeom>
            <a:solidFill>
              <a:srgbClr val="3C6295"/>
            </a:solidFill>
          </p:spPr>
        </p:sp>
        <p:sp>
          <p:nvSpPr>
            <p:cNvPr name="TextBox 9" id="9"/>
            <p:cNvSpPr txBox="true"/>
            <p:nvPr/>
          </p:nvSpPr>
          <p:spPr>
            <a:xfrm>
              <a:off x="0" y="-47625"/>
              <a:ext cx="1078716" cy="18081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3163550" y="1028700"/>
            <a:ext cx="4095750" cy="505688"/>
            <a:chOff x="0" y="0"/>
            <a:chExt cx="1078716" cy="133185"/>
          </a:xfrm>
        </p:grpSpPr>
        <p:sp>
          <p:nvSpPr>
            <p:cNvPr name="Freeform 11" id="11"/>
            <p:cNvSpPr/>
            <p:nvPr/>
          </p:nvSpPr>
          <p:spPr>
            <a:xfrm flipH="false" flipV="false" rot="0">
              <a:off x="0" y="0"/>
              <a:ext cx="1078716" cy="133185"/>
            </a:xfrm>
            <a:custGeom>
              <a:avLst/>
              <a:gdLst/>
              <a:ahLst/>
              <a:cxnLst/>
              <a:rect r="r" b="b" t="t" l="l"/>
              <a:pathLst>
                <a:path h="133185" w="1078716">
                  <a:moveTo>
                    <a:pt x="0" y="0"/>
                  </a:moveTo>
                  <a:lnTo>
                    <a:pt x="1078716" y="0"/>
                  </a:lnTo>
                  <a:lnTo>
                    <a:pt x="1078716" y="133185"/>
                  </a:lnTo>
                  <a:lnTo>
                    <a:pt x="0" y="133185"/>
                  </a:lnTo>
                  <a:close/>
                </a:path>
              </a:pathLst>
            </a:custGeom>
            <a:solidFill>
              <a:srgbClr val="FF751F"/>
            </a:solidFill>
          </p:spPr>
        </p:sp>
        <p:sp>
          <p:nvSpPr>
            <p:cNvPr name="TextBox 12" id="12"/>
            <p:cNvSpPr txBox="true"/>
            <p:nvPr/>
          </p:nvSpPr>
          <p:spPr>
            <a:xfrm>
              <a:off x="0" y="-47625"/>
              <a:ext cx="1078716" cy="18081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363758" y="2056284"/>
            <a:ext cx="7684625" cy="6793048"/>
            <a:chOff x="0" y="0"/>
            <a:chExt cx="674125" cy="595912"/>
          </a:xfrm>
        </p:grpSpPr>
        <p:sp>
          <p:nvSpPr>
            <p:cNvPr name="Freeform 14" id="14"/>
            <p:cNvSpPr/>
            <p:nvPr/>
          </p:nvSpPr>
          <p:spPr>
            <a:xfrm flipH="false" flipV="false" rot="0">
              <a:off x="0" y="0"/>
              <a:ext cx="674125" cy="595912"/>
            </a:xfrm>
            <a:custGeom>
              <a:avLst/>
              <a:gdLst/>
              <a:ahLst/>
              <a:cxnLst/>
              <a:rect r="r" b="b" t="t" l="l"/>
              <a:pathLst>
                <a:path h="595912" w="674125">
                  <a:moveTo>
                    <a:pt x="0" y="0"/>
                  </a:moveTo>
                  <a:lnTo>
                    <a:pt x="674125" y="0"/>
                  </a:lnTo>
                  <a:lnTo>
                    <a:pt x="674125" y="595912"/>
                  </a:lnTo>
                  <a:lnTo>
                    <a:pt x="0" y="595912"/>
                  </a:lnTo>
                  <a:close/>
                </a:path>
              </a:pathLst>
            </a:custGeom>
            <a:blipFill>
              <a:blip r:embed="rId8"/>
              <a:stretch>
                <a:fillRect l="-23487" t="-12560" r="-21133" b="-132996"/>
              </a:stretch>
            </a:blipFill>
          </p:spPr>
        </p:sp>
      </p:grpSp>
      <p:sp>
        <p:nvSpPr>
          <p:cNvPr name="TextBox 15" id="15"/>
          <p:cNvSpPr txBox="true"/>
          <p:nvPr/>
        </p:nvSpPr>
        <p:spPr>
          <a:xfrm rot="0">
            <a:off x="1028700" y="780222"/>
            <a:ext cx="6903637" cy="1787692"/>
          </a:xfrm>
          <a:prstGeom prst="rect">
            <a:avLst/>
          </a:prstGeom>
        </p:spPr>
        <p:txBody>
          <a:bodyPr anchor="t" rtlCol="false" tIns="0" lIns="0" bIns="0" rIns="0">
            <a:spAutoFit/>
          </a:bodyPr>
          <a:lstStyle/>
          <a:p>
            <a:pPr algn="ctr">
              <a:lnSpc>
                <a:spcPts val="14677"/>
              </a:lnSpc>
              <a:spcBef>
                <a:spcPct val="0"/>
              </a:spcBef>
            </a:pPr>
            <a:r>
              <a:rPr lang="en-US" b="true" sz="10484">
                <a:solidFill>
                  <a:srgbClr val="3C6295"/>
                </a:solidFill>
                <a:latin typeface="Archivo Narrow Bold"/>
                <a:ea typeface="Archivo Narrow Bold"/>
                <a:cs typeface="Archivo Narrow Bold"/>
                <a:sym typeface="Archivo Narrow Bold"/>
              </a:rPr>
              <a:t> Grow</a:t>
            </a:r>
            <a:r>
              <a:rPr lang="en-US" b="true" sz="10484">
                <a:solidFill>
                  <a:srgbClr val="3C6295"/>
                </a:solidFill>
                <a:latin typeface="Archivo Narrow Bold"/>
                <a:ea typeface="Archivo Narrow Bold"/>
                <a:cs typeface="Archivo Narrow Bold"/>
                <a:sym typeface="Archivo Narrow Bold"/>
              </a:rPr>
              <a:t>th Plan</a:t>
            </a:r>
          </a:p>
        </p:txBody>
      </p:sp>
      <p:sp>
        <p:nvSpPr>
          <p:cNvPr name="TextBox 16" id="16"/>
          <p:cNvSpPr txBox="true"/>
          <p:nvPr/>
        </p:nvSpPr>
        <p:spPr>
          <a:xfrm rot="0">
            <a:off x="1332695" y="2328571"/>
            <a:ext cx="7735105" cy="7078142"/>
          </a:xfrm>
          <a:prstGeom prst="rect">
            <a:avLst/>
          </a:prstGeom>
        </p:spPr>
        <p:txBody>
          <a:bodyPr anchor="t" rtlCol="false" tIns="0" lIns="0" bIns="0" rIns="0">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a:t>
            </a:r>
          </a:p>
        </p:txBody>
      </p:sp>
      <p:sp>
        <p:nvSpPr>
          <p:cNvPr name="TextBox 17" id="17"/>
          <p:cNvSpPr txBox="true"/>
          <p:nvPr/>
        </p:nvSpPr>
        <p:spPr>
          <a:xfrm rot="0">
            <a:off x="16138035" y="8806449"/>
            <a:ext cx="910348" cy="365760"/>
          </a:xfrm>
          <a:prstGeom prst="rect">
            <a:avLst/>
          </a:prstGeom>
        </p:spPr>
        <p:txBody>
          <a:bodyPr anchor="t" rtlCol="false" tIns="0" lIns="0" bIns="0" rIns="0">
            <a:spAutoFit/>
          </a:bodyPr>
          <a:lstStyle/>
          <a:p>
            <a:pPr algn="r">
              <a:lnSpc>
                <a:spcPts val="2940"/>
              </a:lnSpc>
              <a:spcBef>
                <a:spcPct val="0"/>
              </a:spcBef>
            </a:pPr>
            <a:r>
              <a:rPr lang="en-US" b="true" sz="2100">
                <a:solidFill>
                  <a:srgbClr val="3C6295"/>
                </a:solidFill>
                <a:latin typeface="Archivo Narrow Bold"/>
                <a:ea typeface="Archivo Narrow Bold"/>
                <a:cs typeface="Archivo Narrow Bold"/>
                <a:sym typeface="Archivo Narrow Bold"/>
              </a:rPr>
              <a:t>PAGE 9</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033559">
            <a:off x="4219753" y="-4163497"/>
            <a:ext cx="9848495" cy="18613993"/>
          </a:xfrm>
          <a:custGeom>
            <a:avLst/>
            <a:gdLst/>
            <a:ahLst/>
            <a:cxnLst/>
            <a:rect r="r" b="b" t="t" l="l"/>
            <a:pathLst>
              <a:path h="18613993" w="9848495">
                <a:moveTo>
                  <a:pt x="0" y="18613994"/>
                </a:moveTo>
                <a:lnTo>
                  <a:pt x="9848494" y="18613994"/>
                </a:lnTo>
                <a:lnTo>
                  <a:pt x="9848494" y="0"/>
                </a:lnTo>
                <a:lnTo>
                  <a:pt x="0" y="0"/>
                </a:lnTo>
                <a:lnTo>
                  <a:pt x="0" y="18613994"/>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1902"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946098"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516545"/>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32896" y="9371229"/>
            <a:ext cx="1313202" cy="434551"/>
          </a:xfrm>
          <a:custGeom>
            <a:avLst/>
            <a:gdLst/>
            <a:ahLst/>
            <a:cxnLst/>
            <a:rect r="r" b="b" t="t" l="l"/>
            <a:pathLst>
              <a:path h="434551" w="1313202">
                <a:moveTo>
                  <a:pt x="0" y="0"/>
                </a:moveTo>
                <a:lnTo>
                  <a:pt x="1313202" y="0"/>
                </a:lnTo>
                <a:lnTo>
                  <a:pt x="1313202" y="434550"/>
                </a:lnTo>
                <a:lnTo>
                  <a:pt x="0" y="4345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028700" y="3648296"/>
            <a:ext cx="16230600" cy="2625312"/>
            <a:chOff x="0" y="0"/>
            <a:chExt cx="4274726" cy="691440"/>
          </a:xfrm>
        </p:grpSpPr>
        <p:sp>
          <p:nvSpPr>
            <p:cNvPr name="Freeform 8" id="8"/>
            <p:cNvSpPr/>
            <p:nvPr/>
          </p:nvSpPr>
          <p:spPr>
            <a:xfrm flipH="false" flipV="false" rot="0">
              <a:off x="0" y="0"/>
              <a:ext cx="4274726" cy="691440"/>
            </a:xfrm>
            <a:custGeom>
              <a:avLst/>
              <a:gdLst/>
              <a:ahLst/>
              <a:cxnLst/>
              <a:rect r="r" b="b" t="t" l="l"/>
              <a:pathLst>
                <a:path h="691440" w="4274726">
                  <a:moveTo>
                    <a:pt x="0" y="0"/>
                  </a:moveTo>
                  <a:lnTo>
                    <a:pt x="4274726" y="0"/>
                  </a:lnTo>
                  <a:lnTo>
                    <a:pt x="4274726" y="691440"/>
                  </a:lnTo>
                  <a:lnTo>
                    <a:pt x="0" y="691440"/>
                  </a:lnTo>
                  <a:close/>
                </a:path>
              </a:pathLst>
            </a:custGeom>
            <a:solidFill>
              <a:srgbClr val="3C6295"/>
            </a:solidFill>
          </p:spPr>
        </p:sp>
        <p:sp>
          <p:nvSpPr>
            <p:cNvPr name="TextBox 9" id="9"/>
            <p:cNvSpPr txBox="true"/>
            <p:nvPr/>
          </p:nvSpPr>
          <p:spPr>
            <a:xfrm>
              <a:off x="0" y="-47625"/>
              <a:ext cx="4274726" cy="73906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8700" y="1028700"/>
            <a:ext cx="8115300" cy="505688"/>
            <a:chOff x="0" y="0"/>
            <a:chExt cx="2137363" cy="133185"/>
          </a:xfrm>
        </p:grpSpPr>
        <p:sp>
          <p:nvSpPr>
            <p:cNvPr name="Freeform 11" id="11"/>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FF751F"/>
            </a:solidFill>
          </p:spPr>
        </p:sp>
        <p:sp>
          <p:nvSpPr>
            <p:cNvPr name="TextBox 12" id="12"/>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1028700"/>
            <a:ext cx="8115300" cy="505688"/>
            <a:chOff x="0" y="0"/>
            <a:chExt cx="2137363" cy="133185"/>
          </a:xfrm>
        </p:grpSpPr>
        <p:sp>
          <p:nvSpPr>
            <p:cNvPr name="Freeform 14" id="14"/>
            <p:cNvSpPr/>
            <p:nvPr/>
          </p:nvSpPr>
          <p:spPr>
            <a:xfrm flipH="false" flipV="false" rot="0">
              <a:off x="0" y="0"/>
              <a:ext cx="2137363" cy="133185"/>
            </a:xfrm>
            <a:custGeom>
              <a:avLst/>
              <a:gdLst/>
              <a:ahLst/>
              <a:cxnLst/>
              <a:rect r="r" b="b" t="t" l="l"/>
              <a:pathLst>
                <a:path h="133185" w="2137363">
                  <a:moveTo>
                    <a:pt x="0" y="0"/>
                  </a:moveTo>
                  <a:lnTo>
                    <a:pt x="2137363" y="0"/>
                  </a:lnTo>
                  <a:lnTo>
                    <a:pt x="2137363" y="133185"/>
                  </a:lnTo>
                  <a:lnTo>
                    <a:pt x="0" y="133185"/>
                  </a:lnTo>
                  <a:close/>
                </a:path>
              </a:pathLst>
            </a:custGeom>
            <a:solidFill>
              <a:srgbClr val="3C6295"/>
            </a:solidFill>
          </p:spPr>
        </p:sp>
        <p:sp>
          <p:nvSpPr>
            <p:cNvPr name="TextBox 15" id="15"/>
            <p:cNvSpPr txBox="true"/>
            <p:nvPr/>
          </p:nvSpPr>
          <p:spPr>
            <a:xfrm>
              <a:off x="0" y="-47625"/>
              <a:ext cx="2137363" cy="18081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5261815" y="3391121"/>
            <a:ext cx="7764370" cy="2299217"/>
          </a:xfrm>
          <a:prstGeom prst="rect">
            <a:avLst/>
          </a:prstGeom>
        </p:spPr>
        <p:txBody>
          <a:bodyPr anchor="t" rtlCol="false" tIns="0" lIns="0" bIns="0" rIns="0">
            <a:spAutoFit/>
          </a:bodyPr>
          <a:lstStyle/>
          <a:p>
            <a:pPr algn="ctr">
              <a:lnSpc>
                <a:spcPts val="18878"/>
              </a:lnSpc>
              <a:spcBef>
                <a:spcPct val="0"/>
              </a:spcBef>
            </a:pPr>
            <a:r>
              <a:rPr lang="en-US" b="true" sz="13484">
                <a:solidFill>
                  <a:srgbClr val="FFFFFF"/>
                </a:solidFill>
                <a:latin typeface="Archivo Narrow Bold"/>
                <a:ea typeface="Archivo Narrow Bold"/>
                <a:cs typeface="Archivo Narrow Bold"/>
                <a:sym typeface="Archivo Narrow Bold"/>
              </a:rPr>
              <a:t>Thank you </a:t>
            </a:r>
          </a:p>
        </p:txBody>
      </p:sp>
      <p:sp>
        <p:nvSpPr>
          <p:cNvPr name="TextBox 17" id="17"/>
          <p:cNvSpPr txBox="true"/>
          <p:nvPr/>
        </p:nvSpPr>
        <p:spPr>
          <a:xfrm rot="0">
            <a:off x="7397697" y="5642713"/>
            <a:ext cx="3492606"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Alegreya Bold"/>
                <a:ea typeface="Alegreya Bold"/>
                <a:cs typeface="Alegreya Bold"/>
                <a:sym typeface="Alegreya Bold"/>
              </a:rPr>
              <a:t>www.reallygreatsite.com</a:t>
            </a:r>
          </a:p>
        </p:txBody>
      </p:sp>
      <p:sp>
        <p:nvSpPr>
          <p:cNvPr name="TextBox 18" id="18"/>
          <p:cNvSpPr txBox="true"/>
          <p:nvPr/>
        </p:nvSpPr>
        <p:spPr>
          <a:xfrm rot="0">
            <a:off x="4604432" y="5642713"/>
            <a:ext cx="2236269"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Alegreya Bold"/>
                <a:ea typeface="Alegreya Bold"/>
                <a:cs typeface="Alegreya Bold"/>
                <a:sym typeface="Alegreya Bold"/>
              </a:rPr>
              <a:t>@reallygreatsite</a:t>
            </a:r>
          </a:p>
        </p:txBody>
      </p:sp>
      <p:sp>
        <p:nvSpPr>
          <p:cNvPr name="TextBox 19" id="19"/>
          <p:cNvSpPr txBox="true"/>
          <p:nvPr/>
        </p:nvSpPr>
        <p:spPr>
          <a:xfrm rot="0">
            <a:off x="11554410" y="5642713"/>
            <a:ext cx="2129159"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Alegreya Bold"/>
                <a:ea typeface="Alegreya Bold"/>
                <a:cs typeface="Alegreya Bold"/>
                <a:sym typeface="Alegreya Bold"/>
              </a:rPr>
              <a:t>+123-456-7890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DAHLdvlc6Pk</dc:identifier>
  <dcterms:modified xsi:type="dcterms:W3CDTF">2011-08-01T06:04:30Z</dcterms:modified>
  <cp:revision>1</cp:revision>
  <dc:title>Orange Blue and White Modern Presentation</dc:title>
</cp:coreProperties>
</file>