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vml" ContentType="application/vnd.openxmlformats-officedocument.vmlDrawing"/>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1"/>
  </p:notesMasterIdLst>
  <p:sldIdLst>
    <p:sldId id="256" r:id="rId2"/>
    <p:sldId id="257" r:id="rId3"/>
    <p:sldId id="258" r:id="rId4"/>
    <p:sldId id="259" r:id="rId5"/>
    <p:sldId id="280"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81" r:id="rId24"/>
    <p:sldId id="277" r:id="rId25"/>
    <p:sldId id="282" r:id="rId26"/>
    <p:sldId id="283" r:id="rId27"/>
    <p:sldId id="278" r:id="rId28"/>
    <p:sldId id="279" r:id="rId29"/>
    <p:sldId id="284" r:id="rId30"/>
  </p:sldIdLst>
  <p:sldSz cx="18288000" cy="10287000"/>
  <p:notesSz cx="6858000" cy="9144000"/>
  <p:embeddedFontLst>
    <p:embeddedFont>
      <p:font typeface="Antic" panose="020B0604020202020204" charset="0"/>
      <p:regular r:id="rId32"/>
    </p:embeddedFont>
    <p:embeddedFont>
      <p:font typeface="Antic Bold" panose="020B0604020202020204" charset="0"/>
      <p:regular r:id="rId33"/>
    </p:embeddedFont>
    <p:embeddedFont>
      <p:font typeface="Archivo Narrow Bold" panose="020B0604020202020204" charset="0"/>
      <p:regular r:id="rId34"/>
    </p:embeddedFont>
    <p:embeddedFont>
      <p:font typeface="Arimo Bold" panose="020B0604020202020204" charset="0"/>
      <p:regular r:id="rId35"/>
    </p:embeddedFont>
    <p:embeddedFont>
      <p:font typeface="Calibri" panose="020F0502020204030204" pitchFamily="34" charset="0"/>
      <p:regular r:id="rId36"/>
      <p:bold r:id="rId37"/>
      <p:italic r:id="rId38"/>
      <p:boldItalic r:id="rId39"/>
    </p:embeddedFont>
    <p:embeddedFont>
      <p:font typeface="Canva Sans" panose="020B0604020202020204" charset="0"/>
      <p:regular r:id="rId40"/>
    </p:embeddedFont>
    <p:embeddedFont>
      <p:font typeface="Canva Sans Bold" panose="020B0604020202020204" charset="0"/>
      <p:regular r:id="rId41"/>
    </p:embeddedFont>
    <p:embeddedFont>
      <p:font typeface="Montserrat" panose="00000500000000000000" pitchFamily="2" charset="0"/>
      <p:regular r:id="rId42"/>
      <p:bold r:id="rId43"/>
      <p:italic r:id="rId44"/>
      <p:boldItalic r:id="rId45"/>
    </p:embeddedFont>
    <p:embeddedFont>
      <p:font typeface="Montserrat Bold" panose="00000800000000000000" pitchFamily="2" charset="0"/>
      <p:regular r:id="rId46"/>
      <p:bold r:id="rId47"/>
    </p:embeddedFont>
    <p:embeddedFont>
      <p:font typeface="Open Sauce Bold" panose="020B0604020202020204" charset="0"/>
      <p:regular r:id="rId4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63434" autoAdjust="0"/>
  </p:normalViewPr>
  <p:slideViewPr>
    <p:cSldViewPr>
      <p:cViewPr>
        <p:scale>
          <a:sx n="33" d="100"/>
          <a:sy n="33" d="100"/>
        </p:scale>
        <p:origin x="354" y="-12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8.fntdata"/><Relationship Id="rId21" Type="http://schemas.openxmlformats.org/officeDocument/2006/relationships/slide" Target="slides/slide20.xml"/><Relationship Id="rId34" Type="http://schemas.openxmlformats.org/officeDocument/2006/relationships/font" Target="fonts/font3.fntdata"/><Relationship Id="rId42" Type="http://schemas.openxmlformats.org/officeDocument/2006/relationships/font" Target="fonts/font11.fntdata"/><Relationship Id="rId47" Type="http://schemas.openxmlformats.org/officeDocument/2006/relationships/font" Target="fonts/font16.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font" Target="fonts/font1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4" Type="http://schemas.openxmlformats.org/officeDocument/2006/relationships/font" Target="fonts/font13.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43" Type="http://schemas.openxmlformats.org/officeDocument/2006/relationships/font" Target="fonts/font12.fntdata"/><Relationship Id="rId48" Type="http://schemas.openxmlformats.org/officeDocument/2006/relationships/font" Target="fonts/font17.fnt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font" Target="fonts/font7.fntdata"/><Relationship Id="rId46" Type="http://schemas.openxmlformats.org/officeDocument/2006/relationships/font" Target="fonts/font15.fntdata"/><Relationship Id="rId20" Type="http://schemas.openxmlformats.org/officeDocument/2006/relationships/slide" Target="slides/slide19.xml"/><Relationship Id="rId41"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3.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5.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7.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2.png"/></Relationships>
</file>

<file path=ppt/drawings/_rels/vmlDrawing5.v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image" Target="../media/image66.png"/></Relationships>
</file>

<file path=ppt/drawings/_rels/vmlDrawing6.v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image" Target="../media/image68.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70.png"/></Relationships>
</file>

<file path=ppt/drawings/_rels/vmlDrawing8.vml.rels><?xml version="1.0" encoding="UTF-8" standalone="yes"?>
<Relationships xmlns="http://schemas.openxmlformats.org/package/2006/relationships"><Relationship Id="rId1" Type="http://schemas.openxmlformats.org/officeDocument/2006/relationships/image" Target="../media/image71.png"/></Relationships>
</file>

<file path=ppt/drawings/_rels/vmlDrawing9.vml.rels><?xml version="1.0" encoding="UTF-8" standalone="yes"?>
<Relationships xmlns="http://schemas.openxmlformats.org/package/2006/relationships"><Relationship Id="rId1" Type="http://schemas.openxmlformats.org/officeDocument/2006/relationships/image" Target="../media/image72.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3140C0-CB0F-428E-AF5D-5E591ED17214}" type="datetimeFigureOut">
              <a:rPr lang="en-US" smtClean="0"/>
              <a:t>7/24/2026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4F9FF8-F730-48A2-A15C-4DAF3EEA9E4C}" type="slidenum">
              <a:rPr lang="en-US" smtClean="0"/>
              <a:t>‹#›</a:t>
            </a:fld>
            <a:endParaRPr lang="en-US"/>
          </a:p>
        </p:txBody>
      </p:sp>
    </p:spTree>
    <p:extLst>
      <p:ext uri="{BB962C8B-B14F-4D97-AF65-F5344CB8AC3E}">
        <p14:creationId xmlns:p14="http://schemas.microsoft.com/office/powerpoint/2010/main" val="39345027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Asslamkm</a:t>
            </a:r>
            <a:r>
              <a:rPr lang="en-US" dirty="0"/>
              <a:t>, </a:t>
            </a:r>
            <a:r>
              <a:rPr lang="en-US" dirty="0" err="1"/>
              <a:t>selamat</a:t>
            </a:r>
            <a:r>
              <a:rPr lang="en-US" dirty="0"/>
              <a:t> </a:t>
            </a:r>
            <a:r>
              <a:rPr lang="en-US" dirty="0" err="1"/>
              <a:t>pagi</a:t>
            </a:r>
            <a:r>
              <a:rPr lang="en-US" dirty="0"/>
              <a:t>, </a:t>
            </a:r>
            <a:r>
              <a:rPr lang="en-US" dirty="0" err="1"/>
              <a:t>ucapan</a:t>
            </a:r>
            <a:r>
              <a:rPr lang="en-US" dirty="0"/>
              <a:t> </a:t>
            </a:r>
            <a:r>
              <a:rPr lang="en-US" dirty="0" err="1"/>
              <a:t>terimakasih</a:t>
            </a:r>
            <a:r>
              <a:rPr lang="en-US" dirty="0"/>
              <a:t> </a:t>
            </a:r>
            <a:r>
              <a:rPr lang="en-US" dirty="0" err="1"/>
              <a:t>ke</a:t>
            </a:r>
            <a:r>
              <a:rPr lang="en-US" dirty="0"/>
              <a:t> </a:t>
            </a:r>
            <a:r>
              <a:rPr lang="en-US" dirty="0" err="1"/>
              <a:t>dosen</a:t>
            </a:r>
            <a:r>
              <a:rPr lang="en-US" dirty="0"/>
              <a:t> </a:t>
            </a:r>
            <a:r>
              <a:rPr lang="en-US" dirty="0" err="1"/>
              <a:t>penguji</a:t>
            </a:r>
            <a:r>
              <a:rPr lang="en-US" dirty="0"/>
              <a:t>, </a:t>
            </a:r>
            <a:r>
              <a:rPr lang="en-US" dirty="0" err="1"/>
              <a:t>dosen</a:t>
            </a:r>
            <a:r>
              <a:rPr lang="en-US" dirty="0"/>
              <a:t> </a:t>
            </a:r>
            <a:r>
              <a:rPr lang="en-US" dirty="0" err="1"/>
              <a:t>pembimbing</a:t>
            </a:r>
            <a:r>
              <a:rPr lang="en-US" dirty="0"/>
              <a:t> yang </a:t>
            </a:r>
            <a:r>
              <a:rPr lang="en-US" dirty="0" err="1"/>
              <a:t>telah</a:t>
            </a:r>
            <a:r>
              <a:rPr lang="en-US" dirty="0"/>
              <a:t> </a:t>
            </a:r>
            <a:r>
              <a:rPr lang="en-US" dirty="0" err="1"/>
              <a:t>hadir</a:t>
            </a:r>
            <a:br>
              <a:rPr lang="en-US" dirty="0"/>
            </a:br>
            <a:r>
              <a:rPr lang="en-US" sz="1200" i="1" kern="1200" dirty="0" err="1">
                <a:solidFill>
                  <a:schemeClr val="tx1"/>
                </a:solidFill>
                <a:effectLst/>
                <a:latin typeface="+mn-lt"/>
                <a:ea typeface="+mn-ea"/>
                <a:cs typeface="+mn-cs"/>
              </a:rPr>
              <a:t>perkenalkan</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saya</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Asep</a:t>
            </a:r>
            <a:r>
              <a:rPr lang="en-US" sz="1200" i="1" kern="1200" dirty="0">
                <a:solidFill>
                  <a:schemeClr val="tx1"/>
                </a:solidFill>
                <a:effectLst/>
                <a:latin typeface="+mn-lt"/>
                <a:ea typeface="+mn-ea"/>
                <a:cs typeface="+mn-cs"/>
              </a:rPr>
              <a:t> Ridwan Hidayat, NIM 231012050036, </a:t>
            </a:r>
            <a:r>
              <a:rPr lang="en-US" sz="1200" i="1" kern="1200" dirty="0" err="1">
                <a:solidFill>
                  <a:schemeClr val="tx1"/>
                </a:solidFill>
                <a:effectLst/>
                <a:latin typeface="+mn-lt"/>
                <a:ea typeface="+mn-ea"/>
                <a:cs typeface="+mn-cs"/>
              </a:rPr>
              <a:t>dari</a:t>
            </a:r>
            <a:r>
              <a:rPr lang="en-US" sz="1200" i="1" kern="1200" dirty="0">
                <a:solidFill>
                  <a:schemeClr val="tx1"/>
                </a:solidFill>
                <a:effectLst/>
                <a:latin typeface="+mn-lt"/>
                <a:ea typeface="+mn-ea"/>
                <a:cs typeface="+mn-cs"/>
              </a:rPr>
              <a:t> Program Studi Teknik </a:t>
            </a:r>
            <a:r>
              <a:rPr lang="en-US" sz="1200" i="1" kern="1200" dirty="0" err="1">
                <a:solidFill>
                  <a:schemeClr val="tx1"/>
                </a:solidFill>
                <a:effectLst/>
                <a:latin typeface="+mn-lt"/>
                <a:ea typeface="+mn-ea"/>
                <a:cs typeface="+mn-cs"/>
              </a:rPr>
              <a:t>Informatika</a:t>
            </a:r>
            <a:r>
              <a:rPr lang="en-US" sz="1200" i="1" kern="1200" dirty="0">
                <a:solidFill>
                  <a:schemeClr val="tx1"/>
                </a:solidFill>
                <a:effectLst/>
                <a:latin typeface="+mn-lt"/>
                <a:ea typeface="+mn-ea"/>
                <a:cs typeface="+mn-cs"/>
              </a:rPr>
              <a:t> S-2, Program </a:t>
            </a:r>
            <a:r>
              <a:rPr lang="en-US" sz="1200" i="1" kern="1200" dirty="0" err="1">
                <a:solidFill>
                  <a:schemeClr val="tx1"/>
                </a:solidFill>
                <a:effectLst/>
                <a:latin typeface="+mn-lt"/>
                <a:ea typeface="+mn-ea"/>
                <a:cs typeface="+mn-cs"/>
              </a:rPr>
              <a:t>Pascasarjana</a:t>
            </a:r>
            <a:r>
              <a:rPr lang="en-US" sz="1200" i="1" kern="1200" dirty="0">
                <a:solidFill>
                  <a:schemeClr val="tx1"/>
                </a:solidFill>
                <a:effectLst/>
                <a:latin typeface="+mn-lt"/>
                <a:ea typeface="+mn-ea"/>
                <a:cs typeface="+mn-cs"/>
              </a:rPr>
              <a:t> Universitas </a:t>
            </a:r>
            <a:r>
              <a:rPr lang="en-US" sz="1200" i="1" kern="1200" dirty="0" err="1">
                <a:solidFill>
                  <a:schemeClr val="tx1"/>
                </a:solidFill>
                <a:effectLst/>
                <a:latin typeface="+mn-lt"/>
                <a:ea typeface="+mn-ea"/>
                <a:cs typeface="+mn-cs"/>
              </a:rPr>
              <a:t>Pamulang</a:t>
            </a:r>
            <a:r>
              <a:rPr lang="en-US" sz="1200" i="1" kern="1200" dirty="0">
                <a:solidFill>
                  <a:schemeClr val="tx1"/>
                </a:solidFill>
                <a:effectLst/>
                <a:latin typeface="+mn-lt"/>
                <a:ea typeface="+mn-ea"/>
                <a:cs typeface="+mn-cs"/>
              </a:rPr>
              <a:t>. Pada </a:t>
            </a:r>
            <a:r>
              <a:rPr lang="en-US" sz="1200" i="1" kern="1200" dirty="0" err="1">
                <a:solidFill>
                  <a:schemeClr val="tx1"/>
                </a:solidFill>
                <a:effectLst/>
                <a:latin typeface="+mn-lt"/>
                <a:ea typeface="+mn-ea"/>
                <a:cs typeface="+mn-cs"/>
              </a:rPr>
              <a:t>kesempatan</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ini</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saya</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akan</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mempresentasikan</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tesis</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saya</a:t>
            </a:r>
            <a:r>
              <a:rPr lang="en-US" sz="1200" i="1" kern="1200" dirty="0">
                <a:solidFill>
                  <a:schemeClr val="tx1"/>
                </a:solidFill>
                <a:effectLst/>
                <a:latin typeface="+mn-lt"/>
                <a:ea typeface="+mn-ea"/>
                <a:cs typeface="+mn-cs"/>
              </a:rPr>
              <a:t> yang </a:t>
            </a:r>
            <a:r>
              <a:rPr lang="en-US" sz="1200" i="1" kern="1200" dirty="0" err="1">
                <a:solidFill>
                  <a:schemeClr val="tx1"/>
                </a:solidFill>
                <a:effectLst/>
                <a:latin typeface="+mn-lt"/>
                <a:ea typeface="+mn-ea"/>
                <a:cs typeface="+mn-cs"/>
              </a:rPr>
              <a:t>berjudul</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Analisis</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Pemodelan</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Topik</a:t>
            </a:r>
            <a:r>
              <a:rPr lang="en-US" sz="1200" i="1" kern="1200" dirty="0">
                <a:solidFill>
                  <a:schemeClr val="tx1"/>
                </a:solidFill>
                <a:effectLst/>
                <a:latin typeface="+mn-lt"/>
                <a:ea typeface="+mn-ea"/>
                <a:cs typeface="+mn-cs"/>
              </a:rPr>
              <a:t> pada Teks </a:t>
            </a:r>
            <a:r>
              <a:rPr lang="en-US" sz="1200" i="1" kern="1200" dirty="0" err="1">
                <a:solidFill>
                  <a:schemeClr val="tx1"/>
                </a:solidFill>
                <a:effectLst/>
                <a:latin typeface="+mn-lt"/>
                <a:ea typeface="+mn-ea"/>
                <a:cs typeface="+mn-cs"/>
              </a:rPr>
              <a:t>Terjemahan</a:t>
            </a:r>
            <a:r>
              <a:rPr lang="en-US" sz="1200" i="1" kern="1200" dirty="0">
                <a:solidFill>
                  <a:schemeClr val="tx1"/>
                </a:solidFill>
                <a:effectLst/>
                <a:latin typeface="+mn-lt"/>
                <a:ea typeface="+mn-ea"/>
                <a:cs typeface="+mn-cs"/>
              </a:rPr>
              <a:t> Al-Qur'an </a:t>
            </a:r>
            <a:r>
              <a:rPr lang="en-US" sz="1200" i="1" kern="1200" dirty="0" err="1">
                <a:solidFill>
                  <a:schemeClr val="tx1"/>
                </a:solidFill>
                <a:effectLst/>
                <a:latin typeface="+mn-lt"/>
                <a:ea typeface="+mn-ea"/>
                <a:cs typeface="+mn-cs"/>
              </a:rPr>
              <a:t>Berbahasa</a:t>
            </a:r>
            <a:r>
              <a:rPr lang="en-US" sz="1200" i="1" kern="1200" dirty="0">
                <a:solidFill>
                  <a:schemeClr val="tx1"/>
                </a:solidFill>
                <a:effectLst/>
                <a:latin typeface="+mn-lt"/>
                <a:ea typeface="+mn-ea"/>
                <a:cs typeface="+mn-cs"/>
              </a:rPr>
              <a:t> Indonesia </a:t>
            </a:r>
            <a:r>
              <a:rPr lang="en-US" sz="1200" i="1" kern="1200" dirty="0" err="1">
                <a:solidFill>
                  <a:schemeClr val="tx1"/>
                </a:solidFill>
                <a:effectLst/>
                <a:latin typeface="+mn-lt"/>
                <a:ea typeface="+mn-ea"/>
                <a:cs typeface="+mn-cs"/>
              </a:rPr>
              <a:t>dengan</a:t>
            </a:r>
            <a:r>
              <a:rPr lang="en-US" sz="1200" i="1" kern="1200" dirty="0">
                <a:solidFill>
                  <a:schemeClr val="tx1"/>
                </a:solidFill>
                <a:effectLst/>
                <a:latin typeface="+mn-lt"/>
                <a:ea typeface="+mn-ea"/>
                <a:cs typeface="+mn-cs"/>
              </a:rPr>
              <a:t> Metode Correlated Topic Modeling (CTM) dan </a:t>
            </a:r>
            <a:r>
              <a:rPr lang="en-US" sz="1200" i="1" kern="1200" dirty="0" err="1">
                <a:solidFill>
                  <a:schemeClr val="tx1"/>
                </a:solidFill>
                <a:effectLst/>
                <a:latin typeface="+mn-lt"/>
                <a:ea typeface="+mn-ea"/>
                <a:cs typeface="+mn-cs"/>
              </a:rPr>
              <a:t>BERTopic</a:t>
            </a:r>
            <a:r>
              <a:rPr lang="en-US" sz="1200" i="1" kern="1200" dirty="0">
                <a:solidFill>
                  <a:schemeClr val="tx1"/>
                </a:solidFill>
                <a:effectLst/>
                <a:latin typeface="+mn-lt"/>
                <a:ea typeface="+mn-ea"/>
                <a:cs typeface="+mn-cs"/>
              </a:rPr>
              <a:t>', di </a:t>
            </a:r>
            <a:r>
              <a:rPr lang="en-US" sz="1200" i="1" kern="1200" dirty="0" err="1">
                <a:solidFill>
                  <a:schemeClr val="tx1"/>
                </a:solidFill>
                <a:effectLst/>
                <a:latin typeface="+mn-lt"/>
                <a:ea typeface="+mn-ea"/>
                <a:cs typeface="+mn-cs"/>
              </a:rPr>
              <a:t>bawah</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bimbingan</a:t>
            </a:r>
            <a:r>
              <a:rPr lang="en-US" sz="1200" i="1" kern="1200" dirty="0">
                <a:solidFill>
                  <a:schemeClr val="tx1"/>
                </a:solidFill>
                <a:effectLst/>
                <a:latin typeface="+mn-lt"/>
                <a:ea typeface="+mn-ea"/>
                <a:cs typeface="+mn-cs"/>
              </a:rPr>
              <a:t> Bapak Dr. </a:t>
            </a:r>
            <a:r>
              <a:rPr lang="en-US" sz="1200" i="1" kern="1200" dirty="0" err="1">
                <a:solidFill>
                  <a:schemeClr val="tx1"/>
                </a:solidFill>
                <a:effectLst/>
                <a:latin typeface="+mn-lt"/>
                <a:ea typeface="+mn-ea"/>
                <a:cs typeface="+mn-cs"/>
              </a:rPr>
              <a:t>Sajarwo</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Anggai</a:t>
            </a:r>
            <a:r>
              <a:rPr lang="en-US" sz="1200" i="1" kern="1200" dirty="0">
                <a:solidFill>
                  <a:schemeClr val="tx1"/>
                </a:solidFill>
                <a:effectLst/>
                <a:latin typeface="+mn-lt"/>
                <a:ea typeface="+mn-ea"/>
                <a:cs typeface="+mn-cs"/>
              </a:rPr>
              <a:t>, S.ST., M.T. dan Bapak Dr. Arya </a:t>
            </a:r>
            <a:r>
              <a:rPr lang="en-US" sz="1200" i="1" kern="1200" dirty="0" err="1">
                <a:solidFill>
                  <a:schemeClr val="tx1"/>
                </a:solidFill>
                <a:effectLst/>
                <a:latin typeface="+mn-lt"/>
                <a:ea typeface="+mn-ea"/>
                <a:cs typeface="+mn-cs"/>
              </a:rPr>
              <a:t>Adhyaksa</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Waskita</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S.Si</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M.Si</a:t>
            </a:r>
            <a:r>
              <a:rPr lang="en-US" sz="1200" i="1" kern="1200" dirty="0">
                <a:solidFill>
                  <a:schemeClr val="tx1"/>
                </a:solidFill>
                <a:effectLst/>
                <a:latin typeface="+mn-lt"/>
                <a:ea typeface="+mn-ea"/>
                <a:cs typeface="+mn-cs"/>
              </a:rPr>
              <a:t>.“</a:t>
            </a:r>
          </a:p>
        </p:txBody>
      </p:sp>
      <p:sp>
        <p:nvSpPr>
          <p:cNvPr id="4" name="Slide Number Placeholder 3"/>
          <p:cNvSpPr>
            <a:spLocks noGrp="1"/>
          </p:cNvSpPr>
          <p:nvPr>
            <p:ph type="sldNum" sz="quarter" idx="5"/>
          </p:nvPr>
        </p:nvSpPr>
        <p:spPr/>
        <p:txBody>
          <a:bodyPr/>
          <a:lstStyle/>
          <a:p>
            <a:fld id="{0E4F9FF8-F730-48A2-A15C-4DAF3EEA9E4C}" type="slidenum">
              <a:rPr lang="en-US" smtClean="0"/>
              <a:t>1</a:t>
            </a:fld>
            <a:endParaRPr lang="en-US"/>
          </a:p>
        </p:txBody>
      </p:sp>
    </p:spTree>
    <p:extLst>
      <p:ext uri="{BB962C8B-B14F-4D97-AF65-F5344CB8AC3E}">
        <p14:creationId xmlns:p14="http://schemas.microsoft.com/office/powerpoint/2010/main" val="31352634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1" kern="1200" dirty="0" err="1">
                <a:solidFill>
                  <a:schemeClr val="tx1"/>
                </a:solidFill>
                <a:effectLst/>
                <a:latin typeface="+mn-lt"/>
                <a:ea typeface="+mn-ea"/>
                <a:cs typeface="+mn-cs"/>
              </a:rPr>
              <a:t>Izinkan</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saya</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memulai</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dari</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latar</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belakang</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penelitian</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ini</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Pemodelan</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topik</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atau</a:t>
            </a:r>
            <a:r>
              <a:rPr lang="en-US" sz="1200" i="1" kern="1200" dirty="0">
                <a:solidFill>
                  <a:schemeClr val="tx1"/>
                </a:solidFill>
                <a:effectLst/>
                <a:latin typeface="+mn-lt"/>
                <a:ea typeface="+mn-ea"/>
                <a:cs typeface="+mn-cs"/>
              </a:rPr>
              <a:t> topic modeling </a:t>
            </a:r>
            <a:r>
              <a:rPr lang="en-US" sz="1200" i="1" kern="1200" dirty="0" err="1">
                <a:solidFill>
                  <a:schemeClr val="tx1"/>
                </a:solidFill>
                <a:effectLst/>
                <a:latin typeface="+mn-lt"/>
                <a:ea typeface="+mn-ea"/>
                <a:cs typeface="+mn-cs"/>
              </a:rPr>
              <a:t>adalah</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pendekatan</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penting</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dalam</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analisis</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teks</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untuk</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menemukan</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tema</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tersembunyi</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dari</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kumpulan</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dokumen</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besar</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secara</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otomatis</a:t>
            </a:r>
            <a:r>
              <a:rPr lang="en-US" sz="1200" i="1" kern="1200" dirty="0">
                <a:solidFill>
                  <a:schemeClr val="tx1"/>
                </a:solidFill>
                <a:effectLst/>
                <a:latin typeface="+mn-lt"/>
                <a:ea typeface="+mn-ea"/>
                <a:cs typeface="+mn-cs"/>
              </a:rPr>
              <a:t>. Pada </a:t>
            </a:r>
            <a:r>
              <a:rPr lang="en-US" sz="1200" i="1" kern="1200" dirty="0" err="1">
                <a:solidFill>
                  <a:schemeClr val="tx1"/>
                </a:solidFill>
                <a:effectLst/>
                <a:latin typeface="+mn-lt"/>
                <a:ea typeface="+mn-ea"/>
                <a:cs typeface="+mn-cs"/>
              </a:rPr>
              <a:t>teks</a:t>
            </a:r>
            <a:r>
              <a:rPr lang="en-US" sz="1200" i="1" kern="1200" dirty="0">
                <a:solidFill>
                  <a:schemeClr val="tx1"/>
                </a:solidFill>
                <a:effectLst/>
                <a:latin typeface="+mn-lt"/>
                <a:ea typeface="+mn-ea"/>
                <a:cs typeface="+mn-cs"/>
              </a:rPr>
              <a:t> Al-Qur'an, </a:t>
            </a:r>
            <a:r>
              <a:rPr lang="en-US" sz="1200" i="1" kern="1200" dirty="0" err="1">
                <a:solidFill>
                  <a:schemeClr val="tx1"/>
                </a:solidFill>
                <a:effectLst/>
                <a:latin typeface="+mn-lt"/>
                <a:ea typeface="+mn-ea"/>
                <a:cs typeface="+mn-cs"/>
              </a:rPr>
              <a:t>tantangannya</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lebih</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besar</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karena</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teksnya</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kompleks</a:t>
            </a:r>
            <a:r>
              <a:rPr lang="en-US" sz="1200" i="1" kern="1200" dirty="0">
                <a:solidFill>
                  <a:schemeClr val="tx1"/>
                </a:solidFill>
                <a:effectLst/>
                <a:latin typeface="+mn-lt"/>
                <a:ea typeface="+mn-ea"/>
                <a:cs typeface="+mn-cs"/>
              </a:rPr>
              <a:t> dan </a:t>
            </a:r>
            <a:r>
              <a:rPr lang="en-US" sz="1200" i="1" kern="1200" dirty="0" err="1">
                <a:solidFill>
                  <a:schemeClr val="tx1"/>
                </a:solidFill>
                <a:effectLst/>
                <a:latin typeface="+mn-lt"/>
                <a:ea typeface="+mn-ea"/>
                <a:cs typeface="+mn-cs"/>
              </a:rPr>
              <a:t>kontekstual</a:t>
            </a:r>
            <a:r>
              <a:rPr lang="en-US" sz="1200" i="1" kern="1200" dirty="0">
                <a:solidFill>
                  <a:schemeClr val="tx1"/>
                </a:solidFill>
                <a:effectLst/>
                <a:latin typeface="+mn-lt"/>
                <a:ea typeface="+mn-ea"/>
                <a:cs typeface="+mn-cs"/>
              </a:rPr>
              <a:t>. Dataset yang </a:t>
            </a:r>
            <a:r>
              <a:rPr lang="en-US" sz="1200" i="1" kern="1200" dirty="0" err="1">
                <a:solidFill>
                  <a:schemeClr val="tx1"/>
                </a:solidFill>
                <a:effectLst/>
                <a:latin typeface="+mn-lt"/>
                <a:ea typeface="+mn-ea"/>
                <a:cs typeface="+mn-cs"/>
              </a:rPr>
              <a:t>saya</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gunakan</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mencakup</a:t>
            </a:r>
            <a:r>
              <a:rPr lang="en-US" sz="1200" i="1" kern="1200" dirty="0">
                <a:solidFill>
                  <a:schemeClr val="tx1"/>
                </a:solidFill>
                <a:effectLst/>
                <a:latin typeface="+mn-lt"/>
                <a:ea typeface="+mn-ea"/>
                <a:cs typeface="+mn-cs"/>
              </a:rPr>
              <a:t> 114 </a:t>
            </a:r>
            <a:r>
              <a:rPr lang="en-US" sz="1200" i="1" kern="1200" dirty="0" err="1">
                <a:solidFill>
                  <a:schemeClr val="tx1"/>
                </a:solidFill>
                <a:effectLst/>
                <a:latin typeface="+mn-lt"/>
                <a:ea typeface="+mn-ea"/>
                <a:cs typeface="+mn-cs"/>
              </a:rPr>
              <a:t>surat</a:t>
            </a:r>
            <a:r>
              <a:rPr lang="en-US" sz="1200" i="1" kern="1200" dirty="0">
                <a:solidFill>
                  <a:schemeClr val="tx1"/>
                </a:solidFill>
                <a:effectLst/>
                <a:latin typeface="+mn-lt"/>
                <a:ea typeface="+mn-ea"/>
                <a:cs typeface="+mn-cs"/>
              </a:rPr>
              <a:t>, 6.236 </a:t>
            </a:r>
            <a:r>
              <a:rPr lang="en-US" sz="1200" i="1" kern="1200" dirty="0" err="1">
                <a:solidFill>
                  <a:schemeClr val="tx1"/>
                </a:solidFill>
                <a:effectLst/>
                <a:latin typeface="+mn-lt"/>
                <a:ea typeface="+mn-ea"/>
                <a:cs typeface="+mn-cs"/>
              </a:rPr>
              <a:t>ayat</a:t>
            </a:r>
            <a:r>
              <a:rPr lang="en-US" sz="1200" i="1" kern="1200" dirty="0">
                <a:solidFill>
                  <a:schemeClr val="tx1"/>
                </a:solidFill>
                <a:effectLst/>
                <a:latin typeface="+mn-lt"/>
                <a:ea typeface="+mn-ea"/>
                <a:cs typeface="+mn-cs"/>
              </a:rPr>
              <a:t>, dan </a:t>
            </a:r>
            <a:r>
              <a:rPr lang="en-US" sz="1200" i="1" kern="1200" dirty="0" err="1">
                <a:solidFill>
                  <a:schemeClr val="tx1"/>
                </a:solidFill>
                <a:effectLst/>
                <a:latin typeface="+mn-lt"/>
                <a:ea typeface="+mn-ea"/>
                <a:cs typeface="+mn-cs"/>
              </a:rPr>
              <a:t>sekitar</a:t>
            </a:r>
            <a:r>
              <a:rPr lang="en-US" sz="1200" i="1" kern="1200" dirty="0">
                <a:solidFill>
                  <a:schemeClr val="tx1"/>
                </a:solidFill>
                <a:effectLst/>
                <a:latin typeface="+mn-lt"/>
                <a:ea typeface="+mn-ea"/>
                <a:cs typeface="+mn-cs"/>
              </a:rPr>
              <a:t> 77.439 kata </a:t>
            </a:r>
            <a:r>
              <a:rPr lang="en-US" sz="1200" i="1" kern="1200" dirty="0" err="1">
                <a:solidFill>
                  <a:schemeClr val="tx1"/>
                </a:solidFill>
                <a:effectLst/>
                <a:latin typeface="+mn-lt"/>
                <a:ea typeface="+mn-ea"/>
                <a:cs typeface="+mn-cs"/>
              </a:rPr>
              <a:t>terjemahan</a:t>
            </a:r>
            <a:r>
              <a:rPr lang="en-US" sz="1200" i="1" kern="1200" dirty="0">
                <a:solidFill>
                  <a:schemeClr val="tx1"/>
                </a:solidFill>
                <a:effectLst/>
                <a:latin typeface="+mn-lt"/>
                <a:ea typeface="+mn-ea"/>
                <a:cs typeface="+mn-cs"/>
              </a:rPr>
              <a:t> — </a:t>
            </a:r>
            <a:r>
              <a:rPr lang="en-US" sz="1200" i="1" kern="1200" dirty="0" err="1">
                <a:solidFill>
                  <a:schemeClr val="tx1"/>
                </a:solidFill>
                <a:effectLst/>
                <a:latin typeface="+mn-lt"/>
                <a:ea typeface="+mn-ea"/>
                <a:cs typeface="+mn-cs"/>
              </a:rPr>
              <a:t>jumlah</a:t>
            </a:r>
            <a:r>
              <a:rPr lang="en-US" sz="1200" i="1" kern="1200" dirty="0">
                <a:solidFill>
                  <a:schemeClr val="tx1"/>
                </a:solidFill>
                <a:effectLst/>
                <a:latin typeface="+mn-lt"/>
                <a:ea typeface="+mn-ea"/>
                <a:cs typeface="+mn-cs"/>
              </a:rPr>
              <a:t> yang </a:t>
            </a:r>
            <a:r>
              <a:rPr lang="en-US" sz="1200" i="1" kern="1200" dirty="0" err="1">
                <a:solidFill>
                  <a:schemeClr val="tx1"/>
                </a:solidFill>
                <a:effectLst/>
                <a:latin typeface="+mn-lt"/>
                <a:ea typeface="+mn-ea"/>
                <a:cs typeface="+mn-cs"/>
              </a:rPr>
              <a:t>cukup</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besar</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untuk</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dianalisis</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secara</a:t>
            </a:r>
            <a:r>
              <a:rPr lang="en-US" sz="1200" i="1" kern="1200" dirty="0">
                <a:solidFill>
                  <a:schemeClr val="tx1"/>
                </a:solidFill>
                <a:effectLst/>
                <a:latin typeface="+mn-lt"/>
                <a:ea typeface="+mn-ea"/>
                <a:cs typeface="+mn-cs"/>
              </a:rPr>
              <a:t> manual </a:t>
            </a:r>
            <a:r>
              <a:rPr lang="en-US" sz="1200" i="1" kern="1200" dirty="0" err="1">
                <a:solidFill>
                  <a:schemeClr val="tx1"/>
                </a:solidFill>
                <a:effectLst/>
                <a:latin typeface="+mn-lt"/>
                <a:ea typeface="+mn-ea"/>
                <a:cs typeface="+mn-cs"/>
              </a:rPr>
              <a:t>satu</a:t>
            </a:r>
            <a:r>
              <a:rPr lang="en-US" sz="1200" i="1" kern="1200" dirty="0">
                <a:solidFill>
                  <a:schemeClr val="tx1"/>
                </a:solidFill>
                <a:effectLst/>
                <a:latin typeface="+mn-lt"/>
                <a:ea typeface="+mn-ea"/>
                <a:cs typeface="+mn-cs"/>
              </a:rPr>
              <a:t> per </a:t>
            </a:r>
            <a:r>
              <a:rPr lang="en-US" sz="1200" i="1" kern="1200" dirty="0" err="1">
                <a:solidFill>
                  <a:schemeClr val="tx1"/>
                </a:solidFill>
                <a:effectLst/>
                <a:latin typeface="+mn-lt"/>
                <a:ea typeface="+mn-ea"/>
                <a:cs typeface="+mn-cs"/>
              </a:rPr>
              <a:t>satu</a:t>
            </a:r>
            <a:r>
              <a:rPr lang="en-US" sz="1200" i="1" kern="1200" dirty="0">
                <a:solidFill>
                  <a:schemeClr val="tx1"/>
                </a:solidFill>
                <a:effectLst/>
                <a:latin typeface="+mn-lt"/>
                <a:ea typeface="+mn-ea"/>
                <a:cs typeface="+mn-cs"/>
              </a:rPr>
              <a:t>.</a:t>
            </a:r>
          </a:p>
          <a:p>
            <a:endParaRPr lang="en-US" sz="1200" i="1"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CTM dan </a:t>
            </a:r>
            <a:r>
              <a:rPr lang="en-US" sz="1200" i="1" kern="1200" dirty="0" err="1">
                <a:solidFill>
                  <a:schemeClr val="tx1"/>
                </a:solidFill>
                <a:effectLst/>
                <a:latin typeface="+mn-lt"/>
                <a:ea typeface="+mn-ea"/>
                <a:cs typeface="+mn-cs"/>
              </a:rPr>
              <a:t>BERTopic</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saya</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pilih</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sebagai</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solusi</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alternatif</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terbaru</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karena</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keduanya</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berbasis</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representasi</a:t>
            </a:r>
            <a:r>
              <a:rPr lang="en-US" sz="1200" i="1" kern="1200" dirty="0">
                <a:solidFill>
                  <a:schemeClr val="tx1"/>
                </a:solidFill>
                <a:effectLst/>
                <a:latin typeface="+mn-lt"/>
                <a:ea typeface="+mn-ea"/>
                <a:cs typeface="+mn-cs"/>
              </a:rPr>
              <a:t> BERT yang </a:t>
            </a:r>
            <a:r>
              <a:rPr lang="en-US" sz="1200" i="1" kern="1200" dirty="0" err="1">
                <a:solidFill>
                  <a:schemeClr val="tx1"/>
                </a:solidFill>
                <a:effectLst/>
                <a:latin typeface="+mn-lt"/>
                <a:ea typeface="+mn-ea"/>
                <a:cs typeface="+mn-cs"/>
              </a:rPr>
              <a:t>lebih</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kontekstual</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dibanding</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metode</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klasik</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seperti</a:t>
            </a:r>
            <a:r>
              <a:rPr lang="en-US" sz="1200" i="1" kern="1200" dirty="0">
                <a:solidFill>
                  <a:schemeClr val="tx1"/>
                </a:solidFill>
                <a:effectLst/>
                <a:latin typeface="+mn-lt"/>
                <a:ea typeface="+mn-ea"/>
                <a:cs typeface="+mn-cs"/>
              </a:rPr>
              <a:t> LDA. </a:t>
            </a:r>
            <a:r>
              <a:rPr lang="en-US" sz="1200" i="1" kern="1200" dirty="0" err="1">
                <a:solidFill>
                  <a:schemeClr val="tx1"/>
                </a:solidFill>
                <a:effectLst/>
                <a:latin typeface="+mn-lt"/>
                <a:ea typeface="+mn-ea"/>
                <a:cs typeface="+mn-cs"/>
              </a:rPr>
              <a:t>Namun</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penerapan</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kedua</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metode</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ini</a:t>
            </a:r>
            <a:r>
              <a:rPr lang="en-US" sz="1200" i="1" kern="1200" dirty="0">
                <a:solidFill>
                  <a:schemeClr val="tx1"/>
                </a:solidFill>
                <a:effectLst/>
                <a:latin typeface="+mn-lt"/>
                <a:ea typeface="+mn-ea"/>
                <a:cs typeface="+mn-cs"/>
              </a:rPr>
              <a:t> pada </a:t>
            </a:r>
            <a:r>
              <a:rPr lang="en-US" sz="1200" i="1" kern="1200" dirty="0" err="1">
                <a:solidFill>
                  <a:schemeClr val="tx1"/>
                </a:solidFill>
                <a:effectLst/>
                <a:latin typeface="+mn-lt"/>
                <a:ea typeface="+mn-ea"/>
                <a:cs typeface="+mn-cs"/>
              </a:rPr>
              <a:t>korpus</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religius</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khususnya</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terjemahan</a:t>
            </a:r>
            <a:r>
              <a:rPr lang="en-US" sz="1200" i="1" kern="1200" dirty="0">
                <a:solidFill>
                  <a:schemeClr val="tx1"/>
                </a:solidFill>
                <a:effectLst/>
                <a:latin typeface="+mn-lt"/>
                <a:ea typeface="+mn-ea"/>
                <a:cs typeface="+mn-cs"/>
              </a:rPr>
              <a:t> Al-Qur'an </a:t>
            </a:r>
            <a:r>
              <a:rPr lang="en-US" sz="1200" i="1" kern="1200" dirty="0" err="1">
                <a:solidFill>
                  <a:schemeClr val="tx1"/>
                </a:solidFill>
                <a:effectLst/>
                <a:latin typeface="+mn-lt"/>
                <a:ea typeface="+mn-ea"/>
                <a:cs typeface="+mn-cs"/>
              </a:rPr>
              <a:t>berbahasa</a:t>
            </a:r>
            <a:r>
              <a:rPr lang="en-US" sz="1200" i="1" kern="1200" dirty="0">
                <a:solidFill>
                  <a:schemeClr val="tx1"/>
                </a:solidFill>
                <a:effectLst/>
                <a:latin typeface="+mn-lt"/>
                <a:ea typeface="+mn-ea"/>
                <a:cs typeface="+mn-cs"/>
              </a:rPr>
              <a:t> Indonesia, </a:t>
            </a:r>
            <a:r>
              <a:rPr lang="en-US" sz="1200" i="1" kern="1200" dirty="0" err="1">
                <a:solidFill>
                  <a:schemeClr val="tx1"/>
                </a:solidFill>
                <a:effectLst/>
                <a:latin typeface="+mn-lt"/>
                <a:ea typeface="+mn-ea"/>
                <a:cs typeface="+mn-cs"/>
              </a:rPr>
              <a:t>masih</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belum</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banyak</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digunakan</a:t>
            </a:r>
            <a:r>
              <a:rPr lang="en-US" sz="1200" i="1" kern="1200" dirty="0">
                <a:solidFill>
                  <a:schemeClr val="tx1"/>
                </a:solidFill>
                <a:effectLst/>
                <a:latin typeface="+mn-lt"/>
                <a:ea typeface="+mn-ea"/>
                <a:cs typeface="+mn-cs"/>
              </a:rPr>
              <a:t> — </a:t>
            </a:r>
            <a:r>
              <a:rPr lang="en-US" sz="1200" i="1" kern="1200" dirty="0" err="1">
                <a:solidFill>
                  <a:schemeClr val="tx1"/>
                </a:solidFill>
                <a:effectLst/>
                <a:latin typeface="+mn-lt"/>
                <a:ea typeface="+mn-ea"/>
                <a:cs typeface="+mn-cs"/>
              </a:rPr>
              <a:t>inilah</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celah</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penelitian</a:t>
            </a:r>
            <a:r>
              <a:rPr lang="en-US" sz="1200" i="1" kern="1200" dirty="0">
                <a:solidFill>
                  <a:schemeClr val="tx1"/>
                </a:solidFill>
                <a:effectLst/>
                <a:latin typeface="+mn-lt"/>
                <a:ea typeface="+mn-ea"/>
                <a:cs typeface="+mn-cs"/>
              </a:rPr>
              <a:t> yang </a:t>
            </a:r>
            <a:r>
              <a:rPr lang="en-US" sz="1200" i="1" kern="1200" dirty="0" err="1">
                <a:solidFill>
                  <a:schemeClr val="tx1"/>
                </a:solidFill>
                <a:effectLst/>
                <a:latin typeface="+mn-lt"/>
                <a:ea typeface="+mn-ea"/>
                <a:cs typeface="+mn-cs"/>
              </a:rPr>
              <a:t>saya</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coba</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isi</a:t>
            </a:r>
            <a:r>
              <a:rPr lang="en-US" sz="1200" i="1" kern="1200" dirty="0">
                <a:solidFill>
                  <a:schemeClr val="tx1"/>
                </a:solidFill>
                <a:effectLst/>
                <a:latin typeface="+mn-lt"/>
                <a:ea typeface="+mn-ea"/>
                <a:cs typeface="+mn-cs"/>
              </a:rPr>
              <a:t>.</a:t>
            </a:r>
            <a:endParaRPr lang="en-US" dirty="0"/>
          </a:p>
        </p:txBody>
      </p:sp>
      <p:sp>
        <p:nvSpPr>
          <p:cNvPr id="4" name="Slide Number Placeholder 3"/>
          <p:cNvSpPr>
            <a:spLocks noGrp="1"/>
          </p:cNvSpPr>
          <p:nvPr>
            <p:ph type="sldNum" sz="quarter" idx="5"/>
          </p:nvPr>
        </p:nvSpPr>
        <p:spPr/>
        <p:txBody>
          <a:bodyPr/>
          <a:lstStyle/>
          <a:p>
            <a:fld id="{0E4F9FF8-F730-48A2-A15C-4DAF3EEA9E4C}" type="slidenum">
              <a:rPr lang="en-US" smtClean="0"/>
              <a:t>2</a:t>
            </a:fld>
            <a:endParaRPr lang="en-US"/>
          </a:p>
        </p:txBody>
      </p:sp>
    </p:spTree>
    <p:extLst>
      <p:ext uri="{BB962C8B-B14F-4D97-AF65-F5344CB8AC3E}">
        <p14:creationId xmlns:p14="http://schemas.microsoft.com/office/powerpoint/2010/main" val="37366164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1" kern="1200" dirty="0">
                <a:solidFill>
                  <a:schemeClr val="tx1"/>
                </a:solidFill>
                <a:effectLst/>
                <a:latin typeface="+mn-lt"/>
                <a:ea typeface="+mn-ea"/>
                <a:cs typeface="+mn-cs"/>
              </a:rPr>
              <a:t>Dari </a:t>
            </a:r>
            <a:r>
              <a:rPr lang="en-US" sz="1200" i="1" kern="1200" dirty="0" err="1">
                <a:solidFill>
                  <a:schemeClr val="tx1"/>
                </a:solidFill>
                <a:effectLst/>
                <a:latin typeface="+mn-lt"/>
                <a:ea typeface="+mn-ea"/>
                <a:cs typeface="+mn-cs"/>
              </a:rPr>
              <a:t>latar</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belakang</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tersebut</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saya</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mengidentifikasi</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tiga</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permasalahan</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utama</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pertama</a:t>
            </a:r>
            <a:r>
              <a:rPr lang="en-US" sz="1200" i="1" kern="1200" dirty="0">
                <a:solidFill>
                  <a:schemeClr val="tx1"/>
                </a:solidFill>
                <a:effectLst/>
                <a:latin typeface="+mn-lt"/>
                <a:ea typeface="+mn-ea"/>
                <a:cs typeface="+mn-cs"/>
              </a:rPr>
              <a:t> …</a:t>
            </a:r>
          </a:p>
          <a:p>
            <a:endParaRPr lang="en-US" sz="1200" i="1" kern="1200" dirty="0">
              <a:solidFill>
                <a:schemeClr val="tx1"/>
              </a:solidFill>
              <a:effectLst/>
              <a:latin typeface="+mn-lt"/>
              <a:ea typeface="+mn-ea"/>
              <a:cs typeface="+mn-cs"/>
            </a:endParaRPr>
          </a:p>
          <a:p>
            <a:r>
              <a:rPr lang="en-US" sz="1200" i="1" kern="1200" dirty="0" err="1">
                <a:solidFill>
                  <a:schemeClr val="tx1"/>
                </a:solidFill>
                <a:effectLst/>
                <a:latin typeface="+mn-lt"/>
                <a:ea typeface="+mn-ea"/>
                <a:cs typeface="+mn-cs"/>
              </a:rPr>
              <a:t>Semantik</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dalam</a:t>
            </a:r>
            <a:r>
              <a:rPr lang="en-US" sz="1200" i="1" kern="1200" dirty="0">
                <a:solidFill>
                  <a:schemeClr val="tx1"/>
                </a:solidFill>
                <a:effectLst/>
                <a:latin typeface="+mn-lt"/>
                <a:ea typeface="+mn-ea"/>
                <a:cs typeface="+mn-cs"/>
              </a:rPr>
              <a:t> arti : </a:t>
            </a:r>
            <a:r>
              <a:rPr lang="en-US" dirty="0" err="1"/>
              <a:t>menangkap</a:t>
            </a:r>
            <a:r>
              <a:rPr lang="en-US" dirty="0"/>
              <a:t> </a:t>
            </a:r>
            <a:r>
              <a:rPr lang="en-US" dirty="0" err="1"/>
              <a:t>makna</a:t>
            </a:r>
            <a:r>
              <a:rPr lang="en-US" dirty="0"/>
              <a:t> dan </a:t>
            </a:r>
            <a:r>
              <a:rPr lang="en-US" dirty="0" err="1"/>
              <a:t>konteksnya</a:t>
            </a:r>
            <a:r>
              <a:rPr lang="en-US" dirty="0"/>
              <a:t> di dunia </a:t>
            </a:r>
            <a:r>
              <a:rPr lang="en-US" dirty="0" err="1"/>
              <a:t>nyata</a:t>
            </a:r>
            <a:endParaRPr lang="en-US" sz="1200" i="1" kern="1200" dirty="0">
              <a:solidFill>
                <a:schemeClr val="tx1"/>
              </a:solidFill>
              <a:effectLst/>
              <a:latin typeface="+mn-lt"/>
              <a:ea typeface="+mn-ea"/>
              <a:cs typeface="+mn-cs"/>
            </a:endParaRPr>
          </a:p>
          <a:p>
            <a:endParaRPr lang="en-US" sz="1200" i="1"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"Dari </a:t>
            </a:r>
            <a:r>
              <a:rPr lang="en-US" sz="1200" i="1" kern="1200" dirty="0" err="1">
                <a:solidFill>
                  <a:schemeClr val="tx1"/>
                </a:solidFill>
                <a:effectLst/>
                <a:latin typeface="+mn-lt"/>
                <a:ea typeface="+mn-ea"/>
                <a:cs typeface="+mn-cs"/>
              </a:rPr>
              <a:t>tiga</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identifikasi</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masalah</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tersebut</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saya</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merumuskan</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empat</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pertanyaan</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penelitian</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bagaimana</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membangun</a:t>
            </a:r>
            <a:r>
              <a:rPr lang="en-US" sz="1200" i="1" kern="1200" dirty="0">
                <a:solidFill>
                  <a:schemeClr val="tx1"/>
                </a:solidFill>
                <a:effectLst/>
                <a:latin typeface="+mn-lt"/>
                <a:ea typeface="+mn-ea"/>
                <a:cs typeface="+mn-cs"/>
              </a:rPr>
              <a:t> model CTM dan </a:t>
            </a:r>
            <a:r>
              <a:rPr lang="en-US" sz="1200" i="1" kern="1200" dirty="0" err="1">
                <a:solidFill>
                  <a:schemeClr val="tx1"/>
                </a:solidFill>
                <a:effectLst/>
                <a:latin typeface="+mn-lt"/>
                <a:ea typeface="+mn-ea"/>
                <a:cs typeface="+mn-cs"/>
              </a:rPr>
              <a:t>BERTopic</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untuk</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teks</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terjemahan</a:t>
            </a:r>
            <a:r>
              <a:rPr lang="en-US" sz="1200" i="1" kern="1200" dirty="0">
                <a:solidFill>
                  <a:schemeClr val="tx1"/>
                </a:solidFill>
                <a:effectLst/>
                <a:latin typeface="+mn-lt"/>
                <a:ea typeface="+mn-ea"/>
                <a:cs typeface="+mn-cs"/>
              </a:rPr>
              <a:t> Al-Qur'an; </a:t>
            </a:r>
            <a:r>
              <a:rPr lang="en-US" sz="1200" i="1" kern="1200" dirty="0" err="1">
                <a:solidFill>
                  <a:schemeClr val="tx1"/>
                </a:solidFill>
                <a:effectLst/>
                <a:latin typeface="+mn-lt"/>
                <a:ea typeface="+mn-ea"/>
                <a:cs typeface="+mn-cs"/>
              </a:rPr>
              <a:t>bagaimana</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mengukur</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kualitas</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topik</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berdasarkan</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metrik</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koherensi</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seperti</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C_v</a:t>
            </a:r>
            <a:r>
              <a:rPr lang="en-US" sz="1200" i="1" kern="1200" dirty="0">
                <a:solidFill>
                  <a:schemeClr val="tx1"/>
                </a:solidFill>
                <a:effectLst/>
                <a:latin typeface="+mn-lt"/>
                <a:ea typeface="+mn-ea"/>
                <a:cs typeface="+mn-cs"/>
              </a:rPr>
              <a:t>, UMass, dan NPMI…</a:t>
            </a:r>
            <a:endParaRPr lang="en-US" dirty="0"/>
          </a:p>
        </p:txBody>
      </p:sp>
      <p:sp>
        <p:nvSpPr>
          <p:cNvPr id="4" name="Slide Number Placeholder 3"/>
          <p:cNvSpPr>
            <a:spLocks noGrp="1"/>
          </p:cNvSpPr>
          <p:nvPr>
            <p:ph type="sldNum" sz="quarter" idx="5"/>
          </p:nvPr>
        </p:nvSpPr>
        <p:spPr/>
        <p:txBody>
          <a:bodyPr/>
          <a:lstStyle/>
          <a:p>
            <a:fld id="{0E4F9FF8-F730-48A2-A15C-4DAF3EEA9E4C}" type="slidenum">
              <a:rPr lang="en-US" smtClean="0"/>
              <a:t>3</a:t>
            </a:fld>
            <a:endParaRPr lang="en-US"/>
          </a:p>
        </p:txBody>
      </p:sp>
    </p:spTree>
    <p:extLst>
      <p:ext uri="{BB962C8B-B14F-4D97-AF65-F5344CB8AC3E}">
        <p14:creationId xmlns:p14="http://schemas.microsoft.com/office/powerpoint/2010/main" val="33861819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i="1"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kern="1200" dirty="0">
                <a:solidFill>
                  <a:schemeClr val="tx1"/>
                </a:solidFill>
                <a:effectLst/>
                <a:latin typeface="+mn-lt"/>
                <a:ea typeface="+mn-ea"/>
                <a:cs typeface="+mn-cs"/>
              </a:rPr>
              <a:t>Tujuan </a:t>
            </a:r>
            <a:r>
              <a:rPr lang="en-US" sz="1200" i="1" kern="1200" dirty="0" err="1">
                <a:solidFill>
                  <a:schemeClr val="tx1"/>
                </a:solidFill>
                <a:effectLst/>
                <a:latin typeface="+mn-lt"/>
                <a:ea typeface="+mn-ea"/>
                <a:cs typeface="+mn-cs"/>
              </a:rPr>
              <a:t>penelitian</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ini</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ada</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tiga</a:t>
            </a:r>
            <a:r>
              <a:rPr lang="en-US" sz="1200" i="1" kern="1200" dirty="0">
                <a:solidFill>
                  <a:schemeClr val="tx1"/>
                </a:solidFill>
                <a:effectLst/>
                <a:latin typeface="+mn-lt"/>
                <a:ea typeface="+mn-ea"/>
                <a:cs typeface="+mn-cs"/>
              </a:rPr>
              <a:t> yang </a:t>
            </a:r>
            <a:r>
              <a:rPr lang="en-US" sz="1200" i="1" kern="1200" dirty="0" err="1">
                <a:solidFill>
                  <a:schemeClr val="tx1"/>
                </a:solidFill>
                <a:effectLst/>
                <a:latin typeface="+mn-lt"/>
                <a:ea typeface="+mn-ea"/>
                <a:cs typeface="+mn-cs"/>
              </a:rPr>
              <a:t>saya</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kutip</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dari</a:t>
            </a:r>
            <a:r>
              <a:rPr lang="en-US" sz="1200" i="1" kern="1200" dirty="0">
                <a:solidFill>
                  <a:schemeClr val="tx1"/>
                </a:solidFill>
                <a:effectLst/>
                <a:latin typeface="+mn-lt"/>
                <a:ea typeface="+mn-ea"/>
                <a:cs typeface="+mn-cs"/>
              </a:rPr>
              <a:t> tulisan </a:t>
            </a:r>
            <a:r>
              <a:rPr lang="en-US" sz="1200" i="1" kern="1200" dirty="0" err="1">
                <a:solidFill>
                  <a:schemeClr val="tx1"/>
                </a:solidFill>
                <a:effectLst/>
                <a:latin typeface="+mn-lt"/>
                <a:ea typeface="+mn-ea"/>
                <a:cs typeface="+mn-cs"/>
              </a:rPr>
              <a:t>saya</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diantaranya</a:t>
            </a:r>
            <a:r>
              <a:rPr lang="en-US" sz="1200" i="1" kern="1200" dirty="0">
                <a:solidFill>
                  <a:schemeClr val="tx1"/>
                </a:solidFill>
                <a:effectLst/>
                <a:latin typeface="+mn-lt"/>
                <a:ea typeface="+mn-ea"/>
                <a:cs typeface="+mn-cs"/>
              </a:rPr>
              <a:t> :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i="1"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i="1"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kern="1200" dirty="0">
                <a:solidFill>
                  <a:schemeClr val="tx1"/>
                </a:solidFill>
                <a:effectLst/>
                <a:latin typeface="+mn-lt"/>
                <a:ea typeface="+mn-ea"/>
                <a:cs typeface="+mn-cs"/>
              </a:rPr>
              <a:t>Dari </a:t>
            </a:r>
            <a:r>
              <a:rPr lang="en-US" sz="1200" i="1" kern="1200" dirty="0" err="1">
                <a:solidFill>
                  <a:schemeClr val="tx1"/>
                </a:solidFill>
                <a:effectLst/>
                <a:latin typeface="+mn-lt"/>
                <a:ea typeface="+mn-ea"/>
                <a:cs typeface="+mn-cs"/>
              </a:rPr>
              <a:t>sisi</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manfaat</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penelitian</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ini</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saya</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bagi</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menjadi</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tiga</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aspek</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Secara</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akademik</a:t>
            </a:r>
            <a:r>
              <a:rPr lang="en-US" sz="1200" i="1" kern="1200" dirty="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i="1"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kern="1200" dirty="0" err="1">
                <a:solidFill>
                  <a:schemeClr val="tx1"/>
                </a:solidFill>
                <a:effectLst/>
                <a:latin typeface="+mn-lt"/>
                <a:ea typeface="+mn-ea"/>
                <a:cs typeface="+mn-cs"/>
              </a:rPr>
              <a:t>Secara</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praktis</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penelitian</a:t>
            </a:r>
            <a:r>
              <a:rPr lang="en-US" sz="1200" i="1" kern="1200" dirty="0">
                <a:solidFill>
                  <a:schemeClr val="tx1"/>
                </a:solidFill>
                <a:effectLst/>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kern="1200" dirty="0">
                <a:solidFill>
                  <a:schemeClr val="tx1"/>
                </a:solidFill>
                <a:effectLst/>
                <a:latin typeface="+mn-lt"/>
                <a:ea typeface="+mn-ea"/>
                <a:cs typeface="+mn-cs"/>
              </a:rPr>
              <a:t>Dan </a:t>
            </a:r>
            <a:r>
              <a:rPr lang="en-US" sz="1200" i="1" kern="1200" dirty="0" err="1">
                <a:solidFill>
                  <a:schemeClr val="tx1"/>
                </a:solidFill>
                <a:effectLst/>
                <a:latin typeface="+mn-lt"/>
                <a:ea typeface="+mn-ea"/>
                <a:cs typeface="+mn-cs"/>
              </a:rPr>
              <a:t>secara</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teknologi</a:t>
            </a:r>
            <a:r>
              <a:rPr lang="en-US" sz="1200" i="1" kern="1200" dirty="0">
                <a:solidFill>
                  <a:schemeClr val="tx1"/>
                </a:solidFill>
                <a:effectLst/>
                <a:latin typeface="+mn-lt"/>
                <a:ea typeface="+mn-ea"/>
                <a:cs typeface="+mn-cs"/>
              </a:rPr>
              <a:t>..</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0E4F9FF8-F730-48A2-A15C-4DAF3EEA9E4C}" type="slidenum">
              <a:rPr lang="en-US" smtClean="0"/>
              <a:t>4</a:t>
            </a:fld>
            <a:endParaRPr lang="en-US"/>
          </a:p>
        </p:txBody>
      </p:sp>
    </p:spTree>
    <p:extLst>
      <p:ext uri="{BB962C8B-B14F-4D97-AF65-F5344CB8AC3E}">
        <p14:creationId xmlns:p14="http://schemas.microsoft.com/office/powerpoint/2010/main" val="26356680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err="1">
                <a:solidFill>
                  <a:srgbClr val="222222"/>
                </a:solidFill>
                <a:latin typeface="Calibri" pitchFamily="34" charset="0"/>
                <a:ea typeface="Calibri" pitchFamily="34" charset="-122"/>
                <a:cs typeface="Calibri" pitchFamily="34" charset="-120"/>
              </a:rPr>
              <a:t>Analogi</a:t>
            </a:r>
            <a:r>
              <a:rPr lang="en-US" sz="1200" dirty="0">
                <a:solidFill>
                  <a:srgbClr val="222222"/>
                </a:solidFill>
                <a:latin typeface="Calibri" pitchFamily="34" charset="0"/>
                <a:ea typeface="Calibri" pitchFamily="34" charset="-122"/>
                <a:cs typeface="Calibri" pitchFamily="34" charset="-120"/>
              </a:rPr>
              <a:t> CTM: </a:t>
            </a:r>
            <a:r>
              <a:rPr lang="en-US" sz="1200" dirty="0" err="1">
                <a:solidFill>
                  <a:srgbClr val="222222"/>
                </a:solidFill>
                <a:latin typeface="Calibri" pitchFamily="34" charset="0"/>
                <a:ea typeface="Calibri" pitchFamily="34" charset="-122"/>
                <a:cs typeface="Calibri" pitchFamily="34" charset="-120"/>
              </a:rPr>
              <a:t>menebak</a:t>
            </a:r>
            <a:r>
              <a:rPr lang="en-US" sz="1200" dirty="0">
                <a:solidFill>
                  <a:srgbClr val="222222"/>
                </a:solidFill>
                <a:latin typeface="Calibri" pitchFamily="34" charset="0"/>
                <a:ea typeface="Calibri" pitchFamily="34" charset="-122"/>
                <a:cs typeface="Calibri" pitchFamily="34" charset="-120"/>
              </a:rPr>
              <a:t> </a:t>
            </a:r>
            <a:r>
              <a:rPr lang="en-US" sz="1200" dirty="0" err="1">
                <a:solidFill>
                  <a:srgbClr val="222222"/>
                </a:solidFill>
                <a:latin typeface="Calibri" pitchFamily="34" charset="0"/>
                <a:ea typeface="Calibri" pitchFamily="34" charset="-122"/>
                <a:cs typeface="Calibri" pitchFamily="34" charset="-120"/>
              </a:rPr>
              <a:t>resep</a:t>
            </a:r>
            <a:r>
              <a:rPr lang="en-US" sz="1200" dirty="0">
                <a:solidFill>
                  <a:srgbClr val="222222"/>
                </a:solidFill>
                <a:latin typeface="Calibri" pitchFamily="34" charset="0"/>
                <a:ea typeface="Calibri" pitchFamily="34" charset="-122"/>
                <a:cs typeface="Calibri" pitchFamily="34" charset="-120"/>
              </a:rPr>
              <a:t> </a:t>
            </a:r>
            <a:r>
              <a:rPr lang="en-US" sz="1200" dirty="0" err="1">
                <a:solidFill>
                  <a:srgbClr val="222222"/>
                </a:solidFill>
                <a:latin typeface="Calibri" pitchFamily="34" charset="0"/>
                <a:ea typeface="Calibri" pitchFamily="34" charset="-122"/>
                <a:cs typeface="Calibri" pitchFamily="34" charset="-120"/>
              </a:rPr>
              <a:t>dari</a:t>
            </a:r>
            <a:r>
              <a:rPr lang="en-US" sz="1200" dirty="0">
                <a:solidFill>
                  <a:srgbClr val="222222"/>
                </a:solidFill>
                <a:latin typeface="Calibri" pitchFamily="34" charset="0"/>
                <a:ea typeface="Calibri" pitchFamily="34" charset="-122"/>
                <a:cs typeface="Calibri" pitchFamily="34" charset="-120"/>
              </a:rPr>
              <a:t> </a:t>
            </a:r>
            <a:r>
              <a:rPr lang="en-US" sz="1200" dirty="0" err="1">
                <a:solidFill>
                  <a:srgbClr val="222222"/>
                </a:solidFill>
                <a:latin typeface="Calibri" pitchFamily="34" charset="0"/>
                <a:ea typeface="Calibri" pitchFamily="34" charset="-122"/>
                <a:cs typeface="Calibri" pitchFamily="34" charset="-120"/>
              </a:rPr>
              <a:t>mencicipi</a:t>
            </a:r>
            <a:r>
              <a:rPr lang="en-US" sz="1200" dirty="0">
                <a:solidFill>
                  <a:srgbClr val="222222"/>
                </a:solidFill>
                <a:latin typeface="Calibri" pitchFamily="34" charset="0"/>
                <a:ea typeface="Calibri" pitchFamily="34" charset="-122"/>
                <a:cs typeface="Calibri" pitchFamily="34" charset="-120"/>
              </a:rPr>
              <a:t> </a:t>
            </a:r>
            <a:r>
              <a:rPr lang="en-US" sz="1200" dirty="0" err="1">
                <a:solidFill>
                  <a:srgbClr val="222222"/>
                </a:solidFill>
                <a:latin typeface="Calibri" pitchFamily="34" charset="0"/>
                <a:ea typeface="Calibri" pitchFamily="34" charset="-122"/>
                <a:cs typeface="Calibri" pitchFamily="34" charset="-120"/>
              </a:rPr>
              <a:t>banyak</a:t>
            </a:r>
            <a:r>
              <a:rPr lang="en-US" sz="1200" dirty="0">
                <a:solidFill>
                  <a:srgbClr val="222222"/>
                </a:solidFill>
                <a:latin typeface="Calibri" pitchFamily="34" charset="0"/>
                <a:ea typeface="Calibri" pitchFamily="34" charset="-122"/>
                <a:cs typeface="Calibri" pitchFamily="34" charset="-120"/>
              </a:rPr>
              <a:t> </a:t>
            </a:r>
            <a:r>
              <a:rPr lang="en-US" sz="1200" dirty="0" err="1">
                <a:solidFill>
                  <a:srgbClr val="222222"/>
                </a:solidFill>
                <a:latin typeface="Calibri" pitchFamily="34" charset="0"/>
                <a:ea typeface="Calibri" pitchFamily="34" charset="-122"/>
                <a:cs typeface="Calibri" pitchFamily="34" charset="-120"/>
              </a:rPr>
              <a:t>masakan</a:t>
            </a:r>
            <a:r>
              <a:rPr lang="en-US" sz="1200" dirty="0">
                <a:solidFill>
                  <a:srgbClr val="222222"/>
                </a:solidFill>
                <a:latin typeface="Calibri" pitchFamily="34" charset="0"/>
                <a:ea typeface="Calibri" pitchFamily="34" charset="-122"/>
                <a:cs typeface="Calibri" pitchFamily="34" charset="-120"/>
              </a:rPr>
              <a:t> — </a:t>
            </a:r>
            <a:r>
              <a:rPr lang="en-US" sz="1200" dirty="0" err="1">
                <a:solidFill>
                  <a:srgbClr val="222222"/>
                </a:solidFill>
                <a:latin typeface="Calibri" pitchFamily="34" charset="0"/>
                <a:ea typeface="Calibri" pitchFamily="34" charset="-122"/>
                <a:cs typeface="Calibri" pitchFamily="34" charset="-120"/>
              </a:rPr>
              <a:t>tiap</a:t>
            </a:r>
            <a:r>
              <a:rPr lang="en-US" sz="1200" dirty="0">
                <a:solidFill>
                  <a:srgbClr val="222222"/>
                </a:solidFill>
                <a:latin typeface="Calibri" pitchFamily="34" charset="0"/>
                <a:ea typeface="Calibri" pitchFamily="34" charset="-122"/>
                <a:cs typeface="Calibri" pitchFamily="34" charset="-120"/>
              </a:rPr>
              <a:t> </a:t>
            </a:r>
            <a:r>
              <a:rPr lang="en-US" sz="1200" dirty="0" err="1">
                <a:solidFill>
                  <a:srgbClr val="222222"/>
                </a:solidFill>
                <a:latin typeface="Calibri" pitchFamily="34" charset="0"/>
                <a:ea typeface="Calibri" pitchFamily="34" charset="-122"/>
                <a:cs typeface="Calibri" pitchFamily="34" charset="-120"/>
              </a:rPr>
              <a:t>masakan</a:t>
            </a:r>
            <a:r>
              <a:rPr lang="en-US" sz="1200" dirty="0">
                <a:solidFill>
                  <a:srgbClr val="222222"/>
                </a:solidFill>
                <a:latin typeface="Calibri" pitchFamily="34" charset="0"/>
                <a:ea typeface="Calibri" pitchFamily="34" charset="-122"/>
                <a:cs typeface="Calibri" pitchFamily="34" charset="-120"/>
              </a:rPr>
              <a:t> </a:t>
            </a:r>
            <a:r>
              <a:rPr lang="en-US" sz="1200" dirty="0" err="1">
                <a:solidFill>
                  <a:srgbClr val="222222"/>
                </a:solidFill>
                <a:latin typeface="Calibri" pitchFamily="34" charset="0"/>
                <a:ea typeface="Calibri" pitchFamily="34" charset="-122"/>
                <a:cs typeface="Calibri" pitchFamily="34" charset="-120"/>
              </a:rPr>
              <a:t>adalah</a:t>
            </a:r>
            <a:r>
              <a:rPr lang="en-US" sz="1200" dirty="0">
                <a:solidFill>
                  <a:srgbClr val="222222"/>
                </a:solidFill>
                <a:latin typeface="Calibri" pitchFamily="34" charset="0"/>
                <a:ea typeface="Calibri" pitchFamily="34" charset="-122"/>
                <a:cs typeface="Calibri" pitchFamily="34" charset="-120"/>
              </a:rPr>
              <a:t> </a:t>
            </a:r>
            <a:r>
              <a:rPr lang="en-US" sz="1200" dirty="0" err="1">
                <a:solidFill>
                  <a:srgbClr val="222222"/>
                </a:solidFill>
                <a:latin typeface="Calibri" pitchFamily="34" charset="0"/>
                <a:ea typeface="Calibri" pitchFamily="34" charset="-122"/>
                <a:cs typeface="Calibri" pitchFamily="34" charset="-120"/>
              </a:rPr>
              <a:t>campuran</a:t>
            </a:r>
            <a:r>
              <a:rPr lang="en-US" sz="1200" dirty="0">
                <a:solidFill>
                  <a:srgbClr val="222222"/>
                </a:solidFill>
                <a:latin typeface="Calibri" pitchFamily="34" charset="0"/>
                <a:ea typeface="Calibri" pitchFamily="34" charset="-122"/>
                <a:cs typeface="Calibri" pitchFamily="34" charset="-120"/>
              </a:rPr>
              <a:t> </a:t>
            </a:r>
            <a:r>
              <a:rPr lang="en-US" sz="1200" dirty="0" err="1">
                <a:solidFill>
                  <a:srgbClr val="222222"/>
                </a:solidFill>
                <a:latin typeface="Calibri" pitchFamily="34" charset="0"/>
                <a:ea typeface="Calibri" pitchFamily="34" charset="-122"/>
                <a:cs typeface="Calibri" pitchFamily="34" charset="-120"/>
              </a:rPr>
              <a:t>beberapa</a:t>
            </a:r>
            <a:r>
              <a:rPr lang="en-US" sz="1200" dirty="0">
                <a:solidFill>
                  <a:srgbClr val="222222"/>
                </a:solidFill>
                <a:latin typeface="Calibri" pitchFamily="34" charset="0"/>
                <a:ea typeface="Calibri" pitchFamily="34" charset="-122"/>
                <a:cs typeface="Calibri" pitchFamily="34" charset="-120"/>
              </a:rPr>
              <a:t> ‘</a:t>
            </a:r>
            <a:r>
              <a:rPr lang="en-US" sz="1200" dirty="0" err="1">
                <a:solidFill>
                  <a:srgbClr val="222222"/>
                </a:solidFill>
                <a:latin typeface="Calibri" pitchFamily="34" charset="0"/>
                <a:ea typeface="Calibri" pitchFamily="34" charset="-122"/>
                <a:cs typeface="Calibri" pitchFamily="34" charset="-120"/>
              </a:rPr>
              <a:t>bumbu</a:t>
            </a:r>
            <a:r>
              <a:rPr lang="en-US" sz="1200" dirty="0">
                <a:solidFill>
                  <a:srgbClr val="222222"/>
                </a:solidFill>
                <a:latin typeface="Calibri" pitchFamily="34" charset="0"/>
                <a:ea typeface="Calibri" pitchFamily="34" charset="-122"/>
                <a:cs typeface="Calibri" pitchFamily="34" charset="-120"/>
              </a:rPr>
              <a:t> </a:t>
            </a:r>
            <a:r>
              <a:rPr lang="en-US" sz="1200" dirty="0" err="1">
                <a:solidFill>
                  <a:srgbClr val="222222"/>
                </a:solidFill>
                <a:latin typeface="Calibri" pitchFamily="34" charset="0"/>
                <a:ea typeface="Calibri" pitchFamily="34" charset="-122"/>
                <a:cs typeface="Calibri" pitchFamily="34" charset="-120"/>
              </a:rPr>
              <a:t>dasar</a:t>
            </a:r>
            <a:r>
              <a:rPr lang="en-US" sz="1200" dirty="0">
                <a:solidFill>
                  <a:srgbClr val="222222"/>
                </a:solidFill>
                <a:latin typeface="Calibri" pitchFamily="34" charset="0"/>
                <a:ea typeface="Calibri" pitchFamily="34" charset="-122"/>
                <a:cs typeface="Calibri" pitchFamily="34" charset="-120"/>
              </a:rPr>
              <a:t>’.</a:t>
            </a: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rgbClr val="222222"/>
              </a:solidFill>
              <a:latin typeface="Calibri" pitchFamily="34" charset="0"/>
              <a:ea typeface="Calibri" pitchFamily="34" charset="-122"/>
              <a:cs typeface="Calibr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err="1">
                <a:solidFill>
                  <a:srgbClr val="222222"/>
                </a:solidFill>
                <a:latin typeface="Calibri" pitchFamily="34" charset="0"/>
                <a:ea typeface="Calibri" pitchFamily="34" charset="-122"/>
                <a:cs typeface="Calibri" pitchFamily="34" charset="-120"/>
              </a:rPr>
              <a:t>Analogi</a:t>
            </a:r>
            <a:r>
              <a:rPr lang="en-US" sz="1200" dirty="0">
                <a:solidFill>
                  <a:srgbClr val="222222"/>
                </a:solidFill>
                <a:latin typeface="Calibri" pitchFamily="34" charset="0"/>
                <a:ea typeface="Calibri" pitchFamily="34" charset="-122"/>
                <a:cs typeface="Calibri" pitchFamily="34" charset="-120"/>
              </a:rPr>
              <a:t> </a:t>
            </a:r>
            <a:r>
              <a:rPr lang="en-US" sz="1200" dirty="0" err="1">
                <a:solidFill>
                  <a:srgbClr val="222222"/>
                </a:solidFill>
                <a:latin typeface="Calibri" pitchFamily="34" charset="0"/>
                <a:ea typeface="Calibri" pitchFamily="34" charset="-122"/>
                <a:cs typeface="Calibri" pitchFamily="34" charset="-120"/>
              </a:rPr>
              <a:t>Bertopic</a:t>
            </a:r>
            <a:r>
              <a:rPr lang="en-US" sz="1200" dirty="0">
                <a:solidFill>
                  <a:srgbClr val="222222"/>
                </a:solidFill>
                <a:latin typeface="Calibri" pitchFamily="34" charset="0"/>
                <a:ea typeface="Calibri" pitchFamily="34" charset="-122"/>
                <a:cs typeface="Calibri" pitchFamily="34" charset="-120"/>
              </a:rPr>
              <a:t> : </a:t>
            </a:r>
            <a:r>
              <a:rPr lang="en-US" sz="1200" dirty="0" err="1">
                <a:solidFill>
                  <a:srgbClr val="222222"/>
                </a:solidFill>
                <a:latin typeface="Calibri" pitchFamily="34" charset="0"/>
                <a:ea typeface="Calibri" pitchFamily="34" charset="-122"/>
                <a:cs typeface="Calibri" pitchFamily="34" charset="-120"/>
              </a:rPr>
              <a:t>menyusun</a:t>
            </a:r>
            <a:r>
              <a:rPr lang="en-US" sz="1200" dirty="0">
                <a:solidFill>
                  <a:srgbClr val="222222"/>
                </a:solidFill>
                <a:latin typeface="Calibri" pitchFamily="34" charset="0"/>
                <a:ea typeface="Calibri" pitchFamily="34" charset="-122"/>
                <a:cs typeface="Calibri" pitchFamily="34" charset="-120"/>
              </a:rPr>
              <a:t> </a:t>
            </a:r>
            <a:r>
              <a:rPr lang="en-US" sz="1200" dirty="0" err="1">
                <a:solidFill>
                  <a:srgbClr val="222222"/>
                </a:solidFill>
                <a:latin typeface="Calibri" pitchFamily="34" charset="0"/>
                <a:ea typeface="Calibri" pitchFamily="34" charset="-122"/>
                <a:cs typeface="Calibri" pitchFamily="34" charset="-120"/>
              </a:rPr>
              <a:t>ulang</a:t>
            </a:r>
            <a:r>
              <a:rPr lang="en-US" sz="1200" dirty="0">
                <a:solidFill>
                  <a:srgbClr val="222222"/>
                </a:solidFill>
                <a:latin typeface="Calibri" pitchFamily="34" charset="0"/>
                <a:ea typeface="Calibri" pitchFamily="34" charset="-122"/>
                <a:cs typeface="Calibri" pitchFamily="34" charset="-120"/>
              </a:rPr>
              <a:t> </a:t>
            </a:r>
            <a:r>
              <a:rPr lang="en-US" sz="1200" dirty="0" err="1">
                <a:solidFill>
                  <a:srgbClr val="222222"/>
                </a:solidFill>
                <a:latin typeface="Calibri" pitchFamily="34" charset="0"/>
                <a:ea typeface="Calibri" pitchFamily="34" charset="-122"/>
                <a:cs typeface="Calibri" pitchFamily="34" charset="-120"/>
              </a:rPr>
              <a:t>rak</a:t>
            </a:r>
            <a:r>
              <a:rPr lang="en-US" sz="1200" dirty="0">
                <a:solidFill>
                  <a:srgbClr val="222222"/>
                </a:solidFill>
                <a:latin typeface="Calibri" pitchFamily="34" charset="0"/>
                <a:ea typeface="Calibri" pitchFamily="34" charset="-122"/>
                <a:cs typeface="Calibri" pitchFamily="34" charset="-120"/>
              </a:rPr>
              <a:t> </a:t>
            </a:r>
            <a:r>
              <a:rPr lang="en-US" sz="1200" dirty="0" err="1">
                <a:solidFill>
                  <a:srgbClr val="222222"/>
                </a:solidFill>
                <a:latin typeface="Calibri" pitchFamily="34" charset="0"/>
                <a:ea typeface="Calibri" pitchFamily="34" charset="-122"/>
                <a:cs typeface="Calibri" pitchFamily="34" charset="-120"/>
              </a:rPr>
              <a:t>perpustakaan</a:t>
            </a:r>
            <a:r>
              <a:rPr lang="en-US" sz="1200" dirty="0">
                <a:solidFill>
                  <a:srgbClr val="222222"/>
                </a:solidFill>
                <a:latin typeface="Calibri" pitchFamily="34" charset="0"/>
                <a:ea typeface="Calibri" pitchFamily="34" charset="-122"/>
                <a:cs typeface="Calibri" pitchFamily="34" charset="-120"/>
              </a:rPr>
              <a:t> </a:t>
            </a:r>
            <a:r>
              <a:rPr lang="en-US" sz="1200" dirty="0" err="1">
                <a:solidFill>
                  <a:srgbClr val="222222"/>
                </a:solidFill>
                <a:latin typeface="Calibri" pitchFamily="34" charset="0"/>
                <a:ea typeface="Calibri" pitchFamily="34" charset="-122"/>
                <a:cs typeface="Calibri" pitchFamily="34" charset="-120"/>
              </a:rPr>
              <a:t>berdasarkan</a:t>
            </a:r>
            <a:r>
              <a:rPr lang="en-US" sz="1200" dirty="0">
                <a:solidFill>
                  <a:srgbClr val="222222"/>
                </a:solidFill>
                <a:latin typeface="Calibri" pitchFamily="34" charset="0"/>
                <a:ea typeface="Calibri" pitchFamily="34" charset="-122"/>
                <a:cs typeface="Calibri" pitchFamily="34" charset="-120"/>
              </a:rPr>
              <a:t> </a:t>
            </a:r>
            <a:r>
              <a:rPr lang="en-US" sz="1200" dirty="0" err="1">
                <a:solidFill>
                  <a:srgbClr val="222222"/>
                </a:solidFill>
                <a:latin typeface="Calibri" pitchFamily="34" charset="0"/>
                <a:ea typeface="Calibri" pitchFamily="34" charset="-122"/>
                <a:cs typeface="Calibri" pitchFamily="34" charset="-120"/>
              </a:rPr>
              <a:t>isi</a:t>
            </a:r>
            <a:r>
              <a:rPr lang="en-US" sz="1200" dirty="0">
                <a:solidFill>
                  <a:srgbClr val="222222"/>
                </a:solidFill>
                <a:latin typeface="Calibri" pitchFamily="34" charset="0"/>
                <a:ea typeface="Calibri" pitchFamily="34" charset="-122"/>
                <a:cs typeface="Calibri" pitchFamily="34" charset="-120"/>
              </a:rPr>
              <a:t> </a:t>
            </a:r>
            <a:r>
              <a:rPr lang="en-US" sz="1200" dirty="0" err="1">
                <a:solidFill>
                  <a:srgbClr val="222222"/>
                </a:solidFill>
                <a:latin typeface="Calibri" pitchFamily="34" charset="0"/>
                <a:ea typeface="Calibri" pitchFamily="34" charset="-122"/>
                <a:cs typeface="Calibri" pitchFamily="34" charset="-120"/>
              </a:rPr>
              <a:t>buku</a:t>
            </a:r>
            <a:r>
              <a:rPr lang="en-US" sz="1200" dirty="0">
                <a:solidFill>
                  <a:srgbClr val="222222"/>
                </a:solidFill>
                <a:latin typeface="Calibri" pitchFamily="34" charset="0"/>
                <a:ea typeface="Calibri" pitchFamily="34" charset="-122"/>
                <a:cs typeface="Calibri" pitchFamily="34" charset="-120"/>
              </a:rPr>
              <a:t>, </a:t>
            </a:r>
            <a:r>
              <a:rPr lang="en-US" sz="1200" dirty="0" err="1">
                <a:solidFill>
                  <a:srgbClr val="222222"/>
                </a:solidFill>
                <a:latin typeface="Calibri" pitchFamily="34" charset="0"/>
                <a:ea typeface="Calibri" pitchFamily="34" charset="-122"/>
                <a:cs typeface="Calibri" pitchFamily="34" charset="-120"/>
              </a:rPr>
              <a:t>bukan</a:t>
            </a:r>
            <a:r>
              <a:rPr lang="en-US" sz="1200" dirty="0">
                <a:solidFill>
                  <a:srgbClr val="222222"/>
                </a:solidFill>
                <a:latin typeface="Calibri" pitchFamily="34" charset="0"/>
                <a:ea typeface="Calibri" pitchFamily="34" charset="-122"/>
                <a:cs typeface="Calibri" pitchFamily="34" charset="-120"/>
              </a:rPr>
              <a:t> </a:t>
            </a:r>
            <a:r>
              <a:rPr lang="en-US" sz="1200" dirty="0" err="1">
                <a:solidFill>
                  <a:srgbClr val="222222"/>
                </a:solidFill>
                <a:latin typeface="Calibri" pitchFamily="34" charset="0"/>
                <a:ea typeface="Calibri" pitchFamily="34" charset="-122"/>
                <a:cs typeface="Calibri" pitchFamily="34" charset="-120"/>
              </a:rPr>
              <a:t>judul</a:t>
            </a:r>
            <a:r>
              <a:rPr lang="en-US" sz="1200" dirty="0">
                <a:solidFill>
                  <a:srgbClr val="222222"/>
                </a:solidFill>
                <a:latin typeface="Calibri" pitchFamily="34" charset="0"/>
                <a:ea typeface="Calibri" pitchFamily="34" charset="-122"/>
                <a:cs typeface="Calibri" pitchFamily="34" charset="-120"/>
              </a:rPr>
              <a:t> </a:t>
            </a:r>
            <a:r>
              <a:rPr lang="en-US" sz="1200" dirty="0" err="1">
                <a:solidFill>
                  <a:srgbClr val="222222"/>
                </a:solidFill>
                <a:latin typeface="Calibri" pitchFamily="34" charset="0"/>
                <a:ea typeface="Calibri" pitchFamily="34" charset="-122"/>
                <a:cs typeface="Calibri" pitchFamily="34" charset="-120"/>
              </a:rPr>
              <a:t>sampulnya</a:t>
            </a:r>
            <a:r>
              <a:rPr lang="en-US" sz="1200" dirty="0">
                <a:solidFill>
                  <a:srgbClr val="222222"/>
                </a:solidFill>
                <a:latin typeface="Calibri" pitchFamily="34" charset="0"/>
                <a:ea typeface="Calibri" pitchFamily="34" charset="-122"/>
                <a:cs typeface="Calibri" pitchFamily="34" charset="-120"/>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rgbClr val="222222"/>
              </a:solidFill>
              <a:latin typeface="Calibri" pitchFamily="34" charset="0"/>
              <a:ea typeface="Calibri" pitchFamily="34" charset="-122"/>
              <a:cs typeface="Calibr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err="1"/>
              <a:t>Dokumen</a:t>
            </a:r>
            <a:r>
              <a:rPr lang="en-US" sz="1200" dirty="0"/>
              <a:t> -&gt; Sentence Transformer (Embedding)-&gt;UMAP (</a:t>
            </a:r>
            <a:r>
              <a:rPr lang="en-US" sz="1200" dirty="0" err="1"/>
              <a:t>Reduksi</a:t>
            </a:r>
            <a:r>
              <a:rPr lang="en-US" sz="1200" dirty="0"/>
              <a:t> </a:t>
            </a:r>
            <a:r>
              <a:rPr lang="en-US" sz="1200" dirty="0" err="1"/>
              <a:t>Dimensi</a:t>
            </a:r>
            <a:r>
              <a:rPr lang="en-US" sz="1200" dirty="0"/>
              <a:t>)-&gt;HDBSCAN (Clustering)-&gt;Topic -1 (Outlier)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r>
              <a:rPr lang="en-US" dirty="0" err="1"/>
              <a:t>Berikut</a:t>
            </a:r>
            <a:r>
              <a:rPr lang="en-US" dirty="0"/>
              <a:t> </a:t>
            </a:r>
            <a:r>
              <a:rPr lang="en-US" dirty="0" err="1"/>
              <a:t>adalah</a:t>
            </a:r>
            <a:r>
              <a:rPr lang="en-US" dirty="0"/>
              <a:t> </a:t>
            </a:r>
            <a:r>
              <a:rPr lang="en-US" dirty="0" err="1"/>
              <a:t>alur</a:t>
            </a:r>
            <a:r>
              <a:rPr lang="en-US" dirty="0"/>
              <a:t> </a:t>
            </a:r>
            <a:r>
              <a:rPr lang="en-US" dirty="0" err="1"/>
              <a:t>penelitian</a:t>
            </a:r>
            <a:r>
              <a:rPr lang="en-US" dirty="0"/>
              <a:t> </a:t>
            </a:r>
            <a:r>
              <a:rPr lang="en-US" dirty="0" err="1"/>
              <a:t>atau</a:t>
            </a:r>
            <a:r>
              <a:rPr lang="en-US" dirty="0"/>
              <a:t> research pipeline yang </a:t>
            </a:r>
            <a:r>
              <a:rPr lang="en-US" b="1" dirty="0" err="1"/>
              <a:t>saya</a:t>
            </a:r>
            <a:r>
              <a:rPr lang="en-US" b="1" dirty="0"/>
              <a:t> </a:t>
            </a:r>
            <a:r>
              <a:rPr lang="en-US" b="1" dirty="0" err="1"/>
              <a:t>terapkan</a:t>
            </a:r>
            <a:r>
              <a:rPr lang="en-US" dirty="0"/>
              <a:t>. </a:t>
            </a:r>
          </a:p>
          <a:p>
            <a:r>
              <a:rPr lang="en-US" dirty="0" err="1"/>
              <a:t>Dimulai</a:t>
            </a:r>
            <a:r>
              <a:rPr lang="en-US" dirty="0"/>
              <a:t> </a:t>
            </a:r>
            <a:r>
              <a:rPr lang="en-US" dirty="0" err="1"/>
              <a:t>dari</a:t>
            </a:r>
            <a:r>
              <a:rPr lang="en-US" dirty="0"/>
              <a:t> dataset </a:t>
            </a:r>
            <a:r>
              <a:rPr lang="en-US" dirty="0" err="1"/>
              <a:t>terjemahan</a:t>
            </a:r>
            <a:r>
              <a:rPr lang="en-US" dirty="0"/>
              <a:t> Al-Qur'an </a:t>
            </a:r>
            <a:r>
              <a:rPr lang="en-US" dirty="0" err="1"/>
              <a:t>berbahasa</a:t>
            </a:r>
            <a:r>
              <a:rPr lang="en-US" dirty="0"/>
              <a:t> Indonesia yang </a:t>
            </a:r>
            <a:r>
              <a:rPr lang="en-US" dirty="0" err="1"/>
              <a:t>mencakup</a:t>
            </a:r>
            <a:r>
              <a:rPr lang="en-US" dirty="0"/>
              <a:t> 114 </a:t>
            </a:r>
            <a:r>
              <a:rPr lang="en-US" dirty="0" err="1"/>
              <a:t>surat</a:t>
            </a:r>
            <a:r>
              <a:rPr lang="en-US" dirty="0"/>
              <a:t>,</a:t>
            </a:r>
          </a:p>
          <a:p>
            <a:endParaRPr lang="en-US" dirty="0"/>
          </a:p>
          <a:p>
            <a:r>
              <a:rPr lang="en-US" dirty="0"/>
              <a:t> </a:t>
            </a:r>
            <a:r>
              <a:rPr lang="en-US" dirty="0" err="1"/>
              <a:t>kemudian</a:t>
            </a:r>
            <a:r>
              <a:rPr lang="en-US" dirty="0"/>
              <a:t> </a:t>
            </a:r>
            <a:r>
              <a:rPr lang="en-US" dirty="0" err="1"/>
              <a:t>masuk</a:t>
            </a:r>
            <a:r>
              <a:rPr lang="en-US" dirty="0"/>
              <a:t> </a:t>
            </a:r>
            <a:r>
              <a:rPr lang="en-US" dirty="0" err="1"/>
              <a:t>ke</a:t>
            </a:r>
            <a:r>
              <a:rPr lang="en-US" dirty="0"/>
              <a:t> </a:t>
            </a:r>
            <a:r>
              <a:rPr lang="en-US" dirty="0" err="1"/>
              <a:t>tahap</a:t>
            </a:r>
            <a:r>
              <a:rPr lang="en-US" dirty="0"/>
              <a:t> preprocessing yang </a:t>
            </a:r>
            <a:r>
              <a:rPr lang="en-US" dirty="0" err="1"/>
              <a:t>meliputi</a:t>
            </a:r>
            <a:r>
              <a:rPr lang="en-US" dirty="0"/>
              <a:t> case folding, tokenization, </a:t>
            </a:r>
            <a:r>
              <a:rPr lang="en-US" dirty="0" err="1"/>
              <a:t>stopword</a:t>
            </a:r>
            <a:r>
              <a:rPr lang="en-US" dirty="0"/>
              <a:t> removal, dan stemming/lemmatization </a:t>
            </a:r>
            <a:r>
              <a:rPr lang="en-US" dirty="0" err="1"/>
              <a:t>menggunakan</a:t>
            </a:r>
            <a:r>
              <a:rPr lang="en-US" dirty="0"/>
              <a:t> </a:t>
            </a:r>
            <a:r>
              <a:rPr lang="en-US" dirty="0" err="1"/>
              <a:t>tiga</a:t>
            </a:r>
            <a:r>
              <a:rPr lang="en-US" dirty="0"/>
              <a:t> </a:t>
            </a:r>
            <a:r>
              <a:rPr lang="en-US" dirty="0" err="1"/>
              <a:t>varian</a:t>
            </a:r>
            <a:r>
              <a:rPr lang="en-US" dirty="0"/>
              <a:t>: preprocessing basic, no-stem, dan advanced.</a:t>
            </a:r>
          </a:p>
          <a:p>
            <a:endParaRPr lang="en-US" dirty="0"/>
          </a:p>
          <a:p>
            <a:r>
              <a:rPr lang="en-US" dirty="0"/>
              <a:t>Se</a:t>
            </a:r>
            <a:r>
              <a:rPr lang="en-US" b="1" dirty="0"/>
              <a:t>telah data </a:t>
            </a:r>
            <a:r>
              <a:rPr lang="en-US" b="1" dirty="0" err="1"/>
              <a:t>bersih</a:t>
            </a:r>
            <a:r>
              <a:rPr lang="en-US" b="1" dirty="0"/>
              <a:t>, </a:t>
            </a:r>
            <a:r>
              <a:rPr lang="en-US" b="1" dirty="0" err="1"/>
              <a:t>saya</a:t>
            </a:r>
            <a:r>
              <a:rPr lang="en-US" b="1" dirty="0"/>
              <a:t> </a:t>
            </a:r>
            <a:r>
              <a:rPr lang="en-US" b="1" dirty="0" err="1"/>
              <a:t>melakukan</a:t>
            </a:r>
            <a:r>
              <a:rPr lang="en-US" b="1" dirty="0"/>
              <a:t> topic modeling </a:t>
            </a:r>
            <a:r>
              <a:rPr lang="en-US" b="1" dirty="0" err="1"/>
              <a:t>dengan</a:t>
            </a:r>
            <a:r>
              <a:rPr lang="en-US" b="1" dirty="0"/>
              <a:t> dua </a:t>
            </a:r>
            <a:r>
              <a:rPr lang="en-US" b="1" dirty="0" err="1"/>
              <a:t>jalur</a:t>
            </a:r>
            <a:r>
              <a:rPr lang="en-US" b="1" dirty="0"/>
              <a:t> </a:t>
            </a:r>
            <a:r>
              <a:rPr lang="en-US" b="1" dirty="0" err="1"/>
              <a:t>paralel</a:t>
            </a:r>
            <a:r>
              <a:rPr lang="en-US" dirty="0"/>
              <a:t>. </a:t>
            </a:r>
          </a:p>
          <a:p>
            <a:endParaRPr lang="en-US" dirty="0"/>
          </a:p>
          <a:p>
            <a:r>
              <a:rPr lang="en-US" dirty="0"/>
              <a:t>Jalur CTM </a:t>
            </a:r>
            <a:r>
              <a:rPr lang="en-US" dirty="0" err="1"/>
              <a:t>melalui</a:t>
            </a:r>
            <a:r>
              <a:rPr lang="en-US" dirty="0"/>
              <a:t> </a:t>
            </a:r>
            <a:r>
              <a:rPr lang="en-US" dirty="0" err="1"/>
              <a:t>tahapan</a:t>
            </a:r>
            <a:r>
              <a:rPr lang="en-US" dirty="0"/>
              <a:t> </a:t>
            </a:r>
            <a:r>
              <a:rPr lang="en-US" dirty="0" err="1"/>
              <a:t>optimasi</a:t>
            </a:r>
            <a:r>
              <a:rPr lang="en-US" dirty="0"/>
              <a:t> </a:t>
            </a:r>
            <a:r>
              <a:rPr lang="en-US" dirty="0" err="1"/>
              <a:t>jumlah</a:t>
            </a:r>
            <a:r>
              <a:rPr lang="en-US" dirty="0"/>
              <a:t> </a:t>
            </a:r>
            <a:r>
              <a:rPr lang="en-US" dirty="0" err="1"/>
              <a:t>topik</a:t>
            </a:r>
            <a:r>
              <a:rPr lang="en-US" dirty="0"/>
              <a:t> K, variational inference, logistic-normal distribution, dan topic correlation. Jalur </a:t>
            </a:r>
            <a:r>
              <a:rPr lang="en-US" dirty="0" err="1"/>
              <a:t>BERTopic</a:t>
            </a:r>
            <a:r>
              <a:rPr lang="en-US" dirty="0"/>
              <a:t> </a:t>
            </a:r>
            <a:r>
              <a:rPr lang="en-US" dirty="0" err="1"/>
              <a:t>melalui</a:t>
            </a:r>
            <a:r>
              <a:rPr lang="en-US" dirty="0"/>
              <a:t> </a:t>
            </a:r>
            <a:r>
              <a:rPr lang="en-US" dirty="0" err="1"/>
              <a:t>tahapan</a:t>
            </a:r>
            <a:r>
              <a:rPr lang="en-US" dirty="0"/>
              <a:t> UMAP </a:t>
            </a:r>
            <a:r>
              <a:rPr lang="en-US" dirty="0" err="1"/>
              <a:t>untuk</a:t>
            </a:r>
            <a:r>
              <a:rPr lang="en-US" dirty="0"/>
              <a:t> </a:t>
            </a:r>
            <a:r>
              <a:rPr lang="en-US" dirty="0" err="1"/>
              <a:t>reduksi</a:t>
            </a:r>
            <a:r>
              <a:rPr lang="en-US" dirty="0"/>
              <a:t> </a:t>
            </a:r>
            <a:r>
              <a:rPr lang="en-US" dirty="0" err="1"/>
              <a:t>dimensi</a:t>
            </a:r>
            <a:r>
              <a:rPr lang="en-US" dirty="0"/>
              <a:t>, HDBSCAN </a:t>
            </a:r>
            <a:r>
              <a:rPr lang="en-US" dirty="0" err="1"/>
              <a:t>untuk</a:t>
            </a:r>
            <a:r>
              <a:rPr lang="en-US" dirty="0"/>
              <a:t> clustering, c-TF-IDF </a:t>
            </a:r>
            <a:r>
              <a:rPr lang="en-US" dirty="0" err="1"/>
              <a:t>untuk</a:t>
            </a:r>
            <a:r>
              <a:rPr lang="en-US" dirty="0"/>
              <a:t> </a:t>
            </a:r>
            <a:r>
              <a:rPr lang="en-US" dirty="0" err="1"/>
              <a:t>representasi</a:t>
            </a:r>
            <a:r>
              <a:rPr lang="en-US" dirty="0"/>
              <a:t> </a:t>
            </a:r>
            <a:r>
              <a:rPr lang="en-US" dirty="0" err="1"/>
              <a:t>topik</a:t>
            </a:r>
            <a:r>
              <a:rPr lang="en-US" dirty="0"/>
              <a:t>, dan topic extraction.</a:t>
            </a:r>
          </a:p>
          <a:p>
            <a:endParaRPr lang="en-US" dirty="0"/>
          </a:p>
          <a:p>
            <a:r>
              <a:rPr lang="en-US" dirty="0"/>
              <a:t>Hasil </a:t>
            </a:r>
            <a:r>
              <a:rPr lang="en-US" dirty="0" err="1"/>
              <a:t>kedua</a:t>
            </a:r>
            <a:r>
              <a:rPr lang="en-US" dirty="0"/>
              <a:t> model </a:t>
            </a:r>
            <a:r>
              <a:rPr lang="en-US" dirty="0" err="1"/>
              <a:t>dievaluasi</a:t>
            </a:r>
            <a:r>
              <a:rPr lang="en-US" dirty="0"/>
              <a:t> </a:t>
            </a:r>
            <a:r>
              <a:rPr lang="en-US" dirty="0" err="1"/>
              <a:t>menggunakan</a:t>
            </a:r>
            <a:r>
              <a:rPr lang="en-US" dirty="0"/>
              <a:t> coherence score, diversity score, NPMI, dan UMass.</a:t>
            </a:r>
          </a:p>
          <a:p>
            <a:endParaRPr lang="en-US" dirty="0"/>
          </a:p>
          <a:p>
            <a:r>
              <a:rPr lang="en-US" dirty="0"/>
              <a:t> </a:t>
            </a:r>
            <a:r>
              <a:rPr lang="en-US" dirty="0" err="1"/>
              <a:t>Selanjutnya</a:t>
            </a:r>
            <a:r>
              <a:rPr lang="en-US" dirty="0"/>
              <a:t>, </a:t>
            </a:r>
            <a:r>
              <a:rPr lang="en-US" dirty="0" err="1"/>
              <a:t>hasil</a:t>
            </a:r>
            <a:r>
              <a:rPr lang="en-US" dirty="0"/>
              <a:t> </a:t>
            </a:r>
            <a:r>
              <a:rPr lang="en-US" dirty="0" err="1"/>
              <a:t>topik</a:t>
            </a:r>
            <a:r>
              <a:rPr lang="en-US" dirty="0"/>
              <a:t> </a:t>
            </a:r>
            <a:r>
              <a:rPr lang="en-US" dirty="0" err="1"/>
              <a:t>dari</a:t>
            </a:r>
            <a:r>
              <a:rPr lang="en-US" dirty="0"/>
              <a:t> CTM dan </a:t>
            </a:r>
            <a:r>
              <a:rPr lang="en-US" dirty="0" err="1"/>
              <a:t>BERTopic</a:t>
            </a:r>
            <a:r>
              <a:rPr lang="en-US" dirty="0"/>
              <a:t> </a:t>
            </a:r>
            <a:r>
              <a:rPr lang="en-US" dirty="0" err="1"/>
              <a:t>digabungkan</a:t>
            </a:r>
            <a:r>
              <a:rPr lang="en-US" dirty="0"/>
              <a:t> </a:t>
            </a:r>
            <a:r>
              <a:rPr lang="en-US" dirty="0" err="1"/>
              <a:t>menggunakan</a:t>
            </a:r>
            <a:r>
              <a:rPr lang="en-US" dirty="0"/>
              <a:t> Jaccard Similarity,</a:t>
            </a:r>
          </a:p>
          <a:p>
            <a:endParaRPr lang="en-US" dirty="0"/>
          </a:p>
          <a:p>
            <a:r>
              <a:rPr lang="en-US" dirty="0"/>
              <a:t> </a:t>
            </a:r>
            <a:r>
              <a:rPr lang="en-US" dirty="0" err="1"/>
              <a:t>lalu</a:t>
            </a:r>
            <a:r>
              <a:rPr lang="en-US" dirty="0"/>
              <a:t> </a:t>
            </a:r>
            <a:r>
              <a:rPr lang="en-US" dirty="0" err="1"/>
              <a:t>masuk</a:t>
            </a:r>
            <a:r>
              <a:rPr lang="en-US" dirty="0"/>
              <a:t> </a:t>
            </a:r>
            <a:r>
              <a:rPr lang="en-US" dirty="0" err="1"/>
              <a:t>ke</a:t>
            </a:r>
            <a:r>
              <a:rPr lang="en-US" dirty="0"/>
              <a:t> </a:t>
            </a:r>
            <a:r>
              <a:rPr lang="en-US" dirty="0" err="1"/>
              <a:t>tahap</a:t>
            </a:r>
            <a:r>
              <a:rPr lang="en-US" dirty="0"/>
              <a:t> human interpretability </a:t>
            </a:r>
            <a:r>
              <a:rPr lang="en-US" dirty="0" err="1"/>
              <a:t>untuk</a:t>
            </a:r>
            <a:r>
              <a:rPr lang="en-US" dirty="0"/>
              <a:t> </a:t>
            </a:r>
            <a:r>
              <a:rPr lang="en-US" dirty="0" err="1"/>
              <a:t>menginterpretasikan</a:t>
            </a:r>
            <a:r>
              <a:rPr lang="en-US" dirty="0"/>
              <a:t> kata </a:t>
            </a:r>
            <a:r>
              <a:rPr lang="en-US" dirty="0" err="1"/>
              <a:t>kunci</a:t>
            </a:r>
            <a:r>
              <a:rPr lang="en-US" dirty="0"/>
              <a:t> </a:t>
            </a:r>
            <a:r>
              <a:rPr lang="en-US" dirty="0" err="1"/>
              <a:t>sesuai</a:t>
            </a:r>
            <a:r>
              <a:rPr lang="en-US" dirty="0"/>
              <a:t> </a:t>
            </a:r>
            <a:r>
              <a:rPr lang="en-US" dirty="0" err="1"/>
              <a:t>tema</a:t>
            </a:r>
            <a:r>
              <a:rPr lang="en-US" dirty="0"/>
              <a:t>."</a:t>
            </a:r>
          </a:p>
          <a:p>
            <a:endParaRPr lang="en-US" dirty="0"/>
          </a:p>
          <a:p>
            <a:r>
              <a:rPr lang="en-US" dirty="0"/>
              <a:t>Arahan: </a:t>
            </a:r>
            <a:r>
              <a:rPr lang="en-US" dirty="0" err="1"/>
              <a:t>Ikuti</a:t>
            </a:r>
            <a:r>
              <a:rPr lang="en-US" dirty="0"/>
              <a:t> </a:t>
            </a:r>
            <a:r>
              <a:rPr lang="en-US" dirty="0" err="1"/>
              <a:t>alur</a:t>
            </a:r>
            <a:r>
              <a:rPr lang="en-US" dirty="0"/>
              <a:t> diagram </a:t>
            </a:r>
            <a:r>
              <a:rPr lang="en-US" dirty="0" err="1"/>
              <a:t>dari</a:t>
            </a:r>
            <a:r>
              <a:rPr lang="en-US" dirty="0"/>
              <a:t> kiri </a:t>
            </a:r>
            <a:r>
              <a:rPr lang="en-US" dirty="0" err="1"/>
              <a:t>ke</a:t>
            </a:r>
            <a:r>
              <a:rPr lang="en-US" dirty="0"/>
              <a:t> </a:t>
            </a:r>
            <a:r>
              <a:rPr lang="en-US" dirty="0" err="1"/>
              <a:t>kanan</a:t>
            </a:r>
            <a:r>
              <a:rPr lang="en-US" dirty="0"/>
              <a:t>: Dataset -&gt; Preprocessing -&gt; Topic Modeling (CTM &amp; </a:t>
            </a:r>
            <a:r>
              <a:rPr lang="en-US" dirty="0" err="1"/>
              <a:t>BERTopic</a:t>
            </a:r>
            <a:r>
              <a:rPr lang="en-US" dirty="0"/>
              <a:t>, </a:t>
            </a:r>
            <a:r>
              <a:rPr lang="en-US" dirty="0" err="1"/>
              <a:t>paralel</a:t>
            </a:r>
            <a:r>
              <a:rPr lang="en-US" dirty="0"/>
              <a:t>) -&gt; Evaluation -&gt; </a:t>
            </a:r>
            <a:r>
              <a:rPr lang="en-US" dirty="0" err="1"/>
              <a:t>Gabungan</a:t>
            </a:r>
            <a:r>
              <a:rPr lang="en-US" dirty="0"/>
              <a:t> (Jaccard) -&gt; </a:t>
            </a:r>
            <a:r>
              <a:rPr lang="en-US" dirty="0" err="1"/>
              <a:t>Interpretasi</a:t>
            </a:r>
            <a:r>
              <a:rPr lang="en-US" dirty="0"/>
              <a:t>.</a:t>
            </a:r>
          </a:p>
          <a:p>
            <a:endParaRPr lang="en-US" dirty="0"/>
          </a:p>
        </p:txBody>
      </p:sp>
      <p:sp>
        <p:nvSpPr>
          <p:cNvPr id="4" name="Slide Number Placeholder 3"/>
          <p:cNvSpPr>
            <a:spLocks noGrp="1"/>
          </p:cNvSpPr>
          <p:nvPr>
            <p:ph type="sldNum" sz="quarter" idx="5"/>
          </p:nvPr>
        </p:nvSpPr>
        <p:spPr/>
        <p:txBody>
          <a:bodyPr/>
          <a:lstStyle/>
          <a:p>
            <a:fld id="{0E4F9FF8-F730-48A2-A15C-4DAF3EEA9E4C}" type="slidenum">
              <a:rPr lang="en-US" smtClean="0"/>
              <a:t>6</a:t>
            </a:fld>
            <a:endParaRPr lang="en-US"/>
          </a:p>
        </p:txBody>
      </p:sp>
    </p:spTree>
    <p:extLst>
      <p:ext uri="{BB962C8B-B14F-4D97-AF65-F5344CB8AC3E}">
        <p14:creationId xmlns:p14="http://schemas.microsoft.com/office/powerpoint/2010/main" val="34170184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"Dataset yang </a:t>
            </a:r>
            <a:r>
              <a:rPr lang="en-US" dirty="0" err="1"/>
              <a:t>saya</a:t>
            </a:r>
            <a:r>
              <a:rPr lang="en-US" dirty="0"/>
              <a:t> </a:t>
            </a:r>
            <a:r>
              <a:rPr lang="en-US" dirty="0" err="1"/>
              <a:t>gunakan</a:t>
            </a:r>
            <a:r>
              <a:rPr lang="en-US" dirty="0"/>
              <a:t> </a:t>
            </a:r>
            <a:r>
              <a:rPr lang="en-US" dirty="0" err="1"/>
              <a:t>adalah</a:t>
            </a:r>
            <a:r>
              <a:rPr lang="en-US" dirty="0"/>
              <a:t> </a:t>
            </a:r>
            <a:r>
              <a:rPr lang="en-US" dirty="0" err="1"/>
              <a:t>teks</a:t>
            </a:r>
            <a:r>
              <a:rPr lang="en-US" dirty="0"/>
              <a:t> </a:t>
            </a:r>
            <a:r>
              <a:rPr lang="en-US" dirty="0" err="1"/>
              <a:t>terjemahan</a:t>
            </a:r>
            <a:r>
              <a:rPr lang="en-US" dirty="0"/>
              <a:t> Al-Qur'an </a:t>
            </a:r>
            <a:r>
              <a:rPr lang="en-US" dirty="0" err="1"/>
              <a:t>berbahasa</a:t>
            </a:r>
            <a:r>
              <a:rPr lang="en-US" dirty="0"/>
              <a:t> Indonesia, </a:t>
            </a:r>
            <a:r>
              <a:rPr lang="en-US" dirty="0" err="1"/>
              <a:t>bersumber</a:t>
            </a:r>
            <a:r>
              <a:rPr lang="en-US" dirty="0"/>
              <a:t> </a:t>
            </a:r>
            <a:r>
              <a:rPr lang="en-US" dirty="0" err="1"/>
              <a:t>dari</a:t>
            </a:r>
            <a:r>
              <a:rPr lang="en-US" dirty="0"/>
              <a:t> situs </a:t>
            </a:r>
            <a:r>
              <a:rPr lang="en-US" dirty="0" err="1"/>
              <a:t>resmi</a:t>
            </a:r>
            <a:r>
              <a:rPr lang="en-US" dirty="0"/>
              <a:t> Kementerian Agama Republik Indonesia, </a:t>
            </a:r>
            <a:r>
              <a:rPr lang="en-US" dirty="0" err="1"/>
              <a:t>yaitu</a:t>
            </a:r>
            <a:r>
              <a:rPr lang="en-US" dirty="0"/>
              <a:t> quran.kemenag.go.id dan pustakalajnah.kemenag.go.id.</a:t>
            </a:r>
          </a:p>
          <a:p>
            <a:endParaRPr lang="en-US" dirty="0"/>
          </a:p>
          <a:p>
            <a:r>
              <a:rPr lang="en-US" dirty="0" err="1"/>
              <a:t>Kosakata</a:t>
            </a:r>
            <a:r>
              <a:rPr lang="en-US" dirty="0"/>
              <a:t> </a:t>
            </a:r>
            <a:r>
              <a:rPr lang="en-US" dirty="0" err="1"/>
              <a:t>unik</a:t>
            </a:r>
            <a:r>
              <a:rPr lang="en-US" dirty="0"/>
              <a:t> : </a:t>
            </a:r>
            <a:r>
              <a:rPr lang="en-US" dirty="0" err="1"/>
              <a:t>jumlah</a:t>
            </a:r>
            <a:r>
              <a:rPr lang="en-US" dirty="0"/>
              <a:t> </a:t>
            </a:r>
            <a:r>
              <a:rPr lang="en-US" b="1" dirty="0"/>
              <a:t>kata </a:t>
            </a:r>
            <a:r>
              <a:rPr lang="en-US" b="1" dirty="0" err="1"/>
              <a:t>dasar</a:t>
            </a:r>
            <a:r>
              <a:rPr lang="en-US" b="1" dirty="0"/>
              <a:t>/token yang </a:t>
            </a:r>
            <a:r>
              <a:rPr lang="en-US" b="1" dirty="0" err="1"/>
              <a:t>berbeda</a:t>
            </a:r>
            <a:r>
              <a:rPr lang="en-US" dirty="0"/>
              <a:t> (distinct vocabulary) </a:t>
            </a:r>
          </a:p>
          <a:p>
            <a:endParaRPr lang="en-US" dirty="0"/>
          </a:p>
          <a:p>
            <a:r>
              <a:rPr lang="en-US" dirty="0"/>
              <a:t>Dataset </a:t>
            </a:r>
            <a:r>
              <a:rPr lang="en-US" dirty="0" err="1"/>
              <a:t>ini</a:t>
            </a:r>
            <a:r>
              <a:rPr lang="en-US" dirty="0"/>
              <a:t> </a:t>
            </a:r>
            <a:r>
              <a:rPr lang="en-US" dirty="0" err="1"/>
              <a:t>terdiri</a:t>
            </a:r>
            <a:r>
              <a:rPr lang="en-US" dirty="0"/>
              <a:t> </a:t>
            </a:r>
            <a:r>
              <a:rPr lang="en-US" dirty="0" err="1"/>
              <a:t>dari</a:t>
            </a:r>
            <a:r>
              <a:rPr lang="en-US" dirty="0"/>
              <a:t> 6.236 </a:t>
            </a:r>
            <a:r>
              <a:rPr lang="en-US" dirty="0" err="1"/>
              <a:t>ayat</a:t>
            </a:r>
            <a:r>
              <a:rPr lang="en-US" dirty="0"/>
              <a:t> yang </a:t>
            </a:r>
            <a:r>
              <a:rPr lang="en-US" dirty="0" err="1"/>
              <a:t>tersebar</a:t>
            </a:r>
            <a:r>
              <a:rPr lang="en-US" dirty="0"/>
              <a:t> di 114 </a:t>
            </a:r>
            <a:r>
              <a:rPr lang="en-US" dirty="0" err="1"/>
              <a:t>surat</a:t>
            </a:r>
            <a:r>
              <a:rPr lang="en-US" dirty="0"/>
              <a:t>, </a:t>
            </a:r>
            <a:r>
              <a:rPr lang="en-US" dirty="0" err="1"/>
              <a:t>dengan</a:t>
            </a:r>
            <a:r>
              <a:rPr lang="en-US" dirty="0"/>
              <a:t> total 77.439 kata dan 18.742 </a:t>
            </a:r>
            <a:r>
              <a:rPr lang="en-US" dirty="0" err="1"/>
              <a:t>kosakata</a:t>
            </a:r>
            <a:r>
              <a:rPr lang="en-US" dirty="0"/>
              <a:t> </a:t>
            </a:r>
            <a:r>
              <a:rPr lang="en-US" dirty="0" err="1"/>
              <a:t>unik</a:t>
            </a:r>
            <a:r>
              <a:rPr lang="en-US" dirty="0"/>
              <a:t>. </a:t>
            </a:r>
            <a:r>
              <a:rPr lang="en-US" dirty="0" err="1"/>
              <a:t>Strukturnya</a:t>
            </a:r>
            <a:r>
              <a:rPr lang="en-US" dirty="0"/>
              <a:t> </a:t>
            </a:r>
            <a:r>
              <a:rPr lang="en-US" dirty="0" err="1"/>
              <a:t>terdiri</a:t>
            </a:r>
            <a:r>
              <a:rPr lang="en-US" dirty="0"/>
              <a:t> </a:t>
            </a:r>
            <a:r>
              <a:rPr lang="en-US" dirty="0" err="1"/>
              <a:t>dari</a:t>
            </a:r>
            <a:r>
              <a:rPr lang="en-US" dirty="0"/>
              <a:t> </a:t>
            </a:r>
            <a:r>
              <a:rPr lang="en-US" dirty="0" err="1"/>
              <a:t>tiga</a:t>
            </a:r>
            <a:r>
              <a:rPr lang="en-US" dirty="0"/>
              <a:t> </a:t>
            </a:r>
            <a:r>
              <a:rPr lang="en-US" dirty="0" err="1"/>
              <a:t>kolom</a:t>
            </a:r>
            <a:r>
              <a:rPr lang="en-US" dirty="0"/>
              <a:t>: </a:t>
            </a:r>
            <a:r>
              <a:rPr lang="en-US" dirty="0" err="1"/>
              <a:t>nomor</a:t>
            </a:r>
            <a:r>
              <a:rPr lang="en-US" dirty="0"/>
              <a:t> </a:t>
            </a:r>
            <a:r>
              <a:rPr lang="en-US" dirty="0" err="1"/>
              <a:t>surat</a:t>
            </a:r>
            <a:r>
              <a:rPr lang="en-US" dirty="0"/>
              <a:t>, </a:t>
            </a:r>
            <a:r>
              <a:rPr lang="en-US" dirty="0" err="1"/>
              <a:t>nomor</a:t>
            </a:r>
            <a:r>
              <a:rPr lang="en-US" dirty="0"/>
              <a:t> </a:t>
            </a:r>
            <a:r>
              <a:rPr lang="en-US" dirty="0" err="1"/>
              <a:t>ayat</a:t>
            </a:r>
            <a:r>
              <a:rPr lang="en-US" dirty="0"/>
              <a:t>, dan </a:t>
            </a:r>
            <a:r>
              <a:rPr lang="en-US" dirty="0" err="1"/>
              <a:t>teks</a:t>
            </a:r>
            <a:r>
              <a:rPr lang="en-US" dirty="0"/>
              <a:t> </a:t>
            </a:r>
            <a:r>
              <a:rPr lang="en-US" dirty="0" err="1"/>
              <a:t>terjemahan</a:t>
            </a:r>
            <a:r>
              <a:rPr lang="en-US" dirty="0"/>
              <a:t>."</a:t>
            </a:r>
          </a:p>
          <a:p>
            <a:endParaRPr lang="en-US" dirty="0"/>
          </a:p>
          <a:p>
            <a:r>
              <a:rPr lang="en-US" dirty="0"/>
              <a:t>Arahan: </a:t>
            </a:r>
            <a:r>
              <a:rPr lang="en-US" dirty="0" err="1"/>
              <a:t>Sebutkan</a:t>
            </a:r>
            <a:r>
              <a:rPr lang="en-US" dirty="0"/>
              <a:t> </a:t>
            </a:r>
            <a:r>
              <a:rPr lang="en-US" dirty="0" err="1"/>
              <a:t>kedua</a:t>
            </a:r>
            <a:r>
              <a:rPr lang="en-US" dirty="0"/>
              <a:t> </a:t>
            </a:r>
            <a:r>
              <a:rPr lang="en-US" dirty="0" err="1"/>
              <a:t>tautan</a:t>
            </a:r>
            <a:r>
              <a:rPr lang="en-US" dirty="0"/>
              <a:t> </a:t>
            </a:r>
            <a:r>
              <a:rPr lang="en-US" dirty="0" err="1"/>
              <a:t>sumber</a:t>
            </a:r>
            <a:r>
              <a:rPr lang="en-US" dirty="0"/>
              <a:t> </a:t>
            </a:r>
            <a:r>
              <a:rPr lang="en-US" dirty="0" err="1"/>
              <a:t>resmi</a:t>
            </a:r>
            <a:r>
              <a:rPr lang="en-US" dirty="0"/>
              <a:t> </a:t>
            </a:r>
            <a:r>
              <a:rPr lang="en-US" dirty="0" err="1"/>
              <a:t>secara</a:t>
            </a:r>
            <a:r>
              <a:rPr lang="en-US" dirty="0"/>
              <a:t> </a:t>
            </a:r>
            <a:r>
              <a:rPr lang="en-US" dirty="0" err="1"/>
              <a:t>eksplisit</a:t>
            </a:r>
            <a:r>
              <a:rPr lang="en-US" dirty="0"/>
              <a:t> — </a:t>
            </a:r>
            <a:r>
              <a:rPr lang="en-US" dirty="0" err="1"/>
              <a:t>ini</a:t>
            </a:r>
            <a:r>
              <a:rPr lang="en-US" dirty="0"/>
              <a:t> </a:t>
            </a:r>
            <a:r>
              <a:rPr lang="en-US" dirty="0" err="1"/>
              <a:t>sering</a:t>
            </a:r>
            <a:r>
              <a:rPr lang="en-US" dirty="0"/>
              <a:t> </a:t>
            </a:r>
            <a:r>
              <a:rPr lang="en-US" dirty="0" err="1"/>
              <a:t>ditanyakan</a:t>
            </a:r>
            <a:r>
              <a:rPr lang="en-US" dirty="0"/>
              <a:t> </a:t>
            </a:r>
            <a:r>
              <a:rPr lang="en-US" dirty="0" err="1"/>
              <a:t>penguji</a:t>
            </a:r>
            <a:r>
              <a:rPr lang="en-US" dirty="0"/>
              <a:t> </a:t>
            </a:r>
            <a:r>
              <a:rPr lang="en-US" dirty="0" err="1"/>
              <a:t>untuk</a:t>
            </a:r>
            <a:r>
              <a:rPr lang="en-US" dirty="0"/>
              <a:t> </a:t>
            </a:r>
            <a:r>
              <a:rPr lang="en-US" dirty="0" err="1"/>
              <a:t>memastikan</a:t>
            </a:r>
            <a:r>
              <a:rPr lang="en-US" dirty="0"/>
              <a:t> </a:t>
            </a:r>
            <a:r>
              <a:rPr lang="en-US" dirty="0" err="1"/>
              <a:t>validitas</a:t>
            </a:r>
            <a:r>
              <a:rPr lang="en-US" dirty="0"/>
              <a:t> data.</a:t>
            </a:r>
          </a:p>
          <a:p>
            <a:r>
              <a:rPr lang="en-US" dirty="0" err="1"/>
              <a:t>Referensi</a:t>
            </a:r>
            <a:r>
              <a:rPr lang="en-US" dirty="0"/>
              <a:t>: https://quran.kemenag.go.id dan https://pustakalajnah.kemenag.go.id/</a:t>
            </a:r>
          </a:p>
          <a:p>
            <a:endParaRPr lang="en-US" dirty="0"/>
          </a:p>
        </p:txBody>
      </p:sp>
      <p:sp>
        <p:nvSpPr>
          <p:cNvPr id="4" name="Slide Number Placeholder 3"/>
          <p:cNvSpPr>
            <a:spLocks noGrp="1"/>
          </p:cNvSpPr>
          <p:nvPr>
            <p:ph type="sldNum" sz="quarter" idx="5"/>
          </p:nvPr>
        </p:nvSpPr>
        <p:spPr/>
        <p:txBody>
          <a:bodyPr/>
          <a:lstStyle/>
          <a:p>
            <a:fld id="{0E4F9FF8-F730-48A2-A15C-4DAF3EEA9E4C}" type="slidenum">
              <a:rPr lang="en-US" smtClean="0"/>
              <a:t>8</a:t>
            </a:fld>
            <a:endParaRPr lang="en-US"/>
          </a:p>
        </p:txBody>
      </p:sp>
    </p:spTree>
    <p:extLst>
      <p:ext uri="{BB962C8B-B14F-4D97-AF65-F5344CB8AC3E}">
        <p14:creationId xmlns:p14="http://schemas.microsoft.com/office/powerpoint/2010/main" val="26032404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r>
              <a:rPr lang="en-US" dirty="0" err="1"/>
              <a:t>Tahap</a:t>
            </a:r>
            <a:r>
              <a:rPr lang="en-US" dirty="0"/>
              <a:t> preprocessing </a:t>
            </a:r>
            <a:r>
              <a:rPr lang="en-US" dirty="0" err="1"/>
              <a:t>terdiri</a:t>
            </a:r>
            <a:r>
              <a:rPr lang="en-US" dirty="0"/>
              <a:t> </a:t>
            </a:r>
            <a:r>
              <a:rPr lang="en-US" dirty="0" err="1"/>
              <a:t>dari</a:t>
            </a:r>
            <a:r>
              <a:rPr lang="en-US" dirty="0"/>
              <a:t> case folding, </a:t>
            </a:r>
            <a:r>
              <a:rPr lang="en-US" dirty="0" err="1"/>
              <a:t>stopword</a:t>
            </a:r>
            <a:r>
              <a:rPr lang="en-US" dirty="0"/>
              <a:t> removal, tokenization, stemming, dan lemmatization. </a:t>
            </a:r>
          </a:p>
          <a:p>
            <a:endParaRPr lang="en-US" dirty="0"/>
          </a:p>
          <a:p>
            <a:r>
              <a:rPr lang="en-US" dirty="0"/>
              <a:t>Saya </a:t>
            </a:r>
            <a:r>
              <a:rPr lang="en-US" dirty="0" err="1"/>
              <a:t>menguji</a:t>
            </a:r>
            <a:r>
              <a:rPr lang="en-US" dirty="0"/>
              <a:t> </a:t>
            </a:r>
            <a:r>
              <a:rPr lang="en-US" dirty="0" err="1"/>
              <a:t>tiga</a:t>
            </a:r>
            <a:r>
              <a:rPr lang="en-US" dirty="0"/>
              <a:t> </a:t>
            </a:r>
            <a:r>
              <a:rPr lang="en-US" dirty="0" err="1"/>
              <a:t>varian</a:t>
            </a:r>
            <a:r>
              <a:rPr lang="en-US" dirty="0"/>
              <a:t>: basic </a:t>
            </a:r>
            <a:r>
              <a:rPr lang="en-US" dirty="0" err="1"/>
              <a:t>tanpa</a:t>
            </a:r>
            <a:r>
              <a:rPr lang="en-US" dirty="0"/>
              <a:t> </a:t>
            </a:r>
            <a:r>
              <a:rPr lang="en-US" dirty="0" err="1"/>
              <a:t>stopword</a:t>
            </a:r>
            <a:r>
              <a:rPr lang="en-US" dirty="0"/>
              <a:t> dan stemming, no-stem </a:t>
            </a:r>
            <a:r>
              <a:rPr lang="en-US" dirty="0" err="1"/>
              <a:t>tanpa</a:t>
            </a:r>
            <a:r>
              <a:rPr lang="en-US" dirty="0"/>
              <a:t> proses stemming, dan advanced </a:t>
            </a:r>
            <a:r>
              <a:rPr lang="en-US" dirty="0" err="1"/>
              <a:t>dengan</a:t>
            </a:r>
            <a:r>
              <a:rPr lang="en-US" dirty="0"/>
              <a:t> proses </a:t>
            </a:r>
            <a:r>
              <a:rPr lang="en-US" dirty="0" err="1"/>
              <a:t>lengkap</a:t>
            </a:r>
            <a:r>
              <a:rPr lang="en-US" dirty="0"/>
              <a:t>.</a:t>
            </a:r>
          </a:p>
          <a:p>
            <a:endParaRPr lang="en-US" dirty="0"/>
          </a:p>
          <a:p>
            <a:r>
              <a:rPr lang="en-US" dirty="0"/>
              <a:t>Preprocessing advanced </a:t>
            </a:r>
            <a:r>
              <a:rPr lang="en-US" dirty="0" err="1"/>
              <a:t>menunjukkan</a:t>
            </a:r>
            <a:r>
              <a:rPr lang="en-US" dirty="0"/>
              <a:t> </a:t>
            </a:r>
            <a:r>
              <a:rPr lang="en-US" dirty="0" err="1"/>
              <a:t>keseimbangan</a:t>
            </a:r>
            <a:r>
              <a:rPr lang="en-US" dirty="0"/>
              <a:t> </a:t>
            </a:r>
            <a:r>
              <a:rPr lang="en-US" dirty="0" err="1"/>
              <a:t>terbaik</a:t>
            </a:r>
            <a:r>
              <a:rPr lang="en-US" dirty="0"/>
              <a:t> </a:t>
            </a:r>
            <a:r>
              <a:rPr lang="en-US" dirty="0" err="1"/>
              <a:t>antara</a:t>
            </a:r>
            <a:r>
              <a:rPr lang="en-US" dirty="0"/>
              <a:t> </a:t>
            </a:r>
            <a:r>
              <a:rPr lang="en-US" dirty="0" err="1"/>
              <a:t>reduksi</a:t>
            </a:r>
            <a:r>
              <a:rPr lang="en-US" dirty="0"/>
              <a:t> noise dan </a:t>
            </a:r>
            <a:r>
              <a:rPr lang="en-US" dirty="0" err="1"/>
              <a:t>preservasi</a:t>
            </a:r>
            <a:r>
              <a:rPr lang="en-US" dirty="0"/>
              <a:t> </a:t>
            </a:r>
            <a:r>
              <a:rPr lang="en-US" dirty="0" err="1"/>
              <a:t>makna</a:t>
            </a:r>
            <a:r>
              <a:rPr lang="en-US" dirty="0"/>
              <a:t> </a:t>
            </a:r>
            <a:r>
              <a:rPr lang="en-US" dirty="0" err="1"/>
              <a:t>semantik</a:t>
            </a:r>
            <a:r>
              <a:rPr lang="en-US" dirty="0"/>
              <a:t>, </a:t>
            </a:r>
            <a:r>
              <a:rPr lang="en-US" dirty="0" err="1"/>
              <a:t>dengan</a:t>
            </a:r>
            <a:r>
              <a:rPr lang="en-US" dirty="0"/>
              <a:t> </a:t>
            </a:r>
            <a:r>
              <a:rPr lang="en-US" dirty="0" err="1"/>
              <a:t>reduksi</a:t>
            </a:r>
            <a:r>
              <a:rPr lang="en-US" dirty="0"/>
              <a:t> </a:t>
            </a:r>
            <a:r>
              <a:rPr lang="en-US" dirty="0" err="1"/>
              <a:t>kosakata</a:t>
            </a:r>
            <a:r>
              <a:rPr lang="en-US" dirty="0"/>
              <a:t> 83,75% </a:t>
            </a:r>
            <a:r>
              <a:rPr lang="en-US" dirty="0" err="1"/>
              <a:t>namun</a:t>
            </a:r>
            <a:r>
              <a:rPr lang="en-US" dirty="0"/>
              <a:t> </a:t>
            </a:r>
            <a:r>
              <a:rPr lang="en-US" dirty="0" err="1"/>
              <a:t>tetap</a:t>
            </a:r>
            <a:r>
              <a:rPr lang="en-US" dirty="0"/>
              <a:t> </a:t>
            </a:r>
            <a:r>
              <a:rPr lang="en-US" dirty="0" err="1"/>
              <a:t>mempertahankan</a:t>
            </a:r>
            <a:r>
              <a:rPr lang="en-US" dirty="0"/>
              <a:t> </a:t>
            </a:r>
            <a:r>
              <a:rPr lang="en-US" dirty="0" err="1"/>
              <a:t>preservasi</a:t>
            </a:r>
            <a:r>
              <a:rPr lang="en-US" dirty="0"/>
              <a:t> </a:t>
            </a:r>
            <a:r>
              <a:rPr lang="en-US" dirty="0" err="1"/>
              <a:t>makna</a:t>
            </a:r>
            <a:r>
              <a:rPr lang="en-US" dirty="0"/>
              <a:t> 73,20%. Karena </a:t>
            </a:r>
            <a:r>
              <a:rPr lang="en-US" dirty="0" err="1"/>
              <a:t>itu</a:t>
            </a:r>
            <a:r>
              <a:rPr lang="en-US" dirty="0"/>
              <a:t>, preprocessing advanced yang </a:t>
            </a:r>
            <a:r>
              <a:rPr lang="en-US" dirty="0" err="1"/>
              <a:t>saya</a:t>
            </a:r>
            <a:r>
              <a:rPr lang="en-US" dirty="0"/>
              <a:t> </a:t>
            </a:r>
            <a:r>
              <a:rPr lang="en-US" dirty="0" err="1"/>
              <a:t>gunakan</a:t>
            </a:r>
            <a:r>
              <a:rPr lang="en-US" dirty="0"/>
              <a:t> </a:t>
            </a:r>
            <a:r>
              <a:rPr lang="en-US" dirty="0" err="1"/>
              <a:t>sebagai</a:t>
            </a:r>
            <a:r>
              <a:rPr lang="en-US" dirty="0"/>
              <a:t> </a:t>
            </a:r>
            <a:r>
              <a:rPr lang="en-US" dirty="0" err="1"/>
              <a:t>dasar</a:t>
            </a:r>
            <a:r>
              <a:rPr lang="en-US" dirty="0"/>
              <a:t> </a:t>
            </a:r>
            <a:r>
              <a:rPr lang="en-US" dirty="0" err="1"/>
              <a:t>pemodelan</a:t>
            </a:r>
            <a:r>
              <a:rPr lang="en-US" dirty="0"/>
              <a:t> </a:t>
            </a:r>
            <a:r>
              <a:rPr lang="en-US" dirty="0" err="1"/>
              <a:t>topik</a:t>
            </a:r>
            <a:r>
              <a:rPr lang="en-US" dirty="0"/>
              <a:t>."</a:t>
            </a:r>
          </a:p>
          <a:p>
            <a:r>
              <a:rPr lang="en-US" dirty="0" err="1"/>
              <a:t>Reduksi</a:t>
            </a:r>
            <a:r>
              <a:rPr lang="en-US" dirty="0"/>
              <a:t> </a:t>
            </a:r>
            <a:r>
              <a:rPr lang="en-US" dirty="0" err="1"/>
              <a:t>Kosakata</a:t>
            </a:r>
            <a:r>
              <a:rPr lang="en-US" dirty="0"/>
              <a:t> 83,75%" </a:t>
            </a:r>
            <a:r>
              <a:rPr lang="en-US" dirty="0" err="1"/>
              <a:t>artinya</a:t>
            </a:r>
            <a:r>
              <a:rPr lang="en-US" dirty="0"/>
              <a:t> </a:t>
            </a:r>
            <a:r>
              <a:rPr lang="en-US" dirty="0" err="1"/>
              <a:t>jumlah</a:t>
            </a:r>
            <a:r>
              <a:rPr lang="en-US" dirty="0"/>
              <a:t> </a:t>
            </a:r>
            <a:r>
              <a:rPr lang="en-US" b="1" dirty="0"/>
              <a:t>label </a:t>
            </a:r>
            <a:r>
              <a:rPr lang="en-US" b="1" dirty="0" err="1"/>
              <a:t>unik</a:t>
            </a:r>
            <a:r>
              <a:rPr lang="en-US" dirty="0"/>
              <a:t> yang </a:t>
            </a:r>
            <a:r>
              <a:rPr lang="en-US" dirty="0" err="1"/>
              <a:t>dipakai</a:t>
            </a:r>
            <a:r>
              <a:rPr lang="en-US" dirty="0"/>
              <a:t> </a:t>
            </a:r>
            <a:r>
              <a:rPr lang="en-US" dirty="0" err="1"/>
              <a:t>untuk</a:t>
            </a:r>
            <a:r>
              <a:rPr lang="en-US" dirty="0"/>
              <a:t> </a:t>
            </a:r>
            <a:r>
              <a:rPr lang="en-US" dirty="0" err="1"/>
              <a:t>mewakili</a:t>
            </a:r>
            <a:r>
              <a:rPr lang="en-US" dirty="0"/>
              <a:t> </a:t>
            </a:r>
            <a:r>
              <a:rPr lang="en-US" dirty="0" err="1"/>
              <a:t>semua</a:t>
            </a:r>
            <a:r>
              <a:rPr lang="en-US" dirty="0"/>
              <a:t> kata </a:t>
            </a:r>
            <a:r>
              <a:rPr lang="en-US" dirty="0" err="1"/>
              <a:t>itu</a:t>
            </a:r>
            <a:r>
              <a:rPr lang="en-US" dirty="0"/>
              <a:t> </a:t>
            </a:r>
            <a:r>
              <a:rPr lang="en-US" dirty="0" err="1"/>
              <a:t>turun</a:t>
            </a:r>
            <a:r>
              <a:rPr lang="en-US" dirty="0"/>
              <a:t> </a:t>
            </a:r>
            <a:r>
              <a:rPr lang="en-US" dirty="0" err="1"/>
              <a:t>dari</a:t>
            </a:r>
            <a:r>
              <a:rPr lang="en-US" dirty="0"/>
              <a:t> 18.742 </a:t>
            </a:r>
            <a:r>
              <a:rPr lang="en-US" dirty="0" err="1"/>
              <a:t>jadi</a:t>
            </a:r>
            <a:r>
              <a:rPr lang="en-US" dirty="0"/>
              <a:t> 3.046. </a:t>
            </a:r>
            <a:r>
              <a:rPr lang="en-US" dirty="0" err="1"/>
              <a:t>Tapi</a:t>
            </a:r>
            <a:r>
              <a:rPr lang="en-US" dirty="0"/>
              <a:t> </a:t>
            </a:r>
            <a:r>
              <a:rPr lang="en-US" b="1" dirty="0"/>
              <a:t>34.383 kata (token) </a:t>
            </a:r>
            <a:r>
              <a:rPr lang="en-US" b="1" dirty="0" err="1"/>
              <a:t>hasil</a:t>
            </a:r>
            <a:r>
              <a:rPr lang="en-US" b="1" dirty="0"/>
              <a:t> preprocessing</a:t>
            </a:r>
          </a:p>
          <a:p>
            <a:endParaRPr lang="en-US" dirty="0"/>
          </a:p>
          <a:p>
            <a:r>
              <a:rPr lang="en-US" dirty="0"/>
              <a:t>Arahan: </a:t>
            </a:r>
            <a:r>
              <a:rPr lang="en-US" dirty="0" err="1"/>
              <a:t>Gunakan</a:t>
            </a:r>
            <a:r>
              <a:rPr lang="en-US" dirty="0"/>
              <a:t> </a:t>
            </a:r>
            <a:r>
              <a:rPr lang="en-US" dirty="0" err="1"/>
              <a:t>contoh</a:t>
            </a:r>
            <a:r>
              <a:rPr lang="en-US" dirty="0"/>
              <a:t> </a:t>
            </a:r>
            <a:r>
              <a:rPr lang="en-US" dirty="0" err="1"/>
              <a:t>kalimat</a:t>
            </a:r>
            <a:r>
              <a:rPr lang="en-US" dirty="0"/>
              <a:t> di slide ('Segala </a:t>
            </a:r>
            <a:r>
              <a:rPr lang="en-US" dirty="0" err="1"/>
              <a:t>puji</a:t>
            </a:r>
            <a:r>
              <a:rPr lang="en-US" dirty="0"/>
              <a:t> </a:t>
            </a:r>
            <a:r>
              <a:rPr lang="en-US" dirty="0" err="1"/>
              <a:t>bagi</a:t>
            </a:r>
            <a:r>
              <a:rPr lang="en-US" dirty="0"/>
              <a:t> Allah, Tuhan </a:t>
            </a:r>
            <a:r>
              <a:rPr lang="en-US" dirty="0" err="1"/>
              <a:t>semesta</a:t>
            </a:r>
            <a:r>
              <a:rPr lang="en-US" dirty="0"/>
              <a:t> </a:t>
            </a:r>
            <a:r>
              <a:rPr lang="en-US" dirty="0" err="1"/>
              <a:t>alam</a:t>
            </a:r>
            <a:r>
              <a:rPr lang="en-US" dirty="0"/>
              <a:t>') </a:t>
            </a:r>
            <a:r>
              <a:rPr lang="en-US" dirty="0" err="1"/>
              <a:t>untuk</a:t>
            </a:r>
            <a:r>
              <a:rPr lang="en-US" dirty="0"/>
              <a:t> </a:t>
            </a:r>
            <a:r>
              <a:rPr lang="en-US" dirty="0" err="1"/>
              <a:t>mendemonstrasikan</a:t>
            </a:r>
            <a:r>
              <a:rPr lang="en-US" dirty="0"/>
              <a:t> </a:t>
            </a:r>
            <a:r>
              <a:rPr lang="en-US" dirty="0" err="1"/>
              <a:t>tiap</a:t>
            </a:r>
            <a:r>
              <a:rPr lang="en-US" dirty="0"/>
              <a:t> </a:t>
            </a:r>
            <a:r>
              <a:rPr lang="en-US" dirty="0" err="1"/>
              <a:t>tahapan</a:t>
            </a:r>
            <a:r>
              <a:rPr lang="en-US" dirty="0"/>
              <a:t> </a:t>
            </a:r>
            <a:r>
              <a:rPr lang="en-US" dirty="0" err="1"/>
              <a:t>secara</a:t>
            </a:r>
            <a:r>
              <a:rPr lang="en-US" dirty="0"/>
              <a:t> </a:t>
            </a:r>
            <a:r>
              <a:rPr lang="en-US" dirty="0" err="1"/>
              <a:t>konkret</a:t>
            </a:r>
            <a:r>
              <a:rPr lang="en-US" dirty="0"/>
              <a:t>.</a:t>
            </a:r>
          </a:p>
          <a:p>
            <a:endParaRPr lang="en-US" dirty="0"/>
          </a:p>
        </p:txBody>
      </p:sp>
      <p:sp>
        <p:nvSpPr>
          <p:cNvPr id="4" name="Slide Number Placeholder 3"/>
          <p:cNvSpPr>
            <a:spLocks noGrp="1"/>
          </p:cNvSpPr>
          <p:nvPr>
            <p:ph type="sldNum" sz="quarter" idx="5"/>
          </p:nvPr>
        </p:nvSpPr>
        <p:spPr/>
        <p:txBody>
          <a:bodyPr/>
          <a:lstStyle/>
          <a:p>
            <a:fld id="{0E4F9FF8-F730-48A2-A15C-4DAF3EEA9E4C}" type="slidenum">
              <a:rPr lang="en-US" smtClean="0"/>
              <a:t>9</a:t>
            </a:fld>
            <a:endParaRPr lang="en-US"/>
          </a:p>
        </p:txBody>
      </p:sp>
    </p:spTree>
    <p:extLst>
      <p:ext uri="{BB962C8B-B14F-4D97-AF65-F5344CB8AC3E}">
        <p14:creationId xmlns:p14="http://schemas.microsoft.com/office/powerpoint/2010/main" val="35713366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r>
              <a:rPr lang="en-US" dirty="0" err="1"/>
              <a:t>Untuk</a:t>
            </a:r>
            <a:r>
              <a:rPr lang="en-US" dirty="0"/>
              <a:t> model CTM, </a:t>
            </a:r>
            <a:r>
              <a:rPr lang="en-US" dirty="0" err="1"/>
              <a:t>saya</a:t>
            </a:r>
            <a:r>
              <a:rPr lang="en-US" dirty="0"/>
              <a:t> </a:t>
            </a:r>
            <a:r>
              <a:rPr lang="en-US" dirty="0" err="1"/>
              <a:t>menguji</a:t>
            </a:r>
            <a:r>
              <a:rPr lang="en-US" dirty="0"/>
              <a:t> </a:t>
            </a:r>
            <a:r>
              <a:rPr lang="en-US" dirty="0" err="1"/>
              <a:t>rentang</a:t>
            </a:r>
            <a:r>
              <a:rPr lang="en-US" dirty="0"/>
              <a:t> K=8 </a:t>
            </a:r>
            <a:r>
              <a:rPr lang="en-US" dirty="0" err="1"/>
              <a:t>sampai</a:t>
            </a:r>
            <a:r>
              <a:rPr lang="en-US" dirty="0"/>
              <a:t> K=19 pada 114 </a:t>
            </a:r>
            <a:r>
              <a:rPr lang="en-US" dirty="0" err="1"/>
              <a:t>dokumen</a:t>
            </a:r>
            <a:r>
              <a:rPr lang="en-US" dirty="0"/>
              <a:t> dan </a:t>
            </a:r>
            <a:r>
              <a:rPr lang="en-US" dirty="0" err="1"/>
              <a:t>sekitar</a:t>
            </a:r>
            <a:r>
              <a:rPr lang="en-US" dirty="0"/>
              <a:t> 75.490 token</a:t>
            </a:r>
          </a:p>
          <a:p>
            <a:endParaRPr lang="en-US" dirty="0"/>
          </a:p>
          <a:p>
            <a:r>
              <a:rPr lang="en-US" dirty="0"/>
              <a:t> </a:t>
            </a:r>
            <a:r>
              <a:rPr lang="en-US" dirty="0" err="1"/>
              <a:t>Hasilnya</a:t>
            </a:r>
            <a:r>
              <a:rPr lang="en-US" dirty="0"/>
              <a:t>, K=14 </a:t>
            </a:r>
            <a:r>
              <a:rPr lang="en-US" dirty="0" err="1"/>
              <a:t>dipilih</a:t>
            </a:r>
            <a:r>
              <a:rPr lang="en-US" dirty="0"/>
              <a:t> </a:t>
            </a:r>
            <a:r>
              <a:rPr lang="en-US" dirty="0" err="1"/>
              <a:t>sebagai</a:t>
            </a:r>
            <a:r>
              <a:rPr lang="en-US" dirty="0"/>
              <a:t> </a:t>
            </a:r>
            <a:r>
              <a:rPr lang="en-US" dirty="0" err="1"/>
              <a:t>jumlah</a:t>
            </a:r>
            <a:r>
              <a:rPr lang="en-US" dirty="0"/>
              <a:t> </a:t>
            </a:r>
            <a:r>
              <a:rPr lang="en-US" dirty="0" err="1"/>
              <a:t>topik</a:t>
            </a:r>
            <a:r>
              <a:rPr lang="en-US" dirty="0"/>
              <a:t> optimal </a:t>
            </a:r>
            <a:r>
              <a:rPr lang="en-US" dirty="0" err="1"/>
              <a:t>karena</a:t>
            </a:r>
            <a:r>
              <a:rPr lang="en-US" dirty="0"/>
              <a:t> </a:t>
            </a:r>
            <a:r>
              <a:rPr lang="en-US" dirty="0" err="1"/>
              <a:t>hampir</a:t>
            </a:r>
            <a:r>
              <a:rPr lang="en-US" dirty="0"/>
              <a:t> </a:t>
            </a:r>
            <a:r>
              <a:rPr lang="en-US" dirty="0" err="1"/>
              <a:t>seluruh</a:t>
            </a:r>
            <a:r>
              <a:rPr lang="en-US" dirty="0"/>
              <a:t> </a:t>
            </a:r>
            <a:r>
              <a:rPr lang="en-US" dirty="0" err="1"/>
              <a:t>metrik</a:t>
            </a:r>
            <a:r>
              <a:rPr lang="en-US" dirty="0"/>
              <a:t> </a:t>
            </a:r>
            <a:r>
              <a:rPr lang="en-US" dirty="0" err="1"/>
              <a:t>evaluasi</a:t>
            </a:r>
            <a:r>
              <a:rPr lang="en-US" dirty="0"/>
              <a:t> </a:t>
            </a:r>
            <a:r>
              <a:rPr lang="en-US" dirty="0" err="1"/>
              <a:t>berada</a:t>
            </a:r>
            <a:r>
              <a:rPr lang="en-US" dirty="0"/>
              <a:t> pada </a:t>
            </a:r>
            <a:r>
              <a:rPr lang="en-US" dirty="0" err="1"/>
              <a:t>posisi</a:t>
            </a:r>
            <a:r>
              <a:rPr lang="en-US" dirty="0"/>
              <a:t> </a:t>
            </a:r>
            <a:r>
              <a:rPr lang="en-US" dirty="0" err="1"/>
              <a:t>relatif</a:t>
            </a:r>
            <a:r>
              <a:rPr lang="en-US" dirty="0"/>
              <a:t> </a:t>
            </a:r>
            <a:r>
              <a:rPr lang="en-US" dirty="0" err="1"/>
              <a:t>tinggi</a:t>
            </a:r>
            <a:r>
              <a:rPr lang="en-US" dirty="0"/>
              <a:t> dan </a:t>
            </a:r>
            <a:r>
              <a:rPr lang="en-US" dirty="0" err="1"/>
              <a:t>seimbang</a:t>
            </a:r>
            <a:r>
              <a:rPr lang="en-US" dirty="0"/>
              <a:t> </a:t>
            </a:r>
            <a:r>
              <a:rPr lang="en-US" dirty="0" err="1"/>
              <a:t>dibanding</a:t>
            </a:r>
            <a:r>
              <a:rPr lang="en-US" dirty="0"/>
              <a:t> </a:t>
            </a:r>
            <a:r>
              <a:rPr lang="en-US" dirty="0" err="1"/>
              <a:t>nilai</a:t>
            </a:r>
            <a:r>
              <a:rPr lang="en-US" dirty="0"/>
              <a:t> K </a:t>
            </a:r>
            <a:r>
              <a:rPr lang="en-US" dirty="0" err="1"/>
              <a:t>lainnya</a:t>
            </a:r>
            <a:r>
              <a:rPr lang="en-US" dirty="0"/>
              <a:t>."</a:t>
            </a:r>
          </a:p>
          <a:p>
            <a:endParaRPr lang="en-US" dirty="0"/>
          </a:p>
          <a:p>
            <a:r>
              <a:rPr lang="en-US" dirty="0"/>
              <a:t>Arahan: </a:t>
            </a:r>
            <a:r>
              <a:rPr lang="en-US" dirty="0" err="1"/>
              <a:t>kenapa</a:t>
            </a:r>
            <a:r>
              <a:rPr lang="en-US" dirty="0"/>
              <a:t> </a:t>
            </a:r>
            <a:r>
              <a:rPr lang="en-US" dirty="0" err="1"/>
              <a:t>bukan</a:t>
            </a:r>
            <a:r>
              <a:rPr lang="en-US" dirty="0"/>
              <a:t> K </a:t>
            </a:r>
            <a:r>
              <a:rPr lang="en-US" dirty="0" err="1"/>
              <a:t>dengan</a:t>
            </a:r>
            <a:r>
              <a:rPr lang="en-US" dirty="0"/>
              <a:t> </a:t>
            </a:r>
            <a:r>
              <a:rPr lang="en-US" dirty="0" err="1"/>
              <a:t>skor</a:t>
            </a:r>
            <a:r>
              <a:rPr lang="en-US" dirty="0"/>
              <a:t> </a:t>
            </a:r>
            <a:r>
              <a:rPr lang="en-US" dirty="0" err="1"/>
              <a:t>tertinggi</a:t>
            </a:r>
            <a:r>
              <a:rPr lang="en-US" dirty="0"/>
              <a:t> di </a:t>
            </a:r>
            <a:r>
              <a:rPr lang="en-US" dirty="0" err="1"/>
              <a:t>satu</a:t>
            </a:r>
            <a:r>
              <a:rPr lang="en-US" dirty="0"/>
              <a:t> </a:t>
            </a:r>
            <a:r>
              <a:rPr lang="en-US" dirty="0" err="1"/>
              <a:t>metrik</a:t>
            </a:r>
            <a:r>
              <a:rPr lang="en-US" dirty="0"/>
              <a:t> </a:t>
            </a:r>
            <a:r>
              <a:rPr lang="en-US" dirty="0" err="1"/>
              <a:t>saja</a:t>
            </a:r>
            <a:r>
              <a:rPr lang="en-US" dirty="0"/>
              <a:t>, </a:t>
            </a:r>
            <a:r>
              <a:rPr lang="en-US" dirty="0" err="1"/>
              <a:t>jelaskan</a:t>
            </a:r>
            <a:r>
              <a:rPr lang="en-US" dirty="0"/>
              <a:t> </a:t>
            </a:r>
            <a:r>
              <a:rPr lang="en-US" dirty="0" err="1"/>
              <a:t>bahwa</a:t>
            </a:r>
            <a:r>
              <a:rPr lang="en-US" dirty="0"/>
              <a:t> </a:t>
            </a:r>
            <a:r>
              <a:rPr lang="en-US" dirty="0" err="1"/>
              <a:t>pemilihan</a:t>
            </a:r>
            <a:r>
              <a:rPr lang="en-US" dirty="0"/>
              <a:t> </a:t>
            </a:r>
            <a:r>
              <a:rPr lang="en-US" dirty="0" err="1"/>
              <a:t>mempertimbangkan</a:t>
            </a:r>
            <a:r>
              <a:rPr lang="en-US" dirty="0"/>
              <a:t> </a:t>
            </a:r>
            <a:r>
              <a:rPr lang="en-US" dirty="0" err="1"/>
              <a:t>keseimbangan</a:t>
            </a:r>
            <a:r>
              <a:rPr lang="en-US" dirty="0"/>
              <a:t> </a:t>
            </a:r>
            <a:r>
              <a:rPr lang="en-US" dirty="0" err="1"/>
              <a:t>beberapa</a:t>
            </a:r>
            <a:r>
              <a:rPr lang="en-US" dirty="0"/>
              <a:t> </a:t>
            </a:r>
            <a:r>
              <a:rPr lang="en-US" dirty="0" err="1"/>
              <a:t>metrik</a:t>
            </a:r>
            <a:r>
              <a:rPr lang="en-US" dirty="0"/>
              <a:t> </a:t>
            </a:r>
            <a:r>
              <a:rPr lang="en-US" dirty="0" err="1"/>
              <a:t>sekaligus</a:t>
            </a:r>
            <a:r>
              <a:rPr lang="en-US" dirty="0"/>
              <a:t>, </a:t>
            </a:r>
            <a:r>
              <a:rPr lang="en-US" dirty="0" err="1"/>
              <a:t>bukan</a:t>
            </a:r>
            <a:r>
              <a:rPr lang="en-US" dirty="0"/>
              <a:t> </a:t>
            </a:r>
            <a:r>
              <a:rPr lang="en-US" dirty="0" err="1"/>
              <a:t>satu</a:t>
            </a:r>
            <a:r>
              <a:rPr lang="en-US" dirty="0"/>
              <a:t> </a:t>
            </a:r>
            <a:r>
              <a:rPr lang="en-US" dirty="0" err="1"/>
              <a:t>metrik</a:t>
            </a:r>
            <a:r>
              <a:rPr lang="en-US" dirty="0"/>
              <a:t> </a:t>
            </a:r>
            <a:r>
              <a:rPr lang="en-US" dirty="0" err="1"/>
              <a:t>tunggal</a:t>
            </a:r>
            <a:r>
              <a:rPr lang="en-US" dirty="0"/>
              <a:t>.</a:t>
            </a:r>
          </a:p>
          <a:p>
            <a:endParaRPr lang="en-US" dirty="0"/>
          </a:p>
        </p:txBody>
      </p:sp>
      <p:sp>
        <p:nvSpPr>
          <p:cNvPr id="4" name="Slide Number Placeholder 3"/>
          <p:cNvSpPr>
            <a:spLocks noGrp="1"/>
          </p:cNvSpPr>
          <p:nvPr>
            <p:ph type="sldNum" sz="quarter" idx="5"/>
          </p:nvPr>
        </p:nvSpPr>
        <p:spPr/>
        <p:txBody>
          <a:bodyPr/>
          <a:lstStyle/>
          <a:p>
            <a:fld id="{0E4F9FF8-F730-48A2-A15C-4DAF3EEA9E4C}" type="slidenum">
              <a:rPr lang="en-US" smtClean="0"/>
              <a:t>10</a:t>
            </a:fld>
            <a:endParaRPr lang="en-US"/>
          </a:p>
        </p:txBody>
      </p:sp>
    </p:spTree>
    <p:extLst>
      <p:ext uri="{BB962C8B-B14F-4D97-AF65-F5344CB8AC3E}">
        <p14:creationId xmlns:p14="http://schemas.microsoft.com/office/powerpoint/2010/main" val="17624714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Grafik</a:t>
            </a:r>
            <a:r>
              <a:rPr lang="en-US" dirty="0"/>
              <a:t> </a:t>
            </a:r>
            <a:r>
              <a:rPr lang="en-US" dirty="0" err="1"/>
              <a:t>ini</a:t>
            </a:r>
            <a:r>
              <a:rPr lang="en-US" dirty="0"/>
              <a:t> </a:t>
            </a:r>
            <a:r>
              <a:rPr lang="en-US" dirty="0" err="1"/>
              <a:t>menunjukkan</a:t>
            </a:r>
            <a:r>
              <a:rPr lang="en-US" dirty="0"/>
              <a:t> proses </a:t>
            </a:r>
            <a:r>
              <a:rPr lang="en-US" dirty="0" err="1"/>
              <a:t>konvergensi</a:t>
            </a:r>
            <a:r>
              <a:rPr lang="en-US" dirty="0"/>
              <a:t> model CTM </a:t>
            </a:r>
            <a:r>
              <a:rPr lang="en-US" dirty="0" err="1"/>
              <a:t>menggunakan</a:t>
            </a:r>
            <a:r>
              <a:rPr lang="en-US" dirty="0"/>
              <a:t> variational inference. Model </a:t>
            </a:r>
            <a:r>
              <a:rPr lang="en-US" dirty="0" err="1"/>
              <a:t>mencapai</a:t>
            </a:r>
            <a:r>
              <a:rPr lang="en-US" dirty="0"/>
              <a:t> </a:t>
            </a:r>
            <a:r>
              <a:rPr lang="en-US" dirty="0" err="1"/>
              <a:t>kondisi</a:t>
            </a:r>
            <a:r>
              <a:rPr lang="en-US" dirty="0"/>
              <a:t> </a:t>
            </a:r>
            <a:r>
              <a:rPr lang="en-US" dirty="0" err="1"/>
              <a:t>konvergensi</a:t>
            </a:r>
            <a:r>
              <a:rPr lang="en-US" dirty="0"/>
              <a:t>, </a:t>
            </a:r>
            <a:r>
              <a:rPr lang="en-US" dirty="0" err="1"/>
              <a:t>menuju</a:t>
            </a:r>
            <a:r>
              <a:rPr lang="en-US" dirty="0"/>
              <a:t> </a:t>
            </a:r>
            <a:r>
              <a:rPr lang="en-US" dirty="0" err="1"/>
              <a:t>satu</a:t>
            </a:r>
            <a:r>
              <a:rPr lang="en-US" dirty="0"/>
              <a:t> </a:t>
            </a:r>
            <a:r>
              <a:rPr lang="en-US" dirty="0" err="1"/>
              <a:t>titik</a:t>
            </a:r>
            <a:r>
              <a:rPr lang="en-US" dirty="0"/>
              <a:t> </a:t>
            </a:r>
            <a:r>
              <a:rPr lang="en-US" dirty="0" err="1"/>
              <a:t>pemusatan</a:t>
            </a:r>
            <a:r>
              <a:rPr lang="en-US" dirty="0"/>
              <a:t> (ELBO </a:t>
            </a:r>
            <a:r>
              <a:rPr lang="en-US" dirty="0" err="1"/>
              <a:t>stabil</a:t>
            </a:r>
            <a:r>
              <a:rPr lang="en-US" dirty="0"/>
              <a:t>), </a:t>
            </a:r>
          </a:p>
          <a:p>
            <a:endParaRPr lang="en-US" dirty="0"/>
          </a:p>
          <a:p>
            <a:r>
              <a:rPr lang="en-US" dirty="0"/>
              <a:t>pada </a:t>
            </a:r>
            <a:r>
              <a:rPr lang="en-US" dirty="0" err="1"/>
              <a:t>iterasi</a:t>
            </a:r>
            <a:r>
              <a:rPr lang="en-US" dirty="0"/>
              <a:t> ke-100, </a:t>
            </a:r>
            <a:r>
              <a:rPr lang="en-US" dirty="0" err="1"/>
              <a:t>menandakan</a:t>
            </a:r>
            <a:r>
              <a:rPr lang="en-US" dirty="0"/>
              <a:t> </a:t>
            </a:r>
            <a:r>
              <a:rPr lang="en-US" dirty="0" err="1"/>
              <a:t>estimasi</a:t>
            </a:r>
            <a:r>
              <a:rPr lang="en-US" dirty="0"/>
              <a:t> parameter </a:t>
            </a:r>
            <a:r>
              <a:rPr lang="en-US" dirty="0" err="1"/>
              <a:t>sudah</a:t>
            </a:r>
            <a:r>
              <a:rPr lang="en-US" dirty="0"/>
              <a:t> </a:t>
            </a:r>
            <a:r>
              <a:rPr lang="en-US" dirty="0" err="1"/>
              <a:t>berjalan</a:t>
            </a:r>
            <a:r>
              <a:rPr lang="en-US" dirty="0"/>
              <a:t> </a:t>
            </a:r>
            <a:r>
              <a:rPr lang="en-US" dirty="0" err="1"/>
              <a:t>stabil</a:t>
            </a:r>
            <a:r>
              <a:rPr lang="en-US" dirty="0"/>
              <a:t> </a:t>
            </a:r>
            <a:r>
              <a:rPr lang="en-US" dirty="0" err="1"/>
              <a:t>sebelum</a:t>
            </a:r>
            <a:r>
              <a:rPr lang="en-US" dirty="0"/>
              <a:t> </a:t>
            </a:r>
            <a:r>
              <a:rPr lang="en-US" dirty="0" err="1"/>
              <a:t>digunakan</a:t>
            </a:r>
            <a:r>
              <a:rPr lang="en-US" dirty="0"/>
              <a:t> </a:t>
            </a:r>
            <a:r>
              <a:rPr lang="en-US" dirty="0" err="1"/>
              <a:t>untuk</a:t>
            </a:r>
            <a:r>
              <a:rPr lang="en-US" dirty="0"/>
              <a:t> </a:t>
            </a:r>
            <a:r>
              <a:rPr lang="en-US" dirty="0" err="1"/>
              <a:t>interpretasi</a:t>
            </a:r>
            <a:r>
              <a:rPr lang="en-US" dirty="0"/>
              <a:t> </a:t>
            </a:r>
            <a:r>
              <a:rPr lang="en-US" dirty="0" err="1"/>
              <a:t>topik</a:t>
            </a:r>
            <a:endParaRPr lang="en-US" dirty="0"/>
          </a:p>
        </p:txBody>
      </p:sp>
      <p:sp>
        <p:nvSpPr>
          <p:cNvPr id="4" name="Slide Number Placeholder 3"/>
          <p:cNvSpPr>
            <a:spLocks noGrp="1"/>
          </p:cNvSpPr>
          <p:nvPr>
            <p:ph type="sldNum" sz="quarter" idx="5"/>
          </p:nvPr>
        </p:nvSpPr>
        <p:spPr/>
        <p:txBody>
          <a:bodyPr/>
          <a:lstStyle/>
          <a:p>
            <a:fld id="{0E4F9FF8-F730-48A2-A15C-4DAF3EEA9E4C}" type="slidenum">
              <a:rPr lang="en-US" smtClean="0"/>
              <a:t>11</a:t>
            </a:fld>
            <a:endParaRPr lang="en-US"/>
          </a:p>
        </p:txBody>
      </p:sp>
    </p:spTree>
    <p:extLst>
      <p:ext uri="{BB962C8B-B14F-4D97-AF65-F5344CB8AC3E}">
        <p14:creationId xmlns:p14="http://schemas.microsoft.com/office/powerpoint/2010/main" val="27880927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Salah </a:t>
            </a:r>
            <a:r>
              <a:rPr lang="en-US" dirty="0" err="1"/>
              <a:t>satu</a:t>
            </a:r>
            <a:r>
              <a:rPr lang="en-US" dirty="0"/>
              <a:t> </a:t>
            </a:r>
            <a:r>
              <a:rPr lang="en-US" dirty="0" err="1"/>
              <a:t>keunggulan</a:t>
            </a:r>
            <a:r>
              <a:rPr lang="en-US" dirty="0"/>
              <a:t> CTM </a:t>
            </a:r>
            <a:r>
              <a:rPr lang="en-US" dirty="0" err="1"/>
              <a:t>dibanding</a:t>
            </a:r>
            <a:r>
              <a:rPr lang="en-US" dirty="0"/>
              <a:t> LDA </a:t>
            </a:r>
            <a:r>
              <a:rPr lang="en-US" dirty="0" err="1"/>
              <a:t>adalah</a:t>
            </a:r>
            <a:r>
              <a:rPr lang="en-US" dirty="0"/>
              <a:t> </a:t>
            </a:r>
            <a:r>
              <a:rPr lang="en-US" dirty="0" err="1"/>
              <a:t>kemampuannya</a:t>
            </a:r>
            <a:r>
              <a:rPr lang="en-US" dirty="0"/>
              <a:t> </a:t>
            </a:r>
            <a:r>
              <a:rPr lang="en-US" dirty="0" err="1"/>
              <a:t>memodelkan</a:t>
            </a:r>
            <a:r>
              <a:rPr lang="en-US" dirty="0"/>
              <a:t> </a:t>
            </a:r>
            <a:r>
              <a:rPr lang="en-US" dirty="0" err="1"/>
              <a:t>korelasi</a:t>
            </a:r>
            <a:r>
              <a:rPr lang="en-US" dirty="0"/>
              <a:t> </a:t>
            </a:r>
            <a:r>
              <a:rPr lang="en-US" dirty="0" err="1"/>
              <a:t>antar</a:t>
            </a:r>
            <a:r>
              <a:rPr lang="en-US" dirty="0"/>
              <a:t> </a:t>
            </a:r>
            <a:r>
              <a:rPr lang="en-US" dirty="0" err="1"/>
              <a:t>topik</a:t>
            </a:r>
            <a:r>
              <a:rPr lang="en-US" dirty="0"/>
              <a:t>. </a:t>
            </a:r>
            <a:r>
              <a:rPr lang="en-US" dirty="0" err="1"/>
              <a:t>Sebagai</a:t>
            </a:r>
            <a:r>
              <a:rPr lang="en-US" dirty="0"/>
              <a:t> </a:t>
            </a:r>
            <a:r>
              <a:rPr lang="en-US" dirty="0" err="1"/>
              <a:t>contoh</a:t>
            </a:r>
            <a:r>
              <a:rPr lang="en-US" dirty="0"/>
              <a:t>, </a:t>
            </a:r>
            <a:r>
              <a:rPr lang="en-US" dirty="0" err="1"/>
              <a:t>topik</a:t>
            </a:r>
            <a:r>
              <a:rPr lang="en-US" dirty="0"/>
              <a:t> 1 dan </a:t>
            </a:r>
            <a:r>
              <a:rPr lang="en-US" dirty="0" err="1"/>
              <a:t>topik</a:t>
            </a:r>
            <a:r>
              <a:rPr lang="en-US" dirty="0"/>
              <a:t> 2 </a:t>
            </a:r>
            <a:r>
              <a:rPr lang="en-US" dirty="0" err="1"/>
              <a:t>berkorelasi</a:t>
            </a:r>
            <a:r>
              <a:rPr lang="en-US" dirty="0"/>
              <a:t> 0,12 — </a:t>
            </a:r>
            <a:r>
              <a:rPr lang="en-US" dirty="0" err="1"/>
              <a:t>ketika</a:t>
            </a:r>
            <a:r>
              <a:rPr lang="en-US" dirty="0"/>
              <a:t> Al-Qur'an </a:t>
            </a:r>
            <a:r>
              <a:rPr lang="en-US" dirty="0" err="1"/>
              <a:t>membahas</a:t>
            </a:r>
            <a:r>
              <a:rPr lang="en-US" dirty="0"/>
              <a:t> Rasul, </a:t>
            </a:r>
            <a:r>
              <a:rPr lang="en-US" dirty="0" err="1"/>
              <a:t>sering</a:t>
            </a:r>
            <a:r>
              <a:rPr lang="en-US" dirty="0"/>
              <a:t> juga </a:t>
            </a:r>
            <a:r>
              <a:rPr lang="en-US" dirty="0" err="1"/>
              <a:t>muncul</a:t>
            </a:r>
            <a:r>
              <a:rPr lang="en-US" dirty="0"/>
              <a:t> </a:t>
            </a:r>
            <a:r>
              <a:rPr lang="en-US" dirty="0" err="1"/>
              <a:t>pembahasan</a:t>
            </a:r>
            <a:r>
              <a:rPr lang="en-US" dirty="0"/>
              <a:t> </a:t>
            </a:r>
            <a:r>
              <a:rPr lang="en-US" dirty="0" err="1"/>
              <a:t>pembenaran</a:t>
            </a:r>
            <a:r>
              <a:rPr lang="en-US" dirty="0"/>
              <a:t> </a:t>
            </a:r>
            <a:r>
              <a:rPr lang="en-US" dirty="0" err="1"/>
              <a:t>ajaran</a:t>
            </a:r>
            <a:r>
              <a:rPr lang="en-US" dirty="0"/>
              <a:t>, </a:t>
            </a:r>
            <a:r>
              <a:rPr lang="en-US" dirty="0" err="1"/>
              <a:t>gangguan</a:t>
            </a:r>
            <a:r>
              <a:rPr lang="en-US" dirty="0"/>
              <a:t> </a:t>
            </a:r>
            <a:r>
              <a:rPr lang="en-US" dirty="0" err="1"/>
              <a:t>setan</a:t>
            </a:r>
            <a:r>
              <a:rPr lang="en-US" dirty="0"/>
              <a:t>, dan </a:t>
            </a:r>
            <a:r>
              <a:rPr lang="en-US" dirty="0" err="1"/>
              <a:t>pendustaan</a:t>
            </a:r>
            <a:r>
              <a:rPr lang="en-US" dirty="0"/>
              <a:t> orang-orang kafir.</a:t>
            </a:r>
          </a:p>
          <a:p>
            <a:endParaRPr lang="en-US" dirty="0"/>
          </a:p>
          <a:p>
            <a:r>
              <a:rPr lang="en-US" dirty="0" err="1"/>
              <a:t>Topik</a:t>
            </a:r>
            <a:r>
              <a:rPr lang="en-US" dirty="0"/>
              <a:t> 0 dan </a:t>
            </a:r>
            <a:r>
              <a:rPr lang="en-US" dirty="0" err="1"/>
              <a:t>topik</a:t>
            </a:r>
            <a:r>
              <a:rPr lang="en-US" dirty="0"/>
              <a:t> 1 </a:t>
            </a:r>
            <a:r>
              <a:rPr lang="en-US" dirty="0" err="1"/>
              <a:t>berkorelasi</a:t>
            </a:r>
            <a:r>
              <a:rPr lang="en-US" dirty="0"/>
              <a:t> 0,10, </a:t>
            </a:r>
            <a:r>
              <a:rPr lang="en-US" dirty="0" err="1"/>
              <a:t>membahas</a:t>
            </a:r>
            <a:r>
              <a:rPr lang="en-US" dirty="0"/>
              <a:t> </a:t>
            </a:r>
            <a:r>
              <a:rPr lang="en-US" dirty="0" err="1"/>
              <a:t>ayat-ayat</a:t>
            </a:r>
            <a:r>
              <a:rPr lang="en-US" dirty="0"/>
              <a:t> Allah </a:t>
            </a:r>
            <a:r>
              <a:rPr lang="en-US" dirty="0" err="1"/>
              <a:t>sebagai</a:t>
            </a:r>
            <a:r>
              <a:rPr lang="en-US" dirty="0"/>
              <a:t> </a:t>
            </a:r>
            <a:r>
              <a:rPr lang="en-US" dirty="0" err="1"/>
              <a:t>kebenaran</a:t>
            </a:r>
            <a:r>
              <a:rPr lang="en-US" dirty="0"/>
              <a:t> yang </a:t>
            </a:r>
            <a:r>
              <a:rPr lang="en-US" dirty="0" err="1"/>
              <a:t>harus</a:t>
            </a:r>
            <a:r>
              <a:rPr lang="en-US" dirty="0"/>
              <a:t> </a:t>
            </a:r>
            <a:r>
              <a:rPr lang="en-US" dirty="0" err="1"/>
              <a:t>dibaca</a:t>
            </a:r>
            <a:r>
              <a:rPr lang="en-US" dirty="0"/>
              <a:t>. </a:t>
            </a:r>
            <a:r>
              <a:rPr lang="en-US" dirty="0" err="1"/>
              <a:t>Topik</a:t>
            </a:r>
            <a:r>
              <a:rPr lang="en-US" dirty="0"/>
              <a:t> 5 dan </a:t>
            </a:r>
            <a:r>
              <a:rPr lang="en-US" dirty="0" err="1"/>
              <a:t>topik</a:t>
            </a:r>
            <a:r>
              <a:rPr lang="en-US" dirty="0"/>
              <a:t> 3 </a:t>
            </a:r>
            <a:r>
              <a:rPr lang="en-US" dirty="0" err="1"/>
              <a:t>berkorelasi</a:t>
            </a:r>
            <a:r>
              <a:rPr lang="en-US" dirty="0"/>
              <a:t> 0,10, </a:t>
            </a:r>
            <a:r>
              <a:rPr lang="en-US" dirty="0" err="1"/>
              <a:t>membahas</a:t>
            </a:r>
            <a:r>
              <a:rPr lang="en-US" dirty="0"/>
              <a:t> </a:t>
            </a:r>
            <a:r>
              <a:rPr lang="en-US" dirty="0" err="1"/>
              <a:t>penciptaan</a:t>
            </a:r>
            <a:r>
              <a:rPr lang="en-US" dirty="0"/>
              <a:t> </a:t>
            </a:r>
            <a:r>
              <a:rPr lang="en-US" dirty="0" err="1"/>
              <a:t>alam</a:t>
            </a:r>
            <a:r>
              <a:rPr lang="en-US" dirty="0"/>
              <a:t> dan </a:t>
            </a:r>
            <a:r>
              <a:rPr lang="en-US" dirty="0" err="1"/>
              <a:t>tanda</a:t>
            </a:r>
            <a:r>
              <a:rPr lang="en-US" dirty="0"/>
              <a:t> </a:t>
            </a:r>
            <a:r>
              <a:rPr lang="en-US" dirty="0" err="1"/>
              <a:t>kekuasaan</a:t>
            </a:r>
            <a:r>
              <a:rPr lang="en-US" dirty="0"/>
              <a:t> Allah. </a:t>
            </a:r>
            <a:r>
              <a:rPr lang="en-US" dirty="0" err="1"/>
              <a:t>Korelasi</a:t>
            </a:r>
            <a:r>
              <a:rPr lang="en-US" dirty="0"/>
              <a:t> </a:t>
            </a:r>
            <a:r>
              <a:rPr lang="en-US" dirty="0" err="1"/>
              <a:t>antar</a:t>
            </a:r>
            <a:r>
              <a:rPr lang="en-US" dirty="0"/>
              <a:t> </a:t>
            </a:r>
            <a:r>
              <a:rPr lang="en-US" dirty="0" err="1"/>
              <a:t>topik</a:t>
            </a:r>
            <a:r>
              <a:rPr lang="en-US" dirty="0"/>
              <a:t> </a:t>
            </a:r>
            <a:r>
              <a:rPr lang="en-US" dirty="0" err="1"/>
              <a:t>inilah</a:t>
            </a:r>
            <a:r>
              <a:rPr lang="en-US" dirty="0"/>
              <a:t> </a:t>
            </a:r>
            <a:r>
              <a:rPr lang="en-US" dirty="0" err="1"/>
              <a:t>nilai</a:t>
            </a:r>
            <a:r>
              <a:rPr lang="en-US" dirty="0"/>
              <a:t> </a:t>
            </a:r>
            <a:r>
              <a:rPr lang="en-US" dirty="0" err="1"/>
              <a:t>tambah</a:t>
            </a:r>
            <a:r>
              <a:rPr lang="en-US" dirty="0"/>
              <a:t> </a:t>
            </a:r>
            <a:r>
              <a:rPr lang="en-US" dirty="0" err="1"/>
              <a:t>utama</a:t>
            </a:r>
            <a:r>
              <a:rPr lang="en-US" dirty="0"/>
              <a:t> CTM </a:t>
            </a:r>
            <a:r>
              <a:rPr lang="en-US" dirty="0" err="1"/>
              <a:t>dibanding</a:t>
            </a:r>
            <a:r>
              <a:rPr lang="en-US" dirty="0"/>
              <a:t> model yang </a:t>
            </a:r>
            <a:r>
              <a:rPr lang="en-US" dirty="0" err="1"/>
              <a:t>mengasumsikan</a:t>
            </a:r>
            <a:r>
              <a:rPr lang="en-US" dirty="0"/>
              <a:t> </a:t>
            </a:r>
            <a:r>
              <a:rPr lang="en-US" dirty="0" err="1"/>
              <a:t>topik</a:t>
            </a:r>
            <a:r>
              <a:rPr lang="en-US" dirty="0"/>
              <a:t> </a:t>
            </a:r>
            <a:r>
              <a:rPr lang="en-US" dirty="0" err="1"/>
              <a:t>saling</a:t>
            </a:r>
            <a:r>
              <a:rPr lang="en-US" dirty="0"/>
              <a:t> </a:t>
            </a:r>
            <a:r>
              <a:rPr lang="en-US" dirty="0" err="1"/>
              <a:t>independen</a:t>
            </a:r>
            <a:r>
              <a:rPr lang="en-US" dirty="0"/>
              <a:t>."</a:t>
            </a:r>
          </a:p>
          <a:p>
            <a:endParaRPr lang="en-US" dirty="0"/>
          </a:p>
          <a:p>
            <a:r>
              <a:rPr lang="en-US" dirty="0" err="1"/>
              <a:t>Arahan</a:t>
            </a:r>
            <a:r>
              <a:rPr lang="en-US" dirty="0"/>
              <a:t>: </a:t>
            </a:r>
            <a:r>
              <a:rPr lang="en-US" dirty="0" err="1"/>
              <a:t>Tekankan</a:t>
            </a:r>
            <a:r>
              <a:rPr lang="en-US" dirty="0"/>
              <a:t> </a:t>
            </a:r>
            <a:r>
              <a:rPr lang="en-US" dirty="0" err="1"/>
              <a:t>bahwa</a:t>
            </a:r>
            <a:r>
              <a:rPr lang="en-US" dirty="0"/>
              <a:t> </a:t>
            </a:r>
            <a:r>
              <a:rPr lang="en-US" dirty="0" err="1"/>
              <a:t>korelasi</a:t>
            </a:r>
            <a:r>
              <a:rPr lang="en-US" dirty="0"/>
              <a:t> </a:t>
            </a:r>
            <a:r>
              <a:rPr lang="en-US" dirty="0" err="1"/>
              <a:t>antar</a:t>
            </a:r>
            <a:r>
              <a:rPr lang="en-US" dirty="0"/>
              <a:t> </a:t>
            </a:r>
            <a:r>
              <a:rPr lang="en-US" dirty="0" err="1"/>
              <a:t>topik</a:t>
            </a:r>
            <a:r>
              <a:rPr lang="en-US" dirty="0"/>
              <a:t> </a:t>
            </a:r>
            <a:r>
              <a:rPr lang="en-US" dirty="0" err="1"/>
              <a:t>adalah</a:t>
            </a:r>
            <a:r>
              <a:rPr lang="en-US" dirty="0"/>
              <a:t> </a:t>
            </a:r>
            <a:r>
              <a:rPr lang="en-US" dirty="0" err="1"/>
              <a:t>ciri</a:t>
            </a:r>
            <a:r>
              <a:rPr lang="en-US" dirty="0"/>
              <a:t> </a:t>
            </a:r>
            <a:r>
              <a:rPr lang="en-US" dirty="0" err="1"/>
              <a:t>khas</a:t>
            </a:r>
            <a:r>
              <a:rPr lang="en-US" dirty="0"/>
              <a:t> CTM (logistic-normal) yang </a:t>
            </a:r>
            <a:r>
              <a:rPr lang="en-US" dirty="0" err="1"/>
              <a:t>tidak</a:t>
            </a:r>
            <a:r>
              <a:rPr lang="en-US" dirty="0"/>
              <a:t> </a:t>
            </a:r>
            <a:r>
              <a:rPr lang="en-US" dirty="0" err="1"/>
              <a:t>dimiliki</a:t>
            </a:r>
            <a:r>
              <a:rPr lang="en-US" dirty="0"/>
              <a:t> LDA (Dirichlet, </a:t>
            </a:r>
            <a:r>
              <a:rPr lang="en-US" dirty="0" err="1"/>
              <a:t>topik</a:t>
            </a:r>
            <a:r>
              <a:rPr lang="en-US" dirty="0"/>
              <a:t> </a:t>
            </a:r>
            <a:r>
              <a:rPr lang="en-US" dirty="0" err="1"/>
              <a:t>independen</a:t>
            </a:r>
            <a:r>
              <a:rPr lang="en-US" dirty="0"/>
              <a:t>).</a:t>
            </a:r>
          </a:p>
        </p:txBody>
      </p:sp>
      <p:sp>
        <p:nvSpPr>
          <p:cNvPr id="4" name="Slide Number Placeholder 3"/>
          <p:cNvSpPr>
            <a:spLocks noGrp="1"/>
          </p:cNvSpPr>
          <p:nvPr>
            <p:ph type="sldNum" sz="quarter" idx="5"/>
          </p:nvPr>
        </p:nvSpPr>
        <p:spPr/>
        <p:txBody>
          <a:bodyPr/>
          <a:lstStyle/>
          <a:p>
            <a:fld id="{0E4F9FF8-F730-48A2-A15C-4DAF3EEA9E4C}" type="slidenum">
              <a:rPr lang="en-US" smtClean="0"/>
              <a:t>12</a:t>
            </a:fld>
            <a:endParaRPr lang="en-US"/>
          </a:p>
        </p:txBody>
      </p:sp>
    </p:spTree>
    <p:extLst>
      <p:ext uri="{BB962C8B-B14F-4D97-AF65-F5344CB8AC3E}">
        <p14:creationId xmlns:p14="http://schemas.microsoft.com/office/powerpoint/2010/main" val="36508371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CORRELATED TOPIC MODEL - </a:t>
            </a:r>
            <a:r>
              <a:rPr lang="en-US" dirty="0" err="1"/>
              <a:t>Evaluasi</a:t>
            </a:r>
            <a:r>
              <a:rPr lang="en-US" dirty="0"/>
              <a:t> Model - +/- 2-3 </a:t>
            </a:r>
            <a:r>
              <a:rPr lang="en-US" dirty="0" err="1"/>
              <a:t>menit</a:t>
            </a:r>
            <a:r>
              <a:rPr lang="en-US" dirty="0"/>
              <a:t>]</a:t>
            </a:r>
          </a:p>
          <a:p>
            <a:r>
              <a:rPr lang="en-US" dirty="0"/>
              <a:t>"</a:t>
            </a:r>
            <a:r>
              <a:rPr lang="en-US" dirty="0" err="1"/>
              <a:t>Evaluasi</a:t>
            </a:r>
            <a:r>
              <a:rPr lang="en-US" dirty="0"/>
              <a:t> CTM </a:t>
            </a:r>
            <a:r>
              <a:rPr lang="en-US" dirty="0" err="1"/>
              <a:t>menggunakan</a:t>
            </a:r>
            <a:r>
              <a:rPr lang="en-US" dirty="0"/>
              <a:t> lima </a:t>
            </a:r>
            <a:r>
              <a:rPr lang="en-US" dirty="0" err="1"/>
              <a:t>metrik</a:t>
            </a:r>
            <a:r>
              <a:rPr lang="en-US" dirty="0"/>
              <a:t>: </a:t>
            </a:r>
            <a:r>
              <a:rPr lang="en-US" dirty="0" err="1"/>
              <a:t>C_v</a:t>
            </a:r>
            <a:r>
              <a:rPr lang="en-US" dirty="0"/>
              <a:t> 0,517 (di </a:t>
            </a:r>
            <a:r>
              <a:rPr lang="en-US" dirty="0" err="1"/>
              <a:t>atas</a:t>
            </a:r>
            <a:r>
              <a:rPr lang="en-US" dirty="0"/>
              <a:t> </a:t>
            </a:r>
            <a:r>
              <a:rPr lang="en-US" dirty="0" err="1"/>
              <a:t>ambang</a:t>
            </a:r>
            <a:r>
              <a:rPr lang="en-US" dirty="0"/>
              <a:t> 0,5, </a:t>
            </a:r>
            <a:r>
              <a:rPr lang="en-US" dirty="0" err="1"/>
              <a:t>kategori</a:t>
            </a:r>
            <a:r>
              <a:rPr lang="en-US" dirty="0"/>
              <a:t> </a:t>
            </a:r>
            <a:r>
              <a:rPr lang="en-US" dirty="0" err="1"/>
              <a:t>baik</a:t>
            </a:r>
            <a:r>
              <a:rPr lang="en-US" dirty="0"/>
              <a:t>), NPMI -0,022 (</a:t>
            </a:r>
            <a:r>
              <a:rPr lang="en-US" dirty="0" err="1"/>
              <a:t>mendekati</a:t>
            </a:r>
            <a:r>
              <a:rPr lang="en-US" dirty="0"/>
              <a:t> </a:t>
            </a:r>
            <a:r>
              <a:rPr lang="en-US" dirty="0" err="1"/>
              <a:t>nol</a:t>
            </a:r>
            <a:r>
              <a:rPr lang="en-US" dirty="0"/>
              <a:t>, </a:t>
            </a:r>
            <a:r>
              <a:rPr lang="en-US" dirty="0" err="1"/>
              <a:t>keterkaitan</a:t>
            </a:r>
            <a:r>
              <a:rPr lang="en-US" dirty="0"/>
              <a:t> </a:t>
            </a:r>
            <a:r>
              <a:rPr lang="en-US" dirty="0" err="1"/>
              <a:t>relatif</a:t>
            </a:r>
            <a:r>
              <a:rPr lang="en-US" dirty="0"/>
              <a:t> </a:t>
            </a:r>
            <a:r>
              <a:rPr lang="en-US" dirty="0" err="1"/>
              <a:t>lemah</a:t>
            </a:r>
            <a:r>
              <a:rPr lang="en-US" dirty="0"/>
              <a:t>), UMass -5,066 dan UCI -2,137 (</a:t>
            </a:r>
            <a:r>
              <a:rPr lang="en-US" dirty="0" err="1"/>
              <a:t>kategori</a:t>
            </a:r>
            <a:r>
              <a:rPr lang="en-US" dirty="0"/>
              <a:t> </a:t>
            </a:r>
            <a:r>
              <a:rPr lang="en-US" dirty="0" err="1"/>
              <a:t>sedang</a:t>
            </a:r>
            <a:r>
              <a:rPr lang="en-US" dirty="0"/>
              <a:t>, -4 s/d -6), </a:t>
            </a:r>
            <a:r>
              <a:rPr lang="en-US" dirty="0" err="1"/>
              <a:t>serta</a:t>
            </a:r>
            <a:r>
              <a:rPr lang="en-US" dirty="0"/>
              <a:t> Perplexity 1720,28 (model </a:t>
            </a:r>
            <a:r>
              <a:rPr lang="en-US" dirty="0" err="1"/>
              <a:t>belum</a:t>
            </a:r>
            <a:r>
              <a:rPr lang="en-US" dirty="0"/>
              <a:t> </a:t>
            </a:r>
            <a:r>
              <a:rPr lang="en-US" dirty="0" err="1"/>
              <a:t>sepenuhnya</a:t>
            </a:r>
            <a:r>
              <a:rPr lang="en-US" dirty="0"/>
              <a:t> optimal </a:t>
            </a:r>
            <a:r>
              <a:rPr lang="en-US" dirty="0" err="1"/>
              <a:t>menangkap</a:t>
            </a:r>
            <a:r>
              <a:rPr lang="en-US" dirty="0"/>
              <a:t> </a:t>
            </a:r>
            <a:r>
              <a:rPr lang="en-US" dirty="0" err="1"/>
              <a:t>struktur</a:t>
            </a:r>
            <a:r>
              <a:rPr lang="en-US" dirty="0"/>
              <a:t> </a:t>
            </a:r>
            <a:r>
              <a:rPr lang="en-US" dirty="0" err="1"/>
              <a:t>distribusi</a:t>
            </a:r>
            <a:r>
              <a:rPr lang="en-US" dirty="0"/>
              <a:t> kata).</a:t>
            </a:r>
          </a:p>
          <a:p>
            <a:endParaRPr lang="en-US" dirty="0"/>
          </a:p>
          <a:p>
            <a:r>
              <a:rPr lang="en-US" dirty="0" err="1"/>
              <a:t>Kesimpulannya</a:t>
            </a:r>
            <a:r>
              <a:rPr lang="en-US" dirty="0"/>
              <a:t>, CTM </a:t>
            </a:r>
            <a:r>
              <a:rPr lang="en-US" dirty="0" err="1"/>
              <a:t>menghasilkan</a:t>
            </a:r>
            <a:r>
              <a:rPr lang="en-US" dirty="0"/>
              <a:t> </a:t>
            </a:r>
            <a:r>
              <a:rPr lang="en-US" dirty="0" err="1"/>
              <a:t>kualitas</a:t>
            </a:r>
            <a:r>
              <a:rPr lang="en-US" dirty="0"/>
              <a:t> </a:t>
            </a:r>
            <a:r>
              <a:rPr lang="en-US" dirty="0" err="1"/>
              <a:t>topik</a:t>
            </a:r>
            <a:r>
              <a:rPr lang="en-US" dirty="0"/>
              <a:t> yang </a:t>
            </a:r>
            <a:r>
              <a:rPr lang="en-US" dirty="0" err="1"/>
              <a:t>cukup</a:t>
            </a:r>
            <a:r>
              <a:rPr lang="en-US" dirty="0"/>
              <a:t> </a:t>
            </a:r>
            <a:r>
              <a:rPr lang="en-US" dirty="0" err="1"/>
              <a:t>baik</a:t>
            </a:r>
            <a:r>
              <a:rPr lang="en-US" dirty="0"/>
              <a:t> dan </a:t>
            </a:r>
            <a:r>
              <a:rPr lang="en-US" dirty="0" err="1"/>
              <a:t>dapat</a:t>
            </a:r>
            <a:r>
              <a:rPr lang="en-US" dirty="0"/>
              <a:t> </a:t>
            </a:r>
            <a:r>
              <a:rPr lang="en-US" dirty="0" err="1"/>
              <a:t>diinterpretasikan</a:t>
            </a:r>
            <a:r>
              <a:rPr lang="en-US" dirty="0"/>
              <a:t>, </a:t>
            </a:r>
            <a:r>
              <a:rPr lang="en-US" dirty="0" err="1"/>
              <a:t>meski</a:t>
            </a:r>
            <a:r>
              <a:rPr lang="en-US" dirty="0"/>
              <a:t> </a:t>
            </a:r>
            <a:r>
              <a:rPr lang="en-US" dirty="0" err="1"/>
              <a:t>tingkat</a:t>
            </a:r>
            <a:r>
              <a:rPr lang="en-US" dirty="0"/>
              <a:t> </a:t>
            </a:r>
            <a:r>
              <a:rPr lang="en-US" dirty="0" err="1"/>
              <a:t>koherensinya</a:t>
            </a:r>
            <a:r>
              <a:rPr lang="en-US" dirty="0"/>
              <a:t> </a:t>
            </a:r>
            <a:r>
              <a:rPr lang="en-US" dirty="0" err="1"/>
              <a:t>masih</a:t>
            </a:r>
            <a:r>
              <a:rPr lang="en-US" dirty="0"/>
              <a:t> </a:t>
            </a:r>
            <a:r>
              <a:rPr lang="en-US" dirty="0" err="1"/>
              <a:t>kategori</a:t>
            </a:r>
            <a:r>
              <a:rPr lang="en-US" dirty="0"/>
              <a:t> </a:t>
            </a:r>
            <a:r>
              <a:rPr lang="en-US" dirty="0" err="1"/>
              <a:t>sedang</a:t>
            </a:r>
            <a:r>
              <a:rPr lang="en-US" dirty="0"/>
              <a:t>."</a:t>
            </a:r>
          </a:p>
          <a:p>
            <a:endParaRPr lang="en-US" dirty="0"/>
          </a:p>
          <a:p>
            <a:r>
              <a:rPr lang="en-US" dirty="0" err="1"/>
              <a:t>Arahan</a:t>
            </a:r>
            <a:r>
              <a:rPr lang="en-US" dirty="0"/>
              <a:t>: Bagian </a:t>
            </a:r>
            <a:r>
              <a:rPr lang="en-US" dirty="0" err="1"/>
              <a:t>ini</a:t>
            </a:r>
            <a:r>
              <a:rPr lang="en-US" dirty="0"/>
              <a:t> paling </a:t>
            </a:r>
            <a:r>
              <a:rPr lang="en-US" dirty="0" err="1"/>
              <a:t>mungkin</a:t>
            </a:r>
            <a:r>
              <a:rPr lang="en-US" dirty="0"/>
              <a:t> </a:t>
            </a:r>
            <a:r>
              <a:rPr lang="en-US" dirty="0" err="1"/>
              <a:t>didalami</a:t>
            </a:r>
            <a:r>
              <a:rPr lang="en-US" dirty="0"/>
              <a:t> </a:t>
            </a:r>
            <a:r>
              <a:rPr lang="en-US" dirty="0" err="1"/>
              <a:t>penguji</a:t>
            </a:r>
            <a:r>
              <a:rPr lang="en-US" dirty="0"/>
              <a:t> — </a:t>
            </a:r>
            <a:r>
              <a:rPr lang="en-US" dirty="0" err="1"/>
              <a:t>hafalkan</a:t>
            </a:r>
            <a:r>
              <a:rPr lang="en-US" dirty="0"/>
              <a:t> </a:t>
            </a:r>
            <a:r>
              <a:rPr lang="en-US" dirty="0" err="1"/>
              <a:t>urutan</a:t>
            </a:r>
            <a:r>
              <a:rPr lang="en-US" dirty="0"/>
              <a:t> </a:t>
            </a:r>
            <a:r>
              <a:rPr lang="en-US" dirty="0" err="1"/>
              <a:t>angka</a:t>
            </a:r>
            <a:r>
              <a:rPr lang="en-US" dirty="0"/>
              <a:t> dan </a:t>
            </a:r>
            <a:r>
              <a:rPr lang="en-US" dirty="0" err="1"/>
              <a:t>arah</a:t>
            </a:r>
            <a:r>
              <a:rPr lang="en-US" dirty="0"/>
              <a:t> </a:t>
            </a:r>
            <a:r>
              <a:rPr lang="en-US" dirty="0" err="1"/>
              <a:t>nilai</a:t>
            </a:r>
            <a:r>
              <a:rPr lang="en-US" dirty="0"/>
              <a:t> </a:t>
            </a:r>
            <a:r>
              <a:rPr lang="en-US" dirty="0" err="1"/>
              <a:t>baik</a:t>
            </a:r>
            <a:r>
              <a:rPr lang="en-US" dirty="0"/>
              <a:t>/</a:t>
            </a:r>
            <a:r>
              <a:rPr lang="en-US" dirty="0" err="1"/>
              <a:t>buruk</a:t>
            </a:r>
            <a:r>
              <a:rPr lang="en-US" dirty="0"/>
              <a:t> </a:t>
            </a:r>
            <a:r>
              <a:rPr lang="en-US" dirty="0" err="1"/>
              <a:t>tiap</a:t>
            </a:r>
            <a:r>
              <a:rPr lang="en-US" dirty="0"/>
              <a:t> </a:t>
            </a:r>
            <a:r>
              <a:rPr lang="en-US" dirty="0" err="1"/>
              <a:t>metrik</a:t>
            </a:r>
            <a:r>
              <a:rPr lang="en-US" dirty="0"/>
              <a:t>.</a:t>
            </a:r>
          </a:p>
          <a:p>
            <a:endParaRPr lang="en-US" dirty="0"/>
          </a:p>
        </p:txBody>
      </p:sp>
      <p:sp>
        <p:nvSpPr>
          <p:cNvPr id="4" name="Slide Number Placeholder 3"/>
          <p:cNvSpPr>
            <a:spLocks noGrp="1"/>
          </p:cNvSpPr>
          <p:nvPr>
            <p:ph type="sldNum" sz="quarter" idx="5"/>
          </p:nvPr>
        </p:nvSpPr>
        <p:spPr/>
        <p:txBody>
          <a:bodyPr/>
          <a:lstStyle/>
          <a:p>
            <a:fld id="{0E4F9FF8-F730-48A2-A15C-4DAF3EEA9E4C}" type="slidenum">
              <a:rPr lang="en-US" smtClean="0"/>
              <a:t>13</a:t>
            </a:fld>
            <a:endParaRPr lang="en-US"/>
          </a:p>
        </p:txBody>
      </p:sp>
    </p:spTree>
    <p:extLst>
      <p:ext uri="{BB962C8B-B14F-4D97-AF65-F5344CB8AC3E}">
        <p14:creationId xmlns:p14="http://schemas.microsoft.com/office/powerpoint/2010/main" val="40076679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Grafik</a:t>
            </a:r>
            <a:r>
              <a:rPr lang="en-US" dirty="0"/>
              <a:t> </a:t>
            </a:r>
            <a:r>
              <a:rPr lang="en-US" dirty="0" err="1"/>
              <a:t>ini</a:t>
            </a:r>
            <a:r>
              <a:rPr lang="en-US" dirty="0"/>
              <a:t> </a:t>
            </a:r>
            <a:r>
              <a:rPr lang="en-US" dirty="0" err="1"/>
              <a:t>menunjukkan</a:t>
            </a:r>
            <a:r>
              <a:rPr lang="en-US" dirty="0"/>
              <a:t> </a:t>
            </a:r>
            <a:r>
              <a:rPr lang="en-US" dirty="0" err="1"/>
              <a:t>distribusi</a:t>
            </a:r>
            <a:r>
              <a:rPr lang="en-US" dirty="0"/>
              <a:t> </a:t>
            </a:r>
            <a:r>
              <a:rPr lang="en-US" dirty="0" err="1"/>
              <a:t>topik</a:t>
            </a:r>
            <a:r>
              <a:rPr lang="en-US" dirty="0"/>
              <a:t> pada 20 </a:t>
            </a:r>
            <a:r>
              <a:rPr lang="en-US" dirty="0" err="1"/>
              <a:t>surat</a:t>
            </a:r>
            <a:r>
              <a:rPr lang="en-US" dirty="0"/>
              <a:t> </a:t>
            </a:r>
            <a:r>
              <a:rPr lang="en-US" dirty="0" err="1"/>
              <a:t>pertama</a:t>
            </a:r>
            <a:r>
              <a:rPr lang="en-US" dirty="0"/>
              <a:t>. </a:t>
            </a:r>
            <a:r>
              <a:rPr lang="en-US" dirty="0" err="1"/>
              <a:t>Distribusi</a:t>
            </a:r>
            <a:r>
              <a:rPr lang="en-US" dirty="0"/>
              <a:t> </a:t>
            </a:r>
            <a:r>
              <a:rPr lang="en-US" dirty="0" err="1"/>
              <a:t>topik</a:t>
            </a:r>
            <a:r>
              <a:rPr lang="en-US" dirty="0"/>
              <a:t> </a:t>
            </a:r>
            <a:r>
              <a:rPr lang="en-US" dirty="0" err="1"/>
              <a:t>terlihat</a:t>
            </a:r>
            <a:r>
              <a:rPr lang="en-US" dirty="0"/>
              <a:t> </a:t>
            </a:r>
            <a:r>
              <a:rPr lang="en-US" dirty="0" err="1"/>
              <a:t>tidak</a:t>
            </a:r>
            <a:r>
              <a:rPr lang="en-US" dirty="0"/>
              <a:t> </a:t>
            </a:r>
            <a:r>
              <a:rPr lang="en-US" dirty="0" err="1"/>
              <a:t>merata</a:t>
            </a:r>
            <a:r>
              <a:rPr lang="en-US" dirty="0"/>
              <a:t>, </a:t>
            </a:r>
            <a:r>
              <a:rPr lang="en-US" dirty="0" err="1"/>
              <a:t>mengindikasikan</a:t>
            </a:r>
            <a:r>
              <a:rPr lang="en-US" dirty="0"/>
              <a:t> </a:t>
            </a:r>
            <a:r>
              <a:rPr lang="en-US" dirty="0" err="1"/>
              <a:t>tiap</a:t>
            </a:r>
            <a:r>
              <a:rPr lang="en-US" dirty="0"/>
              <a:t> </a:t>
            </a:r>
            <a:r>
              <a:rPr lang="en-US" dirty="0" err="1"/>
              <a:t>surat</a:t>
            </a:r>
            <a:r>
              <a:rPr lang="en-US" dirty="0"/>
              <a:t> punya </a:t>
            </a:r>
            <a:r>
              <a:rPr lang="en-US" dirty="0" err="1"/>
              <a:t>kecenderungan</a:t>
            </a:r>
            <a:r>
              <a:rPr lang="en-US" dirty="0"/>
              <a:t> </a:t>
            </a:r>
            <a:r>
              <a:rPr lang="en-US" dirty="0" err="1"/>
              <a:t>kuat</a:t>
            </a:r>
            <a:r>
              <a:rPr lang="en-US" dirty="0"/>
              <a:t> </a:t>
            </a:r>
            <a:r>
              <a:rPr lang="en-US" dirty="0" err="1"/>
              <a:t>terhadap</a:t>
            </a:r>
            <a:r>
              <a:rPr lang="en-US" dirty="0"/>
              <a:t> </a:t>
            </a:r>
            <a:r>
              <a:rPr lang="en-US" dirty="0" err="1"/>
              <a:t>topik</a:t>
            </a:r>
            <a:r>
              <a:rPr lang="en-US" dirty="0"/>
              <a:t> </a:t>
            </a:r>
            <a:r>
              <a:rPr lang="en-US" dirty="0" err="1"/>
              <a:t>tertentu</a:t>
            </a:r>
            <a:r>
              <a:rPr lang="en-US" dirty="0"/>
              <a:t>. </a:t>
            </a:r>
            <a:r>
              <a:rPr lang="en-US" dirty="0" err="1"/>
              <a:t>Topik</a:t>
            </a:r>
            <a:r>
              <a:rPr lang="en-US" dirty="0"/>
              <a:t> 12 dan 13 </a:t>
            </a:r>
            <a:r>
              <a:rPr lang="en-US" dirty="0" err="1"/>
              <a:t>tampak</a:t>
            </a:r>
            <a:r>
              <a:rPr lang="en-US" dirty="0"/>
              <a:t> </a:t>
            </a:r>
            <a:r>
              <a:rPr lang="en-US" dirty="0" err="1"/>
              <a:t>relatif</a:t>
            </a:r>
            <a:r>
              <a:rPr lang="en-US" dirty="0"/>
              <a:t> </a:t>
            </a:r>
            <a:r>
              <a:rPr lang="en-US" dirty="0" err="1"/>
              <a:t>tinggi</a:t>
            </a:r>
            <a:r>
              <a:rPr lang="en-US" dirty="0"/>
              <a:t> dan </a:t>
            </a:r>
            <a:r>
              <a:rPr lang="en-US" dirty="0" err="1"/>
              <a:t>konsisten</a:t>
            </a:r>
            <a:r>
              <a:rPr lang="en-US" dirty="0"/>
              <a:t> di </a:t>
            </a:r>
            <a:r>
              <a:rPr lang="en-US" dirty="0" err="1"/>
              <a:t>banyak</a:t>
            </a:r>
            <a:r>
              <a:rPr lang="en-US" dirty="0"/>
              <a:t> </a:t>
            </a:r>
            <a:r>
              <a:rPr lang="en-US" dirty="0" err="1"/>
              <a:t>surat</a:t>
            </a:r>
            <a:r>
              <a:rPr lang="en-US" dirty="0"/>
              <a:t> (</a:t>
            </a:r>
            <a:r>
              <a:rPr lang="en-US" dirty="0" err="1"/>
              <a:t>kisaran</a:t>
            </a:r>
            <a:r>
              <a:rPr lang="en-US" dirty="0"/>
              <a:t> 0,15-0,26), </a:t>
            </a:r>
            <a:r>
              <a:rPr lang="en-US" dirty="0" err="1"/>
              <a:t>sehingga</a:t>
            </a:r>
            <a:r>
              <a:rPr lang="en-US" dirty="0"/>
              <a:t> </a:t>
            </a:r>
            <a:r>
              <a:rPr lang="en-US" dirty="0" err="1"/>
              <a:t>dapat</a:t>
            </a:r>
            <a:r>
              <a:rPr lang="en-US" dirty="0"/>
              <a:t> </a:t>
            </a:r>
            <a:r>
              <a:rPr lang="en-US" dirty="0" err="1"/>
              <a:t>diasumsikan</a:t>
            </a:r>
            <a:r>
              <a:rPr lang="en-US" dirty="0"/>
              <a:t> </a:t>
            </a:r>
            <a:r>
              <a:rPr lang="en-US" dirty="0" err="1"/>
              <a:t>sebagai</a:t>
            </a:r>
            <a:r>
              <a:rPr lang="en-US" dirty="0"/>
              <a:t> </a:t>
            </a:r>
            <a:r>
              <a:rPr lang="en-US" dirty="0" err="1"/>
              <a:t>topik</a:t>
            </a:r>
            <a:r>
              <a:rPr lang="en-US" dirty="0"/>
              <a:t> </a:t>
            </a:r>
            <a:r>
              <a:rPr lang="en-US" dirty="0" err="1"/>
              <a:t>dominan</a:t>
            </a:r>
            <a:r>
              <a:rPr lang="en-US" dirty="0"/>
              <a:t> global pada 20 </a:t>
            </a:r>
            <a:r>
              <a:rPr lang="en-US" dirty="0" err="1"/>
              <a:t>surat</a:t>
            </a:r>
            <a:r>
              <a:rPr lang="en-US" dirty="0"/>
              <a:t> </a:t>
            </a:r>
            <a:r>
              <a:rPr lang="en-US" dirty="0" err="1"/>
              <a:t>pertama</a:t>
            </a:r>
            <a:r>
              <a:rPr lang="en-US" dirty="0"/>
              <a:t>."</a:t>
            </a:r>
          </a:p>
          <a:p>
            <a:endParaRPr lang="en-US" dirty="0"/>
          </a:p>
          <a:p>
            <a:r>
              <a:rPr lang="en-US" dirty="0" err="1"/>
              <a:t>Arahan</a:t>
            </a:r>
            <a:r>
              <a:rPr lang="en-US" dirty="0"/>
              <a:t>: Jika </a:t>
            </a:r>
            <a:r>
              <a:rPr lang="en-US" dirty="0" err="1"/>
              <a:t>ditanya</a:t>
            </a:r>
            <a:r>
              <a:rPr lang="en-US" dirty="0"/>
              <a:t> </a:t>
            </a:r>
            <a:r>
              <a:rPr lang="en-US" dirty="0" err="1"/>
              <a:t>isi</a:t>
            </a:r>
            <a:r>
              <a:rPr lang="en-US" dirty="0"/>
              <a:t> </a:t>
            </a:r>
            <a:r>
              <a:rPr lang="en-US" dirty="0" err="1"/>
              <a:t>topik</a:t>
            </a:r>
            <a:r>
              <a:rPr lang="en-US" dirty="0"/>
              <a:t> 12 dan 13 </a:t>
            </a:r>
            <a:r>
              <a:rPr lang="en-US" dirty="0" err="1"/>
              <a:t>secara</a:t>
            </a:r>
            <a:r>
              <a:rPr lang="en-US" dirty="0"/>
              <a:t> </a:t>
            </a:r>
            <a:r>
              <a:rPr lang="en-US" dirty="0" err="1"/>
              <a:t>spesifik</a:t>
            </a:r>
            <a:r>
              <a:rPr lang="en-US" dirty="0"/>
              <a:t>, </a:t>
            </a:r>
            <a:r>
              <a:rPr lang="en-US" dirty="0" err="1"/>
              <a:t>kaitkan</a:t>
            </a:r>
            <a:r>
              <a:rPr lang="en-US" dirty="0"/>
              <a:t> </a:t>
            </a:r>
            <a:r>
              <a:rPr lang="en-US" dirty="0" err="1"/>
              <a:t>dengan</a:t>
            </a:r>
            <a:r>
              <a:rPr lang="en-US" dirty="0"/>
              <a:t> </a:t>
            </a:r>
            <a:r>
              <a:rPr lang="en-US" dirty="0" err="1"/>
              <a:t>tema</a:t>
            </a:r>
            <a:r>
              <a:rPr lang="en-US" dirty="0"/>
              <a:t> </a:t>
            </a:r>
            <a:r>
              <a:rPr lang="en-US" dirty="0" err="1"/>
              <a:t>besar</a:t>
            </a:r>
            <a:r>
              <a:rPr lang="en-US" dirty="0"/>
              <a:t> yang </a:t>
            </a:r>
            <a:r>
              <a:rPr lang="en-US" dirty="0" err="1"/>
              <a:t>relevan</a:t>
            </a:r>
            <a:r>
              <a:rPr lang="en-US" dirty="0"/>
              <a:t> (</a:t>
            </a:r>
            <a:r>
              <a:rPr lang="en-US" dirty="0" err="1"/>
              <a:t>misalnya</a:t>
            </a:r>
            <a:r>
              <a:rPr lang="en-US" dirty="0"/>
              <a:t> </a:t>
            </a:r>
            <a:r>
              <a:rPr lang="en-US" dirty="0" err="1"/>
              <a:t>aqidah</a:t>
            </a:r>
            <a:r>
              <a:rPr lang="en-US" dirty="0"/>
              <a:t>/</a:t>
            </a:r>
            <a:r>
              <a:rPr lang="en-US" dirty="0" err="1"/>
              <a:t>ketuhanan</a:t>
            </a:r>
            <a:r>
              <a:rPr lang="en-US" dirty="0"/>
              <a:t>) </a:t>
            </a:r>
            <a:r>
              <a:rPr lang="en-US" dirty="0" err="1"/>
              <a:t>berdasarkan</a:t>
            </a:r>
            <a:r>
              <a:rPr lang="en-US" dirty="0"/>
              <a:t> kata </a:t>
            </a:r>
            <a:r>
              <a:rPr lang="en-US" dirty="0" err="1"/>
              <a:t>kunci</a:t>
            </a:r>
            <a:r>
              <a:rPr lang="en-US" dirty="0"/>
              <a:t> </a:t>
            </a:r>
            <a:r>
              <a:rPr lang="en-US" dirty="0" err="1"/>
              <a:t>dominannya</a:t>
            </a:r>
            <a:r>
              <a:rPr lang="en-US" dirty="0"/>
              <a:t> di </a:t>
            </a:r>
            <a:r>
              <a:rPr lang="en-US" dirty="0" err="1"/>
              <a:t>bab</a:t>
            </a:r>
            <a:r>
              <a:rPr lang="en-US" dirty="0"/>
              <a:t> </a:t>
            </a:r>
            <a:r>
              <a:rPr lang="en-US" dirty="0" err="1"/>
              <a:t>hasil</a:t>
            </a:r>
            <a:r>
              <a:rPr lang="en-US" dirty="0"/>
              <a:t> </a:t>
            </a:r>
            <a:r>
              <a:rPr lang="en-US" dirty="0" err="1"/>
              <a:t>tesis</a:t>
            </a:r>
            <a:r>
              <a:rPr lang="en-US" dirty="0"/>
              <a:t>.</a:t>
            </a:r>
          </a:p>
        </p:txBody>
      </p:sp>
      <p:sp>
        <p:nvSpPr>
          <p:cNvPr id="4" name="Slide Number Placeholder 3"/>
          <p:cNvSpPr>
            <a:spLocks noGrp="1"/>
          </p:cNvSpPr>
          <p:nvPr>
            <p:ph type="sldNum" sz="quarter" idx="5"/>
          </p:nvPr>
        </p:nvSpPr>
        <p:spPr/>
        <p:txBody>
          <a:bodyPr/>
          <a:lstStyle/>
          <a:p>
            <a:fld id="{0E4F9FF8-F730-48A2-A15C-4DAF3EEA9E4C}" type="slidenum">
              <a:rPr lang="en-US" smtClean="0"/>
              <a:t>14</a:t>
            </a:fld>
            <a:endParaRPr lang="en-US"/>
          </a:p>
        </p:txBody>
      </p:sp>
    </p:spTree>
    <p:extLst>
      <p:ext uri="{BB962C8B-B14F-4D97-AF65-F5344CB8AC3E}">
        <p14:creationId xmlns:p14="http://schemas.microsoft.com/office/powerpoint/2010/main" val="18756043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Untuk</a:t>
            </a:r>
            <a:r>
              <a:rPr lang="en-US" dirty="0"/>
              <a:t> </a:t>
            </a:r>
            <a:r>
              <a:rPr lang="en-US" dirty="0" err="1"/>
              <a:t>BERTopic</a:t>
            </a:r>
            <a:r>
              <a:rPr lang="en-US" dirty="0"/>
              <a:t>, </a:t>
            </a:r>
            <a:r>
              <a:rPr lang="en-US" dirty="0" err="1"/>
              <a:t>saya</a:t>
            </a:r>
            <a:r>
              <a:rPr lang="en-US" dirty="0"/>
              <a:t> </a:t>
            </a:r>
            <a:r>
              <a:rPr lang="en-US" dirty="0" err="1"/>
              <a:t>menguji</a:t>
            </a:r>
            <a:r>
              <a:rPr lang="en-US" dirty="0"/>
              <a:t> parameter </a:t>
            </a:r>
            <a:r>
              <a:rPr lang="en-US" dirty="0" err="1"/>
              <a:t>min_topic_size</a:t>
            </a:r>
            <a:r>
              <a:rPr lang="en-US" dirty="0"/>
              <a:t>. Topic size 25 </a:t>
            </a:r>
            <a:r>
              <a:rPr lang="en-US" dirty="0" err="1"/>
              <a:t>memberikan</a:t>
            </a:r>
            <a:r>
              <a:rPr lang="en-US" dirty="0"/>
              <a:t> </a:t>
            </a:r>
            <a:r>
              <a:rPr lang="en-US" dirty="0" err="1"/>
              <a:t>keseimbangan</a:t>
            </a:r>
            <a:r>
              <a:rPr lang="en-US" dirty="0"/>
              <a:t> </a:t>
            </a:r>
            <a:r>
              <a:rPr lang="en-US" dirty="0" err="1"/>
              <a:t>terbaik</a:t>
            </a:r>
            <a:r>
              <a:rPr lang="en-US" dirty="0"/>
              <a:t> </a:t>
            </a:r>
            <a:r>
              <a:rPr lang="en-US" dirty="0" err="1"/>
              <a:t>dengan</a:t>
            </a:r>
            <a:r>
              <a:rPr lang="en-US" dirty="0"/>
              <a:t> final score 0,87, </a:t>
            </a:r>
            <a:r>
              <a:rPr lang="en-US" dirty="0" err="1"/>
              <a:t>C_v</a:t>
            </a:r>
            <a:r>
              <a:rPr lang="en-US" dirty="0"/>
              <a:t> 0,5735, NPMI 0,0530, dan UMass paling </a:t>
            </a:r>
            <a:r>
              <a:rPr lang="en-US" dirty="0" err="1"/>
              <a:t>mendekati</a:t>
            </a:r>
            <a:r>
              <a:rPr lang="en-US" dirty="0"/>
              <a:t> </a:t>
            </a:r>
            <a:r>
              <a:rPr lang="en-US" dirty="0" err="1"/>
              <a:t>nol</a:t>
            </a:r>
            <a:r>
              <a:rPr lang="en-US" dirty="0"/>
              <a:t> </a:t>
            </a:r>
            <a:r>
              <a:rPr lang="en-US" dirty="0" err="1"/>
              <a:t>yaitu</a:t>
            </a:r>
            <a:r>
              <a:rPr lang="en-US" dirty="0"/>
              <a:t> -5,3257 </a:t>
            </a:r>
            <a:r>
              <a:rPr lang="en-US" dirty="0" err="1"/>
              <a:t>dibanding</a:t>
            </a:r>
            <a:r>
              <a:rPr lang="en-US" dirty="0"/>
              <a:t> </a:t>
            </a:r>
            <a:r>
              <a:rPr lang="en-US" dirty="0" err="1"/>
              <a:t>konfigurasi</a:t>
            </a:r>
            <a:r>
              <a:rPr lang="en-US" dirty="0"/>
              <a:t> lain yang </a:t>
            </a:r>
            <a:r>
              <a:rPr lang="en-US" dirty="0" err="1"/>
              <a:t>diuji</a:t>
            </a:r>
            <a:r>
              <a:rPr lang="en-US" dirty="0"/>
              <a:t>."</a:t>
            </a:r>
          </a:p>
          <a:p>
            <a:endParaRPr lang="en-US" dirty="0"/>
          </a:p>
          <a:p>
            <a:r>
              <a:rPr lang="en-US" dirty="0" err="1"/>
              <a:t>Arahan</a:t>
            </a:r>
            <a:r>
              <a:rPr lang="en-US" dirty="0"/>
              <a:t>: Jika </a:t>
            </a:r>
            <a:r>
              <a:rPr lang="en-US" dirty="0" err="1"/>
              <a:t>ditanya</a:t>
            </a:r>
            <a:r>
              <a:rPr lang="en-US" dirty="0"/>
              <a:t> </a:t>
            </a:r>
            <a:r>
              <a:rPr lang="en-US" dirty="0" err="1"/>
              <a:t>kenapa</a:t>
            </a:r>
            <a:r>
              <a:rPr lang="en-US" dirty="0"/>
              <a:t> 25, </a:t>
            </a:r>
            <a:r>
              <a:rPr lang="en-US" dirty="0" err="1"/>
              <a:t>jelaskan</a:t>
            </a:r>
            <a:r>
              <a:rPr lang="en-US" dirty="0"/>
              <a:t> </a:t>
            </a:r>
            <a:r>
              <a:rPr lang="en-US" dirty="0" err="1"/>
              <a:t>bahwa</a:t>
            </a:r>
            <a:r>
              <a:rPr lang="en-US" dirty="0"/>
              <a:t> final score </a:t>
            </a:r>
            <a:r>
              <a:rPr lang="en-US" dirty="0" err="1"/>
              <a:t>adalah</a:t>
            </a:r>
            <a:r>
              <a:rPr lang="en-US" dirty="0"/>
              <a:t> </a:t>
            </a:r>
            <a:r>
              <a:rPr lang="en-US" dirty="0" err="1"/>
              <a:t>gabungan</a:t>
            </a:r>
            <a:r>
              <a:rPr lang="en-US" dirty="0"/>
              <a:t>/</a:t>
            </a:r>
            <a:r>
              <a:rPr lang="en-US" dirty="0" err="1"/>
              <a:t>komposit</a:t>
            </a:r>
            <a:r>
              <a:rPr lang="en-US" dirty="0"/>
              <a:t> </a:t>
            </a:r>
            <a:r>
              <a:rPr lang="en-US" dirty="0" err="1"/>
              <a:t>dari</a:t>
            </a:r>
            <a:r>
              <a:rPr lang="en-US" dirty="0"/>
              <a:t> </a:t>
            </a:r>
            <a:r>
              <a:rPr lang="en-US" dirty="0" err="1"/>
              <a:t>beberapa</a:t>
            </a:r>
            <a:r>
              <a:rPr lang="en-US" dirty="0"/>
              <a:t> </a:t>
            </a:r>
            <a:r>
              <a:rPr lang="en-US" dirty="0" err="1"/>
              <a:t>metrik</a:t>
            </a:r>
            <a:r>
              <a:rPr lang="en-US" dirty="0"/>
              <a:t>, dan 25 </a:t>
            </a:r>
            <a:r>
              <a:rPr lang="en-US" dirty="0" err="1"/>
              <a:t>memberikan</a:t>
            </a:r>
            <a:r>
              <a:rPr lang="en-US" dirty="0"/>
              <a:t> </a:t>
            </a:r>
            <a:r>
              <a:rPr lang="en-US" dirty="0" err="1"/>
              <a:t>hasil</a:t>
            </a:r>
            <a:r>
              <a:rPr lang="en-US" dirty="0"/>
              <a:t> </a:t>
            </a:r>
            <a:r>
              <a:rPr lang="en-US" dirty="0" err="1"/>
              <a:t>komposit</a:t>
            </a:r>
            <a:r>
              <a:rPr lang="en-US" dirty="0"/>
              <a:t> </a:t>
            </a:r>
            <a:r>
              <a:rPr lang="en-US" dirty="0" err="1"/>
              <a:t>terbaik</a:t>
            </a:r>
            <a:r>
              <a:rPr lang="en-US" dirty="0"/>
              <a:t>, </a:t>
            </a:r>
            <a:r>
              <a:rPr lang="en-US" dirty="0" err="1"/>
              <a:t>bukan</a:t>
            </a:r>
            <a:r>
              <a:rPr lang="en-US" dirty="0"/>
              <a:t> </a:t>
            </a:r>
            <a:r>
              <a:rPr lang="en-US" dirty="0" err="1"/>
              <a:t>berdasarkan</a:t>
            </a:r>
            <a:r>
              <a:rPr lang="en-US" dirty="0"/>
              <a:t> </a:t>
            </a:r>
            <a:r>
              <a:rPr lang="en-US" dirty="0" err="1"/>
              <a:t>satu</a:t>
            </a:r>
            <a:r>
              <a:rPr lang="en-US" dirty="0"/>
              <a:t> </a:t>
            </a:r>
            <a:r>
              <a:rPr lang="en-US" dirty="0" err="1"/>
              <a:t>metrik</a:t>
            </a:r>
            <a:r>
              <a:rPr lang="en-US" dirty="0"/>
              <a:t> </a:t>
            </a:r>
            <a:r>
              <a:rPr lang="en-US" dirty="0" err="1"/>
              <a:t>saja</a:t>
            </a:r>
            <a:r>
              <a:rPr lang="en-US" dirty="0"/>
              <a:t>.</a:t>
            </a:r>
          </a:p>
          <a:p>
            <a:endParaRPr lang="en-US" dirty="0"/>
          </a:p>
        </p:txBody>
      </p:sp>
      <p:sp>
        <p:nvSpPr>
          <p:cNvPr id="4" name="Slide Number Placeholder 3"/>
          <p:cNvSpPr>
            <a:spLocks noGrp="1"/>
          </p:cNvSpPr>
          <p:nvPr>
            <p:ph type="sldNum" sz="quarter" idx="5"/>
          </p:nvPr>
        </p:nvSpPr>
        <p:spPr/>
        <p:txBody>
          <a:bodyPr/>
          <a:lstStyle/>
          <a:p>
            <a:fld id="{0E4F9FF8-F730-48A2-A15C-4DAF3EEA9E4C}" type="slidenum">
              <a:rPr lang="en-US" smtClean="0"/>
              <a:t>15</a:t>
            </a:fld>
            <a:endParaRPr lang="en-US"/>
          </a:p>
        </p:txBody>
      </p:sp>
    </p:spTree>
    <p:extLst>
      <p:ext uri="{BB962C8B-B14F-4D97-AF65-F5344CB8AC3E}">
        <p14:creationId xmlns:p14="http://schemas.microsoft.com/office/powerpoint/2010/main" val="17151743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Dengan</a:t>
            </a:r>
            <a:r>
              <a:rPr lang="en-US" dirty="0"/>
              <a:t> parameter optimal min topic size 25, </a:t>
            </a:r>
            <a:r>
              <a:rPr lang="en-US" dirty="0" err="1"/>
              <a:t>BERTopic</a:t>
            </a:r>
            <a:r>
              <a:rPr lang="en-US" dirty="0"/>
              <a:t> </a:t>
            </a:r>
            <a:r>
              <a:rPr lang="en-US" dirty="0" err="1"/>
              <a:t>menggunakan</a:t>
            </a:r>
            <a:r>
              <a:rPr lang="en-US" dirty="0"/>
              <a:t> sentence model paraphrase-multilingual-MiniLM-L12. </a:t>
            </a:r>
            <a:r>
              <a:rPr lang="en-US" dirty="0" err="1"/>
              <a:t>C_v</a:t>
            </a:r>
            <a:r>
              <a:rPr lang="en-US" dirty="0"/>
              <a:t> coherence 0,5735 </a:t>
            </a:r>
            <a:r>
              <a:rPr lang="en-US" dirty="0" err="1"/>
              <a:t>menunjukkan</a:t>
            </a:r>
            <a:r>
              <a:rPr lang="en-US" dirty="0"/>
              <a:t> </a:t>
            </a:r>
            <a:r>
              <a:rPr lang="en-US" dirty="0" err="1"/>
              <a:t>koherensi</a:t>
            </a:r>
            <a:r>
              <a:rPr lang="en-US" dirty="0"/>
              <a:t> </a:t>
            </a:r>
            <a:r>
              <a:rPr lang="en-US" dirty="0" err="1"/>
              <a:t>cukup</a:t>
            </a:r>
            <a:r>
              <a:rPr lang="en-US" dirty="0"/>
              <a:t> </a:t>
            </a:r>
            <a:r>
              <a:rPr lang="en-US" dirty="0" err="1"/>
              <a:t>baik</a:t>
            </a:r>
            <a:r>
              <a:rPr lang="en-US" dirty="0"/>
              <a:t>. NPMI </a:t>
            </a:r>
            <a:r>
              <a:rPr lang="en-US" dirty="0" err="1"/>
              <a:t>positif</a:t>
            </a:r>
            <a:r>
              <a:rPr lang="en-US" dirty="0"/>
              <a:t> 0,0530 </a:t>
            </a:r>
            <a:r>
              <a:rPr lang="en-US" dirty="0" err="1"/>
              <a:t>menunjukkan</a:t>
            </a:r>
            <a:r>
              <a:rPr lang="en-US" dirty="0"/>
              <a:t> </a:t>
            </a:r>
            <a:r>
              <a:rPr lang="en-US" dirty="0" err="1"/>
              <a:t>asosiasi</a:t>
            </a:r>
            <a:r>
              <a:rPr lang="en-US" dirty="0"/>
              <a:t> </a:t>
            </a:r>
            <a:r>
              <a:rPr lang="en-US" dirty="0" err="1"/>
              <a:t>statistik</a:t>
            </a:r>
            <a:r>
              <a:rPr lang="en-US" dirty="0"/>
              <a:t> </a:t>
            </a:r>
            <a:r>
              <a:rPr lang="en-US" dirty="0" err="1"/>
              <a:t>bermakna</a:t>
            </a:r>
            <a:r>
              <a:rPr lang="en-US" dirty="0"/>
              <a:t> </a:t>
            </a:r>
            <a:r>
              <a:rPr lang="en-US" dirty="0" err="1"/>
              <a:t>antar</a:t>
            </a:r>
            <a:r>
              <a:rPr lang="en-US" dirty="0"/>
              <a:t> kata </a:t>
            </a:r>
            <a:r>
              <a:rPr lang="en-US" dirty="0" err="1"/>
              <a:t>dalam</a:t>
            </a:r>
            <a:r>
              <a:rPr lang="en-US" dirty="0"/>
              <a:t> </a:t>
            </a:r>
            <a:r>
              <a:rPr lang="en-US" dirty="0" err="1"/>
              <a:t>topik</a:t>
            </a:r>
            <a:r>
              <a:rPr lang="en-US" dirty="0"/>
              <a:t>. UMass -5,3257 </a:t>
            </a:r>
            <a:r>
              <a:rPr lang="en-US" dirty="0" err="1"/>
              <a:t>menunjukkan</a:t>
            </a:r>
            <a:r>
              <a:rPr lang="en-US" dirty="0"/>
              <a:t> </a:t>
            </a:r>
            <a:r>
              <a:rPr lang="en-US" dirty="0" err="1"/>
              <a:t>konsistensi</a:t>
            </a:r>
            <a:r>
              <a:rPr lang="en-US" dirty="0"/>
              <a:t> </a:t>
            </a:r>
            <a:r>
              <a:rPr lang="en-US" dirty="0" err="1"/>
              <a:t>probabilistik</a:t>
            </a:r>
            <a:r>
              <a:rPr lang="en-US" dirty="0"/>
              <a:t> yang </a:t>
            </a:r>
            <a:r>
              <a:rPr lang="en-US" dirty="0" err="1"/>
              <a:t>baik</a:t>
            </a:r>
            <a:r>
              <a:rPr lang="en-US" dirty="0"/>
              <a:t> </a:t>
            </a:r>
            <a:r>
              <a:rPr lang="en-US" dirty="0" err="1"/>
              <a:t>terhadap</a:t>
            </a:r>
            <a:r>
              <a:rPr lang="en-US" dirty="0"/>
              <a:t> </a:t>
            </a:r>
            <a:r>
              <a:rPr lang="en-US" dirty="0" err="1"/>
              <a:t>distribusi</a:t>
            </a:r>
            <a:r>
              <a:rPr lang="en-US" dirty="0"/>
              <a:t> </a:t>
            </a:r>
            <a:r>
              <a:rPr lang="en-US" dirty="0" err="1"/>
              <a:t>dokumen</a:t>
            </a:r>
            <a:r>
              <a:rPr lang="en-US" dirty="0"/>
              <a:t>.</a:t>
            </a:r>
          </a:p>
          <a:p>
            <a:endParaRPr lang="en-US" dirty="0"/>
          </a:p>
          <a:p>
            <a:r>
              <a:rPr lang="en-US" dirty="0" err="1"/>
              <a:t>Dibanding</a:t>
            </a:r>
            <a:r>
              <a:rPr lang="en-US" dirty="0"/>
              <a:t> CTM, </a:t>
            </a:r>
            <a:r>
              <a:rPr lang="en-US" dirty="0" err="1"/>
              <a:t>BERTopic</a:t>
            </a:r>
            <a:r>
              <a:rPr lang="en-US" dirty="0"/>
              <a:t> </a:t>
            </a:r>
            <a:r>
              <a:rPr lang="en-US" dirty="0" err="1"/>
              <a:t>sedikit</a:t>
            </a:r>
            <a:r>
              <a:rPr lang="en-US" dirty="0"/>
              <a:t> </a:t>
            </a:r>
            <a:r>
              <a:rPr lang="en-US" dirty="0" err="1"/>
              <a:t>lebih</a:t>
            </a:r>
            <a:r>
              <a:rPr lang="en-US" dirty="0"/>
              <a:t> </a:t>
            </a:r>
            <a:r>
              <a:rPr lang="en-US" dirty="0" err="1"/>
              <a:t>unggul</a:t>
            </a:r>
            <a:r>
              <a:rPr lang="en-US" dirty="0"/>
              <a:t> pada </a:t>
            </a:r>
            <a:r>
              <a:rPr lang="en-US" dirty="0" err="1"/>
              <a:t>C_v</a:t>
            </a:r>
            <a:r>
              <a:rPr lang="en-US" dirty="0"/>
              <a:t> dan NPMI, </a:t>
            </a:r>
            <a:r>
              <a:rPr lang="en-US" dirty="0" err="1"/>
              <a:t>konsisten</a:t>
            </a:r>
            <a:r>
              <a:rPr lang="en-US" dirty="0"/>
              <a:t> </a:t>
            </a:r>
            <a:r>
              <a:rPr lang="en-US" dirty="0" err="1"/>
              <a:t>dengan</a:t>
            </a:r>
            <a:r>
              <a:rPr lang="en-US" dirty="0"/>
              <a:t> </a:t>
            </a:r>
            <a:r>
              <a:rPr lang="en-US" dirty="0" err="1"/>
              <a:t>kelebihan</a:t>
            </a:r>
            <a:r>
              <a:rPr lang="en-US" dirty="0"/>
              <a:t> </a:t>
            </a:r>
            <a:r>
              <a:rPr lang="en-US" dirty="0" err="1"/>
              <a:t>BERTopic</a:t>
            </a:r>
            <a:r>
              <a:rPr lang="en-US" dirty="0"/>
              <a:t> </a:t>
            </a:r>
            <a:r>
              <a:rPr lang="en-US" dirty="0" err="1"/>
              <a:t>menangkap</a:t>
            </a:r>
            <a:r>
              <a:rPr lang="en-US" dirty="0"/>
              <a:t> </a:t>
            </a:r>
            <a:r>
              <a:rPr lang="en-US" dirty="0" err="1"/>
              <a:t>makna</a:t>
            </a:r>
            <a:r>
              <a:rPr lang="en-US" dirty="0"/>
              <a:t> </a:t>
            </a:r>
            <a:r>
              <a:rPr lang="en-US" dirty="0" err="1"/>
              <a:t>kontekstual</a:t>
            </a:r>
            <a:r>
              <a:rPr lang="en-US" dirty="0"/>
              <a:t> </a:t>
            </a:r>
            <a:r>
              <a:rPr lang="en-US" dirty="0" err="1"/>
              <a:t>lewat</a:t>
            </a:r>
            <a:r>
              <a:rPr lang="en-US" dirty="0"/>
              <a:t> sentence embedding."</a:t>
            </a:r>
          </a:p>
          <a:p>
            <a:endParaRPr lang="en-US" dirty="0"/>
          </a:p>
          <a:p>
            <a:r>
              <a:rPr lang="en-US" dirty="0" err="1"/>
              <a:t>Arahan</a:t>
            </a:r>
            <a:r>
              <a:rPr lang="en-US" dirty="0"/>
              <a:t>: </a:t>
            </a:r>
            <a:r>
              <a:rPr lang="en-US" dirty="0" err="1"/>
              <a:t>Jelaskan</a:t>
            </a:r>
            <a:r>
              <a:rPr lang="en-US" dirty="0"/>
              <a:t> </a:t>
            </a:r>
            <a:r>
              <a:rPr lang="en-US" dirty="0" err="1"/>
              <a:t>singkat</a:t>
            </a:r>
            <a:r>
              <a:rPr lang="en-US" dirty="0"/>
              <a:t> </a:t>
            </a:r>
            <a:r>
              <a:rPr lang="en-US" dirty="0" err="1"/>
              <a:t>kenapa</a:t>
            </a:r>
            <a:r>
              <a:rPr lang="en-US" dirty="0"/>
              <a:t> </a:t>
            </a:r>
            <a:r>
              <a:rPr lang="en-US" dirty="0" err="1"/>
              <a:t>memilih</a:t>
            </a:r>
            <a:r>
              <a:rPr lang="en-US" dirty="0"/>
              <a:t> paraphrase-multilingual-MiniLM-L12: </a:t>
            </a:r>
            <a:r>
              <a:rPr lang="en-US" dirty="0" err="1"/>
              <a:t>mendukung</a:t>
            </a:r>
            <a:r>
              <a:rPr lang="en-US" dirty="0"/>
              <a:t> </a:t>
            </a:r>
            <a:r>
              <a:rPr lang="en-US" dirty="0" err="1"/>
              <a:t>banyak</a:t>
            </a:r>
            <a:r>
              <a:rPr lang="en-US" dirty="0"/>
              <a:t> </a:t>
            </a:r>
            <a:r>
              <a:rPr lang="en-US" dirty="0" err="1"/>
              <a:t>bahasa</a:t>
            </a:r>
            <a:r>
              <a:rPr lang="en-US" dirty="0"/>
              <a:t> </a:t>
            </a:r>
            <a:r>
              <a:rPr lang="en-US" dirty="0" err="1"/>
              <a:t>termasuk</a:t>
            </a:r>
            <a:r>
              <a:rPr lang="en-US" dirty="0"/>
              <a:t> Indonesia, </a:t>
            </a:r>
            <a:r>
              <a:rPr lang="en-US" dirty="0" err="1"/>
              <a:t>cocok</a:t>
            </a:r>
            <a:r>
              <a:rPr lang="en-US" dirty="0"/>
              <a:t> </a:t>
            </a:r>
            <a:r>
              <a:rPr lang="en-US" dirty="0" err="1"/>
              <a:t>untuk</a:t>
            </a:r>
            <a:r>
              <a:rPr lang="en-US" dirty="0"/>
              <a:t> semantic similarity pada </a:t>
            </a:r>
            <a:r>
              <a:rPr lang="en-US" dirty="0" err="1"/>
              <a:t>kalimat</a:t>
            </a:r>
            <a:r>
              <a:rPr lang="en-US" dirty="0"/>
              <a:t> </a:t>
            </a:r>
            <a:r>
              <a:rPr lang="en-US" dirty="0" err="1"/>
              <a:t>pendek</a:t>
            </a:r>
            <a:r>
              <a:rPr lang="en-US" dirty="0"/>
              <a:t> </a:t>
            </a:r>
            <a:r>
              <a:rPr lang="en-US" dirty="0" err="1"/>
              <a:t>seperti</a:t>
            </a:r>
            <a:r>
              <a:rPr lang="en-US" dirty="0"/>
              <a:t> </a:t>
            </a:r>
            <a:r>
              <a:rPr lang="en-US" dirty="0" err="1"/>
              <a:t>ayat</a:t>
            </a:r>
            <a:r>
              <a:rPr lang="en-US" dirty="0"/>
              <a:t> Al-Qur'an.</a:t>
            </a:r>
          </a:p>
          <a:p>
            <a:endParaRPr lang="en-US" dirty="0"/>
          </a:p>
        </p:txBody>
      </p:sp>
      <p:sp>
        <p:nvSpPr>
          <p:cNvPr id="4" name="Slide Number Placeholder 3"/>
          <p:cNvSpPr>
            <a:spLocks noGrp="1"/>
          </p:cNvSpPr>
          <p:nvPr>
            <p:ph type="sldNum" sz="quarter" idx="5"/>
          </p:nvPr>
        </p:nvSpPr>
        <p:spPr/>
        <p:txBody>
          <a:bodyPr/>
          <a:lstStyle/>
          <a:p>
            <a:fld id="{0E4F9FF8-F730-48A2-A15C-4DAF3EEA9E4C}" type="slidenum">
              <a:rPr lang="en-US" smtClean="0"/>
              <a:t>16</a:t>
            </a:fld>
            <a:endParaRPr lang="en-US"/>
          </a:p>
        </p:txBody>
      </p:sp>
    </p:spTree>
    <p:extLst>
      <p:ext uri="{BB962C8B-B14F-4D97-AF65-F5344CB8AC3E}">
        <p14:creationId xmlns:p14="http://schemas.microsoft.com/office/powerpoint/2010/main" val="3799807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Grafik</a:t>
            </a:r>
            <a:r>
              <a:rPr lang="en-US" dirty="0"/>
              <a:t> </a:t>
            </a:r>
            <a:r>
              <a:rPr lang="en-US" dirty="0" err="1"/>
              <a:t>ini</a:t>
            </a:r>
            <a:r>
              <a:rPr lang="en-US" dirty="0"/>
              <a:t> </a:t>
            </a:r>
            <a:r>
              <a:rPr lang="en-US" dirty="0" err="1"/>
              <a:t>menampilkan</a:t>
            </a:r>
            <a:r>
              <a:rPr lang="en-US" dirty="0"/>
              <a:t> </a:t>
            </a:r>
            <a:r>
              <a:rPr lang="en-US" dirty="0" err="1"/>
              <a:t>topik</a:t>
            </a:r>
            <a:r>
              <a:rPr lang="en-US" dirty="0"/>
              <a:t> </a:t>
            </a:r>
            <a:r>
              <a:rPr lang="en-US" dirty="0" err="1"/>
              <a:t>berdasarkan</a:t>
            </a:r>
            <a:r>
              <a:rPr lang="en-US" dirty="0"/>
              <a:t> </a:t>
            </a:r>
            <a:r>
              <a:rPr lang="en-US" dirty="0" err="1"/>
              <a:t>tingkat</a:t>
            </a:r>
            <a:r>
              <a:rPr lang="en-US" dirty="0"/>
              <a:t> </a:t>
            </a:r>
            <a:r>
              <a:rPr lang="en-US" dirty="0" err="1"/>
              <a:t>dominansi</a:t>
            </a:r>
            <a:r>
              <a:rPr lang="en-US" dirty="0"/>
              <a:t>/</a:t>
            </a:r>
            <a:r>
              <a:rPr lang="en-US" dirty="0" err="1"/>
              <a:t>frekuensi</a:t>
            </a:r>
            <a:r>
              <a:rPr lang="en-US" dirty="0"/>
              <a:t> </a:t>
            </a:r>
            <a:r>
              <a:rPr lang="en-US" dirty="0" err="1"/>
              <a:t>kemunculan</a:t>
            </a:r>
            <a:r>
              <a:rPr lang="en-US" dirty="0"/>
              <a:t> kata </a:t>
            </a:r>
            <a:r>
              <a:rPr lang="en-US" dirty="0" err="1"/>
              <a:t>kunci</a:t>
            </a:r>
            <a:r>
              <a:rPr lang="en-US" dirty="0"/>
              <a:t> </a:t>
            </a:r>
            <a:r>
              <a:rPr lang="en-US" dirty="0" err="1"/>
              <a:t>dalam</a:t>
            </a:r>
            <a:r>
              <a:rPr lang="en-US" dirty="0"/>
              <a:t> </a:t>
            </a:r>
            <a:r>
              <a:rPr lang="en-US" dirty="0" err="1"/>
              <a:t>dokumen</a:t>
            </a:r>
            <a:r>
              <a:rPr lang="en-US" dirty="0"/>
              <a:t>, </a:t>
            </a:r>
            <a:r>
              <a:rPr lang="en-US" dirty="0" err="1"/>
              <a:t>membantu</a:t>
            </a:r>
            <a:r>
              <a:rPr lang="en-US" dirty="0"/>
              <a:t> </a:t>
            </a:r>
            <a:r>
              <a:rPr lang="en-US" dirty="0" err="1"/>
              <a:t>memvisualisasikan</a:t>
            </a:r>
            <a:r>
              <a:rPr lang="en-US" dirty="0"/>
              <a:t> kata mana yang paling </a:t>
            </a:r>
            <a:r>
              <a:rPr lang="en-US" dirty="0" err="1"/>
              <a:t>merepresentasikan</a:t>
            </a:r>
            <a:r>
              <a:rPr lang="en-US" dirty="0"/>
              <a:t> </a:t>
            </a:r>
            <a:r>
              <a:rPr lang="en-US" dirty="0" err="1"/>
              <a:t>tiap</a:t>
            </a:r>
            <a:r>
              <a:rPr lang="en-US" dirty="0"/>
              <a:t> </a:t>
            </a:r>
            <a:r>
              <a:rPr lang="en-US" dirty="0" err="1"/>
              <a:t>topik</a:t>
            </a:r>
            <a:r>
              <a:rPr lang="en-US" dirty="0"/>
              <a:t> </a:t>
            </a:r>
            <a:r>
              <a:rPr lang="en-US" dirty="0" err="1"/>
              <a:t>berdasarkan</a:t>
            </a:r>
            <a:r>
              <a:rPr lang="en-US" dirty="0"/>
              <a:t> </a:t>
            </a:r>
            <a:r>
              <a:rPr lang="en-US" dirty="0" err="1"/>
              <a:t>skor</a:t>
            </a:r>
            <a:r>
              <a:rPr lang="en-US" dirty="0"/>
              <a:t> c-TF-IDF."</a:t>
            </a:r>
          </a:p>
          <a:p>
            <a:endParaRPr lang="en-US" dirty="0"/>
          </a:p>
          <a:p>
            <a:r>
              <a:rPr lang="en-US" dirty="0" err="1"/>
              <a:t>Arahan</a:t>
            </a:r>
            <a:r>
              <a:rPr lang="en-US" dirty="0"/>
              <a:t>: Jika </a:t>
            </a:r>
            <a:r>
              <a:rPr lang="en-US" dirty="0" err="1"/>
              <a:t>ditanya</a:t>
            </a:r>
            <a:r>
              <a:rPr lang="en-US" dirty="0"/>
              <a:t> </a:t>
            </a:r>
            <a:r>
              <a:rPr lang="en-US" dirty="0" err="1"/>
              <a:t>apa</a:t>
            </a:r>
            <a:r>
              <a:rPr lang="en-US" dirty="0"/>
              <a:t> </a:t>
            </a:r>
            <a:r>
              <a:rPr lang="en-US" dirty="0" err="1"/>
              <a:t>itu</a:t>
            </a:r>
            <a:r>
              <a:rPr lang="en-US" dirty="0"/>
              <a:t> c-TF-IDF: class-based TF-IDF, </a:t>
            </a:r>
            <a:r>
              <a:rPr lang="en-US" dirty="0" err="1"/>
              <a:t>dihitung</a:t>
            </a:r>
            <a:r>
              <a:rPr lang="en-US" dirty="0"/>
              <a:t> per </a:t>
            </a:r>
            <a:r>
              <a:rPr lang="en-US" dirty="0" err="1"/>
              <a:t>klaster</a:t>
            </a:r>
            <a:r>
              <a:rPr lang="en-US" dirty="0"/>
              <a:t>/</a:t>
            </a:r>
            <a:r>
              <a:rPr lang="en-US" dirty="0" err="1"/>
              <a:t>topik</a:t>
            </a:r>
            <a:r>
              <a:rPr lang="en-US" dirty="0"/>
              <a:t> (</a:t>
            </a:r>
            <a:r>
              <a:rPr lang="en-US" dirty="0" err="1"/>
              <a:t>bukan</a:t>
            </a:r>
            <a:r>
              <a:rPr lang="en-US" dirty="0"/>
              <a:t> per </a:t>
            </a:r>
            <a:r>
              <a:rPr lang="en-US" dirty="0" err="1"/>
              <a:t>dokumen</a:t>
            </a:r>
            <a:r>
              <a:rPr lang="en-US" dirty="0"/>
              <a:t>) — kata yang </a:t>
            </a:r>
            <a:r>
              <a:rPr lang="en-US" dirty="0" err="1"/>
              <a:t>khas</a:t>
            </a:r>
            <a:r>
              <a:rPr lang="en-US" dirty="0"/>
              <a:t> </a:t>
            </a:r>
            <a:r>
              <a:rPr lang="en-US" dirty="0" err="1"/>
              <a:t>untuk</a:t>
            </a:r>
            <a:r>
              <a:rPr lang="en-US" dirty="0"/>
              <a:t> </a:t>
            </a:r>
            <a:r>
              <a:rPr lang="en-US" dirty="0" err="1"/>
              <a:t>satu</a:t>
            </a:r>
            <a:r>
              <a:rPr lang="en-US" dirty="0"/>
              <a:t> </a:t>
            </a:r>
            <a:r>
              <a:rPr lang="en-US" dirty="0" err="1"/>
              <a:t>klaster</a:t>
            </a:r>
            <a:r>
              <a:rPr lang="en-US" dirty="0"/>
              <a:t> </a:t>
            </a:r>
            <a:r>
              <a:rPr lang="en-US" dirty="0" err="1"/>
              <a:t>akan</a:t>
            </a:r>
            <a:r>
              <a:rPr lang="en-US" dirty="0"/>
              <a:t> </a:t>
            </a:r>
            <a:r>
              <a:rPr lang="en-US" dirty="0" err="1"/>
              <a:t>bernilai</a:t>
            </a:r>
            <a:r>
              <a:rPr lang="en-US" dirty="0"/>
              <a:t> </a:t>
            </a:r>
            <a:r>
              <a:rPr lang="en-US" dirty="0" err="1"/>
              <a:t>tinggi</a:t>
            </a:r>
            <a:r>
              <a:rPr lang="en-US" dirty="0"/>
              <a:t>.</a:t>
            </a:r>
          </a:p>
          <a:p>
            <a:endParaRPr lang="en-US" dirty="0"/>
          </a:p>
        </p:txBody>
      </p:sp>
      <p:sp>
        <p:nvSpPr>
          <p:cNvPr id="4" name="Slide Number Placeholder 3"/>
          <p:cNvSpPr>
            <a:spLocks noGrp="1"/>
          </p:cNvSpPr>
          <p:nvPr>
            <p:ph type="sldNum" sz="quarter" idx="5"/>
          </p:nvPr>
        </p:nvSpPr>
        <p:spPr/>
        <p:txBody>
          <a:bodyPr/>
          <a:lstStyle/>
          <a:p>
            <a:fld id="{0E4F9FF8-F730-48A2-A15C-4DAF3EEA9E4C}" type="slidenum">
              <a:rPr lang="en-US" smtClean="0"/>
              <a:t>17</a:t>
            </a:fld>
            <a:endParaRPr lang="en-US"/>
          </a:p>
        </p:txBody>
      </p:sp>
    </p:spTree>
    <p:extLst>
      <p:ext uri="{BB962C8B-B14F-4D97-AF65-F5344CB8AC3E}">
        <p14:creationId xmlns:p14="http://schemas.microsoft.com/office/powerpoint/2010/main" val="20282806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a:t>
            </a:r>
            <a:r>
              <a:rPr lang="en-US" dirty="0" err="1"/>
              <a:t>ini</a:t>
            </a:r>
            <a:r>
              <a:rPr lang="en-US" dirty="0"/>
              <a:t> </a:t>
            </a:r>
            <a:r>
              <a:rPr lang="en-US" dirty="0" err="1"/>
              <a:t>menampilkan</a:t>
            </a:r>
            <a:r>
              <a:rPr lang="en-US" dirty="0"/>
              <a:t> </a:t>
            </a:r>
            <a:r>
              <a:rPr lang="en-US" dirty="0" err="1"/>
              <a:t>visualisasi</a:t>
            </a:r>
            <a:r>
              <a:rPr lang="en-US" dirty="0"/>
              <a:t> </a:t>
            </a:r>
            <a:r>
              <a:rPr lang="en-US" dirty="0" err="1"/>
              <a:t>hasil</a:t>
            </a:r>
            <a:r>
              <a:rPr lang="en-US" dirty="0"/>
              <a:t> </a:t>
            </a:r>
            <a:r>
              <a:rPr lang="en-US" dirty="0" err="1"/>
              <a:t>topik</a:t>
            </a:r>
            <a:r>
              <a:rPr lang="en-US" dirty="0"/>
              <a:t> </a:t>
            </a:r>
            <a:r>
              <a:rPr lang="en-US" dirty="0" err="1"/>
              <a:t>BERTopic</a:t>
            </a:r>
            <a:r>
              <a:rPr lang="en-US" dirty="0"/>
              <a:t>, </a:t>
            </a:r>
            <a:r>
              <a:rPr lang="en-US" dirty="0" err="1"/>
              <a:t>memperlihatkan</a:t>
            </a:r>
            <a:r>
              <a:rPr lang="en-US" dirty="0"/>
              <a:t> </a:t>
            </a:r>
            <a:r>
              <a:rPr lang="en-US" dirty="0" err="1"/>
              <a:t>pengelompokan</a:t>
            </a:r>
            <a:r>
              <a:rPr lang="en-US" dirty="0"/>
              <a:t> </a:t>
            </a:r>
            <a:r>
              <a:rPr lang="en-US" dirty="0" err="1"/>
              <a:t>dokumen</a:t>
            </a:r>
            <a:r>
              <a:rPr lang="en-US" dirty="0"/>
              <a:t> </a:t>
            </a:r>
            <a:r>
              <a:rPr lang="en-US" dirty="0" err="1"/>
              <a:t>ayat</a:t>
            </a:r>
            <a:r>
              <a:rPr lang="en-US" dirty="0"/>
              <a:t> </a:t>
            </a:r>
            <a:r>
              <a:rPr lang="en-US" dirty="0" err="1"/>
              <a:t>ke</a:t>
            </a:r>
            <a:r>
              <a:rPr lang="en-US" dirty="0"/>
              <a:t> </a:t>
            </a:r>
            <a:r>
              <a:rPr lang="en-US" dirty="0" err="1"/>
              <a:t>dalam</a:t>
            </a:r>
            <a:r>
              <a:rPr lang="en-US" dirty="0"/>
              <a:t> </a:t>
            </a:r>
            <a:r>
              <a:rPr lang="en-US" dirty="0" err="1"/>
              <a:t>klaster</a:t>
            </a:r>
            <a:r>
              <a:rPr lang="en-US" dirty="0"/>
              <a:t> </a:t>
            </a:r>
            <a:r>
              <a:rPr lang="en-US" dirty="0" err="1"/>
              <a:t>topik</a:t>
            </a:r>
            <a:r>
              <a:rPr lang="en-US" dirty="0"/>
              <a:t> </a:t>
            </a:r>
            <a:r>
              <a:rPr lang="en-US" dirty="0" err="1"/>
              <a:t>berdasarkan</a:t>
            </a:r>
            <a:r>
              <a:rPr lang="en-US" dirty="0"/>
              <a:t> </a:t>
            </a:r>
            <a:r>
              <a:rPr lang="en-US" dirty="0" err="1"/>
              <a:t>kedekatan</a:t>
            </a:r>
            <a:r>
              <a:rPr lang="en-US" dirty="0"/>
              <a:t> </a:t>
            </a:r>
            <a:r>
              <a:rPr lang="en-US" dirty="0" err="1"/>
              <a:t>makna</a:t>
            </a:r>
            <a:r>
              <a:rPr lang="en-US" dirty="0"/>
              <a:t> </a:t>
            </a:r>
            <a:r>
              <a:rPr lang="en-US" dirty="0" err="1"/>
              <a:t>semantik</a:t>
            </a:r>
            <a:r>
              <a:rPr lang="en-US" dirty="0"/>
              <a:t> </a:t>
            </a:r>
            <a:r>
              <a:rPr lang="en-US" dirty="0" err="1"/>
              <a:t>setelah</a:t>
            </a:r>
            <a:r>
              <a:rPr lang="en-US" dirty="0"/>
              <a:t> </a:t>
            </a:r>
            <a:r>
              <a:rPr lang="en-US" dirty="0" err="1"/>
              <a:t>melalui</a:t>
            </a:r>
            <a:r>
              <a:rPr lang="en-US" dirty="0"/>
              <a:t> UMAP dan HDBSCAN."</a:t>
            </a:r>
          </a:p>
          <a:p>
            <a:endParaRPr lang="en-US" dirty="0"/>
          </a:p>
          <a:p>
            <a:r>
              <a:rPr lang="en-US" dirty="0" err="1"/>
              <a:t>Arahan</a:t>
            </a:r>
            <a:r>
              <a:rPr lang="en-US" dirty="0"/>
              <a:t>: Jika </a:t>
            </a:r>
            <a:r>
              <a:rPr lang="en-US" dirty="0" err="1"/>
              <a:t>ditampilkan</a:t>
            </a:r>
            <a:r>
              <a:rPr lang="en-US" dirty="0"/>
              <a:t> </a:t>
            </a:r>
            <a:r>
              <a:rPr lang="en-US" dirty="0" err="1"/>
              <a:t>intertopic</a:t>
            </a:r>
            <a:r>
              <a:rPr lang="en-US" dirty="0"/>
              <a:t> distance map, </a:t>
            </a:r>
            <a:r>
              <a:rPr lang="en-US" dirty="0" err="1"/>
              <a:t>jelaskan</a:t>
            </a:r>
            <a:r>
              <a:rPr lang="en-US" dirty="0"/>
              <a:t> </a:t>
            </a:r>
            <a:r>
              <a:rPr lang="en-US" dirty="0" err="1"/>
              <a:t>bahwa</a:t>
            </a:r>
            <a:r>
              <a:rPr lang="en-US" dirty="0"/>
              <a:t> </a:t>
            </a:r>
            <a:r>
              <a:rPr lang="en-US" dirty="0" err="1"/>
              <a:t>topik</a:t>
            </a:r>
            <a:r>
              <a:rPr lang="en-US" dirty="0"/>
              <a:t> yang </a:t>
            </a:r>
            <a:r>
              <a:rPr lang="en-US" dirty="0" err="1"/>
              <a:t>berdekatan</a:t>
            </a:r>
            <a:r>
              <a:rPr lang="en-US" dirty="0"/>
              <a:t> pada </a:t>
            </a:r>
            <a:r>
              <a:rPr lang="en-US" dirty="0" err="1"/>
              <a:t>peta</a:t>
            </a:r>
            <a:r>
              <a:rPr lang="en-US" dirty="0"/>
              <a:t> </a:t>
            </a:r>
            <a:r>
              <a:rPr lang="en-US" dirty="0" err="1"/>
              <a:t>berarti</a:t>
            </a:r>
            <a:r>
              <a:rPr lang="en-US" dirty="0"/>
              <a:t> </a:t>
            </a:r>
            <a:r>
              <a:rPr lang="en-US" dirty="0" err="1"/>
              <a:t>memiliki</a:t>
            </a:r>
            <a:r>
              <a:rPr lang="en-US" dirty="0"/>
              <a:t> </a:t>
            </a:r>
            <a:r>
              <a:rPr lang="en-US" dirty="0" err="1"/>
              <a:t>kemiripan</a:t>
            </a:r>
            <a:r>
              <a:rPr lang="en-US" dirty="0"/>
              <a:t> </a:t>
            </a:r>
            <a:r>
              <a:rPr lang="en-US" dirty="0" err="1"/>
              <a:t>makna</a:t>
            </a:r>
            <a:r>
              <a:rPr lang="en-US" dirty="0"/>
              <a:t> yang </a:t>
            </a:r>
            <a:r>
              <a:rPr lang="en-US" dirty="0" err="1"/>
              <a:t>lebih</a:t>
            </a:r>
            <a:r>
              <a:rPr lang="en-US" dirty="0"/>
              <a:t> </a:t>
            </a:r>
            <a:r>
              <a:rPr lang="en-US" dirty="0" err="1"/>
              <a:t>tinggi</a:t>
            </a:r>
            <a:r>
              <a:rPr lang="en-US" dirty="0"/>
              <a:t>.</a:t>
            </a:r>
          </a:p>
        </p:txBody>
      </p:sp>
      <p:sp>
        <p:nvSpPr>
          <p:cNvPr id="4" name="Slide Number Placeholder 3"/>
          <p:cNvSpPr>
            <a:spLocks noGrp="1"/>
          </p:cNvSpPr>
          <p:nvPr>
            <p:ph type="sldNum" sz="quarter" idx="5"/>
          </p:nvPr>
        </p:nvSpPr>
        <p:spPr/>
        <p:txBody>
          <a:bodyPr/>
          <a:lstStyle/>
          <a:p>
            <a:fld id="{0E4F9FF8-F730-48A2-A15C-4DAF3EEA9E4C}" type="slidenum">
              <a:rPr lang="en-US" smtClean="0"/>
              <a:t>18</a:t>
            </a:fld>
            <a:endParaRPr lang="en-US"/>
          </a:p>
        </p:txBody>
      </p:sp>
    </p:spTree>
    <p:extLst>
      <p:ext uri="{BB962C8B-B14F-4D97-AF65-F5344CB8AC3E}">
        <p14:creationId xmlns:p14="http://schemas.microsoft.com/office/powerpoint/2010/main" val="7870244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v-SE" dirty="0"/>
              <a:t>Slide ini melanjutkan visualisasi hasil topik BERTopic, menampilkan detail kata kunci dominan pada tiap klaster topik</a:t>
            </a:r>
            <a:endParaRPr lang="en-US" dirty="0"/>
          </a:p>
        </p:txBody>
      </p:sp>
      <p:sp>
        <p:nvSpPr>
          <p:cNvPr id="4" name="Slide Number Placeholder 3"/>
          <p:cNvSpPr>
            <a:spLocks noGrp="1"/>
          </p:cNvSpPr>
          <p:nvPr>
            <p:ph type="sldNum" sz="quarter" idx="5"/>
          </p:nvPr>
        </p:nvSpPr>
        <p:spPr/>
        <p:txBody>
          <a:bodyPr/>
          <a:lstStyle/>
          <a:p>
            <a:fld id="{0E4F9FF8-F730-48A2-A15C-4DAF3EEA9E4C}" type="slidenum">
              <a:rPr lang="en-US" smtClean="0"/>
              <a:t>19</a:t>
            </a:fld>
            <a:endParaRPr lang="en-US"/>
          </a:p>
        </p:txBody>
      </p:sp>
    </p:spTree>
    <p:extLst>
      <p:ext uri="{BB962C8B-B14F-4D97-AF65-F5344CB8AC3E}">
        <p14:creationId xmlns:p14="http://schemas.microsoft.com/office/powerpoint/2010/main" val="36405075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Topik</a:t>
            </a:r>
            <a:r>
              <a:rPr lang="en-US" dirty="0"/>
              <a:t> yang </a:t>
            </a:r>
            <a:r>
              <a:rPr lang="en-US" dirty="0" err="1"/>
              <a:t>dihasilkan</a:t>
            </a:r>
            <a:r>
              <a:rPr lang="en-US" dirty="0"/>
              <a:t> </a:t>
            </a:r>
            <a:r>
              <a:rPr lang="en-US" dirty="0" err="1"/>
              <a:t>BERTopic</a:t>
            </a:r>
            <a:r>
              <a:rPr lang="en-US" dirty="0"/>
              <a:t> </a:t>
            </a:r>
            <a:r>
              <a:rPr lang="en-US" dirty="0" err="1"/>
              <a:t>memiliki</a:t>
            </a:r>
            <a:r>
              <a:rPr lang="en-US" dirty="0"/>
              <a:t> </a:t>
            </a:r>
            <a:r>
              <a:rPr lang="en-US" dirty="0" err="1"/>
              <a:t>koherensi</a:t>
            </a:r>
            <a:r>
              <a:rPr lang="en-US" dirty="0"/>
              <a:t> </a:t>
            </a:r>
            <a:r>
              <a:rPr lang="en-US" dirty="0" err="1"/>
              <a:t>semantik</a:t>
            </a:r>
            <a:r>
              <a:rPr lang="en-US" dirty="0"/>
              <a:t> yang </a:t>
            </a:r>
            <a:r>
              <a:rPr lang="en-US" dirty="0" err="1"/>
              <a:t>jelas</a:t>
            </a:r>
            <a:r>
              <a:rPr lang="en-US" dirty="0"/>
              <a:t> dan </a:t>
            </a:r>
            <a:r>
              <a:rPr lang="en-US" dirty="0" err="1"/>
              <a:t>mencerminkan</a:t>
            </a:r>
            <a:r>
              <a:rPr lang="en-US" dirty="0"/>
              <a:t> </a:t>
            </a:r>
            <a:r>
              <a:rPr lang="en-US" dirty="0" err="1"/>
              <a:t>tema</a:t>
            </a:r>
            <a:r>
              <a:rPr lang="en-US" dirty="0"/>
              <a:t> </a:t>
            </a:r>
            <a:r>
              <a:rPr lang="en-US" dirty="0" err="1"/>
              <a:t>besar</a:t>
            </a:r>
            <a:r>
              <a:rPr lang="en-US" dirty="0"/>
              <a:t> </a:t>
            </a:r>
            <a:r>
              <a:rPr lang="en-US" dirty="0" err="1"/>
              <a:t>seperti</a:t>
            </a:r>
            <a:r>
              <a:rPr lang="en-US" dirty="0"/>
              <a:t> </a:t>
            </a:r>
            <a:r>
              <a:rPr lang="en-US" dirty="0" err="1"/>
              <a:t>ketuhanan</a:t>
            </a:r>
            <a:r>
              <a:rPr lang="en-US" dirty="0"/>
              <a:t> (</a:t>
            </a:r>
            <a:r>
              <a:rPr lang="en-US" dirty="0" err="1"/>
              <a:t>aqidah</a:t>
            </a:r>
            <a:r>
              <a:rPr lang="en-US" dirty="0"/>
              <a:t>), </a:t>
            </a:r>
            <a:r>
              <a:rPr lang="en-US" dirty="0" err="1"/>
              <a:t>kenabian</a:t>
            </a:r>
            <a:r>
              <a:rPr lang="en-US" dirty="0"/>
              <a:t>, </a:t>
            </a:r>
            <a:r>
              <a:rPr lang="en-US" dirty="0" err="1"/>
              <a:t>keimanan</a:t>
            </a:r>
            <a:r>
              <a:rPr lang="en-US" dirty="0"/>
              <a:t>, </a:t>
            </a:r>
            <a:r>
              <a:rPr lang="en-US" dirty="0" err="1"/>
              <a:t>akhlak</a:t>
            </a:r>
            <a:r>
              <a:rPr lang="en-US" dirty="0"/>
              <a:t>, </a:t>
            </a:r>
            <a:r>
              <a:rPr lang="en-US" dirty="0" err="1"/>
              <a:t>eskatologi</a:t>
            </a:r>
            <a:r>
              <a:rPr lang="en-US" dirty="0"/>
              <a:t> (</a:t>
            </a:r>
            <a:r>
              <a:rPr lang="en-US" dirty="0" err="1"/>
              <a:t>hari</a:t>
            </a:r>
            <a:r>
              <a:rPr lang="en-US" dirty="0"/>
              <a:t> </a:t>
            </a:r>
            <a:r>
              <a:rPr lang="en-US" dirty="0" err="1"/>
              <a:t>kiamat</a:t>
            </a:r>
            <a:r>
              <a:rPr lang="en-US" dirty="0"/>
              <a:t>, </a:t>
            </a:r>
            <a:r>
              <a:rPr lang="en-US" dirty="0" err="1"/>
              <a:t>surga</a:t>
            </a:r>
            <a:r>
              <a:rPr lang="en-US" dirty="0"/>
              <a:t>, </a:t>
            </a:r>
            <a:r>
              <a:rPr lang="en-US" dirty="0" err="1"/>
              <a:t>neraka</a:t>
            </a:r>
            <a:r>
              <a:rPr lang="en-US" dirty="0"/>
              <a:t>), </a:t>
            </a:r>
            <a:r>
              <a:rPr lang="en-US" dirty="0" err="1"/>
              <a:t>ilmu</a:t>
            </a:r>
            <a:r>
              <a:rPr lang="en-US" dirty="0"/>
              <a:t> </a:t>
            </a:r>
            <a:r>
              <a:rPr lang="en-US" dirty="0" err="1"/>
              <a:t>pengetahuan</a:t>
            </a:r>
            <a:r>
              <a:rPr lang="en-US" dirty="0"/>
              <a:t>, </a:t>
            </a:r>
            <a:r>
              <a:rPr lang="en-US" dirty="0" err="1"/>
              <a:t>sosial</a:t>
            </a:r>
            <a:r>
              <a:rPr lang="en-US" dirty="0"/>
              <a:t>, dan </a:t>
            </a:r>
            <a:r>
              <a:rPr lang="en-US" dirty="0" err="1"/>
              <a:t>hukum</a:t>
            </a:r>
            <a:r>
              <a:rPr lang="en-US" dirty="0"/>
              <a:t>/</a:t>
            </a:r>
            <a:r>
              <a:rPr lang="en-US" dirty="0" err="1"/>
              <a:t>syariah</a:t>
            </a:r>
            <a:r>
              <a:rPr lang="en-US" dirty="0"/>
              <a:t>."</a:t>
            </a:r>
          </a:p>
          <a:p>
            <a:endParaRPr lang="en-US" dirty="0"/>
          </a:p>
          <a:p>
            <a:r>
              <a:rPr lang="en-US" dirty="0" err="1"/>
              <a:t>Arahan</a:t>
            </a:r>
            <a:r>
              <a:rPr lang="en-US" dirty="0"/>
              <a:t>: </a:t>
            </a:r>
            <a:r>
              <a:rPr lang="en-US" dirty="0" err="1"/>
              <a:t>Kemungkinan</a:t>
            </a:r>
            <a:r>
              <a:rPr lang="en-US" dirty="0"/>
              <a:t> </a:t>
            </a:r>
            <a:r>
              <a:rPr lang="en-US" dirty="0" err="1"/>
              <a:t>besar</a:t>
            </a:r>
            <a:r>
              <a:rPr lang="en-US" dirty="0"/>
              <a:t> </a:t>
            </a:r>
            <a:r>
              <a:rPr lang="en-US" dirty="0" err="1"/>
              <a:t>akan</a:t>
            </a:r>
            <a:r>
              <a:rPr lang="en-US" dirty="0"/>
              <a:t> </a:t>
            </a:r>
            <a:r>
              <a:rPr lang="en-US" dirty="0" err="1"/>
              <a:t>ditanya</a:t>
            </a:r>
            <a:r>
              <a:rPr lang="en-US" dirty="0"/>
              <a:t>: '</a:t>
            </a:r>
            <a:r>
              <a:rPr lang="en-US" dirty="0" err="1"/>
              <a:t>kenapa</a:t>
            </a:r>
            <a:r>
              <a:rPr lang="en-US" dirty="0"/>
              <a:t> model unsupervised </a:t>
            </a:r>
            <a:r>
              <a:rPr lang="en-US" dirty="0" err="1"/>
              <a:t>bisa</a:t>
            </a:r>
            <a:r>
              <a:rPr lang="en-US" dirty="0"/>
              <a:t> </a:t>
            </a:r>
            <a:r>
              <a:rPr lang="en-US" dirty="0" err="1"/>
              <a:t>menghasilkan</a:t>
            </a:r>
            <a:r>
              <a:rPr lang="en-US" dirty="0"/>
              <a:t> label </a:t>
            </a:r>
            <a:r>
              <a:rPr lang="en-US" dirty="0" err="1"/>
              <a:t>tema</a:t>
            </a:r>
            <a:r>
              <a:rPr lang="en-US" dirty="0"/>
              <a:t> </a:t>
            </a:r>
            <a:r>
              <a:rPr lang="en-US" dirty="0" err="1"/>
              <a:t>seperti</a:t>
            </a:r>
            <a:r>
              <a:rPr lang="en-US" dirty="0"/>
              <a:t> </a:t>
            </a:r>
            <a:r>
              <a:rPr lang="en-US" dirty="0" err="1"/>
              <a:t>Aqidah</a:t>
            </a:r>
            <a:r>
              <a:rPr lang="en-US" dirty="0"/>
              <a:t>/Hukum?' Jawab: model </a:t>
            </a:r>
            <a:r>
              <a:rPr lang="en-US" dirty="0" err="1"/>
              <a:t>hanya</a:t>
            </a:r>
            <a:r>
              <a:rPr lang="en-US" dirty="0"/>
              <a:t> </a:t>
            </a:r>
            <a:r>
              <a:rPr lang="en-US" dirty="0" err="1"/>
              <a:t>menghasilkan</a:t>
            </a:r>
            <a:r>
              <a:rPr lang="en-US" dirty="0"/>
              <a:t> </a:t>
            </a:r>
            <a:r>
              <a:rPr lang="en-US" dirty="0" err="1"/>
              <a:t>klaster</a:t>
            </a:r>
            <a:r>
              <a:rPr lang="en-US" dirty="0"/>
              <a:t> kata </a:t>
            </a:r>
            <a:r>
              <a:rPr lang="en-US" dirty="0" err="1"/>
              <a:t>kunci</a:t>
            </a:r>
            <a:r>
              <a:rPr lang="en-US" dirty="0"/>
              <a:t>; </a:t>
            </a:r>
            <a:r>
              <a:rPr lang="en-US" dirty="0" err="1"/>
              <a:t>penamaan</a:t>
            </a:r>
            <a:r>
              <a:rPr lang="en-US" dirty="0"/>
              <a:t> </a:t>
            </a:r>
            <a:r>
              <a:rPr lang="en-US" dirty="0" err="1"/>
              <a:t>tema</a:t>
            </a:r>
            <a:r>
              <a:rPr lang="en-US" dirty="0"/>
              <a:t> </a:t>
            </a:r>
            <a:r>
              <a:rPr lang="en-US" dirty="0" err="1"/>
              <a:t>dilakukan</a:t>
            </a:r>
            <a:r>
              <a:rPr lang="en-US" dirty="0"/>
              <a:t> </a:t>
            </a:r>
            <a:r>
              <a:rPr lang="en-US" dirty="0" err="1"/>
              <a:t>peneliti</a:t>
            </a:r>
            <a:r>
              <a:rPr lang="en-US" dirty="0"/>
              <a:t> </a:t>
            </a:r>
            <a:r>
              <a:rPr lang="en-US" dirty="0" err="1"/>
              <a:t>lewat</a:t>
            </a:r>
            <a:r>
              <a:rPr lang="en-US" dirty="0"/>
              <a:t> human interpretability analysis </a:t>
            </a:r>
            <a:r>
              <a:rPr lang="en-US" dirty="0" err="1"/>
              <a:t>berdasarkan</a:t>
            </a:r>
            <a:r>
              <a:rPr lang="en-US" dirty="0"/>
              <a:t> domain knowledge </a:t>
            </a:r>
            <a:r>
              <a:rPr lang="en-US" dirty="0" err="1"/>
              <a:t>kajian</a:t>
            </a:r>
            <a:r>
              <a:rPr lang="en-US" dirty="0"/>
              <a:t> Islam.</a:t>
            </a:r>
          </a:p>
          <a:p>
            <a:endParaRPr lang="en-US" dirty="0"/>
          </a:p>
        </p:txBody>
      </p:sp>
      <p:sp>
        <p:nvSpPr>
          <p:cNvPr id="4" name="Slide Number Placeholder 3"/>
          <p:cNvSpPr>
            <a:spLocks noGrp="1"/>
          </p:cNvSpPr>
          <p:nvPr>
            <p:ph type="sldNum" sz="quarter" idx="5"/>
          </p:nvPr>
        </p:nvSpPr>
        <p:spPr/>
        <p:txBody>
          <a:bodyPr/>
          <a:lstStyle/>
          <a:p>
            <a:fld id="{0E4F9FF8-F730-48A2-A15C-4DAF3EEA9E4C}" type="slidenum">
              <a:rPr lang="en-US" smtClean="0"/>
              <a:t>20</a:t>
            </a:fld>
            <a:endParaRPr lang="en-US"/>
          </a:p>
        </p:txBody>
      </p:sp>
    </p:spTree>
    <p:extLst>
      <p:ext uri="{BB962C8B-B14F-4D97-AF65-F5344CB8AC3E}">
        <p14:creationId xmlns:p14="http://schemas.microsoft.com/office/powerpoint/2010/main" val="9105574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Karena CTM dan </a:t>
            </a:r>
            <a:r>
              <a:rPr lang="en-US" dirty="0" err="1"/>
              <a:t>BERTopic</a:t>
            </a:r>
            <a:r>
              <a:rPr lang="en-US" dirty="0"/>
              <a:t> </a:t>
            </a:r>
            <a:r>
              <a:rPr lang="en-US" dirty="0" err="1"/>
              <a:t>menghasilkan</a:t>
            </a:r>
            <a:r>
              <a:rPr lang="en-US" dirty="0"/>
              <a:t> </a:t>
            </a:r>
            <a:r>
              <a:rPr lang="en-US" dirty="0" err="1"/>
              <a:t>struktur</a:t>
            </a:r>
            <a:r>
              <a:rPr lang="en-US" dirty="0"/>
              <a:t> </a:t>
            </a:r>
            <a:r>
              <a:rPr lang="en-US" dirty="0" err="1"/>
              <a:t>topik</a:t>
            </a:r>
            <a:r>
              <a:rPr lang="en-US" dirty="0"/>
              <a:t> </a:t>
            </a:r>
            <a:r>
              <a:rPr lang="en-US" dirty="0" err="1"/>
              <a:t>berbeda</a:t>
            </a:r>
            <a:r>
              <a:rPr lang="en-US" dirty="0"/>
              <a:t>, </a:t>
            </a:r>
            <a:r>
              <a:rPr lang="en-US" dirty="0" err="1"/>
              <a:t>saya</a:t>
            </a:r>
            <a:r>
              <a:rPr lang="en-US" dirty="0"/>
              <a:t> </a:t>
            </a:r>
            <a:r>
              <a:rPr lang="en-US" dirty="0" err="1"/>
              <a:t>menggabungkan</a:t>
            </a:r>
            <a:r>
              <a:rPr lang="en-US" dirty="0"/>
              <a:t> </a:t>
            </a:r>
            <a:r>
              <a:rPr lang="en-US" dirty="0" err="1"/>
              <a:t>hasil</a:t>
            </a:r>
            <a:r>
              <a:rPr lang="en-US" dirty="0"/>
              <a:t> </a:t>
            </a:r>
            <a:r>
              <a:rPr lang="en-US" dirty="0" err="1"/>
              <a:t>topik</a:t>
            </a:r>
            <a:r>
              <a:rPr lang="en-US" dirty="0"/>
              <a:t> </a:t>
            </a:r>
            <a:r>
              <a:rPr lang="en-US" dirty="0" err="1"/>
              <a:t>keduanya</a:t>
            </a:r>
            <a:r>
              <a:rPr lang="en-US" dirty="0"/>
              <a:t> </a:t>
            </a:r>
            <a:r>
              <a:rPr lang="en-US" dirty="0" err="1"/>
              <a:t>menggunakan</a:t>
            </a:r>
            <a:r>
              <a:rPr lang="en-US" dirty="0"/>
              <a:t> Jaccard Similarity, </a:t>
            </a:r>
            <a:r>
              <a:rPr lang="en-US" dirty="0" err="1"/>
              <a:t>yaitu</a:t>
            </a:r>
            <a:r>
              <a:rPr lang="en-US" dirty="0"/>
              <a:t> </a:t>
            </a:r>
            <a:r>
              <a:rPr lang="en-US" dirty="0" err="1"/>
              <a:t>mengukur</a:t>
            </a:r>
            <a:r>
              <a:rPr lang="en-US" dirty="0"/>
              <a:t> </a:t>
            </a:r>
            <a:r>
              <a:rPr lang="en-US" dirty="0" err="1"/>
              <a:t>kemiripan</a:t>
            </a:r>
            <a:r>
              <a:rPr lang="en-US" dirty="0"/>
              <a:t> </a:t>
            </a:r>
            <a:r>
              <a:rPr lang="en-US" dirty="0" err="1"/>
              <a:t>antar</a:t>
            </a:r>
            <a:r>
              <a:rPr lang="en-US" dirty="0"/>
              <a:t> </a:t>
            </a:r>
            <a:r>
              <a:rPr lang="en-US" dirty="0" err="1"/>
              <a:t>himpunan</a:t>
            </a:r>
            <a:r>
              <a:rPr lang="en-US" dirty="0"/>
              <a:t> kata </a:t>
            </a:r>
            <a:r>
              <a:rPr lang="en-US" dirty="0" err="1"/>
              <a:t>kunci</a:t>
            </a:r>
            <a:r>
              <a:rPr lang="en-US" dirty="0"/>
              <a:t> </a:t>
            </a:r>
            <a:r>
              <a:rPr lang="en-US" dirty="0" err="1"/>
              <a:t>topik</a:t>
            </a:r>
            <a:r>
              <a:rPr lang="en-US" dirty="0"/>
              <a:t> </a:t>
            </a:r>
            <a:r>
              <a:rPr lang="en-US" dirty="0" err="1"/>
              <a:t>dari</a:t>
            </a:r>
            <a:r>
              <a:rPr lang="en-US" dirty="0"/>
              <a:t> </a:t>
            </a:r>
            <a:r>
              <a:rPr lang="en-US" dirty="0" err="1"/>
              <a:t>kedua</a:t>
            </a:r>
            <a:r>
              <a:rPr lang="en-US" dirty="0"/>
              <a:t> model, </a:t>
            </a:r>
            <a:r>
              <a:rPr lang="en-US" dirty="0" err="1"/>
              <a:t>sehingga</a:t>
            </a:r>
            <a:r>
              <a:rPr lang="en-US" dirty="0"/>
              <a:t> </a:t>
            </a:r>
            <a:r>
              <a:rPr lang="en-US" dirty="0" err="1"/>
              <a:t>topik</a:t>
            </a:r>
            <a:r>
              <a:rPr lang="en-US" dirty="0"/>
              <a:t> yang </a:t>
            </a:r>
            <a:r>
              <a:rPr lang="en-US" dirty="0" err="1"/>
              <a:t>secara</a:t>
            </a:r>
            <a:r>
              <a:rPr lang="en-US" dirty="0"/>
              <a:t> </a:t>
            </a:r>
            <a:r>
              <a:rPr lang="en-US" dirty="0" err="1"/>
              <a:t>semantik</a:t>
            </a:r>
            <a:r>
              <a:rPr lang="en-US" dirty="0"/>
              <a:t> </a:t>
            </a:r>
            <a:r>
              <a:rPr lang="en-US" dirty="0" err="1"/>
              <a:t>mirip</a:t>
            </a:r>
            <a:r>
              <a:rPr lang="en-US" dirty="0"/>
              <a:t> </a:t>
            </a:r>
            <a:r>
              <a:rPr lang="en-US" dirty="0" err="1"/>
              <a:t>dapat</a:t>
            </a:r>
            <a:r>
              <a:rPr lang="en-US" dirty="0"/>
              <a:t> </a:t>
            </a:r>
            <a:r>
              <a:rPr lang="en-US" dirty="0" err="1"/>
              <a:t>dipetakan</a:t>
            </a:r>
            <a:r>
              <a:rPr lang="en-US" dirty="0"/>
              <a:t> </a:t>
            </a:r>
            <a:r>
              <a:rPr lang="en-US" dirty="0" err="1"/>
              <a:t>menjadi</a:t>
            </a:r>
            <a:r>
              <a:rPr lang="en-US" dirty="0"/>
              <a:t> </a:t>
            </a:r>
            <a:r>
              <a:rPr lang="en-US" dirty="0" err="1"/>
              <a:t>kategori</a:t>
            </a:r>
            <a:r>
              <a:rPr lang="en-US" dirty="0"/>
              <a:t> </a:t>
            </a:r>
            <a:r>
              <a:rPr lang="en-US" dirty="0" err="1"/>
              <a:t>tema</a:t>
            </a:r>
            <a:r>
              <a:rPr lang="en-US" dirty="0"/>
              <a:t> </a:t>
            </a:r>
            <a:r>
              <a:rPr lang="en-US" dirty="0" err="1"/>
              <a:t>besar</a:t>
            </a:r>
            <a:r>
              <a:rPr lang="en-US" dirty="0"/>
              <a:t> yang </a:t>
            </a:r>
            <a:r>
              <a:rPr lang="en-US" dirty="0" err="1"/>
              <a:t>lebih</a:t>
            </a:r>
            <a:r>
              <a:rPr lang="en-US" dirty="0"/>
              <a:t> </a:t>
            </a:r>
            <a:r>
              <a:rPr lang="en-US" dirty="0" err="1"/>
              <a:t>ringkas</a:t>
            </a:r>
            <a:r>
              <a:rPr lang="en-US" dirty="0"/>
              <a:t>."</a:t>
            </a:r>
          </a:p>
          <a:p>
            <a:endParaRPr lang="en-US" dirty="0"/>
          </a:p>
          <a:p>
            <a:r>
              <a:rPr lang="en-US" dirty="0" err="1"/>
              <a:t>Arahan</a:t>
            </a:r>
            <a:r>
              <a:rPr lang="en-US" dirty="0"/>
              <a:t>: Jika </a:t>
            </a:r>
            <a:r>
              <a:rPr lang="en-US" dirty="0" err="1"/>
              <a:t>ditanya</a:t>
            </a:r>
            <a:r>
              <a:rPr lang="en-US" dirty="0"/>
              <a:t> </a:t>
            </a:r>
            <a:r>
              <a:rPr lang="en-US" dirty="0" err="1"/>
              <a:t>nilai</a:t>
            </a:r>
            <a:r>
              <a:rPr lang="en-US" dirty="0"/>
              <a:t> Jaccard similarity-</a:t>
            </a:r>
            <a:r>
              <a:rPr lang="en-US" dirty="0" err="1"/>
              <a:t>nya</a:t>
            </a:r>
            <a:r>
              <a:rPr lang="en-US" dirty="0"/>
              <a:t>, </a:t>
            </a:r>
            <a:r>
              <a:rPr lang="en-US" dirty="0" err="1"/>
              <a:t>sebutkan</a:t>
            </a:r>
            <a:r>
              <a:rPr lang="en-US" dirty="0"/>
              <a:t> </a:t>
            </a:r>
            <a:r>
              <a:rPr lang="en-US" dirty="0" err="1"/>
              <a:t>berkisar</a:t>
            </a:r>
            <a:r>
              <a:rPr lang="en-US" dirty="0"/>
              <a:t> </a:t>
            </a:r>
            <a:r>
              <a:rPr lang="en-US" dirty="0" err="1"/>
              <a:t>rendah-sedang</a:t>
            </a:r>
            <a:r>
              <a:rPr lang="en-US" dirty="0"/>
              <a:t> (</a:t>
            </a:r>
            <a:r>
              <a:rPr lang="en-US" dirty="0" err="1"/>
              <a:t>sekitar</a:t>
            </a:r>
            <a:r>
              <a:rPr lang="en-US" dirty="0"/>
              <a:t> 0,08-0,25), </a:t>
            </a:r>
            <a:r>
              <a:rPr lang="en-US" dirty="0" err="1"/>
              <a:t>wajar</a:t>
            </a:r>
            <a:r>
              <a:rPr lang="en-US" dirty="0"/>
              <a:t> </a:t>
            </a:r>
            <a:r>
              <a:rPr lang="en-US" dirty="0" err="1"/>
              <a:t>karena</a:t>
            </a:r>
            <a:r>
              <a:rPr lang="en-US" dirty="0"/>
              <a:t> </a:t>
            </a:r>
            <a:r>
              <a:rPr lang="en-US" dirty="0" err="1"/>
              <a:t>kedua</a:t>
            </a:r>
            <a:r>
              <a:rPr lang="en-US" dirty="0"/>
              <a:t> model </a:t>
            </a:r>
            <a:r>
              <a:rPr lang="en-US" dirty="0" err="1"/>
              <a:t>memakai</a:t>
            </a:r>
            <a:r>
              <a:rPr lang="en-US" dirty="0"/>
              <a:t> basis </a:t>
            </a:r>
            <a:r>
              <a:rPr lang="en-US" dirty="0" err="1"/>
              <a:t>matematis</a:t>
            </a:r>
            <a:r>
              <a:rPr lang="en-US" dirty="0"/>
              <a:t> dan </a:t>
            </a:r>
            <a:r>
              <a:rPr lang="en-US" dirty="0" err="1"/>
              <a:t>representasi</a:t>
            </a:r>
            <a:r>
              <a:rPr lang="en-US" dirty="0"/>
              <a:t> kata yang </a:t>
            </a:r>
            <a:r>
              <a:rPr lang="en-US" dirty="0" err="1"/>
              <a:t>berbeda</a:t>
            </a:r>
            <a:r>
              <a:rPr lang="en-US" dirty="0"/>
              <a:t>.</a:t>
            </a:r>
          </a:p>
          <a:p>
            <a:endParaRPr lang="en-US" dirty="0"/>
          </a:p>
        </p:txBody>
      </p:sp>
      <p:sp>
        <p:nvSpPr>
          <p:cNvPr id="4" name="Slide Number Placeholder 3"/>
          <p:cNvSpPr>
            <a:spLocks noGrp="1"/>
          </p:cNvSpPr>
          <p:nvPr>
            <p:ph type="sldNum" sz="quarter" idx="5"/>
          </p:nvPr>
        </p:nvSpPr>
        <p:spPr/>
        <p:txBody>
          <a:bodyPr/>
          <a:lstStyle/>
          <a:p>
            <a:fld id="{0E4F9FF8-F730-48A2-A15C-4DAF3EEA9E4C}" type="slidenum">
              <a:rPr lang="en-US" smtClean="0"/>
              <a:t>21</a:t>
            </a:fld>
            <a:endParaRPr lang="en-US"/>
          </a:p>
        </p:txBody>
      </p:sp>
    </p:spTree>
    <p:extLst>
      <p:ext uri="{BB962C8B-B14F-4D97-AF65-F5344CB8AC3E}">
        <p14:creationId xmlns:p14="http://schemas.microsoft.com/office/powerpoint/2010/main" val="26279485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 HUMAN INTERPRETABILITY ANALYSIS - +/- 1-2 </a:t>
            </a:r>
            <a:r>
              <a:rPr lang="en-US" dirty="0" err="1"/>
              <a:t>menit</a:t>
            </a:r>
            <a:r>
              <a:rPr lang="en-US" dirty="0"/>
              <a:t>]</a:t>
            </a:r>
          </a:p>
          <a:p>
            <a:r>
              <a:rPr lang="en-US" dirty="0"/>
              <a:t>"Setelah </a:t>
            </a:r>
            <a:r>
              <a:rPr lang="en-US" dirty="0" err="1"/>
              <a:t>topik</a:t>
            </a:r>
            <a:r>
              <a:rPr lang="en-US" dirty="0"/>
              <a:t> </a:t>
            </a:r>
            <a:r>
              <a:rPr lang="en-US" dirty="0" err="1"/>
              <a:t>terbentuk</a:t>
            </a:r>
            <a:r>
              <a:rPr lang="en-US" dirty="0"/>
              <a:t>, </a:t>
            </a:r>
            <a:r>
              <a:rPr lang="en-US" dirty="0" err="1"/>
              <a:t>saya</a:t>
            </a:r>
            <a:r>
              <a:rPr lang="en-US" dirty="0"/>
              <a:t> </a:t>
            </a:r>
            <a:r>
              <a:rPr lang="en-US" dirty="0" err="1"/>
              <a:t>melakukan</a:t>
            </a:r>
            <a:r>
              <a:rPr lang="en-US" dirty="0"/>
              <a:t> human interpretability analysis: </a:t>
            </a:r>
            <a:r>
              <a:rPr lang="en-US" dirty="0" err="1"/>
              <a:t>interpretasi</a:t>
            </a:r>
            <a:r>
              <a:rPr lang="en-US" dirty="0"/>
              <a:t> manual </a:t>
            </a:r>
            <a:r>
              <a:rPr lang="en-US" dirty="0" err="1"/>
              <a:t>untuk</a:t>
            </a:r>
            <a:r>
              <a:rPr lang="en-US" dirty="0"/>
              <a:t> </a:t>
            </a:r>
            <a:r>
              <a:rPr lang="en-US" dirty="0" err="1"/>
              <a:t>memastikan</a:t>
            </a:r>
            <a:r>
              <a:rPr lang="en-US" dirty="0"/>
              <a:t> kata </a:t>
            </a:r>
            <a:r>
              <a:rPr lang="en-US" dirty="0" err="1"/>
              <a:t>kunci</a:t>
            </a:r>
            <a:r>
              <a:rPr lang="en-US" dirty="0"/>
              <a:t> </a:t>
            </a:r>
            <a:r>
              <a:rPr lang="en-US" dirty="0" err="1"/>
              <a:t>tiap</a:t>
            </a:r>
            <a:r>
              <a:rPr lang="en-US" dirty="0"/>
              <a:t> </a:t>
            </a:r>
            <a:r>
              <a:rPr lang="en-US" dirty="0" err="1"/>
              <a:t>topik</a:t>
            </a:r>
            <a:r>
              <a:rPr lang="en-US" dirty="0"/>
              <a:t> </a:t>
            </a:r>
            <a:r>
              <a:rPr lang="en-US" dirty="0" err="1"/>
              <a:t>benar-benar</a:t>
            </a:r>
            <a:r>
              <a:rPr lang="en-US" dirty="0"/>
              <a:t> </a:t>
            </a:r>
            <a:r>
              <a:rPr lang="en-US" dirty="0" err="1"/>
              <a:t>mencerminkan</a:t>
            </a:r>
            <a:r>
              <a:rPr lang="en-US" dirty="0"/>
              <a:t> </a:t>
            </a:r>
            <a:r>
              <a:rPr lang="en-US" dirty="0" err="1"/>
              <a:t>tema</a:t>
            </a:r>
            <a:r>
              <a:rPr lang="en-US" dirty="0"/>
              <a:t> yang </a:t>
            </a:r>
            <a:r>
              <a:rPr lang="en-US" dirty="0" err="1"/>
              <a:t>koheren</a:t>
            </a:r>
            <a:r>
              <a:rPr lang="en-US" dirty="0"/>
              <a:t> dan </a:t>
            </a:r>
            <a:r>
              <a:rPr lang="en-US" dirty="0" err="1"/>
              <a:t>bermakna</a:t>
            </a:r>
            <a:r>
              <a:rPr lang="en-US" dirty="0"/>
              <a:t> </a:t>
            </a:r>
            <a:r>
              <a:rPr lang="en-US" dirty="0" err="1"/>
              <a:t>kontekstual</a:t>
            </a:r>
            <a:r>
              <a:rPr lang="en-US" dirty="0"/>
              <a:t>, </a:t>
            </a:r>
            <a:r>
              <a:rPr lang="en-US" dirty="0" err="1"/>
              <a:t>bukan</a:t>
            </a:r>
            <a:r>
              <a:rPr lang="en-US" dirty="0"/>
              <a:t> </a:t>
            </a:r>
            <a:r>
              <a:rPr lang="en-US" dirty="0" err="1"/>
              <a:t>sekadar</a:t>
            </a:r>
            <a:r>
              <a:rPr lang="en-US" dirty="0"/>
              <a:t> </a:t>
            </a:r>
            <a:r>
              <a:rPr lang="en-US" dirty="0" err="1"/>
              <a:t>kumpulan</a:t>
            </a:r>
            <a:r>
              <a:rPr lang="en-US" dirty="0"/>
              <a:t> kata yang </a:t>
            </a:r>
            <a:r>
              <a:rPr lang="en-US" dirty="0" err="1"/>
              <a:t>berkorelasi</a:t>
            </a:r>
            <a:r>
              <a:rPr lang="en-US" dirty="0"/>
              <a:t> </a:t>
            </a:r>
            <a:r>
              <a:rPr lang="en-US" dirty="0" err="1"/>
              <a:t>statistik</a:t>
            </a:r>
            <a:r>
              <a:rPr lang="en-US" dirty="0"/>
              <a:t>."</a:t>
            </a:r>
          </a:p>
          <a:p>
            <a:endParaRPr lang="en-US" dirty="0"/>
          </a:p>
          <a:p>
            <a:r>
              <a:rPr lang="en-US" dirty="0" err="1"/>
              <a:t>Arahan</a:t>
            </a:r>
            <a:r>
              <a:rPr lang="en-US" dirty="0"/>
              <a:t>: </a:t>
            </a:r>
            <a:r>
              <a:rPr lang="en-US" dirty="0" err="1"/>
              <a:t>Tekankan</a:t>
            </a:r>
            <a:r>
              <a:rPr lang="en-US" dirty="0"/>
              <a:t> </a:t>
            </a:r>
            <a:r>
              <a:rPr lang="en-US" dirty="0" err="1"/>
              <a:t>bahwa</a:t>
            </a:r>
            <a:r>
              <a:rPr lang="en-US" dirty="0"/>
              <a:t> </a:t>
            </a:r>
            <a:r>
              <a:rPr lang="en-US" dirty="0" err="1"/>
              <a:t>metrik</a:t>
            </a:r>
            <a:r>
              <a:rPr lang="en-US" dirty="0"/>
              <a:t> </a:t>
            </a:r>
            <a:r>
              <a:rPr lang="en-US" dirty="0" err="1"/>
              <a:t>numerik</a:t>
            </a:r>
            <a:r>
              <a:rPr lang="en-US" dirty="0"/>
              <a:t> </a:t>
            </a:r>
            <a:r>
              <a:rPr lang="en-US" dirty="0" err="1"/>
              <a:t>saja</a:t>
            </a:r>
            <a:r>
              <a:rPr lang="en-US" dirty="0"/>
              <a:t> </a:t>
            </a:r>
            <a:r>
              <a:rPr lang="en-US" dirty="0" err="1"/>
              <a:t>tidak</a:t>
            </a:r>
            <a:r>
              <a:rPr lang="en-US" dirty="0"/>
              <a:t> </a:t>
            </a:r>
            <a:r>
              <a:rPr lang="en-US" dirty="0" err="1"/>
              <a:t>cukup</a:t>
            </a:r>
            <a:r>
              <a:rPr lang="en-US" dirty="0"/>
              <a:t> </a:t>
            </a:r>
            <a:r>
              <a:rPr lang="en-US" dirty="0" err="1"/>
              <a:t>untuk</a:t>
            </a:r>
            <a:r>
              <a:rPr lang="en-US" dirty="0"/>
              <a:t> </a:t>
            </a:r>
            <a:r>
              <a:rPr lang="en-US" dirty="0" err="1"/>
              <a:t>menjamin</a:t>
            </a:r>
            <a:r>
              <a:rPr lang="en-US" dirty="0"/>
              <a:t> </a:t>
            </a:r>
            <a:r>
              <a:rPr lang="en-US" dirty="0" err="1"/>
              <a:t>topik</a:t>
            </a:r>
            <a:r>
              <a:rPr lang="en-US" dirty="0"/>
              <a:t> </a:t>
            </a:r>
            <a:r>
              <a:rPr lang="en-US" dirty="0" err="1"/>
              <a:t>bermakna</a:t>
            </a:r>
            <a:r>
              <a:rPr lang="en-US" dirty="0"/>
              <a:t> </a:t>
            </a:r>
            <a:r>
              <a:rPr lang="en-US" dirty="0" err="1"/>
              <a:t>secara</a:t>
            </a:r>
            <a:r>
              <a:rPr lang="en-US" dirty="0"/>
              <a:t> </a:t>
            </a:r>
            <a:r>
              <a:rPr lang="en-US" dirty="0" err="1"/>
              <a:t>substantif</a:t>
            </a:r>
            <a:r>
              <a:rPr lang="en-US" dirty="0"/>
              <a:t> — </a:t>
            </a:r>
            <a:r>
              <a:rPr lang="en-US" dirty="0" err="1"/>
              <a:t>perlu</a:t>
            </a:r>
            <a:r>
              <a:rPr lang="en-US" dirty="0"/>
              <a:t> </a:t>
            </a:r>
            <a:r>
              <a:rPr lang="en-US" dirty="0" err="1"/>
              <a:t>validasi</a:t>
            </a:r>
            <a:r>
              <a:rPr lang="en-US" dirty="0"/>
              <a:t> </a:t>
            </a:r>
            <a:r>
              <a:rPr lang="en-US" dirty="0" err="1"/>
              <a:t>kualitatif</a:t>
            </a:r>
            <a:r>
              <a:rPr lang="en-US" dirty="0"/>
              <a:t> oleh </a:t>
            </a:r>
            <a:r>
              <a:rPr lang="en-US" dirty="0" err="1"/>
              <a:t>manusia</a:t>
            </a:r>
            <a:r>
              <a:rPr lang="en-US" dirty="0"/>
              <a:t>.</a:t>
            </a:r>
          </a:p>
          <a:p>
            <a:r>
              <a:rPr lang="en-US" dirty="0" err="1"/>
              <a:t>Catatan</a:t>
            </a:r>
            <a:r>
              <a:rPr lang="en-US" dirty="0"/>
              <a:t>: Header slide </a:t>
            </a:r>
            <a:r>
              <a:rPr lang="en-US" dirty="0" err="1"/>
              <a:t>ini</a:t>
            </a:r>
            <a:r>
              <a:rPr lang="en-US" dirty="0"/>
              <a:t> </a:t>
            </a:r>
            <a:r>
              <a:rPr lang="en-US" dirty="0" err="1"/>
              <a:t>masih</a:t>
            </a:r>
            <a:r>
              <a:rPr lang="en-US" dirty="0"/>
              <a:t> </a:t>
            </a:r>
            <a:r>
              <a:rPr lang="en-US" dirty="0" err="1"/>
              <a:t>tertulis</a:t>
            </a:r>
            <a:r>
              <a:rPr lang="en-US" dirty="0"/>
              <a:t> "Correlated Topic Model", </a:t>
            </a:r>
            <a:r>
              <a:rPr lang="en-US" dirty="0" err="1"/>
              <a:t>padahal</a:t>
            </a:r>
            <a:r>
              <a:rPr lang="en-US" dirty="0"/>
              <a:t> </a:t>
            </a:r>
            <a:r>
              <a:rPr lang="en-US" dirty="0" err="1"/>
              <a:t>isinya</a:t>
            </a:r>
            <a:r>
              <a:rPr lang="en-US" dirty="0"/>
              <a:t> </a:t>
            </a:r>
            <a:r>
              <a:rPr lang="en-US" dirty="0" err="1"/>
              <a:t>membahas</a:t>
            </a:r>
            <a:r>
              <a:rPr lang="en-US" dirty="0"/>
              <a:t> </a:t>
            </a:r>
            <a:r>
              <a:rPr lang="en-US" dirty="0" err="1"/>
              <a:t>hasil</a:t>
            </a:r>
            <a:r>
              <a:rPr lang="en-US" dirty="0"/>
              <a:t> </a:t>
            </a:r>
            <a:r>
              <a:rPr lang="en-US" dirty="0" err="1"/>
              <a:t>gabungan</a:t>
            </a:r>
            <a:r>
              <a:rPr lang="en-US" dirty="0"/>
              <a:t> CTM + </a:t>
            </a:r>
            <a:r>
              <a:rPr lang="en-US" dirty="0" err="1"/>
              <a:t>BERTopic</a:t>
            </a:r>
            <a:r>
              <a:rPr lang="en-US" dirty="0"/>
              <a:t> — </a:t>
            </a:r>
            <a:r>
              <a:rPr lang="en-US" dirty="0" err="1"/>
              <a:t>pertimbangkan</a:t>
            </a:r>
            <a:r>
              <a:rPr lang="en-US" dirty="0"/>
              <a:t> </a:t>
            </a:r>
            <a:r>
              <a:rPr lang="en-US" dirty="0" err="1"/>
              <a:t>mengganti</a:t>
            </a:r>
            <a:r>
              <a:rPr lang="en-US" dirty="0"/>
              <a:t> label </a:t>
            </a:r>
            <a:r>
              <a:rPr lang="en-US" dirty="0" err="1"/>
              <a:t>kategori</a:t>
            </a:r>
            <a:r>
              <a:rPr lang="en-US" dirty="0"/>
              <a:t> </a:t>
            </a:r>
            <a:r>
              <a:rPr lang="en-US" dirty="0" err="1"/>
              <a:t>menjadi</a:t>
            </a:r>
            <a:r>
              <a:rPr lang="en-US" dirty="0"/>
              <a:t> "</a:t>
            </a:r>
            <a:r>
              <a:rPr lang="en-US" dirty="0" err="1"/>
              <a:t>Analisis</a:t>
            </a:r>
            <a:r>
              <a:rPr lang="en-US" dirty="0"/>
              <a:t> </a:t>
            </a:r>
            <a:r>
              <a:rPr lang="en-US" dirty="0" err="1"/>
              <a:t>Gabungan</a:t>
            </a:r>
            <a:r>
              <a:rPr lang="en-US" dirty="0"/>
              <a:t>" </a:t>
            </a:r>
            <a:r>
              <a:rPr lang="en-US" dirty="0" err="1"/>
              <a:t>atau</a:t>
            </a:r>
            <a:r>
              <a:rPr lang="en-US" dirty="0"/>
              <a:t> "CTM &amp; </a:t>
            </a:r>
            <a:r>
              <a:rPr lang="en-US" dirty="0" err="1"/>
              <a:t>BERTopic</a:t>
            </a:r>
            <a:r>
              <a:rPr lang="en-US" dirty="0"/>
              <a:t>" agar </a:t>
            </a:r>
            <a:r>
              <a:rPr lang="en-US" dirty="0" err="1"/>
              <a:t>tidak</a:t>
            </a:r>
            <a:r>
              <a:rPr lang="en-US" dirty="0"/>
              <a:t> </a:t>
            </a:r>
            <a:r>
              <a:rPr lang="en-US" dirty="0" err="1"/>
              <a:t>membingungkan</a:t>
            </a:r>
            <a:r>
              <a:rPr lang="en-US" dirty="0"/>
              <a:t> </a:t>
            </a:r>
            <a:r>
              <a:rPr lang="en-US" dirty="0" err="1"/>
              <a:t>penguji</a:t>
            </a:r>
            <a:r>
              <a:rPr lang="en-US" dirty="0"/>
              <a:t> (</a:t>
            </a:r>
            <a:r>
              <a:rPr lang="en-US" dirty="0" err="1"/>
              <a:t>lihat</a:t>
            </a:r>
            <a:r>
              <a:rPr lang="en-US" dirty="0"/>
              <a:t> </a:t>
            </a:r>
            <a:r>
              <a:rPr lang="en-US" dirty="0" err="1"/>
              <a:t>catatan</a:t>
            </a:r>
            <a:r>
              <a:rPr lang="en-US" dirty="0"/>
              <a:t> </a:t>
            </a:r>
            <a:r>
              <a:rPr lang="en-US" dirty="0" err="1"/>
              <a:t>koreksi</a:t>
            </a:r>
            <a:r>
              <a:rPr lang="en-US" dirty="0"/>
              <a:t>).</a:t>
            </a:r>
          </a:p>
          <a:p>
            <a:endParaRPr lang="en-US" dirty="0"/>
          </a:p>
        </p:txBody>
      </p:sp>
      <p:sp>
        <p:nvSpPr>
          <p:cNvPr id="4" name="Slide Number Placeholder 3"/>
          <p:cNvSpPr>
            <a:spLocks noGrp="1"/>
          </p:cNvSpPr>
          <p:nvPr>
            <p:ph type="sldNum" sz="quarter" idx="5"/>
          </p:nvPr>
        </p:nvSpPr>
        <p:spPr/>
        <p:txBody>
          <a:bodyPr/>
          <a:lstStyle/>
          <a:p>
            <a:fld id="{0E4F9FF8-F730-48A2-A15C-4DAF3EEA9E4C}" type="slidenum">
              <a:rPr lang="en-US" smtClean="0"/>
              <a:t>22</a:t>
            </a:fld>
            <a:endParaRPr lang="en-US"/>
          </a:p>
        </p:txBody>
      </p:sp>
    </p:spTree>
    <p:extLst>
      <p:ext uri="{BB962C8B-B14F-4D97-AF65-F5344CB8AC3E}">
        <p14:creationId xmlns:p14="http://schemas.microsoft.com/office/powerpoint/2010/main" val="8364561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a:t>
            </a:r>
            <a:r>
              <a:rPr lang="en-US" dirty="0" err="1"/>
              <a:t>ini</a:t>
            </a:r>
            <a:r>
              <a:rPr lang="en-US" dirty="0"/>
              <a:t> </a:t>
            </a:r>
            <a:r>
              <a:rPr lang="en-US" dirty="0" err="1"/>
              <a:t>merangkum</a:t>
            </a:r>
            <a:r>
              <a:rPr lang="en-US" dirty="0"/>
              <a:t> </a:t>
            </a:r>
            <a:r>
              <a:rPr lang="en-US" dirty="0" err="1"/>
              <a:t>hasil</a:t>
            </a:r>
            <a:r>
              <a:rPr lang="en-US" dirty="0"/>
              <a:t> </a:t>
            </a:r>
            <a:r>
              <a:rPr lang="en-US" dirty="0" err="1"/>
              <a:t>akhir</a:t>
            </a:r>
            <a:r>
              <a:rPr lang="en-US" dirty="0"/>
              <a:t> human interpretability analysis. Total 50 </a:t>
            </a:r>
            <a:r>
              <a:rPr lang="en-US" dirty="0" err="1"/>
              <a:t>topik</a:t>
            </a:r>
            <a:r>
              <a:rPr lang="en-US" dirty="0"/>
              <a:t> </a:t>
            </a:r>
            <a:r>
              <a:rPr lang="en-US" dirty="0" err="1"/>
              <a:t>hasil</a:t>
            </a:r>
            <a:r>
              <a:rPr lang="en-US" dirty="0"/>
              <a:t> </a:t>
            </a:r>
            <a:r>
              <a:rPr lang="en-US" dirty="0" err="1"/>
              <a:t>BERTopic</a:t>
            </a:r>
            <a:r>
              <a:rPr lang="en-US" dirty="0"/>
              <a:t> </a:t>
            </a:r>
            <a:r>
              <a:rPr lang="en-US" dirty="0" err="1"/>
              <a:t>saya</a:t>
            </a:r>
            <a:r>
              <a:rPr lang="en-US" dirty="0"/>
              <a:t> </a:t>
            </a:r>
            <a:r>
              <a:rPr lang="en-US" dirty="0" err="1"/>
              <a:t>petakan</a:t>
            </a:r>
            <a:r>
              <a:rPr lang="en-US" dirty="0"/>
              <a:t> </a:t>
            </a:r>
            <a:r>
              <a:rPr lang="en-US" dirty="0" err="1"/>
              <a:t>ke</a:t>
            </a:r>
            <a:r>
              <a:rPr lang="en-US" dirty="0"/>
              <a:t> </a:t>
            </a:r>
            <a:r>
              <a:rPr lang="en-US" dirty="0" err="1"/>
              <a:t>dalam</a:t>
            </a:r>
            <a:r>
              <a:rPr lang="en-US" dirty="0"/>
              <a:t> 9 </a:t>
            </a:r>
            <a:r>
              <a:rPr lang="en-US" dirty="0" err="1"/>
              <a:t>kategori</a:t>
            </a:r>
            <a:r>
              <a:rPr lang="en-US" dirty="0"/>
              <a:t> </a:t>
            </a:r>
            <a:r>
              <a:rPr lang="en-US" dirty="0" err="1"/>
              <a:t>tematik</a:t>
            </a:r>
            <a:r>
              <a:rPr lang="en-US" dirty="0"/>
              <a:t> </a:t>
            </a:r>
            <a:r>
              <a:rPr lang="en-US" dirty="0" err="1"/>
              <a:t>besar</a:t>
            </a:r>
            <a:r>
              <a:rPr lang="en-US" dirty="0"/>
              <a:t> </a:t>
            </a:r>
            <a:r>
              <a:rPr lang="en-US" dirty="0" err="1"/>
              <a:t>berdasarkan</a:t>
            </a:r>
            <a:r>
              <a:rPr lang="en-US" dirty="0"/>
              <a:t> kata </a:t>
            </a:r>
            <a:r>
              <a:rPr lang="en-US" dirty="0" err="1"/>
              <a:t>kunci</a:t>
            </a:r>
            <a:r>
              <a:rPr lang="en-US" dirty="0"/>
              <a:t> </a:t>
            </a:r>
            <a:r>
              <a:rPr lang="en-US" dirty="0" err="1"/>
              <a:t>hasil</a:t>
            </a:r>
            <a:r>
              <a:rPr lang="en-US" dirty="0"/>
              <a:t> </a:t>
            </a:r>
            <a:r>
              <a:rPr lang="en-US" dirty="0" err="1"/>
              <a:t>penggabungan</a:t>
            </a:r>
            <a:r>
              <a:rPr lang="en-US" dirty="0"/>
              <a:t> CTM dan </a:t>
            </a:r>
            <a:r>
              <a:rPr lang="en-US" dirty="0" err="1"/>
              <a:t>BERTopic</a:t>
            </a:r>
            <a:r>
              <a:rPr lang="en-US" dirty="0"/>
              <a:t> </a:t>
            </a:r>
            <a:r>
              <a:rPr lang="en-US" dirty="0" err="1"/>
              <a:t>melalui</a:t>
            </a:r>
            <a:r>
              <a:rPr lang="en-US" dirty="0"/>
              <a:t> Jaccard Similarity.</a:t>
            </a:r>
          </a:p>
          <a:p>
            <a:endParaRPr lang="en-US" dirty="0"/>
          </a:p>
          <a:p>
            <a:r>
              <a:rPr lang="en-US" dirty="0" err="1"/>
              <a:t>Tiga</a:t>
            </a:r>
            <a:r>
              <a:rPr lang="en-US" dirty="0"/>
              <a:t> </a:t>
            </a:r>
            <a:r>
              <a:rPr lang="en-US" dirty="0" err="1"/>
              <a:t>tema</a:t>
            </a:r>
            <a:r>
              <a:rPr lang="en-US" dirty="0"/>
              <a:t> paling </a:t>
            </a:r>
            <a:r>
              <a:rPr lang="en-US" dirty="0" err="1"/>
              <a:t>dominan</a:t>
            </a:r>
            <a:r>
              <a:rPr lang="en-US" dirty="0"/>
              <a:t> </a:t>
            </a:r>
            <a:r>
              <a:rPr lang="en-US" dirty="0" err="1"/>
              <a:t>adalah</a:t>
            </a:r>
            <a:r>
              <a:rPr lang="en-US" dirty="0"/>
              <a:t> </a:t>
            </a:r>
            <a:r>
              <a:rPr lang="en-US" dirty="0" err="1"/>
              <a:t>Akhlak</a:t>
            </a:r>
            <a:r>
              <a:rPr lang="en-US" dirty="0"/>
              <a:t> </a:t>
            </a:r>
            <a:r>
              <a:rPr lang="en-US" dirty="0" err="1"/>
              <a:t>atau</a:t>
            </a:r>
            <a:r>
              <a:rPr lang="en-US" dirty="0"/>
              <a:t> moral dan </a:t>
            </a:r>
            <a:r>
              <a:rPr lang="en-US" dirty="0" err="1"/>
              <a:t>sikap</a:t>
            </a:r>
            <a:r>
              <a:rPr lang="en-US" dirty="0"/>
              <a:t> </a:t>
            </a:r>
            <a:r>
              <a:rPr lang="en-US" dirty="0" err="1"/>
              <a:t>dengan</a:t>
            </a:r>
            <a:r>
              <a:rPr lang="en-US" dirty="0"/>
              <a:t> 12 </a:t>
            </a:r>
            <a:r>
              <a:rPr lang="en-US" dirty="0" err="1"/>
              <a:t>topik</a:t>
            </a:r>
            <a:r>
              <a:rPr lang="en-US" dirty="0"/>
              <a:t>, </a:t>
            </a:r>
            <a:r>
              <a:rPr lang="en-US" dirty="0" err="1"/>
              <a:t>Eskatologi</a:t>
            </a:r>
            <a:r>
              <a:rPr lang="en-US" dirty="0"/>
              <a:t> </a:t>
            </a:r>
            <a:r>
              <a:rPr lang="en-US" dirty="0" err="1"/>
              <a:t>atau</a:t>
            </a:r>
            <a:r>
              <a:rPr lang="en-US" dirty="0"/>
              <a:t> </a:t>
            </a:r>
            <a:r>
              <a:rPr lang="en-US" dirty="0" err="1"/>
              <a:t>pembahasan</a:t>
            </a:r>
            <a:r>
              <a:rPr lang="en-US" dirty="0"/>
              <a:t> </a:t>
            </a:r>
            <a:r>
              <a:rPr lang="en-US" dirty="0" err="1"/>
              <a:t>akhirat</a:t>
            </a:r>
            <a:r>
              <a:rPr lang="en-US" dirty="0"/>
              <a:t> </a:t>
            </a:r>
            <a:r>
              <a:rPr lang="en-US" dirty="0" err="1"/>
              <a:t>dengan</a:t>
            </a:r>
            <a:r>
              <a:rPr lang="en-US" dirty="0"/>
              <a:t> 11 </a:t>
            </a:r>
            <a:r>
              <a:rPr lang="en-US" dirty="0" err="1"/>
              <a:t>topik</a:t>
            </a:r>
            <a:r>
              <a:rPr lang="en-US" dirty="0"/>
              <a:t>, dan </a:t>
            </a:r>
            <a:r>
              <a:rPr lang="en-US" dirty="0" err="1"/>
              <a:t>Aqidah</a:t>
            </a:r>
            <a:r>
              <a:rPr lang="en-US" dirty="0"/>
              <a:t> </a:t>
            </a:r>
            <a:r>
              <a:rPr lang="en-US" dirty="0" err="1"/>
              <a:t>atau</a:t>
            </a:r>
            <a:r>
              <a:rPr lang="en-US" dirty="0"/>
              <a:t> </a:t>
            </a:r>
            <a:r>
              <a:rPr lang="en-US" dirty="0" err="1"/>
              <a:t>keimanan</a:t>
            </a:r>
            <a:r>
              <a:rPr lang="en-US" dirty="0"/>
              <a:t> </a:t>
            </a:r>
            <a:r>
              <a:rPr lang="en-US" dirty="0" err="1"/>
              <a:t>dengan</a:t>
            </a:r>
            <a:r>
              <a:rPr lang="en-US" dirty="0"/>
              <a:t> 7 </a:t>
            </a:r>
            <a:r>
              <a:rPr lang="en-US" dirty="0" err="1"/>
              <a:t>topik</a:t>
            </a:r>
            <a:r>
              <a:rPr lang="en-US" dirty="0"/>
              <a:t>. </a:t>
            </a:r>
            <a:r>
              <a:rPr lang="en-US" dirty="0" err="1"/>
              <a:t>Diikuti</a:t>
            </a:r>
            <a:r>
              <a:rPr lang="en-US" dirty="0"/>
              <a:t> Syariah (</a:t>
            </a:r>
            <a:r>
              <a:rPr lang="en-US" dirty="0" err="1"/>
              <a:t>hukum</a:t>
            </a:r>
            <a:r>
              <a:rPr lang="en-US" dirty="0"/>
              <a:t> dan ibadah) </a:t>
            </a:r>
            <a:r>
              <a:rPr lang="en-US" dirty="0" err="1"/>
              <a:t>serta</a:t>
            </a:r>
            <a:r>
              <a:rPr lang="en-US" dirty="0"/>
              <a:t> </a:t>
            </a:r>
            <a:r>
              <a:rPr lang="en-US" dirty="0" err="1"/>
              <a:t>Alam</a:t>
            </a:r>
            <a:r>
              <a:rPr lang="en-US" dirty="0"/>
              <a:t>/</a:t>
            </a:r>
            <a:r>
              <a:rPr lang="en-US" dirty="0" err="1"/>
              <a:t>Kauniyah</a:t>
            </a:r>
            <a:r>
              <a:rPr lang="en-US" dirty="0"/>
              <a:t> masing-masing 5 </a:t>
            </a:r>
            <a:r>
              <a:rPr lang="en-US" dirty="0" err="1"/>
              <a:t>topik</a:t>
            </a:r>
            <a:r>
              <a:rPr lang="en-US" dirty="0"/>
              <a:t>, </a:t>
            </a:r>
            <a:r>
              <a:rPr lang="en-US" dirty="0" err="1"/>
              <a:t>Muamalah</a:t>
            </a:r>
            <a:r>
              <a:rPr lang="en-US" dirty="0"/>
              <a:t> </a:t>
            </a:r>
            <a:r>
              <a:rPr lang="en-US" dirty="0" err="1"/>
              <a:t>atau</a:t>
            </a:r>
            <a:r>
              <a:rPr lang="en-US" dirty="0"/>
              <a:t> </a:t>
            </a:r>
            <a:r>
              <a:rPr lang="en-US" dirty="0" err="1"/>
              <a:t>sosial</a:t>
            </a:r>
            <a:r>
              <a:rPr lang="en-US" dirty="0"/>
              <a:t> 3 </a:t>
            </a:r>
            <a:r>
              <a:rPr lang="en-US" dirty="0" err="1"/>
              <a:t>topik</a:t>
            </a:r>
            <a:r>
              <a:rPr lang="en-US" dirty="0"/>
              <a:t>, </a:t>
            </a:r>
            <a:r>
              <a:rPr lang="en-US" dirty="0" err="1"/>
              <a:t>Ilmu</a:t>
            </a:r>
            <a:r>
              <a:rPr lang="en-US" dirty="0"/>
              <a:t> </a:t>
            </a:r>
            <a:r>
              <a:rPr lang="en-US" dirty="0" err="1"/>
              <a:t>Pengetahuan</a:t>
            </a:r>
            <a:r>
              <a:rPr lang="en-US" dirty="0"/>
              <a:t> dan History masing-masing 3 </a:t>
            </a:r>
            <a:r>
              <a:rPr lang="en-US" dirty="0" err="1"/>
              <a:t>topik</a:t>
            </a:r>
            <a:r>
              <a:rPr lang="en-US" dirty="0"/>
              <a:t>, </a:t>
            </a:r>
            <a:r>
              <a:rPr lang="en-US" dirty="0" err="1"/>
              <a:t>serta</a:t>
            </a:r>
            <a:r>
              <a:rPr lang="en-US" dirty="0"/>
              <a:t> </a:t>
            </a:r>
            <a:r>
              <a:rPr lang="en-US" dirty="0" err="1"/>
              <a:t>Psikologis</a:t>
            </a:r>
            <a:r>
              <a:rPr lang="en-US" dirty="0"/>
              <a:t> </a:t>
            </a:r>
            <a:r>
              <a:rPr lang="en-US" dirty="0" err="1"/>
              <a:t>atau</a:t>
            </a:r>
            <a:r>
              <a:rPr lang="en-US" dirty="0"/>
              <a:t> </a:t>
            </a:r>
            <a:r>
              <a:rPr lang="en-US" dirty="0" err="1"/>
              <a:t>batin</a:t>
            </a:r>
            <a:r>
              <a:rPr lang="en-US" dirty="0"/>
              <a:t> </a:t>
            </a:r>
            <a:r>
              <a:rPr lang="en-US" dirty="0" err="1"/>
              <a:t>manusia</a:t>
            </a:r>
            <a:r>
              <a:rPr lang="en-US" dirty="0"/>
              <a:t> 1 </a:t>
            </a:r>
            <a:r>
              <a:rPr lang="en-US" dirty="0" err="1"/>
              <a:t>topik</a:t>
            </a:r>
            <a:r>
              <a:rPr lang="en-US" dirty="0"/>
              <a:t>.</a:t>
            </a:r>
          </a:p>
          <a:p>
            <a:endParaRPr lang="en-US" dirty="0"/>
          </a:p>
          <a:p>
            <a:r>
              <a:rPr lang="en-US" dirty="0" err="1"/>
              <a:t>Temuan</a:t>
            </a:r>
            <a:r>
              <a:rPr lang="en-US" dirty="0"/>
              <a:t> </a:t>
            </a:r>
            <a:r>
              <a:rPr lang="en-US" dirty="0" err="1"/>
              <a:t>ini</a:t>
            </a:r>
            <a:r>
              <a:rPr lang="en-US" dirty="0"/>
              <a:t> </a:t>
            </a:r>
            <a:r>
              <a:rPr lang="en-US" dirty="0" err="1"/>
              <a:t>menunjukkan</a:t>
            </a:r>
            <a:r>
              <a:rPr lang="en-US" dirty="0"/>
              <a:t> </a:t>
            </a:r>
            <a:r>
              <a:rPr lang="en-US" dirty="0" err="1"/>
              <a:t>bahwa</a:t>
            </a:r>
            <a:r>
              <a:rPr lang="en-US" dirty="0"/>
              <a:t> </a:t>
            </a:r>
            <a:r>
              <a:rPr lang="en-US" dirty="0" err="1"/>
              <a:t>tema</a:t>
            </a:r>
            <a:r>
              <a:rPr lang="en-US" dirty="0"/>
              <a:t> </a:t>
            </a:r>
            <a:r>
              <a:rPr lang="en-US" dirty="0" err="1"/>
              <a:t>Akhlak</a:t>
            </a:r>
            <a:r>
              <a:rPr lang="en-US" dirty="0"/>
              <a:t> dan </a:t>
            </a:r>
            <a:r>
              <a:rPr lang="en-US" dirty="0" err="1"/>
              <a:t>Eskatologi</a:t>
            </a:r>
            <a:r>
              <a:rPr lang="en-US" dirty="0"/>
              <a:t> </a:t>
            </a:r>
            <a:r>
              <a:rPr lang="en-US" dirty="0" err="1"/>
              <a:t>menjadi</a:t>
            </a:r>
            <a:r>
              <a:rPr lang="en-US" dirty="0"/>
              <a:t> </a:t>
            </a:r>
            <a:r>
              <a:rPr lang="en-US" dirty="0" err="1"/>
              <a:t>fokus</a:t>
            </a:r>
            <a:r>
              <a:rPr lang="en-US" dirty="0"/>
              <a:t> paling </a:t>
            </a:r>
            <a:r>
              <a:rPr lang="en-US" dirty="0" err="1"/>
              <a:t>banyak</a:t>
            </a:r>
            <a:r>
              <a:rPr lang="en-US" dirty="0"/>
              <a:t> </a:t>
            </a:r>
            <a:r>
              <a:rPr lang="en-US" dirty="0" err="1"/>
              <a:t>dibahas</a:t>
            </a:r>
            <a:r>
              <a:rPr lang="en-US" dirty="0"/>
              <a:t> </a:t>
            </a:r>
            <a:r>
              <a:rPr lang="en-US" dirty="0" err="1"/>
              <a:t>dalam</a:t>
            </a:r>
            <a:r>
              <a:rPr lang="en-US" dirty="0"/>
              <a:t> </a:t>
            </a:r>
            <a:r>
              <a:rPr lang="en-US" dirty="0" err="1"/>
              <a:t>terjemahan</a:t>
            </a:r>
            <a:r>
              <a:rPr lang="en-US" dirty="0"/>
              <a:t> Al-Qur'an </a:t>
            </a:r>
            <a:r>
              <a:rPr lang="en-US" dirty="0" err="1"/>
              <a:t>berdasarkan</a:t>
            </a:r>
            <a:r>
              <a:rPr lang="en-US" dirty="0"/>
              <a:t> </a:t>
            </a:r>
            <a:r>
              <a:rPr lang="en-US" dirty="0" err="1"/>
              <a:t>hasil</a:t>
            </a:r>
            <a:r>
              <a:rPr lang="en-US" dirty="0"/>
              <a:t> </a:t>
            </a:r>
            <a:r>
              <a:rPr lang="en-US" dirty="0" err="1"/>
              <a:t>pemodelan</a:t>
            </a:r>
            <a:r>
              <a:rPr lang="en-US" dirty="0"/>
              <a:t> </a:t>
            </a:r>
            <a:r>
              <a:rPr lang="en-US" dirty="0" err="1"/>
              <a:t>topik</a:t>
            </a:r>
            <a:r>
              <a:rPr lang="en-US" dirty="0"/>
              <a:t> </a:t>
            </a:r>
            <a:r>
              <a:rPr lang="en-US" dirty="0" err="1"/>
              <a:t>ini</a:t>
            </a:r>
            <a:r>
              <a:rPr lang="en-US" dirty="0"/>
              <a:t>."</a:t>
            </a:r>
          </a:p>
          <a:p>
            <a:endParaRPr lang="en-US" dirty="0"/>
          </a:p>
          <a:p>
            <a:r>
              <a:rPr lang="en-US" dirty="0" err="1"/>
              <a:t>Arahan</a:t>
            </a:r>
            <a:r>
              <a:rPr lang="en-US" dirty="0"/>
              <a:t>: </a:t>
            </a:r>
            <a:r>
              <a:rPr lang="en-US" dirty="0" err="1"/>
              <a:t>Ini</a:t>
            </a:r>
            <a:r>
              <a:rPr lang="en-US" dirty="0"/>
              <a:t> slide </a:t>
            </a:r>
            <a:r>
              <a:rPr lang="en-US" dirty="0" err="1"/>
              <a:t>kunci</a:t>
            </a:r>
            <a:r>
              <a:rPr lang="en-US" dirty="0"/>
              <a:t> </a:t>
            </a:r>
            <a:r>
              <a:rPr lang="en-US" dirty="0" err="1"/>
              <a:t>untuk</a:t>
            </a:r>
            <a:r>
              <a:rPr lang="en-US" dirty="0"/>
              <a:t> </a:t>
            </a:r>
            <a:r>
              <a:rPr lang="en-US" dirty="0" err="1"/>
              <a:t>menjawab</a:t>
            </a:r>
            <a:r>
              <a:rPr lang="en-US" dirty="0"/>
              <a:t> </a:t>
            </a:r>
            <a:r>
              <a:rPr lang="en-US" dirty="0" err="1"/>
              <a:t>rumusan</a:t>
            </a:r>
            <a:r>
              <a:rPr lang="en-US" dirty="0"/>
              <a:t> </a:t>
            </a:r>
            <a:r>
              <a:rPr lang="en-US" dirty="0" err="1"/>
              <a:t>masalah</a:t>
            </a:r>
            <a:r>
              <a:rPr lang="en-US" dirty="0"/>
              <a:t> </a:t>
            </a:r>
            <a:r>
              <a:rPr lang="en-US" dirty="0" err="1"/>
              <a:t>keempat</a:t>
            </a:r>
            <a:r>
              <a:rPr lang="en-US" dirty="0"/>
              <a:t> (</a:t>
            </a:r>
            <a:r>
              <a:rPr lang="en-US" dirty="0" err="1"/>
              <a:t>tema</a:t>
            </a:r>
            <a:r>
              <a:rPr lang="en-US" dirty="0"/>
              <a:t> </a:t>
            </a:r>
            <a:r>
              <a:rPr lang="en-US" dirty="0" err="1"/>
              <a:t>utama</a:t>
            </a:r>
            <a:r>
              <a:rPr lang="en-US" dirty="0"/>
              <a:t> yang </a:t>
            </a:r>
            <a:r>
              <a:rPr lang="en-US" dirty="0" err="1"/>
              <a:t>terbentuk</a:t>
            </a:r>
            <a:r>
              <a:rPr lang="en-US" dirty="0"/>
              <a:t>) — </a:t>
            </a:r>
            <a:r>
              <a:rPr lang="en-US" dirty="0" err="1"/>
              <a:t>pastikan</a:t>
            </a:r>
            <a:r>
              <a:rPr lang="en-US" dirty="0"/>
              <a:t> </a:t>
            </a:r>
            <a:r>
              <a:rPr lang="en-US" dirty="0" err="1"/>
              <a:t>hafal</a:t>
            </a:r>
            <a:r>
              <a:rPr lang="en-US" dirty="0"/>
              <a:t> 3 </a:t>
            </a:r>
            <a:r>
              <a:rPr lang="en-US" dirty="0" err="1"/>
              <a:t>tema</a:t>
            </a:r>
            <a:r>
              <a:rPr lang="en-US" dirty="0"/>
              <a:t> </a:t>
            </a:r>
            <a:r>
              <a:rPr lang="en-US" dirty="0" err="1"/>
              <a:t>teratas</a:t>
            </a:r>
            <a:r>
              <a:rPr lang="en-US" dirty="0"/>
              <a:t> dan </a:t>
            </a:r>
            <a:r>
              <a:rPr lang="en-US" dirty="0" err="1"/>
              <a:t>totalnya</a:t>
            </a:r>
            <a:r>
              <a:rPr lang="en-US" dirty="0"/>
              <a:t> (50 </a:t>
            </a:r>
            <a:r>
              <a:rPr lang="en-US" dirty="0" err="1"/>
              <a:t>topik</a:t>
            </a:r>
            <a:r>
              <a:rPr lang="en-US" dirty="0"/>
              <a:t> -&gt; 9 </a:t>
            </a:r>
            <a:r>
              <a:rPr lang="en-US" dirty="0" err="1"/>
              <a:t>kategori</a:t>
            </a:r>
            <a:r>
              <a:rPr lang="en-US" dirty="0"/>
              <a:t>).</a:t>
            </a:r>
          </a:p>
          <a:p>
            <a:r>
              <a:rPr lang="en-US" dirty="0" err="1"/>
              <a:t>Catatan</a:t>
            </a:r>
            <a:r>
              <a:rPr lang="en-US" dirty="0"/>
              <a:t> </a:t>
            </a:r>
            <a:r>
              <a:rPr lang="en-US" dirty="0" err="1"/>
              <a:t>koreksi</a:t>
            </a:r>
            <a:r>
              <a:rPr lang="en-US" dirty="0"/>
              <a:t> PENTING: Slide </a:t>
            </a:r>
            <a:r>
              <a:rPr lang="en-US" dirty="0" err="1"/>
              <a:t>ini</a:t>
            </a:r>
            <a:r>
              <a:rPr lang="en-US" dirty="0"/>
              <a:t> </a:t>
            </a:r>
            <a:r>
              <a:rPr lang="en-US" dirty="0" err="1"/>
              <a:t>secara</a:t>
            </a:r>
            <a:r>
              <a:rPr lang="en-US" dirty="0"/>
              <a:t> </a:t>
            </a:r>
            <a:r>
              <a:rPr lang="en-US" dirty="0" err="1"/>
              <a:t>eksplisit</a:t>
            </a:r>
            <a:r>
              <a:rPr lang="en-US" dirty="0"/>
              <a:t> </a:t>
            </a:r>
            <a:r>
              <a:rPr lang="en-US" dirty="0" err="1"/>
              <a:t>menyebut</a:t>
            </a:r>
            <a:r>
              <a:rPr lang="en-US" dirty="0"/>
              <a:t> "Total 50 </a:t>
            </a:r>
            <a:r>
              <a:rPr lang="en-US" dirty="0" err="1"/>
              <a:t>topik</a:t>
            </a:r>
            <a:r>
              <a:rPr lang="en-US" dirty="0"/>
              <a:t> </a:t>
            </a:r>
            <a:r>
              <a:rPr lang="en-US" dirty="0" err="1"/>
              <a:t>BERTopic</a:t>
            </a:r>
            <a:r>
              <a:rPr lang="en-US" dirty="0"/>
              <a:t>". </a:t>
            </a:r>
            <a:r>
              <a:rPr lang="en-US" dirty="0" err="1"/>
              <a:t>Namun</a:t>
            </a:r>
            <a:r>
              <a:rPr lang="en-US" dirty="0"/>
              <a:t> slide </a:t>
            </a:r>
            <a:r>
              <a:rPr lang="en-US" dirty="0" err="1"/>
              <a:t>cadangan</a:t>
            </a:r>
            <a:r>
              <a:rPr lang="en-US" dirty="0"/>
              <a:t> di </a:t>
            </a:r>
            <a:r>
              <a:rPr lang="en-US" dirty="0" err="1"/>
              <a:t>bagian</a:t>
            </a:r>
            <a:r>
              <a:rPr lang="en-US" dirty="0"/>
              <a:t> </a:t>
            </a:r>
            <a:r>
              <a:rPr lang="en-US" dirty="0" err="1"/>
              <a:t>akhir</a:t>
            </a:r>
            <a:r>
              <a:rPr lang="en-US" dirty="0"/>
              <a:t> (</a:t>
            </a:r>
            <a:r>
              <a:rPr lang="en-US" dirty="0" err="1"/>
              <a:t>Ringkasan</a:t>
            </a:r>
            <a:r>
              <a:rPr lang="en-US" dirty="0"/>
              <a:t> Angka </a:t>
            </a:r>
            <a:r>
              <a:rPr lang="en-US" dirty="0" err="1"/>
              <a:t>Penting</a:t>
            </a:r>
            <a:r>
              <a:rPr lang="en-US" dirty="0"/>
              <a:t>) </a:t>
            </a:r>
            <a:r>
              <a:rPr lang="en-US" dirty="0" err="1"/>
              <a:t>masih</a:t>
            </a:r>
            <a:r>
              <a:rPr lang="en-US" dirty="0"/>
              <a:t> </a:t>
            </a:r>
            <a:r>
              <a:rPr lang="en-US" dirty="0" err="1"/>
              <a:t>menuliskan</a:t>
            </a:r>
            <a:r>
              <a:rPr lang="en-US" dirty="0"/>
              <a:t> "39 / 47 / 50* (</a:t>
            </a:r>
            <a:r>
              <a:rPr lang="en-US" dirty="0" err="1"/>
              <a:t>cek</a:t>
            </a:r>
            <a:r>
              <a:rPr lang="en-US" dirty="0"/>
              <a:t> </a:t>
            </a:r>
            <a:r>
              <a:rPr lang="en-US" dirty="0" err="1"/>
              <a:t>catatan</a:t>
            </a:r>
            <a:r>
              <a:rPr lang="en-US" dirty="0"/>
              <a:t>)" </a:t>
            </a:r>
            <a:r>
              <a:rPr lang="en-US" dirty="0" err="1"/>
              <a:t>untuk</a:t>
            </a:r>
            <a:r>
              <a:rPr lang="en-US" dirty="0"/>
              <a:t> </a:t>
            </a:r>
            <a:r>
              <a:rPr lang="en-US" dirty="0" err="1"/>
              <a:t>jumlah</a:t>
            </a:r>
            <a:r>
              <a:rPr lang="en-US" dirty="0"/>
              <a:t> </a:t>
            </a:r>
            <a:r>
              <a:rPr lang="en-US" dirty="0" err="1"/>
              <a:t>topik</a:t>
            </a:r>
            <a:r>
              <a:rPr lang="en-US" dirty="0"/>
              <a:t> </a:t>
            </a:r>
            <a:r>
              <a:rPr lang="en-US" dirty="0" err="1"/>
              <a:t>BERTopic</a:t>
            </a:r>
            <a:r>
              <a:rPr lang="en-US" dirty="0"/>
              <a:t>. </a:t>
            </a:r>
            <a:r>
              <a:rPr lang="en-US" dirty="0" err="1"/>
              <a:t>Sebaiknya</a:t>
            </a:r>
            <a:r>
              <a:rPr lang="en-US" dirty="0"/>
              <a:t> </a:t>
            </a:r>
            <a:r>
              <a:rPr lang="en-US" dirty="0" err="1"/>
              <a:t>angka</a:t>
            </a:r>
            <a:r>
              <a:rPr lang="en-US" dirty="0"/>
              <a:t> </a:t>
            </a:r>
            <a:r>
              <a:rPr lang="en-US" dirty="0" err="1"/>
              <a:t>ini</a:t>
            </a:r>
            <a:r>
              <a:rPr lang="en-US" dirty="0"/>
              <a:t> </a:t>
            </a:r>
            <a:r>
              <a:rPr lang="en-US" dirty="0" err="1"/>
              <a:t>diseragamkan</a:t>
            </a:r>
            <a:r>
              <a:rPr lang="en-US" dirty="0"/>
              <a:t> — </a:t>
            </a:r>
            <a:r>
              <a:rPr lang="en-US" dirty="0" err="1"/>
              <a:t>jika</a:t>
            </a:r>
            <a:r>
              <a:rPr lang="en-US" dirty="0"/>
              <a:t> 50 </a:t>
            </a:r>
            <a:r>
              <a:rPr lang="en-US" dirty="0" err="1"/>
              <a:t>sudah</a:t>
            </a:r>
            <a:r>
              <a:rPr lang="en-US" dirty="0"/>
              <a:t> final dan </a:t>
            </a:r>
            <a:r>
              <a:rPr lang="en-US" dirty="0" err="1"/>
              <a:t>dikonfirmasi</a:t>
            </a:r>
            <a:r>
              <a:rPr lang="en-US" dirty="0"/>
              <a:t> </a:t>
            </a:r>
            <a:r>
              <a:rPr lang="en-US" dirty="0" err="1"/>
              <a:t>dari</a:t>
            </a:r>
            <a:r>
              <a:rPr lang="en-US" dirty="0"/>
              <a:t> </a:t>
            </a:r>
            <a:r>
              <a:rPr lang="en-US" dirty="0" err="1"/>
              <a:t>tesis</a:t>
            </a:r>
            <a:r>
              <a:rPr lang="en-US" dirty="0"/>
              <a:t>, </a:t>
            </a:r>
            <a:r>
              <a:rPr lang="en-US" dirty="0" err="1"/>
              <a:t>perbarui</a:t>
            </a:r>
            <a:r>
              <a:rPr lang="en-US" dirty="0"/>
              <a:t> slide </a:t>
            </a:r>
            <a:r>
              <a:rPr lang="en-US" dirty="0" err="1"/>
              <a:t>cadangan</a:t>
            </a:r>
            <a:r>
              <a:rPr lang="en-US" dirty="0"/>
              <a:t> agar </a:t>
            </a:r>
            <a:r>
              <a:rPr lang="en-US" dirty="0" err="1"/>
              <a:t>tidak</a:t>
            </a:r>
            <a:r>
              <a:rPr lang="en-US" dirty="0"/>
              <a:t> </a:t>
            </a:r>
            <a:r>
              <a:rPr lang="en-US" dirty="0" err="1"/>
              <a:t>menampilkan</a:t>
            </a:r>
            <a:r>
              <a:rPr lang="en-US" dirty="0"/>
              <a:t> </a:t>
            </a:r>
            <a:r>
              <a:rPr lang="en-US" dirty="0" err="1"/>
              <a:t>tiga</a:t>
            </a:r>
            <a:r>
              <a:rPr lang="en-US" dirty="0"/>
              <a:t> </a:t>
            </a:r>
            <a:r>
              <a:rPr lang="en-US" dirty="0" err="1"/>
              <a:t>angka</a:t>
            </a:r>
            <a:r>
              <a:rPr lang="en-US" dirty="0"/>
              <a:t> </a:t>
            </a:r>
            <a:r>
              <a:rPr lang="en-US" dirty="0" err="1"/>
              <a:t>berbeda</a:t>
            </a:r>
            <a:r>
              <a:rPr lang="en-US" dirty="0"/>
              <a:t> </a:t>
            </a:r>
            <a:r>
              <a:rPr lang="en-US" dirty="0" err="1"/>
              <a:t>saat</a:t>
            </a:r>
            <a:r>
              <a:rPr lang="en-US" dirty="0"/>
              <a:t> </a:t>
            </a:r>
            <a:r>
              <a:rPr lang="en-US" dirty="0" err="1"/>
              <a:t>penguji</a:t>
            </a:r>
            <a:r>
              <a:rPr lang="en-US" dirty="0"/>
              <a:t> </a:t>
            </a:r>
            <a:r>
              <a:rPr lang="en-US" dirty="0" err="1"/>
              <a:t>bertanya</a:t>
            </a:r>
            <a:r>
              <a:rPr lang="en-US" dirty="0"/>
              <a: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Sebagai</a:t>
            </a:r>
            <a:r>
              <a:rPr lang="en-US" dirty="0"/>
              <a:t> </a:t>
            </a:r>
            <a:r>
              <a:rPr lang="en-US" dirty="0" err="1"/>
              <a:t>contoh</a:t>
            </a:r>
            <a:r>
              <a:rPr lang="en-US" dirty="0"/>
              <a:t> </a:t>
            </a:r>
            <a:r>
              <a:rPr lang="en-US" dirty="0" err="1"/>
              <a:t>penerapan</a:t>
            </a:r>
            <a:r>
              <a:rPr lang="en-US" dirty="0"/>
              <a:t>, </a:t>
            </a:r>
            <a:r>
              <a:rPr lang="en-US" dirty="0" err="1"/>
              <a:t>saya</a:t>
            </a:r>
            <a:r>
              <a:rPr lang="en-US" dirty="0"/>
              <a:t> </a:t>
            </a:r>
            <a:r>
              <a:rPr lang="en-US" dirty="0" err="1"/>
              <a:t>tampilkan</a:t>
            </a:r>
            <a:r>
              <a:rPr lang="en-US" dirty="0"/>
              <a:t> </a:t>
            </a:r>
            <a:r>
              <a:rPr lang="en-US" dirty="0" err="1"/>
              <a:t>distribusi</a:t>
            </a:r>
            <a:r>
              <a:rPr lang="en-US" dirty="0"/>
              <a:t> </a:t>
            </a:r>
            <a:r>
              <a:rPr lang="en-US" dirty="0" err="1"/>
              <a:t>topik</a:t>
            </a:r>
            <a:r>
              <a:rPr lang="en-US" dirty="0"/>
              <a:t> </a:t>
            </a:r>
            <a:r>
              <a:rPr lang="en-US" dirty="0" err="1"/>
              <a:t>terhadap</a:t>
            </a:r>
            <a:r>
              <a:rPr lang="en-US" dirty="0"/>
              <a:t> </a:t>
            </a:r>
            <a:r>
              <a:rPr lang="en-US" dirty="0" err="1"/>
              <a:t>ayat</a:t>
            </a:r>
            <a:r>
              <a:rPr lang="en-US" dirty="0"/>
              <a:t> pada </a:t>
            </a:r>
            <a:r>
              <a:rPr lang="en-US" dirty="0" err="1"/>
              <a:t>tiga</a:t>
            </a:r>
            <a:r>
              <a:rPr lang="en-US" dirty="0"/>
              <a:t> </a:t>
            </a:r>
            <a:r>
              <a:rPr lang="en-US" dirty="0" err="1"/>
              <a:t>surat</a:t>
            </a:r>
            <a:r>
              <a:rPr lang="en-US" dirty="0"/>
              <a:t>: Al-</a:t>
            </a:r>
            <a:r>
              <a:rPr lang="en-US" dirty="0" err="1"/>
              <a:t>Fatihah</a:t>
            </a:r>
            <a:r>
              <a:rPr lang="en-US" dirty="0"/>
              <a:t> (Surat 1), Al-Baqarah (Surat 2), dan Ali Imran (Surat 3). </a:t>
            </a:r>
            <a:r>
              <a:rPr lang="en-US" dirty="0" err="1"/>
              <a:t>Proporsi</a:t>
            </a:r>
            <a:r>
              <a:rPr lang="en-US" dirty="0"/>
              <a:t> </a:t>
            </a:r>
            <a:r>
              <a:rPr lang="en-US" dirty="0" err="1"/>
              <a:t>topik</a:t>
            </a:r>
            <a:r>
              <a:rPr lang="en-US" dirty="0"/>
              <a:t> pada </a:t>
            </a:r>
            <a:r>
              <a:rPr lang="en-US" dirty="0" err="1"/>
              <a:t>tiap</a:t>
            </a:r>
            <a:r>
              <a:rPr lang="en-US" dirty="0"/>
              <a:t> </a:t>
            </a:r>
            <a:r>
              <a:rPr lang="en-US" dirty="0" err="1"/>
              <a:t>ayat</a:t>
            </a:r>
            <a:r>
              <a:rPr lang="en-US" dirty="0"/>
              <a:t> </a:t>
            </a:r>
            <a:r>
              <a:rPr lang="en-US" dirty="0" err="1"/>
              <a:t>memberi</a:t>
            </a:r>
            <a:r>
              <a:rPr lang="en-US" dirty="0"/>
              <a:t> </a:t>
            </a:r>
            <a:r>
              <a:rPr lang="en-US" dirty="0" err="1"/>
              <a:t>gambaran</a:t>
            </a:r>
            <a:r>
              <a:rPr lang="en-US" dirty="0"/>
              <a:t> </a:t>
            </a:r>
            <a:r>
              <a:rPr lang="en-US" dirty="0" err="1"/>
              <a:t>tema</a:t>
            </a:r>
            <a:r>
              <a:rPr lang="en-US" dirty="0"/>
              <a:t> </a:t>
            </a:r>
            <a:r>
              <a:rPr lang="en-US" dirty="0" err="1"/>
              <a:t>dominan</a:t>
            </a:r>
            <a:r>
              <a:rPr lang="en-US" dirty="0"/>
              <a:t> yang </a:t>
            </a:r>
            <a:r>
              <a:rPr lang="en-US" dirty="0" err="1"/>
              <a:t>dibahas</a:t>
            </a:r>
            <a:r>
              <a:rPr lang="en-US" dirty="0"/>
              <a:t> </a:t>
            </a:r>
            <a:r>
              <a:rPr lang="en-US" dirty="0" err="1"/>
              <a:t>surat</a:t>
            </a:r>
            <a:r>
              <a:rPr lang="en-US" dirty="0"/>
              <a:t> </a:t>
            </a:r>
            <a:r>
              <a:rPr lang="en-US" dirty="0" err="1"/>
              <a:t>tersebut</a:t>
            </a:r>
            <a:r>
              <a:rPr lang="en-US" dirty="0"/>
              <a:t>, </a:t>
            </a:r>
            <a:r>
              <a:rPr lang="en-US" dirty="0" err="1"/>
              <a:t>sekaligus</a:t>
            </a:r>
            <a:r>
              <a:rPr lang="en-US" dirty="0"/>
              <a:t> </a:t>
            </a:r>
            <a:r>
              <a:rPr lang="en-US" dirty="0" err="1"/>
              <a:t>validasi</a:t>
            </a:r>
            <a:r>
              <a:rPr lang="en-US" dirty="0"/>
              <a:t> </a:t>
            </a:r>
            <a:r>
              <a:rPr lang="en-US" dirty="0" err="1"/>
              <a:t>bahwa</a:t>
            </a:r>
            <a:r>
              <a:rPr lang="en-US" dirty="0"/>
              <a:t> </a:t>
            </a:r>
            <a:r>
              <a:rPr lang="en-US" dirty="0" err="1"/>
              <a:t>hasil</a:t>
            </a:r>
            <a:r>
              <a:rPr lang="en-US" dirty="0"/>
              <a:t> </a:t>
            </a:r>
            <a:r>
              <a:rPr lang="en-US" dirty="0" err="1"/>
              <a:t>pemodelan</a:t>
            </a:r>
            <a:r>
              <a:rPr lang="en-US" dirty="0"/>
              <a:t> </a:t>
            </a:r>
            <a:r>
              <a:rPr lang="en-US" dirty="0" err="1"/>
              <a:t>topik</a:t>
            </a:r>
            <a:r>
              <a:rPr lang="en-US" dirty="0"/>
              <a:t> </a:t>
            </a:r>
            <a:r>
              <a:rPr lang="en-US" dirty="0" err="1"/>
              <a:t>konsisten</a:t>
            </a:r>
            <a:r>
              <a:rPr lang="en-US" dirty="0"/>
              <a:t> </a:t>
            </a:r>
            <a:r>
              <a:rPr lang="en-US" dirty="0" err="1"/>
              <a:t>dengan</a:t>
            </a:r>
            <a:r>
              <a:rPr lang="en-US" dirty="0"/>
              <a:t> </a:t>
            </a:r>
            <a:r>
              <a:rPr lang="en-US" dirty="0" err="1"/>
              <a:t>pemahaman</a:t>
            </a:r>
            <a:r>
              <a:rPr lang="en-US" dirty="0"/>
              <a:t> </a:t>
            </a:r>
            <a:r>
              <a:rPr lang="en-US" dirty="0" err="1"/>
              <a:t>tematik</a:t>
            </a:r>
            <a:r>
              <a:rPr lang="en-US" dirty="0"/>
              <a:t> </a:t>
            </a:r>
            <a:r>
              <a:rPr lang="en-US" dirty="0" err="1"/>
              <a:t>surat-surat</a:t>
            </a:r>
            <a:r>
              <a:rPr lang="en-US" dirty="0"/>
              <a:t> </a:t>
            </a:r>
            <a:r>
              <a:rPr lang="en-US" dirty="0" err="1"/>
              <a:t>tersebut</a:t>
            </a:r>
            <a:r>
              <a:rPr lang="en-US" dirty="0"/>
              <a:t> </a:t>
            </a:r>
            <a:r>
              <a:rPr lang="en-US" dirty="0" err="1"/>
              <a:t>dalam</a:t>
            </a:r>
            <a:r>
              <a:rPr lang="en-US" dirty="0"/>
              <a:t> </a:t>
            </a:r>
            <a:r>
              <a:rPr lang="en-US" dirty="0" err="1"/>
              <a:t>kajian</a:t>
            </a:r>
            <a:r>
              <a:rPr lang="en-US" dirty="0"/>
              <a:t> tafsir."</a:t>
            </a:r>
          </a:p>
          <a:p>
            <a:endParaRPr lang="en-US" dirty="0"/>
          </a:p>
          <a:p>
            <a:r>
              <a:rPr lang="en-US" dirty="0" err="1"/>
              <a:t>Arahan</a:t>
            </a:r>
            <a:r>
              <a:rPr lang="en-US" dirty="0"/>
              <a:t>: Jika </a:t>
            </a:r>
            <a:r>
              <a:rPr lang="en-US" dirty="0" err="1"/>
              <a:t>memungkinkan</a:t>
            </a:r>
            <a:r>
              <a:rPr lang="en-US" dirty="0"/>
              <a:t>, </a:t>
            </a:r>
            <a:r>
              <a:rPr lang="en-US" dirty="0" err="1"/>
              <a:t>kaitkan</a:t>
            </a:r>
            <a:r>
              <a:rPr lang="en-US" dirty="0"/>
              <a:t> </a:t>
            </a:r>
            <a:r>
              <a:rPr lang="en-US" dirty="0" err="1"/>
              <a:t>hasil</a:t>
            </a:r>
            <a:r>
              <a:rPr lang="en-US" dirty="0"/>
              <a:t> </a:t>
            </a:r>
            <a:r>
              <a:rPr lang="en-US" dirty="0" err="1"/>
              <a:t>topik</a:t>
            </a:r>
            <a:r>
              <a:rPr lang="en-US" dirty="0"/>
              <a:t> </a:t>
            </a:r>
            <a:r>
              <a:rPr lang="en-US" dirty="0" err="1"/>
              <a:t>dominan</a:t>
            </a:r>
            <a:r>
              <a:rPr lang="en-US" dirty="0"/>
              <a:t> pada Al-</a:t>
            </a:r>
            <a:r>
              <a:rPr lang="en-US" dirty="0" err="1"/>
              <a:t>Fatihah</a:t>
            </a:r>
            <a:r>
              <a:rPr lang="en-US" dirty="0"/>
              <a:t> </a:t>
            </a:r>
            <a:r>
              <a:rPr lang="en-US" dirty="0" err="1"/>
              <a:t>dengan</a:t>
            </a:r>
            <a:r>
              <a:rPr lang="en-US" dirty="0"/>
              <a:t> </a:t>
            </a:r>
            <a:r>
              <a:rPr lang="en-US" dirty="0" err="1"/>
              <a:t>tema</a:t>
            </a:r>
            <a:r>
              <a:rPr lang="en-US" dirty="0"/>
              <a:t> yang </a:t>
            </a:r>
            <a:r>
              <a:rPr lang="en-US" dirty="0" err="1"/>
              <a:t>dikenal</a:t>
            </a:r>
            <a:r>
              <a:rPr lang="en-US" dirty="0"/>
              <a:t> </a:t>
            </a:r>
            <a:r>
              <a:rPr lang="en-US" dirty="0" err="1"/>
              <a:t>luas</a:t>
            </a:r>
            <a:r>
              <a:rPr lang="en-US" dirty="0"/>
              <a:t> (</a:t>
            </a:r>
            <a:r>
              <a:rPr lang="en-US" dirty="0" err="1"/>
              <a:t>pujian</a:t>
            </a:r>
            <a:r>
              <a:rPr lang="en-US" dirty="0"/>
              <a:t> </a:t>
            </a:r>
            <a:r>
              <a:rPr lang="en-US" dirty="0" err="1"/>
              <a:t>kepada</a:t>
            </a:r>
            <a:r>
              <a:rPr lang="en-US" dirty="0"/>
              <a:t> Allah dan </a:t>
            </a:r>
            <a:r>
              <a:rPr lang="en-US" dirty="0" err="1"/>
              <a:t>permohonan</a:t>
            </a:r>
            <a:r>
              <a:rPr lang="en-US" dirty="0"/>
              <a:t> </a:t>
            </a:r>
            <a:r>
              <a:rPr lang="en-US" dirty="0" err="1"/>
              <a:t>petunjuk</a:t>
            </a:r>
            <a:r>
              <a:rPr lang="en-US" dirty="0"/>
              <a:t>) </a:t>
            </a:r>
            <a:r>
              <a:rPr lang="en-US" dirty="0" err="1"/>
              <a:t>sebagai</a:t>
            </a:r>
            <a:r>
              <a:rPr lang="en-US" dirty="0"/>
              <a:t> </a:t>
            </a:r>
            <a:r>
              <a:rPr lang="en-US" dirty="0" err="1"/>
              <a:t>bentuk</a:t>
            </a:r>
            <a:r>
              <a:rPr lang="en-US" dirty="0"/>
              <a:t> </a:t>
            </a:r>
            <a:r>
              <a:rPr lang="en-US" dirty="0" err="1"/>
              <a:t>validasi</a:t>
            </a:r>
            <a:r>
              <a:rPr lang="en-US" dirty="0"/>
              <a:t> </a:t>
            </a:r>
            <a:r>
              <a:rPr lang="en-US" dirty="0" err="1"/>
              <a:t>kualitatif</a:t>
            </a:r>
            <a:r>
              <a:rPr lang="en-US" dirty="0"/>
              <a:t>.</a:t>
            </a:r>
          </a:p>
          <a:p>
            <a:endParaRPr lang="en-US" dirty="0"/>
          </a:p>
        </p:txBody>
      </p:sp>
      <p:sp>
        <p:nvSpPr>
          <p:cNvPr id="4" name="Slide Number Placeholder 3"/>
          <p:cNvSpPr>
            <a:spLocks noGrp="1"/>
          </p:cNvSpPr>
          <p:nvPr>
            <p:ph type="sldNum" sz="quarter" idx="5"/>
          </p:nvPr>
        </p:nvSpPr>
        <p:spPr/>
        <p:txBody>
          <a:bodyPr/>
          <a:lstStyle/>
          <a:p>
            <a:fld id="{0E4F9FF8-F730-48A2-A15C-4DAF3EEA9E4C}" type="slidenum">
              <a:rPr lang="en-US" smtClean="0"/>
              <a:t>24</a:t>
            </a:fld>
            <a:endParaRPr lang="en-US"/>
          </a:p>
        </p:txBody>
      </p:sp>
    </p:spTree>
    <p:extLst>
      <p:ext uri="{BB962C8B-B14F-4D97-AF65-F5344CB8AC3E}">
        <p14:creationId xmlns:p14="http://schemas.microsoft.com/office/powerpoint/2010/main" val="284555768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Sebagai</a:t>
            </a:r>
            <a:r>
              <a:rPr lang="en-US" dirty="0"/>
              <a:t> </a:t>
            </a:r>
            <a:r>
              <a:rPr lang="en-US" dirty="0" err="1"/>
              <a:t>kontribusi</a:t>
            </a:r>
            <a:r>
              <a:rPr lang="en-US" dirty="0"/>
              <a:t> </a:t>
            </a:r>
            <a:r>
              <a:rPr lang="en-US" dirty="0" err="1"/>
              <a:t>praktis</a:t>
            </a:r>
            <a:r>
              <a:rPr lang="en-US" dirty="0"/>
              <a:t>, </a:t>
            </a:r>
            <a:r>
              <a:rPr lang="en-US" dirty="0" err="1"/>
              <a:t>hasil</a:t>
            </a:r>
            <a:r>
              <a:rPr lang="en-US" dirty="0"/>
              <a:t> </a:t>
            </a:r>
            <a:r>
              <a:rPr lang="en-US" dirty="0" err="1"/>
              <a:t>penelitian</a:t>
            </a:r>
            <a:r>
              <a:rPr lang="en-US" dirty="0"/>
              <a:t> </a:t>
            </a:r>
            <a:r>
              <a:rPr lang="en-US" dirty="0" err="1"/>
              <a:t>ini</a:t>
            </a:r>
            <a:r>
              <a:rPr lang="en-US" dirty="0"/>
              <a:t> </a:t>
            </a:r>
            <a:r>
              <a:rPr lang="en-US" dirty="0" err="1"/>
              <a:t>saya</a:t>
            </a:r>
            <a:r>
              <a:rPr lang="en-US" dirty="0"/>
              <a:t> </a:t>
            </a:r>
            <a:r>
              <a:rPr lang="en-US" dirty="0" err="1"/>
              <a:t>wujudkan</a:t>
            </a:r>
            <a:r>
              <a:rPr lang="en-US" dirty="0"/>
              <a:t> </a:t>
            </a:r>
            <a:r>
              <a:rPr lang="en-US" dirty="0" err="1"/>
              <a:t>dalam</a:t>
            </a:r>
            <a:r>
              <a:rPr lang="en-US" dirty="0"/>
              <a:t> </a:t>
            </a:r>
            <a:r>
              <a:rPr lang="en-US" dirty="0" err="1"/>
              <a:t>sebuah</a:t>
            </a:r>
            <a:r>
              <a:rPr lang="en-US" dirty="0"/>
              <a:t> dashboard </a:t>
            </a:r>
            <a:r>
              <a:rPr lang="en-US" dirty="0" err="1"/>
              <a:t>aplikasi</a:t>
            </a:r>
            <a:r>
              <a:rPr lang="en-US" dirty="0"/>
              <a:t> web. Dari </a:t>
            </a:r>
            <a:r>
              <a:rPr lang="en-US" dirty="0" err="1"/>
              <a:t>sisi</a:t>
            </a:r>
            <a:r>
              <a:rPr lang="en-US" dirty="0"/>
              <a:t> </a:t>
            </a:r>
            <a:r>
              <a:rPr lang="en-US" dirty="0" err="1"/>
              <a:t>arsitektur</a:t>
            </a:r>
            <a:r>
              <a:rPr lang="en-US" dirty="0"/>
              <a:t>, frontend </a:t>
            </a:r>
            <a:r>
              <a:rPr lang="en-US" dirty="0" err="1"/>
              <a:t>dibangun</a:t>
            </a:r>
            <a:r>
              <a:rPr lang="en-US" dirty="0"/>
              <a:t> </a:t>
            </a:r>
            <a:r>
              <a:rPr lang="en-US" dirty="0" err="1"/>
              <a:t>dengan</a:t>
            </a:r>
            <a:r>
              <a:rPr lang="en-US" dirty="0"/>
              <a:t> HTML, CSS, dan Bootstrap, backend </a:t>
            </a:r>
            <a:r>
              <a:rPr lang="en-US" dirty="0" err="1"/>
              <a:t>menggunakan</a:t>
            </a:r>
            <a:r>
              <a:rPr lang="en-US" dirty="0"/>
              <a:t> Flask </a:t>
            </a:r>
            <a:r>
              <a:rPr lang="en-US" dirty="0" err="1"/>
              <a:t>berbasis</a:t>
            </a:r>
            <a:r>
              <a:rPr lang="en-US" dirty="0"/>
              <a:t> Python, dan database </a:t>
            </a:r>
            <a:r>
              <a:rPr lang="en-US" dirty="0" err="1"/>
              <a:t>menggunakan</a:t>
            </a:r>
            <a:r>
              <a:rPr lang="en-US" dirty="0"/>
              <a:t> MySQL. </a:t>
            </a:r>
            <a:r>
              <a:rPr lang="en-US" dirty="0" err="1"/>
              <a:t>Kedua</a:t>
            </a:r>
            <a:r>
              <a:rPr lang="en-US" dirty="0"/>
              <a:t> model, CTM dan </a:t>
            </a:r>
            <a:r>
              <a:rPr lang="en-US" dirty="0" err="1"/>
              <a:t>BERTopic</a:t>
            </a:r>
            <a:r>
              <a:rPr lang="en-US" dirty="0"/>
              <a:t>, </a:t>
            </a:r>
            <a:r>
              <a:rPr lang="en-US" dirty="0" err="1"/>
              <a:t>terintegrasi</a:t>
            </a:r>
            <a:r>
              <a:rPr lang="en-US" dirty="0"/>
              <a:t> </a:t>
            </a:r>
            <a:r>
              <a:rPr lang="en-US" dirty="0" err="1"/>
              <a:t>langsung</a:t>
            </a:r>
            <a:r>
              <a:rPr lang="en-US" dirty="0"/>
              <a:t> di </a:t>
            </a:r>
            <a:r>
              <a:rPr lang="en-US" dirty="0" err="1"/>
              <a:t>dalam</a:t>
            </a:r>
            <a:r>
              <a:rPr lang="en-US" dirty="0"/>
              <a:t> </a:t>
            </a:r>
            <a:r>
              <a:rPr lang="en-US" dirty="0" err="1"/>
              <a:t>sistem</a:t>
            </a:r>
            <a:r>
              <a:rPr lang="en-US" dirty="0"/>
              <a:t> </a:t>
            </a:r>
            <a:r>
              <a:rPr lang="en-US" dirty="0" err="1"/>
              <a:t>ini</a:t>
            </a:r>
            <a:r>
              <a:rPr lang="en-US" dirty="0"/>
              <a:t>.</a:t>
            </a:r>
          </a:p>
          <a:p>
            <a:endParaRPr lang="en-US" dirty="0"/>
          </a:p>
          <a:p>
            <a:r>
              <a:rPr lang="en-US" dirty="0" err="1"/>
              <a:t>Melalui</a:t>
            </a:r>
            <a:r>
              <a:rPr lang="en-US" dirty="0"/>
              <a:t> dashboard </a:t>
            </a:r>
            <a:r>
              <a:rPr lang="en-US" dirty="0" err="1"/>
              <a:t>ini</a:t>
            </a:r>
            <a:r>
              <a:rPr lang="en-US" dirty="0"/>
              <a:t>, </a:t>
            </a:r>
            <a:r>
              <a:rPr lang="en-US" dirty="0" err="1"/>
              <a:t>pengguna</a:t>
            </a:r>
            <a:r>
              <a:rPr lang="en-US" dirty="0"/>
              <a:t> </a:t>
            </a:r>
            <a:r>
              <a:rPr lang="en-US" dirty="0" err="1"/>
              <a:t>dapat</a:t>
            </a:r>
            <a:r>
              <a:rPr lang="en-US" dirty="0"/>
              <a:t> </a:t>
            </a:r>
            <a:r>
              <a:rPr lang="en-US" dirty="0" err="1"/>
              <a:t>melakukan</a:t>
            </a:r>
            <a:r>
              <a:rPr lang="en-US" dirty="0"/>
              <a:t> proses preprocessing, </a:t>
            </a:r>
            <a:r>
              <a:rPr lang="en-US" dirty="0" err="1"/>
              <a:t>menjalankan</a:t>
            </a:r>
            <a:r>
              <a:rPr lang="en-US" dirty="0"/>
              <a:t> </a:t>
            </a:r>
            <a:r>
              <a:rPr lang="en-US" dirty="0" err="1"/>
              <a:t>pemodelan</a:t>
            </a:r>
            <a:r>
              <a:rPr lang="en-US" dirty="0"/>
              <a:t> </a:t>
            </a:r>
            <a:r>
              <a:rPr lang="en-US" dirty="0" err="1"/>
              <a:t>topik</a:t>
            </a:r>
            <a:r>
              <a:rPr lang="en-US" dirty="0"/>
              <a:t>, </a:t>
            </a:r>
            <a:r>
              <a:rPr lang="en-US" dirty="0" err="1"/>
              <a:t>melihat</a:t>
            </a:r>
            <a:r>
              <a:rPr lang="en-US" dirty="0"/>
              <a:t> </a:t>
            </a:r>
            <a:r>
              <a:rPr lang="en-US" dirty="0" err="1"/>
              <a:t>hasil</a:t>
            </a:r>
            <a:r>
              <a:rPr lang="en-US" dirty="0"/>
              <a:t> </a:t>
            </a:r>
            <a:r>
              <a:rPr lang="en-US" dirty="0" err="1"/>
              <a:t>optimasi</a:t>
            </a:r>
            <a:r>
              <a:rPr lang="en-US" dirty="0"/>
              <a:t> parameter, </a:t>
            </a:r>
            <a:r>
              <a:rPr lang="en-US" dirty="0" err="1"/>
              <a:t>serta</a:t>
            </a:r>
            <a:r>
              <a:rPr lang="en-US" dirty="0"/>
              <a:t> </a:t>
            </a:r>
            <a:r>
              <a:rPr lang="en-US" dirty="0" err="1"/>
              <a:t>melihat</a:t>
            </a:r>
            <a:r>
              <a:rPr lang="en-US" dirty="0"/>
              <a:t> </a:t>
            </a:r>
            <a:r>
              <a:rPr lang="en-US" dirty="0" err="1"/>
              <a:t>visualisasi</a:t>
            </a:r>
            <a:r>
              <a:rPr lang="en-US" dirty="0"/>
              <a:t> </a:t>
            </a:r>
            <a:r>
              <a:rPr lang="en-US" dirty="0" err="1"/>
              <a:t>interaktif</a:t>
            </a:r>
            <a:r>
              <a:rPr lang="en-US" dirty="0"/>
              <a:t> </a:t>
            </a:r>
            <a:r>
              <a:rPr lang="en-US" dirty="0" err="1"/>
              <a:t>hasil</a:t>
            </a:r>
            <a:r>
              <a:rPr lang="en-US" dirty="0"/>
              <a:t> </a:t>
            </a:r>
            <a:r>
              <a:rPr lang="en-US" dirty="0" err="1"/>
              <a:t>topik</a:t>
            </a:r>
            <a:r>
              <a:rPr lang="en-US" dirty="0"/>
              <a:t> — </a:t>
            </a:r>
            <a:r>
              <a:rPr lang="en-US" dirty="0" err="1"/>
              <a:t>sehingga</a:t>
            </a:r>
            <a:r>
              <a:rPr lang="en-US" dirty="0"/>
              <a:t> </a:t>
            </a:r>
            <a:r>
              <a:rPr lang="en-US" dirty="0" err="1"/>
              <a:t>penelitian</a:t>
            </a:r>
            <a:r>
              <a:rPr lang="en-US" dirty="0"/>
              <a:t> </a:t>
            </a:r>
            <a:r>
              <a:rPr lang="en-US" dirty="0" err="1"/>
              <a:t>ini</a:t>
            </a:r>
            <a:r>
              <a:rPr lang="en-US" dirty="0"/>
              <a:t> </a:t>
            </a:r>
            <a:r>
              <a:rPr lang="en-US" dirty="0" err="1"/>
              <a:t>tidak</a:t>
            </a:r>
            <a:r>
              <a:rPr lang="en-US" dirty="0"/>
              <a:t> </a:t>
            </a:r>
            <a:r>
              <a:rPr lang="en-US" dirty="0" err="1"/>
              <a:t>berhenti</a:t>
            </a:r>
            <a:r>
              <a:rPr lang="en-US" dirty="0"/>
              <a:t> pada </a:t>
            </a:r>
            <a:r>
              <a:rPr lang="en-US" dirty="0" err="1"/>
              <a:t>analisis</a:t>
            </a:r>
            <a:r>
              <a:rPr lang="en-US" dirty="0"/>
              <a:t> </a:t>
            </a:r>
            <a:r>
              <a:rPr lang="en-US" dirty="0" err="1"/>
              <a:t>akademik</a:t>
            </a:r>
            <a:r>
              <a:rPr lang="en-US" dirty="0"/>
              <a:t> </a:t>
            </a:r>
            <a:r>
              <a:rPr lang="en-US" dirty="0" err="1"/>
              <a:t>saja</a:t>
            </a:r>
            <a:r>
              <a:rPr lang="en-US" dirty="0"/>
              <a:t>, </a:t>
            </a:r>
            <a:r>
              <a:rPr lang="en-US" dirty="0" err="1"/>
              <a:t>tetapi</a:t>
            </a:r>
            <a:r>
              <a:rPr lang="en-US" dirty="0"/>
              <a:t> juga </a:t>
            </a:r>
            <a:r>
              <a:rPr lang="en-US" dirty="0" err="1"/>
              <a:t>menghasilkan</a:t>
            </a:r>
            <a:r>
              <a:rPr lang="en-US" dirty="0"/>
              <a:t> </a:t>
            </a:r>
            <a:r>
              <a:rPr lang="en-US" dirty="0" err="1"/>
              <a:t>alat</a:t>
            </a:r>
            <a:r>
              <a:rPr lang="en-US" dirty="0"/>
              <a:t> </a:t>
            </a:r>
            <a:r>
              <a:rPr lang="en-US" dirty="0" err="1"/>
              <a:t>bantu</a:t>
            </a:r>
            <a:r>
              <a:rPr lang="en-US" dirty="0"/>
              <a:t> </a:t>
            </a:r>
            <a:r>
              <a:rPr lang="en-US" dirty="0" err="1"/>
              <a:t>praktis</a:t>
            </a:r>
            <a:r>
              <a:rPr lang="en-US" dirty="0"/>
              <a:t> </a:t>
            </a:r>
            <a:r>
              <a:rPr lang="en-US" dirty="0" err="1"/>
              <a:t>untuk</a:t>
            </a:r>
            <a:r>
              <a:rPr lang="en-US" dirty="0"/>
              <a:t> </a:t>
            </a:r>
            <a:r>
              <a:rPr lang="en-US" dirty="0" err="1"/>
              <a:t>kajian</a:t>
            </a:r>
            <a:r>
              <a:rPr lang="en-US" dirty="0"/>
              <a:t> </a:t>
            </a:r>
            <a:r>
              <a:rPr lang="en-US" dirty="0" err="1"/>
              <a:t>tematik</a:t>
            </a:r>
            <a:r>
              <a:rPr lang="en-US" dirty="0"/>
              <a:t> Al-Qur'an."</a:t>
            </a:r>
          </a:p>
          <a:p>
            <a:endParaRPr lang="en-US" dirty="0"/>
          </a:p>
          <a:p>
            <a:r>
              <a:rPr lang="en-US" dirty="0" err="1"/>
              <a:t>Arahan</a:t>
            </a:r>
            <a:r>
              <a:rPr lang="en-US" dirty="0"/>
              <a:t>: Jika </a:t>
            </a:r>
            <a:r>
              <a:rPr lang="en-US" dirty="0" err="1"/>
              <a:t>ditanya</a:t>
            </a:r>
            <a:r>
              <a:rPr lang="en-US" dirty="0"/>
              <a:t> </a:t>
            </a:r>
            <a:r>
              <a:rPr lang="en-US" dirty="0" err="1"/>
              <a:t>kenapa</a:t>
            </a:r>
            <a:r>
              <a:rPr lang="en-US" dirty="0"/>
              <a:t> </a:t>
            </a:r>
            <a:r>
              <a:rPr lang="en-US" dirty="0" err="1"/>
              <a:t>perlu</a:t>
            </a:r>
            <a:r>
              <a:rPr lang="en-US" dirty="0"/>
              <a:t> </a:t>
            </a:r>
            <a:r>
              <a:rPr lang="en-US" dirty="0" err="1"/>
              <a:t>dibuat</a:t>
            </a:r>
            <a:r>
              <a:rPr lang="en-US" dirty="0"/>
              <a:t> </a:t>
            </a:r>
            <a:r>
              <a:rPr lang="en-US" dirty="0" err="1"/>
              <a:t>aplikasi</a:t>
            </a:r>
            <a:r>
              <a:rPr lang="en-US" dirty="0"/>
              <a:t> web, </a:t>
            </a:r>
            <a:r>
              <a:rPr lang="en-US" dirty="0" err="1"/>
              <a:t>jelaskan</a:t>
            </a:r>
            <a:r>
              <a:rPr lang="en-US" dirty="0"/>
              <a:t> </a:t>
            </a:r>
            <a:r>
              <a:rPr lang="en-US" dirty="0" err="1"/>
              <a:t>bahwa</a:t>
            </a:r>
            <a:r>
              <a:rPr lang="en-US" dirty="0"/>
              <a:t> </a:t>
            </a:r>
            <a:r>
              <a:rPr lang="en-US" dirty="0" err="1"/>
              <a:t>ini</a:t>
            </a:r>
            <a:r>
              <a:rPr lang="en-US" dirty="0"/>
              <a:t> </a:t>
            </a:r>
            <a:r>
              <a:rPr lang="en-US" dirty="0" err="1"/>
              <a:t>mendukung</a:t>
            </a:r>
            <a:r>
              <a:rPr lang="en-US" dirty="0"/>
              <a:t> </a:t>
            </a:r>
            <a:r>
              <a:rPr lang="en-US" dirty="0" err="1"/>
              <a:t>manfaat</a:t>
            </a:r>
            <a:r>
              <a:rPr lang="en-US" dirty="0"/>
              <a:t> </a:t>
            </a:r>
            <a:r>
              <a:rPr lang="en-US" dirty="0" err="1"/>
              <a:t>teknologi</a:t>
            </a:r>
            <a:r>
              <a:rPr lang="en-US" dirty="0"/>
              <a:t> yang </a:t>
            </a:r>
            <a:r>
              <a:rPr lang="en-US" dirty="0" err="1"/>
              <a:t>disebutkan</a:t>
            </a:r>
            <a:r>
              <a:rPr lang="en-US" dirty="0"/>
              <a:t> di slide </a:t>
            </a:r>
            <a:r>
              <a:rPr lang="en-US" dirty="0" err="1"/>
              <a:t>Tujuan</a:t>
            </a:r>
            <a:r>
              <a:rPr lang="en-US" dirty="0"/>
              <a:t> dan </a:t>
            </a:r>
            <a:r>
              <a:rPr lang="en-US" dirty="0" err="1"/>
              <a:t>Manfaat</a:t>
            </a:r>
            <a:r>
              <a:rPr lang="en-US" dirty="0"/>
              <a:t> — </a:t>
            </a:r>
            <a:r>
              <a:rPr lang="en-US" dirty="0" err="1"/>
              <a:t>sebagai</a:t>
            </a:r>
            <a:r>
              <a:rPr lang="en-US" dirty="0"/>
              <a:t> </a:t>
            </a:r>
            <a:r>
              <a:rPr lang="en-US" dirty="0" err="1"/>
              <a:t>dasar</a:t>
            </a:r>
            <a:r>
              <a:rPr lang="en-US" dirty="0"/>
              <a:t> </a:t>
            </a:r>
            <a:r>
              <a:rPr lang="en-US" dirty="0" err="1"/>
              <a:t>sistem</a:t>
            </a:r>
            <a:r>
              <a:rPr lang="en-US" dirty="0"/>
              <a:t> </a:t>
            </a:r>
            <a:r>
              <a:rPr lang="en-US" dirty="0" err="1"/>
              <a:t>pencarian</a:t>
            </a:r>
            <a:r>
              <a:rPr lang="en-US" dirty="0"/>
              <a:t> </a:t>
            </a:r>
            <a:r>
              <a:rPr lang="en-US" dirty="0" err="1"/>
              <a:t>ayat</a:t>
            </a:r>
            <a:r>
              <a:rPr lang="en-US" dirty="0"/>
              <a:t> </a:t>
            </a:r>
            <a:r>
              <a:rPr lang="en-US" dirty="0" err="1"/>
              <a:t>berbasis</a:t>
            </a:r>
            <a:r>
              <a:rPr lang="en-US" dirty="0"/>
              <a:t> </a:t>
            </a:r>
            <a:r>
              <a:rPr lang="en-US" dirty="0" err="1"/>
              <a:t>tema</a:t>
            </a:r>
            <a:r>
              <a:rPr lang="en-US" dirty="0"/>
              <a: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Outlier pada </a:t>
            </a:r>
            <a:r>
              <a:rPr lang="en-US" dirty="0" err="1"/>
              <a:t>BERTopic</a:t>
            </a:r>
            <a:r>
              <a:rPr lang="en-US" dirty="0"/>
              <a:t> </a:t>
            </a:r>
            <a:r>
              <a:rPr lang="en-US" dirty="0" err="1"/>
              <a:t>adalah</a:t>
            </a:r>
            <a:r>
              <a:rPr lang="en-US" dirty="0"/>
              <a:t> </a:t>
            </a:r>
            <a:r>
              <a:rPr lang="en-US" b="1" dirty="0" err="1"/>
              <a:t>dokumen</a:t>
            </a:r>
            <a:r>
              <a:rPr lang="en-US" b="1" dirty="0"/>
              <a:t> yang </a:t>
            </a:r>
            <a:r>
              <a:rPr lang="en-US" b="1" dirty="0" err="1"/>
              <a:t>tidak</a:t>
            </a:r>
            <a:r>
              <a:rPr lang="en-US" b="1" dirty="0"/>
              <a:t> </a:t>
            </a:r>
            <a:r>
              <a:rPr lang="en-US" b="1" dirty="0" err="1"/>
              <a:t>dapat</a:t>
            </a:r>
            <a:r>
              <a:rPr lang="en-US" b="1" dirty="0"/>
              <a:t> </a:t>
            </a:r>
            <a:r>
              <a:rPr lang="en-US" b="1" dirty="0" err="1"/>
              <a:t>dikelompokkan</a:t>
            </a:r>
            <a:r>
              <a:rPr lang="en-US" b="1" dirty="0"/>
              <a:t> </a:t>
            </a:r>
            <a:r>
              <a:rPr lang="en-US" b="1" dirty="0" err="1"/>
              <a:t>secara</a:t>
            </a:r>
            <a:r>
              <a:rPr lang="en-US" b="1" dirty="0"/>
              <a:t> </a:t>
            </a:r>
            <a:r>
              <a:rPr lang="en-US" b="1" dirty="0" err="1"/>
              <a:t>meyakinkan</a:t>
            </a:r>
            <a:r>
              <a:rPr lang="en-US" b="1" dirty="0"/>
              <a:t> </a:t>
            </a:r>
            <a:r>
              <a:rPr lang="en-US" b="1" dirty="0" err="1"/>
              <a:t>ke</a:t>
            </a:r>
            <a:r>
              <a:rPr lang="en-US" b="1" dirty="0"/>
              <a:t> </a:t>
            </a:r>
            <a:r>
              <a:rPr lang="en-US" b="1" dirty="0" err="1"/>
              <a:t>dalam</a:t>
            </a:r>
            <a:r>
              <a:rPr lang="en-US" b="1" dirty="0"/>
              <a:t> </a:t>
            </a:r>
            <a:r>
              <a:rPr lang="en-US" b="1" dirty="0" err="1"/>
              <a:t>topik</a:t>
            </a:r>
            <a:r>
              <a:rPr lang="en-US" b="1" dirty="0"/>
              <a:t> mana pun</a:t>
            </a:r>
            <a:r>
              <a:rPr lang="en-US" dirty="0"/>
              <a:t>, </a:t>
            </a:r>
            <a:r>
              <a:rPr lang="en-US" dirty="0" err="1"/>
              <a:t>sehingga</a:t>
            </a:r>
            <a:r>
              <a:rPr lang="en-US" dirty="0"/>
              <a:t> </a:t>
            </a:r>
            <a:r>
              <a:rPr lang="en-US" dirty="0" err="1"/>
              <a:t>diberi</a:t>
            </a:r>
            <a:r>
              <a:rPr lang="en-US" dirty="0"/>
              <a:t> label </a:t>
            </a:r>
            <a:r>
              <a:rPr lang="en-US" b="1" dirty="0"/>
              <a:t>Topic -1. </a:t>
            </a:r>
            <a:r>
              <a:rPr lang="en-US" dirty="0" err="1"/>
              <a:t>BERTopic</a:t>
            </a:r>
            <a:r>
              <a:rPr lang="en-US" dirty="0"/>
              <a:t> </a:t>
            </a:r>
            <a:r>
              <a:rPr lang="en-US" dirty="0" err="1"/>
              <a:t>menggunakan</a:t>
            </a:r>
            <a:r>
              <a:rPr lang="en-US" dirty="0"/>
              <a:t> </a:t>
            </a:r>
            <a:r>
              <a:rPr lang="en-US" dirty="0" err="1"/>
              <a:t>algoritma</a:t>
            </a:r>
            <a:r>
              <a:rPr lang="en-US" dirty="0"/>
              <a:t> </a:t>
            </a:r>
            <a:r>
              <a:rPr lang="en-US" b="1" dirty="0"/>
              <a:t>HDBSCAN</a:t>
            </a:r>
            <a:r>
              <a:rPr lang="en-US" dirty="0"/>
              <a:t> </a:t>
            </a:r>
            <a:r>
              <a:rPr lang="en-US" dirty="0" err="1"/>
              <a:t>untuk</a:t>
            </a:r>
            <a:r>
              <a:rPr lang="en-US" dirty="0"/>
              <a:t> </a:t>
            </a:r>
            <a:r>
              <a:rPr lang="en-US" dirty="0" err="1"/>
              <a:t>melakukan</a:t>
            </a:r>
            <a:r>
              <a:rPr lang="en-US" dirty="0"/>
              <a:t> clustering. </a:t>
            </a:r>
            <a:r>
              <a:rPr lang="en-US" dirty="0" err="1"/>
              <a:t>Berbeda</a:t>
            </a:r>
            <a:r>
              <a:rPr lang="en-US" dirty="0"/>
              <a:t> </a:t>
            </a:r>
            <a:r>
              <a:rPr lang="en-US" dirty="0" err="1"/>
              <a:t>dengan</a:t>
            </a:r>
            <a:r>
              <a:rPr lang="en-US" dirty="0"/>
              <a:t> K-Means yang </a:t>
            </a:r>
            <a:r>
              <a:rPr lang="en-US" dirty="0" err="1"/>
              <a:t>memaksa</a:t>
            </a:r>
            <a:r>
              <a:rPr lang="en-US" dirty="0"/>
              <a:t> </a:t>
            </a:r>
            <a:r>
              <a:rPr lang="en-US" dirty="0" err="1"/>
              <a:t>setiap</a:t>
            </a:r>
            <a:r>
              <a:rPr lang="en-US" dirty="0"/>
              <a:t> data </a:t>
            </a:r>
            <a:r>
              <a:rPr lang="en-US" dirty="0" err="1"/>
              <a:t>masuk</a:t>
            </a:r>
            <a:r>
              <a:rPr lang="en-US" dirty="0"/>
              <a:t> </a:t>
            </a:r>
            <a:r>
              <a:rPr lang="en-US" dirty="0" err="1"/>
              <a:t>ke</a:t>
            </a:r>
            <a:r>
              <a:rPr lang="en-US" dirty="0"/>
              <a:t> </a:t>
            </a:r>
            <a:r>
              <a:rPr lang="en-US" dirty="0" err="1"/>
              <a:t>suatu</a:t>
            </a:r>
            <a:r>
              <a:rPr lang="en-US" dirty="0"/>
              <a:t> cluster, HDBSCAN </a:t>
            </a:r>
            <a:r>
              <a:rPr lang="en-US" b="1" dirty="0" err="1"/>
              <a:t>boleh</a:t>
            </a:r>
            <a:r>
              <a:rPr lang="en-US" b="1" dirty="0"/>
              <a:t> </a:t>
            </a:r>
            <a:r>
              <a:rPr lang="en-US" b="1" dirty="0" err="1"/>
              <a:t>tidak</a:t>
            </a:r>
            <a:r>
              <a:rPr lang="en-US" b="1" dirty="0"/>
              <a:t> </a:t>
            </a:r>
            <a:r>
              <a:rPr lang="en-US" b="1" dirty="0" err="1"/>
              <a:t>memasukkan</a:t>
            </a:r>
            <a:r>
              <a:rPr lang="en-US" b="1" dirty="0"/>
              <a:t> </a:t>
            </a:r>
            <a:r>
              <a:rPr lang="en-US" b="1" dirty="0" err="1"/>
              <a:t>dokumen</a:t>
            </a:r>
            <a:r>
              <a:rPr lang="en-US" b="1" dirty="0"/>
              <a:t> </a:t>
            </a:r>
            <a:r>
              <a:rPr lang="en-US" b="1" dirty="0" err="1"/>
              <a:t>ke</a:t>
            </a:r>
            <a:r>
              <a:rPr lang="en-US" b="1" dirty="0"/>
              <a:t> cluster mana pun</a:t>
            </a:r>
            <a:r>
              <a:rPr lang="en-US" dirty="0"/>
              <a:t> </a:t>
            </a:r>
            <a:r>
              <a:rPr lang="en-US" dirty="0" err="1"/>
              <a:t>jika</a:t>
            </a:r>
            <a:r>
              <a:rPr lang="en-US" dirty="0"/>
              <a:t> </a:t>
            </a:r>
            <a:r>
              <a:rPr lang="en-US" dirty="0" err="1"/>
              <a:t>dianggap</a:t>
            </a:r>
            <a:r>
              <a:rPr lang="en-US" dirty="0"/>
              <a:t> </a:t>
            </a:r>
            <a:r>
              <a:rPr lang="en-US" dirty="0" err="1"/>
              <a:t>terlalu</a:t>
            </a:r>
            <a:r>
              <a:rPr lang="en-US" dirty="0"/>
              <a:t> </a:t>
            </a:r>
            <a:r>
              <a:rPr lang="en-US" dirty="0" err="1"/>
              <a:t>berbeda</a:t>
            </a:r>
            <a:r>
              <a:rPr lang="en-US" dirty="0"/>
              <a:t>.</a:t>
            </a:r>
          </a:p>
          <a:p>
            <a:endParaRPr lang="en-US" dirty="0"/>
          </a:p>
          <a:p>
            <a:r>
              <a:rPr lang="en-US" dirty="0"/>
              <a:t>Nilai topic coherence cv &lt;0.4 </a:t>
            </a:r>
            <a:r>
              <a:rPr lang="en-US" dirty="0" err="1"/>
              <a:t>rendah</a:t>
            </a:r>
            <a:r>
              <a:rPr lang="en-US" dirty="0"/>
              <a:t>, &gt;0.7 </a:t>
            </a:r>
            <a:r>
              <a:rPr lang="en-US" dirty="0" err="1"/>
              <a:t>tinggi</a:t>
            </a:r>
            <a:endParaRPr lang="en-US" dirty="0"/>
          </a:p>
          <a:p>
            <a:r>
              <a:rPr lang="en-US" dirty="0" err="1"/>
              <a:t>Untuk</a:t>
            </a:r>
            <a:r>
              <a:rPr lang="en-US" dirty="0"/>
              <a:t> </a:t>
            </a:r>
            <a:r>
              <a:rPr lang="en-US" dirty="0" err="1"/>
              <a:t>keterbatasan</a:t>
            </a:r>
            <a:r>
              <a:rPr lang="en-US" dirty="0"/>
              <a:t> </a:t>
            </a:r>
            <a:r>
              <a:rPr lang="en-US" dirty="0" err="1"/>
              <a:t>bahasa</a:t>
            </a:r>
            <a:r>
              <a:rPr lang="en-US" dirty="0"/>
              <a:t> (</a:t>
            </a:r>
            <a:r>
              <a:rPr lang="en-US" dirty="0" err="1"/>
              <a:t>poin</a:t>
            </a:r>
            <a:r>
              <a:rPr lang="en-US" dirty="0"/>
              <a:t> 3): </a:t>
            </a:r>
            <a:r>
              <a:rPr lang="en-US" dirty="0" err="1"/>
              <a:t>jelaskan</a:t>
            </a:r>
            <a:r>
              <a:rPr lang="en-US" dirty="0"/>
              <a:t> </a:t>
            </a:r>
            <a:r>
              <a:rPr lang="en-US" dirty="0" err="1"/>
              <a:t>bahwa</a:t>
            </a:r>
            <a:r>
              <a:rPr lang="en-US" dirty="0"/>
              <a:t> </a:t>
            </a:r>
            <a:r>
              <a:rPr lang="en-US" dirty="0" err="1"/>
              <a:t>penelitian</a:t>
            </a:r>
            <a:r>
              <a:rPr lang="en-US" dirty="0"/>
              <a:t> </a:t>
            </a:r>
            <a:r>
              <a:rPr lang="en-US" dirty="0" err="1"/>
              <a:t>ini</a:t>
            </a:r>
            <a:r>
              <a:rPr lang="en-US" dirty="0"/>
              <a:t> </a:t>
            </a:r>
            <a:r>
              <a:rPr lang="en-US" dirty="0" err="1"/>
              <a:t>fokus</a:t>
            </a:r>
            <a:r>
              <a:rPr lang="en-US" dirty="0"/>
              <a:t> pada </a:t>
            </a:r>
            <a:r>
              <a:rPr lang="en-US" dirty="0" err="1"/>
              <a:t>teks</a:t>
            </a:r>
            <a:r>
              <a:rPr lang="en-US" dirty="0"/>
              <a:t> </a:t>
            </a:r>
            <a:r>
              <a:rPr lang="en-US" dirty="0" err="1"/>
              <a:t>terjemahan</a:t>
            </a:r>
            <a:r>
              <a:rPr lang="en-US" dirty="0"/>
              <a:t> agar </a:t>
            </a:r>
            <a:r>
              <a:rPr lang="en-US" dirty="0" err="1"/>
              <a:t>hasil</a:t>
            </a:r>
            <a:r>
              <a:rPr lang="en-US" dirty="0"/>
              <a:t> </a:t>
            </a:r>
            <a:r>
              <a:rPr lang="en-US" dirty="0" err="1"/>
              <a:t>bisa</a:t>
            </a:r>
            <a:r>
              <a:rPr lang="en-US" dirty="0"/>
              <a:t> </a:t>
            </a:r>
            <a:r>
              <a:rPr lang="en-US" dirty="0" err="1"/>
              <a:t>dibandingkan</a:t>
            </a:r>
            <a:r>
              <a:rPr lang="en-US" dirty="0"/>
              <a:t> </a:t>
            </a:r>
            <a:r>
              <a:rPr lang="en-US" dirty="0" err="1"/>
              <a:t>dengan</a:t>
            </a:r>
            <a:r>
              <a:rPr lang="en-US" dirty="0"/>
              <a:t> </a:t>
            </a:r>
            <a:r>
              <a:rPr lang="en-US" dirty="0" err="1"/>
              <a:t>pembaca</a:t>
            </a:r>
            <a:r>
              <a:rPr lang="en-US" dirty="0"/>
              <a:t> </a:t>
            </a:r>
            <a:r>
              <a:rPr lang="en-US" dirty="0" err="1"/>
              <a:t>awam</a:t>
            </a:r>
            <a:r>
              <a:rPr lang="en-US" dirty="0"/>
              <a:t> </a:t>
            </a:r>
            <a:r>
              <a:rPr lang="en-US" dirty="0" err="1"/>
              <a:t>berbahasa</a:t>
            </a:r>
            <a:r>
              <a:rPr lang="en-US" dirty="0"/>
              <a:t> Indonesia, </a:t>
            </a:r>
            <a:r>
              <a:rPr lang="en-US" dirty="0" err="1"/>
              <a:t>namun</a:t>
            </a:r>
            <a:r>
              <a:rPr lang="en-US" dirty="0"/>
              <a:t> </a:t>
            </a:r>
            <a:r>
              <a:rPr lang="en-US" dirty="0" err="1"/>
              <a:t>makna</a:t>
            </a:r>
            <a:r>
              <a:rPr lang="en-US" dirty="0"/>
              <a:t> </a:t>
            </a:r>
            <a:r>
              <a:rPr lang="en-US" dirty="0" err="1"/>
              <a:t>asli</a:t>
            </a:r>
            <a:r>
              <a:rPr lang="en-US" dirty="0"/>
              <a:t> </a:t>
            </a:r>
            <a:r>
              <a:rPr lang="en-US" dirty="0" err="1"/>
              <a:t>dalam</a:t>
            </a:r>
            <a:r>
              <a:rPr lang="en-US" dirty="0"/>
              <a:t> </a:t>
            </a:r>
            <a:r>
              <a:rPr lang="en-US" dirty="0" err="1"/>
              <a:t>bahasa</a:t>
            </a:r>
            <a:r>
              <a:rPr lang="en-US" dirty="0"/>
              <a:t> Arab </a:t>
            </a:r>
            <a:r>
              <a:rPr lang="en-US" dirty="0" err="1"/>
              <a:t>tetap</a:t>
            </a:r>
            <a:r>
              <a:rPr lang="en-US" dirty="0"/>
              <a:t> </a:t>
            </a:r>
            <a:r>
              <a:rPr lang="en-US" dirty="0" err="1"/>
              <a:t>menjadi</a:t>
            </a:r>
            <a:r>
              <a:rPr lang="en-US" dirty="0"/>
              <a:t> </a:t>
            </a:r>
            <a:r>
              <a:rPr lang="en-US" dirty="0" err="1"/>
              <a:t>rujukan</a:t>
            </a:r>
            <a:r>
              <a:rPr lang="en-US" dirty="0"/>
              <a:t> </a:t>
            </a:r>
            <a:r>
              <a:rPr lang="en-US" dirty="0" err="1"/>
              <a:t>utama</a:t>
            </a:r>
            <a:r>
              <a:rPr lang="en-US" dirty="0"/>
              <a:t> tafsir </a:t>
            </a:r>
            <a:r>
              <a:rPr lang="en-US" dirty="0" err="1"/>
              <a:t>sehingga</a:t>
            </a:r>
            <a:r>
              <a:rPr lang="en-US" dirty="0"/>
              <a:t> </a:t>
            </a:r>
            <a:r>
              <a:rPr lang="en-US" dirty="0" err="1"/>
              <a:t>hasil</a:t>
            </a:r>
            <a:r>
              <a:rPr lang="en-US" dirty="0"/>
              <a:t> </a:t>
            </a:r>
            <a:r>
              <a:rPr lang="en-US" dirty="0" err="1"/>
              <a:t>ini</a:t>
            </a:r>
            <a:r>
              <a:rPr lang="en-US" dirty="0"/>
              <a:t> </a:t>
            </a:r>
            <a:r>
              <a:rPr lang="en-US" dirty="0" err="1"/>
              <a:t>bersifat</a:t>
            </a:r>
            <a:r>
              <a:rPr lang="en-US" dirty="0"/>
              <a:t> </a:t>
            </a:r>
            <a:r>
              <a:rPr lang="en-US" dirty="0" err="1"/>
              <a:t>pelengkap</a:t>
            </a:r>
            <a:r>
              <a:rPr lang="en-US" dirty="0"/>
              <a:t>, </a:t>
            </a:r>
            <a:r>
              <a:rPr lang="en-US" dirty="0" err="1"/>
              <a:t>bukan</a:t>
            </a:r>
            <a:r>
              <a:rPr lang="en-US" dirty="0"/>
              <a:t> </a:t>
            </a:r>
            <a:r>
              <a:rPr lang="en-US" dirty="0" err="1"/>
              <a:t>pengganti</a:t>
            </a:r>
            <a:r>
              <a:rPr lang="en-US" dirty="0"/>
              <a:t> </a:t>
            </a:r>
            <a:r>
              <a:rPr lang="en-US" dirty="0" err="1"/>
              <a:t>kajian</a:t>
            </a:r>
            <a:r>
              <a:rPr lang="en-US" dirty="0"/>
              <a:t> tafsir </a:t>
            </a:r>
            <a:r>
              <a:rPr lang="en-US" dirty="0" err="1"/>
              <a:t>klasik</a:t>
            </a:r>
            <a:r>
              <a:rPr lang="en-US" dirty="0"/>
              <a:t>.</a:t>
            </a:r>
          </a:p>
          <a:p>
            <a:r>
              <a:rPr lang="en-US" dirty="0" err="1"/>
              <a:t>Untuk</a:t>
            </a:r>
            <a:r>
              <a:rPr lang="en-US" dirty="0"/>
              <a:t> </a:t>
            </a:r>
            <a:r>
              <a:rPr lang="en-US" dirty="0" err="1"/>
              <a:t>keterbatasan</a:t>
            </a:r>
            <a:r>
              <a:rPr lang="en-US" dirty="0"/>
              <a:t> </a:t>
            </a:r>
            <a:r>
              <a:rPr lang="en-US" dirty="0" err="1"/>
              <a:t>interpretasi</a:t>
            </a:r>
            <a:r>
              <a:rPr lang="en-US" dirty="0"/>
              <a:t> </a:t>
            </a:r>
            <a:r>
              <a:rPr lang="en-US" dirty="0" err="1"/>
              <a:t>tunggal</a:t>
            </a:r>
            <a:r>
              <a:rPr lang="en-US" dirty="0"/>
              <a:t> (</a:t>
            </a:r>
            <a:r>
              <a:rPr lang="en-US" dirty="0" err="1"/>
              <a:t>poin</a:t>
            </a:r>
            <a:r>
              <a:rPr lang="en-US" dirty="0"/>
              <a:t> 4): </a:t>
            </a:r>
            <a:r>
              <a:rPr lang="en-US" dirty="0" err="1"/>
              <a:t>sampaikan</a:t>
            </a:r>
            <a:r>
              <a:rPr lang="en-US" dirty="0"/>
              <a:t> </a:t>
            </a:r>
            <a:r>
              <a:rPr lang="en-US" dirty="0" err="1"/>
              <a:t>bahwa</a:t>
            </a:r>
            <a:r>
              <a:rPr lang="en-US" dirty="0"/>
              <a:t> </a:t>
            </a:r>
            <a:r>
              <a:rPr lang="en-US" dirty="0" err="1"/>
              <a:t>validasi</a:t>
            </a:r>
            <a:r>
              <a:rPr lang="en-US" dirty="0"/>
              <a:t> oleh </a:t>
            </a:r>
            <a:r>
              <a:rPr lang="en-US" dirty="0" err="1"/>
              <a:t>lebih</a:t>
            </a:r>
            <a:r>
              <a:rPr lang="en-US" dirty="0"/>
              <a:t> </a:t>
            </a:r>
            <a:r>
              <a:rPr lang="en-US" dirty="0" err="1"/>
              <a:t>dari</a:t>
            </a:r>
            <a:r>
              <a:rPr lang="en-US" dirty="0"/>
              <a:t> </a:t>
            </a:r>
            <a:r>
              <a:rPr lang="en-US" dirty="0" err="1"/>
              <a:t>satu</a:t>
            </a:r>
            <a:r>
              <a:rPr lang="en-US" dirty="0"/>
              <a:t> </a:t>
            </a:r>
            <a:r>
              <a:rPr lang="en-US" dirty="0" err="1"/>
              <a:t>pakar</a:t>
            </a:r>
            <a:r>
              <a:rPr lang="en-US" dirty="0"/>
              <a:t> tafsir/</a:t>
            </a:r>
            <a:r>
              <a:rPr lang="en-US" dirty="0" err="1"/>
              <a:t>ahli</a:t>
            </a:r>
            <a:r>
              <a:rPr lang="en-US" dirty="0"/>
              <a:t> agama </a:t>
            </a:r>
            <a:r>
              <a:rPr lang="en-US" dirty="0" err="1"/>
              <a:t>menjadi</a:t>
            </a:r>
            <a:r>
              <a:rPr lang="en-US" dirty="0"/>
              <a:t> saran </a:t>
            </a:r>
            <a:r>
              <a:rPr lang="en-US" dirty="0" err="1"/>
              <a:t>pengembangan</a:t>
            </a:r>
            <a:r>
              <a:rPr lang="en-US" dirty="0"/>
              <a:t> </a:t>
            </a:r>
            <a:r>
              <a:rPr lang="en-US" dirty="0" err="1"/>
              <a:t>lanjutan</a:t>
            </a:r>
            <a:r>
              <a:rPr lang="en-US" dirty="0"/>
              <a:t> agar </a:t>
            </a:r>
            <a:r>
              <a:rPr lang="en-US" dirty="0" err="1"/>
              <a:t>interpretasi</a:t>
            </a:r>
            <a:r>
              <a:rPr lang="en-US" dirty="0"/>
              <a:t> </a:t>
            </a:r>
            <a:r>
              <a:rPr lang="en-US" dirty="0" err="1"/>
              <a:t>tema</a:t>
            </a:r>
            <a:r>
              <a:rPr lang="en-US" dirty="0"/>
              <a:t> </a:t>
            </a:r>
            <a:r>
              <a:rPr lang="en-US" dirty="0" err="1"/>
              <a:t>lebih</a:t>
            </a:r>
            <a:r>
              <a:rPr lang="en-US" dirty="0"/>
              <a:t> </a:t>
            </a:r>
            <a:r>
              <a:rPr lang="en-US" dirty="0" err="1"/>
              <a:t>objektif</a:t>
            </a:r>
            <a:r>
              <a:rPr lang="en-US" dirty="0"/>
              <a:t> (inter-rater agreement</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Sebagai</a:t>
            </a:r>
            <a:r>
              <a:rPr lang="en-US" dirty="0"/>
              <a:t> </a:t>
            </a:r>
            <a:r>
              <a:rPr lang="en-US" dirty="0" err="1"/>
              <a:t>kesimpulan</a:t>
            </a:r>
            <a:r>
              <a:rPr lang="en-US" dirty="0"/>
              <a:t>, model CTM </a:t>
            </a:r>
            <a:r>
              <a:rPr lang="en-US" dirty="0" err="1"/>
              <a:t>mampu</a:t>
            </a:r>
            <a:r>
              <a:rPr lang="en-US" dirty="0"/>
              <a:t> </a:t>
            </a:r>
            <a:r>
              <a:rPr lang="en-US" dirty="0" err="1"/>
              <a:t>menghasilkan</a:t>
            </a:r>
            <a:r>
              <a:rPr lang="en-US" dirty="0"/>
              <a:t> </a:t>
            </a:r>
            <a:r>
              <a:rPr lang="en-US" dirty="0" err="1"/>
              <a:t>topik</a:t>
            </a:r>
            <a:r>
              <a:rPr lang="en-US" dirty="0"/>
              <a:t> yang </a:t>
            </a:r>
            <a:r>
              <a:rPr lang="en-US" dirty="0" err="1"/>
              <a:t>representatif</a:t>
            </a:r>
            <a:r>
              <a:rPr lang="en-US" dirty="0"/>
              <a:t> </a:t>
            </a:r>
            <a:r>
              <a:rPr lang="en-US" dirty="0" err="1"/>
              <a:t>meski</a:t>
            </a:r>
            <a:r>
              <a:rPr lang="en-US" dirty="0"/>
              <a:t> </a:t>
            </a:r>
            <a:r>
              <a:rPr lang="en-US" dirty="0" err="1"/>
              <a:t>dengan</a:t>
            </a:r>
            <a:r>
              <a:rPr lang="en-US" dirty="0"/>
              <a:t> </a:t>
            </a:r>
            <a:r>
              <a:rPr lang="en-US" dirty="0" err="1"/>
              <a:t>korelasi</a:t>
            </a:r>
            <a:r>
              <a:rPr lang="en-US" dirty="0"/>
              <a:t> </a:t>
            </a:r>
            <a:r>
              <a:rPr lang="en-US" dirty="0" err="1"/>
              <a:t>antar</a:t>
            </a:r>
            <a:r>
              <a:rPr lang="en-US" dirty="0"/>
              <a:t> </a:t>
            </a:r>
            <a:r>
              <a:rPr lang="en-US" dirty="0" err="1"/>
              <a:t>topik</a:t>
            </a:r>
            <a:r>
              <a:rPr lang="en-US" dirty="0"/>
              <a:t> yang </a:t>
            </a:r>
            <a:r>
              <a:rPr lang="en-US" dirty="0" err="1"/>
              <a:t>belum</a:t>
            </a:r>
            <a:r>
              <a:rPr lang="en-US" dirty="0"/>
              <a:t> </a:t>
            </a:r>
            <a:r>
              <a:rPr lang="en-US" dirty="0" err="1"/>
              <a:t>benar-benar</a:t>
            </a:r>
            <a:r>
              <a:rPr lang="en-US" dirty="0"/>
              <a:t> optimal, </a:t>
            </a:r>
            <a:r>
              <a:rPr lang="en-US" dirty="0" err="1"/>
              <a:t>berdasarkan</a:t>
            </a:r>
            <a:r>
              <a:rPr lang="en-US" dirty="0"/>
              <a:t> </a:t>
            </a:r>
            <a:r>
              <a:rPr lang="en-US" dirty="0" err="1"/>
              <a:t>nilai</a:t>
            </a:r>
            <a:r>
              <a:rPr lang="en-US" dirty="0"/>
              <a:t> </a:t>
            </a:r>
            <a:r>
              <a:rPr lang="en-US" dirty="0" err="1"/>
              <a:t>C_v</a:t>
            </a:r>
            <a:r>
              <a:rPr lang="en-US" dirty="0"/>
              <a:t> 0,517, NPMI -0,226, UMass -5,0661, UCI -2,1370, dan Perplexity 1720,28.</a:t>
            </a:r>
          </a:p>
          <a:p>
            <a:endParaRPr lang="en-US" dirty="0"/>
          </a:p>
          <a:p>
            <a:r>
              <a:rPr lang="en-US" dirty="0"/>
              <a:t>Model </a:t>
            </a:r>
            <a:r>
              <a:rPr lang="en-US" dirty="0" err="1"/>
              <a:t>BERTopic</a:t>
            </a:r>
            <a:r>
              <a:rPr lang="en-US" dirty="0"/>
              <a:t> </a:t>
            </a:r>
            <a:r>
              <a:rPr lang="en-US" dirty="0" err="1"/>
              <a:t>mampu</a:t>
            </a:r>
            <a:r>
              <a:rPr lang="en-US" dirty="0"/>
              <a:t> </a:t>
            </a:r>
            <a:r>
              <a:rPr lang="en-US" dirty="0" err="1"/>
              <a:t>menghasilkan</a:t>
            </a:r>
            <a:r>
              <a:rPr lang="en-US" dirty="0"/>
              <a:t> </a:t>
            </a:r>
            <a:r>
              <a:rPr lang="en-US" dirty="0" err="1"/>
              <a:t>topik</a:t>
            </a:r>
            <a:r>
              <a:rPr lang="en-US" dirty="0"/>
              <a:t> </a:t>
            </a:r>
            <a:r>
              <a:rPr lang="en-US" dirty="0" err="1"/>
              <a:t>dengan</a:t>
            </a:r>
            <a:r>
              <a:rPr lang="en-US" dirty="0"/>
              <a:t> </a:t>
            </a:r>
            <a:r>
              <a:rPr lang="en-US" dirty="0" err="1"/>
              <a:t>koherensi</a:t>
            </a:r>
            <a:r>
              <a:rPr lang="en-US" dirty="0"/>
              <a:t> </a:t>
            </a:r>
            <a:r>
              <a:rPr lang="en-US" dirty="0" err="1"/>
              <a:t>semantik</a:t>
            </a:r>
            <a:r>
              <a:rPr lang="en-US" dirty="0"/>
              <a:t> yang </a:t>
            </a:r>
            <a:r>
              <a:rPr lang="en-US" dirty="0" err="1"/>
              <a:t>cukup</a:t>
            </a:r>
            <a:r>
              <a:rPr lang="en-US" dirty="0"/>
              <a:t> </a:t>
            </a:r>
            <a:r>
              <a:rPr lang="en-US" dirty="0" err="1"/>
              <a:t>baik</a:t>
            </a:r>
            <a:r>
              <a:rPr lang="en-US" dirty="0"/>
              <a:t>, </a:t>
            </a:r>
            <a:r>
              <a:rPr lang="en-US" dirty="0" err="1"/>
              <a:t>dengan</a:t>
            </a:r>
            <a:r>
              <a:rPr lang="en-US" dirty="0"/>
              <a:t> </a:t>
            </a:r>
            <a:r>
              <a:rPr lang="en-US" dirty="0" err="1"/>
              <a:t>nilai</a:t>
            </a:r>
            <a:r>
              <a:rPr lang="en-US" dirty="0"/>
              <a:t> </a:t>
            </a:r>
            <a:r>
              <a:rPr lang="en-US" dirty="0" err="1"/>
              <a:t>C_v</a:t>
            </a:r>
            <a:r>
              <a:rPr lang="en-US" dirty="0"/>
              <a:t> 0,5735 (di </a:t>
            </a:r>
            <a:r>
              <a:rPr lang="en-US" dirty="0" err="1"/>
              <a:t>atas</a:t>
            </a:r>
            <a:r>
              <a:rPr lang="en-US" dirty="0"/>
              <a:t> </a:t>
            </a:r>
            <a:r>
              <a:rPr lang="en-US" dirty="0" err="1"/>
              <a:t>ambang</a:t>
            </a:r>
            <a:r>
              <a:rPr lang="en-US" dirty="0"/>
              <a:t> 0,5), dan NPMI 0,0530 yang </a:t>
            </a:r>
            <a:r>
              <a:rPr lang="en-US" dirty="0" err="1"/>
              <a:t>bernilai</a:t>
            </a:r>
            <a:r>
              <a:rPr lang="en-US" dirty="0"/>
              <a:t> </a:t>
            </a:r>
            <a:r>
              <a:rPr lang="en-US" dirty="0" err="1"/>
              <a:t>positif</a:t>
            </a:r>
            <a:r>
              <a:rPr lang="en-US" dirty="0"/>
              <a:t>, </a:t>
            </a:r>
            <a:r>
              <a:rPr lang="en-US" dirty="0" err="1"/>
              <a:t>menunjukkan</a:t>
            </a:r>
            <a:r>
              <a:rPr lang="en-US" dirty="0"/>
              <a:t> </a:t>
            </a:r>
            <a:r>
              <a:rPr lang="en-US" dirty="0" err="1"/>
              <a:t>terdapat</a:t>
            </a:r>
            <a:r>
              <a:rPr lang="en-US" dirty="0"/>
              <a:t> </a:t>
            </a:r>
            <a:r>
              <a:rPr lang="en-US" dirty="0" err="1"/>
              <a:t>asosiasi</a:t>
            </a:r>
            <a:r>
              <a:rPr lang="en-US" dirty="0"/>
              <a:t> </a:t>
            </a:r>
            <a:r>
              <a:rPr lang="en-US" dirty="0" err="1"/>
              <a:t>statistik</a:t>
            </a:r>
            <a:r>
              <a:rPr lang="en-US" dirty="0"/>
              <a:t> yang </a:t>
            </a:r>
            <a:r>
              <a:rPr lang="en-US" dirty="0" err="1"/>
              <a:t>bermakna</a:t>
            </a:r>
            <a:r>
              <a:rPr lang="en-US" dirty="0"/>
              <a:t> </a:t>
            </a:r>
            <a:r>
              <a:rPr lang="en-US" dirty="0" err="1"/>
              <a:t>antar</a:t>
            </a:r>
            <a:r>
              <a:rPr lang="en-US" dirty="0"/>
              <a:t> kata </a:t>
            </a:r>
            <a:r>
              <a:rPr lang="en-US" dirty="0" err="1"/>
              <a:t>dalam</a:t>
            </a:r>
            <a:r>
              <a:rPr lang="en-US" dirty="0"/>
              <a:t> </a:t>
            </a:r>
            <a:r>
              <a:rPr lang="en-US" dirty="0" err="1"/>
              <a:t>topik</a:t>
            </a:r>
            <a:r>
              <a:rPr lang="en-US" dirty="0"/>
              <a:t>.</a:t>
            </a:r>
          </a:p>
          <a:p>
            <a:endParaRPr lang="en-US" dirty="0"/>
          </a:p>
          <a:p>
            <a:r>
              <a:rPr lang="en-US" dirty="0" err="1"/>
              <a:t>Secara</a:t>
            </a:r>
            <a:r>
              <a:rPr lang="en-US" dirty="0"/>
              <a:t> </a:t>
            </a:r>
            <a:r>
              <a:rPr lang="en-US" dirty="0" err="1"/>
              <a:t>keseluruhan</a:t>
            </a:r>
            <a:r>
              <a:rPr lang="en-US" dirty="0"/>
              <a:t>, </a:t>
            </a:r>
            <a:r>
              <a:rPr lang="en-US" dirty="0" err="1"/>
              <a:t>kombinasi</a:t>
            </a:r>
            <a:r>
              <a:rPr lang="en-US" dirty="0"/>
              <a:t> preprocessing yang </a:t>
            </a:r>
            <a:r>
              <a:rPr lang="en-US" dirty="0" err="1"/>
              <a:t>tepat</a:t>
            </a:r>
            <a:r>
              <a:rPr lang="en-US" dirty="0"/>
              <a:t>, </a:t>
            </a:r>
            <a:r>
              <a:rPr lang="en-US" dirty="0" err="1"/>
              <a:t>optimasi</a:t>
            </a:r>
            <a:r>
              <a:rPr lang="en-US" dirty="0"/>
              <a:t> parameter model, </a:t>
            </a:r>
            <a:r>
              <a:rPr lang="en-US" dirty="0" err="1"/>
              <a:t>serta</a:t>
            </a:r>
            <a:r>
              <a:rPr lang="en-US" dirty="0"/>
              <a:t> </a:t>
            </a:r>
            <a:r>
              <a:rPr lang="en-US" dirty="0" err="1"/>
              <a:t>penggunaan</a:t>
            </a:r>
            <a:r>
              <a:rPr lang="en-US" dirty="0"/>
              <a:t> </a:t>
            </a:r>
            <a:r>
              <a:rPr lang="en-US" dirty="0" err="1"/>
              <a:t>dua</a:t>
            </a:r>
            <a:r>
              <a:rPr lang="en-US" dirty="0"/>
              <a:t> </a:t>
            </a:r>
            <a:r>
              <a:rPr lang="en-US" dirty="0" err="1"/>
              <a:t>pendekatan</a:t>
            </a:r>
            <a:r>
              <a:rPr lang="en-US" dirty="0"/>
              <a:t> topic modeling </a:t>
            </a:r>
            <a:r>
              <a:rPr lang="en-US" dirty="0" err="1"/>
              <a:t>secara</a:t>
            </a:r>
            <a:r>
              <a:rPr lang="en-US" dirty="0"/>
              <a:t> </a:t>
            </a:r>
            <a:r>
              <a:rPr lang="en-US" dirty="0" err="1"/>
              <a:t>bersamaan</a:t>
            </a:r>
            <a:r>
              <a:rPr lang="en-US" dirty="0"/>
              <a:t> </a:t>
            </a:r>
            <a:r>
              <a:rPr lang="en-US" dirty="0" err="1"/>
              <a:t>memberikan</a:t>
            </a:r>
            <a:r>
              <a:rPr lang="en-US" dirty="0"/>
              <a:t> </a:t>
            </a:r>
            <a:r>
              <a:rPr lang="en-US" dirty="0" err="1"/>
              <a:t>pemahaman</a:t>
            </a:r>
            <a:r>
              <a:rPr lang="en-US" dirty="0"/>
              <a:t> yang </a:t>
            </a:r>
            <a:r>
              <a:rPr lang="en-US" dirty="0" err="1"/>
              <a:t>lebih</a:t>
            </a:r>
            <a:r>
              <a:rPr lang="en-US" dirty="0"/>
              <a:t> </a:t>
            </a:r>
            <a:r>
              <a:rPr lang="en-US" dirty="0" err="1"/>
              <a:t>komprehensif</a:t>
            </a:r>
            <a:r>
              <a:rPr lang="en-US" dirty="0"/>
              <a:t> </a:t>
            </a:r>
            <a:r>
              <a:rPr lang="en-US" dirty="0" err="1"/>
              <a:t>terhadap</a:t>
            </a:r>
            <a:r>
              <a:rPr lang="en-US" dirty="0"/>
              <a:t> </a:t>
            </a:r>
            <a:r>
              <a:rPr lang="en-US" dirty="0" err="1"/>
              <a:t>struktur</a:t>
            </a:r>
            <a:r>
              <a:rPr lang="en-US" dirty="0"/>
              <a:t> </a:t>
            </a:r>
            <a:r>
              <a:rPr lang="en-US" dirty="0" err="1"/>
              <a:t>tematik</a:t>
            </a:r>
            <a:r>
              <a:rPr lang="en-US" dirty="0"/>
              <a:t> </a:t>
            </a:r>
            <a:r>
              <a:rPr lang="en-US" dirty="0" err="1"/>
              <a:t>teks</a:t>
            </a:r>
            <a:r>
              <a:rPr lang="en-US" dirty="0"/>
              <a:t> </a:t>
            </a:r>
            <a:r>
              <a:rPr lang="en-US" dirty="0" err="1"/>
              <a:t>terjemahan</a:t>
            </a:r>
            <a:r>
              <a:rPr lang="en-US" dirty="0"/>
              <a:t> Al-Qur'an. CTM </a:t>
            </a:r>
            <a:r>
              <a:rPr lang="en-US" dirty="0" err="1"/>
              <a:t>unggul</a:t>
            </a:r>
            <a:r>
              <a:rPr lang="en-US" dirty="0"/>
              <a:t> </a:t>
            </a:r>
            <a:r>
              <a:rPr lang="en-US" dirty="0" err="1"/>
              <a:t>memodelkan</a:t>
            </a:r>
            <a:r>
              <a:rPr lang="en-US" dirty="0"/>
              <a:t> </a:t>
            </a:r>
            <a:r>
              <a:rPr lang="en-US" dirty="0" err="1"/>
              <a:t>korelasi</a:t>
            </a:r>
            <a:r>
              <a:rPr lang="en-US" dirty="0"/>
              <a:t> </a:t>
            </a:r>
            <a:r>
              <a:rPr lang="en-US" dirty="0" err="1"/>
              <a:t>antar</a:t>
            </a:r>
            <a:r>
              <a:rPr lang="en-US" dirty="0"/>
              <a:t> </a:t>
            </a:r>
            <a:r>
              <a:rPr lang="en-US" dirty="0" err="1"/>
              <a:t>topik</a:t>
            </a:r>
            <a:r>
              <a:rPr lang="en-US" dirty="0"/>
              <a:t> </a:t>
            </a:r>
            <a:r>
              <a:rPr lang="en-US" dirty="0" err="1"/>
              <a:t>secara</a:t>
            </a:r>
            <a:r>
              <a:rPr lang="en-US" dirty="0"/>
              <a:t> </a:t>
            </a:r>
            <a:r>
              <a:rPr lang="en-US" dirty="0" err="1"/>
              <a:t>probabilistik</a:t>
            </a:r>
            <a:r>
              <a:rPr lang="en-US" dirty="0"/>
              <a:t>, </a:t>
            </a:r>
            <a:r>
              <a:rPr lang="en-US" dirty="0" err="1"/>
              <a:t>sedangkan</a:t>
            </a:r>
            <a:r>
              <a:rPr lang="en-US" dirty="0"/>
              <a:t> </a:t>
            </a:r>
            <a:r>
              <a:rPr lang="en-US" dirty="0" err="1"/>
              <a:t>BERTopic</a:t>
            </a:r>
            <a:r>
              <a:rPr lang="en-US" dirty="0"/>
              <a:t> </a:t>
            </a:r>
            <a:r>
              <a:rPr lang="en-US" dirty="0" err="1"/>
              <a:t>unggul</a:t>
            </a:r>
            <a:r>
              <a:rPr lang="en-US" dirty="0"/>
              <a:t> </a:t>
            </a:r>
            <a:r>
              <a:rPr lang="en-US" dirty="0" err="1"/>
              <a:t>dalam</a:t>
            </a:r>
            <a:r>
              <a:rPr lang="en-US" dirty="0"/>
              <a:t> </a:t>
            </a:r>
            <a:r>
              <a:rPr lang="en-US" dirty="0" err="1"/>
              <a:t>interpretabilitas</a:t>
            </a:r>
            <a:r>
              <a:rPr lang="en-US" dirty="0"/>
              <a:t> </a:t>
            </a:r>
            <a:r>
              <a:rPr lang="en-US" dirty="0" err="1"/>
              <a:t>topik</a:t>
            </a:r>
            <a:r>
              <a:rPr lang="en-US" dirty="0"/>
              <a:t> </a:t>
            </a:r>
            <a:r>
              <a:rPr lang="en-US" dirty="0" err="1"/>
              <a:t>berbasis</a:t>
            </a:r>
            <a:r>
              <a:rPr lang="en-US" dirty="0"/>
              <a:t> </a:t>
            </a:r>
            <a:r>
              <a:rPr lang="en-US" dirty="0" err="1"/>
              <a:t>klaster</a:t>
            </a:r>
            <a:r>
              <a:rPr lang="en-US" dirty="0"/>
              <a:t> </a:t>
            </a:r>
            <a:r>
              <a:rPr lang="en-US" dirty="0" err="1"/>
              <a:t>semantik</a:t>
            </a:r>
            <a:r>
              <a:rPr lang="en-US" dirty="0"/>
              <a:t>."</a:t>
            </a:r>
          </a:p>
          <a:p>
            <a:endParaRPr lang="en-US" dirty="0"/>
          </a:p>
          <a:p>
            <a:r>
              <a:rPr lang="en-US" dirty="0" err="1"/>
              <a:t>Arahan</a:t>
            </a:r>
            <a:r>
              <a:rPr lang="en-US" dirty="0"/>
              <a:t>: </a:t>
            </a:r>
            <a:r>
              <a:rPr lang="en-US" dirty="0" err="1"/>
              <a:t>Bacakan</a:t>
            </a:r>
            <a:r>
              <a:rPr lang="en-US" dirty="0"/>
              <a:t> </a:t>
            </a:r>
            <a:r>
              <a:rPr lang="en-US" dirty="0" err="1"/>
              <a:t>dengan</a:t>
            </a:r>
            <a:r>
              <a:rPr lang="en-US" dirty="0"/>
              <a:t> tempo </a:t>
            </a:r>
            <a:r>
              <a:rPr lang="en-US" dirty="0" err="1"/>
              <a:t>lebih</a:t>
            </a:r>
            <a:r>
              <a:rPr lang="en-US" dirty="0"/>
              <a:t> </a:t>
            </a:r>
            <a:r>
              <a:rPr lang="en-US" dirty="0" err="1"/>
              <a:t>lambat</a:t>
            </a:r>
            <a:r>
              <a:rPr lang="en-US" dirty="0"/>
              <a:t> dan </a:t>
            </a:r>
            <a:r>
              <a:rPr lang="en-US" dirty="0" err="1"/>
              <a:t>penuh</a:t>
            </a:r>
            <a:r>
              <a:rPr lang="en-US" dirty="0"/>
              <a:t> </a:t>
            </a:r>
            <a:r>
              <a:rPr lang="en-US" dirty="0" err="1"/>
              <a:t>keyakinan</a:t>
            </a:r>
            <a:r>
              <a:rPr lang="en-US" dirty="0"/>
              <a:t> — </a:t>
            </a:r>
            <a:r>
              <a:rPr lang="en-US" dirty="0" err="1"/>
              <a:t>ini</a:t>
            </a:r>
            <a:r>
              <a:rPr lang="en-US" dirty="0"/>
              <a:t> </a:t>
            </a:r>
            <a:r>
              <a:rPr lang="en-US" dirty="0" err="1"/>
              <a:t>rangkuman</a:t>
            </a:r>
            <a:r>
              <a:rPr lang="en-US" dirty="0"/>
              <a:t> </a:t>
            </a:r>
            <a:r>
              <a:rPr lang="en-US" dirty="0" err="1"/>
              <a:t>jawaban</a:t>
            </a:r>
            <a:r>
              <a:rPr lang="en-US" dirty="0"/>
              <a:t> </a:t>
            </a:r>
            <a:r>
              <a:rPr lang="en-US" dirty="0" err="1"/>
              <a:t>atas</a:t>
            </a:r>
            <a:r>
              <a:rPr lang="en-US" dirty="0"/>
              <a:t> </a:t>
            </a:r>
            <a:r>
              <a:rPr lang="en-US" dirty="0" err="1"/>
              <a:t>seluruh</a:t>
            </a:r>
            <a:r>
              <a:rPr lang="en-US" dirty="0"/>
              <a:t> </a:t>
            </a:r>
            <a:r>
              <a:rPr lang="en-US" dirty="0" err="1"/>
              <a:t>rumusan</a:t>
            </a:r>
            <a:r>
              <a:rPr lang="en-US" dirty="0"/>
              <a:t> </a:t>
            </a:r>
            <a:r>
              <a:rPr lang="en-US" dirty="0" err="1"/>
              <a:t>masalah</a:t>
            </a:r>
            <a:r>
              <a:rPr lang="en-US" dirty="0"/>
              <a:t>.</a:t>
            </a:r>
          </a:p>
          <a:p>
            <a:r>
              <a:rPr lang="en-US" dirty="0" err="1"/>
              <a:t>Catatan</a:t>
            </a:r>
            <a:r>
              <a:rPr lang="en-US" dirty="0"/>
              <a:t> </a:t>
            </a:r>
            <a:r>
              <a:rPr lang="en-US" dirty="0" err="1"/>
              <a:t>koreksi</a:t>
            </a:r>
            <a:r>
              <a:rPr lang="en-US" dirty="0"/>
              <a:t>: </a:t>
            </a:r>
            <a:r>
              <a:rPr lang="en-US" dirty="0" err="1"/>
              <a:t>nilai</a:t>
            </a:r>
            <a:r>
              <a:rPr lang="en-US" dirty="0"/>
              <a:t> NPMI CTM di slide </a:t>
            </a:r>
            <a:r>
              <a:rPr lang="en-US" dirty="0" err="1"/>
              <a:t>ini</a:t>
            </a:r>
            <a:r>
              <a:rPr lang="en-US" dirty="0"/>
              <a:t> (-0,226) </a:t>
            </a:r>
            <a:r>
              <a:rPr lang="en-US" dirty="0" err="1"/>
              <a:t>berbeda</a:t>
            </a:r>
            <a:r>
              <a:rPr lang="en-US" dirty="0"/>
              <a:t> </a:t>
            </a:r>
            <a:r>
              <a:rPr lang="en-US" dirty="0" err="1"/>
              <a:t>dari</a:t>
            </a:r>
            <a:r>
              <a:rPr lang="en-US" dirty="0"/>
              <a:t> </a:t>
            </a:r>
            <a:r>
              <a:rPr lang="en-US" dirty="0" err="1"/>
              <a:t>nilai</a:t>
            </a:r>
            <a:r>
              <a:rPr lang="en-US" dirty="0"/>
              <a:t> di slide </a:t>
            </a:r>
            <a:r>
              <a:rPr lang="en-US" dirty="0" err="1"/>
              <a:t>Evaluasi</a:t>
            </a:r>
            <a:r>
              <a:rPr lang="en-US" dirty="0"/>
              <a:t> Model CTM (-0,022). </a:t>
            </a:r>
            <a:r>
              <a:rPr lang="en-US" dirty="0" err="1"/>
              <a:t>Pastikan</a:t>
            </a:r>
            <a:r>
              <a:rPr lang="en-US" dirty="0"/>
              <a:t> </a:t>
            </a:r>
            <a:r>
              <a:rPr lang="en-US" dirty="0" err="1"/>
              <a:t>angka</a:t>
            </a:r>
            <a:r>
              <a:rPr lang="en-US" dirty="0"/>
              <a:t> mana yang </a:t>
            </a:r>
            <a:r>
              <a:rPr lang="en-US" dirty="0" err="1"/>
              <a:t>benar</a:t>
            </a:r>
            <a:r>
              <a:rPr lang="en-US" dirty="0"/>
              <a:t> (</a:t>
            </a:r>
            <a:r>
              <a:rPr lang="en-US" dirty="0" err="1"/>
              <a:t>kemungkinan</a:t>
            </a:r>
            <a:r>
              <a:rPr lang="en-US" dirty="0"/>
              <a:t> salah </a:t>
            </a:r>
            <a:r>
              <a:rPr lang="en-US" dirty="0" err="1"/>
              <a:t>ketik</a:t>
            </a:r>
            <a:r>
              <a:rPr lang="en-US" dirty="0"/>
              <a:t> </a:t>
            </a:r>
            <a:r>
              <a:rPr lang="en-US" dirty="0" err="1"/>
              <a:t>selisih</a:t>
            </a:r>
            <a:r>
              <a:rPr lang="en-US" dirty="0"/>
              <a:t> </a:t>
            </a:r>
            <a:r>
              <a:rPr lang="en-US" dirty="0" err="1"/>
              <a:t>penulisan</a:t>
            </a:r>
            <a:r>
              <a:rPr lang="en-US" dirty="0"/>
              <a:t> </a:t>
            </a:r>
            <a:r>
              <a:rPr lang="en-US" dirty="0" err="1"/>
              <a:t>desimal</a:t>
            </a:r>
            <a:r>
              <a:rPr lang="en-US" dirty="0"/>
              <a:t>) dan </a:t>
            </a:r>
            <a:r>
              <a:rPr lang="en-US" dirty="0" err="1"/>
              <a:t>samakan</a:t>
            </a:r>
            <a:r>
              <a:rPr lang="en-US" dirty="0"/>
              <a:t> di </a:t>
            </a:r>
            <a:r>
              <a:rPr lang="en-US" dirty="0" err="1"/>
              <a:t>seluruh</a:t>
            </a:r>
            <a:r>
              <a:rPr lang="en-US" dirty="0"/>
              <a:t> slide + slide </a:t>
            </a:r>
            <a:r>
              <a:rPr lang="en-US" dirty="0" err="1"/>
              <a:t>Ringkasan</a:t>
            </a:r>
            <a:r>
              <a:rPr lang="en-US" dirty="0"/>
              <a:t> Angka </a:t>
            </a:r>
            <a:r>
              <a:rPr lang="en-US" dirty="0" err="1"/>
              <a:t>Penting</a:t>
            </a:r>
            <a:r>
              <a:rPr lang="en-US" dirty="0"/>
              <a:t> </a:t>
            </a:r>
            <a:r>
              <a:rPr lang="en-US" dirty="0" err="1"/>
              <a:t>sebelum</a:t>
            </a:r>
            <a:r>
              <a:rPr lang="en-US" dirty="0"/>
              <a:t> </a:t>
            </a:r>
            <a:r>
              <a:rPr lang="en-US" dirty="0" err="1"/>
              <a:t>sidang</a:t>
            </a:r>
            <a:r>
              <a:rPr lang="en-US" dirty="0"/>
              <a:t>.</a:t>
            </a:r>
          </a:p>
          <a:p>
            <a:endParaRPr lang="en-US" dirty="0"/>
          </a:p>
        </p:txBody>
      </p:sp>
      <p:sp>
        <p:nvSpPr>
          <p:cNvPr id="4" name="Slide Number Placeholder 3"/>
          <p:cNvSpPr>
            <a:spLocks noGrp="1"/>
          </p:cNvSpPr>
          <p:nvPr>
            <p:ph type="sldNum" sz="quarter" idx="5"/>
          </p:nvPr>
        </p:nvSpPr>
        <p:spPr/>
        <p:txBody>
          <a:bodyPr/>
          <a:lstStyle/>
          <a:p>
            <a:fld id="{0E4F9FF8-F730-48A2-A15C-4DAF3EEA9E4C}" type="slidenum">
              <a:rPr lang="en-US" smtClean="0"/>
              <a:t>27</a:t>
            </a:fld>
            <a:endParaRPr lang="en-US"/>
          </a:p>
        </p:txBody>
      </p:sp>
    </p:spTree>
    <p:extLst>
      <p:ext uri="{BB962C8B-B14F-4D97-AF65-F5344CB8AC3E}">
        <p14:creationId xmlns:p14="http://schemas.microsoft.com/office/powerpoint/2010/main" val="47717332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59247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sv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sv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svg"/></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3" Type="http://schemas.openxmlformats.org/officeDocument/2006/relationships/image" Target="../media/image2.png"/><Relationship Id="rId7" Type="http://schemas.openxmlformats.org/officeDocument/2006/relationships/image" Target="../media/image10.png"/><Relationship Id="rId12" Type="http://schemas.openxmlformats.org/officeDocument/2006/relationships/image" Target="../media/image15.svg"/><Relationship Id="rId2" Type="http://schemas.openxmlformats.org/officeDocument/2006/relationships/notesSlide" Target="../notesSlides/notesSlide2.xml"/><Relationship Id="rId16" Type="http://schemas.openxmlformats.org/officeDocument/2006/relationships/image" Target="../media/image19.svg"/><Relationship Id="rId1" Type="http://schemas.openxmlformats.org/officeDocument/2006/relationships/slideLayout" Target="../slideLayouts/slideLayout7.xml"/><Relationship Id="rId6" Type="http://schemas.openxmlformats.org/officeDocument/2006/relationships/image" Target="../media/image8.png"/><Relationship Id="rId11" Type="http://schemas.openxmlformats.org/officeDocument/2006/relationships/image" Target="../media/image14.png"/><Relationship Id="rId5" Type="http://schemas.openxmlformats.org/officeDocument/2006/relationships/image" Target="../media/image9.jpeg"/><Relationship Id="rId15" Type="http://schemas.openxmlformats.org/officeDocument/2006/relationships/image" Target="../media/image18.png"/><Relationship Id="rId10" Type="http://schemas.openxmlformats.org/officeDocument/2006/relationships/image" Target="../media/image13.svg"/><Relationship Id="rId4" Type="http://schemas.openxmlformats.org/officeDocument/2006/relationships/image" Target="../media/image3.svg"/><Relationship Id="rId9" Type="http://schemas.openxmlformats.org/officeDocument/2006/relationships/image" Target="../media/image12.png"/><Relationship Id="rId14" Type="http://schemas.openxmlformats.org/officeDocument/2006/relationships/image" Target="../media/image17.svg"/></Relationships>
</file>

<file path=ppt/slides/_rels/slide3.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2.png"/><Relationship Id="rId7" Type="http://schemas.openxmlformats.org/officeDocument/2006/relationships/image" Target="../media/image21.sv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20.png"/><Relationship Id="rId11" Type="http://schemas.openxmlformats.org/officeDocument/2006/relationships/image" Target="../media/image25.svg"/><Relationship Id="rId5" Type="http://schemas.openxmlformats.org/officeDocument/2006/relationships/image" Target="../media/image8.png"/><Relationship Id="rId10" Type="http://schemas.openxmlformats.org/officeDocument/2006/relationships/image" Target="../media/image24.png"/><Relationship Id="rId4" Type="http://schemas.openxmlformats.org/officeDocument/2006/relationships/image" Target="../media/image3.svg"/><Relationship Id="rId9" Type="http://schemas.openxmlformats.org/officeDocument/2006/relationships/image" Target="../media/image23.svg"/></Relationships>
</file>

<file path=ppt/slides/_rels/slide4.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png"/><Relationship Id="rId7" Type="http://schemas.openxmlformats.org/officeDocument/2006/relationships/image" Target="../media/image27.sv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26.png"/><Relationship Id="rId11" Type="http://schemas.openxmlformats.org/officeDocument/2006/relationships/image" Target="../media/image31.svg"/><Relationship Id="rId5" Type="http://schemas.openxmlformats.org/officeDocument/2006/relationships/image" Target="../media/image8.png"/><Relationship Id="rId10" Type="http://schemas.openxmlformats.org/officeDocument/2006/relationships/image" Target="../media/image30.png"/><Relationship Id="rId4" Type="http://schemas.openxmlformats.org/officeDocument/2006/relationships/image" Target="../media/image3.svg"/><Relationship Id="rId9" Type="http://schemas.openxmlformats.org/officeDocument/2006/relationships/image" Target="../media/image29.sv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image" Target="../media/image39.svg"/><Relationship Id="rId18" Type="http://schemas.openxmlformats.org/officeDocument/2006/relationships/image" Target="../media/image44.png"/><Relationship Id="rId3" Type="http://schemas.openxmlformats.org/officeDocument/2006/relationships/image" Target="../media/image2.png"/><Relationship Id="rId21" Type="http://schemas.openxmlformats.org/officeDocument/2006/relationships/image" Target="../media/image47.png"/><Relationship Id="rId7" Type="http://schemas.openxmlformats.org/officeDocument/2006/relationships/image" Target="../media/image33.svg"/><Relationship Id="rId12" Type="http://schemas.openxmlformats.org/officeDocument/2006/relationships/image" Target="../media/image38.png"/><Relationship Id="rId17" Type="http://schemas.openxmlformats.org/officeDocument/2006/relationships/image" Target="../media/image43.svg"/><Relationship Id="rId2" Type="http://schemas.openxmlformats.org/officeDocument/2006/relationships/notesSlide" Target="../notesSlides/notesSlide6.xml"/><Relationship Id="rId16" Type="http://schemas.openxmlformats.org/officeDocument/2006/relationships/image" Target="../media/image42.png"/><Relationship Id="rId20" Type="http://schemas.openxmlformats.org/officeDocument/2006/relationships/image" Target="../media/image46.png"/><Relationship Id="rId1" Type="http://schemas.openxmlformats.org/officeDocument/2006/relationships/slideLayout" Target="../slideLayouts/slideLayout7.xml"/><Relationship Id="rId6" Type="http://schemas.openxmlformats.org/officeDocument/2006/relationships/image" Target="../media/image32.png"/><Relationship Id="rId11" Type="http://schemas.openxmlformats.org/officeDocument/2006/relationships/image" Target="../media/image37.svg"/><Relationship Id="rId5" Type="http://schemas.openxmlformats.org/officeDocument/2006/relationships/image" Target="../media/image8.png"/><Relationship Id="rId15" Type="http://schemas.openxmlformats.org/officeDocument/2006/relationships/image" Target="../media/image41.svg"/><Relationship Id="rId10" Type="http://schemas.openxmlformats.org/officeDocument/2006/relationships/image" Target="../media/image36.png"/><Relationship Id="rId19" Type="http://schemas.openxmlformats.org/officeDocument/2006/relationships/image" Target="../media/image45.svg"/><Relationship Id="rId4" Type="http://schemas.openxmlformats.org/officeDocument/2006/relationships/image" Target="../media/image3.svg"/><Relationship Id="rId9" Type="http://schemas.openxmlformats.org/officeDocument/2006/relationships/image" Target="../media/image35.svg"/><Relationship Id="rId14" Type="http://schemas.openxmlformats.org/officeDocument/2006/relationships/image" Target="../media/image40.png"/><Relationship Id="rId22" Type="http://schemas.openxmlformats.org/officeDocument/2006/relationships/image" Target="../media/image48.jpe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48.jpe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0.sv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49.png"/><Relationship Id="rId5" Type="http://schemas.openxmlformats.org/officeDocument/2006/relationships/image" Target="../media/image8.png"/><Relationship Id="rId4" Type="http://schemas.openxmlformats.org/officeDocument/2006/relationships/image" Target="../media/image3.sv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2.sv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51.png"/><Relationship Id="rId5" Type="http://schemas.openxmlformats.org/officeDocument/2006/relationships/image" Target="../media/image8.png"/><Relationship Id="rId4" Type="http://schemas.openxmlformats.org/officeDocument/2006/relationships/image" Target="../media/image3.svg"/></Relationships>
</file>

<file path=ppt/slides/_rels/slide10.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notesSlide" Target="../notesSlides/notesSlide9.xml"/><Relationship Id="rId7"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8.png"/><Relationship Id="rId11" Type="http://schemas.openxmlformats.org/officeDocument/2006/relationships/image" Target="../media/image52.svg"/><Relationship Id="rId5" Type="http://schemas.openxmlformats.org/officeDocument/2006/relationships/image" Target="../media/image3.svg"/><Relationship Id="rId10" Type="http://schemas.openxmlformats.org/officeDocument/2006/relationships/image" Target="../media/image51.png"/><Relationship Id="rId4" Type="http://schemas.openxmlformats.org/officeDocument/2006/relationships/image" Target="../media/image2.png"/><Relationship Id="rId9" Type="http://schemas.openxmlformats.org/officeDocument/2006/relationships/image" Target="../media/image54.png"/></Relationships>
</file>

<file path=ppt/slides/_rels/slide11.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notesSlide" Target="../notesSlides/notesSlide10.xml"/><Relationship Id="rId7"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8.png"/><Relationship Id="rId11" Type="http://schemas.openxmlformats.org/officeDocument/2006/relationships/image" Target="../media/image52.svg"/><Relationship Id="rId5" Type="http://schemas.openxmlformats.org/officeDocument/2006/relationships/image" Target="../media/image3.svg"/><Relationship Id="rId10" Type="http://schemas.openxmlformats.org/officeDocument/2006/relationships/image" Target="../media/image51.png"/><Relationship Id="rId4" Type="http://schemas.openxmlformats.org/officeDocument/2006/relationships/image" Target="../media/image2.png"/><Relationship Id="rId9" Type="http://schemas.openxmlformats.org/officeDocument/2006/relationships/image" Target="../media/image56.png"/></Relationships>
</file>

<file path=ppt/slides/_rels/slide12.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notesSlide" Target="../notesSlides/notesSlide11.xml"/><Relationship Id="rId7" Type="http://schemas.openxmlformats.org/officeDocument/2006/relationships/package" Target="../embeddings/Microsoft_Excel_Worksheet.xlsx"/><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8.png"/><Relationship Id="rId5" Type="http://schemas.openxmlformats.org/officeDocument/2006/relationships/image" Target="../media/image3.svg"/><Relationship Id="rId10" Type="http://schemas.openxmlformats.org/officeDocument/2006/relationships/image" Target="../media/image47.png"/><Relationship Id="rId4" Type="http://schemas.openxmlformats.org/officeDocument/2006/relationships/image" Target="../media/image2.png"/><Relationship Id="rId9" Type="http://schemas.openxmlformats.org/officeDocument/2006/relationships/image" Target="../media/image58.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0.sv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59.png"/><Relationship Id="rId5" Type="http://schemas.openxmlformats.org/officeDocument/2006/relationships/image" Target="../media/image8.png"/><Relationship Id="rId4" Type="http://schemas.openxmlformats.org/officeDocument/2006/relationships/image" Target="../media/image3.sv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61.png"/><Relationship Id="rId5" Type="http://schemas.openxmlformats.org/officeDocument/2006/relationships/image" Target="../media/image8.png"/><Relationship Id="rId4" Type="http://schemas.openxmlformats.org/officeDocument/2006/relationships/image" Target="../media/image3.svg"/></Relationships>
</file>

<file path=ppt/slides/_rels/slide15.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notesSlide" Target="../notesSlides/notesSlide14.xml"/><Relationship Id="rId7"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8.png"/><Relationship Id="rId5" Type="http://schemas.openxmlformats.org/officeDocument/2006/relationships/image" Target="../media/image3.sv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4.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63.png"/><Relationship Id="rId5" Type="http://schemas.openxmlformats.org/officeDocument/2006/relationships/image" Target="../media/image8.png"/><Relationship Id="rId4" Type="http://schemas.openxmlformats.org/officeDocument/2006/relationships/image" Target="../media/image3.svg"/></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65.png"/></Relationships>
</file>

<file path=ppt/slides/_rels/slide18.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notesSlide" Target="../notesSlides/notesSlide17.xml"/><Relationship Id="rId7" Type="http://schemas.openxmlformats.org/officeDocument/2006/relationships/oleObject" Target="../embeddings/oleObject5.bin"/><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image" Target="../media/image66.png"/><Relationship Id="rId5" Type="http://schemas.openxmlformats.org/officeDocument/2006/relationships/oleObject" Target="../embeddings/oleObject4.bin"/><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notesSlide" Target="../notesSlides/notesSlide18.xml"/><Relationship Id="rId7" Type="http://schemas.openxmlformats.org/officeDocument/2006/relationships/oleObject" Target="../embeddings/oleObject7.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68.png"/><Relationship Id="rId5" Type="http://schemas.openxmlformats.org/officeDocument/2006/relationships/oleObject" Target="../embeddings/oleObject6.bin"/><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image" Target="../media/image70.png"/><Relationship Id="rId5" Type="http://schemas.openxmlformats.org/officeDocument/2006/relationships/oleObject" Target="../embeddings/oleObject8.bin"/><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image" Target="../media/image71.png"/><Relationship Id="rId5" Type="http://schemas.openxmlformats.org/officeDocument/2006/relationships/oleObject" Target="../embeddings/oleObject9.bin"/><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notesSlide" Target="../notesSlides/notesSlide21.xml"/><Relationship Id="rId7" Type="http://schemas.openxmlformats.org/officeDocument/2006/relationships/package" Target="../embeddings/Microsoft_Excel_Worksheet1.xlsx"/><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8.png"/><Relationship Id="rId5" Type="http://schemas.openxmlformats.org/officeDocument/2006/relationships/image" Target="../media/image3.sv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73.png"/><Relationship Id="rId5" Type="http://schemas.openxmlformats.org/officeDocument/2006/relationships/image" Target="../media/image8.png"/><Relationship Id="rId4" Type="http://schemas.openxmlformats.org/officeDocument/2006/relationships/image" Target="../media/image3.svg"/></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4.xml"/><Relationship Id="rId1" Type="http://schemas.openxmlformats.org/officeDocument/2006/relationships/slideLayout" Target="../slideLayouts/slideLayout12.xml"/><Relationship Id="rId5" Type="http://schemas.openxmlformats.org/officeDocument/2006/relationships/image" Target="../media/image75.png"/><Relationship Id="rId4" Type="http://schemas.openxmlformats.org/officeDocument/2006/relationships/image" Target="../media/image74.png"/></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3.svg"/></Relationships>
</file>

<file path=ppt/slides/_rels/slide28.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784C0C2E-4926-26A3-4E1A-412B85A7E8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8518"/>
            <a:ext cx="18486234" cy="10404035"/>
          </a:xfrm>
          <a:prstGeom prst="rect">
            <a:avLst/>
          </a:prstGeom>
        </p:spPr>
      </p:pic>
      <p:sp>
        <p:nvSpPr>
          <p:cNvPr id="2" name="Freeform 2"/>
          <p:cNvSpPr/>
          <p:nvPr/>
        </p:nvSpPr>
        <p:spPr>
          <a:xfrm rot="5033559">
            <a:off x="3939424" y="-3611012"/>
            <a:ext cx="9848495" cy="18613993"/>
          </a:xfrm>
          <a:custGeom>
            <a:avLst/>
            <a:gdLst/>
            <a:ahLst/>
            <a:cxnLst/>
            <a:rect l="l" t="t" r="r" b="b"/>
            <a:pathLst>
              <a:path w="9848495" h="18613993">
                <a:moveTo>
                  <a:pt x="0" y="0"/>
                </a:moveTo>
                <a:lnTo>
                  <a:pt x="9848494" y="0"/>
                </a:lnTo>
                <a:lnTo>
                  <a:pt x="9848494" y="18613994"/>
                </a:lnTo>
                <a:lnTo>
                  <a:pt x="0" y="18613994"/>
                </a:lnTo>
                <a:lnTo>
                  <a:pt x="0" y="0"/>
                </a:lnTo>
                <a:close/>
              </a:path>
            </a:pathLst>
          </a:custGeom>
          <a:blipFill>
            <a:blip r:embed="rId4">
              <a:alphaModFix amt="15000"/>
              <a:extLst>
                <a:ext uri="{96DAC541-7B7A-43D3-8B79-37D633B846F1}">
                  <asvg:svgBlip xmlns:asvg="http://schemas.microsoft.com/office/drawing/2016/SVG/main" r:embed="rId5"/>
                </a:ext>
              </a:extLst>
            </a:blip>
            <a:stretch>
              <a:fillRect/>
            </a:stretch>
          </a:blipFill>
        </p:spPr>
        <p:txBody>
          <a:bodyPr/>
          <a:lstStyle/>
          <a:p>
            <a:endParaRPr lang="en-US" dirty="0"/>
          </a:p>
        </p:txBody>
      </p:sp>
      <p:sp>
        <p:nvSpPr>
          <p:cNvPr id="3" name="Freeform 3"/>
          <p:cNvSpPr/>
          <p:nvPr/>
        </p:nvSpPr>
        <p:spPr>
          <a:xfrm>
            <a:off x="15946098" y="9371229"/>
            <a:ext cx="1313202" cy="434551"/>
          </a:xfrm>
          <a:custGeom>
            <a:avLst/>
            <a:gdLst/>
            <a:ahLst/>
            <a:cxnLst/>
            <a:rect l="l" t="t" r="r" b="b"/>
            <a:pathLst>
              <a:path w="1313202" h="434551">
                <a:moveTo>
                  <a:pt x="0" y="0"/>
                </a:moveTo>
                <a:lnTo>
                  <a:pt x="1313202" y="0"/>
                </a:lnTo>
                <a:lnTo>
                  <a:pt x="1313202" y="434550"/>
                </a:lnTo>
                <a:lnTo>
                  <a:pt x="0" y="43455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4" name="Freeform 4"/>
          <p:cNvSpPr/>
          <p:nvPr/>
        </p:nvSpPr>
        <p:spPr>
          <a:xfrm>
            <a:off x="14632896" y="9371229"/>
            <a:ext cx="1313202" cy="434551"/>
          </a:xfrm>
          <a:custGeom>
            <a:avLst/>
            <a:gdLst/>
            <a:ahLst/>
            <a:cxnLst/>
            <a:rect l="l" t="t" r="r" b="b"/>
            <a:pathLst>
              <a:path w="1313202" h="434551">
                <a:moveTo>
                  <a:pt x="0" y="0"/>
                </a:moveTo>
                <a:lnTo>
                  <a:pt x="1313202" y="0"/>
                </a:lnTo>
                <a:lnTo>
                  <a:pt x="1313202" y="434550"/>
                </a:lnTo>
                <a:lnTo>
                  <a:pt x="0" y="43455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grpSp>
        <p:nvGrpSpPr>
          <p:cNvPr id="5" name="Group 5"/>
          <p:cNvGrpSpPr/>
          <p:nvPr/>
        </p:nvGrpSpPr>
        <p:grpSpPr>
          <a:xfrm>
            <a:off x="0" y="7124699"/>
            <a:ext cx="18486234" cy="1499857"/>
            <a:chOff x="0" y="0"/>
            <a:chExt cx="3657929" cy="509657"/>
          </a:xfrm>
        </p:grpSpPr>
        <p:sp>
          <p:nvSpPr>
            <p:cNvPr id="6" name="Freeform 6"/>
            <p:cNvSpPr/>
            <p:nvPr/>
          </p:nvSpPr>
          <p:spPr>
            <a:xfrm>
              <a:off x="0" y="0"/>
              <a:ext cx="3657929" cy="509657"/>
            </a:xfrm>
            <a:custGeom>
              <a:avLst/>
              <a:gdLst/>
              <a:ahLst/>
              <a:cxnLst/>
              <a:rect l="l" t="t" r="r" b="b"/>
              <a:pathLst>
                <a:path w="3657929" h="509657">
                  <a:moveTo>
                    <a:pt x="0" y="0"/>
                  </a:moveTo>
                  <a:lnTo>
                    <a:pt x="3657929" y="0"/>
                  </a:lnTo>
                  <a:lnTo>
                    <a:pt x="3657929" y="509657"/>
                  </a:lnTo>
                  <a:lnTo>
                    <a:pt x="0" y="509657"/>
                  </a:lnTo>
                  <a:close/>
                </a:path>
              </a:pathLst>
            </a:custGeom>
            <a:solidFill>
              <a:srgbClr val="FFDE59">
                <a:alpha val="27843"/>
              </a:srgbClr>
            </a:solidFill>
          </p:spPr>
        </p:sp>
        <p:sp>
          <p:nvSpPr>
            <p:cNvPr id="7" name="TextBox 7"/>
            <p:cNvSpPr txBox="1"/>
            <p:nvPr/>
          </p:nvSpPr>
          <p:spPr>
            <a:xfrm>
              <a:off x="0" y="-47625"/>
              <a:ext cx="3657929" cy="557282"/>
            </a:xfrm>
            <a:prstGeom prst="rect">
              <a:avLst/>
            </a:prstGeom>
          </p:spPr>
          <p:txBody>
            <a:bodyPr lIns="50800" tIns="50800" rIns="50800" bIns="50800" rtlCol="0" anchor="ctr"/>
            <a:lstStyle/>
            <a:p>
              <a:pPr algn="ctr">
                <a:lnSpc>
                  <a:spcPts val="2659"/>
                </a:lnSpc>
              </a:pPr>
              <a:endParaRPr/>
            </a:p>
          </p:txBody>
        </p:sp>
      </p:grpSp>
      <p:sp>
        <p:nvSpPr>
          <p:cNvPr id="8" name="TextBox 8"/>
          <p:cNvSpPr txBox="1"/>
          <p:nvPr/>
        </p:nvSpPr>
        <p:spPr>
          <a:xfrm>
            <a:off x="1975885" y="670534"/>
            <a:ext cx="16312115" cy="2062447"/>
          </a:xfrm>
          <a:prstGeom prst="rect">
            <a:avLst/>
          </a:prstGeom>
        </p:spPr>
        <p:txBody>
          <a:bodyPr lIns="0" tIns="0" rIns="0" bIns="0" rtlCol="0" anchor="t">
            <a:spAutoFit/>
          </a:bodyPr>
          <a:lstStyle/>
          <a:p>
            <a:pPr algn="ctr">
              <a:lnSpc>
                <a:spcPts val="5496"/>
              </a:lnSpc>
              <a:spcBef>
                <a:spcPct val="0"/>
              </a:spcBef>
            </a:pPr>
            <a:r>
              <a:rPr lang="en-US" sz="3926" b="1" dirty="0">
                <a:solidFill>
                  <a:srgbClr val="FF751F"/>
                </a:solidFill>
                <a:latin typeface="Archivo Narrow Bold"/>
                <a:ea typeface="Archivo Narrow Bold"/>
                <a:cs typeface="Archivo Narrow Bold"/>
                <a:sym typeface="Archivo Narrow Bold"/>
              </a:rPr>
              <a:t>ANALISIS PEMODELAN TOPIK PADA TEKS TERJEMAHAN AL-QUR’AN BERBAHASA INDONESIA DENGAN METODE </a:t>
            </a:r>
            <a:r>
              <a:rPr lang="en-US" sz="3926" b="1" i="1" dirty="0">
                <a:solidFill>
                  <a:srgbClr val="FF751F"/>
                </a:solidFill>
                <a:latin typeface="Archivo Narrow Bold"/>
                <a:ea typeface="Archivo Narrow Bold"/>
                <a:cs typeface="Archivo Narrow Bold"/>
                <a:sym typeface="Archivo Narrow Bold"/>
              </a:rPr>
              <a:t>CORRELATED TOPIC MODELING </a:t>
            </a:r>
            <a:r>
              <a:rPr lang="en-US" sz="3926" b="1" dirty="0">
                <a:solidFill>
                  <a:srgbClr val="FF751F"/>
                </a:solidFill>
                <a:latin typeface="Archivo Narrow Bold"/>
                <a:ea typeface="Archivo Narrow Bold"/>
                <a:cs typeface="Archivo Narrow Bold"/>
                <a:sym typeface="Archivo Narrow Bold"/>
              </a:rPr>
              <a:t>(CTM)  DAN BERTOPIC </a:t>
            </a:r>
          </a:p>
        </p:txBody>
      </p:sp>
      <p:sp>
        <p:nvSpPr>
          <p:cNvPr id="9" name="TextBox 9"/>
          <p:cNvSpPr txBox="1"/>
          <p:nvPr/>
        </p:nvSpPr>
        <p:spPr>
          <a:xfrm>
            <a:off x="6216577" y="7106621"/>
            <a:ext cx="5854846" cy="697929"/>
          </a:xfrm>
          <a:prstGeom prst="rect">
            <a:avLst/>
          </a:prstGeom>
        </p:spPr>
        <p:txBody>
          <a:bodyPr lIns="0" tIns="0" rIns="0" bIns="0" rtlCol="0" anchor="t">
            <a:spAutoFit/>
          </a:bodyPr>
          <a:lstStyle/>
          <a:p>
            <a:pPr algn="ctr">
              <a:lnSpc>
                <a:spcPts val="5659"/>
              </a:lnSpc>
              <a:spcBef>
                <a:spcPct val="0"/>
              </a:spcBef>
            </a:pPr>
            <a:r>
              <a:rPr lang="en-US" sz="4042" b="1" dirty="0">
                <a:solidFill>
                  <a:srgbClr val="3C6295"/>
                </a:solidFill>
                <a:latin typeface="Archivo Narrow Bold"/>
                <a:ea typeface="Archivo Narrow Bold"/>
                <a:cs typeface="Archivo Narrow Bold"/>
                <a:sym typeface="Archivo Narrow Bold"/>
              </a:rPr>
              <a:t>ASEP RIDWAN HIDAYAT</a:t>
            </a:r>
          </a:p>
        </p:txBody>
      </p:sp>
      <p:sp>
        <p:nvSpPr>
          <p:cNvPr id="10" name="Freeform 10"/>
          <p:cNvSpPr/>
          <p:nvPr/>
        </p:nvSpPr>
        <p:spPr>
          <a:xfrm>
            <a:off x="311659" y="167149"/>
            <a:ext cx="1465992" cy="1495296"/>
          </a:xfrm>
          <a:custGeom>
            <a:avLst/>
            <a:gdLst/>
            <a:ahLst/>
            <a:cxnLst/>
            <a:rect l="l" t="t" r="r" b="b"/>
            <a:pathLst>
              <a:path w="1664226" h="1616285">
                <a:moveTo>
                  <a:pt x="0" y="0"/>
                </a:moveTo>
                <a:lnTo>
                  <a:pt x="1664226" y="0"/>
                </a:lnTo>
                <a:lnTo>
                  <a:pt x="1664226" y="1616285"/>
                </a:lnTo>
                <a:lnTo>
                  <a:pt x="0" y="1616285"/>
                </a:lnTo>
                <a:lnTo>
                  <a:pt x="0" y="0"/>
                </a:lnTo>
                <a:close/>
              </a:path>
            </a:pathLst>
          </a:custGeom>
          <a:blipFill>
            <a:blip r:embed="rId10"/>
            <a:stretch>
              <a:fillRect/>
            </a:stretch>
          </a:blipFill>
        </p:spPr>
      </p:sp>
      <p:sp>
        <p:nvSpPr>
          <p:cNvPr id="11" name="TextBox 11"/>
          <p:cNvSpPr txBox="1"/>
          <p:nvPr/>
        </p:nvSpPr>
        <p:spPr>
          <a:xfrm>
            <a:off x="5711438" y="5411564"/>
            <a:ext cx="7063357" cy="1624980"/>
          </a:xfrm>
          <a:prstGeom prst="rect">
            <a:avLst/>
          </a:prstGeom>
        </p:spPr>
        <p:txBody>
          <a:bodyPr lIns="0" tIns="0" rIns="0" bIns="0" rtlCol="0" anchor="t">
            <a:spAutoFit/>
          </a:bodyPr>
          <a:lstStyle/>
          <a:p>
            <a:pPr algn="ctr">
              <a:lnSpc>
                <a:spcPts val="3260"/>
              </a:lnSpc>
            </a:pPr>
            <a:r>
              <a:rPr lang="en-US" sz="2328" b="1" dirty="0">
                <a:solidFill>
                  <a:srgbClr val="3C6295"/>
                </a:solidFill>
                <a:latin typeface="Open Sauce Bold"/>
                <a:ea typeface="Open Sauce Bold"/>
                <a:cs typeface="Open Sauce Bold"/>
                <a:sym typeface="Open Sauce Bold"/>
              </a:rPr>
              <a:t>Dosen </a:t>
            </a:r>
            <a:r>
              <a:rPr lang="en-US" sz="2328" b="1" dirty="0" err="1">
                <a:solidFill>
                  <a:srgbClr val="3C6295"/>
                </a:solidFill>
                <a:latin typeface="Open Sauce Bold"/>
                <a:ea typeface="Open Sauce Bold"/>
                <a:cs typeface="Open Sauce Bold"/>
                <a:sym typeface="Open Sauce Bold"/>
              </a:rPr>
              <a:t>Pembimbing</a:t>
            </a:r>
            <a:r>
              <a:rPr lang="en-US" sz="2328" b="1" dirty="0">
                <a:solidFill>
                  <a:srgbClr val="3C6295"/>
                </a:solidFill>
                <a:latin typeface="Open Sauce Bold"/>
                <a:ea typeface="Open Sauce Bold"/>
                <a:cs typeface="Open Sauce Bold"/>
                <a:sym typeface="Open Sauce Bold"/>
              </a:rPr>
              <a:t> :</a:t>
            </a:r>
          </a:p>
          <a:p>
            <a:pPr algn="ctr">
              <a:lnSpc>
                <a:spcPts val="3260"/>
              </a:lnSpc>
            </a:pPr>
            <a:r>
              <a:rPr lang="en-US" sz="2328" b="1" dirty="0">
                <a:solidFill>
                  <a:srgbClr val="3C6295"/>
                </a:solidFill>
                <a:latin typeface="Open Sauce Bold"/>
                <a:ea typeface="Open Sauce Bold"/>
                <a:cs typeface="Open Sauce Bold"/>
                <a:sym typeface="Open Sauce Bold"/>
              </a:rPr>
              <a:t>Dr. </a:t>
            </a:r>
            <a:r>
              <a:rPr lang="en-US" sz="2328" b="1" dirty="0" err="1">
                <a:solidFill>
                  <a:srgbClr val="3C6295"/>
                </a:solidFill>
                <a:latin typeface="Open Sauce Bold"/>
                <a:ea typeface="Open Sauce Bold"/>
                <a:cs typeface="Open Sauce Bold"/>
                <a:sym typeface="Open Sauce Bold"/>
              </a:rPr>
              <a:t>Sajarwo</a:t>
            </a:r>
            <a:r>
              <a:rPr lang="en-US" sz="2328" b="1" dirty="0">
                <a:solidFill>
                  <a:srgbClr val="3C6295"/>
                </a:solidFill>
                <a:latin typeface="Open Sauce Bold"/>
                <a:ea typeface="Open Sauce Bold"/>
                <a:cs typeface="Open Sauce Bold"/>
                <a:sym typeface="Open Sauce Bold"/>
              </a:rPr>
              <a:t> </a:t>
            </a:r>
            <a:r>
              <a:rPr lang="en-US" sz="2328" b="1" dirty="0" err="1">
                <a:solidFill>
                  <a:srgbClr val="3C6295"/>
                </a:solidFill>
                <a:latin typeface="Open Sauce Bold"/>
                <a:ea typeface="Open Sauce Bold"/>
                <a:cs typeface="Open Sauce Bold"/>
                <a:sym typeface="Open Sauce Bold"/>
              </a:rPr>
              <a:t>Anggai</a:t>
            </a:r>
            <a:r>
              <a:rPr lang="en-US" sz="2328" b="1" dirty="0">
                <a:solidFill>
                  <a:srgbClr val="3C6295"/>
                </a:solidFill>
                <a:latin typeface="Open Sauce Bold"/>
                <a:ea typeface="Open Sauce Bold"/>
                <a:cs typeface="Open Sauce Bold"/>
                <a:sym typeface="Open Sauce Bold"/>
              </a:rPr>
              <a:t>, S.ST., M.T.</a:t>
            </a:r>
          </a:p>
          <a:p>
            <a:pPr algn="ctr">
              <a:lnSpc>
                <a:spcPts val="3260"/>
              </a:lnSpc>
            </a:pPr>
            <a:r>
              <a:rPr lang="en-US" sz="2328" b="1" dirty="0">
                <a:solidFill>
                  <a:srgbClr val="3C6295"/>
                </a:solidFill>
                <a:latin typeface="Open Sauce Bold"/>
                <a:ea typeface="Open Sauce Bold"/>
                <a:cs typeface="Open Sauce Bold"/>
                <a:sym typeface="Open Sauce Bold"/>
              </a:rPr>
              <a:t>Dr. Arya </a:t>
            </a:r>
            <a:r>
              <a:rPr lang="en-US" sz="2328" b="1" dirty="0" err="1">
                <a:solidFill>
                  <a:srgbClr val="3C6295"/>
                </a:solidFill>
                <a:latin typeface="Open Sauce Bold"/>
                <a:ea typeface="Open Sauce Bold"/>
                <a:cs typeface="Open Sauce Bold"/>
                <a:sym typeface="Open Sauce Bold"/>
              </a:rPr>
              <a:t>Adhyaksa</a:t>
            </a:r>
            <a:r>
              <a:rPr lang="en-US" sz="2328" b="1" dirty="0">
                <a:solidFill>
                  <a:srgbClr val="3C6295"/>
                </a:solidFill>
                <a:latin typeface="Open Sauce Bold"/>
                <a:ea typeface="Open Sauce Bold"/>
                <a:cs typeface="Open Sauce Bold"/>
                <a:sym typeface="Open Sauce Bold"/>
              </a:rPr>
              <a:t> </a:t>
            </a:r>
            <a:r>
              <a:rPr lang="en-US" sz="2328" b="1" dirty="0" err="1">
                <a:solidFill>
                  <a:srgbClr val="3C6295"/>
                </a:solidFill>
                <a:latin typeface="Open Sauce Bold"/>
                <a:ea typeface="Open Sauce Bold"/>
                <a:cs typeface="Open Sauce Bold"/>
                <a:sym typeface="Open Sauce Bold"/>
              </a:rPr>
              <a:t>Waskita</a:t>
            </a:r>
            <a:r>
              <a:rPr lang="en-US" sz="2328" b="1" dirty="0">
                <a:solidFill>
                  <a:srgbClr val="3C6295"/>
                </a:solidFill>
                <a:latin typeface="Open Sauce Bold"/>
                <a:ea typeface="Open Sauce Bold"/>
                <a:cs typeface="Open Sauce Bold"/>
                <a:sym typeface="Open Sauce Bold"/>
              </a:rPr>
              <a:t>, S.Si.,</a:t>
            </a:r>
            <a:r>
              <a:rPr lang="en-US" sz="2328" b="1" dirty="0" err="1">
                <a:solidFill>
                  <a:srgbClr val="3C6295"/>
                </a:solidFill>
                <a:latin typeface="Open Sauce Bold"/>
                <a:ea typeface="Open Sauce Bold"/>
                <a:cs typeface="Open Sauce Bold"/>
                <a:sym typeface="Open Sauce Bold"/>
              </a:rPr>
              <a:t>M.Si</a:t>
            </a:r>
            <a:endParaRPr lang="en-US" sz="2328" b="1" dirty="0">
              <a:solidFill>
                <a:srgbClr val="3C6295"/>
              </a:solidFill>
              <a:latin typeface="Open Sauce Bold"/>
              <a:ea typeface="Open Sauce Bold"/>
              <a:cs typeface="Open Sauce Bold"/>
              <a:sym typeface="Open Sauce Bold"/>
            </a:endParaRPr>
          </a:p>
          <a:p>
            <a:pPr algn="ctr">
              <a:lnSpc>
                <a:spcPts val="3260"/>
              </a:lnSpc>
              <a:spcBef>
                <a:spcPct val="0"/>
              </a:spcBef>
            </a:pPr>
            <a:endParaRPr lang="en-US" sz="2328" b="1" dirty="0">
              <a:solidFill>
                <a:srgbClr val="3C6295"/>
              </a:solidFill>
              <a:latin typeface="Open Sauce Bold"/>
              <a:ea typeface="Open Sauce Bold"/>
              <a:cs typeface="Open Sauce Bold"/>
              <a:sym typeface="Open Sauce Bold"/>
            </a:endParaRPr>
          </a:p>
        </p:txBody>
      </p:sp>
      <p:sp>
        <p:nvSpPr>
          <p:cNvPr id="12" name="TextBox 12"/>
          <p:cNvSpPr txBox="1"/>
          <p:nvPr/>
        </p:nvSpPr>
        <p:spPr>
          <a:xfrm>
            <a:off x="6315693" y="7665535"/>
            <a:ext cx="5854846" cy="697929"/>
          </a:xfrm>
          <a:prstGeom prst="rect">
            <a:avLst/>
          </a:prstGeom>
        </p:spPr>
        <p:txBody>
          <a:bodyPr lIns="0" tIns="0" rIns="0" bIns="0" rtlCol="0" anchor="t">
            <a:spAutoFit/>
          </a:bodyPr>
          <a:lstStyle/>
          <a:p>
            <a:pPr algn="ctr">
              <a:lnSpc>
                <a:spcPts val="5659"/>
              </a:lnSpc>
              <a:spcBef>
                <a:spcPct val="0"/>
              </a:spcBef>
            </a:pPr>
            <a:r>
              <a:rPr lang="en-US" sz="3600" b="1" dirty="0">
                <a:solidFill>
                  <a:srgbClr val="3C6295"/>
                </a:solidFill>
                <a:latin typeface="Archivo Narrow Bold"/>
                <a:ea typeface="Archivo Narrow Bold"/>
                <a:cs typeface="Archivo Narrow Bold"/>
                <a:sym typeface="Archivo Narrow Bold"/>
              </a:rPr>
              <a:t>231012050036</a:t>
            </a: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033559" flipV="1">
            <a:off x="1617035" y="-4923805"/>
            <a:ext cx="9848495" cy="18613993"/>
          </a:xfrm>
          <a:custGeom>
            <a:avLst/>
            <a:gdLst/>
            <a:ahLst/>
            <a:cxnLst/>
            <a:rect l="l" t="t" r="r" b="b"/>
            <a:pathLst>
              <a:path w="9848495" h="18613993">
                <a:moveTo>
                  <a:pt x="0" y="18613994"/>
                </a:moveTo>
                <a:lnTo>
                  <a:pt x="9848495" y="18613994"/>
                </a:lnTo>
                <a:lnTo>
                  <a:pt x="9848495" y="0"/>
                </a:lnTo>
                <a:lnTo>
                  <a:pt x="0" y="0"/>
                </a:lnTo>
                <a:lnTo>
                  <a:pt x="0" y="18613994"/>
                </a:lnTo>
                <a:close/>
              </a:path>
            </a:pathLst>
          </a:custGeom>
          <a:blipFill>
            <a:blip r:embed="rId3">
              <a:alphaModFix amt="7999"/>
              <a:extLst>
                <a:ext uri="{96DAC541-7B7A-43D3-8B79-37D633B846F1}">
                  <asvg:svgBlip xmlns:asvg="http://schemas.microsoft.com/office/drawing/2016/SVG/main" r:embed="rId4"/>
                </a:ext>
              </a:extLst>
            </a:blip>
            <a:stretch>
              <a:fillRect/>
            </a:stretch>
          </a:blipFill>
        </p:spPr>
      </p:sp>
      <p:grpSp>
        <p:nvGrpSpPr>
          <p:cNvPr id="3" name="Group 3"/>
          <p:cNvGrpSpPr/>
          <p:nvPr/>
        </p:nvGrpSpPr>
        <p:grpSpPr>
          <a:xfrm>
            <a:off x="0" y="9708804"/>
            <a:ext cx="9144000" cy="560871"/>
            <a:chOff x="0" y="0"/>
            <a:chExt cx="2408296" cy="147719"/>
          </a:xfrm>
        </p:grpSpPr>
        <p:sp>
          <p:nvSpPr>
            <p:cNvPr id="4" name="Freeform 4"/>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1800AD"/>
            </a:solidFill>
          </p:spPr>
        </p:sp>
        <p:sp>
          <p:nvSpPr>
            <p:cNvPr id="5" name="TextBox 5"/>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028700" y="2479309"/>
            <a:ext cx="8115300" cy="137058"/>
            <a:chOff x="0" y="0"/>
            <a:chExt cx="2137363" cy="36097"/>
          </a:xfrm>
        </p:grpSpPr>
        <p:sp>
          <p:nvSpPr>
            <p:cNvPr id="7" name="Freeform 7"/>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FFDE59"/>
            </a:solidFill>
          </p:spPr>
        </p:sp>
        <p:sp>
          <p:nvSpPr>
            <p:cNvPr id="8" name="TextBox 8"/>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9144000" y="2479309"/>
            <a:ext cx="8115300" cy="137058"/>
            <a:chOff x="0" y="0"/>
            <a:chExt cx="2137363" cy="36097"/>
          </a:xfrm>
        </p:grpSpPr>
        <p:sp>
          <p:nvSpPr>
            <p:cNvPr id="10" name="Freeform 10"/>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1800AD"/>
            </a:solidFill>
          </p:spPr>
        </p:sp>
        <p:sp>
          <p:nvSpPr>
            <p:cNvPr id="11" name="TextBox 11"/>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sp>
        <p:nvSpPr>
          <p:cNvPr id="12" name="Freeform 12"/>
          <p:cNvSpPr/>
          <p:nvPr/>
        </p:nvSpPr>
        <p:spPr>
          <a:xfrm>
            <a:off x="1028700" y="2729780"/>
            <a:ext cx="7684248" cy="4064375"/>
          </a:xfrm>
          <a:custGeom>
            <a:avLst/>
            <a:gdLst/>
            <a:ahLst/>
            <a:cxnLst/>
            <a:rect l="l" t="t" r="r" b="b"/>
            <a:pathLst>
              <a:path w="7684248" h="4064375">
                <a:moveTo>
                  <a:pt x="0" y="0"/>
                </a:moveTo>
                <a:lnTo>
                  <a:pt x="7684248" y="0"/>
                </a:lnTo>
                <a:lnTo>
                  <a:pt x="7684248" y="4064375"/>
                </a:lnTo>
                <a:lnTo>
                  <a:pt x="0" y="4064375"/>
                </a:lnTo>
                <a:lnTo>
                  <a:pt x="0" y="0"/>
                </a:lnTo>
                <a:close/>
              </a:path>
            </a:pathLst>
          </a:custGeom>
          <a:blipFill>
            <a:blip r:embed="rId5"/>
            <a:stretch>
              <a:fillRect t="-17748" b="-8215"/>
            </a:stretch>
          </a:blipFill>
        </p:spPr>
      </p:sp>
      <p:sp>
        <p:nvSpPr>
          <p:cNvPr id="13" name="Freeform 13"/>
          <p:cNvSpPr/>
          <p:nvPr/>
        </p:nvSpPr>
        <p:spPr>
          <a:xfrm>
            <a:off x="15487240" y="516545"/>
            <a:ext cx="1664226" cy="1616285"/>
          </a:xfrm>
          <a:custGeom>
            <a:avLst/>
            <a:gdLst/>
            <a:ahLst/>
            <a:cxnLst/>
            <a:rect l="l" t="t" r="r" b="b"/>
            <a:pathLst>
              <a:path w="1664226" h="1616285">
                <a:moveTo>
                  <a:pt x="0" y="0"/>
                </a:moveTo>
                <a:lnTo>
                  <a:pt x="1664226" y="0"/>
                </a:lnTo>
                <a:lnTo>
                  <a:pt x="1664226" y="1616285"/>
                </a:lnTo>
                <a:lnTo>
                  <a:pt x="0" y="1616285"/>
                </a:lnTo>
                <a:lnTo>
                  <a:pt x="0" y="0"/>
                </a:lnTo>
                <a:close/>
              </a:path>
            </a:pathLst>
          </a:custGeom>
          <a:blipFill>
            <a:blip r:embed="rId6"/>
            <a:stretch>
              <a:fillRect/>
            </a:stretch>
          </a:blipFill>
        </p:spPr>
      </p:sp>
      <p:grpSp>
        <p:nvGrpSpPr>
          <p:cNvPr id="14" name="Group 14"/>
          <p:cNvGrpSpPr/>
          <p:nvPr/>
        </p:nvGrpSpPr>
        <p:grpSpPr>
          <a:xfrm>
            <a:off x="10355839" y="4397077"/>
            <a:ext cx="6903461" cy="1228734"/>
            <a:chOff x="0" y="0"/>
            <a:chExt cx="2330355" cy="414776"/>
          </a:xfrm>
        </p:grpSpPr>
        <p:sp>
          <p:nvSpPr>
            <p:cNvPr id="15" name="Freeform 15"/>
            <p:cNvSpPr/>
            <p:nvPr/>
          </p:nvSpPr>
          <p:spPr>
            <a:xfrm>
              <a:off x="0" y="0"/>
              <a:ext cx="2330355" cy="414776"/>
            </a:xfrm>
            <a:custGeom>
              <a:avLst/>
              <a:gdLst/>
              <a:ahLst/>
              <a:cxnLst/>
              <a:rect l="l" t="t" r="r" b="b"/>
              <a:pathLst>
                <a:path w="2330355" h="414776">
                  <a:moveTo>
                    <a:pt x="45980" y="0"/>
                  </a:moveTo>
                  <a:lnTo>
                    <a:pt x="2284376" y="0"/>
                  </a:lnTo>
                  <a:cubicBezTo>
                    <a:pt x="2296570" y="0"/>
                    <a:pt x="2308266" y="4844"/>
                    <a:pt x="2316888" y="13467"/>
                  </a:cubicBezTo>
                  <a:cubicBezTo>
                    <a:pt x="2325511" y="22090"/>
                    <a:pt x="2330355" y="33785"/>
                    <a:pt x="2330355" y="45980"/>
                  </a:cubicBezTo>
                  <a:lnTo>
                    <a:pt x="2330355" y="368796"/>
                  </a:lnTo>
                  <a:cubicBezTo>
                    <a:pt x="2330355" y="380991"/>
                    <a:pt x="2325511" y="392686"/>
                    <a:pt x="2316888" y="401309"/>
                  </a:cubicBezTo>
                  <a:cubicBezTo>
                    <a:pt x="2308266" y="409931"/>
                    <a:pt x="2296570" y="414776"/>
                    <a:pt x="2284376" y="414776"/>
                  </a:cubicBezTo>
                  <a:lnTo>
                    <a:pt x="45980" y="414776"/>
                  </a:lnTo>
                  <a:cubicBezTo>
                    <a:pt x="20586" y="414776"/>
                    <a:pt x="0" y="394190"/>
                    <a:pt x="0" y="368796"/>
                  </a:cubicBezTo>
                  <a:lnTo>
                    <a:pt x="0" y="45980"/>
                  </a:lnTo>
                  <a:cubicBezTo>
                    <a:pt x="0" y="33785"/>
                    <a:pt x="4844" y="22090"/>
                    <a:pt x="13467" y="13467"/>
                  </a:cubicBezTo>
                  <a:cubicBezTo>
                    <a:pt x="22090" y="4844"/>
                    <a:pt x="33785" y="0"/>
                    <a:pt x="45980" y="0"/>
                  </a:cubicBezTo>
                  <a:close/>
                </a:path>
              </a:pathLst>
            </a:custGeom>
            <a:gradFill rotWithShape="1">
              <a:gsLst>
                <a:gs pos="0">
                  <a:srgbClr val="000000">
                    <a:alpha val="100000"/>
                  </a:srgbClr>
                </a:gs>
                <a:gs pos="100000">
                  <a:srgbClr val="3533CD">
                    <a:alpha val="100000"/>
                  </a:srgbClr>
                </a:gs>
              </a:gsLst>
              <a:lin ang="0"/>
            </a:gradFill>
          </p:spPr>
        </p:sp>
        <p:sp>
          <p:nvSpPr>
            <p:cNvPr id="16" name="TextBox 16"/>
            <p:cNvSpPr txBox="1"/>
            <p:nvPr/>
          </p:nvSpPr>
          <p:spPr>
            <a:xfrm>
              <a:off x="0" y="-47625"/>
              <a:ext cx="2330355" cy="462401"/>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10355839" y="2664890"/>
            <a:ext cx="6903461" cy="1513113"/>
            <a:chOff x="0" y="0"/>
            <a:chExt cx="2336122" cy="512035"/>
          </a:xfrm>
        </p:grpSpPr>
        <p:sp>
          <p:nvSpPr>
            <p:cNvPr id="18" name="Freeform 18"/>
            <p:cNvSpPr/>
            <p:nvPr/>
          </p:nvSpPr>
          <p:spPr>
            <a:xfrm>
              <a:off x="0" y="0"/>
              <a:ext cx="2336122" cy="512035"/>
            </a:xfrm>
            <a:custGeom>
              <a:avLst/>
              <a:gdLst/>
              <a:ahLst/>
              <a:cxnLst/>
              <a:rect l="l" t="t" r="r" b="b"/>
              <a:pathLst>
                <a:path w="2336122" h="512035">
                  <a:moveTo>
                    <a:pt x="45980" y="0"/>
                  </a:moveTo>
                  <a:lnTo>
                    <a:pt x="2290142" y="0"/>
                  </a:lnTo>
                  <a:cubicBezTo>
                    <a:pt x="2302337" y="0"/>
                    <a:pt x="2314032" y="4844"/>
                    <a:pt x="2322655" y="13467"/>
                  </a:cubicBezTo>
                  <a:cubicBezTo>
                    <a:pt x="2331278" y="22090"/>
                    <a:pt x="2336122" y="33785"/>
                    <a:pt x="2336122" y="45980"/>
                  </a:cubicBezTo>
                  <a:lnTo>
                    <a:pt x="2336122" y="466056"/>
                  </a:lnTo>
                  <a:cubicBezTo>
                    <a:pt x="2336122" y="491450"/>
                    <a:pt x="2315536" y="512035"/>
                    <a:pt x="2290142" y="512035"/>
                  </a:cubicBezTo>
                  <a:lnTo>
                    <a:pt x="45980" y="512035"/>
                  </a:lnTo>
                  <a:cubicBezTo>
                    <a:pt x="33785" y="512035"/>
                    <a:pt x="22090" y="507191"/>
                    <a:pt x="13467" y="498568"/>
                  </a:cubicBezTo>
                  <a:cubicBezTo>
                    <a:pt x="4844" y="489945"/>
                    <a:pt x="0" y="478250"/>
                    <a:pt x="0" y="466056"/>
                  </a:cubicBezTo>
                  <a:lnTo>
                    <a:pt x="0" y="45980"/>
                  </a:lnTo>
                  <a:cubicBezTo>
                    <a:pt x="0" y="33785"/>
                    <a:pt x="4844" y="22090"/>
                    <a:pt x="13467" y="13467"/>
                  </a:cubicBezTo>
                  <a:cubicBezTo>
                    <a:pt x="22090" y="4844"/>
                    <a:pt x="33785" y="0"/>
                    <a:pt x="45980" y="0"/>
                  </a:cubicBezTo>
                  <a:close/>
                </a:path>
              </a:pathLst>
            </a:custGeom>
            <a:gradFill rotWithShape="1">
              <a:gsLst>
                <a:gs pos="0">
                  <a:srgbClr val="000000">
                    <a:alpha val="100000"/>
                  </a:srgbClr>
                </a:gs>
                <a:gs pos="100000">
                  <a:srgbClr val="3432C7">
                    <a:alpha val="100000"/>
                  </a:srgbClr>
                </a:gs>
              </a:gsLst>
              <a:lin ang="16200000"/>
            </a:gradFill>
          </p:spPr>
        </p:sp>
        <p:sp>
          <p:nvSpPr>
            <p:cNvPr id="19" name="TextBox 19"/>
            <p:cNvSpPr txBox="1"/>
            <p:nvPr/>
          </p:nvSpPr>
          <p:spPr>
            <a:xfrm>
              <a:off x="0" y="-47625"/>
              <a:ext cx="2336122" cy="559660"/>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a:off x="10355839" y="7520733"/>
            <a:ext cx="6903461" cy="1415475"/>
            <a:chOff x="0" y="0"/>
            <a:chExt cx="2075061" cy="425467"/>
          </a:xfrm>
        </p:grpSpPr>
        <p:sp>
          <p:nvSpPr>
            <p:cNvPr id="21" name="Freeform 21"/>
            <p:cNvSpPr/>
            <p:nvPr/>
          </p:nvSpPr>
          <p:spPr>
            <a:xfrm>
              <a:off x="0" y="0"/>
              <a:ext cx="2075061" cy="425467"/>
            </a:xfrm>
            <a:custGeom>
              <a:avLst/>
              <a:gdLst/>
              <a:ahLst/>
              <a:cxnLst/>
              <a:rect l="l" t="t" r="r" b="b"/>
              <a:pathLst>
                <a:path w="2075061" h="425467">
                  <a:moveTo>
                    <a:pt x="45980" y="0"/>
                  </a:moveTo>
                  <a:lnTo>
                    <a:pt x="2029081" y="0"/>
                  </a:lnTo>
                  <a:cubicBezTo>
                    <a:pt x="2041276" y="0"/>
                    <a:pt x="2052971" y="4844"/>
                    <a:pt x="2061594" y="13467"/>
                  </a:cubicBezTo>
                  <a:cubicBezTo>
                    <a:pt x="2070216" y="22090"/>
                    <a:pt x="2075061" y="33785"/>
                    <a:pt x="2075061" y="45980"/>
                  </a:cubicBezTo>
                  <a:lnTo>
                    <a:pt x="2075061" y="379488"/>
                  </a:lnTo>
                  <a:cubicBezTo>
                    <a:pt x="2075061" y="391682"/>
                    <a:pt x="2070216" y="403377"/>
                    <a:pt x="2061594" y="412000"/>
                  </a:cubicBezTo>
                  <a:cubicBezTo>
                    <a:pt x="2052971" y="420623"/>
                    <a:pt x="2041276" y="425467"/>
                    <a:pt x="2029081" y="425467"/>
                  </a:cubicBezTo>
                  <a:lnTo>
                    <a:pt x="45980" y="425467"/>
                  </a:lnTo>
                  <a:cubicBezTo>
                    <a:pt x="20586" y="425467"/>
                    <a:pt x="0" y="404882"/>
                    <a:pt x="0" y="379488"/>
                  </a:cubicBezTo>
                  <a:lnTo>
                    <a:pt x="0" y="45980"/>
                  </a:lnTo>
                  <a:cubicBezTo>
                    <a:pt x="0" y="33785"/>
                    <a:pt x="4844" y="22090"/>
                    <a:pt x="13467" y="13467"/>
                  </a:cubicBezTo>
                  <a:cubicBezTo>
                    <a:pt x="22090" y="4844"/>
                    <a:pt x="33785" y="0"/>
                    <a:pt x="45980" y="0"/>
                  </a:cubicBezTo>
                  <a:close/>
                </a:path>
              </a:pathLst>
            </a:custGeom>
            <a:gradFill rotWithShape="1">
              <a:gsLst>
                <a:gs pos="0">
                  <a:srgbClr val="000000">
                    <a:alpha val="100000"/>
                  </a:srgbClr>
                </a:gs>
                <a:gs pos="100000">
                  <a:srgbClr val="3533CD">
                    <a:alpha val="100000"/>
                  </a:srgbClr>
                </a:gs>
              </a:gsLst>
              <a:lin ang="0"/>
            </a:gradFill>
            <a:ln w="38100" cap="rnd">
              <a:solidFill>
                <a:srgbClr val="FFDE59"/>
              </a:solidFill>
              <a:prstDash val="solid"/>
              <a:round/>
            </a:ln>
          </p:spPr>
        </p:sp>
        <p:sp>
          <p:nvSpPr>
            <p:cNvPr id="22" name="TextBox 22"/>
            <p:cNvSpPr txBox="1"/>
            <p:nvPr/>
          </p:nvSpPr>
          <p:spPr>
            <a:xfrm>
              <a:off x="0" y="-47625"/>
              <a:ext cx="2075061" cy="473092"/>
            </a:xfrm>
            <a:prstGeom prst="rect">
              <a:avLst/>
            </a:prstGeom>
          </p:spPr>
          <p:txBody>
            <a:bodyPr lIns="50800" tIns="50800" rIns="50800" bIns="50800" rtlCol="0" anchor="ctr"/>
            <a:lstStyle/>
            <a:p>
              <a:pPr algn="ctr">
                <a:lnSpc>
                  <a:spcPts val="2659"/>
                </a:lnSpc>
              </a:pPr>
              <a:endParaRPr/>
            </a:p>
          </p:txBody>
        </p:sp>
      </p:grpSp>
      <p:grpSp>
        <p:nvGrpSpPr>
          <p:cNvPr id="23" name="Group 23"/>
          <p:cNvGrpSpPr/>
          <p:nvPr/>
        </p:nvGrpSpPr>
        <p:grpSpPr>
          <a:xfrm>
            <a:off x="10355839" y="6016337"/>
            <a:ext cx="6903461" cy="1228171"/>
            <a:chOff x="0" y="0"/>
            <a:chExt cx="2391521" cy="425467"/>
          </a:xfrm>
        </p:grpSpPr>
        <p:sp>
          <p:nvSpPr>
            <p:cNvPr id="24" name="Freeform 24"/>
            <p:cNvSpPr/>
            <p:nvPr/>
          </p:nvSpPr>
          <p:spPr>
            <a:xfrm>
              <a:off x="0" y="0"/>
              <a:ext cx="2391520" cy="425467"/>
            </a:xfrm>
            <a:custGeom>
              <a:avLst/>
              <a:gdLst/>
              <a:ahLst/>
              <a:cxnLst/>
              <a:rect l="l" t="t" r="r" b="b"/>
              <a:pathLst>
                <a:path w="2391520" h="425467">
                  <a:moveTo>
                    <a:pt x="45980" y="0"/>
                  </a:moveTo>
                  <a:lnTo>
                    <a:pt x="2345541" y="0"/>
                  </a:lnTo>
                  <a:cubicBezTo>
                    <a:pt x="2370935" y="0"/>
                    <a:pt x="2391520" y="20586"/>
                    <a:pt x="2391520" y="45980"/>
                  </a:cubicBezTo>
                  <a:lnTo>
                    <a:pt x="2391520" y="379488"/>
                  </a:lnTo>
                  <a:cubicBezTo>
                    <a:pt x="2391520" y="391682"/>
                    <a:pt x="2386676" y="403377"/>
                    <a:pt x="2378053" y="412000"/>
                  </a:cubicBezTo>
                  <a:cubicBezTo>
                    <a:pt x="2369431" y="420623"/>
                    <a:pt x="2357735" y="425467"/>
                    <a:pt x="2345541" y="425467"/>
                  </a:cubicBezTo>
                  <a:lnTo>
                    <a:pt x="45980" y="425467"/>
                  </a:lnTo>
                  <a:cubicBezTo>
                    <a:pt x="20586" y="425467"/>
                    <a:pt x="0" y="404882"/>
                    <a:pt x="0" y="379488"/>
                  </a:cubicBezTo>
                  <a:lnTo>
                    <a:pt x="0" y="45980"/>
                  </a:lnTo>
                  <a:cubicBezTo>
                    <a:pt x="0" y="33785"/>
                    <a:pt x="4844" y="22090"/>
                    <a:pt x="13467" y="13467"/>
                  </a:cubicBezTo>
                  <a:cubicBezTo>
                    <a:pt x="22090" y="4844"/>
                    <a:pt x="33785" y="0"/>
                    <a:pt x="45980" y="0"/>
                  </a:cubicBezTo>
                  <a:close/>
                </a:path>
              </a:pathLst>
            </a:custGeom>
            <a:gradFill rotWithShape="1">
              <a:gsLst>
                <a:gs pos="0">
                  <a:srgbClr val="000000">
                    <a:alpha val="100000"/>
                  </a:srgbClr>
                </a:gs>
                <a:gs pos="100000">
                  <a:srgbClr val="3533CD">
                    <a:alpha val="100000"/>
                  </a:srgbClr>
                </a:gs>
              </a:gsLst>
              <a:lin ang="0"/>
            </a:gradFill>
          </p:spPr>
        </p:sp>
        <p:sp>
          <p:nvSpPr>
            <p:cNvPr id="25" name="TextBox 25"/>
            <p:cNvSpPr txBox="1"/>
            <p:nvPr/>
          </p:nvSpPr>
          <p:spPr>
            <a:xfrm>
              <a:off x="0" y="-47625"/>
              <a:ext cx="2391521" cy="473092"/>
            </a:xfrm>
            <a:prstGeom prst="rect">
              <a:avLst/>
            </a:prstGeom>
          </p:spPr>
          <p:txBody>
            <a:bodyPr lIns="50800" tIns="50800" rIns="50800" bIns="50800" rtlCol="0" anchor="ctr"/>
            <a:lstStyle/>
            <a:p>
              <a:pPr algn="ctr">
                <a:lnSpc>
                  <a:spcPts val="2659"/>
                </a:lnSpc>
              </a:pPr>
              <a:endParaRPr/>
            </a:p>
          </p:txBody>
        </p:sp>
      </p:grpSp>
      <p:sp>
        <p:nvSpPr>
          <p:cNvPr id="26" name="Freeform 26"/>
          <p:cNvSpPr/>
          <p:nvPr/>
        </p:nvSpPr>
        <p:spPr>
          <a:xfrm>
            <a:off x="1028700" y="6832255"/>
            <a:ext cx="3700572" cy="1543092"/>
          </a:xfrm>
          <a:custGeom>
            <a:avLst/>
            <a:gdLst/>
            <a:ahLst/>
            <a:cxnLst/>
            <a:rect l="l" t="t" r="r" b="b"/>
            <a:pathLst>
              <a:path w="3700572" h="1543092">
                <a:moveTo>
                  <a:pt x="0" y="0"/>
                </a:moveTo>
                <a:lnTo>
                  <a:pt x="3700572" y="0"/>
                </a:lnTo>
                <a:lnTo>
                  <a:pt x="3700572" y="1543092"/>
                </a:lnTo>
                <a:lnTo>
                  <a:pt x="0" y="1543092"/>
                </a:lnTo>
                <a:lnTo>
                  <a:pt x="0" y="0"/>
                </a:lnTo>
                <a:close/>
              </a:path>
            </a:pathLst>
          </a:custGeom>
          <a:blipFill>
            <a:blip r:embed="rId7"/>
            <a:stretch>
              <a:fillRect r="-29648"/>
            </a:stretch>
          </a:blipFill>
        </p:spPr>
      </p:sp>
      <p:sp>
        <p:nvSpPr>
          <p:cNvPr id="27" name="Freeform 27"/>
          <p:cNvSpPr/>
          <p:nvPr/>
        </p:nvSpPr>
        <p:spPr>
          <a:xfrm>
            <a:off x="5080191" y="6832255"/>
            <a:ext cx="3632756" cy="1554408"/>
          </a:xfrm>
          <a:custGeom>
            <a:avLst/>
            <a:gdLst/>
            <a:ahLst/>
            <a:cxnLst/>
            <a:rect l="l" t="t" r="r" b="b"/>
            <a:pathLst>
              <a:path w="3632756" h="1554408">
                <a:moveTo>
                  <a:pt x="0" y="0"/>
                </a:moveTo>
                <a:lnTo>
                  <a:pt x="3632757" y="0"/>
                </a:lnTo>
                <a:lnTo>
                  <a:pt x="3632757" y="1554407"/>
                </a:lnTo>
                <a:lnTo>
                  <a:pt x="0" y="1554407"/>
                </a:lnTo>
                <a:lnTo>
                  <a:pt x="0" y="0"/>
                </a:lnTo>
                <a:close/>
              </a:path>
            </a:pathLst>
          </a:custGeom>
          <a:blipFill>
            <a:blip r:embed="rId8"/>
            <a:stretch>
              <a:fillRect l="-16518" r="-16518"/>
            </a:stretch>
          </a:blipFill>
        </p:spPr>
      </p:sp>
      <p:grpSp>
        <p:nvGrpSpPr>
          <p:cNvPr id="28" name="Group 28"/>
          <p:cNvGrpSpPr/>
          <p:nvPr/>
        </p:nvGrpSpPr>
        <p:grpSpPr>
          <a:xfrm>
            <a:off x="9144000" y="9708804"/>
            <a:ext cx="9144000" cy="560871"/>
            <a:chOff x="0" y="0"/>
            <a:chExt cx="2408296" cy="147719"/>
          </a:xfrm>
        </p:grpSpPr>
        <p:sp>
          <p:nvSpPr>
            <p:cNvPr id="29" name="Freeform 29"/>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FFDE59"/>
            </a:solidFill>
          </p:spPr>
        </p:sp>
        <p:sp>
          <p:nvSpPr>
            <p:cNvPr id="30" name="TextBox 30"/>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sp>
        <p:nvSpPr>
          <p:cNvPr id="31" name="Freeform 31"/>
          <p:cNvSpPr/>
          <p:nvPr/>
        </p:nvSpPr>
        <p:spPr>
          <a:xfrm>
            <a:off x="9144000" y="5984215"/>
            <a:ext cx="1138016" cy="1138016"/>
          </a:xfrm>
          <a:custGeom>
            <a:avLst/>
            <a:gdLst/>
            <a:ahLst/>
            <a:cxnLst/>
            <a:rect l="l" t="t" r="r" b="b"/>
            <a:pathLst>
              <a:path w="1138016" h="1138016">
                <a:moveTo>
                  <a:pt x="0" y="0"/>
                </a:moveTo>
                <a:lnTo>
                  <a:pt x="1138016" y="0"/>
                </a:lnTo>
                <a:lnTo>
                  <a:pt x="1138016" y="1138016"/>
                </a:lnTo>
                <a:lnTo>
                  <a:pt x="0" y="113801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32" name="Freeform 32"/>
          <p:cNvSpPr/>
          <p:nvPr/>
        </p:nvSpPr>
        <p:spPr>
          <a:xfrm>
            <a:off x="9137362" y="7708747"/>
            <a:ext cx="1029460" cy="1103709"/>
          </a:xfrm>
          <a:custGeom>
            <a:avLst/>
            <a:gdLst/>
            <a:ahLst/>
            <a:cxnLst/>
            <a:rect l="l" t="t" r="r" b="b"/>
            <a:pathLst>
              <a:path w="1029460" h="1103709">
                <a:moveTo>
                  <a:pt x="0" y="0"/>
                </a:moveTo>
                <a:lnTo>
                  <a:pt x="1029459" y="0"/>
                </a:lnTo>
                <a:lnTo>
                  <a:pt x="1029459" y="1103709"/>
                </a:lnTo>
                <a:lnTo>
                  <a:pt x="0" y="1103709"/>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33" name="Freeform 33"/>
          <p:cNvSpPr/>
          <p:nvPr/>
        </p:nvSpPr>
        <p:spPr>
          <a:xfrm>
            <a:off x="9144000" y="2823729"/>
            <a:ext cx="1038944" cy="1021943"/>
          </a:xfrm>
          <a:custGeom>
            <a:avLst/>
            <a:gdLst/>
            <a:ahLst/>
            <a:cxnLst/>
            <a:rect l="l" t="t" r="r" b="b"/>
            <a:pathLst>
              <a:path w="1038944" h="1021943">
                <a:moveTo>
                  <a:pt x="0" y="0"/>
                </a:moveTo>
                <a:lnTo>
                  <a:pt x="1038944" y="0"/>
                </a:lnTo>
                <a:lnTo>
                  <a:pt x="1038944" y="1021943"/>
                </a:lnTo>
                <a:lnTo>
                  <a:pt x="0" y="1021943"/>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34" name="Freeform 34"/>
          <p:cNvSpPr/>
          <p:nvPr/>
        </p:nvSpPr>
        <p:spPr>
          <a:xfrm>
            <a:off x="9160123" y="4432187"/>
            <a:ext cx="1000060" cy="965513"/>
          </a:xfrm>
          <a:custGeom>
            <a:avLst/>
            <a:gdLst/>
            <a:ahLst/>
            <a:cxnLst/>
            <a:rect l="l" t="t" r="r" b="b"/>
            <a:pathLst>
              <a:path w="1000060" h="965513">
                <a:moveTo>
                  <a:pt x="0" y="0"/>
                </a:moveTo>
                <a:lnTo>
                  <a:pt x="1000060" y="0"/>
                </a:lnTo>
                <a:lnTo>
                  <a:pt x="1000060" y="965513"/>
                </a:lnTo>
                <a:lnTo>
                  <a:pt x="0" y="965513"/>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35" name="TextBox 35"/>
          <p:cNvSpPr txBox="1"/>
          <p:nvPr/>
        </p:nvSpPr>
        <p:spPr>
          <a:xfrm>
            <a:off x="1028700" y="215814"/>
            <a:ext cx="6360073" cy="812886"/>
          </a:xfrm>
          <a:prstGeom prst="rect">
            <a:avLst/>
          </a:prstGeom>
        </p:spPr>
        <p:txBody>
          <a:bodyPr lIns="0" tIns="0" rIns="0" bIns="0" rtlCol="0" anchor="t">
            <a:spAutoFit/>
          </a:bodyPr>
          <a:lstStyle/>
          <a:p>
            <a:pPr algn="l">
              <a:lnSpc>
                <a:spcPts val="6645"/>
              </a:lnSpc>
              <a:spcBef>
                <a:spcPct val="0"/>
              </a:spcBef>
            </a:pPr>
            <a:r>
              <a:rPr lang="en-US" sz="4746" b="1">
                <a:solidFill>
                  <a:srgbClr val="FF751F"/>
                </a:solidFill>
                <a:latin typeface="Montserrat Bold"/>
                <a:ea typeface="Montserrat Bold"/>
                <a:cs typeface="Montserrat Bold"/>
                <a:sym typeface="Montserrat Bold"/>
              </a:rPr>
              <a:t>01 | Latar Belakang</a:t>
            </a:r>
          </a:p>
        </p:txBody>
      </p:sp>
      <p:sp>
        <p:nvSpPr>
          <p:cNvPr id="36" name="TextBox 36"/>
          <p:cNvSpPr txBox="1"/>
          <p:nvPr/>
        </p:nvSpPr>
        <p:spPr>
          <a:xfrm>
            <a:off x="11985570" y="4611073"/>
            <a:ext cx="3654391" cy="962343"/>
          </a:xfrm>
          <a:prstGeom prst="rect">
            <a:avLst/>
          </a:prstGeom>
        </p:spPr>
        <p:txBody>
          <a:bodyPr lIns="0" tIns="0" rIns="0" bIns="0" rtlCol="0" anchor="t">
            <a:spAutoFit/>
          </a:bodyPr>
          <a:lstStyle/>
          <a:p>
            <a:pPr algn="ctr">
              <a:lnSpc>
                <a:spcPts val="2607"/>
              </a:lnSpc>
            </a:pPr>
            <a:r>
              <a:rPr lang="en-US" sz="1862" b="1" dirty="0">
                <a:solidFill>
                  <a:srgbClr val="FF751F"/>
                </a:solidFill>
                <a:latin typeface="Canva Sans Bold"/>
                <a:ea typeface="Canva Sans Bold"/>
                <a:cs typeface="Canva Sans Bold"/>
                <a:sym typeface="Canva Sans Bold"/>
              </a:rPr>
              <a:t>Teks Al-Qur’an </a:t>
            </a:r>
            <a:r>
              <a:rPr lang="en-US" sz="1862" b="1" dirty="0" err="1">
                <a:solidFill>
                  <a:srgbClr val="FF751F"/>
                </a:solidFill>
                <a:latin typeface="Canva Sans Bold"/>
                <a:ea typeface="Canva Sans Bold"/>
                <a:cs typeface="Canva Sans Bold"/>
                <a:sym typeface="Canva Sans Bold"/>
              </a:rPr>
              <a:t>kompleks</a:t>
            </a:r>
            <a:r>
              <a:rPr lang="en-US" sz="1862" b="1" dirty="0">
                <a:solidFill>
                  <a:srgbClr val="FF751F"/>
                </a:solidFill>
                <a:latin typeface="Canva Sans Bold"/>
                <a:ea typeface="Canva Sans Bold"/>
                <a:cs typeface="Canva Sans Bold"/>
                <a:sym typeface="Canva Sans Bold"/>
              </a:rPr>
              <a:t> dan </a:t>
            </a:r>
            <a:r>
              <a:rPr lang="en-US" sz="1862" b="1" dirty="0" err="1">
                <a:solidFill>
                  <a:srgbClr val="FF751F"/>
                </a:solidFill>
                <a:latin typeface="Canva Sans Bold"/>
                <a:ea typeface="Canva Sans Bold"/>
                <a:cs typeface="Canva Sans Bold"/>
                <a:sym typeface="Canva Sans Bold"/>
              </a:rPr>
              <a:t>kontekstual</a:t>
            </a:r>
            <a:endParaRPr lang="en-US" sz="1862" b="1" dirty="0">
              <a:solidFill>
                <a:srgbClr val="FF751F"/>
              </a:solidFill>
              <a:latin typeface="Canva Sans Bold"/>
              <a:ea typeface="Canva Sans Bold"/>
              <a:cs typeface="Canva Sans Bold"/>
              <a:sym typeface="Canva Sans Bold"/>
            </a:endParaRPr>
          </a:p>
          <a:p>
            <a:pPr algn="ctr">
              <a:lnSpc>
                <a:spcPts val="2607"/>
              </a:lnSpc>
            </a:pPr>
            <a:endParaRPr lang="en-US" sz="1862" b="1" dirty="0">
              <a:solidFill>
                <a:srgbClr val="FF751F"/>
              </a:solidFill>
              <a:latin typeface="Canva Sans Bold"/>
              <a:ea typeface="Canva Sans Bold"/>
              <a:cs typeface="Canva Sans Bold"/>
              <a:sym typeface="Canva Sans Bold"/>
            </a:endParaRPr>
          </a:p>
        </p:txBody>
      </p:sp>
      <p:sp>
        <p:nvSpPr>
          <p:cNvPr id="37" name="TextBox 37"/>
          <p:cNvSpPr txBox="1"/>
          <p:nvPr/>
        </p:nvSpPr>
        <p:spPr>
          <a:xfrm>
            <a:off x="10586074" y="2805388"/>
            <a:ext cx="6453382" cy="1203541"/>
          </a:xfrm>
          <a:prstGeom prst="rect">
            <a:avLst/>
          </a:prstGeom>
        </p:spPr>
        <p:txBody>
          <a:bodyPr lIns="0" tIns="0" rIns="0" bIns="0" rtlCol="0" anchor="t">
            <a:spAutoFit/>
          </a:bodyPr>
          <a:lstStyle/>
          <a:p>
            <a:pPr algn="ctr">
              <a:lnSpc>
                <a:spcPts val="2438"/>
              </a:lnSpc>
            </a:pPr>
            <a:r>
              <a:rPr lang="en-US" sz="1741" b="1" dirty="0" err="1">
                <a:solidFill>
                  <a:srgbClr val="FF751F"/>
                </a:solidFill>
                <a:latin typeface="Canva Sans Bold"/>
                <a:ea typeface="Canva Sans Bold"/>
                <a:cs typeface="Canva Sans Bold"/>
                <a:sym typeface="Canva Sans Bold"/>
              </a:rPr>
              <a:t>Pemodelan</a:t>
            </a:r>
            <a:r>
              <a:rPr lang="en-US" sz="1741" b="1" dirty="0">
                <a:solidFill>
                  <a:srgbClr val="FF751F"/>
                </a:solidFill>
                <a:latin typeface="Canva Sans Bold"/>
                <a:ea typeface="Canva Sans Bold"/>
                <a:cs typeface="Canva Sans Bold"/>
                <a:sym typeface="Canva Sans Bold"/>
              </a:rPr>
              <a:t> </a:t>
            </a:r>
            <a:r>
              <a:rPr lang="en-US" sz="1741" b="1" dirty="0" err="1">
                <a:solidFill>
                  <a:srgbClr val="FF751F"/>
                </a:solidFill>
                <a:latin typeface="Canva Sans Bold"/>
                <a:ea typeface="Canva Sans Bold"/>
                <a:cs typeface="Canva Sans Bold"/>
                <a:sym typeface="Canva Sans Bold"/>
              </a:rPr>
              <a:t>topik</a:t>
            </a:r>
            <a:r>
              <a:rPr lang="en-US" sz="1741" b="1" dirty="0">
                <a:solidFill>
                  <a:srgbClr val="FF751F"/>
                </a:solidFill>
                <a:latin typeface="Canva Sans Bold"/>
                <a:ea typeface="Canva Sans Bold"/>
                <a:cs typeface="Canva Sans Bold"/>
                <a:sym typeface="Canva Sans Bold"/>
              </a:rPr>
              <a:t> </a:t>
            </a:r>
            <a:r>
              <a:rPr lang="en-US" sz="1741" b="1" dirty="0" err="1">
                <a:solidFill>
                  <a:srgbClr val="FF751F"/>
                </a:solidFill>
                <a:latin typeface="Canva Sans Bold"/>
                <a:ea typeface="Canva Sans Bold"/>
                <a:cs typeface="Canva Sans Bold"/>
                <a:sym typeface="Canva Sans Bold"/>
              </a:rPr>
              <a:t>merupakan</a:t>
            </a:r>
            <a:r>
              <a:rPr lang="en-US" sz="1741" b="1" dirty="0">
                <a:solidFill>
                  <a:srgbClr val="FF751F"/>
                </a:solidFill>
                <a:latin typeface="Canva Sans Bold"/>
                <a:ea typeface="Canva Sans Bold"/>
                <a:cs typeface="Canva Sans Bold"/>
                <a:sym typeface="Canva Sans Bold"/>
              </a:rPr>
              <a:t> </a:t>
            </a:r>
            <a:r>
              <a:rPr lang="en-US" sz="1741" b="1" dirty="0" err="1">
                <a:solidFill>
                  <a:srgbClr val="FF751F"/>
                </a:solidFill>
                <a:latin typeface="Canva Sans Bold"/>
                <a:ea typeface="Canva Sans Bold"/>
                <a:cs typeface="Canva Sans Bold"/>
                <a:sym typeface="Canva Sans Bold"/>
              </a:rPr>
              <a:t>pendekatan</a:t>
            </a:r>
            <a:r>
              <a:rPr lang="en-US" sz="1741" b="1" dirty="0">
                <a:solidFill>
                  <a:srgbClr val="FF751F"/>
                </a:solidFill>
                <a:latin typeface="Canva Sans Bold"/>
                <a:ea typeface="Canva Sans Bold"/>
                <a:cs typeface="Canva Sans Bold"/>
                <a:sym typeface="Canva Sans Bold"/>
              </a:rPr>
              <a:t> </a:t>
            </a:r>
            <a:r>
              <a:rPr lang="en-US" sz="1741" b="1" dirty="0" err="1">
                <a:solidFill>
                  <a:srgbClr val="FF751F"/>
                </a:solidFill>
                <a:latin typeface="Canva Sans Bold"/>
                <a:ea typeface="Canva Sans Bold"/>
                <a:cs typeface="Canva Sans Bold"/>
                <a:sym typeface="Canva Sans Bold"/>
              </a:rPr>
              <a:t>penting</a:t>
            </a:r>
            <a:r>
              <a:rPr lang="en-US" sz="1741" b="1" dirty="0">
                <a:solidFill>
                  <a:srgbClr val="FF751F"/>
                </a:solidFill>
                <a:latin typeface="Canva Sans Bold"/>
                <a:ea typeface="Canva Sans Bold"/>
                <a:cs typeface="Canva Sans Bold"/>
                <a:sym typeface="Canva Sans Bold"/>
              </a:rPr>
              <a:t> </a:t>
            </a:r>
            <a:r>
              <a:rPr lang="en-US" sz="1741" b="1" dirty="0" err="1">
                <a:solidFill>
                  <a:srgbClr val="FF751F"/>
                </a:solidFill>
                <a:latin typeface="Canva Sans Bold"/>
                <a:ea typeface="Canva Sans Bold"/>
                <a:cs typeface="Canva Sans Bold"/>
                <a:sym typeface="Canva Sans Bold"/>
              </a:rPr>
              <a:t>dalam</a:t>
            </a:r>
            <a:r>
              <a:rPr lang="en-US" sz="1741" b="1" dirty="0">
                <a:solidFill>
                  <a:srgbClr val="FF751F"/>
                </a:solidFill>
                <a:latin typeface="Canva Sans Bold"/>
                <a:ea typeface="Canva Sans Bold"/>
                <a:cs typeface="Canva Sans Bold"/>
                <a:sym typeface="Canva Sans Bold"/>
              </a:rPr>
              <a:t> </a:t>
            </a:r>
            <a:r>
              <a:rPr lang="en-US" sz="1741" b="1" dirty="0" err="1">
                <a:solidFill>
                  <a:srgbClr val="FF751F"/>
                </a:solidFill>
                <a:latin typeface="Canva Sans Bold"/>
                <a:ea typeface="Canva Sans Bold"/>
                <a:cs typeface="Canva Sans Bold"/>
                <a:sym typeface="Canva Sans Bold"/>
              </a:rPr>
              <a:t>analisis</a:t>
            </a:r>
            <a:r>
              <a:rPr lang="en-US" sz="1741" b="1" dirty="0">
                <a:solidFill>
                  <a:srgbClr val="FF751F"/>
                </a:solidFill>
                <a:latin typeface="Canva Sans Bold"/>
                <a:ea typeface="Canva Sans Bold"/>
                <a:cs typeface="Canva Sans Bold"/>
                <a:sym typeface="Canva Sans Bold"/>
              </a:rPr>
              <a:t> </a:t>
            </a:r>
            <a:r>
              <a:rPr lang="en-US" sz="1741" b="1" dirty="0" err="1">
                <a:solidFill>
                  <a:srgbClr val="FF751F"/>
                </a:solidFill>
                <a:latin typeface="Canva Sans Bold"/>
                <a:ea typeface="Canva Sans Bold"/>
                <a:cs typeface="Canva Sans Bold"/>
                <a:sym typeface="Canva Sans Bold"/>
              </a:rPr>
              <a:t>teks</a:t>
            </a:r>
            <a:r>
              <a:rPr lang="en-US" sz="1741" b="1" dirty="0">
                <a:solidFill>
                  <a:srgbClr val="FF751F"/>
                </a:solidFill>
                <a:latin typeface="Canva Sans Bold"/>
                <a:ea typeface="Canva Sans Bold"/>
                <a:cs typeface="Canva Sans Bold"/>
                <a:sym typeface="Canva Sans Bold"/>
              </a:rPr>
              <a:t> </a:t>
            </a:r>
            <a:r>
              <a:rPr lang="en-US" sz="1741" b="1" dirty="0" err="1">
                <a:solidFill>
                  <a:srgbClr val="FF751F"/>
                </a:solidFill>
                <a:latin typeface="Canva Sans Bold"/>
                <a:ea typeface="Canva Sans Bold"/>
                <a:cs typeface="Canva Sans Bold"/>
                <a:sym typeface="Canva Sans Bold"/>
              </a:rPr>
              <a:t>untuk</a:t>
            </a:r>
            <a:r>
              <a:rPr lang="en-US" sz="1741" b="1" dirty="0">
                <a:solidFill>
                  <a:srgbClr val="FF751F"/>
                </a:solidFill>
                <a:latin typeface="Canva Sans Bold"/>
                <a:ea typeface="Canva Sans Bold"/>
                <a:cs typeface="Canva Sans Bold"/>
                <a:sym typeface="Canva Sans Bold"/>
              </a:rPr>
              <a:t> </a:t>
            </a:r>
            <a:r>
              <a:rPr lang="en-US" sz="1741" b="1" dirty="0" err="1">
                <a:solidFill>
                  <a:srgbClr val="FF751F"/>
                </a:solidFill>
                <a:latin typeface="Canva Sans Bold"/>
                <a:ea typeface="Canva Sans Bold"/>
                <a:cs typeface="Canva Sans Bold"/>
                <a:sym typeface="Canva Sans Bold"/>
              </a:rPr>
              <a:t>menemukan</a:t>
            </a:r>
            <a:r>
              <a:rPr lang="en-US" sz="1741" b="1" dirty="0">
                <a:solidFill>
                  <a:srgbClr val="FF751F"/>
                </a:solidFill>
                <a:latin typeface="Canva Sans Bold"/>
                <a:ea typeface="Canva Sans Bold"/>
                <a:cs typeface="Canva Sans Bold"/>
                <a:sym typeface="Canva Sans Bold"/>
              </a:rPr>
              <a:t> </a:t>
            </a:r>
            <a:r>
              <a:rPr lang="en-US" sz="1741" b="1" dirty="0" err="1">
                <a:solidFill>
                  <a:srgbClr val="FF751F"/>
                </a:solidFill>
                <a:latin typeface="Canva Sans Bold"/>
                <a:ea typeface="Canva Sans Bold"/>
                <a:cs typeface="Canva Sans Bold"/>
                <a:sym typeface="Canva Sans Bold"/>
              </a:rPr>
              <a:t>tema</a:t>
            </a:r>
            <a:r>
              <a:rPr lang="en-US" sz="1741" b="1" dirty="0">
                <a:solidFill>
                  <a:srgbClr val="FF751F"/>
                </a:solidFill>
                <a:latin typeface="Canva Sans Bold"/>
                <a:ea typeface="Canva Sans Bold"/>
                <a:cs typeface="Canva Sans Bold"/>
                <a:sym typeface="Canva Sans Bold"/>
              </a:rPr>
              <a:t> </a:t>
            </a:r>
            <a:r>
              <a:rPr lang="en-US" sz="1741" b="1" dirty="0" err="1">
                <a:solidFill>
                  <a:srgbClr val="FF751F"/>
                </a:solidFill>
                <a:latin typeface="Canva Sans Bold"/>
                <a:ea typeface="Canva Sans Bold"/>
                <a:cs typeface="Canva Sans Bold"/>
                <a:sym typeface="Canva Sans Bold"/>
              </a:rPr>
              <a:t>tersembunyi</a:t>
            </a:r>
            <a:r>
              <a:rPr lang="en-US" sz="1741" b="1" dirty="0">
                <a:solidFill>
                  <a:srgbClr val="FF751F"/>
                </a:solidFill>
                <a:latin typeface="Canva Sans Bold"/>
                <a:ea typeface="Canva Sans Bold"/>
                <a:cs typeface="Canva Sans Bold"/>
                <a:sym typeface="Canva Sans Bold"/>
              </a:rPr>
              <a:t> </a:t>
            </a:r>
            <a:r>
              <a:rPr lang="en-US" sz="1741" b="1" dirty="0" err="1">
                <a:solidFill>
                  <a:srgbClr val="FF751F"/>
                </a:solidFill>
                <a:latin typeface="Canva Sans Bold"/>
                <a:ea typeface="Canva Sans Bold"/>
                <a:cs typeface="Canva Sans Bold"/>
                <a:sym typeface="Canva Sans Bold"/>
              </a:rPr>
              <a:t>dalam</a:t>
            </a:r>
            <a:r>
              <a:rPr lang="en-US" sz="1741" b="1" dirty="0">
                <a:solidFill>
                  <a:srgbClr val="FF751F"/>
                </a:solidFill>
                <a:latin typeface="Canva Sans Bold"/>
                <a:ea typeface="Canva Sans Bold"/>
                <a:cs typeface="Canva Sans Bold"/>
                <a:sym typeface="Canva Sans Bold"/>
              </a:rPr>
              <a:t> </a:t>
            </a:r>
            <a:r>
              <a:rPr lang="en-US" sz="1741" b="1" dirty="0" err="1">
                <a:solidFill>
                  <a:srgbClr val="FF751F"/>
                </a:solidFill>
                <a:latin typeface="Canva Sans Bold"/>
                <a:ea typeface="Canva Sans Bold"/>
                <a:cs typeface="Canva Sans Bold"/>
                <a:sym typeface="Canva Sans Bold"/>
              </a:rPr>
              <a:t>kumpulan</a:t>
            </a:r>
            <a:r>
              <a:rPr lang="en-US" sz="1741" b="1" dirty="0">
                <a:solidFill>
                  <a:srgbClr val="FF751F"/>
                </a:solidFill>
                <a:latin typeface="Canva Sans Bold"/>
                <a:ea typeface="Canva Sans Bold"/>
                <a:cs typeface="Canva Sans Bold"/>
                <a:sym typeface="Canva Sans Bold"/>
              </a:rPr>
              <a:t> </a:t>
            </a:r>
            <a:r>
              <a:rPr lang="en-US" sz="1741" b="1" dirty="0" err="1">
                <a:solidFill>
                  <a:srgbClr val="FF751F"/>
                </a:solidFill>
                <a:latin typeface="Canva Sans Bold"/>
                <a:ea typeface="Canva Sans Bold"/>
                <a:cs typeface="Canva Sans Bold"/>
                <a:sym typeface="Canva Sans Bold"/>
              </a:rPr>
              <a:t>dokumen</a:t>
            </a:r>
            <a:r>
              <a:rPr lang="en-US" sz="1741" b="1" dirty="0">
                <a:solidFill>
                  <a:srgbClr val="FF751F"/>
                </a:solidFill>
                <a:latin typeface="Canva Sans Bold"/>
                <a:ea typeface="Canva Sans Bold"/>
                <a:cs typeface="Canva Sans Bold"/>
                <a:sym typeface="Canva Sans Bold"/>
              </a:rPr>
              <a:t> </a:t>
            </a:r>
            <a:r>
              <a:rPr lang="en-US" sz="1741" b="1" dirty="0" err="1">
                <a:solidFill>
                  <a:srgbClr val="FF751F"/>
                </a:solidFill>
                <a:latin typeface="Canva Sans Bold"/>
                <a:ea typeface="Canva Sans Bold"/>
                <a:cs typeface="Canva Sans Bold"/>
                <a:sym typeface="Canva Sans Bold"/>
              </a:rPr>
              <a:t>besar</a:t>
            </a:r>
            <a:r>
              <a:rPr lang="en-US" sz="1741" b="1" dirty="0">
                <a:solidFill>
                  <a:srgbClr val="FF751F"/>
                </a:solidFill>
                <a:latin typeface="Canva Sans Bold"/>
                <a:ea typeface="Canva Sans Bold"/>
                <a:cs typeface="Canva Sans Bold"/>
                <a:sym typeface="Canva Sans Bold"/>
              </a:rPr>
              <a:t> </a:t>
            </a:r>
            <a:r>
              <a:rPr lang="en-US" sz="1741" b="1" dirty="0" err="1">
                <a:solidFill>
                  <a:srgbClr val="FF751F"/>
                </a:solidFill>
                <a:latin typeface="Canva Sans Bold"/>
                <a:ea typeface="Canva Sans Bold"/>
                <a:cs typeface="Canva Sans Bold"/>
                <a:sym typeface="Canva Sans Bold"/>
              </a:rPr>
              <a:t>secara</a:t>
            </a:r>
            <a:r>
              <a:rPr lang="en-US" sz="1741" b="1" dirty="0">
                <a:solidFill>
                  <a:srgbClr val="FF751F"/>
                </a:solidFill>
                <a:latin typeface="Canva Sans Bold"/>
                <a:ea typeface="Canva Sans Bold"/>
                <a:cs typeface="Canva Sans Bold"/>
                <a:sym typeface="Canva Sans Bold"/>
              </a:rPr>
              <a:t> </a:t>
            </a:r>
            <a:r>
              <a:rPr lang="en-US" sz="1741" b="1" dirty="0" err="1">
                <a:solidFill>
                  <a:srgbClr val="FF751F"/>
                </a:solidFill>
                <a:latin typeface="Canva Sans Bold"/>
                <a:ea typeface="Canva Sans Bold"/>
                <a:cs typeface="Canva Sans Bold"/>
                <a:sym typeface="Canva Sans Bold"/>
              </a:rPr>
              <a:t>otomatis</a:t>
            </a:r>
            <a:r>
              <a:rPr lang="en-US" sz="1741" b="1" dirty="0">
                <a:solidFill>
                  <a:srgbClr val="FF751F"/>
                </a:solidFill>
                <a:latin typeface="Canva Sans Bold"/>
                <a:ea typeface="Canva Sans Bold"/>
                <a:cs typeface="Canva Sans Bold"/>
                <a:sym typeface="Canva Sans Bold"/>
              </a:rPr>
              <a:t> (Blei et al., 2003a).</a:t>
            </a:r>
          </a:p>
        </p:txBody>
      </p:sp>
      <p:sp>
        <p:nvSpPr>
          <p:cNvPr id="38" name="TextBox 38"/>
          <p:cNvSpPr txBox="1"/>
          <p:nvPr/>
        </p:nvSpPr>
        <p:spPr>
          <a:xfrm>
            <a:off x="10737164" y="7749333"/>
            <a:ext cx="6302292" cy="1055934"/>
          </a:xfrm>
          <a:prstGeom prst="rect">
            <a:avLst/>
          </a:prstGeom>
        </p:spPr>
        <p:txBody>
          <a:bodyPr lIns="0" tIns="0" rIns="0" bIns="0" rtlCol="0" anchor="t">
            <a:spAutoFit/>
          </a:bodyPr>
          <a:lstStyle/>
          <a:p>
            <a:pPr algn="ctr">
              <a:lnSpc>
                <a:spcPts val="2173"/>
              </a:lnSpc>
            </a:pPr>
            <a:r>
              <a:rPr lang="en-US" sz="1552" b="1" dirty="0" err="1">
                <a:solidFill>
                  <a:srgbClr val="FF751F"/>
                </a:solidFill>
                <a:latin typeface="Canva Sans Bold"/>
                <a:ea typeface="Canva Sans Bold"/>
                <a:cs typeface="Canva Sans Bold"/>
                <a:sym typeface="Canva Sans Bold"/>
              </a:rPr>
              <a:t>penerapan</a:t>
            </a:r>
            <a:r>
              <a:rPr lang="en-US" sz="1552" b="1" dirty="0">
                <a:solidFill>
                  <a:srgbClr val="FF751F"/>
                </a:solidFill>
                <a:latin typeface="Canva Sans Bold"/>
                <a:ea typeface="Canva Sans Bold"/>
                <a:cs typeface="Canva Sans Bold"/>
                <a:sym typeface="Canva Sans Bold"/>
              </a:rPr>
              <a:t> </a:t>
            </a:r>
            <a:r>
              <a:rPr lang="en-US" sz="1552" b="1" dirty="0" err="1">
                <a:solidFill>
                  <a:srgbClr val="FF751F"/>
                </a:solidFill>
                <a:latin typeface="Canva Sans Bold"/>
                <a:ea typeface="Canva Sans Bold"/>
                <a:cs typeface="Canva Sans Bold"/>
                <a:sym typeface="Canva Sans Bold"/>
              </a:rPr>
              <a:t>kedua</a:t>
            </a:r>
            <a:r>
              <a:rPr lang="en-US" sz="1552" b="1" dirty="0">
                <a:solidFill>
                  <a:srgbClr val="FF751F"/>
                </a:solidFill>
                <a:latin typeface="Canva Sans Bold"/>
                <a:ea typeface="Canva Sans Bold"/>
                <a:cs typeface="Canva Sans Bold"/>
                <a:sym typeface="Canva Sans Bold"/>
              </a:rPr>
              <a:t> </a:t>
            </a:r>
            <a:r>
              <a:rPr lang="en-US" sz="1552" b="1" dirty="0" err="1">
                <a:solidFill>
                  <a:srgbClr val="FF751F"/>
                </a:solidFill>
                <a:latin typeface="Canva Sans Bold"/>
                <a:ea typeface="Canva Sans Bold"/>
                <a:cs typeface="Canva Sans Bold"/>
                <a:sym typeface="Canva Sans Bold"/>
              </a:rPr>
              <a:t>metode</a:t>
            </a:r>
            <a:r>
              <a:rPr lang="en-US" sz="1552" b="1" dirty="0">
                <a:solidFill>
                  <a:srgbClr val="FF751F"/>
                </a:solidFill>
                <a:latin typeface="Canva Sans Bold"/>
                <a:ea typeface="Canva Sans Bold"/>
                <a:cs typeface="Canva Sans Bold"/>
                <a:sym typeface="Canva Sans Bold"/>
              </a:rPr>
              <a:t> </a:t>
            </a:r>
            <a:r>
              <a:rPr lang="en-US" sz="1552" b="1" dirty="0" err="1">
                <a:solidFill>
                  <a:srgbClr val="FF751F"/>
                </a:solidFill>
                <a:latin typeface="Canva Sans Bold"/>
                <a:ea typeface="Canva Sans Bold"/>
                <a:cs typeface="Canva Sans Bold"/>
                <a:sym typeface="Canva Sans Bold"/>
              </a:rPr>
              <a:t>ini</a:t>
            </a:r>
            <a:r>
              <a:rPr lang="en-US" sz="1552" b="1" dirty="0">
                <a:solidFill>
                  <a:srgbClr val="FF751F"/>
                </a:solidFill>
                <a:latin typeface="Canva Sans Bold"/>
                <a:ea typeface="Canva Sans Bold"/>
                <a:cs typeface="Canva Sans Bold"/>
                <a:sym typeface="Canva Sans Bold"/>
              </a:rPr>
              <a:t> pada </a:t>
            </a:r>
            <a:r>
              <a:rPr lang="en-US" sz="1552" b="1" dirty="0" err="1">
                <a:solidFill>
                  <a:srgbClr val="FF751F"/>
                </a:solidFill>
                <a:latin typeface="Canva Sans Bold"/>
                <a:ea typeface="Canva Sans Bold"/>
                <a:cs typeface="Canva Sans Bold"/>
                <a:sym typeface="Canva Sans Bold"/>
              </a:rPr>
              <a:t>korpus</a:t>
            </a:r>
            <a:r>
              <a:rPr lang="en-US" sz="1552" b="1" dirty="0">
                <a:solidFill>
                  <a:srgbClr val="FF751F"/>
                </a:solidFill>
                <a:latin typeface="Canva Sans Bold"/>
                <a:ea typeface="Canva Sans Bold"/>
                <a:cs typeface="Canva Sans Bold"/>
                <a:sym typeface="Canva Sans Bold"/>
              </a:rPr>
              <a:t> </a:t>
            </a:r>
            <a:r>
              <a:rPr lang="en-US" sz="1552" b="1" dirty="0" err="1">
                <a:solidFill>
                  <a:srgbClr val="FF751F"/>
                </a:solidFill>
                <a:latin typeface="Canva Sans Bold"/>
                <a:ea typeface="Canva Sans Bold"/>
                <a:cs typeface="Canva Sans Bold"/>
                <a:sym typeface="Canva Sans Bold"/>
              </a:rPr>
              <a:t>teks</a:t>
            </a:r>
            <a:r>
              <a:rPr lang="en-US" sz="1552" b="1" dirty="0">
                <a:solidFill>
                  <a:srgbClr val="FF751F"/>
                </a:solidFill>
                <a:latin typeface="Canva Sans Bold"/>
                <a:ea typeface="Canva Sans Bold"/>
                <a:cs typeface="Canva Sans Bold"/>
                <a:sym typeface="Canva Sans Bold"/>
              </a:rPr>
              <a:t> </a:t>
            </a:r>
            <a:r>
              <a:rPr lang="en-US" sz="1552" b="1" dirty="0" err="1">
                <a:solidFill>
                  <a:srgbClr val="FF751F"/>
                </a:solidFill>
                <a:latin typeface="Canva Sans Bold"/>
                <a:ea typeface="Canva Sans Bold"/>
                <a:cs typeface="Canva Sans Bold"/>
                <a:sym typeface="Canva Sans Bold"/>
              </a:rPr>
              <a:t>religius</a:t>
            </a:r>
            <a:r>
              <a:rPr lang="en-US" sz="1552" b="1" dirty="0">
                <a:solidFill>
                  <a:srgbClr val="FF751F"/>
                </a:solidFill>
                <a:latin typeface="Canva Sans Bold"/>
                <a:ea typeface="Canva Sans Bold"/>
                <a:cs typeface="Canva Sans Bold"/>
                <a:sym typeface="Canva Sans Bold"/>
              </a:rPr>
              <a:t> </a:t>
            </a:r>
            <a:r>
              <a:rPr lang="en-US" sz="1552" b="1" dirty="0" err="1">
                <a:solidFill>
                  <a:srgbClr val="FF751F"/>
                </a:solidFill>
                <a:latin typeface="Canva Sans Bold"/>
                <a:ea typeface="Canva Sans Bold"/>
                <a:cs typeface="Canva Sans Bold"/>
                <a:sym typeface="Canva Sans Bold"/>
              </a:rPr>
              <a:t>terutama</a:t>
            </a:r>
            <a:r>
              <a:rPr lang="en-US" sz="1552" b="1" dirty="0">
                <a:solidFill>
                  <a:srgbClr val="FF751F"/>
                </a:solidFill>
                <a:latin typeface="Canva Sans Bold"/>
                <a:ea typeface="Canva Sans Bold"/>
                <a:cs typeface="Canva Sans Bold"/>
                <a:sym typeface="Canva Sans Bold"/>
              </a:rPr>
              <a:t> </a:t>
            </a:r>
            <a:r>
              <a:rPr lang="en-US" sz="1552" b="1" dirty="0" err="1">
                <a:solidFill>
                  <a:srgbClr val="FF751F"/>
                </a:solidFill>
                <a:latin typeface="Canva Sans Bold"/>
                <a:ea typeface="Canva Sans Bold"/>
                <a:cs typeface="Canva Sans Bold"/>
                <a:sym typeface="Canva Sans Bold"/>
              </a:rPr>
              <a:t>teks</a:t>
            </a:r>
            <a:r>
              <a:rPr lang="en-US" sz="1552" b="1" dirty="0">
                <a:solidFill>
                  <a:srgbClr val="FF751F"/>
                </a:solidFill>
                <a:latin typeface="Canva Sans Bold"/>
                <a:ea typeface="Canva Sans Bold"/>
                <a:cs typeface="Canva Sans Bold"/>
                <a:sym typeface="Canva Sans Bold"/>
              </a:rPr>
              <a:t> </a:t>
            </a:r>
            <a:r>
              <a:rPr lang="en-US" sz="1552" b="1" dirty="0" err="1">
                <a:solidFill>
                  <a:srgbClr val="FF751F"/>
                </a:solidFill>
                <a:latin typeface="Canva Sans Bold"/>
                <a:ea typeface="Canva Sans Bold"/>
                <a:cs typeface="Canva Sans Bold"/>
                <a:sym typeface="Canva Sans Bold"/>
              </a:rPr>
              <a:t>terjemahan</a:t>
            </a:r>
            <a:r>
              <a:rPr lang="en-US" sz="1552" b="1" dirty="0">
                <a:solidFill>
                  <a:srgbClr val="FF751F"/>
                </a:solidFill>
                <a:latin typeface="Canva Sans Bold"/>
                <a:ea typeface="Canva Sans Bold"/>
                <a:cs typeface="Canva Sans Bold"/>
                <a:sym typeface="Canva Sans Bold"/>
              </a:rPr>
              <a:t> Al-Qur’an </a:t>
            </a:r>
            <a:r>
              <a:rPr lang="en-US" sz="1552" b="1" dirty="0" err="1">
                <a:solidFill>
                  <a:srgbClr val="FF751F"/>
                </a:solidFill>
                <a:latin typeface="Canva Sans Bold"/>
                <a:ea typeface="Canva Sans Bold"/>
                <a:cs typeface="Canva Sans Bold"/>
                <a:sym typeface="Canva Sans Bold"/>
              </a:rPr>
              <a:t>dalam</a:t>
            </a:r>
            <a:r>
              <a:rPr lang="en-US" sz="1552" b="1" dirty="0">
                <a:solidFill>
                  <a:srgbClr val="FF751F"/>
                </a:solidFill>
                <a:latin typeface="Canva Sans Bold"/>
                <a:ea typeface="Canva Sans Bold"/>
                <a:cs typeface="Canva Sans Bold"/>
                <a:sym typeface="Canva Sans Bold"/>
              </a:rPr>
              <a:t> </a:t>
            </a:r>
            <a:r>
              <a:rPr lang="en-US" sz="1552" b="1" dirty="0" err="1">
                <a:solidFill>
                  <a:srgbClr val="FF751F"/>
                </a:solidFill>
                <a:latin typeface="Canva Sans Bold"/>
                <a:ea typeface="Canva Sans Bold"/>
                <a:cs typeface="Canva Sans Bold"/>
                <a:sym typeface="Canva Sans Bold"/>
              </a:rPr>
              <a:t>bahasa</a:t>
            </a:r>
            <a:r>
              <a:rPr lang="en-US" sz="1552" b="1" dirty="0">
                <a:solidFill>
                  <a:srgbClr val="FF751F"/>
                </a:solidFill>
                <a:latin typeface="Canva Sans Bold"/>
                <a:ea typeface="Canva Sans Bold"/>
                <a:cs typeface="Canva Sans Bold"/>
                <a:sym typeface="Canva Sans Bold"/>
              </a:rPr>
              <a:t> Indonesia </a:t>
            </a:r>
            <a:r>
              <a:rPr lang="en-US" sz="1552" b="1" dirty="0" err="1">
                <a:solidFill>
                  <a:srgbClr val="FF751F"/>
                </a:solidFill>
                <a:latin typeface="Canva Sans Bold"/>
                <a:ea typeface="Canva Sans Bold"/>
                <a:cs typeface="Canva Sans Bold"/>
                <a:sym typeface="Canva Sans Bold"/>
              </a:rPr>
              <a:t>belum</a:t>
            </a:r>
            <a:r>
              <a:rPr lang="en-US" sz="1552" b="1" dirty="0">
                <a:solidFill>
                  <a:srgbClr val="FF751F"/>
                </a:solidFill>
                <a:latin typeface="Canva Sans Bold"/>
                <a:ea typeface="Canva Sans Bold"/>
                <a:cs typeface="Canva Sans Bold"/>
                <a:sym typeface="Canva Sans Bold"/>
              </a:rPr>
              <a:t> </a:t>
            </a:r>
            <a:r>
              <a:rPr lang="en-US" sz="1552" b="1" dirty="0" err="1">
                <a:solidFill>
                  <a:srgbClr val="FF751F"/>
                </a:solidFill>
                <a:latin typeface="Canva Sans Bold"/>
                <a:ea typeface="Canva Sans Bold"/>
                <a:cs typeface="Canva Sans Bold"/>
                <a:sym typeface="Canva Sans Bold"/>
              </a:rPr>
              <a:t>banyak</a:t>
            </a:r>
            <a:r>
              <a:rPr lang="en-US" sz="1552" b="1" dirty="0">
                <a:solidFill>
                  <a:srgbClr val="FF751F"/>
                </a:solidFill>
                <a:latin typeface="Canva Sans Bold"/>
                <a:ea typeface="Canva Sans Bold"/>
                <a:cs typeface="Canva Sans Bold"/>
                <a:sym typeface="Canva Sans Bold"/>
              </a:rPr>
              <a:t> </a:t>
            </a:r>
            <a:r>
              <a:rPr lang="en-US" sz="1552" b="1" dirty="0" err="1">
                <a:solidFill>
                  <a:srgbClr val="FF751F"/>
                </a:solidFill>
                <a:latin typeface="Canva Sans Bold"/>
                <a:ea typeface="Canva Sans Bold"/>
                <a:cs typeface="Canva Sans Bold"/>
                <a:sym typeface="Canva Sans Bold"/>
              </a:rPr>
              <a:t>digunakan</a:t>
            </a:r>
            <a:endParaRPr lang="en-US" sz="1552" b="1" dirty="0">
              <a:solidFill>
                <a:srgbClr val="FF751F"/>
              </a:solidFill>
              <a:latin typeface="Canva Sans Bold"/>
              <a:ea typeface="Canva Sans Bold"/>
              <a:cs typeface="Canva Sans Bold"/>
              <a:sym typeface="Canva Sans Bold"/>
            </a:endParaRPr>
          </a:p>
          <a:p>
            <a:pPr algn="ctr">
              <a:lnSpc>
                <a:spcPts val="2173"/>
              </a:lnSpc>
            </a:pPr>
            <a:endParaRPr lang="en-US" sz="1552" b="1" dirty="0">
              <a:solidFill>
                <a:srgbClr val="FF751F"/>
              </a:solidFill>
              <a:latin typeface="Canva Sans Bold"/>
              <a:ea typeface="Canva Sans Bold"/>
              <a:cs typeface="Canva Sans Bold"/>
              <a:sym typeface="Canva Sans Bold"/>
            </a:endParaRPr>
          </a:p>
        </p:txBody>
      </p:sp>
      <p:sp>
        <p:nvSpPr>
          <p:cNvPr id="39" name="TextBox 39"/>
          <p:cNvSpPr txBox="1"/>
          <p:nvPr/>
        </p:nvSpPr>
        <p:spPr>
          <a:xfrm>
            <a:off x="10586074" y="6235412"/>
            <a:ext cx="6453382" cy="558743"/>
          </a:xfrm>
          <a:prstGeom prst="rect">
            <a:avLst/>
          </a:prstGeom>
        </p:spPr>
        <p:txBody>
          <a:bodyPr lIns="0" tIns="0" rIns="0" bIns="0" rtlCol="0" anchor="t">
            <a:spAutoFit/>
          </a:bodyPr>
          <a:lstStyle/>
          <a:p>
            <a:pPr algn="ctr">
              <a:lnSpc>
                <a:spcPts val="2278"/>
              </a:lnSpc>
            </a:pPr>
            <a:r>
              <a:rPr lang="en-US" sz="1627" b="1" dirty="0">
                <a:solidFill>
                  <a:srgbClr val="FF751F"/>
                </a:solidFill>
                <a:latin typeface="Canva Sans Bold"/>
                <a:ea typeface="Canva Sans Bold"/>
                <a:cs typeface="Canva Sans Bold"/>
                <a:sym typeface="Canva Sans Bold"/>
              </a:rPr>
              <a:t>CTM &amp; </a:t>
            </a:r>
            <a:r>
              <a:rPr lang="en-US" sz="1627" b="1" dirty="0" err="1">
                <a:solidFill>
                  <a:srgbClr val="FF751F"/>
                </a:solidFill>
                <a:latin typeface="Canva Sans Bold"/>
                <a:ea typeface="Canva Sans Bold"/>
                <a:cs typeface="Canva Sans Bold"/>
                <a:sym typeface="Canva Sans Bold"/>
              </a:rPr>
              <a:t>BERTopic</a:t>
            </a:r>
            <a:r>
              <a:rPr lang="en-US" sz="1627" b="1" dirty="0">
                <a:solidFill>
                  <a:srgbClr val="FF751F"/>
                </a:solidFill>
                <a:latin typeface="Canva Sans Bold"/>
                <a:ea typeface="Canva Sans Bold"/>
                <a:cs typeface="Canva Sans Bold"/>
                <a:sym typeface="Canva Sans Bold"/>
              </a:rPr>
              <a:t> </a:t>
            </a:r>
            <a:r>
              <a:rPr lang="en-US" sz="1627" b="1" dirty="0" err="1">
                <a:solidFill>
                  <a:srgbClr val="FF751F"/>
                </a:solidFill>
                <a:latin typeface="Canva Sans Bold"/>
                <a:ea typeface="Canva Sans Bold"/>
                <a:cs typeface="Canva Sans Bold"/>
                <a:sym typeface="Canva Sans Bold"/>
              </a:rPr>
              <a:t>sebagai</a:t>
            </a:r>
            <a:r>
              <a:rPr lang="en-US" sz="1627" b="1" dirty="0">
                <a:solidFill>
                  <a:srgbClr val="FF751F"/>
                </a:solidFill>
                <a:latin typeface="Canva Sans Bold"/>
                <a:ea typeface="Canva Sans Bold"/>
                <a:cs typeface="Canva Sans Bold"/>
                <a:sym typeface="Canva Sans Bold"/>
              </a:rPr>
              <a:t> </a:t>
            </a:r>
            <a:r>
              <a:rPr lang="en-US" sz="1627" b="1" dirty="0" err="1">
                <a:solidFill>
                  <a:srgbClr val="FF751F"/>
                </a:solidFill>
                <a:latin typeface="Canva Sans Bold"/>
                <a:ea typeface="Canva Sans Bold"/>
                <a:cs typeface="Canva Sans Bold"/>
                <a:sym typeface="Canva Sans Bold"/>
              </a:rPr>
              <a:t>solusi</a:t>
            </a:r>
            <a:r>
              <a:rPr lang="en-US" sz="1627" b="1" dirty="0">
                <a:solidFill>
                  <a:srgbClr val="FF751F"/>
                </a:solidFill>
                <a:latin typeface="Canva Sans Bold"/>
                <a:ea typeface="Canva Sans Bold"/>
                <a:cs typeface="Canva Sans Bold"/>
                <a:sym typeface="Canva Sans Bold"/>
              </a:rPr>
              <a:t> </a:t>
            </a:r>
            <a:r>
              <a:rPr lang="en-US" sz="1627" b="1" dirty="0" err="1">
                <a:solidFill>
                  <a:srgbClr val="FF751F"/>
                </a:solidFill>
                <a:latin typeface="Canva Sans Bold"/>
                <a:ea typeface="Canva Sans Bold"/>
                <a:cs typeface="Canva Sans Bold"/>
                <a:sym typeface="Canva Sans Bold"/>
              </a:rPr>
              <a:t>alternatif</a:t>
            </a:r>
            <a:r>
              <a:rPr lang="en-US" sz="1627" b="1" dirty="0">
                <a:solidFill>
                  <a:srgbClr val="FF751F"/>
                </a:solidFill>
                <a:latin typeface="Canva Sans Bold"/>
                <a:ea typeface="Canva Sans Bold"/>
                <a:cs typeface="Canva Sans Bold"/>
                <a:sym typeface="Canva Sans Bold"/>
              </a:rPr>
              <a:t> </a:t>
            </a:r>
            <a:r>
              <a:rPr lang="en-US" sz="1627" b="1" dirty="0" err="1">
                <a:solidFill>
                  <a:srgbClr val="FF751F"/>
                </a:solidFill>
                <a:latin typeface="Canva Sans Bold"/>
                <a:ea typeface="Canva Sans Bold"/>
                <a:cs typeface="Canva Sans Bold"/>
                <a:sym typeface="Canva Sans Bold"/>
              </a:rPr>
              <a:t>terbaruan</a:t>
            </a:r>
            <a:r>
              <a:rPr lang="en-US" sz="1627" b="1" dirty="0">
                <a:solidFill>
                  <a:srgbClr val="FF751F"/>
                </a:solidFill>
                <a:latin typeface="Canva Sans Bold"/>
                <a:ea typeface="Canva Sans Bold"/>
                <a:cs typeface="Canva Sans Bold"/>
                <a:sym typeface="Canva Sans Bold"/>
              </a:rPr>
              <a:t> </a:t>
            </a:r>
            <a:r>
              <a:rPr lang="en-US" sz="1627" b="1" dirty="0" err="1">
                <a:solidFill>
                  <a:srgbClr val="FF751F"/>
                </a:solidFill>
                <a:latin typeface="Canva Sans Bold"/>
                <a:ea typeface="Canva Sans Bold"/>
                <a:cs typeface="Canva Sans Bold"/>
                <a:sym typeface="Canva Sans Bold"/>
              </a:rPr>
              <a:t>dalam</a:t>
            </a:r>
            <a:r>
              <a:rPr lang="en-US" sz="1627" b="1" dirty="0">
                <a:solidFill>
                  <a:srgbClr val="FF751F"/>
                </a:solidFill>
                <a:latin typeface="Canva Sans Bold"/>
                <a:ea typeface="Canva Sans Bold"/>
                <a:cs typeface="Canva Sans Bold"/>
                <a:sym typeface="Canva Sans Bold"/>
              </a:rPr>
              <a:t> </a:t>
            </a:r>
            <a:r>
              <a:rPr lang="en-US" sz="1627" b="1" dirty="0" err="1">
                <a:solidFill>
                  <a:srgbClr val="FF751F"/>
                </a:solidFill>
                <a:latin typeface="Canva Sans Bold"/>
                <a:ea typeface="Canva Sans Bold"/>
                <a:cs typeface="Canva Sans Bold"/>
                <a:sym typeface="Canva Sans Bold"/>
              </a:rPr>
              <a:t>menganalisis</a:t>
            </a:r>
            <a:r>
              <a:rPr lang="en-US" sz="1627" b="1" dirty="0">
                <a:solidFill>
                  <a:srgbClr val="FF751F"/>
                </a:solidFill>
                <a:latin typeface="Canva Sans Bold"/>
                <a:ea typeface="Canva Sans Bold"/>
                <a:cs typeface="Canva Sans Bold"/>
                <a:sym typeface="Canva Sans Bold"/>
              </a:rPr>
              <a:t> Teks Al-Qur’an</a:t>
            </a:r>
          </a:p>
        </p:txBody>
      </p:sp>
      <p:sp>
        <p:nvSpPr>
          <p:cNvPr id="40" name="TextBox 40"/>
          <p:cNvSpPr txBox="1"/>
          <p:nvPr/>
        </p:nvSpPr>
        <p:spPr>
          <a:xfrm>
            <a:off x="2121610" y="6839530"/>
            <a:ext cx="1832790" cy="764271"/>
          </a:xfrm>
          <a:prstGeom prst="rect">
            <a:avLst/>
          </a:prstGeom>
        </p:spPr>
        <p:txBody>
          <a:bodyPr wrap="square" lIns="0" tIns="0" rIns="0" bIns="0" rtlCol="0" anchor="t">
            <a:spAutoFit/>
          </a:bodyPr>
          <a:lstStyle/>
          <a:p>
            <a:pPr algn="ctr">
              <a:lnSpc>
                <a:spcPts val="6150"/>
              </a:lnSpc>
            </a:pPr>
            <a:r>
              <a:rPr lang="en-US" sz="4393" b="1" dirty="0">
                <a:solidFill>
                  <a:srgbClr val="FF751F"/>
                </a:solidFill>
                <a:latin typeface="Canva Sans Bold"/>
                <a:ea typeface="Canva Sans Bold"/>
                <a:cs typeface="Canva Sans Bold"/>
                <a:sym typeface="Canva Sans Bold"/>
              </a:rPr>
              <a:t>6.236</a:t>
            </a:r>
          </a:p>
        </p:txBody>
      </p:sp>
      <p:sp>
        <p:nvSpPr>
          <p:cNvPr id="41" name="TextBox 41"/>
          <p:cNvSpPr txBox="1"/>
          <p:nvPr/>
        </p:nvSpPr>
        <p:spPr>
          <a:xfrm>
            <a:off x="1238068" y="7557159"/>
            <a:ext cx="3632756" cy="481330"/>
          </a:xfrm>
          <a:prstGeom prst="rect">
            <a:avLst/>
          </a:prstGeom>
        </p:spPr>
        <p:txBody>
          <a:bodyPr lIns="0" tIns="0" rIns="0" bIns="0" rtlCol="0" anchor="t">
            <a:spAutoFit/>
          </a:bodyPr>
          <a:lstStyle/>
          <a:p>
            <a:pPr algn="ctr">
              <a:lnSpc>
                <a:spcPts val="3920"/>
              </a:lnSpc>
            </a:pPr>
            <a:r>
              <a:rPr lang="en-US" sz="2800">
                <a:solidFill>
                  <a:srgbClr val="5CE1E6"/>
                </a:solidFill>
                <a:latin typeface="Canva Sans"/>
                <a:ea typeface="Canva Sans"/>
                <a:cs typeface="Canva Sans"/>
                <a:sym typeface="Canva Sans"/>
              </a:rPr>
              <a:t>Ayat Al-Qur’an</a:t>
            </a:r>
          </a:p>
        </p:txBody>
      </p:sp>
      <p:sp>
        <p:nvSpPr>
          <p:cNvPr id="42" name="TextBox 42"/>
          <p:cNvSpPr txBox="1"/>
          <p:nvPr/>
        </p:nvSpPr>
        <p:spPr>
          <a:xfrm>
            <a:off x="6426910" y="6856492"/>
            <a:ext cx="1232995" cy="757817"/>
          </a:xfrm>
          <a:prstGeom prst="rect">
            <a:avLst/>
          </a:prstGeom>
        </p:spPr>
        <p:txBody>
          <a:bodyPr wrap="square" lIns="0" tIns="0" rIns="0" bIns="0" rtlCol="0" anchor="t">
            <a:spAutoFit/>
          </a:bodyPr>
          <a:lstStyle/>
          <a:p>
            <a:pPr algn="ctr">
              <a:lnSpc>
                <a:spcPts val="6179"/>
              </a:lnSpc>
            </a:pPr>
            <a:r>
              <a:rPr lang="en-US" sz="4413" b="1" dirty="0">
                <a:solidFill>
                  <a:srgbClr val="5CE1E6"/>
                </a:solidFill>
                <a:latin typeface="Canva Sans Bold"/>
                <a:ea typeface="Canva Sans Bold"/>
                <a:cs typeface="Canva Sans Bold"/>
                <a:sym typeface="Canva Sans Bold"/>
              </a:rPr>
              <a:t>114</a:t>
            </a:r>
          </a:p>
        </p:txBody>
      </p:sp>
      <p:sp>
        <p:nvSpPr>
          <p:cNvPr id="43" name="TextBox 43"/>
          <p:cNvSpPr txBox="1"/>
          <p:nvPr/>
        </p:nvSpPr>
        <p:spPr>
          <a:xfrm>
            <a:off x="5080191" y="7541960"/>
            <a:ext cx="3632756" cy="481330"/>
          </a:xfrm>
          <a:prstGeom prst="rect">
            <a:avLst/>
          </a:prstGeom>
        </p:spPr>
        <p:txBody>
          <a:bodyPr lIns="0" tIns="0" rIns="0" bIns="0" rtlCol="0" anchor="t">
            <a:spAutoFit/>
          </a:bodyPr>
          <a:lstStyle/>
          <a:p>
            <a:pPr algn="ctr">
              <a:lnSpc>
                <a:spcPts val="3920"/>
              </a:lnSpc>
            </a:pPr>
            <a:r>
              <a:rPr lang="en-US" sz="2800">
                <a:solidFill>
                  <a:srgbClr val="FF751F"/>
                </a:solidFill>
                <a:latin typeface="Canva Sans"/>
                <a:ea typeface="Canva Sans"/>
                <a:cs typeface="Canva Sans"/>
                <a:sym typeface="Canva Sans"/>
              </a:rPr>
              <a:t>Surat</a:t>
            </a:r>
          </a:p>
        </p:txBody>
      </p:sp>
      <p:sp>
        <p:nvSpPr>
          <p:cNvPr id="44" name="TextBox 44"/>
          <p:cNvSpPr txBox="1"/>
          <p:nvPr/>
        </p:nvSpPr>
        <p:spPr>
          <a:xfrm>
            <a:off x="1028700" y="1129213"/>
            <a:ext cx="10183956" cy="1072602"/>
          </a:xfrm>
          <a:prstGeom prst="rect">
            <a:avLst/>
          </a:prstGeom>
        </p:spPr>
        <p:txBody>
          <a:bodyPr lIns="0" tIns="0" rIns="0" bIns="0" rtlCol="0" anchor="t">
            <a:spAutoFit/>
          </a:bodyPr>
          <a:lstStyle/>
          <a:p>
            <a:pPr algn="l">
              <a:lnSpc>
                <a:spcPts val="8605"/>
              </a:lnSpc>
              <a:spcBef>
                <a:spcPct val="0"/>
              </a:spcBef>
            </a:pPr>
            <a:r>
              <a:rPr lang="en-US" sz="6146" b="1">
                <a:solidFill>
                  <a:srgbClr val="1800AD"/>
                </a:solidFill>
                <a:latin typeface="Archivo Narrow Bold"/>
                <a:ea typeface="Archivo Narrow Bold"/>
                <a:cs typeface="Archivo Narrow Bold"/>
                <a:sym typeface="Archivo Narrow Bold"/>
              </a:rPr>
              <a:t>Mengapa Peneletian Ini Penting?</a:t>
            </a:r>
          </a:p>
        </p:txBody>
      </p:sp>
      <p:sp>
        <p:nvSpPr>
          <p:cNvPr id="45" name="TextBox 45"/>
          <p:cNvSpPr txBox="1"/>
          <p:nvPr/>
        </p:nvSpPr>
        <p:spPr>
          <a:xfrm>
            <a:off x="13563601" y="9745881"/>
            <a:ext cx="4542822" cy="428259"/>
          </a:xfrm>
          <a:prstGeom prst="rect">
            <a:avLst/>
          </a:prstGeom>
        </p:spPr>
        <p:txBody>
          <a:bodyPr wrap="square" lIns="0" tIns="0" rIns="0" bIns="0" rtlCol="0" anchor="t">
            <a:spAutoFit/>
          </a:bodyPr>
          <a:lstStyle/>
          <a:p>
            <a:pPr algn="ctr">
              <a:lnSpc>
                <a:spcPts val="3623"/>
              </a:lnSpc>
            </a:pPr>
            <a:r>
              <a:rPr lang="en-US" sz="2587" dirty="0">
                <a:solidFill>
                  <a:srgbClr val="000000"/>
                </a:solidFill>
                <a:latin typeface="Montserrat"/>
                <a:ea typeface="Montserrat"/>
                <a:cs typeface="Montserrat"/>
                <a:sym typeface="Montserrat"/>
              </a:rPr>
              <a:t>universitas </a:t>
            </a:r>
            <a:r>
              <a:rPr lang="en-US" sz="2587" dirty="0" err="1">
                <a:solidFill>
                  <a:srgbClr val="000000"/>
                </a:solidFill>
                <a:latin typeface="Montserrat"/>
                <a:ea typeface="Montserrat"/>
                <a:cs typeface="Montserrat"/>
                <a:sym typeface="Montserrat"/>
              </a:rPr>
              <a:t>pamulang</a:t>
            </a:r>
            <a:endParaRPr lang="en-US" sz="2587" dirty="0">
              <a:solidFill>
                <a:srgbClr val="000000"/>
              </a:solidFill>
              <a:latin typeface="Montserrat"/>
              <a:ea typeface="Montserrat"/>
              <a:cs typeface="Montserrat"/>
              <a:sym typeface="Montserrat"/>
            </a:endParaRPr>
          </a:p>
        </p:txBody>
      </p:sp>
      <p:sp>
        <p:nvSpPr>
          <p:cNvPr id="46" name="Freeform 46"/>
          <p:cNvSpPr/>
          <p:nvPr/>
        </p:nvSpPr>
        <p:spPr>
          <a:xfrm>
            <a:off x="2970112" y="8164662"/>
            <a:ext cx="3700572" cy="1543092"/>
          </a:xfrm>
          <a:custGeom>
            <a:avLst/>
            <a:gdLst/>
            <a:ahLst/>
            <a:cxnLst/>
            <a:rect l="l" t="t" r="r" b="b"/>
            <a:pathLst>
              <a:path w="3700572" h="1543092">
                <a:moveTo>
                  <a:pt x="0" y="0"/>
                </a:moveTo>
                <a:lnTo>
                  <a:pt x="3700572" y="0"/>
                </a:lnTo>
                <a:lnTo>
                  <a:pt x="3700572" y="1543092"/>
                </a:lnTo>
                <a:lnTo>
                  <a:pt x="0" y="1543092"/>
                </a:lnTo>
                <a:lnTo>
                  <a:pt x="0" y="0"/>
                </a:lnTo>
                <a:close/>
              </a:path>
            </a:pathLst>
          </a:custGeom>
          <a:blipFill>
            <a:blip r:embed="rId7"/>
            <a:stretch>
              <a:fillRect r="-29648"/>
            </a:stretch>
          </a:blipFill>
        </p:spPr>
      </p:sp>
      <p:sp>
        <p:nvSpPr>
          <p:cNvPr id="47" name="TextBox 47"/>
          <p:cNvSpPr txBox="1"/>
          <p:nvPr/>
        </p:nvSpPr>
        <p:spPr>
          <a:xfrm>
            <a:off x="3954400" y="8235746"/>
            <a:ext cx="2472510" cy="1536831"/>
          </a:xfrm>
          <a:prstGeom prst="rect">
            <a:avLst/>
          </a:prstGeom>
        </p:spPr>
        <p:txBody>
          <a:bodyPr wrap="square" lIns="0" tIns="0" rIns="0" bIns="0" rtlCol="0" anchor="t">
            <a:spAutoFit/>
          </a:bodyPr>
          <a:lstStyle/>
          <a:p>
            <a:pPr algn="ctr">
              <a:lnSpc>
                <a:spcPts val="6150"/>
              </a:lnSpc>
            </a:pPr>
            <a:r>
              <a:rPr lang="en-US" sz="4393" b="1" dirty="0">
                <a:solidFill>
                  <a:srgbClr val="FF751F"/>
                </a:solidFill>
                <a:latin typeface="Canva Sans Bold"/>
                <a:ea typeface="Canva Sans Bold"/>
                <a:cs typeface="Canva Sans Bold"/>
                <a:sym typeface="Canva Sans Bold"/>
              </a:rPr>
              <a:t>77.439</a:t>
            </a:r>
          </a:p>
          <a:p>
            <a:pPr algn="ctr">
              <a:lnSpc>
                <a:spcPts val="6150"/>
              </a:lnSpc>
            </a:pPr>
            <a:endParaRPr lang="en-US" sz="4393" b="1" dirty="0">
              <a:solidFill>
                <a:srgbClr val="FF751F"/>
              </a:solidFill>
              <a:latin typeface="Canva Sans Bold"/>
              <a:ea typeface="Canva Sans Bold"/>
              <a:cs typeface="Canva Sans Bold"/>
              <a:sym typeface="Canva Sans Bold"/>
            </a:endParaRPr>
          </a:p>
        </p:txBody>
      </p:sp>
      <p:sp>
        <p:nvSpPr>
          <p:cNvPr id="48" name="TextBox 48"/>
          <p:cNvSpPr txBox="1"/>
          <p:nvPr/>
        </p:nvSpPr>
        <p:spPr>
          <a:xfrm>
            <a:off x="3159129" y="8953375"/>
            <a:ext cx="3632756" cy="481330"/>
          </a:xfrm>
          <a:prstGeom prst="rect">
            <a:avLst/>
          </a:prstGeom>
        </p:spPr>
        <p:txBody>
          <a:bodyPr lIns="0" tIns="0" rIns="0" bIns="0" rtlCol="0" anchor="t">
            <a:spAutoFit/>
          </a:bodyPr>
          <a:lstStyle/>
          <a:p>
            <a:pPr algn="ctr">
              <a:lnSpc>
                <a:spcPts val="3920"/>
              </a:lnSpc>
            </a:pPr>
            <a:r>
              <a:rPr lang="en-US" sz="2800" dirty="0">
                <a:solidFill>
                  <a:srgbClr val="5CE1E6"/>
                </a:solidFill>
                <a:latin typeface="Canva Sans"/>
                <a:ea typeface="Canva Sans"/>
                <a:cs typeface="Canva Sans"/>
                <a:sym typeface="Canva Sans"/>
              </a:rPr>
              <a:t>Kata </a:t>
            </a:r>
            <a:r>
              <a:rPr lang="en-US" sz="2800" dirty="0" err="1">
                <a:solidFill>
                  <a:srgbClr val="5CE1E6"/>
                </a:solidFill>
                <a:latin typeface="Canva Sans"/>
                <a:ea typeface="Canva Sans"/>
                <a:cs typeface="Canva Sans"/>
                <a:sym typeface="Canva Sans"/>
              </a:rPr>
              <a:t>Terjemahan</a:t>
            </a:r>
            <a:endParaRPr lang="en-US" sz="2800" dirty="0">
              <a:solidFill>
                <a:srgbClr val="5CE1E6"/>
              </a:solidFill>
              <a:latin typeface="Canva Sans"/>
              <a:ea typeface="Canva Sans"/>
              <a:cs typeface="Canva Sans"/>
              <a:sym typeface="Canva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033559" flipV="1">
            <a:off x="1617035" y="-4923805"/>
            <a:ext cx="9848495" cy="18613993"/>
          </a:xfrm>
          <a:custGeom>
            <a:avLst/>
            <a:gdLst/>
            <a:ahLst/>
            <a:cxnLst/>
            <a:rect l="l" t="t" r="r" b="b"/>
            <a:pathLst>
              <a:path w="9848495" h="18613993">
                <a:moveTo>
                  <a:pt x="0" y="18613994"/>
                </a:moveTo>
                <a:lnTo>
                  <a:pt x="9848495" y="18613994"/>
                </a:lnTo>
                <a:lnTo>
                  <a:pt x="9848495" y="0"/>
                </a:lnTo>
                <a:lnTo>
                  <a:pt x="0" y="0"/>
                </a:lnTo>
                <a:lnTo>
                  <a:pt x="0" y="18613994"/>
                </a:lnTo>
                <a:close/>
              </a:path>
            </a:pathLst>
          </a:custGeom>
          <a:blipFill>
            <a:blip r:embed="rId3">
              <a:alphaModFix amt="7999"/>
              <a:extLst>
                <a:ext uri="{96DAC541-7B7A-43D3-8B79-37D633B846F1}">
                  <asvg:svgBlip xmlns:asvg="http://schemas.microsoft.com/office/drawing/2016/SVG/main" r:embed="rId4"/>
                </a:ext>
              </a:extLst>
            </a:blip>
            <a:stretch>
              <a:fillRect/>
            </a:stretch>
          </a:blipFill>
        </p:spPr>
      </p:sp>
      <p:grpSp>
        <p:nvGrpSpPr>
          <p:cNvPr id="3" name="Group 3"/>
          <p:cNvGrpSpPr/>
          <p:nvPr/>
        </p:nvGrpSpPr>
        <p:grpSpPr>
          <a:xfrm>
            <a:off x="0" y="9708804"/>
            <a:ext cx="9144000" cy="560871"/>
            <a:chOff x="0" y="0"/>
            <a:chExt cx="2408296" cy="147719"/>
          </a:xfrm>
        </p:grpSpPr>
        <p:sp>
          <p:nvSpPr>
            <p:cNvPr id="4" name="Freeform 4"/>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1800AD"/>
            </a:solidFill>
          </p:spPr>
        </p:sp>
        <p:sp>
          <p:nvSpPr>
            <p:cNvPr id="5" name="TextBox 5"/>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028700" y="2479309"/>
            <a:ext cx="8115300" cy="137058"/>
            <a:chOff x="0" y="0"/>
            <a:chExt cx="2137363" cy="36097"/>
          </a:xfrm>
        </p:grpSpPr>
        <p:sp>
          <p:nvSpPr>
            <p:cNvPr id="7" name="Freeform 7"/>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FFDE59"/>
            </a:solidFill>
          </p:spPr>
        </p:sp>
        <p:sp>
          <p:nvSpPr>
            <p:cNvPr id="8" name="TextBox 8"/>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9144000" y="2479309"/>
            <a:ext cx="8115300" cy="137058"/>
            <a:chOff x="0" y="0"/>
            <a:chExt cx="2137363" cy="36097"/>
          </a:xfrm>
        </p:grpSpPr>
        <p:sp>
          <p:nvSpPr>
            <p:cNvPr id="10" name="Freeform 10"/>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1800AD"/>
            </a:solidFill>
          </p:spPr>
        </p:sp>
        <p:sp>
          <p:nvSpPr>
            <p:cNvPr id="11" name="TextBox 11"/>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sp>
        <p:nvSpPr>
          <p:cNvPr id="12" name="Freeform 12"/>
          <p:cNvSpPr/>
          <p:nvPr/>
        </p:nvSpPr>
        <p:spPr>
          <a:xfrm>
            <a:off x="15487240" y="516545"/>
            <a:ext cx="1664226" cy="1616285"/>
          </a:xfrm>
          <a:custGeom>
            <a:avLst/>
            <a:gdLst/>
            <a:ahLst/>
            <a:cxnLst/>
            <a:rect l="l" t="t" r="r" b="b"/>
            <a:pathLst>
              <a:path w="1664226" h="1616285">
                <a:moveTo>
                  <a:pt x="0" y="0"/>
                </a:moveTo>
                <a:lnTo>
                  <a:pt x="1664226" y="0"/>
                </a:lnTo>
                <a:lnTo>
                  <a:pt x="1664226" y="1616285"/>
                </a:lnTo>
                <a:lnTo>
                  <a:pt x="0" y="1616285"/>
                </a:lnTo>
                <a:lnTo>
                  <a:pt x="0" y="0"/>
                </a:lnTo>
                <a:close/>
              </a:path>
            </a:pathLst>
          </a:custGeom>
          <a:blipFill>
            <a:blip r:embed="rId5"/>
            <a:stretch>
              <a:fillRect/>
            </a:stretch>
          </a:blipFill>
        </p:spPr>
      </p:sp>
      <p:grpSp>
        <p:nvGrpSpPr>
          <p:cNvPr id="13" name="Group 13"/>
          <p:cNvGrpSpPr/>
          <p:nvPr/>
        </p:nvGrpSpPr>
        <p:grpSpPr>
          <a:xfrm>
            <a:off x="9144000" y="9708804"/>
            <a:ext cx="9144000" cy="560871"/>
            <a:chOff x="0" y="0"/>
            <a:chExt cx="2408296" cy="147719"/>
          </a:xfrm>
        </p:grpSpPr>
        <p:sp>
          <p:nvSpPr>
            <p:cNvPr id="14" name="Freeform 14"/>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FFDE59"/>
            </a:solidFill>
          </p:spPr>
        </p:sp>
        <p:sp>
          <p:nvSpPr>
            <p:cNvPr id="15" name="TextBox 15"/>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965541" y="3421446"/>
            <a:ext cx="8337260" cy="1670231"/>
            <a:chOff x="0" y="0"/>
            <a:chExt cx="2195822" cy="439896"/>
          </a:xfrm>
        </p:grpSpPr>
        <p:sp>
          <p:nvSpPr>
            <p:cNvPr id="17" name="Freeform 17"/>
            <p:cNvSpPr/>
            <p:nvPr/>
          </p:nvSpPr>
          <p:spPr>
            <a:xfrm>
              <a:off x="0" y="0"/>
              <a:ext cx="2195822" cy="439896"/>
            </a:xfrm>
            <a:custGeom>
              <a:avLst/>
              <a:gdLst/>
              <a:ahLst/>
              <a:cxnLst/>
              <a:rect l="l" t="t" r="r" b="b"/>
              <a:pathLst>
                <a:path w="2195822" h="439896">
                  <a:moveTo>
                    <a:pt x="0" y="0"/>
                  </a:moveTo>
                  <a:lnTo>
                    <a:pt x="2195822" y="0"/>
                  </a:lnTo>
                  <a:lnTo>
                    <a:pt x="2195822" y="439896"/>
                  </a:lnTo>
                  <a:lnTo>
                    <a:pt x="0" y="439896"/>
                  </a:lnTo>
                  <a:close/>
                </a:path>
              </a:pathLst>
            </a:custGeom>
            <a:solidFill>
              <a:srgbClr val="1800AD"/>
            </a:solidFill>
            <a:ln w="38100" cap="sq">
              <a:solidFill>
                <a:srgbClr val="FF751F"/>
              </a:solidFill>
              <a:prstDash val="solid"/>
              <a:miter/>
            </a:ln>
          </p:spPr>
        </p:sp>
        <p:sp>
          <p:nvSpPr>
            <p:cNvPr id="18" name="TextBox 18"/>
            <p:cNvSpPr txBox="1"/>
            <p:nvPr/>
          </p:nvSpPr>
          <p:spPr>
            <a:xfrm>
              <a:off x="0" y="-47625"/>
              <a:ext cx="2195822" cy="487521"/>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62221" y="5327470"/>
            <a:ext cx="8337260" cy="1670231"/>
            <a:chOff x="0" y="0"/>
            <a:chExt cx="2195822" cy="439896"/>
          </a:xfrm>
        </p:grpSpPr>
        <p:sp>
          <p:nvSpPr>
            <p:cNvPr id="20" name="Freeform 20"/>
            <p:cNvSpPr/>
            <p:nvPr/>
          </p:nvSpPr>
          <p:spPr>
            <a:xfrm>
              <a:off x="0" y="0"/>
              <a:ext cx="2195822" cy="439896"/>
            </a:xfrm>
            <a:custGeom>
              <a:avLst/>
              <a:gdLst/>
              <a:ahLst/>
              <a:cxnLst/>
              <a:rect l="l" t="t" r="r" b="b"/>
              <a:pathLst>
                <a:path w="2195822" h="439896">
                  <a:moveTo>
                    <a:pt x="0" y="0"/>
                  </a:moveTo>
                  <a:lnTo>
                    <a:pt x="2195822" y="0"/>
                  </a:lnTo>
                  <a:lnTo>
                    <a:pt x="2195822" y="439896"/>
                  </a:lnTo>
                  <a:lnTo>
                    <a:pt x="0" y="439896"/>
                  </a:lnTo>
                  <a:close/>
                </a:path>
              </a:pathLst>
            </a:custGeom>
            <a:solidFill>
              <a:srgbClr val="1800AD"/>
            </a:solidFill>
            <a:ln w="38100" cap="sq">
              <a:solidFill>
                <a:srgbClr val="FFDE59"/>
              </a:solidFill>
              <a:prstDash val="solid"/>
              <a:miter/>
            </a:ln>
          </p:spPr>
        </p:sp>
        <p:sp>
          <p:nvSpPr>
            <p:cNvPr id="21" name="TextBox 21"/>
            <p:cNvSpPr txBox="1"/>
            <p:nvPr/>
          </p:nvSpPr>
          <p:spPr>
            <a:xfrm>
              <a:off x="0" y="-47625"/>
              <a:ext cx="2195822" cy="487521"/>
            </a:xfrm>
            <a:prstGeom prst="rect">
              <a:avLst/>
            </a:prstGeom>
          </p:spPr>
          <p:txBody>
            <a:bodyPr lIns="50800" tIns="50800" rIns="50800" bIns="50800" rtlCol="0" anchor="ctr"/>
            <a:lstStyle/>
            <a:p>
              <a:pPr algn="ctr">
                <a:lnSpc>
                  <a:spcPts val="2659"/>
                </a:lnSpc>
              </a:pPr>
              <a:endParaRPr/>
            </a:p>
          </p:txBody>
        </p:sp>
      </p:grpSp>
      <p:grpSp>
        <p:nvGrpSpPr>
          <p:cNvPr id="22" name="Group 22"/>
          <p:cNvGrpSpPr/>
          <p:nvPr/>
        </p:nvGrpSpPr>
        <p:grpSpPr>
          <a:xfrm>
            <a:off x="965541" y="7283014"/>
            <a:ext cx="8337260" cy="1670231"/>
            <a:chOff x="0" y="0"/>
            <a:chExt cx="2195822" cy="439896"/>
          </a:xfrm>
        </p:grpSpPr>
        <p:sp>
          <p:nvSpPr>
            <p:cNvPr id="23" name="Freeform 23"/>
            <p:cNvSpPr/>
            <p:nvPr/>
          </p:nvSpPr>
          <p:spPr>
            <a:xfrm>
              <a:off x="0" y="0"/>
              <a:ext cx="2195822" cy="439896"/>
            </a:xfrm>
            <a:custGeom>
              <a:avLst/>
              <a:gdLst/>
              <a:ahLst/>
              <a:cxnLst/>
              <a:rect l="l" t="t" r="r" b="b"/>
              <a:pathLst>
                <a:path w="2195822" h="439896">
                  <a:moveTo>
                    <a:pt x="0" y="0"/>
                  </a:moveTo>
                  <a:lnTo>
                    <a:pt x="2195822" y="0"/>
                  </a:lnTo>
                  <a:lnTo>
                    <a:pt x="2195822" y="439896"/>
                  </a:lnTo>
                  <a:lnTo>
                    <a:pt x="0" y="439896"/>
                  </a:lnTo>
                  <a:close/>
                </a:path>
              </a:pathLst>
            </a:custGeom>
            <a:solidFill>
              <a:srgbClr val="1800AD"/>
            </a:solidFill>
            <a:ln w="38100" cap="sq">
              <a:solidFill>
                <a:srgbClr val="00BF63"/>
              </a:solidFill>
              <a:prstDash val="solid"/>
              <a:miter/>
            </a:ln>
          </p:spPr>
        </p:sp>
        <p:sp>
          <p:nvSpPr>
            <p:cNvPr id="24" name="TextBox 24"/>
            <p:cNvSpPr txBox="1"/>
            <p:nvPr/>
          </p:nvSpPr>
          <p:spPr>
            <a:xfrm>
              <a:off x="0" y="-47625"/>
              <a:ext cx="2195822" cy="487521"/>
            </a:xfrm>
            <a:prstGeom prst="rect">
              <a:avLst/>
            </a:prstGeom>
          </p:spPr>
          <p:txBody>
            <a:bodyPr lIns="50800" tIns="50800" rIns="50800" bIns="50800" rtlCol="0" anchor="ctr"/>
            <a:lstStyle/>
            <a:p>
              <a:pPr algn="ctr">
                <a:lnSpc>
                  <a:spcPts val="2659"/>
                </a:lnSpc>
              </a:pPr>
              <a:endParaRPr/>
            </a:p>
          </p:txBody>
        </p:sp>
      </p:grpSp>
      <p:sp>
        <p:nvSpPr>
          <p:cNvPr id="25" name="Freeform 25"/>
          <p:cNvSpPr/>
          <p:nvPr/>
        </p:nvSpPr>
        <p:spPr>
          <a:xfrm>
            <a:off x="1102579" y="3752539"/>
            <a:ext cx="1008045" cy="1008045"/>
          </a:xfrm>
          <a:custGeom>
            <a:avLst/>
            <a:gdLst/>
            <a:ahLst/>
            <a:cxnLst/>
            <a:rect l="l" t="t" r="r" b="b"/>
            <a:pathLst>
              <a:path w="1008045" h="1008045">
                <a:moveTo>
                  <a:pt x="0" y="0"/>
                </a:moveTo>
                <a:lnTo>
                  <a:pt x="1008045" y="0"/>
                </a:lnTo>
                <a:lnTo>
                  <a:pt x="1008045" y="1008045"/>
                </a:lnTo>
                <a:lnTo>
                  <a:pt x="0" y="100804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6" name="Freeform 26"/>
          <p:cNvSpPr/>
          <p:nvPr/>
        </p:nvSpPr>
        <p:spPr>
          <a:xfrm>
            <a:off x="1123797" y="5715447"/>
            <a:ext cx="965608" cy="1038437"/>
          </a:xfrm>
          <a:custGeom>
            <a:avLst/>
            <a:gdLst/>
            <a:ahLst/>
            <a:cxnLst/>
            <a:rect l="l" t="t" r="r" b="b"/>
            <a:pathLst>
              <a:path w="965608" h="1038437">
                <a:moveTo>
                  <a:pt x="0" y="0"/>
                </a:moveTo>
                <a:lnTo>
                  <a:pt x="965608" y="0"/>
                </a:lnTo>
                <a:lnTo>
                  <a:pt x="965608" y="1038437"/>
                </a:lnTo>
                <a:lnTo>
                  <a:pt x="0" y="103843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27" name="Freeform 27"/>
          <p:cNvSpPr/>
          <p:nvPr/>
        </p:nvSpPr>
        <p:spPr>
          <a:xfrm>
            <a:off x="1102579" y="7708747"/>
            <a:ext cx="1008045" cy="649147"/>
          </a:xfrm>
          <a:custGeom>
            <a:avLst/>
            <a:gdLst/>
            <a:ahLst/>
            <a:cxnLst/>
            <a:rect l="l" t="t" r="r" b="b"/>
            <a:pathLst>
              <a:path w="1008045" h="649147">
                <a:moveTo>
                  <a:pt x="0" y="0"/>
                </a:moveTo>
                <a:lnTo>
                  <a:pt x="1008045" y="0"/>
                </a:lnTo>
                <a:lnTo>
                  <a:pt x="1008045" y="649147"/>
                </a:lnTo>
                <a:lnTo>
                  <a:pt x="0" y="649147"/>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grpSp>
        <p:nvGrpSpPr>
          <p:cNvPr id="28" name="Group 28"/>
          <p:cNvGrpSpPr/>
          <p:nvPr/>
        </p:nvGrpSpPr>
        <p:grpSpPr>
          <a:xfrm>
            <a:off x="9553792" y="3394681"/>
            <a:ext cx="8337260" cy="1372624"/>
            <a:chOff x="0" y="0"/>
            <a:chExt cx="2195822" cy="361514"/>
          </a:xfrm>
        </p:grpSpPr>
        <p:sp>
          <p:nvSpPr>
            <p:cNvPr id="29" name="Freeform 29"/>
            <p:cNvSpPr/>
            <p:nvPr/>
          </p:nvSpPr>
          <p:spPr>
            <a:xfrm>
              <a:off x="0" y="0"/>
              <a:ext cx="2195822" cy="361514"/>
            </a:xfrm>
            <a:custGeom>
              <a:avLst/>
              <a:gdLst/>
              <a:ahLst/>
              <a:cxnLst/>
              <a:rect l="l" t="t" r="r" b="b"/>
              <a:pathLst>
                <a:path w="2195822" h="361514">
                  <a:moveTo>
                    <a:pt x="0" y="0"/>
                  </a:moveTo>
                  <a:lnTo>
                    <a:pt x="2195822" y="0"/>
                  </a:lnTo>
                  <a:lnTo>
                    <a:pt x="2195822" y="361514"/>
                  </a:lnTo>
                  <a:lnTo>
                    <a:pt x="0" y="361514"/>
                  </a:lnTo>
                  <a:close/>
                </a:path>
              </a:pathLst>
            </a:custGeom>
            <a:solidFill>
              <a:srgbClr val="1800AD"/>
            </a:solidFill>
            <a:ln w="38100" cap="sq">
              <a:solidFill>
                <a:srgbClr val="FF751F"/>
              </a:solidFill>
              <a:prstDash val="solid"/>
              <a:miter/>
            </a:ln>
          </p:spPr>
        </p:sp>
        <p:sp>
          <p:nvSpPr>
            <p:cNvPr id="30" name="TextBox 30"/>
            <p:cNvSpPr txBox="1"/>
            <p:nvPr/>
          </p:nvSpPr>
          <p:spPr>
            <a:xfrm>
              <a:off x="0" y="-47625"/>
              <a:ext cx="2195822" cy="409139"/>
            </a:xfrm>
            <a:prstGeom prst="rect">
              <a:avLst/>
            </a:prstGeom>
          </p:spPr>
          <p:txBody>
            <a:bodyPr lIns="50800" tIns="50800" rIns="50800" bIns="50800" rtlCol="0" anchor="ctr"/>
            <a:lstStyle/>
            <a:p>
              <a:pPr algn="ctr">
                <a:lnSpc>
                  <a:spcPts val="2659"/>
                </a:lnSpc>
              </a:pPr>
              <a:endParaRPr/>
            </a:p>
          </p:txBody>
        </p:sp>
      </p:grpSp>
      <p:grpSp>
        <p:nvGrpSpPr>
          <p:cNvPr id="31" name="Group 31"/>
          <p:cNvGrpSpPr/>
          <p:nvPr/>
        </p:nvGrpSpPr>
        <p:grpSpPr>
          <a:xfrm>
            <a:off x="9547370" y="4957805"/>
            <a:ext cx="8337260" cy="1222119"/>
            <a:chOff x="0" y="0"/>
            <a:chExt cx="2195822" cy="321875"/>
          </a:xfrm>
        </p:grpSpPr>
        <p:sp>
          <p:nvSpPr>
            <p:cNvPr id="32" name="Freeform 32"/>
            <p:cNvSpPr/>
            <p:nvPr/>
          </p:nvSpPr>
          <p:spPr>
            <a:xfrm>
              <a:off x="0" y="0"/>
              <a:ext cx="2195822" cy="321875"/>
            </a:xfrm>
            <a:custGeom>
              <a:avLst/>
              <a:gdLst/>
              <a:ahLst/>
              <a:cxnLst/>
              <a:rect l="l" t="t" r="r" b="b"/>
              <a:pathLst>
                <a:path w="2195822" h="321875">
                  <a:moveTo>
                    <a:pt x="0" y="0"/>
                  </a:moveTo>
                  <a:lnTo>
                    <a:pt x="2195822" y="0"/>
                  </a:lnTo>
                  <a:lnTo>
                    <a:pt x="2195822" y="321875"/>
                  </a:lnTo>
                  <a:lnTo>
                    <a:pt x="0" y="321875"/>
                  </a:lnTo>
                  <a:close/>
                </a:path>
              </a:pathLst>
            </a:custGeom>
            <a:solidFill>
              <a:srgbClr val="1800AD"/>
            </a:solidFill>
            <a:ln w="38100" cap="sq">
              <a:solidFill>
                <a:srgbClr val="FFDE59"/>
              </a:solidFill>
              <a:prstDash val="solid"/>
              <a:miter/>
            </a:ln>
          </p:spPr>
        </p:sp>
        <p:sp>
          <p:nvSpPr>
            <p:cNvPr id="33" name="TextBox 33"/>
            <p:cNvSpPr txBox="1"/>
            <p:nvPr/>
          </p:nvSpPr>
          <p:spPr>
            <a:xfrm>
              <a:off x="0" y="-47625"/>
              <a:ext cx="2195822" cy="369500"/>
            </a:xfrm>
            <a:prstGeom prst="rect">
              <a:avLst/>
            </a:prstGeom>
          </p:spPr>
          <p:txBody>
            <a:bodyPr lIns="50800" tIns="50800" rIns="50800" bIns="50800" rtlCol="0" anchor="ctr"/>
            <a:lstStyle/>
            <a:p>
              <a:pPr algn="ctr">
                <a:lnSpc>
                  <a:spcPts val="2659"/>
                </a:lnSpc>
              </a:pPr>
              <a:endParaRPr/>
            </a:p>
          </p:txBody>
        </p:sp>
      </p:grpSp>
      <p:grpSp>
        <p:nvGrpSpPr>
          <p:cNvPr id="34" name="Group 34"/>
          <p:cNvGrpSpPr/>
          <p:nvPr/>
        </p:nvGrpSpPr>
        <p:grpSpPr>
          <a:xfrm>
            <a:off x="9553792" y="6370424"/>
            <a:ext cx="8337260" cy="1167838"/>
            <a:chOff x="0" y="0"/>
            <a:chExt cx="2195822" cy="307579"/>
          </a:xfrm>
        </p:grpSpPr>
        <p:sp>
          <p:nvSpPr>
            <p:cNvPr id="35" name="Freeform 35"/>
            <p:cNvSpPr/>
            <p:nvPr/>
          </p:nvSpPr>
          <p:spPr>
            <a:xfrm>
              <a:off x="0" y="0"/>
              <a:ext cx="2195822" cy="307579"/>
            </a:xfrm>
            <a:custGeom>
              <a:avLst/>
              <a:gdLst/>
              <a:ahLst/>
              <a:cxnLst/>
              <a:rect l="l" t="t" r="r" b="b"/>
              <a:pathLst>
                <a:path w="2195822" h="307579">
                  <a:moveTo>
                    <a:pt x="0" y="0"/>
                  </a:moveTo>
                  <a:lnTo>
                    <a:pt x="2195822" y="0"/>
                  </a:lnTo>
                  <a:lnTo>
                    <a:pt x="2195822" y="307579"/>
                  </a:lnTo>
                  <a:lnTo>
                    <a:pt x="0" y="307579"/>
                  </a:lnTo>
                  <a:close/>
                </a:path>
              </a:pathLst>
            </a:custGeom>
            <a:solidFill>
              <a:srgbClr val="1800AD"/>
            </a:solidFill>
            <a:ln w="38100" cap="sq">
              <a:solidFill>
                <a:srgbClr val="00BF63"/>
              </a:solidFill>
              <a:prstDash val="solid"/>
              <a:miter/>
            </a:ln>
          </p:spPr>
        </p:sp>
        <p:sp>
          <p:nvSpPr>
            <p:cNvPr id="36" name="TextBox 36"/>
            <p:cNvSpPr txBox="1"/>
            <p:nvPr/>
          </p:nvSpPr>
          <p:spPr>
            <a:xfrm>
              <a:off x="0" y="-47625"/>
              <a:ext cx="2195822" cy="355204"/>
            </a:xfrm>
            <a:prstGeom prst="rect">
              <a:avLst/>
            </a:prstGeom>
          </p:spPr>
          <p:txBody>
            <a:bodyPr lIns="50800" tIns="50800" rIns="50800" bIns="50800" rtlCol="0" anchor="ctr"/>
            <a:lstStyle/>
            <a:p>
              <a:pPr algn="ctr">
                <a:lnSpc>
                  <a:spcPts val="2659"/>
                </a:lnSpc>
              </a:pPr>
              <a:endParaRPr/>
            </a:p>
          </p:txBody>
        </p:sp>
      </p:grpSp>
      <p:sp>
        <p:nvSpPr>
          <p:cNvPr id="37" name="TextBox 37"/>
          <p:cNvSpPr txBox="1"/>
          <p:nvPr/>
        </p:nvSpPr>
        <p:spPr>
          <a:xfrm>
            <a:off x="1028700" y="215814"/>
            <a:ext cx="8131423" cy="812886"/>
          </a:xfrm>
          <a:prstGeom prst="rect">
            <a:avLst/>
          </a:prstGeom>
        </p:spPr>
        <p:txBody>
          <a:bodyPr lIns="0" tIns="0" rIns="0" bIns="0" rtlCol="0" anchor="t">
            <a:spAutoFit/>
          </a:bodyPr>
          <a:lstStyle/>
          <a:p>
            <a:pPr algn="l">
              <a:lnSpc>
                <a:spcPts val="6645"/>
              </a:lnSpc>
              <a:spcBef>
                <a:spcPct val="0"/>
              </a:spcBef>
            </a:pPr>
            <a:r>
              <a:rPr lang="en-US" sz="4746" b="1">
                <a:solidFill>
                  <a:srgbClr val="FF751F"/>
                </a:solidFill>
                <a:latin typeface="Montserrat Bold"/>
                <a:ea typeface="Montserrat Bold"/>
                <a:cs typeface="Montserrat Bold"/>
                <a:sym typeface="Montserrat Bold"/>
              </a:rPr>
              <a:t>02 | Rumusan Masalah</a:t>
            </a:r>
          </a:p>
        </p:txBody>
      </p:sp>
      <p:sp>
        <p:nvSpPr>
          <p:cNvPr id="38" name="TextBox 38"/>
          <p:cNvSpPr txBox="1"/>
          <p:nvPr/>
        </p:nvSpPr>
        <p:spPr>
          <a:xfrm>
            <a:off x="1028700" y="1129213"/>
            <a:ext cx="10183956" cy="1072602"/>
          </a:xfrm>
          <a:prstGeom prst="rect">
            <a:avLst/>
          </a:prstGeom>
        </p:spPr>
        <p:txBody>
          <a:bodyPr lIns="0" tIns="0" rIns="0" bIns="0" rtlCol="0" anchor="t">
            <a:spAutoFit/>
          </a:bodyPr>
          <a:lstStyle/>
          <a:p>
            <a:pPr algn="l">
              <a:lnSpc>
                <a:spcPts val="8605"/>
              </a:lnSpc>
              <a:spcBef>
                <a:spcPct val="0"/>
              </a:spcBef>
            </a:pPr>
            <a:r>
              <a:rPr lang="en-US" sz="6146" b="1">
                <a:solidFill>
                  <a:srgbClr val="1800AD"/>
                </a:solidFill>
                <a:latin typeface="Archivo Narrow Bold"/>
                <a:ea typeface="Archivo Narrow Bold"/>
                <a:cs typeface="Archivo Narrow Bold"/>
                <a:sym typeface="Archivo Narrow Bold"/>
              </a:rPr>
              <a:t>Permasalahan Penelitian</a:t>
            </a:r>
          </a:p>
        </p:txBody>
      </p:sp>
      <p:sp>
        <p:nvSpPr>
          <p:cNvPr id="39" name="TextBox 39"/>
          <p:cNvSpPr txBox="1"/>
          <p:nvPr/>
        </p:nvSpPr>
        <p:spPr>
          <a:xfrm>
            <a:off x="952696" y="2709612"/>
            <a:ext cx="7715250" cy="521334"/>
          </a:xfrm>
          <a:prstGeom prst="rect">
            <a:avLst/>
          </a:prstGeom>
        </p:spPr>
        <p:txBody>
          <a:bodyPr lIns="0" tIns="0" rIns="0" bIns="0" rtlCol="0" anchor="t">
            <a:spAutoFit/>
          </a:bodyPr>
          <a:lstStyle/>
          <a:p>
            <a:pPr algn="l">
              <a:lnSpc>
                <a:spcPts val="4340"/>
              </a:lnSpc>
            </a:pPr>
            <a:r>
              <a:rPr lang="en-US" sz="3100" b="1">
                <a:solidFill>
                  <a:srgbClr val="FF751F"/>
                </a:solidFill>
                <a:latin typeface="Canva Sans Bold"/>
                <a:ea typeface="Canva Sans Bold"/>
                <a:cs typeface="Canva Sans Bold"/>
                <a:sym typeface="Canva Sans Bold"/>
              </a:rPr>
              <a:t>Identifikasi Masalah</a:t>
            </a:r>
          </a:p>
        </p:txBody>
      </p:sp>
      <p:sp>
        <p:nvSpPr>
          <p:cNvPr id="40" name="TextBox 40"/>
          <p:cNvSpPr txBox="1"/>
          <p:nvPr/>
        </p:nvSpPr>
        <p:spPr>
          <a:xfrm>
            <a:off x="2276322" y="3566911"/>
            <a:ext cx="6830081" cy="1355723"/>
          </a:xfrm>
          <a:prstGeom prst="rect">
            <a:avLst/>
          </a:prstGeom>
        </p:spPr>
        <p:txBody>
          <a:bodyPr lIns="0" tIns="0" rIns="0" bIns="0" rtlCol="0" anchor="t">
            <a:spAutoFit/>
          </a:bodyPr>
          <a:lstStyle/>
          <a:p>
            <a:pPr algn="just">
              <a:lnSpc>
                <a:spcPts val="2940"/>
              </a:lnSpc>
            </a:pPr>
            <a:r>
              <a:rPr lang="en-US" sz="2100" b="1">
                <a:solidFill>
                  <a:srgbClr val="FFFFFF"/>
                </a:solidFill>
                <a:latin typeface="Canva Sans Bold"/>
                <a:ea typeface="Canva Sans Bold"/>
                <a:cs typeface="Canva Sans Bold"/>
                <a:sym typeface="Canva Sans Bold"/>
              </a:rPr>
              <a:t>Teks terjemahan Al-Qur'an memiliki kompleksitas linguistik tinggi yang menyulitkan pemodelan semantik</a:t>
            </a:r>
          </a:p>
          <a:p>
            <a:pPr algn="just">
              <a:lnSpc>
                <a:spcPts val="1960"/>
              </a:lnSpc>
            </a:pPr>
            <a:endParaRPr lang="en-US" sz="2100" b="1">
              <a:solidFill>
                <a:srgbClr val="FFFFFF"/>
              </a:solidFill>
              <a:latin typeface="Canva Sans Bold"/>
              <a:ea typeface="Canva Sans Bold"/>
              <a:cs typeface="Canva Sans Bold"/>
              <a:sym typeface="Canva Sans Bold"/>
            </a:endParaRPr>
          </a:p>
        </p:txBody>
      </p:sp>
      <p:sp>
        <p:nvSpPr>
          <p:cNvPr id="41" name="TextBox 41"/>
          <p:cNvSpPr txBox="1"/>
          <p:nvPr/>
        </p:nvSpPr>
        <p:spPr>
          <a:xfrm>
            <a:off x="2304897" y="5651412"/>
            <a:ext cx="6830081" cy="984248"/>
          </a:xfrm>
          <a:prstGeom prst="rect">
            <a:avLst/>
          </a:prstGeom>
        </p:spPr>
        <p:txBody>
          <a:bodyPr lIns="0" tIns="0" rIns="0" bIns="0" rtlCol="0" anchor="t">
            <a:spAutoFit/>
          </a:bodyPr>
          <a:lstStyle/>
          <a:p>
            <a:pPr algn="just">
              <a:lnSpc>
                <a:spcPts val="2940"/>
              </a:lnSpc>
            </a:pPr>
            <a:r>
              <a:rPr lang="en-US" sz="2100" b="1">
                <a:solidFill>
                  <a:srgbClr val="FFFFFF"/>
                </a:solidFill>
                <a:latin typeface="Canva Sans Bold"/>
                <a:ea typeface="Canva Sans Bold"/>
                <a:cs typeface="Canva Sans Bold"/>
                <a:sym typeface="Canva Sans Bold"/>
              </a:rPr>
              <a:t>CTM &amp; BERTopic memiliki keterbatasan berbeda: performa, komputasi, dan interpretabilitas</a:t>
            </a:r>
          </a:p>
          <a:p>
            <a:pPr algn="just">
              <a:lnSpc>
                <a:spcPts val="1960"/>
              </a:lnSpc>
            </a:pPr>
            <a:endParaRPr lang="en-US" sz="2100" b="1">
              <a:solidFill>
                <a:srgbClr val="FFFFFF"/>
              </a:solidFill>
              <a:latin typeface="Canva Sans Bold"/>
              <a:ea typeface="Canva Sans Bold"/>
              <a:cs typeface="Canva Sans Bold"/>
              <a:sym typeface="Canva Sans Bold"/>
            </a:endParaRPr>
          </a:p>
        </p:txBody>
      </p:sp>
      <p:sp>
        <p:nvSpPr>
          <p:cNvPr id="42" name="TextBox 42"/>
          <p:cNvSpPr txBox="1"/>
          <p:nvPr/>
        </p:nvSpPr>
        <p:spPr>
          <a:xfrm>
            <a:off x="2247747" y="7670647"/>
            <a:ext cx="6830081" cy="984248"/>
          </a:xfrm>
          <a:prstGeom prst="rect">
            <a:avLst/>
          </a:prstGeom>
        </p:spPr>
        <p:txBody>
          <a:bodyPr lIns="0" tIns="0" rIns="0" bIns="0" rtlCol="0" anchor="t">
            <a:spAutoFit/>
          </a:bodyPr>
          <a:lstStyle/>
          <a:p>
            <a:pPr algn="just">
              <a:lnSpc>
                <a:spcPts val="2940"/>
              </a:lnSpc>
            </a:pPr>
            <a:r>
              <a:rPr lang="en-US" sz="2100" b="1">
                <a:solidFill>
                  <a:srgbClr val="FFFFFF"/>
                </a:solidFill>
                <a:latin typeface="Canva Sans Bold"/>
                <a:ea typeface="Canva Sans Bold"/>
                <a:cs typeface="Canva Sans Bold"/>
                <a:sym typeface="Canva Sans Bold"/>
              </a:rPr>
              <a:t>Belum ada perbandingan komprehensif kedua metode pada korpus teks religius bahasa Indonesia</a:t>
            </a:r>
          </a:p>
          <a:p>
            <a:pPr algn="just">
              <a:lnSpc>
                <a:spcPts val="1960"/>
              </a:lnSpc>
            </a:pPr>
            <a:endParaRPr lang="en-US" sz="2100" b="1">
              <a:solidFill>
                <a:srgbClr val="FFFFFF"/>
              </a:solidFill>
              <a:latin typeface="Canva Sans Bold"/>
              <a:ea typeface="Canva Sans Bold"/>
              <a:cs typeface="Canva Sans Bold"/>
              <a:sym typeface="Canva Sans Bold"/>
            </a:endParaRPr>
          </a:p>
        </p:txBody>
      </p:sp>
      <p:sp>
        <p:nvSpPr>
          <p:cNvPr id="43" name="TextBox 43"/>
          <p:cNvSpPr txBox="1"/>
          <p:nvPr/>
        </p:nvSpPr>
        <p:spPr>
          <a:xfrm>
            <a:off x="9540947" y="2682847"/>
            <a:ext cx="7715250" cy="521334"/>
          </a:xfrm>
          <a:prstGeom prst="rect">
            <a:avLst/>
          </a:prstGeom>
        </p:spPr>
        <p:txBody>
          <a:bodyPr lIns="0" tIns="0" rIns="0" bIns="0" rtlCol="0" anchor="t">
            <a:spAutoFit/>
          </a:bodyPr>
          <a:lstStyle/>
          <a:p>
            <a:pPr algn="l">
              <a:lnSpc>
                <a:spcPts val="4340"/>
              </a:lnSpc>
            </a:pPr>
            <a:r>
              <a:rPr lang="en-US" sz="3100" b="1">
                <a:solidFill>
                  <a:srgbClr val="FF751F"/>
                </a:solidFill>
                <a:latin typeface="Canva Sans Bold"/>
                <a:ea typeface="Canva Sans Bold"/>
                <a:cs typeface="Canva Sans Bold"/>
                <a:sym typeface="Canva Sans Bold"/>
              </a:rPr>
              <a:t>Rumusan Masalah</a:t>
            </a:r>
          </a:p>
        </p:txBody>
      </p:sp>
      <p:sp>
        <p:nvSpPr>
          <p:cNvPr id="44" name="TextBox 44"/>
          <p:cNvSpPr txBox="1"/>
          <p:nvPr/>
        </p:nvSpPr>
        <p:spPr>
          <a:xfrm>
            <a:off x="10893148" y="3709006"/>
            <a:ext cx="6830081" cy="1005660"/>
          </a:xfrm>
          <a:prstGeom prst="rect">
            <a:avLst/>
          </a:prstGeom>
        </p:spPr>
        <p:txBody>
          <a:bodyPr lIns="0" tIns="0" rIns="0" bIns="0" rtlCol="0" anchor="t">
            <a:spAutoFit/>
          </a:bodyPr>
          <a:lstStyle/>
          <a:p>
            <a:pPr algn="just">
              <a:lnSpc>
                <a:spcPts val="2940"/>
              </a:lnSpc>
            </a:pPr>
            <a:r>
              <a:rPr lang="en-US" sz="2100" b="1" dirty="0" err="1">
                <a:solidFill>
                  <a:srgbClr val="FFFFFF"/>
                </a:solidFill>
                <a:latin typeface="Canva Sans Bold"/>
                <a:ea typeface="Canva Sans Bold"/>
                <a:cs typeface="Canva Sans Bold"/>
                <a:sym typeface="Canva Sans Bold"/>
              </a:rPr>
              <a:t>Bagaimana</a:t>
            </a:r>
            <a:r>
              <a:rPr lang="en-US" sz="2100" b="1" dirty="0">
                <a:solidFill>
                  <a:srgbClr val="FFFFFF"/>
                </a:solidFill>
                <a:latin typeface="Canva Sans Bold"/>
                <a:ea typeface="Canva Sans Bold"/>
                <a:cs typeface="Canva Sans Bold"/>
                <a:sym typeface="Canva Sans Bold"/>
              </a:rPr>
              <a:t> model CTM &amp; </a:t>
            </a:r>
            <a:r>
              <a:rPr lang="en-US" sz="2100" b="1" dirty="0" err="1">
                <a:solidFill>
                  <a:srgbClr val="FFFFFF"/>
                </a:solidFill>
                <a:latin typeface="Canva Sans Bold"/>
                <a:ea typeface="Canva Sans Bold"/>
                <a:cs typeface="Canva Sans Bold"/>
                <a:sym typeface="Canva Sans Bold"/>
              </a:rPr>
              <a:t>BERTopic</a:t>
            </a:r>
            <a:r>
              <a:rPr lang="en-US" sz="2100" b="1" dirty="0">
                <a:solidFill>
                  <a:srgbClr val="FFFFFF"/>
                </a:solidFill>
                <a:latin typeface="Canva Sans Bold"/>
                <a:ea typeface="Canva Sans Bold"/>
                <a:cs typeface="Canva Sans Bold"/>
                <a:sym typeface="Canva Sans Bold"/>
              </a:rPr>
              <a:t> </a:t>
            </a:r>
            <a:r>
              <a:rPr lang="en-US" sz="2100" b="1" dirty="0" err="1">
                <a:solidFill>
                  <a:srgbClr val="FFFFFF"/>
                </a:solidFill>
                <a:latin typeface="Canva Sans Bold"/>
                <a:ea typeface="Canva Sans Bold"/>
                <a:cs typeface="Canva Sans Bold"/>
                <a:sym typeface="Canva Sans Bold"/>
              </a:rPr>
              <a:t>dalam</a:t>
            </a:r>
            <a:r>
              <a:rPr lang="en-US" sz="2100" b="1" dirty="0">
                <a:solidFill>
                  <a:srgbClr val="FFFFFF"/>
                </a:solidFill>
                <a:latin typeface="Canva Sans Bold"/>
                <a:ea typeface="Canva Sans Bold"/>
                <a:cs typeface="Canva Sans Bold"/>
                <a:sym typeface="Canva Sans Bold"/>
              </a:rPr>
              <a:t> </a:t>
            </a:r>
            <a:r>
              <a:rPr lang="en-US" sz="2100" b="1" dirty="0" err="1">
                <a:solidFill>
                  <a:srgbClr val="FFFFFF"/>
                </a:solidFill>
                <a:latin typeface="Canva Sans Bold"/>
                <a:ea typeface="Canva Sans Bold"/>
                <a:cs typeface="Canva Sans Bold"/>
                <a:sym typeface="Canva Sans Bold"/>
              </a:rPr>
              <a:t>pembentukan</a:t>
            </a:r>
            <a:r>
              <a:rPr lang="en-US" sz="2100" b="1" dirty="0">
                <a:solidFill>
                  <a:srgbClr val="FFFFFF"/>
                </a:solidFill>
                <a:latin typeface="Canva Sans Bold"/>
                <a:ea typeface="Canva Sans Bold"/>
                <a:cs typeface="Canva Sans Bold"/>
                <a:sym typeface="Canva Sans Bold"/>
              </a:rPr>
              <a:t> </a:t>
            </a:r>
            <a:r>
              <a:rPr lang="en-US" sz="2100" b="1" dirty="0" err="1">
                <a:solidFill>
                  <a:srgbClr val="FFFFFF"/>
                </a:solidFill>
                <a:latin typeface="Canva Sans Bold"/>
                <a:ea typeface="Canva Sans Bold"/>
                <a:cs typeface="Canva Sans Bold"/>
                <a:sym typeface="Canva Sans Bold"/>
              </a:rPr>
              <a:t>topik</a:t>
            </a:r>
            <a:r>
              <a:rPr lang="en-US" sz="2100" b="1" dirty="0">
                <a:solidFill>
                  <a:srgbClr val="FFFFFF"/>
                </a:solidFill>
                <a:latin typeface="Canva Sans Bold"/>
                <a:ea typeface="Canva Sans Bold"/>
                <a:cs typeface="Canva Sans Bold"/>
                <a:sym typeface="Canva Sans Bold"/>
              </a:rPr>
              <a:t>  </a:t>
            </a:r>
            <a:r>
              <a:rPr lang="en-US" sz="2100" b="1" dirty="0" err="1">
                <a:solidFill>
                  <a:srgbClr val="FFFFFF"/>
                </a:solidFill>
                <a:latin typeface="Canva Sans Bold"/>
                <a:ea typeface="Canva Sans Bold"/>
                <a:cs typeface="Canva Sans Bold"/>
                <a:sym typeface="Canva Sans Bold"/>
              </a:rPr>
              <a:t>terjemahan</a:t>
            </a:r>
            <a:r>
              <a:rPr lang="en-US" sz="2100" b="1" dirty="0">
                <a:solidFill>
                  <a:srgbClr val="FFFFFF"/>
                </a:solidFill>
                <a:latin typeface="Canva Sans Bold"/>
                <a:ea typeface="Canva Sans Bold"/>
                <a:cs typeface="Canva Sans Bold"/>
                <a:sym typeface="Canva Sans Bold"/>
              </a:rPr>
              <a:t> Al-Qur'an?</a:t>
            </a:r>
          </a:p>
          <a:p>
            <a:pPr algn="just">
              <a:lnSpc>
                <a:spcPts val="1960"/>
              </a:lnSpc>
            </a:pPr>
            <a:endParaRPr lang="en-US" sz="2100" b="1" dirty="0">
              <a:solidFill>
                <a:srgbClr val="FFFFFF"/>
              </a:solidFill>
              <a:latin typeface="Canva Sans Bold"/>
              <a:ea typeface="Canva Sans Bold"/>
              <a:cs typeface="Canva Sans Bold"/>
              <a:sym typeface="Canva Sans Bold"/>
            </a:endParaRPr>
          </a:p>
        </p:txBody>
      </p:sp>
      <p:sp>
        <p:nvSpPr>
          <p:cNvPr id="45" name="TextBox 45"/>
          <p:cNvSpPr txBox="1"/>
          <p:nvPr/>
        </p:nvSpPr>
        <p:spPr>
          <a:xfrm>
            <a:off x="10835998" y="5122195"/>
            <a:ext cx="6830081" cy="984248"/>
          </a:xfrm>
          <a:prstGeom prst="rect">
            <a:avLst/>
          </a:prstGeom>
        </p:spPr>
        <p:txBody>
          <a:bodyPr lIns="0" tIns="0" rIns="0" bIns="0" rtlCol="0" anchor="t">
            <a:spAutoFit/>
          </a:bodyPr>
          <a:lstStyle/>
          <a:p>
            <a:pPr algn="just">
              <a:lnSpc>
                <a:spcPts val="2940"/>
              </a:lnSpc>
            </a:pPr>
            <a:r>
              <a:rPr lang="en-US" sz="2100" b="1">
                <a:solidFill>
                  <a:srgbClr val="FFFFFF"/>
                </a:solidFill>
                <a:latin typeface="Canva Sans Bold"/>
                <a:ea typeface="Canva Sans Bold"/>
                <a:cs typeface="Canva Sans Bold"/>
                <a:sym typeface="Canva Sans Bold"/>
              </a:rPr>
              <a:t>Bagaimana mengukur kualitas topik berdasarkan metrik koherensi (C_V, UMass, NPMI)?</a:t>
            </a:r>
          </a:p>
          <a:p>
            <a:pPr algn="just">
              <a:lnSpc>
                <a:spcPts val="1960"/>
              </a:lnSpc>
            </a:pPr>
            <a:endParaRPr lang="en-US" sz="2100" b="1">
              <a:solidFill>
                <a:srgbClr val="FFFFFF"/>
              </a:solidFill>
              <a:latin typeface="Canva Sans Bold"/>
              <a:ea typeface="Canva Sans Bold"/>
              <a:cs typeface="Canva Sans Bold"/>
              <a:sym typeface="Canva Sans Bold"/>
            </a:endParaRPr>
          </a:p>
        </p:txBody>
      </p:sp>
      <p:sp>
        <p:nvSpPr>
          <p:cNvPr id="46" name="TextBox 46"/>
          <p:cNvSpPr txBox="1"/>
          <p:nvPr/>
        </p:nvSpPr>
        <p:spPr>
          <a:xfrm>
            <a:off x="10835998" y="6418049"/>
            <a:ext cx="6830081" cy="1005660"/>
          </a:xfrm>
          <a:prstGeom prst="rect">
            <a:avLst/>
          </a:prstGeom>
        </p:spPr>
        <p:txBody>
          <a:bodyPr lIns="0" tIns="0" rIns="0" bIns="0" rtlCol="0" anchor="t">
            <a:spAutoFit/>
          </a:bodyPr>
          <a:lstStyle/>
          <a:p>
            <a:pPr>
              <a:lnSpc>
                <a:spcPts val="2940"/>
              </a:lnSpc>
            </a:pPr>
            <a:r>
              <a:rPr lang="en-US" sz="2100" b="1" dirty="0" err="1">
                <a:solidFill>
                  <a:srgbClr val="FFFFFF"/>
                </a:solidFill>
                <a:latin typeface="Canva Sans Bold"/>
                <a:ea typeface="Canva Sans Bold"/>
                <a:cs typeface="Canva Sans Bold"/>
                <a:sym typeface="Canva Sans Bold"/>
              </a:rPr>
              <a:t>Bagaimana</a:t>
            </a:r>
            <a:r>
              <a:rPr lang="en-US" sz="2100" b="1" dirty="0">
                <a:solidFill>
                  <a:srgbClr val="FFFFFF"/>
                </a:solidFill>
                <a:latin typeface="Canva Sans Bold"/>
                <a:ea typeface="Canva Sans Bold"/>
                <a:cs typeface="Canva Sans Bold"/>
                <a:sym typeface="Canva Sans Bold"/>
              </a:rPr>
              <a:t> </a:t>
            </a:r>
            <a:r>
              <a:rPr lang="en-US" sz="2100" b="1" dirty="0" err="1">
                <a:solidFill>
                  <a:srgbClr val="FFFFFF"/>
                </a:solidFill>
                <a:latin typeface="Canva Sans Bold"/>
                <a:ea typeface="Canva Sans Bold"/>
                <a:cs typeface="Canva Sans Bold"/>
                <a:sym typeface="Canva Sans Bold"/>
              </a:rPr>
              <a:t>menginterpretasikan</a:t>
            </a:r>
            <a:r>
              <a:rPr lang="en-US" sz="2100" b="1" dirty="0">
                <a:solidFill>
                  <a:srgbClr val="FFFFFF"/>
                </a:solidFill>
                <a:latin typeface="Canva Sans Bold"/>
                <a:ea typeface="Canva Sans Bold"/>
                <a:cs typeface="Canva Sans Bold"/>
                <a:sym typeface="Canva Sans Bold"/>
              </a:rPr>
              <a:t> dan </a:t>
            </a:r>
            <a:r>
              <a:rPr lang="en-US" sz="2100" b="1" dirty="0" err="1">
                <a:solidFill>
                  <a:srgbClr val="FFFFFF"/>
                </a:solidFill>
                <a:latin typeface="Canva Sans Bold"/>
                <a:ea typeface="Canva Sans Bold"/>
                <a:cs typeface="Canva Sans Bold"/>
                <a:sym typeface="Canva Sans Bold"/>
              </a:rPr>
              <a:t>mengelompokkan</a:t>
            </a:r>
            <a:r>
              <a:rPr lang="en-US" sz="2100" b="1" dirty="0">
                <a:solidFill>
                  <a:srgbClr val="FFFFFF"/>
                </a:solidFill>
                <a:latin typeface="Canva Sans Bold"/>
                <a:ea typeface="Canva Sans Bold"/>
                <a:cs typeface="Canva Sans Bold"/>
                <a:sym typeface="Canva Sans Bold"/>
              </a:rPr>
              <a:t> </a:t>
            </a:r>
            <a:r>
              <a:rPr lang="en-US" sz="2100" b="1" dirty="0" err="1">
                <a:solidFill>
                  <a:srgbClr val="FFFFFF"/>
                </a:solidFill>
                <a:latin typeface="Canva Sans Bold"/>
                <a:ea typeface="Canva Sans Bold"/>
                <a:cs typeface="Canva Sans Bold"/>
                <a:sym typeface="Canva Sans Bold"/>
              </a:rPr>
              <a:t>tema</a:t>
            </a:r>
            <a:r>
              <a:rPr lang="en-US" sz="2100" b="1" dirty="0">
                <a:solidFill>
                  <a:srgbClr val="FFFFFF"/>
                </a:solidFill>
                <a:latin typeface="Canva Sans Bold"/>
                <a:ea typeface="Canva Sans Bold"/>
                <a:cs typeface="Canva Sans Bold"/>
                <a:sym typeface="Canva Sans Bold"/>
              </a:rPr>
              <a:t> </a:t>
            </a:r>
            <a:r>
              <a:rPr lang="en-US" sz="2100" b="1" dirty="0" err="1">
                <a:solidFill>
                  <a:srgbClr val="FFFFFF"/>
                </a:solidFill>
                <a:latin typeface="Canva Sans Bold"/>
                <a:ea typeface="Canva Sans Bold"/>
                <a:cs typeface="Canva Sans Bold"/>
                <a:sym typeface="Canva Sans Bold"/>
              </a:rPr>
              <a:t>dari</a:t>
            </a:r>
            <a:r>
              <a:rPr lang="en-US" sz="2100" b="1" dirty="0">
                <a:solidFill>
                  <a:srgbClr val="FFFFFF"/>
                </a:solidFill>
                <a:latin typeface="Canva Sans Bold"/>
                <a:ea typeface="Canva Sans Bold"/>
                <a:cs typeface="Canva Sans Bold"/>
                <a:sym typeface="Canva Sans Bold"/>
              </a:rPr>
              <a:t> </a:t>
            </a:r>
            <a:r>
              <a:rPr lang="en-US" sz="2100" b="1" dirty="0" err="1">
                <a:solidFill>
                  <a:srgbClr val="FFFFFF"/>
                </a:solidFill>
                <a:latin typeface="Canva Sans Bold"/>
                <a:ea typeface="Canva Sans Bold"/>
                <a:cs typeface="Canva Sans Bold"/>
                <a:sym typeface="Canva Sans Bold"/>
              </a:rPr>
              <a:t>kedua</a:t>
            </a:r>
            <a:r>
              <a:rPr lang="en-US" sz="2100" b="1" dirty="0">
                <a:solidFill>
                  <a:srgbClr val="FFFFFF"/>
                </a:solidFill>
                <a:latin typeface="Canva Sans Bold"/>
                <a:ea typeface="Canva Sans Bold"/>
                <a:cs typeface="Canva Sans Bold"/>
                <a:sym typeface="Canva Sans Bold"/>
              </a:rPr>
              <a:t> </a:t>
            </a:r>
            <a:r>
              <a:rPr lang="en-US" sz="2100" b="1" dirty="0" err="1">
                <a:solidFill>
                  <a:srgbClr val="FFFFFF"/>
                </a:solidFill>
                <a:latin typeface="Canva Sans Bold"/>
                <a:ea typeface="Canva Sans Bold"/>
                <a:cs typeface="Canva Sans Bold"/>
                <a:sym typeface="Canva Sans Bold"/>
              </a:rPr>
              <a:t>metode</a:t>
            </a:r>
            <a:r>
              <a:rPr lang="en-US" sz="2100" b="1" dirty="0">
                <a:solidFill>
                  <a:srgbClr val="FFFFFF"/>
                </a:solidFill>
                <a:latin typeface="Canva Sans Bold"/>
                <a:ea typeface="Canva Sans Bold"/>
                <a:cs typeface="Canva Sans Bold"/>
                <a:sym typeface="Canva Sans Bold"/>
              </a:rPr>
              <a:t>?</a:t>
            </a:r>
          </a:p>
          <a:p>
            <a:pPr algn="just">
              <a:lnSpc>
                <a:spcPts val="1960"/>
              </a:lnSpc>
            </a:pPr>
            <a:endParaRPr lang="en-US" sz="2100" b="1" dirty="0">
              <a:solidFill>
                <a:srgbClr val="FFFFFF"/>
              </a:solidFill>
              <a:latin typeface="Canva Sans Bold"/>
              <a:ea typeface="Canva Sans Bold"/>
              <a:cs typeface="Canva Sans Bold"/>
              <a:sym typeface="Canva Sans Bold"/>
            </a:endParaRPr>
          </a:p>
        </p:txBody>
      </p:sp>
      <p:sp>
        <p:nvSpPr>
          <p:cNvPr id="47" name="TextBox 47"/>
          <p:cNvSpPr txBox="1"/>
          <p:nvPr/>
        </p:nvSpPr>
        <p:spPr>
          <a:xfrm>
            <a:off x="9970938" y="3481186"/>
            <a:ext cx="447829" cy="1138591"/>
          </a:xfrm>
          <a:prstGeom prst="rect">
            <a:avLst/>
          </a:prstGeom>
        </p:spPr>
        <p:txBody>
          <a:bodyPr lIns="0" tIns="0" rIns="0" bIns="0" rtlCol="0" anchor="t">
            <a:spAutoFit/>
          </a:bodyPr>
          <a:lstStyle/>
          <a:p>
            <a:pPr algn="ctr">
              <a:lnSpc>
                <a:spcPts val="9368"/>
              </a:lnSpc>
            </a:pPr>
            <a:r>
              <a:rPr lang="en-US" sz="6691" b="1">
                <a:solidFill>
                  <a:srgbClr val="FF751F"/>
                </a:solidFill>
                <a:latin typeface="Canva Sans Bold"/>
                <a:ea typeface="Canva Sans Bold"/>
                <a:cs typeface="Canva Sans Bold"/>
                <a:sym typeface="Canva Sans Bold"/>
              </a:rPr>
              <a:t>1</a:t>
            </a:r>
          </a:p>
        </p:txBody>
      </p:sp>
      <p:sp>
        <p:nvSpPr>
          <p:cNvPr id="48" name="TextBox 48"/>
          <p:cNvSpPr txBox="1"/>
          <p:nvPr/>
        </p:nvSpPr>
        <p:spPr>
          <a:xfrm>
            <a:off x="9945217" y="4833980"/>
            <a:ext cx="473550" cy="1138591"/>
          </a:xfrm>
          <a:prstGeom prst="rect">
            <a:avLst/>
          </a:prstGeom>
        </p:spPr>
        <p:txBody>
          <a:bodyPr lIns="0" tIns="0" rIns="0" bIns="0" rtlCol="0" anchor="t">
            <a:spAutoFit/>
          </a:bodyPr>
          <a:lstStyle/>
          <a:p>
            <a:pPr algn="ctr">
              <a:lnSpc>
                <a:spcPts val="9368"/>
              </a:lnSpc>
            </a:pPr>
            <a:r>
              <a:rPr lang="en-US" sz="6691" b="1">
                <a:solidFill>
                  <a:srgbClr val="FF751F"/>
                </a:solidFill>
                <a:latin typeface="Canva Sans Bold"/>
                <a:ea typeface="Canva Sans Bold"/>
                <a:cs typeface="Canva Sans Bold"/>
                <a:sym typeface="Canva Sans Bold"/>
              </a:rPr>
              <a:t>2</a:t>
            </a:r>
          </a:p>
        </p:txBody>
      </p:sp>
      <p:sp>
        <p:nvSpPr>
          <p:cNvPr id="49" name="TextBox 49"/>
          <p:cNvSpPr txBox="1"/>
          <p:nvPr/>
        </p:nvSpPr>
        <p:spPr>
          <a:xfrm>
            <a:off x="9956649" y="6246599"/>
            <a:ext cx="502129" cy="1138591"/>
          </a:xfrm>
          <a:prstGeom prst="rect">
            <a:avLst/>
          </a:prstGeom>
        </p:spPr>
        <p:txBody>
          <a:bodyPr lIns="0" tIns="0" rIns="0" bIns="0" rtlCol="0" anchor="t">
            <a:spAutoFit/>
          </a:bodyPr>
          <a:lstStyle/>
          <a:p>
            <a:pPr algn="ctr">
              <a:lnSpc>
                <a:spcPts val="9368"/>
              </a:lnSpc>
            </a:pPr>
            <a:r>
              <a:rPr lang="en-US" sz="6691" b="1">
                <a:solidFill>
                  <a:srgbClr val="FF751F"/>
                </a:solidFill>
                <a:latin typeface="Canva Sans Bold"/>
                <a:ea typeface="Canva Sans Bold"/>
                <a:cs typeface="Canva Sans Bold"/>
                <a:sym typeface="Canva Sans Bold"/>
              </a:rPr>
              <a:t>3</a:t>
            </a:r>
          </a:p>
        </p:txBody>
      </p:sp>
      <p:grpSp>
        <p:nvGrpSpPr>
          <p:cNvPr id="50" name="Group 50"/>
          <p:cNvGrpSpPr/>
          <p:nvPr/>
        </p:nvGrpSpPr>
        <p:grpSpPr>
          <a:xfrm>
            <a:off x="9553792" y="7662087"/>
            <a:ext cx="8337260" cy="1167838"/>
            <a:chOff x="0" y="0"/>
            <a:chExt cx="2195822" cy="307579"/>
          </a:xfrm>
        </p:grpSpPr>
        <p:sp>
          <p:nvSpPr>
            <p:cNvPr id="51" name="Freeform 51"/>
            <p:cNvSpPr/>
            <p:nvPr/>
          </p:nvSpPr>
          <p:spPr>
            <a:xfrm>
              <a:off x="0" y="0"/>
              <a:ext cx="2195822" cy="307579"/>
            </a:xfrm>
            <a:custGeom>
              <a:avLst/>
              <a:gdLst/>
              <a:ahLst/>
              <a:cxnLst/>
              <a:rect l="l" t="t" r="r" b="b"/>
              <a:pathLst>
                <a:path w="2195822" h="307579">
                  <a:moveTo>
                    <a:pt x="0" y="0"/>
                  </a:moveTo>
                  <a:lnTo>
                    <a:pt x="2195822" y="0"/>
                  </a:lnTo>
                  <a:lnTo>
                    <a:pt x="2195822" y="307579"/>
                  </a:lnTo>
                  <a:lnTo>
                    <a:pt x="0" y="307579"/>
                  </a:lnTo>
                  <a:close/>
                </a:path>
              </a:pathLst>
            </a:custGeom>
            <a:solidFill>
              <a:srgbClr val="1800AD"/>
            </a:solidFill>
            <a:ln w="38100" cap="sq">
              <a:solidFill>
                <a:srgbClr val="CF4119"/>
              </a:solidFill>
              <a:prstDash val="solid"/>
              <a:miter/>
            </a:ln>
          </p:spPr>
        </p:sp>
        <p:sp>
          <p:nvSpPr>
            <p:cNvPr id="52" name="TextBox 52"/>
            <p:cNvSpPr txBox="1"/>
            <p:nvPr/>
          </p:nvSpPr>
          <p:spPr>
            <a:xfrm>
              <a:off x="0" y="-47625"/>
              <a:ext cx="2195822" cy="355204"/>
            </a:xfrm>
            <a:prstGeom prst="rect">
              <a:avLst/>
            </a:prstGeom>
          </p:spPr>
          <p:txBody>
            <a:bodyPr lIns="50800" tIns="50800" rIns="50800" bIns="50800" rtlCol="0" anchor="ctr"/>
            <a:lstStyle/>
            <a:p>
              <a:pPr algn="ctr">
                <a:lnSpc>
                  <a:spcPts val="2659"/>
                </a:lnSpc>
              </a:pPr>
              <a:endParaRPr/>
            </a:p>
          </p:txBody>
        </p:sp>
      </p:grpSp>
      <p:sp>
        <p:nvSpPr>
          <p:cNvPr id="53" name="TextBox 53"/>
          <p:cNvSpPr txBox="1"/>
          <p:nvPr/>
        </p:nvSpPr>
        <p:spPr>
          <a:xfrm>
            <a:off x="9903344" y="7584922"/>
            <a:ext cx="528717" cy="1138591"/>
          </a:xfrm>
          <a:prstGeom prst="rect">
            <a:avLst/>
          </a:prstGeom>
        </p:spPr>
        <p:txBody>
          <a:bodyPr lIns="0" tIns="0" rIns="0" bIns="0" rtlCol="0" anchor="t">
            <a:spAutoFit/>
          </a:bodyPr>
          <a:lstStyle/>
          <a:p>
            <a:pPr algn="ctr">
              <a:lnSpc>
                <a:spcPts val="9368"/>
              </a:lnSpc>
            </a:pPr>
            <a:r>
              <a:rPr lang="en-US" sz="6691" b="1">
                <a:solidFill>
                  <a:srgbClr val="FF751F"/>
                </a:solidFill>
                <a:latin typeface="Canva Sans Bold"/>
                <a:ea typeface="Canva Sans Bold"/>
                <a:cs typeface="Canva Sans Bold"/>
                <a:sym typeface="Canva Sans Bold"/>
              </a:rPr>
              <a:t>4</a:t>
            </a:r>
          </a:p>
        </p:txBody>
      </p:sp>
      <p:sp>
        <p:nvSpPr>
          <p:cNvPr id="54" name="TextBox 54"/>
          <p:cNvSpPr txBox="1"/>
          <p:nvPr/>
        </p:nvSpPr>
        <p:spPr>
          <a:xfrm>
            <a:off x="10835998" y="7766862"/>
            <a:ext cx="6830081" cy="984248"/>
          </a:xfrm>
          <a:prstGeom prst="rect">
            <a:avLst/>
          </a:prstGeom>
        </p:spPr>
        <p:txBody>
          <a:bodyPr lIns="0" tIns="0" rIns="0" bIns="0" rtlCol="0" anchor="t">
            <a:spAutoFit/>
          </a:bodyPr>
          <a:lstStyle/>
          <a:p>
            <a:pPr algn="just">
              <a:lnSpc>
                <a:spcPts val="2940"/>
              </a:lnSpc>
            </a:pPr>
            <a:r>
              <a:rPr lang="en-US" sz="2100" b="1" dirty="0">
                <a:solidFill>
                  <a:srgbClr val="FFFFFF"/>
                </a:solidFill>
                <a:latin typeface="Canva Sans Bold"/>
                <a:ea typeface="Canva Sans Bold"/>
                <a:cs typeface="Canva Sans Bold"/>
                <a:sym typeface="Canva Sans Bold"/>
              </a:rPr>
              <a:t>Apa </a:t>
            </a:r>
            <a:r>
              <a:rPr lang="en-US" sz="2100" b="1" dirty="0" err="1">
                <a:solidFill>
                  <a:srgbClr val="FFFFFF"/>
                </a:solidFill>
                <a:latin typeface="Canva Sans Bold"/>
                <a:ea typeface="Canva Sans Bold"/>
                <a:cs typeface="Canva Sans Bold"/>
                <a:sym typeface="Canva Sans Bold"/>
              </a:rPr>
              <a:t>tema</a:t>
            </a:r>
            <a:r>
              <a:rPr lang="en-US" sz="2100" b="1" dirty="0">
                <a:solidFill>
                  <a:srgbClr val="FFFFFF"/>
                </a:solidFill>
                <a:latin typeface="Canva Sans Bold"/>
                <a:ea typeface="Canva Sans Bold"/>
                <a:cs typeface="Canva Sans Bold"/>
                <a:sym typeface="Canva Sans Bold"/>
              </a:rPr>
              <a:t> </a:t>
            </a:r>
            <a:r>
              <a:rPr lang="en-US" sz="2100" b="1" dirty="0" err="1">
                <a:solidFill>
                  <a:srgbClr val="FFFFFF"/>
                </a:solidFill>
                <a:latin typeface="Canva Sans Bold"/>
                <a:ea typeface="Canva Sans Bold"/>
                <a:cs typeface="Canva Sans Bold"/>
                <a:sym typeface="Canva Sans Bold"/>
              </a:rPr>
              <a:t>utama</a:t>
            </a:r>
            <a:r>
              <a:rPr lang="en-US" sz="2100" b="1" dirty="0">
                <a:solidFill>
                  <a:srgbClr val="FFFFFF"/>
                </a:solidFill>
                <a:latin typeface="Canva Sans Bold"/>
                <a:ea typeface="Canva Sans Bold"/>
                <a:cs typeface="Canva Sans Bold"/>
                <a:sym typeface="Canva Sans Bold"/>
              </a:rPr>
              <a:t> yang </a:t>
            </a:r>
            <a:r>
              <a:rPr lang="en-US" sz="2100" b="1" dirty="0" err="1">
                <a:solidFill>
                  <a:srgbClr val="FFFFFF"/>
                </a:solidFill>
                <a:latin typeface="Canva Sans Bold"/>
                <a:ea typeface="Canva Sans Bold"/>
                <a:cs typeface="Canva Sans Bold"/>
                <a:sym typeface="Canva Sans Bold"/>
              </a:rPr>
              <a:t>terbentuk</a:t>
            </a:r>
            <a:r>
              <a:rPr lang="en-US" sz="2100" b="1" dirty="0">
                <a:solidFill>
                  <a:srgbClr val="FFFFFF"/>
                </a:solidFill>
                <a:latin typeface="Canva Sans Bold"/>
                <a:ea typeface="Canva Sans Bold"/>
                <a:cs typeface="Canva Sans Bold"/>
                <a:sym typeface="Canva Sans Bold"/>
              </a:rPr>
              <a:t> </a:t>
            </a:r>
            <a:r>
              <a:rPr lang="en-US" sz="2100" b="1" dirty="0" err="1">
                <a:solidFill>
                  <a:srgbClr val="FFFFFF"/>
                </a:solidFill>
                <a:latin typeface="Canva Sans Bold"/>
                <a:ea typeface="Canva Sans Bold"/>
                <a:cs typeface="Canva Sans Bold"/>
                <a:sym typeface="Canva Sans Bold"/>
              </a:rPr>
              <a:t>dari</a:t>
            </a:r>
            <a:r>
              <a:rPr lang="en-US" sz="2100" b="1" dirty="0">
                <a:solidFill>
                  <a:srgbClr val="FFFFFF"/>
                </a:solidFill>
                <a:latin typeface="Canva Sans Bold"/>
                <a:ea typeface="Canva Sans Bold"/>
                <a:cs typeface="Canva Sans Bold"/>
                <a:sym typeface="Canva Sans Bold"/>
              </a:rPr>
              <a:t> </a:t>
            </a:r>
            <a:r>
              <a:rPr lang="en-US" sz="2100" b="1" dirty="0" err="1">
                <a:solidFill>
                  <a:srgbClr val="FFFFFF"/>
                </a:solidFill>
                <a:latin typeface="Canva Sans Bold"/>
                <a:ea typeface="Canva Sans Bold"/>
                <a:cs typeface="Canva Sans Bold"/>
                <a:sym typeface="Canva Sans Bold"/>
              </a:rPr>
              <a:t>hasil</a:t>
            </a:r>
            <a:r>
              <a:rPr lang="en-US" sz="2100" b="1" dirty="0">
                <a:solidFill>
                  <a:srgbClr val="FFFFFF"/>
                </a:solidFill>
                <a:latin typeface="Canva Sans Bold"/>
                <a:ea typeface="Canva Sans Bold"/>
                <a:cs typeface="Canva Sans Bold"/>
                <a:sym typeface="Canva Sans Bold"/>
              </a:rPr>
              <a:t> </a:t>
            </a:r>
            <a:r>
              <a:rPr lang="en-US" sz="2100" b="1" dirty="0" err="1">
                <a:solidFill>
                  <a:srgbClr val="FFFFFF"/>
                </a:solidFill>
                <a:latin typeface="Canva Sans Bold"/>
                <a:ea typeface="Canva Sans Bold"/>
                <a:cs typeface="Canva Sans Bold"/>
                <a:sym typeface="Canva Sans Bold"/>
              </a:rPr>
              <a:t>kedua</a:t>
            </a:r>
            <a:r>
              <a:rPr lang="en-US" sz="2100" b="1" dirty="0">
                <a:solidFill>
                  <a:srgbClr val="FFFFFF"/>
                </a:solidFill>
                <a:latin typeface="Canva Sans Bold"/>
                <a:ea typeface="Canva Sans Bold"/>
                <a:cs typeface="Canva Sans Bold"/>
                <a:sym typeface="Canva Sans Bold"/>
              </a:rPr>
              <a:t> model pada </a:t>
            </a:r>
            <a:r>
              <a:rPr lang="en-US" sz="2100" b="1" dirty="0" err="1">
                <a:solidFill>
                  <a:srgbClr val="FFFFFF"/>
                </a:solidFill>
                <a:latin typeface="Canva Sans Bold"/>
                <a:ea typeface="Canva Sans Bold"/>
                <a:cs typeface="Canva Sans Bold"/>
                <a:sym typeface="Canva Sans Bold"/>
              </a:rPr>
              <a:t>terjemahan</a:t>
            </a:r>
            <a:r>
              <a:rPr lang="en-US" sz="2100" b="1" dirty="0">
                <a:solidFill>
                  <a:srgbClr val="FFFFFF"/>
                </a:solidFill>
                <a:latin typeface="Canva Sans Bold"/>
                <a:ea typeface="Canva Sans Bold"/>
                <a:cs typeface="Canva Sans Bold"/>
                <a:sym typeface="Canva Sans Bold"/>
              </a:rPr>
              <a:t> Al-Qur'an?</a:t>
            </a:r>
          </a:p>
          <a:p>
            <a:pPr algn="just">
              <a:lnSpc>
                <a:spcPts val="1960"/>
              </a:lnSpc>
            </a:pPr>
            <a:endParaRPr lang="en-US" sz="2100" b="1" dirty="0">
              <a:solidFill>
                <a:srgbClr val="FFFFFF"/>
              </a:solidFill>
              <a:latin typeface="Canva Sans Bold"/>
              <a:ea typeface="Canva Sans Bold"/>
              <a:cs typeface="Canva Sans Bold"/>
              <a:sym typeface="Canva Sans Bo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553792" y="5920701"/>
            <a:ext cx="8337260" cy="1077000"/>
            <a:chOff x="0" y="0"/>
            <a:chExt cx="2195822" cy="283654"/>
          </a:xfrm>
        </p:grpSpPr>
        <p:sp>
          <p:nvSpPr>
            <p:cNvPr id="3" name="Freeform 3"/>
            <p:cNvSpPr/>
            <p:nvPr/>
          </p:nvSpPr>
          <p:spPr>
            <a:xfrm>
              <a:off x="0" y="0"/>
              <a:ext cx="2195822" cy="283654"/>
            </a:xfrm>
            <a:custGeom>
              <a:avLst/>
              <a:gdLst/>
              <a:ahLst/>
              <a:cxnLst/>
              <a:rect l="l" t="t" r="r" b="b"/>
              <a:pathLst>
                <a:path w="2195822" h="283654">
                  <a:moveTo>
                    <a:pt x="0" y="0"/>
                  </a:moveTo>
                  <a:lnTo>
                    <a:pt x="2195822" y="0"/>
                  </a:lnTo>
                  <a:lnTo>
                    <a:pt x="2195822" y="283654"/>
                  </a:lnTo>
                  <a:lnTo>
                    <a:pt x="0" y="283654"/>
                  </a:lnTo>
                  <a:close/>
                </a:path>
              </a:pathLst>
            </a:custGeom>
            <a:solidFill>
              <a:srgbClr val="081F8C"/>
            </a:solidFill>
            <a:ln w="38100" cap="sq">
              <a:solidFill>
                <a:srgbClr val="FF751F"/>
              </a:solidFill>
              <a:prstDash val="solid"/>
              <a:miter/>
            </a:ln>
          </p:spPr>
        </p:sp>
        <p:sp>
          <p:nvSpPr>
            <p:cNvPr id="4" name="TextBox 4"/>
            <p:cNvSpPr txBox="1"/>
            <p:nvPr/>
          </p:nvSpPr>
          <p:spPr>
            <a:xfrm>
              <a:off x="0" y="-47625"/>
              <a:ext cx="2195822" cy="331279"/>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rot="5033559" flipV="1">
            <a:off x="3743699" y="-3979526"/>
            <a:ext cx="9848495" cy="18613993"/>
          </a:xfrm>
          <a:custGeom>
            <a:avLst/>
            <a:gdLst/>
            <a:ahLst/>
            <a:cxnLst/>
            <a:rect l="l" t="t" r="r" b="b"/>
            <a:pathLst>
              <a:path w="9848495" h="18613993">
                <a:moveTo>
                  <a:pt x="0" y="18613993"/>
                </a:moveTo>
                <a:lnTo>
                  <a:pt x="9848495" y="18613993"/>
                </a:lnTo>
                <a:lnTo>
                  <a:pt x="9848495" y="0"/>
                </a:lnTo>
                <a:lnTo>
                  <a:pt x="0" y="0"/>
                </a:lnTo>
                <a:lnTo>
                  <a:pt x="0" y="18613993"/>
                </a:lnTo>
                <a:close/>
              </a:path>
            </a:pathLst>
          </a:custGeom>
          <a:blipFill>
            <a:blip r:embed="rId3">
              <a:alphaModFix amt="7999"/>
              <a:extLst>
                <a:ext uri="{96DAC541-7B7A-43D3-8B79-37D633B846F1}">
                  <asvg:svgBlip xmlns:asvg="http://schemas.microsoft.com/office/drawing/2016/SVG/main" r:embed="rId4"/>
                </a:ext>
              </a:extLst>
            </a:blip>
            <a:stretch>
              <a:fillRect/>
            </a:stretch>
          </a:blipFill>
        </p:spPr>
      </p:sp>
      <p:grpSp>
        <p:nvGrpSpPr>
          <p:cNvPr id="6" name="Group 6"/>
          <p:cNvGrpSpPr/>
          <p:nvPr/>
        </p:nvGrpSpPr>
        <p:grpSpPr>
          <a:xfrm>
            <a:off x="0" y="9708804"/>
            <a:ext cx="9144000" cy="560871"/>
            <a:chOff x="0" y="0"/>
            <a:chExt cx="2408296" cy="147719"/>
          </a:xfrm>
        </p:grpSpPr>
        <p:sp>
          <p:nvSpPr>
            <p:cNvPr id="7" name="Freeform 7"/>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1800AD"/>
            </a:solidFill>
          </p:spPr>
        </p:sp>
        <p:sp>
          <p:nvSpPr>
            <p:cNvPr id="8" name="TextBox 8"/>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1028700" y="2479309"/>
            <a:ext cx="8115300" cy="137058"/>
            <a:chOff x="0" y="0"/>
            <a:chExt cx="2137363" cy="36097"/>
          </a:xfrm>
        </p:grpSpPr>
        <p:sp>
          <p:nvSpPr>
            <p:cNvPr id="10" name="Freeform 10"/>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FFDE59"/>
            </a:solidFill>
          </p:spPr>
        </p:sp>
        <p:sp>
          <p:nvSpPr>
            <p:cNvPr id="11" name="TextBox 11"/>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9144000" y="2479309"/>
            <a:ext cx="8115300" cy="137058"/>
            <a:chOff x="0" y="0"/>
            <a:chExt cx="2137363" cy="36097"/>
          </a:xfrm>
        </p:grpSpPr>
        <p:sp>
          <p:nvSpPr>
            <p:cNvPr id="13" name="Freeform 13"/>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1800AD"/>
            </a:solidFill>
          </p:spPr>
        </p:sp>
        <p:sp>
          <p:nvSpPr>
            <p:cNvPr id="14" name="TextBox 14"/>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sp>
        <p:nvSpPr>
          <p:cNvPr id="15" name="Freeform 15"/>
          <p:cNvSpPr/>
          <p:nvPr/>
        </p:nvSpPr>
        <p:spPr>
          <a:xfrm>
            <a:off x="15487240" y="516545"/>
            <a:ext cx="1664226" cy="1616285"/>
          </a:xfrm>
          <a:custGeom>
            <a:avLst/>
            <a:gdLst/>
            <a:ahLst/>
            <a:cxnLst/>
            <a:rect l="l" t="t" r="r" b="b"/>
            <a:pathLst>
              <a:path w="1664226" h="1616285">
                <a:moveTo>
                  <a:pt x="0" y="0"/>
                </a:moveTo>
                <a:lnTo>
                  <a:pt x="1664226" y="0"/>
                </a:lnTo>
                <a:lnTo>
                  <a:pt x="1664226" y="1616285"/>
                </a:lnTo>
                <a:lnTo>
                  <a:pt x="0" y="1616285"/>
                </a:lnTo>
                <a:lnTo>
                  <a:pt x="0" y="0"/>
                </a:lnTo>
                <a:close/>
              </a:path>
            </a:pathLst>
          </a:custGeom>
          <a:blipFill>
            <a:blip r:embed="rId5"/>
            <a:stretch>
              <a:fillRect/>
            </a:stretch>
          </a:blipFill>
        </p:spPr>
      </p:sp>
      <p:grpSp>
        <p:nvGrpSpPr>
          <p:cNvPr id="16" name="Group 16"/>
          <p:cNvGrpSpPr/>
          <p:nvPr/>
        </p:nvGrpSpPr>
        <p:grpSpPr>
          <a:xfrm>
            <a:off x="9144000" y="9708804"/>
            <a:ext cx="9144000" cy="560871"/>
            <a:chOff x="0" y="0"/>
            <a:chExt cx="2408296" cy="147719"/>
          </a:xfrm>
        </p:grpSpPr>
        <p:sp>
          <p:nvSpPr>
            <p:cNvPr id="17" name="Freeform 17"/>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FFDE59"/>
            </a:solidFill>
          </p:spPr>
        </p:sp>
        <p:sp>
          <p:nvSpPr>
            <p:cNvPr id="18" name="TextBox 18"/>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65541" y="3421446"/>
            <a:ext cx="8337260" cy="1670231"/>
            <a:chOff x="0" y="0"/>
            <a:chExt cx="2195822" cy="439896"/>
          </a:xfrm>
        </p:grpSpPr>
        <p:sp>
          <p:nvSpPr>
            <p:cNvPr id="20" name="Freeform 20"/>
            <p:cNvSpPr/>
            <p:nvPr/>
          </p:nvSpPr>
          <p:spPr>
            <a:xfrm>
              <a:off x="0" y="0"/>
              <a:ext cx="2195822" cy="439896"/>
            </a:xfrm>
            <a:custGeom>
              <a:avLst/>
              <a:gdLst/>
              <a:ahLst/>
              <a:cxnLst/>
              <a:rect l="l" t="t" r="r" b="b"/>
              <a:pathLst>
                <a:path w="2195822" h="439896">
                  <a:moveTo>
                    <a:pt x="0" y="0"/>
                  </a:moveTo>
                  <a:lnTo>
                    <a:pt x="2195822" y="0"/>
                  </a:lnTo>
                  <a:lnTo>
                    <a:pt x="2195822" y="439896"/>
                  </a:lnTo>
                  <a:lnTo>
                    <a:pt x="0" y="439896"/>
                  </a:lnTo>
                  <a:close/>
                </a:path>
              </a:pathLst>
            </a:custGeom>
            <a:solidFill>
              <a:srgbClr val="1800AD"/>
            </a:solidFill>
            <a:ln w="38100" cap="sq">
              <a:solidFill>
                <a:srgbClr val="FF751F"/>
              </a:solidFill>
              <a:prstDash val="solid"/>
              <a:miter/>
            </a:ln>
          </p:spPr>
        </p:sp>
        <p:sp>
          <p:nvSpPr>
            <p:cNvPr id="21" name="TextBox 21"/>
            <p:cNvSpPr txBox="1"/>
            <p:nvPr/>
          </p:nvSpPr>
          <p:spPr>
            <a:xfrm>
              <a:off x="0" y="-47625"/>
              <a:ext cx="2195822" cy="487521"/>
            </a:xfrm>
            <a:prstGeom prst="rect">
              <a:avLst/>
            </a:prstGeom>
          </p:spPr>
          <p:txBody>
            <a:bodyPr lIns="50800" tIns="50800" rIns="50800" bIns="50800" rtlCol="0" anchor="ctr"/>
            <a:lstStyle/>
            <a:p>
              <a:pPr algn="ctr">
                <a:lnSpc>
                  <a:spcPts val="2659"/>
                </a:lnSpc>
              </a:pPr>
              <a:endParaRPr/>
            </a:p>
          </p:txBody>
        </p:sp>
      </p:grpSp>
      <p:grpSp>
        <p:nvGrpSpPr>
          <p:cNvPr id="22" name="Group 22"/>
          <p:cNvGrpSpPr/>
          <p:nvPr/>
        </p:nvGrpSpPr>
        <p:grpSpPr>
          <a:xfrm>
            <a:off x="962221" y="5327470"/>
            <a:ext cx="8337260" cy="1670231"/>
            <a:chOff x="0" y="0"/>
            <a:chExt cx="2195822" cy="439896"/>
          </a:xfrm>
        </p:grpSpPr>
        <p:sp>
          <p:nvSpPr>
            <p:cNvPr id="23" name="Freeform 23"/>
            <p:cNvSpPr/>
            <p:nvPr/>
          </p:nvSpPr>
          <p:spPr>
            <a:xfrm>
              <a:off x="0" y="0"/>
              <a:ext cx="2195822" cy="439896"/>
            </a:xfrm>
            <a:custGeom>
              <a:avLst/>
              <a:gdLst/>
              <a:ahLst/>
              <a:cxnLst/>
              <a:rect l="l" t="t" r="r" b="b"/>
              <a:pathLst>
                <a:path w="2195822" h="439896">
                  <a:moveTo>
                    <a:pt x="0" y="0"/>
                  </a:moveTo>
                  <a:lnTo>
                    <a:pt x="2195822" y="0"/>
                  </a:lnTo>
                  <a:lnTo>
                    <a:pt x="2195822" y="439896"/>
                  </a:lnTo>
                  <a:lnTo>
                    <a:pt x="0" y="439896"/>
                  </a:lnTo>
                  <a:close/>
                </a:path>
              </a:pathLst>
            </a:custGeom>
            <a:solidFill>
              <a:srgbClr val="1800AD"/>
            </a:solidFill>
            <a:ln w="38100" cap="sq">
              <a:solidFill>
                <a:srgbClr val="FFDE59"/>
              </a:solidFill>
              <a:prstDash val="solid"/>
              <a:miter/>
            </a:ln>
          </p:spPr>
        </p:sp>
        <p:sp>
          <p:nvSpPr>
            <p:cNvPr id="24" name="TextBox 24"/>
            <p:cNvSpPr txBox="1"/>
            <p:nvPr/>
          </p:nvSpPr>
          <p:spPr>
            <a:xfrm>
              <a:off x="0" y="-47625"/>
              <a:ext cx="2195822" cy="487521"/>
            </a:xfrm>
            <a:prstGeom prst="rect">
              <a:avLst/>
            </a:prstGeom>
          </p:spPr>
          <p:txBody>
            <a:bodyPr lIns="50800" tIns="50800" rIns="50800" bIns="50800" rtlCol="0" anchor="ctr"/>
            <a:lstStyle/>
            <a:p>
              <a:pPr algn="ctr">
                <a:lnSpc>
                  <a:spcPts val="2659"/>
                </a:lnSpc>
              </a:pPr>
              <a:endParaRPr/>
            </a:p>
          </p:txBody>
        </p:sp>
      </p:grpSp>
      <p:grpSp>
        <p:nvGrpSpPr>
          <p:cNvPr id="25" name="Group 25"/>
          <p:cNvGrpSpPr/>
          <p:nvPr/>
        </p:nvGrpSpPr>
        <p:grpSpPr>
          <a:xfrm>
            <a:off x="1028700" y="7292919"/>
            <a:ext cx="8337260" cy="1670231"/>
            <a:chOff x="0" y="0"/>
            <a:chExt cx="2195822" cy="439896"/>
          </a:xfrm>
        </p:grpSpPr>
        <p:sp>
          <p:nvSpPr>
            <p:cNvPr id="26" name="Freeform 26"/>
            <p:cNvSpPr/>
            <p:nvPr/>
          </p:nvSpPr>
          <p:spPr>
            <a:xfrm>
              <a:off x="0" y="0"/>
              <a:ext cx="2195822" cy="439896"/>
            </a:xfrm>
            <a:custGeom>
              <a:avLst/>
              <a:gdLst/>
              <a:ahLst/>
              <a:cxnLst/>
              <a:rect l="l" t="t" r="r" b="b"/>
              <a:pathLst>
                <a:path w="2195822" h="439896">
                  <a:moveTo>
                    <a:pt x="0" y="0"/>
                  </a:moveTo>
                  <a:lnTo>
                    <a:pt x="2195822" y="0"/>
                  </a:lnTo>
                  <a:lnTo>
                    <a:pt x="2195822" y="439896"/>
                  </a:lnTo>
                  <a:lnTo>
                    <a:pt x="0" y="439896"/>
                  </a:lnTo>
                  <a:close/>
                </a:path>
              </a:pathLst>
            </a:custGeom>
            <a:solidFill>
              <a:srgbClr val="1800AD"/>
            </a:solidFill>
            <a:ln w="38100" cap="sq">
              <a:solidFill>
                <a:srgbClr val="00BF63"/>
              </a:solidFill>
              <a:prstDash val="solid"/>
              <a:miter/>
            </a:ln>
          </p:spPr>
        </p:sp>
        <p:sp>
          <p:nvSpPr>
            <p:cNvPr id="27" name="TextBox 27"/>
            <p:cNvSpPr txBox="1"/>
            <p:nvPr/>
          </p:nvSpPr>
          <p:spPr>
            <a:xfrm>
              <a:off x="0" y="-47625"/>
              <a:ext cx="2195822" cy="487521"/>
            </a:xfrm>
            <a:prstGeom prst="rect">
              <a:avLst/>
            </a:prstGeom>
          </p:spPr>
          <p:txBody>
            <a:bodyPr lIns="50800" tIns="50800" rIns="50800" bIns="50800" rtlCol="0" anchor="ctr"/>
            <a:lstStyle/>
            <a:p>
              <a:pPr algn="ctr">
                <a:lnSpc>
                  <a:spcPts val="2659"/>
                </a:lnSpc>
              </a:pPr>
              <a:endParaRPr/>
            </a:p>
          </p:txBody>
        </p:sp>
      </p:grpSp>
      <p:grpSp>
        <p:nvGrpSpPr>
          <p:cNvPr id="28" name="Group 28"/>
          <p:cNvGrpSpPr/>
          <p:nvPr/>
        </p:nvGrpSpPr>
        <p:grpSpPr>
          <a:xfrm>
            <a:off x="9553792" y="3394681"/>
            <a:ext cx="8337260" cy="601099"/>
            <a:chOff x="0" y="0"/>
            <a:chExt cx="2195822" cy="158314"/>
          </a:xfrm>
        </p:grpSpPr>
        <p:sp>
          <p:nvSpPr>
            <p:cNvPr id="29" name="Freeform 29"/>
            <p:cNvSpPr/>
            <p:nvPr/>
          </p:nvSpPr>
          <p:spPr>
            <a:xfrm>
              <a:off x="0" y="0"/>
              <a:ext cx="2195822" cy="158314"/>
            </a:xfrm>
            <a:custGeom>
              <a:avLst/>
              <a:gdLst/>
              <a:ahLst/>
              <a:cxnLst/>
              <a:rect l="l" t="t" r="r" b="b"/>
              <a:pathLst>
                <a:path w="2195822" h="158314">
                  <a:moveTo>
                    <a:pt x="0" y="0"/>
                  </a:moveTo>
                  <a:lnTo>
                    <a:pt x="2195822" y="0"/>
                  </a:lnTo>
                  <a:lnTo>
                    <a:pt x="2195822" y="158314"/>
                  </a:lnTo>
                  <a:lnTo>
                    <a:pt x="0" y="158314"/>
                  </a:lnTo>
                  <a:close/>
                </a:path>
              </a:pathLst>
            </a:custGeom>
            <a:solidFill>
              <a:srgbClr val="1800AD"/>
            </a:solidFill>
            <a:ln w="38100" cap="sq">
              <a:solidFill>
                <a:srgbClr val="FF751F"/>
              </a:solidFill>
              <a:prstDash val="solid"/>
              <a:miter/>
            </a:ln>
          </p:spPr>
        </p:sp>
        <p:sp>
          <p:nvSpPr>
            <p:cNvPr id="30" name="TextBox 30"/>
            <p:cNvSpPr txBox="1"/>
            <p:nvPr/>
          </p:nvSpPr>
          <p:spPr>
            <a:xfrm>
              <a:off x="0" y="-47625"/>
              <a:ext cx="2195822" cy="205939"/>
            </a:xfrm>
            <a:prstGeom prst="rect">
              <a:avLst/>
            </a:prstGeom>
          </p:spPr>
          <p:txBody>
            <a:bodyPr lIns="50800" tIns="50800" rIns="50800" bIns="50800" rtlCol="0" anchor="ctr"/>
            <a:lstStyle/>
            <a:p>
              <a:pPr algn="ctr">
                <a:lnSpc>
                  <a:spcPts val="2659"/>
                </a:lnSpc>
              </a:pPr>
              <a:endParaRPr/>
            </a:p>
          </p:txBody>
        </p:sp>
      </p:grpSp>
      <p:sp>
        <p:nvSpPr>
          <p:cNvPr id="31" name="Freeform 31"/>
          <p:cNvSpPr/>
          <p:nvPr/>
        </p:nvSpPr>
        <p:spPr>
          <a:xfrm>
            <a:off x="1123797" y="3669196"/>
            <a:ext cx="905799" cy="905799"/>
          </a:xfrm>
          <a:custGeom>
            <a:avLst/>
            <a:gdLst/>
            <a:ahLst/>
            <a:cxnLst/>
            <a:rect l="l" t="t" r="r" b="b"/>
            <a:pathLst>
              <a:path w="905799" h="905799">
                <a:moveTo>
                  <a:pt x="0" y="0"/>
                </a:moveTo>
                <a:lnTo>
                  <a:pt x="905800" y="0"/>
                </a:lnTo>
                <a:lnTo>
                  <a:pt x="905800" y="905799"/>
                </a:lnTo>
                <a:lnTo>
                  <a:pt x="0" y="90579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32" name="Freeform 32"/>
          <p:cNvSpPr/>
          <p:nvPr/>
        </p:nvSpPr>
        <p:spPr>
          <a:xfrm>
            <a:off x="1117793" y="5440219"/>
            <a:ext cx="911804" cy="1107047"/>
          </a:xfrm>
          <a:custGeom>
            <a:avLst/>
            <a:gdLst/>
            <a:ahLst/>
            <a:cxnLst/>
            <a:rect l="l" t="t" r="r" b="b"/>
            <a:pathLst>
              <a:path w="911804" h="1107047">
                <a:moveTo>
                  <a:pt x="0" y="0"/>
                </a:moveTo>
                <a:lnTo>
                  <a:pt x="911804" y="0"/>
                </a:lnTo>
                <a:lnTo>
                  <a:pt x="911804" y="1107046"/>
                </a:lnTo>
                <a:lnTo>
                  <a:pt x="0" y="110704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33" name="Freeform 33"/>
          <p:cNvSpPr/>
          <p:nvPr/>
        </p:nvSpPr>
        <p:spPr>
          <a:xfrm>
            <a:off x="1238008" y="7538262"/>
            <a:ext cx="803616" cy="803616"/>
          </a:xfrm>
          <a:custGeom>
            <a:avLst/>
            <a:gdLst/>
            <a:ahLst/>
            <a:cxnLst/>
            <a:rect l="l" t="t" r="r" b="b"/>
            <a:pathLst>
              <a:path w="803616" h="803616">
                <a:moveTo>
                  <a:pt x="0" y="0"/>
                </a:moveTo>
                <a:lnTo>
                  <a:pt x="803616" y="0"/>
                </a:lnTo>
                <a:lnTo>
                  <a:pt x="803616" y="803616"/>
                </a:lnTo>
                <a:lnTo>
                  <a:pt x="0" y="80361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34" name="TextBox 34"/>
          <p:cNvSpPr txBox="1"/>
          <p:nvPr/>
        </p:nvSpPr>
        <p:spPr>
          <a:xfrm>
            <a:off x="1028700" y="215814"/>
            <a:ext cx="8131423" cy="812886"/>
          </a:xfrm>
          <a:prstGeom prst="rect">
            <a:avLst/>
          </a:prstGeom>
        </p:spPr>
        <p:txBody>
          <a:bodyPr lIns="0" tIns="0" rIns="0" bIns="0" rtlCol="0" anchor="t">
            <a:spAutoFit/>
          </a:bodyPr>
          <a:lstStyle/>
          <a:p>
            <a:pPr algn="l">
              <a:lnSpc>
                <a:spcPts val="6645"/>
              </a:lnSpc>
              <a:spcBef>
                <a:spcPct val="0"/>
              </a:spcBef>
            </a:pPr>
            <a:r>
              <a:rPr lang="en-US" sz="4746" b="1" dirty="0">
                <a:solidFill>
                  <a:srgbClr val="FF751F"/>
                </a:solidFill>
                <a:latin typeface="Montserrat Bold"/>
                <a:ea typeface="Montserrat Bold"/>
                <a:cs typeface="Montserrat Bold"/>
                <a:sym typeface="Montserrat Bold"/>
              </a:rPr>
              <a:t>03 | Tujuan dan Manfaat</a:t>
            </a:r>
          </a:p>
        </p:txBody>
      </p:sp>
      <p:sp>
        <p:nvSpPr>
          <p:cNvPr id="35" name="TextBox 35"/>
          <p:cNvSpPr txBox="1"/>
          <p:nvPr/>
        </p:nvSpPr>
        <p:spPr>
          <a:xfrm>
            <a:off x="1028700" y="1129213"/>
            <a:ext cx="10183956" cy="2158452"/>
          </a:xfrm>
          <a:prstGeom prst="rect">
            <a:avLst/>
          </a:prstGeom>
        </p:spPr>
        <p:txBody>
          <a:bodyPr lIns="0" tIns="0" rIns="0" bIns="0" rtlCol="0" anchor="t">
            <a:spAutoFit/>
          </a:bodyPr>
          <a:lstStyle/>
          <a:p>
            <a:pPr algn="l">
              <a:lnSpc>
                <a:spcPts val="8605"/>
              </a:lnSpc>
            </a:pPr>
            <a:r>
              <a:rPr lang="en-US" sz="6146" b="1">
                <a:solidFill>
                  <a:srgbClr val="1800AD"/>
                </a:solidFill>
                <a:latin typeface="Archivo Narrow Bold"/>
                <a:ea typeface="Archivo Narrow Bold"/>
                <a:cs typeface="Archivo Narrow Bold"/>
                <a:sym typeface="Archivo Narrow Bold"/>
              </a:rPr>
              <a:t>Research Goals &amp; Kontribusi</a:t>
            </a:r>
          </a:p>
          <a:p>
            <a:pPr algn="l">
              <a:lnSpc>
                <a:spcPts val="8605"/>
              </a:lnSpc>
              <a:spcBef>
                <a:spcPct val="0"/>
              </a:spcBef>
            </a:pPr>
            <a:endParaRPr lang="en-US" sz="6146" b="1">
              <a:solidFill>
                <a:srgbClr val="1800AD"/>
              </a:solidFill>
              <a:latin typeface="Archivo Narrow Bold"/>
              <a:ea typeface="Archivo Narrow Bold"/>
              <a:cs typeface="Archivo Narrow Bold"/>
              <a:sym typeface="Archivo Narrow Bold"/>
            </a:endParaRPr>
          </a:p>
        </p:txBody>
      </p:sp>
      <p:sp>
        <p:nvSpPr>
          <p:cNvPr id="36" name="TextBox 36"/>
          <p:cNvSpPr txBox="1"/>
          <p:nvPr/>
        </p:nvSpPr>
        <p:spPr>
          <a:xfrm>
            <a:off x="952696" y="2709612"/>
            <a:ext cx="7715250" cy="521334"/>
          </a:xfrm>
          <a:prstGeom prst="rect">
            <a:avLst/>
          </a:prstGeom>
        </p:spPr>
        <p:txBody>
          <a:bodyPr lIns="0" tIns="0" rIns="0" bIns="0" rtlCol="0" anchor="t">
            <a:spAutoFit/>
          </a:bodyPr>
          <a:lstStyle/>
          <a:p>
            <a:pPr algn="l">
              <a:lnSpc>
                <a:spcPts val="4340"/>
              </a:lnSpc>
            </a:pPr>
            <a:r>
              <a:rPr lang="en-US" sz="3100" b="1">
                <a:solidFill>
                  <a:srgbClr val="FF751F"/>
                </a:solidFill>
                <a:latin typeface="Canva Sans Bold"/>
                <a:ea typeface="Canva Sans Bold"/>
                <a:cs typeface="Canva Sans Bold"/>
                <a:sym typeface="Canva Sans Bold"/>
              </a:rPr>
              <a:t>Tujuan Penelitian</a:t>
            </a:r>
          </a:p>
        </p:txBody>
      </p:sp>
      <p:sp>
        <p:nvSpPr>
          <p:cNvPr id="37" name="TextBox 37"/>
          <p:cNvSpPr txBox="1"/>
          <p:nvPr/>
        </p:nvSpPr>
        <p:spPr>
          <a:xfrm>
            <a:off x="2276322" y="3519286"/>
            <a:ext cx="6830081" cy="790573"/>
          </a:xfrm>
          <a:prstGeom prst="rect">
            <a:avLst/>
          </a:prstGeom>
        </p:spPr>
        <p:txBody>
          <a:bodyPr lIns="0" tIns="0" rIns="0" bIns="0" rtlCol="0" anchor="t">
            <a:spAutoFit/>
          </a:bodyPr>
          <a:lstStyle/>
          <a:p>
            <a:pPr algn="just">
              <a:lnSpc>
                <a:spcPts val="3640"/>
              </a:lnSpc>
            </a:pPr>
            <a:r>
              <a:rPr lang="en-US" sz="2600" b="1">
                <a:solidFill>
                  <a:srgbClr val="FFFFFF"/>
                </a:solidFill>
                <a:latin typeface="Canva Sans Bold"/>
                <a:ea typeface="Canva Sans Bold"/>
                <a:cs typeface="Canva Sans Bold"/>
                <a:sym typeface="Canva Sans Bold"/>
              </a:rPr>
              <a:t>Analisis Efektivitas</a:t>
            </a:r>
          </a:p>
          <a:p>
            <a:pPr algn="just">
              <a:lnSpc>
                <a:spcPts val="2660"/>
              </a:lnSpc>
            </a:pPr>
            <a:endParaRPr lang="en-US" sz="2600" b="1">
              <a:solidFill>
                <a:srgbClr val="FFFFFF"/>
              </a:solidFill>
              <a:latin typeface="Canva Sans Bold"/>
              <a:ea typeface="Canva Sans Bold"/>
              <a:cs typeface="Canva Sans Bold"/>
              <a:sym typeface="Canva Sans Bold"/>
            </a:endParaRPr>
          </a:p>
        </p:txBody>
      </p:sp>
      <p:sp>
        <p:nvSpPr>
          <p:cNvPr id="38" name="TextBox 38"/>
          <p:cNvSpPr txBox="1"/>
          <p:nvPr/>
        </p:nvSpPr>
        <p:spPr>
          <a:xfrm>
            <a:off x="9540947" y="2682847"/>
            <a:ext cx="7715250" cy="521334"/>
          </a:xfrm>
          <a:prstGeom prst="rect">
            <a:avLst/>
          </a:prstGeom>
        </p:spPr>
        <p:txBody>
          <a:bodyPr lIns="0" tIns="0" rIns="0" bIns="0" rtlCol="0" anchor="t">
            <a:spAutoFit/>
          </a:bodyPr>
          <a:lstStyle/>
          <a:p>
            <a:pPr algn="l">
              <a:lnSpc>
                <a:spcPts val="4340"/>
              </a:lnSpc>
            </a:pPr>
            <a:r>
              <a:rPr lang="en-US" sz="3100" b="1">
                <a:solidFill>
                  <a:srgbClr val="FF751F"/>
                </a:solidFill>
                <a:latin typeface="Canva Sans Bold"/>
                <a:ea typeface="Canva Sans Bold"/>
                <a:cs typeface="Canva Sans Bold"/>
                <a:sym typeface="Canva Sans Bold"/>
              </a:rPr>
              <a:t>Manfaat Peneletian</a:t>
            </a:r>
          </a:p>
        </p:txBody>
      </p:sp>
      <p:sp>
        <p:nvSpPr>
          <p:cNvPr id="39" name="TextBox 39"/>
          <p:cNvSpPr txBox="1"/>
          <p:nvPr/>
        </p:nvSpPr>
        <p:spPr>
          <a:xfrm>
            <a:off x="2276322" y="4093521"/>
            <a:ext cx="6720162" cy="791844"/>
          </a:xfrm>
          <a:prstGeom prst="rect">
            <a:avLst/>
          </a:prstGeom>
        </p:spPr>
        <p:txBody>
          <a:bodyPr lIns="0" tIns="0" rIns="0" bIns="0" rtlCol="0" anchor="t">
            <a:spAutoFit/>
          </a:bodyPr>
          <a:lstStyle/>
          <a:p>
            <a:pPr algn="l">
              <a:lnSpc>
                <a:spcPts val="2380"/>
              </a:lnSpc>
            </a:pPr>
            <a:r>
              <a:rPr lang="en-US" sz="1700">
                <a:solidFill>
                  <a:srgbClr val="5CE1E6"/>
                </a:solidFill>
                <a:latin typeface="Canva Sans"/>
                <a:ea typeface="Canva Sans"/>
                <a:cs typeface="Canva Sans"/>
                <a:sym typeface="Canva Sans"/>
              </a:rPr>
              <a:t>Menganalisis efektivitas CTM &amp; BERTopic dalam pemodelan topik teks terjemahan Al-Qur'an</a:t>
            </a:r>
          </a:p>
          <a:p>
            <a:pPr algn="l">
              <a:lnSpc>
                <a:spcPts val="1680"/>
              </a:lnSpc>
            </a:pPr>
            <a:endParaRPr lang="en-US" sz="1700">
              <a:solidFill>
                <a:srgbClr val="5CE1E6"/>
              </a:solidFill>
              <a:latin typeface="Canva Sans"/>
              <a:ea typeface="Canva Sans"/>
              <a:cs typeface="Canva Sans"/>
              <a:sym typeface="Canva Sans"/>
            </a:endParaRPr>
          </a:p>
        </p:txBody>
      </p:sp>
      <p:sp>
        <p:nvSpPr>
          <p:cNvPr id="40" name="TextBox 40"/>
          <p:cNvSpPr txBox="1"/>
          <p:nvPr/>
        </p:nvSpPr>
        <p:spPr>
          <a:xfrm>
            <a:off x="2336288" y="5408038"/>
            <a:ext cx="6830081" cy="448308"/>
          </a:xfrm>
          <a:prstGeom prst="rect">
            <a:avLst/>
          </a:prstGeom>
        </p:spPr>
        <p:txBody>
          <a:bodyPr lIns="0" tIns="0" rIns="0" bIns="0" rtlCol="0" anchor="t">
            <a:spAutoFit/>
          </a:bodyPr>
          <a:lstStyle/>
          <a:p>
            <a:pPr algn="just">
              <a:lnSpc>
                <a:spcPts val="3640"/>
              </a:lnSpc>
            </a:pPr>
            <a:r>
              <a:rPr lang="en-US" sz="2600" b="1" dirty="0" err="1">
                <a:solidFill>
                  <a:srgbClr val="FFFFFF"/>
                </a:solidFill>
                <a:latin typeface="Canva Sans Bold"/>
                <a:ea typeface="Canva Sans Bold"/>
                <a:cs typeface="Canva Sans Bold"/>
                <a:sym typeface="Canva Sans Bold"/>
              </a:rPr>
              <a:t>Identifikasi</a:t>
            </a:r>
            <a:r>
              <a:rPr lang="en-US" sz="2600" b="1" dirty="0">
                <a:solidFill>
                  <a:srgbClr val="FFFFFF"/>
                </a:solidFill>
                <a:latin typeface="Canva Sans Bold"/>
                <a:ea typeface="Canva Sans Bold"/>
                <a:cs typeface="Canva Sans Bold"/>
                <a:sym typeface="Canva Sans Bold"/>
              </a:rPr>
              <a:t> </a:t>
            </a:r>
            <a:r>
              <a:rPr lang="en-US" sz="2600" b="1" dirty="0" err="1">
                <a:solidFill>
                  <a:srgbClr val="FFFFFF"/>
                </a:solidFill>
                <a:latin typeface="Canva Sans Bold"/>
                <a:ea typeface="Canva Sans Bold"/>
                <a:cs typeface="Canva Sans Bold"/>
                <a:sym typeface="Canva Sans Bold"/>
              </a:rPr>
              <a:t>Kemampuan</a:t>
            </a:r>
            <a:endParaRPr lang="en-US" sz="2600" b="1" dirty="0">
              <a:solidFill>
                <a:srgbClr val="FFFFFF"/>
              </a:solidFill>
              <a:latin typeface="Canva Sans Bold"/>
              <a:ea typeface="Canva Sans Bold"/>
              <a:cs typeface="Canva Sans Bold"/>
              <a:sym typeface="Canva Sans Bold"/>
            </a:endParaRPr>
          </a:p>
        </p:txBody>
      </p:sp>
      <p:sp>
        <p:nvSpPr>
          <p:cNvPr id="41" name="TextBox 41"/>
          <p:cNvSpPr txBox="1"/>
          <p:nvPr/>
        </p:nvSpPr>
        <p:spPr>
          <a:xfrm>
            <a:off x="2336288" y="5961186"/>
            <a:ext cx="6720162" cy="791844"/>
          </a:xfrm>
          <a:prstGeom prst="rect">
            <a:avLst/>
          </a:prstGeom>
        </p:spPr>
        <p:txBody>
          <a:bodyPr lIns="0" tIns="0" rIns="0" bIns="0" rtlCol="0" anchor="t">
            <a:spAutoFit/>
          </a:bodyPr>
          <a:lstStyle/>
          <a:p>
            <a:pPr algn="l">
              <a:lnSpc>
                <a:spcPts val="2380"/>
              </a:lnSpc>
            </a:pPr>
            <a:r>
              <a:rPr lang="en-US" sz="1700">
                <a:solidFill>
                  <a:srgbClr val="5CE1E6"/>
                </a:solidFill>
                <a:latin typeface="Canva Sans"/>
                <a:ea typeface="Canva Sans"/>
                <a:cs typeface="Canva Sans"/>
                <a:sym typeface="Canva Sans"/>
              </a:rPr>
              <a:t>Mengidentifikasi kemampuan kedua metode dalam menangkap konteks &amp; tema utama Al-Qur'an</a:t>
            </a:r>
          </a:p>
          <a:p>
            <a:pPr algn="l">
              <a:lnSpc>
                <a:spcPts val="1680"/>
              </a:lnSpc>
            </a:pPr>
            <a:endParaRPr lang="en-US" sz="1700">
              <a:solidFill>
                <a:srgbClr val="5CE1E6"/>
              </a:solidFill>
              <a:latin typeface="Canva Sans"/>
              <a:ea typeface="Canva Sans"/>
              <a:cs typeface="Canva Sans"/>
              <a:sym typeface="Canva Sans"/>
            </a:endParaRPr>
          </a:p>
        </p:txBody>
      </p:sp>
      <p:sp>
        <p:nvSpPr>
          <p:cNvPr id="42" name="TextBox 42"/>
          <p:cNvSpPr txBox="1"/>
          <p:nvPr/>
        </p:nvSpPr>
        <p:spPr>
          <a:xfrm>
            <a:off x="2336288" y="7386009"/>
            <a:ext cx="6830081" cy="448308"/>
          </a:xfrm>
          <a:prstGeom prst="rect">
            <a:avLst/>
          </a:prstGeom>
        </p:spPr>
        <p:txBody>
          <a:bodyPr lIns="0" tIns="0" rIns="0" bIns="0" rtlCol="0" anchor="t">
            <a:spAutoFit/>
          </a:bodyPr>
          <a:lstStyle/>
          <a:p>
            <a:pPr algn="just">
              <a:lnSpc>
                <a:spcPts val="3640"/>
              </a:lnSpc>
            </a:pPr>
            <a:r>
              <a:rPr lang="en-US" sz="2600" b="1">
                <a:solidFill>
                  <a:srgbClr val="FFFFFF"/>
                </a:solidFill>
                <a:latin typeface="Canva Sans Bold"/>
                <a:ea typeface="Canva Sans Bold"/>
                <a:cs typeface="Canva Sans Bold"/>
                <a:sym typeface="Canva Sans Bold"/>
              </a:rPr>
              <a:t>Metode Evaluasi</a:t>
            </a:r>
          </a:p>
        </p:txBody>
      </p:sp>
      <p:sp>
        <p:nvSpPr>
          <p:cNvPr id="43" name="TextBox 43"/>
          <p:cNvSpPr txBox="1"/>
          <p:nvPr/>
        </p:nvSpPr>
        <p:spPr>
          <a:xfrm>
            <a:off x="2336288" y="7931669"/>
            <a:ext cx="6720162" cy="791844"/>
          </a:xfrm>
          <a:prstGeom prst="rect">
            <a:avLst/>
          </a:prstGeom>
        </p:spPr>
        <p:txBody>
          <a:bodyPr lIns="0" tIns="0" rIns="0" bIns="0" rtlCol="0" anchor="t">
            <a:spAutoFit/>
          </a:bodyPr>
          <a:lstStyle/>
          <a:p>
            <a:pPr algn="l">
              <a:lnSpc>
                <a:spcPts val="2380"/>
              </a:lnSpc>
            </a:pPr>
            <a:r>
              <a:rPr lang="en-US" sz="1700">
                <a:solidFill>
                  <a:srgbClr val="5CE1E6"/>
                </a:solidFill>
                <a:latin typeface="Canva Sans"/>
                <a:ea typeface="Canva Sans"/>
                <a:cs typeface="Canva Sans"/>
                <a:sym typeface="Canva Sans"/>
              </a:rPr>
              <a:t>Merumuskan metode evaluasi yang tepat untuk menilai kualitas topik dalam konteks kajian Al-Qur'an</a:t>
            </a:r>
          </a:p>
          <a:p>
            <a:pPr algn="l">
              <a:lnSpc>
                <a:spcPts val="1680"/>
              </a:lnSpc>
            </a:pPr>
            <a:endParaRPr lang="en-US" sz="1700">
              <a:solidFill>
                <a:srgbClr val="5CE1E6"/>
              </a:solidFill>
              <a:latin typeface="Canva Sans"/>
              <a:ea typeface="Canva Sans"/>
              <a:cs typeface="Canva Sans"/>
              <a:sym typeface="Canva Sans"/>
            </a:endParaRPr>
          </a:p>
        </p:txBody>
      </p:sp>
      <p:sp>
        <p:nvSpPr>
          <p:cNvPr id="44" name="TextBox 44"/>
          <p:cNvSpPr txBox="1"/>
          <p:nvPr/>
        </p:nvSpPr>
        <p:spPr>
          <a:xfrm>
            <a:off x="10048345" y="3442501"/>
            <a:ext cx="7836286" cy="448308"/>
          </a:xfrm>
          <a:prstGeom prst="rect">
            <a:avLst/>
          </a:prstGeom>
        </p:spPr>
        <p:txBody>
          <a:bodyPr lIns="0" tIns="0" rIns="0" bIns="0" rtlCol="0" anchor="t">
            <a:spAutoFit/>
          </a:bodyPr>
          <a:lstStyle/>
          <a:p>
            <a:pPr algn="l">
              <a:lnSpc>
                <a:spcPts val="3640"/>
              </a:lnSpc>
            </a:pPr>
            <a:r>
              <a:rPr lang="en-US" sz="2600" b="1">
                <a:solidFill>
                  <a:srgbClr val="FFFFFF"/>
                </a:solidFill>
                <a:latin typeface="Canva Sans Bold"/>
                <a:ea typeface="Canva Sans Bold"/>
                <a:cs typeface="Canva Sans Bold"/>
                <a:sym typeface="Canva Sans Bold"/>
              </a:rPr>
              <a:t>Akademik</a:t>
            </a:r>
          </a:p>
        </p:txBody>
      </p:sp>
      <p:grpSp>
        <p:nvGrpSpPr>
          <p:cNvPr id="45" name="Group 45"/>
          <p:cNvGrpSpPr/>
          <p:nvPr/>
        </p:nvGrpSpPr>
        <p:grpSpPr>
          <a:xfrm>
            <a:off x="9553792" y="3973896"/>
            <a:ext cx="8337260" cy="1107776"/>
            <a:chOff x="0" y="0"/>
            <a:chExt cx="2195822" cy="291760"/>
          </a:xfrm>
        </p:grpSpPr>
        <p:sp>
          <p:nvSpPr>
            <p:cNvPr id="46" name="Freeform 46"/>
            <p:cNvSpPr/>
            <p:nvPr/>
          </p:nvSpPr>
          <p:spPr>
            <a:xfrm>
              <a:off x="0" y="0"/>
              <a:ext cx="2195822" cy="291760"/>
            </a:xfrm>
            <a:custGeom>
              <a:avLst/>
              <a:gdLst/>
              <a:ahLst/>
              <a:cxnLst/>
              <a:rect l="l" t="t" r="r" b="b"/>
              <a:pathLst>
                <a:path w="2195822" h="291760">
                  <a:moveTo>
                    <a:pt x="0" y="0"/>
                  </a:moveTo>
                  <a:lnTo>
                    <a:pt x="2195822" y="0"/>
                  </a:lnTo>
                  <a:lnTo>
                    <a:pt x="2195822" y="291760"/>
                  </a:lnTo>
                  <a:lnTo>
                    <a:pt x="0" y="291760"/>
                  </a:lnTo>
                  <a:close/>
                </a:path>
              </a:pathLst>
            </a:custGeom>
            <a:solidFill>
              <a:srgbClr val="081F8C"/>
            </a:solidFill>
            <a:ln w="38100" cap="sq">
              <a:solidFill>
                <a:srgbClr val="FF751F"/>
              </a:solidFill>
              <a:prstDash val="solid"/>
              <a:miter/>
            </a:ln>
          </p:spPr>
        </p:sp>
        <p:sp>
          <p:nvSpPr>
            <p:cNvPr id="47" name="TextBox 47"/>
            <p:cNvSpPr txBox="1"/>
            <p:nvPr/>
          </p:nvSpPr>
          <p:spPr>
            <a:xfrm>
              <a:off x="0" y="-47625"/>
              <a:ext cx="2195822" cy="339385"/>
            </a:xfrm>
            <a:prstGeom prst="rect">
              <a:avLst/>
            </a:prstGeom>
          </p:spPr>
          <p:txBody>
            <a:bodyPr lIns="50800" tIns="50800" rIns="50800" bIns="50800" rtlCol="0" anchor="ctr"/>
            <a:lstStyle/>
            <a:p>
              <a:pPr algn="ctr">
                <a:lnSpc>
                  <a:spcPts val="2659"/>
                </a:lnSpc>
              </a:pPr>
              <a:endParaRPr/>
            </a:p>
          </p:txBody>
        </p:sp>
      </p:grpSp>
      <p:sp>
        <p:nvSpPr>
          <p:cNvPr id="48" name="TextBox 48"/>
          <p:cNvSpPr txBox="1"/>
          <p:nvPr/>
        </p:nvSpPr>
        <p:spPr>
          <a:xfrm>
            <a:off x="9829801" y="4141637"/>
            <a:ext cx="5650988" cy="421269"/>
          </a:xfrm>
          <a:prstGeom prst="rect">
            <a:avLst/>
          </a:prstGeom>
        </p:spPr>
        <p:txBody>
          <a:bodyPr wrap="square" lIns="0" tIns="0" rIns="0" bIns="0" rtlCol="0" anchor="t">
            <a:spAutoFit/>
          </a:bodyPr>
          <a:lstStyle/>
          <a:p>
            <a:pPr marL="171450" indent="-171450">
              <a:lnSpc>
                <a:spcPts val="1680"/>
              </a:lnSpc>
              <a:buFont typeface="Wingdings" panose="05000000000000000000" pitchFamily="2" charset="2"/>
              <a:buChar char="ü"/>
            </a:pPr>
            <a:r>
              <a:rPr lang="en-US" sz="1200" dirty="0" err="1">
                <a:solidFill>
                  <a:srgbClr val="FFFFFF"/>
                </a:solidFill>
                <a:latin typeface="Canva Sans"/>
                <a:ea typeface="Canva Sans"/>
                <a:cs typeface="Canva Sans"/>
                <a:sym typeface="Canva Sans"/>
              </a:rPr>
              <a:t>Memberikan</a:t>
            </a:r>
            <a:r>
              <a:rPr lang="en-US" sz="1200" dirty="0">
                <a:solidFill>
                  <a:srgbClr val="FFFFFF"/>
                </a:solidFill>
                <a:latin typeface="Canva Sans"/>
                <a:ea typeface="Canva Sans"/>
                <a:cs typeface="Canva Sans"/>
                <a:sym typeface="Canva Sans"/>
              </a:rPr>
              <a:t> </a:t>
            </a:r>
            <a:r>
              <a:rPr lang="en-US" sz="1200" dirty="0" err="1">
                <a:solidFill>
                  <a:srgbClr val="FFFFFF"/>
                </a:solidFill>
                <a:latin typeface="Canva Sans"/>
                <a:ea typeface="Canva Sans"/>
                <a:cs typeface="Canva Sans"/>
                <a:sym typeface="Canva Sans"/>
              </a:rPr>
              <a:t>Kontribusi</a:t>
            </a:r>
            <a:r>
              <a:rPr lang="en-US" sz="1200" dirty="0">
                <a:solidFill>
                  <a:srgbClr val="FFFFFF"/>
                </a:solidFill>
                <a:latin typeface="Canva Sans"/>
                <a:ea typeface="Canva Sans"/>
                <a:cs typeface="Canva Sans"/>
                <a:sym typeface="Canva Sans"/>
              </a:rPr>
              <a:t> </a:t>
            </a:r>
            <a:r>
              <a:rPr lang="en-US" sz="1200" dirty="0" err="1">
                <a:solidFill>
                  <a:srgbClr val="FFFFFF"/>
                </a:solidFill>
                <a:latin typeface="Canva Sans"/>
                <a:ea typeface="Canva Sans"/>
                <a:cs typeface="Canva Sans"/>
                <a:sym typeface="Canva Sans"/>
              </a:rPr>
              <a:t>Ilmiah</a:t>
            </a:r>
            <a:r>
              <a:rPr lang="en-US" sz="1200" dirty="0">
                <a:solidFill>
                  <a:srgbClr val="FFFFFF"/>
                </a:solidFill>
                <a:latin typeface="Canva Sans"/>
                <a:ea typeface="Canva Sans"/>
                <a:cs typeface="Canva Sans"/>
                <a:sym typeface="Canva Sans"/>
              </a:rPr>
              <a:t> </a:t>
            </a:r>
            <a:r>
              <a:rPr lang="en-US" sz="1200" dirty="0" err="1">
                <a:solidFill>
                  <a:srgbClr val="FFFFFF"/>
                </a:solidFill>
                <a:latin typeface="Canva Sans"/>
                <a:ea typeface="Canva Sans"/>
                <a:cs typeface="Canva Sans"/>
                <a:sym typeface="Canva Sans"/>
              </a:rPr>
              <a:t>dalam</a:t>
            </a:r>
            <a:r>
              <a:rPr lang="en-US" sz="1200" dirty="0">
                <a:solidFill>
                  <a:srgbClr val="FFFFFF"/>
                </a:solidFill>
                <a:latin typeface="Canva Sans"/>
                <a:ea typeface="Canva Sans"/>
                <a:cs typeface="Canva Sans"/>
                <a:sym typeface="Canva Sans"/>
              </a:rPr>
              <a:t> </a:t>
            </a:r>
            <a:r>
              <a:rPr lang="en-US" sz="1200" dirty="0" err="1">
                <a:solidFill>
                  <a:srgbClr val="FFFFFF"/>
                </a:solidFill>
                <a:latin typeface="Canva Sans"/>
                <a:ea typeface="Canva Sans"/>
                <a:cs typeface="Canva Sans"/>
                <a:sym typeface="Canva Sans"/>
              </a:rPr>
              <a:t>pengembangan</a:t>
            </a:r>
            <a:r>
              <a:rPr lang="en-US" sz="1200" dirty="0">
                <a:solidFill>
                  <a:srgbClr val="FFFFFF"/>
                </a:solidFill>
                <a:latin typeface="Canva Sans"/>
                <a:ea typeface="Canva Sans"/>
                <a:cs typeface="Canva Sans"/>
                <a:sym typeface="Canva Sans"/>
              </a:rPr>
              <a:t> </a:t>
            </a:r>
            <a:r>
              <a:rPr lang="en-US" sz="1200" dirty="0" err="1">
                <a:solidFill>
                  <a:srgbClr val="FFFFFF"/>
                </a:solidFill>
                <a:latin typeface="Canva Sans"/>
                <a:ea typeface="Canva Sans"/>
                <a:cs typeface="Canva Sans"/>
                <a:sym typeface="Canva Sans"/>
              </a:rPr>
              <a:t>metode</a:t>
            </a:r>
            <a:r>
              <a:rPr lang="en-US" sz="1200" dirty="0">
                <a:solidFill>
                  <a:srgbClr val="FFFFFF"/>
                </a:solidFill>
                <a:latin typeface="Canva Sans"/>
                <a:ea typeface="Canva Sans"/>
                <a:cs typeface="Canva Sans"/>
                <a:sym typeface="Canva Sans"/>
              </a:rPr>
              <a:t> </a:t>
            </a:r>
            <a:r>
              <a:rPr lang="en-US" sz="1200" dirty="0" err="1">
                <a:solidFill>
                  <a:srgbClr val="FFFFFF"/>
                </a:solidFill>
                <a:latin typeface="Canva Sans"/>
                <a:ea typeface="Canva Sans"/>
                <a:cs typeface="Canva Sans"/>
                <a:sym typeface="Canva Sans"/>
              </a:rPr>
              <a:t>pemodelan</a:t>
            </a:r>
            <a:r>
              <a:rPr lang="en-US" sz="1200" dirty="0">
                <a:solidFill>
                  <a:srgbClr val="FFFFFF"/>
                </a:solidFill>
                <a:latin typeface="Canva Sans"/>
                <a:ea typeface="Canva Sans"/>
                <a:cs typeface="Canva Sans"/>
                <a:sym typeface="Canva Sans"/>
              </a:rPr>
              <a:t> </a:t>
            </a:r>
            <a:r>
              <a:rPr lang="en-US" sz="1200" dirty="0" err="1">
                <a:solidFill>
                  <a:srgbClr val="FFFFFF"/>
                </a:solidFill>
                <a:latin typeface="Canva Sans"/>
                <a:ea typeface="Canva Sans"/>
                <a:cs typeface="Canva Sans"/>
                <a:sym typeface="Canva Sans"/>
              </a:rPr>
              <a:t>topik</a:t>
            </a:r>
            <a:r>
              <a:rPr lang="en-US" sz="1200" dirty="0">
                <a:solidFill>
                  <a:srgbClr val="FFFFFF"/>
                </a:solidFill>
                <a:latin typeface="Canva Sans"/>
                <a:ea typeface="Canva Sans"/>
                <a:cs typeface="Canva Sans"/>
                <a:sym typeface="Canva Sans"/>
              </a:rPr>
              <a:t> </a:t>
            </a:r>
            <a:r>
              <a:rPr lang="en-US" sz="1200" dirty="0" err="1">
                <a:solidFill>
                  <a:srgbClr val="FFFFFF"/>
                </a:solidFill>
                <a:latin typeface="Canva Sans"/>
                <a:ea typeface="Canva Sans"/>
                <a:cs typeface="Canva Sans"/>
                <a:sym typeface="Canva Sans"/>
              </a:rPr>
              <a:t>berbasis</a:t>
            </a:r>
            <a:r>
              <a:rPr lang="en-US" sz="1200" dirty="0">
                <a:solidFill>
                  <a:srgbClr val="FFFFFF"/>
                </a:solidFill>
                <a:latin typeface="Canva Sans"/>
                <a:ea typeface="Canva Sans"/>
                <a:cs typeface="Canva Sans"/>
                <a:sym typeface="Canva Sans"/>
              </a:rPr>
              <a:t> </a:t>
            </a:r>
            <a:r>
              <a:rPr lang="en-US" sz="1200" dirty="0" err="1">
                <a:solidFill>
                  <a:srgbClr val="FFFFFF"/>
                </a:solidFill>
                <a:latin typeface="Canva Sans"/>
                <a:ea typeface="Canva Sans"/>
                <a:cs typeface="Canva Sans"/>
                <a:sym typeface="Canva Sans"/>
              </a:rPr>
              <a:t>konteks</a:t>
            </a:r>
            <a:r>
              <a:rPr lang="en-US" sz="1200" dirty="0">
                <a:solidFill>
                  <a:srgbClr val="FFFFFF"/>
                </a:solidFill>
                <a:latin typeface="Canva Sans"/>
                <a:ea typeface="Canva Sans"/>
                <a:cs typeface="Canva Sans"/>
                <a:sym typeface="Canva Sans"/>
              </a:rPr>
              <a:t> pada </a:t>
            </a:r>
            <a:r>
              <a:rPr lang="en-US" sz="1200" dirty="0" err="1">
                <a:solidFill>
                  <a:srgbClr val="FFFFFF"/>
                </a:solidFill>
                <a:latin typeface="Canva Sans"/>
                <a:ea typeface="Canva Sans"/>
                <a:cs typeface="Canva Sans"/>
                <a:sym typeface="Canva Sans"/>
              </a:rPr>
              <a:t>teks</a:t>
            </a:r>
            <a:r>
              <a:rPr lang="en-US" sz="1200" dirty="0">
                <a:solidFill>
                  <a:srgbClr val="FFFFFF"/>
                </a:solidFill>
                <a:latin typeface="Canva Sans"/>
                <a:ea typeface="Canva Sans"/>
                <a:cs typeface="Canva Sans"/>
                <a:sym typeface="Canva Sans"/>
              </a:rPr>
              <a:t> </a:t>
            </a:r>
            <a:r>
              <a:rPr lang="en-US" sz="1200" dirty="0" err="1">
                <a:solidFill>
                  <a:srgbClr val="FFFFFF"/>
                </a:solidFill>
                <a:latin typeface="Canva Sans"/>
                <a:ea typeface="Canva Sans"/>
                <a:cs typeface="Canva Sans"/>
                <a:sym typeface="Canva Sans"/>
              </a:rPr>
              <a:t>terjemah</a:t>
            </a:r>
            <a:r>
              <a:rPr lang="en-US" sz="1200" dirty="0">
                <a:solidFill>
                  <a:srgbClr val="FFFFFF"/>
                </a:solidFill>
                <a:latin typeface="Canva Sans"/>
                <a:ea typeface="Canva Sans"/>
                <a:cs typeface="Canva Sans"/>
                <a:sym typeface="Canva Sans"/>
              </a:rPr>
              <a:t> Al-Qur’an</a:t>
            </a:r>
          </a:p>
        </p:txBody>
      </p:sp>
      <p:grpSp>
        <p:nvGrpSpPr>
          <p:cNvPr id="50" name="Group 50"/>
          <p:cNvGrpSpPr/>
          <p:nvPr/>
        </p:nvGrpSpPr>
        <p:grpSpPr>
          <a:xfrm>
            <a:off x="9553792" y="5338847"/>
            <a:ext cx="8337260" cy="601099"/>
            <a:chOff x="0" y="0"/>
            <a:chExt cx="2195822" cy="158314"/>
          </a:xfrm>
        </p:grpSpPr>
        <p:sp>
          <p:nvSpPr>
            <p:cNvPr id="51" name="Freeform 51"/>
            <p:cNvSpPr/>
            <p:nvPr/>
          </p:nvSpPr>
          <p:spPr>
            <a:xfrm>
              <a:off x="0" y="0"/>
              <a:ext cx="2195822" cy="158314"/>
            </a:xfrm>
            <a:custGeom>
              <a:avLst/>
              <a:gdLst/>
              <a:ahLst/>
              <a:cxnLst/>
              <a:rect l="l" t="t" r="r" b="b"/>
              <a:pathLst>
                <a:path w="2195822" h="158314">
                  <a:moveTo>
                    <a:pt x="0" y="0"/>
                  </a:moveTo>
                  <a:lnTo>
                    <a:pt x="2195822" y="0"/>
                  </a:lnTo>
                  <a:lnTo>
                    <a:pt x="2195822" y="158314"/>
                  </a:lnTo>
                  <a:lnTo>
                    <a:pt x="0" y="158314"/>
                  </a:lnTo>
                  <a:close/>
                </a:path>
              </a:pathLst>
            </a:custGeom>
            <a:solidFill>
              <a:srgbClr val="1800AD"/>
            </a:solidFill>
            <a:ln w="38100" cap="sq">
              <a:solidFill>
                <a:srgbClr val="FF751F"/>
              </a:solidFill>
              <a:prstDash val="solid"/>
              <a:miter/>
            </a:ln>
          </p:spPr>
        </p:sp>
        <p:sp>
          <p:nvSpPr>
            <p:cNvPr id="52" name="TextBox 52"/>
            <p:cNvSpPr txBox="1"/>
            <p:nvPr/>
          </p:nvSpPr>
          <p:spPr>
            <a:xfrm>
              <a:off x="0" y="-47625"/>
              <a:ext cx="2195822" cy="205939"/>
            </a:xfrm>
            <a:prstGeom prst="rect">
              <a:avLst/>
            </a:prstGeom>
          </p:spPr>
          <p:txBody>
            <a:bodyPr lIns="50800" tIns="50800" rIns="50800" bIns="50800" rtlCol="0" anchor="ctr"/>
            <a:lstStyle/>
            <a:p>
              <a:pPr algn="ctr">
                <a:lnSpc>
                  <a:spcPts val="2659"/>
                </a:lnSpc>
              </a:pPr>
              <a:endParaRPr/>
            </a:p>
          </p:txBody>
        </p:sp>
      </p:grpSp>
      <p:sp>
        <p:nvSpPr>
          <p:cNvPr id="53" name="TextBox 53"/>
          <p:cNvSpPr txBox="1"/>
          <p:nvPr/>
        </p:nvSpPr>
        <p:spPr>
          <a:xfrm>
            <a:off x="10048345" y="5386668"/>
            <a:ext cx="7836286" cy="448308"/>
          </a:xfrm>
          <a:prstGeom prst="rect">
            <a:avLst/>
          </a:prstGeom>
        </p:spPr>
        <p:txBody>
          <a:bodyPr lIns="0" tIns="0" rIns="0" bIns="0" rtlCol="0" anchor="t">
            <a:spAutoFit/>
          </a:bodyPr>
          <a:lstStyle/>
          <a:p>
            <a:pPr algn="l">
              <a:lnSpc>
                <a:spcPts val="3640"/>
              </a:lnSpc>
            </a:pPr>
            <a:r>
              <a:rPr lang="en-US" sz="2600" b="1">
                <a:solidFill>
                  <a:srgbClr val="FFFFFF"/>
                </a:solidFill>
                <a:latin typeface="Canva Sans Bold"/>
                <a:ea typeface="Canva Sans Bold"/>
                <a:cs typeface="Canva Sans Bold"/>
                <a:sym typeface="Canva Sans Bold"/>
              </a:rPr>
              <a:t>Praktis</a:t>
            </a:r>
          </a:p>
        </p:txBody>
      </p:sp>
      <p:sp>
        <p:nvSpPr>
          <p:cNvPr id="54" name="TextBox 54"/>
          <p:cNvSpPr txBox="1"/>
          <p:nvPr/>
        </p:nvSpPr>
        <p:spPr>
          <a:xfrm>
            <a:off x="10048345" y="6082821"/>
            <a:ext cx="5326225" cy="571951"/>
          </a:xfrm>
          <a:prstGeom prst="rect">
            <a:avLst/>
          </a:prstGeom>
        </p:spPr>
        <p:txBody>
          <a:bodyPr lIns="0" tIns="0" rIns="0" bIns="0" rtlCol="0" anchor="t">
            <a:spAutoFit/>
          </a:bodyPr>
          <a:lstStyle/>
          <a:p>
            <a:pPr marL="171450" indent="-171450" algn="ctr">
              <a:lnSpc>
                <a:spcPts val="1680"/>
              </a:lnSpc>
              <a:buFont typeface="Wingdings" panose="05000000000000000000" pitchFamily="2" charset="2"/>
              <a:buChar char="ü"/>
            </a:pPr>
            <a:r>
              <a:rPr lang="en-US" sz="1200" dirty="0" err="1">
                <a:solidFill>
                  <a:srgbClr val="FFFFFF"/>
                </a:solidFill>
                <a:latin typeface="Canva Sans"/>
                <a:ea typeface="Canva Sans"/>
                <a:cs typeface="Canva Sans"/>
                <a:sym typeface="Canva Sans"/>
              </a:rPr>
              <a:t>Mempermudah</a:t>
            </a:r>
            <a:r>
              <a:rPr lang="en-US" sz="1200" dirty="0">
                <a:solidFill>
                  <a:srgbClr val="FFFFFF"/>
                </a:solidFill>
                <a:latin typeface="Canva Sans"/>
                <a:ea typeface="Canva Sans"/>
                <a:cs typeface="Canva Sans"/>
                <a:sym typeface="Canva Sans"/>
              </a:rPr>
              <a:t> </a:t>
            </a:r>
            <a:r>
              <a:rPr lang="en-US" sz="1200" dirty="0" err="1">
                <a:solidFill>
                  <a:srgbClr val="FFFFFF"/>
                </a:solidFill>
                <a:latin typeface="Canva Sans"/>
                <a:ea typeface="Canva Sans"/>
                <a:cs typeface="Canva Sans"/>
                <a:sym typeface="Canva Sans"/>
              </a:rPr>
              <a:t>pemahaman</a:t>
            </a:r>
            <a:r>
              <a:rPr lang="en-US" sz="1200" dirty="0">
                <a:solidFill>
                  <a:srgbClr val="FFFFFF"/>
                </a:solidFill>
                <a:latin typeface="Canva Sans"/>
                <a:ea typeface="Canva Sans"/>
                <a:cs typeface="Canva Sans"/>
                <a:sym typeface="Canva Sans"/>
              </a:rPr>
              <a:t> </a:t>
            </a:r>
            <a:r>
              <a:rPr lang="en-US" sz="1200" dirty="0" err="1">
                <a:solidFill>
                  <a:srgbClr val="FFFFFF"/>
                </a:solidFill>
                <a:latin typeface="Canva Sans"/>
                <a:ea typeface="Canva Sans"/>
                <a:cs typeface="Canva Sans"/>
                <a:sym typeface="Canva Sans"/>
              </a:rPr>
              <a:t>struktur</a:t>
            </a:r>
            <a:r>
              <a:rPr lang="en-US" sz="1200" dirty="0">
                <a:solidFill>
                  <a:srgbClr val="FFFFFF"/>
                </a:solidFill>
                <a:latin typeface="Canva Sans"/>
                <a:ea typeface="Canva Sans"/>
                <a:cs typeface="Canva Sans"/>
                <a:sym typeface="Canva Sans"/>
              </a:rPr>
              <a:t> </a:t>
            </a:r>
            <a:r>
              <a:rPr lang="en-US" sz="1200" dirty="0" err="1">
                <a:solidFill>
                  <a:srgbClr val="FFFFFF"/>
                </a:solidFill>
                <a:latin typeface="Canva Sans"/>
                <a:ea typeface="Canva Sans"/>
                <a:cs typeface="Canva Sans"/>
                <a:sym typeface="Canva Sans"/>
              </a:rPr>
              <a:t>tematik</a:t>
            </a:r>
            <a:r>
              <a:rPr lang="en-US" sz="1200" dirty="0">
                <a:solidFill>
                  <a:srgbClr val="FFFFFF"/>
                </a:solidFill>
                <a:latin typeface="Canva Sans"/>
                <a:ea typeface="Canva Sans"/>
                <a:cs typeface="Canva Sans"/>
                <a:sym typeface="Canva Sans"/>
              </a:rPr>
              <a:t> Al-Qur'an </a:t>
            </a:r>
            <a:r>
              <a:rPr lang="en-US" sz="1200" dirty="0" err="1">
                <a:solidFill>
                  <a:srgbClr val="FFFFFF"/>
                </a:solidFill>
                <a:latin typeface="Canva Sans"/>
                <a:ea typeface="Canva Sans"/>
                <a:cs typeface="Canva Sans"/>
                <a:sym typeface="Canva Sans"/>
              </a:rPr>
              <a:t>secara</a:t>
            </a:r>
            <a:r>
              <a:rPr lang="en-US" sz="1200" dirty="0">
                <a:solidFill>
                  <a:srgbClr val="FFFFFF"/>
                </a:solidFill>
                <a:latin typeface="Canva Sans"/>
                <a:ea typeface="Canva Sans"/>
                <a:cs typeface="Canva Sans"/>
                <a:sym typeface="Canva Sans"/>
              </a:rPr>
              <a:t> </a:t>
            </a:r>
            <a:r>
              <a:rPr lang="en-US" sz="1200" dirty="0" err="1">
                <a:solidFill>
                  <a:srgbClr val="FFFFFF"/>
                </a:solidFill>
                <a:latin typeface="Canva Sans"/>
                <a:ea typeface="Canva Sans"/>
                <a:cs typeface="Canva Sans"/>
                <a:sym typeface="Canva Sans"/>
              </a:rPr>
              <a:t>sistematis</a:t>
            </a:r>
            <a:endParaRPr lang="en-US" sz="1200" dirty="0">
              <a:solidFill>
                <a:srgbClr val="FFFFFF"/>
              </a:solidFill>
              <a:latin typeface="Canva Sans"/>
              <a:ea typeface="Canva Sans"/>
              <a:cs typeface="Canva Sans"/>
              <a:sym typeface="Canva Sans"/>
            </a:endParaRPr>
          </a:p>
          <a:p>
            <a:pPr algn="ctr">
              <a:lnSpc>
                <a:spcPts val="980"/>
              </a:lnSpc>
            </a:pPr>
            <a:endParaRPr lang="en-US" sz="1200" dirty="0">
              <a:solidFill>
                <a:srgbClr val="FFFFFF"/>
              </a:solidFill>
              <a:latin typeface="Canva Sans"/>
              <a:ea typeface="Canva Sans"/>
              <a:cs typeface="Canva Sans"/>
              <a:sym typeface="Canva Sans"/>
            </a:endParaRPr>
          </a:p>
        </p:txBody>
      </p:sp>
      <p:sp>
        <p:nvSpPr>
          <p:cNvPr id="55" name="TextBox 55"/>
          <p:cNvSpPr txBox="1"/>
          <p:nvPr/>
        </p:nvSpPr>
        <p:spPr>
          <a:xfrm>
            <a:off x="10048345" y="6518035"/>
            <a:ext cx="5283438" cy="571951"/>
          </a:xfrm>
          <a:prstGeom prst="rect">
            <a:avLst/>
          </a:prstGeom>
        </p:spPr>
        <p:txBody>
          <a:bodyPr lIns="0" tIns="0" rIns="0" bIns="0" rtlCol="0" anchor="t">
            <a:spAutoFit/>
          </a:bodyPr>
          <a:lstStyle/>
          <a:p>
            <a:pPr marL="171450" indent="-171450" algn="ctr">
              <a:lnSpc>
                <a:spcPts val="1680"/>
              </a:lnSpc>
              <a:buFont typeface="Wingdings" panose="05000000000000000000" pitchFamily="2" charset="2"/>
              <a:buChar char="ü"/>
            </a:pPr>
            <a:r>
              <a:rPr lang="en-US" sz="1200" dirty="0" err="1">
                <a:solidFill>
                  <a:srgbClr val="FFFFFF"/>
                </a:solidFill>
                <a:latin typeface="Canva Sans"/>
                <a:ea typeface="Canva Sans"/>
                <a:cs typeface="Canva Sans"/>
                <a:sym typeface="Canva Sans"/>
              </a:rPr>
              <a:t>Mendukung</a:t>
            </a:r>
            <a:r>
              <a:rPr lang="en-US" sz="1200" dirty="0">
                <a:solidFill>
                  <a:srgbClr val="FFFFFF"/>
                </a:solidFill>
                <a:latin typeface="Canva Sans"/>
                <a:ea typeface="Canva Sans"/>
                <a:cs typeface="Canva Sans"/>
                <a:sym typeface="Canva Sans"/>
              </a:rPr>
              <a:t> </a:t>
            </a:r>
            <a:r>
              <a:rPr lang="en-US" sz="1200" dirty="0" err="1">
                <a:solidFill>
                  <a:srgbClr val="FFFFFF"/>
                </a:solidFill>
                <a:latin typeface="Canva Sans"/>
                <a:ea typeface="Canva Sans"/>
                <a:cs typeface="Canva Sans"/>
                <a:sym typeface="Canva Sans"/>
              </a:rPr>
              <a:t>kajian</a:t>
            </a:r>
            <a:r>
              <a:rPr lang="en-US" sz="1200" dirty="0">
                <a:solidFill>
                  <a:srgbClr val="FFFFFF"/>
                </a:solidFill>
                <a:latin typeface="Canva Sans"/>
                <a:ea typeface="Canva Sans"/>
                <a:cs typeface="Canva Sans"/>
                <a:sym typeface="Canva Sans"/>
              </a:rPr>
              <a:t> tafsir </a:t>
            </a:r>
            <a:r>
              <a:rPr lang="en-US" sz="1200" dirty="0" err="1">
                <a:solidFill>
                  <a:srgbClr val="FFFFFF"/>
                </a:solidFill>
                <a:latin typeface="Canva Sans"/>
                <a:ea typeface="Canva Sans"/>
                <a:cs typeface="Canva Sans"/>
                <a:sym typeface="Canva Sans"/>
              </a:rPr>
              <a:t>dengan</a:t>
            </a:r>
            <a:r>
              <a:rPr lang="en-US" sz="1200" dirty="0">
                <a:solidFill>
                  <a:srgbClr val="FFFFFF"/>
                </a:solidFill>
                <a:latin typeface="Canva Sans"/>
                <a:ea typeface="Canva Sans"/>
                <a:cs typeface="Canva Sans"/>
                <a:sym typeface="Canva Sans"/>
              </a:rPr>
              <a:t> </a:t>
            </a:r>
            <a:r>
              <a:rPr lang="en-US" sz="1200" dirty="0" err="1">
                <a:solidFill>
                  <a:srgbClr val="FFFFFF"/>
                </a:solidFill>
                <a:latin typeface="Canva Sans"/>
                <a:ea typeface="Canva Sans"/>
                <a:cs typeface="Canva Sans"/>
                <a:sym typeface="Canva Sans"/>
              </a:rPr>
              <a:t>pendekatan</a:t>
            </a:r>
            <a:r>
              <a:rPr lang="en-US" sz="1200" dirty="0">
                <a:solidFill>
                  <a:srgbClr val="FFFFFF"/>
                </a:solidFill>
                <a:latin typeface="Canva Sans"/>
                <a:ea typeface="Canva Sans"/>
                <a:cs typeface="Canva Sans"/>
                <a:sym typeface="Canva Sans"/>
              </a:rPr>
              <a:t> </a:t>
            </a:r>
            <a:r>
              <a:rPr lang="en-US" sz="1200" dirty="0" err="1">
                <a:solidFill>
                  <a:srgbClr val="FFFFFF"/>
                </a:solidFill>
                <a:latin typeface="Canva Sans"/>
                <a:ea typeface="Canva Sans"/>
                <a:cs typeface="Canva Sans"/>
                <a:sym typeface="Canva Sans"/>
              </a:rPr>
              <a:t>teknologi</a:t>
            </a:r>
            <a:r>
              <a:rPr lang="en-US" sz="1200" dirty="0">
                <a:solidFill>
                  <a:srgbClr val="FFFFFF"/>
                </a:solidFill>
                <a:latin typeface="Canva Sans"/>
                <a:ea typeface="Canva Sans"/>
                <a:cs typeface="Canva Sans"/>
                <a:sym typeface="Canva Sans"/>
              </a:rPr>
              <a:t> </a:t>
            </a:r>
            <a:r>
              <a:rPr lang="en-US" sz="1200" dirty="0" err="1">
                <a:solidFill>
                  <a:srgbClr val="FFFFFF"/>
                </a:solidFill>
                <a:latin typeface="Canva Sans"/>
                <a:ea typeface="Canva Sans"/>
                <a:cs typeface="Canva Sans"/>
                <a:sym typeface="Canva Sans"/>
              </a:rPr>
              <a:t>informasi</a:t>
            </a:r>
            <a:r>
              <a:rPr lang="en-US" sz="1200" dirty="0">
                <a:solidFill>
                  <a:srgbClr val="FFFFFF"/>
                </a:solidFill>
                <a:latin typeface="Canva Sans"/>
                <a:ea typeface="Canva Sans"/>
                <a:cs typeface="Canva Sans"/>
                <a:sym typeface="Canva Sans"/>
              </a:rPr>
              <a:t> modern</a:t>
            </a:r>
          </a:p>
          <a:p>
            <a:pPr algn="ctr">
              <a:lnSpc>
                <a:spcPts val="980"/>
              </a:lnSpc>
            </a:pPr>
            <a:endParaRPr lang="en-US" sz="1200" dirty="0">
              <a:solidFill>
                <a:srgbClr val="FFFFFF"/>
              </a:solidFill>
              <a:latin typeface="Canva Sans"/>
              <a:ea typeface="Canva Sans"/>
              <a:cs typeface="Canva Sans"/>
              <a:sym typeface="Canva Sans"/>
            </a:endParaRPr>
          </a:p>
        </p:txBody>
      </p:sp>
      <p:grpSp>
        <p:nvGrpSpPr>
          <p:cNvPr id="56" name="Group 56"/>
          <p:cNvGrpSpPr/>
          <p:nvPr/>
        </p:nvGrpSpPr>
        <p:grpSpPr>
          <a:xfrm>
            <a:off x="9598076" y="7862229"/>
            <a:ext cx="8337260" cy="1091016"/>
            <a:chOff x="0" y="0"/>
            <a:chExt cx="2195822" cy="287346"/>
          </a:xfrm>
        </p:grpSpPr>
        <p:sp>
          <p:nvSpPr>
            <p:cNvPr id="57" name="Freeform 57"/>
            <p:cNvSpPr/>
            <p:nvPr/>
          </p:nvSpPr>
          <p:spPr>
            <a:xfrm>
              <a:off x="0" y="0"/>
              <a:ext cx="2195822" cy="287346"/>
            </a:xfrm>
            <a:custGeom>
              <a:avLst/>
              <a:gdLst/>
              <a:ahLst/>
              <a:cxnLst/>
              <a:rect l="l" t="t" r="r" b="b"/>
              <a:pathLst>
                <a:path w="2195822" h="287346">
                  <a:moveTo>
                    <a:pt x="0" y="0"/>
                  </a:moveTo>
                  <a:lnTo>
                    <a:pt x="2195822" y="0"/>
                  </a:lnTo>
                  <a:lnTo>
                    <a:pt x="2195822" y="287346"/>
                  </a:lnTo>
                  <a:lnTo>
                    <a:pt x="0" y="287346"/>
                  </a:lnTo>
                  <a:close/>
                </a:path>
              </a:pathLst>
            </a:custGeom>
            <a:solidFill>
              <a:srgbClr val="081F8C"/>
            </a:solidFill>
            <a:ln w="38100" cap="sq">
              <a:solidFill>
                <a:srgbClr val="FF751F"/>
              </a:solidFill>
              <a:prstDash val="solid"/>
              <a:miter/>
            </a:ln>
          </p:spPr>
        </p:sp>
        <p:sp>
          <p:nvSpPr>
            <p:cNvPr id="58" name="TextBox 58"/>
            <p:cNvSpPr txBox="1"/>
            <p:nvPr/>
          </p:nvSpPr>
          <p:spPr>
            <a:xfrm>
              <a:off x="0" y="-47625"/>
              <a:ext cx="2195822" cy="334971"/>
            </a:xfrm>
            <a:prstGeom prst="rect">
              <a:avLst/>
            </a:prstGeom>
          </p:spPr>
          <p:txBody>
            <a:bodyPr lIns="50800" tIns="50800" rIns="50800" bIns="50800" rtlCol="0" anchor="ctr"/>
            <a:lstStyle/>
            <a:p>
              <a:pPr algn="ctr">
                <a:lnSpc>
                  <a:spcPts val="2659"/>
                </a:lnSpc>
              </a:pPr>
              <a:endParaRPr/>
            </a:p>
          </p:txBody>
        </p:sp>
      </p:grpSp>
      <p:grpSp>
        <p:nvGrpSpPr>
          <p:cNvPr id="59" name="Group 59"/>
          <p:cNvGrpSpPr/>
          <p:nvPr/>
        </p:nvGrpSpPr>
        <p:grpSpPr>
          <a:xfrm>
            <a:off x="9598076" y="7283014"/>
            <a:ext cx="8337260" cy="601099"/>
            <a:chOff x="0" y="0"/>
            <a:chExt cx="2195822" cy="158314"/>
          </a:xfrm>
        </p:grpSpPr>
        <p:sp>
          <p:nvSpPr>
            <p:cNvPr id="60" name="Freeform 60"/>
            <p:cNvSpPr/>
            <p:nvPr/>
          </p:nvSpPr>
          <p:spPr>
            <a:xfrm>
              <a:off x="0" y="0"/>
              <a:ext cx="2195822" cy="158314"/>
            </a:xfrm>
            <a:custGeom>
              <a:avLst/>
              <a:gdLst/>
              <a:ahLst/>
              <a:cxnLst/>
              <a:rect l="l" t="t" r="r" b="b"/>
              <a:pathLst>
                <a:path w="2195822" h="158314">
                  <a:moveTo>
                    <a:pt x="0" y="0"/>
                  </a:moveTo>
                  <a:lnTo>
                    <a:pt x="2195822" y="0"/>
                  </a:lnTo>
                  <a:lnTo>
                    <a:pt x="2195822" y="158314"/>
                  </a:lnTo>
                  <a:lnTo>
                    <a:pt x="0" y="158314"/>
                  </a:lnTo>
                  <a:close/>
                </a:path>
              </a:pathLst>
            </a:custGeom>
            <a:solidFill>
              <a:srgbClr val="1800AD"/>
            </a:solidFill>
            <a:ln w="38100" cap="sq">
              <a:solidFill>
                <a:srgbClr val="FF751F"/>
              </a:solidFill>
              <a:prstDash val="solid"/>
              <a:miter/>
            </a:ln>
          </p:spPr>
        </p:sp>
        <p:sp>
          <p:nvSpPr>
            <p:cNvPr id="61" name="TextBox 61"/>
            <p:cNvSpPr txBox="1"/>
            <p:nvPr/>
          </p:nvSpPr>
          <p:spPr>
            <a:xfrm>
              <a:off x="0" y="-47625"/>
              <a:ext cx="2195822" cy="205939"/>
            </a:xfrm>
            <a:prstGeom prst="rect">
              <a:avLst/>
            </a:prstGeom>
          </p:spPr>
          <p:txBody>
            <a:bodyPr lIns="50800" tIns="50800" rIns="50800" bIns="50800" rtlCol="0" anchor="ctr"/>
            <a:lstStyle/>
            <a:p>
              <a:pPr algn="ctr">
                <a:lnSpc>
                  <a:spcPts val="2659"/>
                </a:lnSpc>
              </a:pPr>
              <a:endParaRPr/>
            </a:p>
          </p:txBody>
        </p:sp>
      </p:grpSp>
      <p:sp>
        <p:nvSpPr>
          <p:cNvPr id="62" name="TextBox 62"/>
          <p:cNvSpPr txBox="1"/>
          <p:nvPr/>
        </p:nvSpPr>
        <p:spPr>
          <a:xfrm>
            <a:off x="10048345" y="7330834"/>
            <a:ext cx="7880570" cy="448308"/>
          </a:xfrm>
          <a:prstGeom prst="rect">
            <a:avLst/>
          </a:prstGeom>
        </p:spPr>
        <p:txBody>
          <a:bodyPr lIns="0" tIns="0" rIns="0" bIns="0" rtlCol="0" anchor="t">
            <a:spAutoFit/>
          </a:bodyPr>
          <a:lstStyle/>
          <a:p>
            <a:pPr algn="l">
              <a:lnSpc>
                <a:spcPts val="3640"/>
              </a:lnSpc>
            </a:pPr>
            <a:r>
              <a:rPr lang="en-US" sz="2600" b="1">
                <a:solidFill>
                  <a:srgbClr val="FFFFFF"/>
                </a:solidFill>
                <a:latin typeface="Canva Sans Bold"/>
                <a:ea typeface="Canva Sans Bold"/>
                <a:cs typeface="Canva Sans Bold"/>
                <a:sym typeface="Canva Sans Bold"/>
              </a:rPr>
              <a:t>Teknologi</a:t>
            </a:r>
          </a:p>
        </p:txBody>
      </p:sp>
      <p:sp>
        <p:nvSpPr>
          <p:cNvPr id="63" name="TextBox 63"/>
          <p:cNvSpPr txBox="1"/>
          <p:nvPr/>
        </p:nvSpPr>
        <p:spPr>
          <a:xfrm>
            <a:off x="10048345" y="7998413"/>
            <a:ext cx="4636727" cy="571951"/>
          </a:xfrm>
          <a:prstGeom prst="rect">
            <a:avLst/>
          </a:prstGeom>
        </p:spPr>
        <p:txBody>
          <a:bodyPr lIns="0" tIns="0" rIns="0" bIns="0" rtlCol="0" anchor="t">
            <a:spAutoFit/>
          </a:bodyPr>
          <a:lstStyle/>
          <a:p>
            <a:pPr marL="171450" indent="-171450" algn="ctr">
              <a:lnSpc>
                <a:spcPts val="1680"/>
              </a:lnSpc>
              <a:buFont typeface="Wingdings" panose="05000000000000000000" pitchFamily="2" charset="2"/>
              <a:buChar char="ü"/>
            </a:pPr>
            <a:r>
              <a:rPr lang="en-US" sz="1200" dirty="0" err="1">
                <a:solidFill>
                  <a:srgbClr val="FFFFFF"/>
                </a:solidFill>
                <a:latin typeface="Canva Sans"/>
                <a:ea typeface="Canva Sans"/>
                <a:cs typeface="Canva Sans"/>
                <a:sym typeface="Canva Sans"/>
              </a:rPr>
              <a:t>Referensi</a:t>
            </a:r>
            <a:r>
              <a:rPr lang="en-US" sz="1200" dirty="0">
                <a:solidFill>
                  <a:srgbClr val="FFFFFF"/>
                </a:solidFill>
                <a:latin typeface="Canva Sans"/>
                <a:ea typeface="Canva Sans"/>
                <a:cs typeface="Canva Sans"/>
                <a:sym typeface="Canva Sans"/>
              </a:rPr>
              <a:t> </a:t>
            </a:r>
            <a:r>
              <a:rPr lang="en-US" sz="1200" dirty="0" err="1">
                <a:solidFill>
                  <a:srgbClr val="FFFFFF"/>
                </a:solidFill>
                <a:latin typeface="Canva Sans"/>
                <a:ea typeface="Canva Sans"/>
                <a:cs typeface="Canva Sans"/>
                <a:sym typeface="Canva Sans"/>
              </a:rPr>
              <a:t>pengembangan</a:t>
            </a:r>
            <a:r>
              <a:rPr lang="en-US" sz="1200" dirty="0">
                <a:solidFill>
                  <a:srgbClr val="FFFFFF"/>
                </a:solidFill>
                <a:latin typeface="Canva Sans"/>
                <a:ea typeface="Canva Sans"/>
                <a:cs typeface="Canva Sans"/>
                <a:sym typeface="Canva Sans"/>
              </a:rPr>
              <a:t> </a:t>
            </a:r>
            <a:r>
              <a:rPr lang="en-US" sz="1200" dirty="0" err="1">
                <a:solidFill>
                  <a:srgbClr val="FFFFFF"/>
                </a:solidFill>
                <a:latin typeface="Canva Sans"/>
                <a:ea typeface="Canva Sans"/>
                <a:cs typeface="Canva Sans"/>
                <a:sym typeface="Canva Sans"/>
              </a:rPr>
              <a:t>aplikasi</a:t>
            </a:r>
            <a:r>
              <a:rPr lang="en-US" sz="1200" dirty="0">
                <a:solidFill>
                  <a:srgbClr val="FFFFFF"/>
                </a:solidFill>
                <a:latin typeface="Canva Sans"/>
                <a:ea typeface="Canva Sans"/>
                <a:cs typeface="Canva Sans"/>
                <a:sym typeface="Canva Sans"/>
              </a:rPr>
              <a:t> </a:t>
            </a:r>
            <a:r>
              <a:rPr lang="en-US" sz="1200" dirty="0" err="1">
                <a:solidFill>
                  <a:srgbClr val="FFFFFF"/>
                </a:solidFill>
                <a:latin typeface="Canva Sans"/>
                <a:ea typeface="Canva Sans"/>
                <a:cs typeface="Canva Sans"/>
                <a:sym typeface="Canva Sans"/>
              </a:rPr>
              <a:t>pencarian</a:t>
            </a:r>
            <a:r>
              <a:rPr lang="en-US" sz="1200" dirty="0">
                <a:solidFill>
                  <a:srgbClr val="FFFFFF"/>
                </a:solidFill>
                <a:latin typeface="Canva Sans"/>
                <a:ea typeface="Canva Sans"/>
                <a:cs typeface="Canva Sans"/>
                <a:sym typeface="Canva Sans"/>
              </a:rPr>
              <a:t> </a:t>
            </a:r>
            <a:r>
              <a:rPr lang="en-US" sz="1200" dirty="0" err="1">
                <a:solidFill>
                  <a:srgbClr val="FFFFFF"/>
                </a:solidFill>
                <a:latin typeface="Canva Sans"/>
                <a:ea typeface="Canva Sans"/>
                <a:cs typeface="Canva Sans"/>
                <a:sym typeface="Canva Sans"/>
              </a:rPr>
              <a:t>ayat</a:t>
            </a:r>
            <a:r>
              <a:rPr lang="en-US" sz="1200" dirty="0">
                <a:solidFill>
                  <a:srgbClr val="FFFFFF"/>
                </a:solidFill>
                <a:latin typeface="Canva Sans"/>
                <a:ea typeface="Canva Sans"/>
                <a:cs typeface="Canva Sans"/>
                <a:sym typeface="Canva Sans"/>
              </a:rPr>
              <a:t> </a:t>
            </a:r>
            <a:r>
              <a:rPr lang="en-US" sz="1200" dirty="0" err="1">
                <a:solidFill>
                  <a:srgbClr val="FFFFFF"/>
                </a:solidFill>
                <a:latin typeface="Canva Sans"/>
                <a:ea typeface="Canva Sans"/>
                <a:cs typeface="Canva Sans"/>
                <a:sym typeface="Canva Sans"/>
              </a:rPr>
              <a:t>berbasis</a:t>
            </a:r>
            <a:r>
              <a:rPr lang="en-US" sz="1200" dirty="0">
                <a:solidFill>
                  <a:srgbClr val="FFFFFF"/>
                </a:solidFill>
                <a:latin typeface="Canva Sans"/>
                <a:ea typeface="Canva Sans"/>
                <a:cs typeface="Canva Sans"/>
                <a:sym typeface="Canva Sans"/>
              </a:rPr>
              <a:t> </a:t>
            </a:r>
            <a:r>
              <a:rPr lang="en-US" sz="1200" dirty="0" err="1">
                <a:solidFill>
                  <a:srgbClr val="FFFFFF"/>
                </a:solidFill>
                <a:latin typeface="Canva Sans"/>
                <a:ea typeface="Canva Sans"/>
                <a:cs typeface="Canva Sans"/>
                <a:sym typeface="Canva Sans"/>
              </a:rPr>
              <a:t>tema</a:t>
            </a:r>
            <a:endParaRPr lang="en-US" sz="1200" dirty="0">
              <a:solidFill>
                <a:srgbClr val="FFFFFF"/>
              </a:solidFill>
              <a:latin typeface="Canva Sans"/>
              <a:ea typeface="Canva Sans"/>
              <a:cs typeface="Canva Sans"/>
              <a:sym typeface="Canva Sans"/>
            </a:endParaRPr>
          </a:p>
          <a:p>
            <a:pPr algn="ctr">
              <a:lnSpc>
                <a:spcPts val="980"/>
              </a:lnSpc>
            </a:pPr>
            <a:endParaRPr lang="en-US" sz="1200" dirty="0">
              <a:solidFill>
                <a:srgbClr val="FFFFFF"/>
              </a:solidFill>
              <a:latin typeface="Canva Sans"/>
              <a:ea typeface="Canva Sans"/>
              <a:cs typeface="Canva Sans"/>
              <a:sym typeface="Canva Sans"/>
            </a:endParaRPr>
          </a:p>
        </p:txBody>
      </p:sp>
      <p:sp>
        <p:nvSpPr>
          <p:cNvPr id="64" name="TextBox 64"/>
          <p:cNvSpPr txBox="1"/>
          <p:nvPr/>
        </p:nvSpPr>
        <p:spPr>
          <a:xfrm>
            <a:off x="10048345" y="8386002"/>
            <a:ext cx="3509635" cy="571951"/>
          </a:xfrm>
          <a:prstGeom prst="rect">
            <a:avLst/>
          </a:prstGeom>
        </p:spPr>
        <p:txBody>
          <a:bodyPr lIns="0" tIns="0" rIns="0" bIns="0" rtlCol="0" anchor="t">
            <a:spAutoFit/>
          </a:bodyPr>
          <a:lstStyle/>
          <a:p>
            <a:pPr marL="171450" indent="-171450" algn="ctr">
              <a:lnSpc>
                <a:spcPts val="1680"/>
              </a:lnSpc>
              <a:buFont typeface="Wingdings" panose="05000000000000000000" pitchFamily="2" charset="2"/>
              <a:buChar char="ü"/>
            </a:pPr>
            <a:r>
              <a:rPr lang="en-US" sz="1200" dirty="0">
                <a:solidFill>
                  <a:srgbClr val="FFFFFF"/>
                </a:solidFill>
                <a:latin typeface="Canva Sans"/>
                <a:ea typeface="Canva Sans"/>
                <a:cs typeface="Canva Sans"/>
                <a:sym typeface="Canva Sans"/>
              </a:rPr>
              <a:t>Dasar </a:t>
            </a:r>
            <a:r>
              <a:rPr lang="en-US" sz="1200" dirty="0" err="1">
                <a:solidFill>
                  <a:srgbClr val="FFFFFF"/>
                </a:solidFill>
                <a:latin typeface="Canva Sans"/>
                <a:ea typeface="Canva Sans"/>
                <a:cs typeface="Canva Sans"/>
                <a:sym typeface="Canva Sans"/>
              </a:rPr>
              <a:t>sistem</a:t>
            </a:r>
            <a:r>
              <a:rPr lang="en-US" sz="1200" dirty="0">
                <a:solidFill>
                  <a:srgbClr val="FFFFFF"/>
                </a:solidFill>
                <a:latin typeface="Canva Sans"/>
                <a:ea typeface="Canva Sans"/>
                <a:cs typeface="Canva Sans"/>
                <a:sym typeface="Canva Sans"/>
              </a:rPr>
              <a:t> </a:t>
            </a:r>
            <a:r>
              <a:rPr lang="en-US" sz="1200" dirty="0" err="1">
                <a:solidFill>
                  <a:srgbClr val="FFFFFF"/>
                </a:solidFill>
                <a:latin typeface="Canva Sans"/>
                <a:ea typeface="Canva Sans"/>
                <a:cs typeface="Canva Sans"/>
                <a:sym typeface="Canva Sans"/>
              </a:rPr>
              <a:t>analisis</a:t>
            </a:r>
            <a:r>
              <a:rPr lang="en-US" sz="1200" dirty="0">
                <a:solidFill>
                  <a:srgbClr val="FFFFFF"/>
                </a:solidFill>
                <a:latin typeface="Canva Sans"/>
                <a:ea typeface="Canva Sans"/>
                <a:cs typeface="Canva Sans"/>
                <a:sym typeface="Canva Sans"/>
              </a:rPr>
              <a:t> </a:t>
            </a:r>
            <a:r>
              <a:rPr lang="en-US" sz="1200" dirty="0" err="1">
                <a:solidFill>
                  <a:srgbClr val="FFFFFF"/>
                </a:solidFill>
                <a:latin typeface="Canva Sans"/>
                <a:ea typeface="Canva Sans"/>
                <a:cs typeface="Canva Sans"/>
                <a:sym typeface="Canva Sans"/>
              </a:rPr>
              <a:t>tematik</a:t>
            </a:r>
            <a:r>
              <a:rPr lang="en-US" sz="1200" dirty="0">
                <a:solidFill>
                  <a:srgbClr val="FFFFFF"/>
                </a:solidFill>
                <a:latin typeface="Canva Sans"/>
                <a:ea typeface="Canva Sans"/>
                <a:cs typeface="Canva Sans"/>
                <a:sym typeface="Canva Sans"/>
              </a:rPr>
              <a:t> </a:t>
            </a:r>
            <a:r>
              <a:rPr lang="en-US" sz="1200" dirty="0" err="1">
                <a:solidFill>
                  <a:srgbClr val="FFFFFF"/>
                </a:solidFill>
                <a:latin typeface="Canva Sans"/>
                <a:ea typeface="Canva Sans"/>
                <a:cs typeface="Canva Sans"/>
                <a:sym typeface="Canva Sans"/>
              </a:rPr>
              <a:t>teks</a:t>
            </a:r>
            <a:r>
              <a:rPr lang="en-US" sz="1200" dirty="0">
                <a:solidFill>
                  <a:srgbClr val="FFFFFF"/>
                </a:solidFill>
                <a:latin typeface="Canva Sans"/>
                <a:ea typeface="Canva Sans"/>
                <a:cs typeface="Canva Sans"/>
                <a:sym typeface="Canva Sans"/>
              </a:rPr>
              <a:t> </a:t>
            </a:r>
            <a:r>
              <a:rPr lang="en-US" sz="1200" dirty="0" err="1">
                <a:solidFill>
                  <a:srgbClr val="FFFFFF"/>
                </a:solidFill>
                <a:latin typeface="Canva Sans"/>
                <a:ea typeface="Canva Sans"/>
                <a:cs typeface="Canva Sans"/>
                <a:sym typeface="Canva Sans"/>
              </a:rPr>
              <a:t>religius</a:t>
            </a:r>
            <a:r>
              <a:rPr lang="en-US" sz="1200" dirty="0">
                <a:solidFill>
                  <a:srgbClr val="FFFFFF"/>
                </a:solidFill>
                <a:latin typeface="Canva Sans"/>
                <a:ea typeface="Canva Sans"/>
                <a:cs typeface="Canva Sans"/>
                <a:sym typeface="Canva Sans"/>
              </a:rPr>
              <a:t> digital</a:t>
            </a:r>
          </a:p>
          <a:p>
            <a:pPr algn="ctr">
              <a:lnSpc>
                <a:spcPts val="980"/>
              </a:lnSpc>
            </a:pPr>
            <a:endParaRPr lang="en-US" sz="1200" dirty="0">
              <a:solidFill>
                <a:srgbClr val="FFFFFF"/>
              </a:solidFill>
              <a:latin typeface="Canva Sans"/>
              <a:ea typeface="Canva Sans"/>
              <a:cs typeface="Canva Sans"/>
              <a:sym typeface="Canva Sans"/>
            </a:endParaRPr>
          </a:p>
        </p:txBody>
      </p:sp>
      <p:sp>
        <p:nvSpPr>
          <p:cNvPr id="66" name="TextBox 48">
            <a:extLst>
              <a:ext uri="{FF2B5EF4-FFF2-40B4-BE49-F238E27FC236}">
                <a16:creationId xmlns:a16="http://schemas.microsoft.com/office/drawing/2014/main" id="{7646DA5A-91E2-C885-E96E-818A451CBCFB}"/>
              </a:ext>
            </a:extLst>
          </p:cNvPr>
          <p:cNvSpPr txBox="1"/>
          <p:nvPr/>
        </p:nvSpPr>
        <p:spPr>
          <a:xfrm>
            <a:off x="9791701" y="4582518"/>
            <a:ext cx="5650988" cy="203261"/>
          </a:xfrm>
          <a:prstGeom prst="rect">
            <a:avLst/>
          </a:prstGeom>
        </p:spPr>
        <p:txBody>
          <a:bodyPr wrap="square" lIns="0" tIns="0" rIns="0" bIns="0" rtlCol="0" anchor="t">
            <a:spAutoFit/>
          </a:bodyPr>
          <a:lstStyle/>
          <a:p>
            <a:pPr marL="171450" indent="-171450">
              <a:lnSpc>
                <a:spcPts val="1680"/>
              </a:lnSpc>
              <a:buFont typeface="Wingdings" panose="05000000000000000000" pitchFamily="2" charset="2"/>
              <a:buChar char="ü"/>
            </a:pPr>
            <a:r>
              <a:rPr lang="en-US" sz="1200" dirty="0" err="1">
                <a:solidFill>
                  <a:srgbClr val="FFFFFF"/>
                </a:solidFill>
                <a:latin typeface="Canva Sans"/>
                <a:ea typeface="Canva Sans"/>
                <a:cs typeface="Canva Sans"/>
                <a:sym typeface="Canva Sans"/>
              </a:rPr>
              <a:t>Referensi</a:t>
            </a:r>
            <a:r>
              <a:rPr lang="en-US" sz="1200" dirty="0">
                <a:solidFill>
                  <a:srgbClr val="FFFFFF"/>
                </a:solidFill>
                <a:latin typeface="Canva Sans"/>
                <a:ea typeface="Canva Sans"/>
                <a:cs typeface="Canva Sans"/>
                <a:sym typeface="Canva Sans"/>
              </a:rPr>
              <a:t> </a:t>
            </a:r>
            <a:r>
              <a:rPr lang="en-US" sz="1200" dirty="0" err="1">
                <a:solidFill>
                  <a:srgbClr val="FFFFFF"/>
                </a:solidFill>
                <a:latin typeface="Canva Sans"/>
                <a:ea typeface="Canva Sans"/>
                <a:cs typeface="Canva Sans"/>
                <a:sym typeface="Canva Sans"/>
              </a:rPr>
              <a:t>Penelitian</a:t>
            </a:r>
            <a:r>
              <a:rPr lang="en-US" sz="1200" dirty="0">
                <a:solidFill>
                  <a:srgbClr val="FFFFFF"/>
                </a:solidFill>
                <a:latin typeface="Canva Sans"/>
                <a:ea typeface="Canva Sans"/>
                <a:cs typeface="Canva Sans"/>
                <a:sym typeface="Canva Sans"/>
              </a:rPr>
              <a:t> NLP pada </a:t>
            </a:r>
            <a:r>
              <a:rPr lang="en-US" sz="1200" dirty="0" err="1">
                <a:solidFill>
                  <a:srgbClr val="FFFFFF"/>
                </a:solidFill>
                <a:latin typeface="Canva Sans"/>
                <a:ea typeface="Canva Sans"/>
                <a:cs typeface="Canva Sans"/>
                <a:sym typeface="Canva Sans"/>
              </a:rPr>
              <a:t>korpus</a:t>
            </a:r>
            <a:r>
              <a:rPr lang="en-US" sz="1200" dirty="0">
                <a:solidFill>
                  <a:srgbClr val="FFFFFF"/>
                </a:solidFill>
                <a:latin typeface="Canva Sans"/>
                <a:ea typeface="Canva Sans"/>
                <a:cs typeface="Canva Sans"/>
                <a:sym typeface="Canva Sans"/>
              </a:rPr>
              <a:t> </a:t>
            </a:r>
            <a:r>
              <a:rPr lang="en-US" sz="1200" dirty="0" err="1">
                <a:solidFill>
                  <a:srgbClr val="FFFFFF"/>
                </a:solidFill>
                <a:latin typeface="Canva Sans"/>
                <a:ea typeface="Canva Sans"/>
                <a:cs typeface="Canva Sans"/>
                <a:sym typeface="Canva Sans"/>
              </a:rPr>
              <a:t>berbahasa</a:t>
            </a:r>
            <a:r>
              <a:rPr lang="en-US" sz="1200" dirty="0">
                <a:solidFill>
                  <a:srgbClr val="FFFFFF"/>
                </a:solidFill>
                <a:latin typeface="Canva Sans"/>
                <a:ea typeface="Canva Sans"/>
                <a:cs typeface="Canva Sans"/>
                <a:sym typeface="Canva Sans"/>
              </a:rPr>
              <a:t> Indonesia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assets/logo.png"/>
          <p:cNvPicPr>
            <a:picLocks noChangeAspect="1"/>
          </p:cNvPicPr>
          <p:nvPr/>
        </p:nvPicPr>
        <p:blipFill>
          <a:blip r:embed="rId3"/>
          <a:stretch>
            <a:fillRect/>
          </a:stretch>
        </p:blipFill>
        <p:spPr>
          <a:xfrm>
            <a:off x="16664940" y="384048"/>
            <a:ext cx="987552" cy="960120"/>
          </a:xfrm>
          <a:prstGeom prst="rect">
            <a:avLst/>
          </a:prstGeom>
        </p:spPr>
      </p:pic>
      <p:sp>
        <p:nvSpPr>
          <p:cNvPr id="3" name="Text 0"/>
          <p:cNvSpPr/>
          <p:nvPr/>
        </p:nvSpPr>
        <p:spPr>
          <a:xfrm>
            <a:off x="754380" y="411480"/>
            <a:ext cx="14401800" cy="548640"/>
          </a:xfrm>
          <a:prstGeom prst="rect">
            <a:avLst/>
          </a:prstGeom>
          <a:noFill/>
          <a:ln/>
        </p:spPr>
        <p:txBody>
          <a:bodyPr wrap="square" lIns="0" tIns="0" rIns="0" bIns="0" rtlCol="0" anchor="ctr"/>
          <a:lstStyle/>
          <a:p>
            <a:r>
              <a:rPr lang="en-US" sz="4800" b="1" dirty="0">
                <a:solidFill>
                  <a:srgbClr val="FF751F"/>
                </a:solidFill>
                <a:latin typeface="Calibri" pitchFamily="34" charset="0"/>
                <a:ea typeface="Calibri" pitchFamily="34" charset="-122"/>
                <a:cs typeface="Calibri" pitchFamily="34" charset="-120"/>
              </a:rPr>
              <a:t>04|  Landasan Teori</a:t>
            </a:r>
            <a:endParaRPr lang="en-US" sz="4800" dirty="0"/>
          </a:p>
        </p:txBody>
      </p:sp>
      <p:sp>
        <p:nvSpPr>
          <p:cNvPr id="4" name="Text 1"/>
          <p:cNvSpPr/>
          <p:nvPr/>
        </p:nvSpPr>
        <p:spPr>
          <a:xfrm>
            <a:off x="754380" y="850392"/>
            <a:ext cx="15361920" cy="1028700"/>
          </a:xfrm>
          <a:prstGeom prst="rect">
            <a:avLst/>
          </a:prstGeom>
          <a:noFill/>
          <a:ln/>
        </p:spPr>
        <p:txBody>
          <a:bodyPr wrap="square" lIns="0" tIns="0" rIns="0" bIns="0" rtlCol="0" anchor="ctr"/>
          <a:lstStyle/>
          <a:p>
            <a:r>
              <a:rPr lang="en-US" sz="4200" b="1" dirty="0">
                <a:solidFill>
                  <a:srgbClr val="1800AD"/>
                </a:solidFill>
                <a:latin typeface="Calibri" pitchFamily="34" charset="0"/>
                <a:ea typeface="Calibri" pitchFamily="34" charset="-122"/>
                <a:cs typeface="Calibri" pitchFamily="34" charset="-120"/>
              </a:rPr>
              <a:t>CTM vs </a:t>
            </a:r>
            <a:r>
              <a:rPr lang="en-US" sz="4200" b="1" dirty="0" err="1">
                <a:solidFill>
                  <a:srgbClr val="1800AD"/>
                </a:solidFill>
                <a:latin typeface="Calibri" pitchFamily="34" charset="0"/>
                <a:ea typeface="Calibri" pitchFamily="34" charset="-122"/>
                <a:cs typeface="Calibri" pitchFamily="34" charset="-120"/>
              </a:rPr>
              <a:t>BERTopic</a:t>
            </a:r>
            <a:endParaRPr lang="en-US" sz="4200" dirty="0"/>
          </a:p>
        </p:txBody>
      </p:sp>
      <p:sp>
        <p:nvSpPr>
          <p:cNvPr id="5" name="Shape 2"/>
          <p:cNvSpPr/>
          <p:nvPr/>
        </p:nvSpPr>
        <p:spPr>
          <a:xfrm>
            <a:off x="754380" y="1947672"/>
            <a:ext cx="2331720" cy="82296"/>
          </a:xfrm>
          <a:prstGeom prst="rect">
            <a:avLst/>
          </a:prstGeom>
          <a:solidFill>
            <a:srgbClr val="FFDE59"/>
          </a:solidFill>
          <a:ln/>
        </p:spPr>
      </p:sp>
      <p:sp>
        <p:nvSpPr>
          <p:cNvPr id="6" name="Shape 3"/>
          <p:cNvSpPr/>
          <p:nvPr/>
        </p:nvSpPr>
        <p:spPr>
          <a:xfrm>
            <a:off x="3086100" y="1947672"/>
            <a:ext cx="14470380" cy="82296"/>
          </a:xfrm>
          <a:prstGeom prst="rect">
            <a:avLst/>
          </a:prstGeom>
          <a:solidFill>
            <a:srgbClr val="1800AD"/>
          </a:solidFill>
          <a:ln/>
        </p:spPr>
      </p:sp>
      <p:sp>
        <p:nvSpPr>
          <p:cNvPr id="7" name="Shape 4"/>
          <p:cNvSpPr/>
          <p:nvPr/>
        </p:nvSpPr>
        <p:spPr>
          <a:xfrm>
            <a:off x="0" y="9793224"/>
            <a:ext cx="14950440" cy="493776"/>
          </a:xfrm>
          <a:prstGeom prst="rect">
            <a:avLst/>
          </a:prstGeom>
          <a:solidFill>
            <a:srgbClr val="1800AD"/>
          </a:solidFill>
          <a:ln/>
        </p:spPr>
      </p:sp>
      <p:sp>
        <p:nvSpPr>
          <p:cNvPr id="8" name="Shape 5"/>
          <p:cNvSpPr/>
          <p:nvPr/>
        </p:nvSpPr>
        <p:spPr>
          <a:xfrm>
            <a:off x="14950441" y="9793224"/>
            <a:ext cx="3337103" cy="493776"/>
          </a:xfrm>
          <a:prstGeom prst="rect">
            <a:avLst/>
          </a:prstGeom>
          <a:solidFill>
            <a:srgbClr val="FFDE59"/>
          </a:solidFill>
          <a:ln/>
        </p:spPr>
      </p:sp>
      <p:sp>
        <p:nvSpPr>
          <p:cNvPr id="9" name="Text 6"/>
          <p:cNvSpPr/>
          <p:nvPr/>
        </p:nvSpPr>
        <p:spPr>
          <a:xfrm>
            <a:off x="14950440" y="9793224"/>
            <a:ext cx="3223260" cy="493776"/>
          </a:xfrm>
          <a:prstGeom prst="rect">
            <a:avLst/>
          </a:prstGeom>
          <a:noFill/>
          <a:ln/>
        </p:spPr>
        <p:txBody>
          <a:bodyPr wrap="square" lIns="0" tIns="0" rIns="0" bIns="0" rtlCol="0" anchor="ctr"/>
          <a:lstStyle/>
          <a:p>
            <a:pPr algn="ctr"/>
            <a:r>
              <a:rPr lang="en-US" sz="1350" b="1" dirty="0">
                <a:solidFill>
                  <a:srgbClr val="1800AD"/>
                </a:solidFill>
                <a:latin typeface="Calibri" pitchFamily="34" charset="0"/>
                <a:ea typeface="Calibri" pitchFamily="34" charset="-122"/>
                <a:cs typeface="Calibri" pitchFamily="34" charset="-120"/>
              </a:rPr>
              <a:t>UNIVERSITAS PAMULANG</a:t>
            </a:r>
            <a:endParaRPr lang="en-US" sz="1350" dirty="0"/>
          </a:p>
        </p:txBody>
      </p:sp>
      <p:sp>
        <p:nvSpPr>
          <p:cNvPr id="11" name="Shape 8"/>
          <p:cNvSpPr/>
          <p:nvPr/>
        </p:nvSpPr>
        <p:spPr>
          <a:xfrm>
            <a:off x="754380" y="2948940"/>
            <a:ext cx="8023860" cy="6240780"/>
          </a:xfrm>
          <a:prstGeom prst="roundRect">
            <a:avLst>
              <a:gd name="adj" fmla="val 2198"/>
            </a:avLst>
          </a:prstGeom>
          <a:solidFill>
            <a:srgbClr val="EDF1FB"/>
          </a:solidFill>
          <a:ln/>
        </p:spPr>
      </p:sp>
      <p:sp>
        <p:nvSpPr>
          <p:cNvPr id="12" name="Shape 9"/>
          <p:cNvSpPr/>
          <p:nvPr/>
        </p:nvSpPr>
        <p:spPr>
          <a:xfrm>
            <a:off x="1303020" y="3360420"/>
            <a:ext cx="2331720" cy="548640"/>
          </a:xfrm>
          <a:prstGeom prst="roundRect">
            <a:avLst>
              <a:gd name="adj" fmla="val 20000"/>
            </a:avLst>
          </a:prstGeom>
          <a:solidFill>
            <a:srgbClr val="1800AD"/>
          </a:solidFill>
          <a:ln/>
        </p:spPr>
      </p:sp>
      <p:sp>
        <p:nvSpPr>
          <p:cNvPr id="13" name="Text 10"/>
          <p:cNvSpPr/>
          <p:nvPr/>
        </p:nvSpPr>
        <p:spPr>
          <a:xfrm>
            <a:off x="1303020" y="3360420"/>
            <a:ext cx="2331720" cy="548640"/>
          </a:xfrm>
          <a:prstGeom prst="rect">
            <a:avLst/>
          </a:prstGeom>
          <a:noFill/>
          <a:ln/>
        </p:spPr>
        <p:txBody>
          <a:bodyPr wrap="square" lIns="0" tIns="0" rIns="0" bIns="0" rtlCol="0" anchor="ctr"/>
          <a:lstStyle/>
          <a:p>
            <a:pPr algn="ctr"/>
            <a:r>
              <a:rPr lang="en-US" sz="1950" b="1" dirty="0">
                <a:solidFill>
                  <a:srgbClr val="FFFFFF"/>
                </a:solidFill>
                <a:latin typeface="Calibri" pitchFamily="34" charset="0"/>
                <a:ea typeface="Calibri" pitchFamily="34" charset="-122"/>
                <a:cs typeface="Calibri" pitchFamily="34" charset="-120"/>
              </a:rPr>
              <a:t>CTM</a:t>
            </a:r>
            <a:endParaRPr lang="en-US" sz="1950" dirty="0"/>
          </a:p>
        </p:txBody>
      </p:sp>
      <p:sp>
        <p:nvSpPr>
          <p:cNvPr id="14" name="Text 11"/>
          <p:cNvSpPr/>
          <p:nvPr/>
        </p:nvSpPr>
        <p:spPr>
          <a:xfrm>
            <a:off x="1303020" y="4046220"/>
            <a:ext cx="6995160" cy="480060"/>
          </a:xfrm>
          <a:prstGeom prst="rect">
            <a:avLst/>
          </a:prstGeom>
          <a:noFill/>
          <a:ln/>
        </p:spPr>
        <p:txBody>
          <a:bodyPr wrap="square" lIns="0" tIns="0" rIns="0" bIns="0" rtlCol="0" anchor="ctr"/>
          <a:lstStyle/>
          <a:p>
            <a:r>
              <a:rPr lang="en-US" sz="2100" b="1" dirty="0">
                <a:solidFill>
                  <a:srgbClr val="1800AD"/>
                </a:solidFill>
                <a:latin typeface="Calibri" pitchFamily="34" charset="0"/>
                <a:ea typeface="Calibri" pitchFamily="34" charset="-122"/>
                <a:cs typeface="Calibri" pitchFamily="34" charset="-120"/>
              </a:rPr>
              <a:t>Correlated Topic Model</a:t>
            </a:r>
            <a:endParaRPr lang="en-US" sz="2100" dirty="0"/>
          </a:p>
        </p:txBody>
      </p:sp>
      <p:sp>
        <p:nvSpPr>
          <p:cNvPr id="15" name="Text 12"/>
          <p:cNvSpPr/>
          <p:nvPr/>
        </p:nvSpPr>
        <p:spPr>
          <a:xfrm>
            <a:off x="1303020" y="4663440"/>
            <a:ext cx="6995160" cy="4320540"/>
          </a:xfrm>
          <a:prstGeom prst="rect">
            <a:avLst/>
          </a:prstGeom>
          <a:noFill/>
          <a:ln/>
        </p:spPr>
        <p:txBody>
          <a:bodyPr wrap="square" lIns="0" tIns="0" rIns="0" bIns="0" rtlCol="0" anchor="t"/>
          <a:lstStyle/>
          <a:p>
            <a:pPr marL="514350" indent="-514350">
              <a:lnSpc>
                <a:spcPct val="115000"/>
              </a:lnSpc>
              <a:spcAft>
                <a:spcPts val="1800"/>
              </a:spcAft>
              <a:buSzPct val="100000"/>
              <a:buChar char="•"/>
            </a:pPr>
            <a:r>
              <a:rPr lang="en-US" sz="1950" dirty="0">
                <a:solidFill>
                  <a:srgbClr val="222222"/>
                </a:solidFill>
                <a:latin typeface="Calibri" pitchFamily="34" charset="0"/>
                <a:ea typeface="Calibri" pitchFamily="34" charset="-122"/>
                <a:cs typeface="Calibri" pitchFamily="34" charset="-120"/>
              </a:rPr>
              <a:t>Model PROBABILISTIK yang memodelkan tiap dokumen sebagai CAMPURAN beberapa topik dengan proporsi tertentu.</a:t>
            </a:r>
            <a:endParaRPr lang="en-US" sz="1950" dirty="0"/>
          </a:p>
          <a:p>
            <a:pPr marL="514350" indent="-514350">
              <a:lnSpc>
                <a:spcPct val="115000"/>
              </a:lnSpc>
              <a:spcAft>
                <a:spcPts val="1800"/>
              </a:spcAft>
              <a:buSzPct val="100000"/>
              <a:buChar char="•"/>
            </a:pPr>
            <a:r>
              <a:rPr lang="en-US" sz="1950" dirty="0">
                <a:solidFill>
                  <a:srgbClr val="222222"/>
                </a:solidFill>
                <a:latin typeface="Calibri" pitchFamily="34" charset="0"/>
                <a:ea typeface="Calibri" pitchFamily="34" charset="-122"/>
                <a:cs typeface="Calibri" pitchFamily="34" charset="-120"/>
              </a:rPr>
              <a:t>Mampu menangkap KORELASI antar topik melalui distribusi logistic-normal (bukan Dirichlet seperti LDA).</a:t>
            </a:r>
            <a:endParaRPr lang="en-US" sz="1950" dirty="0"/>
          </a:p>
          <a:p>
            <a:pPr marL="514350" indent="-514350">
              <a:lnSpc>
                <a:spcPct val="115000"/>
              </a:lnSpc>
              <a:spcAft>
                <a:spcPts val="1800"/>
              </a:spcAft>
              <a:buSzPct val="100000"/>
              <a:buChar char="•"/>
            </a:pPr>
            <a:r>
              <a:rPr lang="en-US" sz="1950" dirty="0">
                <a:solidFill>
                  <a:srgbClr val="222222"/>
                </a:solidFill>
                <a:latin typeface="Calibri" pitchFamily="34" charset="0"/>
                <a:ea typeface="Calibri" pitchFamily="34" charset="-122"/>
                <a:cs typeface="Calibri" pitchFamily="34" charset="-120"/>
              </a:rPr>
              <a:t>Output berupa peluang kata pada tiap topik (nilai beta).</a:t>
            </a:r>
            <a:endParaRPr lang="en-US" sz="1950" dirty="0"/>
          </a:p>
        </p:txBody>
      </p:sp>
      <p:sp>
        <p:nvSpPr>
          <p:cNvPr id="16" name="Shape 13"/>
          <p:cNvSpPr/>
          <p:nvPr/>
        </p:nvSpPr>
        <p:spPr>
          <a:xfrm>
            <a:off x="9464040" y="2948940"/>
            <a:ext cx="8023860" cy="6240780"/>
          </a:xfrm>
          <a:prstGeom prst="roundRect">
            <a:avLst>
              <a:gd name="adj" fmla="val 2198"/>
            </a:avLst>
          </a:prstGeom>
          <a:solidFill>
            <a:srgbClr val="FFF1E8"/>
          </a:solidFill>
          <a:ln/>
        </p:spPr>
      </p:sp>
      <p:sp>
        <p:nvSpPr>
          <p:cNvPr id="17" name="Shape 14"/>
          <p:cNvSpPr/>
          <p:nvPr/>
        </p:nvSpPr>
        <p:spPr>
          <a:xfrm>
            <a:off x="10012680" y="3360420"/>
            <a:ext cx="3154680" cy="548640"/>
          </a:xfrm>
          <a:prstGeom prst="roundRect">
            <a:avLst>
              <a:gd name="adj" fmla="val 20000"/>
            </a:avLst>
          </a:prstGeom>
          <a:solidFill>
            <a:srgbClr val="FF751F"/>
          </a:solidFill>
          <a:ln/>
        </p:spPr>
      </p:sp>
      <p:sp>
        <p:nvSpPr>
          <p:cNvPr id="18" name="Text 15"/>
          <p:cNvSpPr/>
          <p:nvPr/>
        </p:nvSpPr>
        <p:spPr>
          <a:xfrm>
            <a:off x="10012680" y="3360420"/>
            <a:ext cx="3154680" cy="548640"/>
          </a:xfrm>
          <a:prstGeom prst="rect">
            <a:avLst/>
          </a:prstGeom>
          <a:noFill/>
          <a:ln/>
        </p:spPr>
        <p:txBody>
          <a:bodyPr wrap="square" lIns="0" tIns="0" rIns="0" bIns="0" rtlCol="0" anchor="ctr"/>
          <a:lstStyle/>
          <a:p>
            <a:pPr algn="ctr"/>
            <a:r>
              <a:rPr lang="en-US" sz="1950" b="1" dirty="0">
                <a:solidFill>
                  <a:srgbClr val="FFFFFF"/>
                </a:solidFill>
                <a:latin typeface="Calibri" pitchFamily="34" charset="0"/>
                <a:ea typeface="Calibri" pitchFamily="34" charset="-122"/>
                <a:cs typeface="Calibri" pitchFamily="34" charset="-120"/>
              </a:rPr>
              <a:t>BERTOPIC</a:t>
            </a:r>
            <a:endParaRPr lang="en-US" sz="1950" dirty="0"/>
          </a:p>
        </p:txBody>
      </p:sp>
      <p:sp>
        <p:nvSpPr>
          <p:cNvPr id="19" name="Text 16"/>
          <p:cNvSpPr/>
          <p:nvPr/>
        </p:nvSpPr>
        <p:spPr>
          <a:xfrm>
            <a:off x="10012680" y="4046220"/>
            <a:ext cx="6995160" cy="480060"/>
          </a:xfrm>
          <a:prstGeom prst="rect">
            <a:avLst/>
          </a:prstGeom>
          <a:noFill/>
          <a:ln/>
        </p:spPr>
        <p:txBody>
          <a:bodyPr wrap="square" lIns="0" tIns="0" rIns="0" bIns="0" rtlCol="0" anchor="ctr"/>
          <a:lstStyle/>
          <a:p>
            <a:r>
              <a:rPr lang="en-US" sz="2100" b="1" dirty="0">
                <a:solidFill>
                  <a:srgbClr val="FF751F"/>
                </a:solidFill>
                <a:latin typeface="Calibri" pitchFamily="34" charset="0"/>
                <a:ea typeface="Calibri" pitchFamily="34" charset="-122"/>
                <a:cs typeface="Calibri" pitchFamily="34" charset="-120"/>
              </a:rPr>
              <a:t>Clustering Berbasis Embedding</a:t>
            </a:r>
            <a:endParaRPr lang="en-US" sz="2100" dirty="0"/>
          </a:p>
        </p:txBody>
      </p:sp>
      <p:sp>
        <p:nvSpPr>
          <p:cNvPr id="20" name="Text 17"/>
          <p:cNvSpPr/>
          <p:nvPr/>
        </p:nvSpPr>
        <p:spPr>
          <a:xfrm>
            <a:off x="10012680" y="4663440"/>
            <a:ext cx="6995160" cy="4320540"/>
          </a:xfrm>
          <a:prstGeom prst="rect">
            <a:avLst/>
          </a:prstGeom>
          <a:noFill/>
          <a:ln/>
        </p:spPr>
        <p:txBody>
          <a:bodyPr wrap="square" lIns="0" tIns="0" rIns="0" bIns="0" rtlCol="0" anchor="t"/>
          <a:lstStyle/>
          <a:p>
            <a:pPr marL="514350" indent="-514350">
              <a:lnSpc>
                <a:spcPct val="115000"/>
              </a:lnSpc>
              <a:spcAft>
                <a:spcPts val="1800"/>
              </a:spcAft>
              <a:buSzPct val="100000"/>
              <a:buChar char="•"/>
            </a:pPr>
            <a:r>
              <a:rPr lang="en-US" sz="1950" dirty="0">
                <a:solidFill>
                  <a:srgbClr val="222222"/>
                </a:solidFill>
                <a:latin typeface="Calibri" pitchFamily="34" charset="0"/>
                <a:ea typeface="Calibri" pitchFamily="34" charset="-122"/>
                <a:cs typeface="Calibri" pitchFamily="34" charset="-120"/>
              </a:rPr>
              <a:t>Mengelompokkan dokumen berdasarkan KEMIRIPAN MAKNA kalimat (sentence embedding BERT).</a:t>
            </a:r>
            <a:endParaRPr lang="en-US" sz="1950" dirty="0"/>
          </a:p>
          <a:p>
            <a:pPr marL="514350" indent="-514350">
              <a:lnSpc>
                <a:spcPct val="115000"/>
              </a:lnSpc>
              <a:spcAft>
                <a:spcPts val="1800"/>
              </a:spcAft>
              <a:buSzPct val="100000"/>
              <a:buChar char="•"/>
            </a:pPr>
            <a:r>
              <a:rPr lang="en-US" sz="1950" dirty="0">
                <a:solidFill>
                  <a:srgbClr val="222222"/>
                </a:solidFill>
                <a:latin typeface="Calibri" pitchFamily="34" charset="0"/>
                <a:ea typeface="Calibri" pitchFamily="34" charset="-122"/>
                <a:cs typeface="Calibri" pitchFamily="34" charset="-120"/>
              </a:rPr>
              <a:t>Menggunakan UMAP untuk reduksi dimensi dan HDBSCAN untuk clustering berbasis densitas.</a:t>
            </a:r>
            <a:endParaRPr lang="en-US" sz="1950" dirty="0"/>
          </a:p>
          <a:p>
            <a:pPr marL="514350" indent="-514350">
              <a:lnSpc>
                <a:spcPct val="115000"/>
              </a:lnSpc>
              <a:spcAft>
                <a:spcPts val="1800"/>
              </a:spcAft>
              <a:buSzPct val="100000"/>
              <a:buChar char="•"/>
            </a:pPr>
            <a:r>
              <a:rPr lang="en-US" sz="1950" dirty="0">
                <a:solidFill>
                  <a:srgbClr val="222222"/>
                </a:solidFill>
                <a:latin typeface="Calibri" pitchFamily="34" charset="0"/>
                <a:ea typeface="Calibri" pitchFamily="34" charset="-122"/>
                <a:cs typeface="Calibri" pitchFamily="34" charset="-120"/>
              </a:rPr>
              <a:t>Tiap klaster diberi kata kunci representatif via c-TF-IDF (skor kekhasan, bukan </a:t>
            </a:r>
            <a:r>
              <a:rPr lang="en-US" sz="1950" dirty="0" err="1">
                <a:solidFill>
                  <a:srgbClr val="222222"/>
                </a:solidFill>
                <a:latin typeface="Calibri" pitchFamily="34" charset="0"/>
                <a:ea typeface="Calibri" pitchFamily="34" charset="-122"/>
                <a:cs typeface="Calibri" pitchFamily="34" charset="-120"/>
              </a:rPr>
              <a:t>probabilitas</a:t>
            </a:r>
            <a:r>
              <a:rPr lang="en-US" sz="1950" dirty="0">
                <a:solidFill>
                  <a:srgbClr val="222222"/>
                </a:solidFill>
                <a:latin typeface="Calibri" pitchFamily="34" charset="0"/>
                <a:ea typeface="Calibri" pitchFamily="34" charset="-122"/>
                <a:cs typeface="Calibri" pitchFamily="34" charset="-120"/>
              </a:rPr>
              <a:t>).</a:t>
            </a:r>
            <a:endParaRPr lang="en-US" sz="1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033559" flipV="1">
            <a:off x="-7724579" y="3061834"/>
            <a:ext cx="6313412" cy="11932565"/>
          </a:xfrm>
          <a:custGeom>
            <a:avLst/>
            <a:gdLst/>
            <a:ahLst/>
            <a:cxnLst/>
            <a:rect l="l" t="t" r="r" b="b"/>
            <a:pathLst>
              <a:path w="6313412" h="11932565">
                <a:moveTo>
                  <a:pt x="0" y="11932565"/>
                </a:moveTo>
                <a:lnTo>
                  <a:pt x="6313412" y="11932565"/>
                </a:lnTo>
                <a:lnTo>
                  <a:pt x="6313412" y="0"/>
                </a:lnTo>
                <a:lnTo>
                  <a:pt x="0" y="0"/>
                </a:lnTo>
                <a:lnTo>
                  <a:pt x="0" y="11932565"/>
                </a:lnTo>
                <a:close/>
              </a:path>
            </a:pathLst>
          </a:custGeom>
          <a:blipFill>
            <a:blip r:embed="rId3">
              <a:alphaModFix amt="7999"/>
              <a:extLst>
                <a:ext uri="{96DAC541-7B7A-43D3-8B79-37D633B846F1}">
                  <asvg:svgBlip xmlns:asvg="http://schemas.microsoft.com/office/drawing/2016/SVG/main" r:embed="rId4"/>
                </a:ext>
              </a:extLst>
            </a:blip>
            <a:stretch>
              <a:fillRect/>
            </a:stretch>
          </a:blipFill>
        </p:spPr>
      </p:sp>
      <p:grpSp>
        <p:nvGrpSpPr>
          <p:cNvPr id="3" name="Group 3"/>
          <p:cNvGrpSpPr/>
          <p:nvPr/>
        </p:nvGrpSpPr>
        <p:grpSpPr>
          <a:xfrm>
            <a:off x="0" y="9708804"/>
            <a:ext cx="9144000" cy="560871"/>
            <a:chOff x="0" y="0"/>
            <a:chExt cx="2408296" cy="147719"/>
          </a:xfrm>
        </p:grpSpPr>
        <p:sp>
          <p:nvSpPr>
            <p:cNvPr id="4" name="Freeform 4"/>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1800AD"/>
            </a:solidFill>
          </p:spPr>
        </p:sp>
        <p:sp>
          <p:nvSpPr>
            <p:cNvPr id="5" name="TextBox 5"/>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028700" y="2479309"/>
            <a:ext cx="8115300" cy="137058"/>
            <a:chOff x="0" y="0"/>
            <a:chExt cx="2137363" cy="36097"/>
          </a:xfrm>
        </p:grpSpPr>
        <p:sp>
          <p:nvSpPr>
            <p:cNvPr id="7" name="Freeform 7"/>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FFDE59"/>
            </a:solidFill>
          </p:spPr>
        </p:sp>
        <p:sp>
          <p:nvSpPr>
            <p:cNvPr id="8" name="TextBox 8"/>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9144000" y="2479309"/>
            <a:ext cx="8115300" cy="137058"/>
            <a:chOff x="0" y="0"/>
            <a:chExt cx="2137363" cy="36097"/>
          </a:xfrm>
        </p:grpSpPr>
        <p:sp>
          <p:nvSpPr>
            <p:cNvPr id="10" name="Freeform 10"/>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1800AD"/>
            </a:solidFill>
          </p:spPr>
        </p:sp>
        <p:sp>
          <p:nvSpPr>
            <p:cNvPr id="11" name="TextBox 11"/>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sp>
        <p:nvSpPr>
          <p:cNvPr id="12" name="Freeform 12"/>
          <p:cNvSpPr/>
          <p:nvPr/>
        </p:nvSpPr>
        <p:spPr>
          <a:xfrm>
            <a:off x="15487240" y="516545"/>
            <a:ext cx="1664226" cy="1616285"/>
          </a:xfrm>
          <a:custGeom>
            <a:avLst/>
            <a:gdLst/>
            <a:ahLst/>
            <a:cxnLst/>
            <a:rect l="l" t="t" r="r" b="b"/>
            <a:pathLst>
              <a:path w="1664226" h="1616285">
                <a:moveTo>
                  <a:pt x="0" y="0"/>
                </a:moveTo>
                <a:lnTo>
                  <a:pt x="1664226" y="0"/>
                </a:lnTo>
                <a:lnTo>
                  <a:pt x="1664226" y="1616285"/>
                </a:lnTo>
                <a:lnTo>
                  <a:pt x="0" y="1616285"/>
                </a:lnTo>
                <a:lnTo>
                  <a:pt x="0" y="0"/>
                </a:lnTo>
                <a:close/>
              </a:path>
            </a:pathLst>
          </a:custGeom>
          <a:blipFill>
            <a:blip r:embed="rId5"/>
            <a:stretch>
              <a:fillRect/>
            </a:stretch>
          </a:blipFill>
        </p:spPr>
      </p:sp>
      <p:grpSp>
        <p:nvGrpSpPr>
          <p:cNvPr id="13" name="Group 13"/>
          <p:cNvGrpSpPr/>
          <p:nvPr/>
        </p:nvGrpSpPr>
        <p:grpSpPr>
          <a:xfrm>
            <a:off x="9144000" y="9708804"/>
            <a:ext cx="9144000" cy="560871"/>
            <a:chOff x="0" y="0"/>
            <a:chExt cx="2408296" cy="147719"/>
          </a:xfrm>
        </p:grpSpPr>
        <p:sp>
          <p:nvSpPr>
            <p:cNvPr id="14" name="Freeform 14"/>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FFDE59"/>
            </a:solidFill>
          </p:spPr>
        </p:sp>
        <p:sp>
          <p:nvSpPr>
            <p:cNvPr id="15" name="TextBox 15"/>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1028700" y="2726590"/>
            <a:ext cx="1744317" cy="2329748"/>
            <a:chOff x="0" y="-47625"/>
            <a:chExt cx="713513" cy="960830"/>
          </a:xfrm>
        </p:grpSpPr>
        <p:sp>
          <p:nvSpPr>
            <p:cNvPr id="18" name="Freeform 18"/>
            <p:cNvSpPr/>
            <p:nvPr/>
          </p:nvSpPr>
          <p:spPr>
            <a:xfrm>
              <a:off x="103691" y="-5247"/>
              <a:ext cx="559227" cy="563965"/>
            </a:xfrm>
            <a:custGeom>
              <a:avLst/>
              <a:gdLst/>
              <a:ahLst/>
              <a:cxnLst/>
              <a:rect l="l" t="t" r="r" b="b"/>
              <a:pathLst>
                <a:path w="713513" h="913205">
                  <a:moveTo>
                    <a:pt x="108599" y="0"/>
                  </a:moveTo>
                  <a:lnTo>
                    <a:pt x="604914" y="0"/>
                  </a:lnTo>
                  <a:cubicBezTo>
                    <a:pt x="633716" y="0"/>
                    <a:pt x="661339" y="11442"/>
                    <a:pt x="681705" y="31808"/>
                  </a:cubicBezTo>
                  <a:cubicBezTo>
                    <a:pt x="702071" y="52174"/>
                    <a:pt x="713513" y="79797"/>
                    <a:pt x="713513" y="108599"/>
                  </a:cubicBezTo>
                  <a:lnTo>
                    <a:pt x="713513" y="804606"/>
                  </a:lnTo>
                  <a:cubicBezTo>
                    <a:pt x="713513" y="864584"/>
                    <a:pt x="664892" y="913205"/>
                    <a:pt x="604914" y="913205"/>
                  </a:cubicBezTo>
                  <a:lnTo>
                    <a:pt x="108599" y="913205"/>
                  </a:lnTo>
                  <a:cubicBezTo>
                    <a:pt x="48622" y="913205"/>
                    <a:pt x="0" y="864584"/>
                    <a:pt x="0" y="804606"/>
                  </a:cubicBezTo>
                  <a:lnTo>
                    <a:pt x="0" y="108599"/>
                  </a:lnTo>
                  <a:cubicBezTo>
                    <a:pt x="0" y="48622"/>
                    <a:pt x="48622" y="0"/>
                    <a:pt x="108599" y="0"/>
                  </a:cubicBezTo>
                  <a:close/>
                </a:path>
              </a:pathLst>
            </a:custGeom>
            <a:solidFill>
              <a:srgbClr val="FFFFFF"/>
            </a:solidFill>
            <a:ln w="38100" cap="rnd">
              <a:solidFill>
                <a:srgbClr val="FFDE59"/>
              </a:solidFill>
              <a:prstDash val="solid"/>
              <a:round/>
            </a:ln>
          </p:spPr>
          <p:txBody>
            <a:bodyPr/>
            <a:lstStyle/>
            <a:p>
              <a:endParaRPr lang="en-US" dirty="0"/>
            </a:p>
          </p:txBody>
        </p:sp>
        <p:sp>
          <p:nvSpPr>
            <p:cNvPr id="19" name="TextBox 19"/>
            <p:cNvSpPr txBox="1"/>
            <p:nvPr/>
          </p:nvSpPr>
          <p:spPr>
            <a:xfrm>
              <a:off x="0" y="-47625"/>
              <a:ext cx="713513" cy="960830"/>
            </a:xfrm>
            <a:prstGeom prst="rect">
              <a:avLst/>
            </a:prstGeom>
          </p:spPr>
          <p:txBody>
            <a:bodyPr lIns="34756" tIns="34756" rIns="34756" bIns="34756" rtlCol="0" anchor="ctr"/>
            <a:lstStyle/>
            <a:p>
              <a:pPr algn="ctr">
                <a:lnSpc>
                  <a:spcPts val="2659"/>
                </a:lnSpc>
              </a:pPr>
              <a:endParaRPr/>
            </a:p>
          </p:txBody>
        </p:sp>
      </p:grpSp>
      <p:sp>
        <p:nvSpPr>
          <p:cNvPr id="20" name="Freeform 20"/>
          <p:cNvSpPr/>
          <p:nvPr/>
        </p:nvSpPr>
        <p:spPr>
          <a:xfrm>
            <a:off x="1683249" y="3177541"/>
            <a:ext cx="537123" cy="535961"/>
          </a:xfrm>
          <a:custGeom>
            <a:avLst/>
            <a:gdLst/>
            <a:ahLst/>
            <a:cxnLst/>
            <a:rect l="l" t="t" r="r" b="b"/>
            <a:pathLst>
              <a:path w="1150367" h="1274077">
                <a:moveTo>
                  <a:pt x="0" y="0"/>
                </a:moveTo>
                <a:lnTo>
                  <a:pt x="1150366" y="0"/>
                </a:lnTo>
                <a:lnTo>
                  <a:pt x="1150366" y="1274078"/>
                </a:lnTo>
                <a:lnTo>
                  <a:pt x="0" y="127407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dirty="0"/>
          </a:p>
        </p:txBody>
      </p:sp>
      <p:sp>
        <p:nvSpPr>
          <p:cNvPr id="21" name="TextBox 21"/>
          <p:cNvSpPr txBox="1"/>
          <p:nvPr/>
        </p:nvSpPr>
        <p:spPr>
          <a:xfrm>
            <a:off x="1274283" y="3754449"/>
            <a:ext cx="1356912" cy="369332"/>
          </a:xfrm>
          <a:prstGeom prst="rect">
            <a:avLst/>
          </a:prstGeom>
        </p:spPr>
        <p:txBody>
          <a:bodyPr lIns="0" tIns="0" rIns="0" bIns="0" rtlCol="0" anchor="t">
            <a:spAutoFit/>
          </a:bodyPr>
          <a:lstStyle/>
          <a:p>
            <a:pPr algn="ctr"/>
            <a:r>
              <a:rPr lang="en-US" sz="800" b="1" dirty="0" err="1">
                <a:solidFill>
                  <a:srgbClr val="1800AD"/>
                </a:solidFill>
                <a:latin typeface="Canva Sans Bold"/>
                <a:ea typeface="Canva Sans Bold"/>
                <a:cs typeface="Canva Sans Bold"/>
                <a:sym typeface="Canva Sans Bold"/>
              </a:rPr>
              <a:t>Terjemahan</a:t>
            </a:r>
            <a:r>
              <a:rPr lang="en-US" sz="800" b="1" dirty="0">
                <a:solidFill>
                  <a:srgbClr val="1800AD"/>
                </a:solidFill>
                <a:latin typeface="Canva Sans Bold"/>
                <a:ea typeface="Canva Sans Bold"/>
                <a:cs typeface="Canva Sans Bold"/>
                <a:sym typeface="Canva Sans Bold"/>
              </a:rPr>
              <a:t> Al-Qur’an</a:t>
            </a:r>
          </a:p>
          <a:p>
            <a:pPr algn="ctr"/>
            <a:r>
              <a:rPr lang="en-US" sz="800" b="1" dirty="0">
                <a:solidFill>
                  <a:srgbClr val="1800AD"/>
                </a:solidFill>
                <a:latin typeface="Canva Sans Bold"/>
                <a:ea typeface="Canva Sans Bold"/>
                <a:cs typeface="Canva Sans Bold"/>
                <a:sym typeface="Canva Sans Bold"/>
              </a:rPr>
              <a:t>Bahasa Indonesia</a:t>
            </a:r>
          </a:p>
          <a:p>
            <a:pPr algn="ctr"/>
            <a:r>
              <a:rPr lang="en-US" sz="800" b="1" dirty="0">
                <a:solidFill>
                  <a:srgbClr val="1800AD"/>
                </a:solidFill>
                <a:latin typeface="Canva Sans Bold"/>
                <a:ea typeface="Canva Sans Bold"/>
                <a:cs typeface="Canva Sans Bold"/>
                <a:sym typeface="Canva Sans Bold"/>
              </a:rPr>
              <a:t>(114 Surat)</a:t>
            </a:r>
          </a:p>
        </p:txBody>
      </p:sp>
      <p:sp>
        <p:nvSpPr>
          <p:cNvPr id="22" name="TextBox 22"/>
          <p:cNvSpPr txBox="1"/>
          <p:nvPr/>
        </p:nvSpPr>
        <p:spPr>
          <a:xfrm>
            <a:off x="1279286" y="2881823"/>
            <a:ext cx="1356912" cy="240733"/>
          </a:xfrm>
          <a:prstGeom prst="rect">
            <a:avLst/>
          </a:prstGeom>
        </p:spPr>
        <p:txBody>
          <a:bodyPr lIns="0" tIns="0" rIns="0" bIns="0" rtlCol="0" anchor="t">
            <a:spAutoFit/>
          </a:bodyPr>
          <a:lstStyle/>
          <a:p>
            <a:pPr algn="ctr">
              <a:lnSpc>
                <a:spcPts val="2190"/>
              </a:lnSpc>
            </a:pPr>
            <a:r>
              <a:rPr lang="en-US" sz="1564" b="1" dirty="0">
                <a:solidFill>
                  <a:srgbClr val="1800AD"/>
                </a:solidFill>
                <a:latin typeface="Canva Sans Bold"/>
                <a:ea typeface="Canva Sans Bold"/>
                <a:cs typeface="Canva Sans Bold"/>
                <a:sym typeface="Canva Sans Bold"/>
              </a:rPr>
              <a:t>DATASET</a:t>
            </a:r>
          </a:p>
        </p:txBody>
      </p:sp>
      <p:grpSp>
        <p:nvGrpSpPr>
          <p:cNvPr id="23" name="Group 23"/>
          <p:cNvGrpSpPr/>
          <p:nvPr/>
        </p:nvGrpSpPr>
        <p:grpSpPr>
          <a:xfrm>
            <a:off x="3040325" y="2754764"/>
            <a:ext cx="2224058" cy="2354914"/>
            <a:chOff x="-196238" y="-58004"/>
            <a:chExt cx="909751" cy="971209"/>
          </a:xfrm>
        </p:grpSpPr>
        <p:sp>
          <p:nvSpPr>
            <p:cNvPr id="24" name="Freeform 24"/>
            <p:cNvSpPr/>
            <p:nvPr/>
          </p:nvSpPr>
          <p:spPr>
            <a:xfrm>
              <a:off x="-196238" y="-58004"/>
              <a:ext cx="713513" cy="594490"/>
            </a:xfrm>
            <a:custGeom>
              <a:avLst/>
              <a:gdLst/>
              <a:ahLst/>
              <a:cxnLst/>
              <a:rect l="l" t="t" r="r" b="b"/>
              <a:pathLst>
                <a:path w="713513" h="913205">
                  <a:moveTo>
                    <a:pt x="108599" y="0"/>
                  </a:moveTo>
                  <a:lnTo>
                    <a:pt x="604914" y="0"/>
                  </a:lnTo>
                  <a:cubicBezTo>
                    <a:pt x="633716" y="0"/>
                    <a:pt x="661339" y="11442"/>
                    <a:pt x="681705" y="31808"/>
                  </a:cubicBezTo>
                  <a:cubicBezTo>
                    <a:pt x="702071" y="52174"/>
                    <a:pt x="713513" y="79797"/>
                    <a:pt x="713513" y="108599"/>
                  </a:cubicBezTo>
                  <a:lnTo>
                    <a:pt x="713513" y="804606"/>
                  </a:lnTo>
                  <a:cubicBezTo>
                    <a:pt x="713513" y="864584"/>
                    <a:pt x="664892" y="913205"/>
                    <a:pt x="604914" y="913205"/>
                  </a:cubicBezTo>
                  <a:lnTo>
                    <a:pt x="108599" y="913205"/>
                  </a:lnTo>
                  <a:cubicBezTo>
                    <a:pt x="48622" y="913205"/>
                    <a:pt x="0" y="864584"/>
                    <a:pt x="0" y="804606"/>
                  </a:cubicBezTo>
                  <a:lnTo>
                    <a:pt x="0" y="108599"/>
                  </a:lnTo>
                  <a:cubicBezTo>
                    <a:pt x="0" y="48622"/>
                    <a:pt x="48622" y="0"/>
                    <a:pt x="108599" y="0"/>
                  </a:cubicBezTo>
                  <a:close/>
                </a:path>
              </a:pathLst>
            </a:custGeom>
            <a:solidFill>
              <a:srgbClr val="FFFFFF"/>
            </a:solidFill>
            <a:ln w="38100" cap="rnd">
              <a:solidFill>
                <a:srgbClr val="00BF63"/>
              </a:solidFill>
              <a:prstDash val="solid"/>
              <a:round/>
            </a:ln>
          </p:spPr>
        </p:sp>
        <p:sp>
          <p:nvSpPr>
            <p:cNvPr id="25" name="TextBox 25"/>
            <p:cNvSpPr txBox="1"/>
            <p:nvPr/>
          </p:nvSpPr>
          <p:spPr>
            <a:xfrm>
              <a:off x="0" y="-47625"/>
              <a:ext cx="713513" cy="960830"/>
            </a:xfrm>
            <a:prstGeom prst="rect">
              <a:avLst/>
            </a:prstGeom>
          </p:spPr>
          <p:txBody>
            <a:bodyPr lIns="34756" tIns="34756" rIns="34756" bIns="34756" rtlCol="0" anchor="ctr"/>
            <a:lstStyle/>
            <a:p>
              <a:pPr algn="ctr">
                <a:lnSpc>
                  <a:spcPts val="2659"/>
                </a:lnSpc>
              </a:pPr>
              <a:endParaRPr/>
            </a:p>
          </p:txBody>
        </p:sp>
      </p:grpSp>
      <p:sp>
        <p:nvSpPr>
          <p:cNvPr id="26" name="Freeform 26"/>
          <p:cNvSpPr/>
          <p:nvPr/>
        </p:nvSpPr>
        <p:spPr>
          <a:xfrm>
            <a:off x="3216951" y="3130234"/>
            <a:ext cx="169321" cy="174274"/>
          </a:xfrm>
          <a:custGeom>
            <a:avLst/>
            <a:gdLst/>
            <a:ahLst/>
            <a:cxnLst/>
            <a:rect l="l" t="t" r="r" b="b"/>
            <a:pathLst>
              <a:path w="240167" h="311737">
                <a:moveTo>
                  <a:pt x="0" y="0"/>
                </a:moveTo>
                <a:lnTo>
                  <a:pt x="240168" y="0"/>
                </a:lnTo>
                <a:lnTo>
                  <a:pt x="240168" y="311737"/>
                </a:lnTo>
                <a:lnTo>
                  <a:pt x="0" y="31173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dirty="0"/>
          </a:p>
        </p:txBody>
      </p:sp>
      <p:sp>
        <p:nvSpPr>
          <p:cNvPr id="27" name="Freeform 27"/>
          <p:cNvSpPr/>
          <p:nvPr/>
        </p:nvSpPr>
        <p:spPr>
          <a:xfrm>
            <a:off x="3209246" y="3320818"/>
            <a:ext cx="196405" cy="224423"/>
          </a:xfrm>
          <a:custGeom>
            <a:avLst/>
            <a:gdLst/>
            <a:ahLst/>
            <a:cxnLst/>
            <a:rect l="l" t="t" r="r" b="b"/>
            <a:pathLst>
              <a:path w="278267" h="320581">
                <a:moveTo>
                  <a:pt x="0" y="0"/>
                </a:moveTo>
                <a:lnTo>
                  <a:pt x="278268" y="0"/>
                </a:lnTo>
                <a:lnTo>
                  <a:pt x="278268" y="320581"/>
                </a:lnTo>
                <a:lnTo>
                  <a:pt x="0" y="320581"/>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28" name="Freeform 28"/>
          <p:cNvSpPr/>
          <p:nvPr/>
        </p:nvSpPr>
        <p:spPr>
          <a:xfrm>
            <a:off x="3220044" y="3570439"/>
            <a:ext cx="196405" cy="248011"/>
          </a:xfrm>
          <a:custGeom>
            <a:avLst/>
            <a:gdLst/>
            <a:ahLst/>
            <a:cxnLst/>
            <a:rect l="l" t="t" r="r" b="b"/>
            <a:pathLst>
              <a:path w="278267" h="354275">
                <a:moveTo>
                  <a:pt x="0" y="0"/>
                </a:moveTo>
                <a:lnTo>
                  <a:pt x="278268" y="0"/>
                </a:lnTo>
                <a:lnTo>
                  <a:pt x="278268" y="354275"/>
                </a:lnTo>
                <a:lnTo>
                  <a:pt x="0" y="354275"/>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29" name="Freeform 29"/>
          <p:cNvSpPr/>
          <p:nvPr/>
        </p:nvSpPr>
        <p:spPr>
          <a:xfrm>
            <a:off x="3230972" y="3843649"/>
            <a:ext cx="185477" cy="232486"/>
          </a:xfrm>
          <a:custGeom>
            <a:avLst/>
            <a:gdLst/>
            <a:ahLst/>
            <a:cxnLst/>
            <a:rect l="l" t="t" r="r" b="b"/>
            <a:pathLst>
              <a:path w="278267" h="372377">
                <a:moveTo>
                  <a:pt x="0" y="0"/>
                </a:moveTo>
                <a:lnTo>
                  <a:pt x="278268" y="0"/>
                </a:lnTo>
                <a:lnTo>
                  <a:pt x="278268" y="372377"/>
                </a:lnTo>
                <a:lnTo>
                  <a:pt x="0" y="372377"/>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30" name="TextBox 30"/>
          <p:cNvSpPr txBox="1"/>
          <p:nvPr/>
        </p:nvSpPr>
        <p:spPr>
          <a:xfrm>
            <a:off x="3072547" y="2814154"/>
            <a:ext cx="1679872" cy="263342"/>
          </a:xfrm>
          <a:prstGeom prst="rect">
            <a:avLst/>
          </a:prstGeom>
        </p:spPr>
        <p:txBody>
          <a:bodyPr wrap="square" lIns="0" tIns="0" rIns="0" bIns="0" rtlCol="0" anchor="t">
            <a:spAutoFit/>
          </a:bodyPr>
          <a:lstStyle/>
          <a:p>
            <a:pPr algn="ctr">
              <a:lnSpc>
                <a:spcPts val="2190"/>
              </a:lnSpc>
            </a:pPr>
            <a:r>
              <a:rPr lang="en-US" sz="1564" b="1" dirty="0">
                <a:solidFill>
                  <a:srgbClr val="1800AD"/>
                </a:solidFill>
                <a:latin typeface="Canva Sans Bold"/>
                <a:ea typeface="Canva Sans Bold"/>
                <a:cs typeface="Canva Sans Bold"/>
                <a:sym typeface="Canva Sans Bold"/>
              </a:rPr>
              <a:t>PREPROCESSING</a:t>
            </a:r>
          </a:p>
        </p:txBody>
      </p:sp>
      <p:sp>
        <p:nvSpPr>
          <p:cNvPr id="31" name="TextBox 31"/>
          <p:cNvSpPr txBox="1"/>
          <p:nvPr/>
        </p:nvSpPr>
        <p:spPr>
          <a:xfrm>
            <a:off x="3405651" y="3156503"/>
            <a:ext cx="820674" cy="109423"/>
          </a:xfrm>
          <a:prstGeom prst="rect">
            <a:avLst/>
          </a:prstGeom>
        </p:spPr>
        <p:txBody>
          <a:bodyPr lIns="0" tIns="0" rIns="0" bIns="0" rtlCol="0" anchor="t">
            <a:spAutoFit/>
          </a:bodyPr>
          <a:lstStyle/>
          <a:p>
            <a:pPr algn="l">
              <a:lnSpc>
                <a:spcPts val="1070"/>
              </a:lnSpc>
            </a:pPr>
            <a:r>
              <a:rPr lang="en-US" sz="764" b="1" dirty="0">
                <a:solidFill>
                  <a:srgbClr val="1800AD"/>
                </a:solidFill>
                <a:latin typeface="Canva Sans Bold"/>
                <a:ea typeface="Canva Sans Bold"/>
                <a:cs typeface="Canva Sans Bold"/>
                <a:sym typeface="Canva Sans Bold"/>
              </a:rPr>
              <a:t>Case Folding</a:t>
            </a:r>
          </a:p>
        </p:txBody>
      </p:sp>
      <p:sp>
        <p:nvSpPr>
          <p:cNvPr id="32" name="TextBox 32"/>
          <p:cNvSpPr txBox="1"/>
          <p:nvPr/>
        </p:nvSpPr>
        <p:spPr>
          <a:xfrm>
            <a:off x="3420366" y="3332120"/>
            <a:ext cx="952996" cy="109424"/>
          </a:xfrm>
          <a:prstGeom prst="rect">
            <a:avLst/>
          </a:prstGeom>
        </p:spPr>
        <p:txBody>
          <a:bodyPr lIns="0" tIns="0" rIns="0" bIns="0" rtlCol="0" anchor="t">
            <a:spAutoFit/>
          </a:bodyPr>
          <a:lstStyle/>
          <a:p>
            <a:pPr algn="l">
              <a:lnSpc>
                <a:spcPts val="1070"/>
              </a:lnSpc>
            </a:pPr>
            <a:r>
              <a:rPr lang="en-US" sz="764" b="1" dirty="0" err="1">
                <a:solidFill>
                  <a:srgbClr val="1800AD"/>
                </a:solidFill>
                <a:latin typeface="Canva Sans Bold"/>
                <a:ea typeface="Canva Sans Bold"/>
                <a:cs typeface="Canva Sans Bold"/>
                <a:sym typeface="Canva Sans Bold"/>
              </a:rPr>
              <a:t>Tokenezation</a:t>
            </a:r>
            <a:endParaRPr lang="en-US" sz="764" b="1" dirty="0">
              <a:solidFill>
                <a:srgbClr val="1800AD"/>
              </a:solidFill>
              <a:latin typeface="Canva Sans Bold"/>
              <a:ea typeface="Canva Sans Bold"/>
              <a:cs typeface="Canva Sans Bold"/>
              <a:sym typeface="Canva Sans Bold"/>
            </a:endParaRPr>
          </a:p>
        </p:txBody>
      </p:sp>
      <p:sp>
        <p:nvSpPr>
          <p:cNvPr id="33" name="TextBox 33"/>
          <p:cNvSpPr txBox="1"/>
          <p:nvPr/>
        </p:nvSpPr>
        <p:spPr>
          <a:xfrm>
            <a:off x="3464917" y="3588223"/>
            <a:ext cx="952996" cy="109424"/>
          </a:xfrm>
          <a:prstGeom prst="rect">
            <a:avLst/>
          </a:prstGeom>
        </p:spPr>
        <p:txBody>
          <a:bodyPr lIns="0" tIns="0" rIns="0" bIns="0" rtlCol="0" anchor="t">
            <a:spAutoFit/>
          </a:bodyPr>
          <a:lstStyle/>
          <a:p>
            <a:pPr algn="l">
              <a:lnSpc>
                <a:spcPts val="1070"/>
              </a:lnSpc>
            </a:pPr>
            <a:r>
              <a:rPr lang="en-US" sz="764" b="1" dirty="0" err="1">
                <a:solidFill>
                  <a:srgbClr val="1800AD"/>
                </a:solidFill>
                <a:latin typeface="Canva Sans Bold"/>
                <a:ea typeface="Canva Sans Bold"/>
                <a:cs typeface="Canva Sans Bold"/>
                <a:sym typeface="Canva Sans Bold"/>
              </a:rPr>
              <a:t>Stopword</a:t>
            </a:r>
            <a:r>
              <a:rPr lang="en-US" sz="764" b="1" dirty="0">
                <a:solidFill>
                  <a:srgbClr val="1800AD"/>
                </a:solidFill>
                <a:latin typeface="Canva Sans Bold"/>
                <a:ea typeface="Canva Sans Bold"/>
                <a:cs typeface="Canva Sans Bold"/>
                <a:sym typeface="Canva Sans Bold"/>
              </a:rPr>
              <a:t> Removal</a:t>
            </a:r>
          </a:p>
        </p:txBody>
      </p:sp>
      <p:sp>
        <p:nvSpPr>
          <p:cNvPr id="34" name="TextBox 34"/>
          <p:cNvSpPr txBox="1"/>
          <p:nvPr/>
        </p:nvSpPr>
        <p:spPr>
          <a:xfrm>
            <a:off x="3456201" y="3876711"/>
            <a:ext cx="1311302" cy="136185"/>
          </a:xfrm>
          <a:prstGeom prst="rect">
            <a:avLst/>
          </a:prstGeom>
        </p:spPr>
        <p:txBody>
          <a:bodyPr wrap="square" lIns="0" tIns="0" rIns="0" bIns="0" rtlCol="0" anchor="t">
            <a:spAutoFit/>
          </a:bodyPr>
          <a:lstStyle/>
          <a:p>
            <a:pPr algn="l">
              <a:lnSpc>
                <a:spcPts val="1070"/>
              </a:lnSpc>
            </a:pPr>
            <a:r>
              <a:rPr lang="en-US" sz="764" b="1" dirty="0">
                <a:solidFill>
                  <a:srgbClr val="1800AD"/>
                </a:solidFill>
                <a:latin typeface="Canva Sans Bold"/>
                <a:ea typeface="Canva Sans Bold"/>
                <a:cs typeface="Canva Sans Bold"/>
                <a:sym typeface="Canva Sans Bold"/>
              </a:rPr>
              <a:t>Stemming/Lemmatization</a:t>
            </a:r>
          </a:p>
        </p:txBody>
      </p:sp>
      <p:sp>
        <p:nvSpPr>
          <p:cNvPr id="35" name="TextBox 35"/>
          <p:cNvSpPr txBox="1"/>
          <p:nvPr/>
        </p:nvSpPr>
        <p:spPr>
          <a:xfrm>
            <a:off x="3230190" y="4282312"/>
            <a:ext cx="1345200" cy="317085"/>
          </a:xfrm>
          <a:prstGeom prst="rect">
            <a:avLst/>
          </a:prstGeom>
        </p:spPr>
        <p:txBody>
          <a:bodyPr lIns="0" tIns="0" rIns="0" bIns="0" rtlCol="0" anchor="t">
            <a:spAutoFit/>
          </a:bodyPr>
          <a:lstStyle/>
          <a:p>
            <a:pPr marL="145583" lvl="1" indent="-72792" algn="l">
              <a:lnSpc>
                <a:spcPts val="944"/>
              </a:lnSpc>
              <a:buFont typeface="Arial"/>
              <a:buChar char="•"/>
            </a:pPr>
            <a:r>
              <a:rPr lang="en-US" sz="674" b="1" dirty="0">
                <a:solidFill>
                  <a:srgbClr val="1800AD"/>
                </a:solidFill>
                <a:latin typeface="Canva Sans Bold"/>
                <a:ea typeface="Canva Sans Bold"/>
                <a:cs typeface="Canva Sans Bold"/>
                <a:sym typeface="Canva Sans Bold"/>
              </a:rPr>
              <a:t>Preprocessing Basic</a:t>
            </a:r>
          </a:p>
          <a:p>
            <a:pPr marL="145583" lvl="1" indent="-72792" algn="l">
              <a:lnSpc>
                <a:spcPts val="944"/>
              </a:lnSpc>
              <a:buFont typeface="Arial"/>
              <a:buChar char="•"/>
            </a:pPr>
            <a:r>
              <a:rPr lang="en-US" sz="674" b="1" dirty="0">
                <a:solidFill>
                  <a:srgbClr val="1800AD"/>
                </a:solidFill>
                <a:latin typeface="Canva Sans Bold"/>
                <a:ea typeface="Canva Sans Bold"/>
                <a:cs typeface="Canva Sans Bold"/>
                <a:sym typeface="Canva Sans Bold"/>
              </a:rPr>
              <a:t>Preprocessing No Steam</a:t>
            </a:r>
          </a:p>
          <a:p>
            <a:pPr marL="145583" lvl="1" indent="-72792" algn="l">
              <a:lnSpc>
                <a:spcPts val="944"/>
              </a:lnSpc>
              <a:buFont typeface="Arial"/>
              <a:buChar char="•"/>
            </a:pPr>
            <a:r>
              <a:rPr lang="en-US" sz="674" b="1" dirty="0">
                <a:solidFill>
                  <a:srgbClr val="1800AD"/>
                </a:solidFill>
                <a:latin typeface="Canva Sans Bold"/>
                <a:ea typeface="Canva Sans Bold"/>
                <a:cs typeface="Canva Sans Bold"/>
                <a:sym typeface="Canva Sans Bold"/>
              </a:rPr>
              <a:t>Preprocessing Advances</a:t>
            </a:r>
          </a:p>
        </p:txBody>
      </p:sp>
      <p:grpSp>
        <p:nvGrpSpPr>
          <p:cNvPr id="70" name="Group 69">
            <a:extLst>
              <a:ext uri="{FF2B5EF4-FFF2-40B4-BE49-F238E27FC236}">
                <a16:creationId xmlns:a16="http://schemas.microsoft.com/office/drawing/2014/main" id="{B9659A0E-EECD-0137-7658-5698DACD2450}"/>
              </a:ext>
            </a:extLst>
          </p:cNvPr>
          <p:cNvGrpSpPr/>
          <p:nvPr/>
        </p:nvGrpSpPr>
        <p:grpSpPr>
          <a:xfrm>
            <a:off x="5113118" y="2493295"/>
            <a:ext cx="3301402" cy="2189856"/>
            <a:chOff x="5767871" y="2780497"/>
            <a:chExt cx="3301402" cy="2189856"/>
          </a:xfrm>
        </p:grpSpPr>
        <p:grpSp>
          <p:nvGrpSpPr>
            <p:cNvPr id="36" name="Group 36"/>
            <p:cNvGrpSpPr/>
            <p:nvPr/>
          </p:nvGrpSpPr>
          <p:grpSpPr>
            <a:xfrm>
              <a:off x="5843605" y="2780497"/>
              <a:ext cx="3147995" cy="2189856"/>
              <a:chOff x="0" y="-47625"/>
              <a:chExt cx="1477754" cy="994210"/>
            </a:xfrm>
          </p:grpSpPr>
          <p:sp>
            <p:nvSpPr>
              <p:cNvPr id="37" name="Freeform 37"/>
              <p:cNvSpPr/>
              <p:nvPr/>
            </p:nvSpPr>
            <p:spPr>
              <a:xfrm>
                <a:off x="0" y="-11084"/>
                <a:ext cx="1477754" cy="957669"/>
              </a:xfrm>
              <a:custGeom>
                <a:avLst/>
                <a:gdLst/>
                <a:ahLst/>
                <a:cxnLst/>
                <a:rect l="l" t="t" r="r" b="b"/>
                <a:pathLst>
                  <a:path w="1477754" h="913205">
                    <a:moveTo>
                      <a:pt x="52436" y="0"/>
                    </a:moveTo>
                    <a:lnTo>
                      <a:pt x="1425318" y="0"/>
                    </a:lnTo>
                    <a:cubicBezTo>
                      <a:pt x="1454278" y="0"/>
                      <a:pt x="1477754" y="23476"/>
                      <a:pt x="1477754" y="52436"/>
                    </a:cubicBezTo>
                    <a:lnTo>
                      <a:pt x="1477754" y="860769"/>
                    </a:lnTo>
                    <a:cubicBezTo>
                      <a:pt x="1477754" y="889729"/>
                      <a:pt x="1454278" y="913205"/>
                      <a:pt x="1425318" y="913205"/>
                    </a:cubicBezTo>
                    <a:lnTo>
                      <a:pt x="52436" y="913205"/>
                    </a:lnTo>
                    <a:cubicBezTo>
                      <a:pt x="23476" y="913205"/>
                      <a:pt x="0" y="889729"/>
                      <a:pt x="0" y="860769"/>
                    </a:cubicBezTo>
                    <a:lnTo>
                      <a:pt x="0" y="52436"/>
                    </a:lnTo>
                    <a:cubicBezTo>
                      <a:pt x="0" y="23476"/>
                      <a:pt x="23476" y="0"/>
                      <a:pt x="52436" y="0"/>
                    </a:cubicBezTo>
                    <a:close/>
                  </a:path>
                </a:pathLst>
              </a:custGeom>
              <a:solidFill>
                <a:srgbClr val="FFFFFF"/>
              </a:solidFill>
              <a:ln w="38100" cap="rnd">
                <a:solidFill>
                  <a:srgbClr val="FF751F"/>
                </a:solidFill>
                <a:prstDash val="solid"/>
                <a:round/>
              </a:ln>
            </p:spPr>
          </p:sp>
          <p:sp>
            <p:nvSpPr>
              <p:cNvPr id="38" name="TextBox 38"/>
              <p:cNvSpPr txBox="1"/>
              <p:nvPr/>
            </p:nvSpPr>
            <p:spPr>
              <a:xfrm>
                <a:off x="0" y="-47625"/>
                <a:ext cx="1477754" cy="960830"/>
              </a:xfrm>
              <a:prstGeom prst="rect">
                <a:avLst/>
              </a:prstGeom>
            </p:spPr>
            <p:txBody>
              <a:bodyPr lIns="34756" tIns="34756" rIns="34756" bIns="34756" rtlCol="0" anchor="ctr"/>
              <a:lstStyle/>
              <a:p>
                <a:pPr algn="ctr">
                  <a:lnSpc>
                    <a:spcPts val="2659"/>
                  </a:lnSpc>
                </a:pPr>
                <a:endParaRPr/>
              </a:p>
            </p:txBody>
          </p:sp>
        </p:grpSp>
        <p:sp>
          <p:nvSpPr>
            <p:cNvPr id="39" name="Freeform 39"/>
            <p:cNvSpPr/>
            <p:nvPr/>
          </p:nvSpPr>
          <p:spPr>
            <a:xfrm>
              <a:off x="6127928" y="3648641"/>
              <a:ext cx="588585" cy="643994"/>
            </a:xfrm>
            <a:custGeom>
              <a:avLst/>
              <a:gdLst/>
              <a:ahLst/>
              <a:cxnLst/>
              <a:rect l="l" t="t" r="r" b="b"/>
              <a:pathLst>
                <a:path w="902216" h="1012691">
                  <a:moveTo>
                    <a:pt x="0" y="0"/>
                  </a:moveTo>
                  <a:lnTo>
                    <a:pt x="902216" y="0"/>
                  </a:lnTo>
                  <a:lnTo>
                    <a:pt x="902216" y="1012691"/>
                  </a:lnTo>
                  <a:lnTo>
                    <a:pt x="0" y="1012691"/>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40" name="TextBox 40"/>
            <p:cNvSpPr txBox="1"/>
            <p:nvPr/>
          </p:nvSpPr>
          <p:spPr>
            <a:xfrm>
              <a:off x="6555425" y="2981511"/>
              <a:ext cx="1922949" cy="263342"/>
            </a:xfrm>
            <a:prstGeom prst="rect">
              <a:avLst/>
            </a:prstGeom>
          </p:spPr>
          <p:txBody>
            <a:bodyPr wrap="square" lIns="0" tIns="0" rIns="0" bIns="0" rtlCol="0" anchor="t">
              <a:spAutoFit/>
            </a:bodyPr>
            <a:lstStyle/>
            <a:p>
              <a:pPr algn="ctr">
                <a:lnSpc>
                  <a:spcPts val="2190"/>
                </a:lnSpc>
              </a:pPr>
              <a:r>
                <a:rPr lang="en-US" sz="1564" b="1" dirty="0">
                  <a:solidFill>
                    <a:srgbClr val="1800AD"/>
                  </a:solidFill>
                  <a:latin typeface="Canva Sans Bold"/>
                  <a:ea typeface="Canva Sans Bold"/>
                  <a:cs typeface="Canva Sans Bold"/>
                  <a:sym typeface="Canva Sans Bold"/>
                </a:rPr>
                <a:t>TOPIC MODELING</a:t>
              </a:r>
            </a:p>
          </p:txBody>
        </p:sp>
        <p:sp>
          <p:nvSpPr>
            <p:cNvPr id="41" name="TextBox 41"/>
            <p:cNvSpPr txBox="1"/>
            <p:nvPr/>
          </p:nvSpPr>
          <p:spPr>
            <a:xfrm>
              <a:off x="5861738" y="4257123"/>
              <a:ext cx="1446063" cy="696024"/>
            </a:xfrm>
            <a:prstGeom prst="rect">
              <a:avLst/>
            </a:prstGeom>
          </p:spPr>
          <p:txBody>
            <a:bodyPr wrap="square" lIns="0" tIns="0" rIns="0" bIns="0" rtlCol="0" anchor="t">
              <a:spAutoFit/>
            </a:bodyPr>
            <a:lstStyle/>
            <a:p>
              <a:pPr marL="169318" lvl="1" indent="-84659" algn="l">
                <a:lnSpc>
                  <a:spcPts val="1097"/>
                </a:lnSpc>
                <a:buFont typeface="Arial"/>
                <a:buChar char="•"/>
              </a:pPr>
              <a:r>
                <a:rPr lang="en-US" sz="784" b="1" dirty="0" err="1">
                  <a:solidFill>
                    <a:srgbClr val="1800AD"/>
                  </a:solidFill>
                  <a:latin typeface="Canva Sans Bold"/>
                  <a:ea typeface="Canva Sans Bold"/>
                  <a:cs typeface="Canva Sans Bold"/>
                  <a:sym typeface="Canva Sans Bold"/>
                </a:rPr>
                <a:t>Optimasi</a:t>
              </a:r>
              <a:r>
                <a:rPr lang="en-US" sz="784" b="1" dirty="0">
                  <a:solidFill>
                    <a:srgbClr val="1800AD"/>
                  </a:solidFill>
                  <a:latin typeface="Canva Sans Bold"/>
                  <a:ea typeface="Canva Sans Bold"/>
                  <a:cs typeface="Canva Sans Bold"/>
                  <a:sym typeface="Canva Sans Bold"/>
                </a:rPr>
                <a:t> </a:t>
              </a:r>
              <a:r>
                <a:rPr lang="en-US" sz="784" b="1" dirty="0" err="1">
                  <a:solidFill>
                    <a:srgbClr val="1800AD"/>
                  </a:solidFill>
                  <a:latin typeface="Canva Sans Bold"/>
                  <a:ea typeface="Canva Sans Bold"/>
                  <a:cs typeface="Canva Sans Bold"/>
                  <a:sym typeface="Canva Sans Bold"/>
                </a:rPr>
                <a:t>Jumlah</a:t>
              </a:r>
              <a:r>
                <a:rPr lang="en-US" sz="784" b="1" dirty="0">
                  <a:solidFill>
                    <a:srgbClr val="1800AD"/>
                  </a:solidFill>
                  <a:latin typeface="Canva Sans Bold"/>
                  <a:ea typeface="Canva Sans Bold"/>
                  <a:cs typeface="Canva Sans Bold"/>
                  <a:sym typeface="Canva Sans Bold"/>
                </a:rPr>
                <a:t> </a:t>
              </a:r>
              <a:r>
                <a:rPr lang="en-US" sz="784" b="1" dirty="0" err="1">
                  <a:solidFill>
                    <a:srgbClr val="1800AD"/>
                  </a:solidFill>
                  <a:latin typeface="Canva Sans Bold"/>
                  <a:ea typeface="Canva Sans Bold"/>
                  <a:cs typeface="Canva Sans Bold"/>
                  <a:sym typeface="Canva Sans Bold"/>
                </a:rPr>
                <a:t>Topik</a:t>
              </a:r>
              <a:r>
                <a:rPr lang="en-US" sz="784" b="1" dirty="0">
                  <a:solidFill>
                    <a:srgbClr val="1800AD"/>
                  </a:solidFill>
                  <a:latin typeface="Canva Sans Bold"/>
                  <a:ea typeface="Canva Sans Bold"/>
                  <a:cs typeface="Canva Sans Bold"/>
                  <a:sym typeface="Canva Sans Bold"/>
                </a:rPr>
                <a:t> (K)</a:t>
              </a:r>
            </a:p>
            <a:p>
              <a:pPr marL="169318" lvl="1" indent="-84659" algn="l">
                <a:lnSpc>
                  <a:spcPts val="1097"/>
                </a:lnSpc>
                <a:buFont typeface="Arial"/>
                <a:buChar char="•"/>
              </a:pPr>
              <a:r>
                <a:rPr lang="en-US" sz="784" b="1" dirty="0" err="1">
                  <a:solidFill>
                    <a:srgbClr val="1800AD"/>
                  </a:solidFill>
                  <a:latin typeface="Canva Sans Bold"/>
                  <a:ea typeface="Canva Sans Bold"/>
                  <a:cs typeface="Canva Sans Bold"/>
                  <a:sym typeface="Canva Sans Bold"/>
                </a:rPr>
                <a:t>Varitional</a:t>
              </a:r>
              <a:r>
                <a:rPr lang="en-US" sz="784" b="1" dirty="0">
                  <a:solidFill>
                    <a:srgbClr val="1800AD"/>
                  </a:solidFill>
                  <a:latin typeface="Canva Sans Bold"/>
                  <a:ea typeface="Canva Sans Bold"/>
                  <a:cs typeface="Canva Sans Bold"/>
                  <a:sym typeface="Canva Sans Bold"/>
                </a:rPr>
                <a:t> Inference</a:t>
              </a:r>
            </a:p>
            <a:p>
              <a:pPr marL="169318" lvl="1" indent="-84659" algn="l">
                <a:lnSpc>
                  <a:spcPts val="1097"/>
                </a:lnSpc>
                <a:buFont typeface="Arial"/>
                <a:buChar char="•"/>
              </a:pPr>
              <a:r>
                <a:rPr lang="en-US" sz="784" b="1" dirty="0">
                  <a:solidFill>
                    <a:srgbClr val="1800AD"/>
                  </a:solidFill>
                  <a:latin typeface="Canva Sans Bold"/>
                  <a:ea typeface="Canva Sans Bold"/>
                  <a:cs typeface="Canva Sans Bold"/>
                  <a:sym typeface="Canva Sans Bold"/>
                </a:rPr>
                <a:t>Logistic Normal Distribution</a:t>
              </a:r>
            </a:p>
            <a:p>
              <a:pPr marL="169318" lvl="1" indent="-84659" algn="l">
                <a:lnSpc>
                  <a:spcPts val="1097"/>
                </a:lnSpc>
                <a:buFont typeface="Arial"/>
                <a:buChar char="•"/>
              </a:pPr>
              <a:r>
                <a:rPr lang="en-US" sz="784" b="1" dirty="0">
                  <a:solidFill>
                    <a:srgbClr val="1800AD"/>
                  </a:solidFill>
                  <a:latin typeface="Canva Sans Bold"/>
                  <a:ea typeface="Canva Sans Bold"/>
                  <a:cs typeface="Canva Sans Bold"/>
                  <a:sym typeface="Canva Sans Bold"/>
                </a:rPr>
                <a:t>Topic Correlation</a:t>
              </a:r>
            </a:p>
          </p:txBody>
        </p:sp>
        <p:sp>
          <p:nvSpPr>
            <p:cNvPr id="42" name="TextBox 42"/>
            <p:cNvSpPr txBox="1"/>
            <p:nvPr/>
          </p:nvSpPr>
          <p:spPr>
            <a:xfrm>
              <a:off x="5767871" y="3305074"/>
              <a:ext cx="1254179" cy="263342"/>
            </a:xfrm>
            <a:prstGeom prst="rect">
              <a:avLst/>
            </a:prstGeom>
          </p:spPr>
          <p:txBody>
            <a:bodyPr wrap="square" lIns="0" tIns="0" rIns="0" bIns="0" rtlCol="0" anchor="t">
              <a:spAutoFit/>
            </a:bodyPr>
            <a:lstStyle/>
            <a:p>
              <a:pPr algn="ctr">
                <a:lnSpc>
                  <a:spcPts val="2190"/>
                </a:lnSpc>
              </a:pPr>
              <a:r>
                <a:rPr lang="en-US" sz="1564" b="1">
                  <a:solidFill>
                    <a:srgbClr val="CF4119"/>
                  </a:solidFill>
                  <a:latin typeface="Canva Sans Bold"/>
                  <a:ea typeface="Canva Sans Bold"/>
                  <a:cs typeface="Canva Sans Bold"/>
                  <a:sym typeface="Canva Sans Bold"/>
                </a:rPr>
                <a:t>CTM</a:t>
              </a:r>
            </a:p>
          </p:txBody>
        </p:sp>
        <p:sp>
          <p:nvSpPr>
            <p:cNvPr id="43" name="TextBox 43"/>
            <p:cNvSpPr txBox="1"/>
            <p:nvPr/>
          </p:nvSpPr>
          <p:spPr>
            <a:xfrm>
              <a:off x="7597395" y="3271498"/>
              <a:ext cx="1254179" cy="263342"/>
            </a:xfrm>
            <a:prstGeom prst="rect">
              <a:avLst/>
            </a:prstGeom>
          </p:spPr>
          <p:txBody>
            <a:bodyPr wrap="square" lIns="0" tIns="0" rIns="0" bIns="0" rtlCol="0" anchor="t">
              <a:spAutoFit/>
            </a:bodyPr>
            <a:lstStyle/>
            <a:p>
              <a:pPr algn="ctr">
                <a:lnSpc>
                  <a:spcPts val="2190"/>
                </a:lnSpc>
              </a:pPr>
              <a:r>
                <a:rPr lang="en-US" sz="1564" b="1" dirty="0" err="1">
                  <a:solidFill>
                    <a:srgbClr val="FF751F"/>
                  </a:solidFill>
                  <a:latin typeface="Canva Sans Bold"/>
                  <a:ea typeface="Canva Sans Bold"/>
                  <a:cs typeface="Canva Sans Bold"/>
                  <a:sym typeface="Canva Sans Bold"/>
                </a:rPr>
                <a:t>BERTopic</a:t>
              </a:r>
              <a:endParaRPr lang="en-US" sz="1564" b="1" dirty="0">
                <a:solidFill>
                  <a:srgbClr val="FF751F"/>
                </a:solidFill>
                <a:latin typeface="Canva Sans Bold"/>
                <a:ea typeface="Canva Sans Bold"/>
                <a:cs typeface="Canva Sans Bold"/>
                <a:sym typeface="Canva Sans Bold"/>
              </a:endParaRPr>
            </a:p>
          </p:txBody>
        </p:sp>
        <p:sp>
          <p:nvSpPr>
            <p:cNvPr id="44" name="Freeform 44"/>
            <p:cNvSpPr/>
            <p:nvPr/>
          </p:nvSpPr>
          <p:spPr>
            <a:xfrm>
              <a:off x="7785308" y="3582381"/>
              <a:ext cx="293600" cy="321238"/>
            </a:xfrm>
            <a:custGeom>
              <a:avLst/>
              <a:gdLst/>
              <a:ahLst/>
              <a:cxnLst/>
              <a:rect l="l" t="t" r="r" b="b"/>
              <a:pathLst>
                <a:path w="450045" h="505152">
                  <a:moveTo>
                    <a:pt x="0" y="0"/>
                  </a:moveTo>
                  <a:lnTo>
                    <a:pt x="450044" y="0"/>
                  </a:lnTo>
                  <a:lnTo>
                    <a:pt x="450044" y="505152"/>
                  </a:lnTo>
                  <a:lnTo>
                    <a:pt x="0" y="505152"/>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45" name="Freeform 45"/>
            <p:cNvSpPr/>
            <p:nvPr/>
          </p:nvSpPr>
          <p:spPr>
            <a:xfrm>
              <a:off x="8184776" y="3582381"/>
              <a:ext cx="293600" cy="321238"/>
            </a:xfrm>
            <a:custGeom>
              <a:avLst/>
              <a:gdLst/>
              <a:ahLst/>
              <a:cxnLst/>
              <a:rect l="l" t="t" r="r" b="b"/>
              <a:pathLst>
                <a:path w="450045" h="505152">
                  <a:moveTo>
                    <a:pt x="0" y="0"/>
                  </a:moveTo>
                  <a:lnTo>
                    <a:pt x="450045" y="0"/>
                  </a:lnTo>
                  <a:lnTo>
                    <a:pt x="450045" y="505152"/>
                  </a:lnTo>
                  <a:lnTo>
                    <a:pt x="0" y="505152"/>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46" name="Freeform 46"/>
            <p:cNvSpPr/>
            <p:nvPr/>
          </p:nvSpPr>
          <p:spPr>
            <a:xfrm>
              <a:off x="7985042" y="3795885"/>
              <a:ext cx="293600" cy="321238"/>
            </a:xfrm>
            <a:custGeom>
              <a:avLst/>
              <a:gdLst/>
              <a:ahLst/>
              <a:cxnLst/>
              <a:rect l="l" t="t" r="r" b="b"/>
              <a:pathLst>
                <a:path w="450045" h="505152">
                  <a:moveTo>
                    <a:pt x="0" y="0"/>
                  </a:moveTo>
                  <a:lnTo>
                    <a:pt x="450045" y="0"/>
                  </a:lnTo>
                  <a:lnTo>
                    <a:pt x="450045" y="505152"/>
                  </a:lnTo>
                  <a:lnTo>
                    <a:pt x="0" y="505152"/>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47" name="TextBox 47"/>
            <p:cNvSpPr txBox="1"/>
            <p:nvPr/>
          </p:nvSpPr>
          <p:spPr>
            <a:xfrm>
              <a:off x="7406323" y="4130268"/>
              <a:ext cx="1662950" cy="837089"/>
            </a:xfrm>
            <a:prstGeom prst="rect">
              <a:avLst/>
            </a:prstGeom>
          </p:spPr>
          <p:txBody>
            <a:bodyPr wrap="square" lIns="0" tIns="0" rIns="0" bIns="0" rtlCol="0" anchor="t">
              <a:spAutoFit/>
            </a:bodyPr>
            <a:lstStyle/>
            <a:p>
              <a:pPr marL="169318" lvl="1" indent="-84659" algn="l">
                <a:lnSpc>
                  <a:spcPts val="1097"/>
                </a:lnSpc>
                <a:buFont typeface="Arial"/>
                <a:buChar char="•"/>
              </a:pPr>
              <a:r>
                <a:rPr lang="en-US" sz="784" b="1" dirty="0">
                  <a:solidFill>
                    <a:srgbClr val="00BF63"/>
                  </a:solidFill>
                  <a:latin typeface="Canva Sans Bold"/>
                  <a:ea typeface="Canva Sans Bold"/>
                  <a:cs typeface="Canva Sans Bold"/>
                  <a:sym typeface="Canva Sans Bold"/>
                </a:rPr>
                <a:t>UMAP (Dimensionality Reduction)</a:t>
              </a:r>
            </a:p>
            <a:p>
              <a:pPr marL="169318" lvl="1" indent="-84659" algn="l">
                <a:lnSpc>
                  <a:spcPts val="1097"/>
                </a:lnSpc>
                <a:buFont typeface="Arial"/>
                <a:buChar char="•"/>
              </a:pPr>
              <a:r>
                <a:rPr lang="en-US" sz="784" b="1" dirty="0">
                  <a:solidFill>
                    <a:srgbClr val="00BF63"/>
                  </a:solidFill>
                  <a:latin typeface="Canva Sans Bold"/>
                  <a:ea typeface="Canva Sans Bold"/>
                  <a:cs typeface="Canva Sans Bold"/>
                  <a:sym typeface="Canva Sans Bold"/>
                </a:rPr>
                <a:t>HDBSCAN (Clustering)</a:t>
              </a:r>
            </a:p>
            <a:p>
              <a:pPr marL="169318" lvl="1" indent="-84659" algn="l">
                <a:lnSpc>
                  <a:spcPts val="1097"/>
                </a:lnSpc>
                <a:buFont typeface="Arial"/>
                <a:buChar char="•"/>
              </a:pPr>
              <a:r>
                <a:rPr lang="en-US" sz="784" b="1" dirty="0">
                  <a:solidFill>
                    <a:srgbClr val="00BF63"/>
                  </a:solidFill>
                  <a:latin typeface="Canva Sans Bold"/>
                  <a:ea typeface="Canva Sans Bold"/>
                  <a:cs typeface="Canva Sans Bold"/>
                  <a:sym typeface="Canva Sans Bold"/>
                </a:rPr>
                <a:t>C-TF-IDF (Topic Representation</a:t>
              </a:r>
            </a:p>
            <a:p>
              <a:pPr marL="169318" lvl="1" indent="-84659" algn="l">
                <a:lnSpc>
                  <a:spcPts val="1097"/>
                </a:lnSpc>
                <a:buFont typeface="Arial"/>
                <a:buChar char="•"/>
              </a:pPr>
              <a:r>
                <a:rPr lang="en-US" sz="784" b="1" dirty="0">
                  <a:solidFill>
                    <a:srgbClr val="00BF63"/>
                  </a:solidFill>
                  <a:latin typeface="Canva Sans Bold"/>
                  <a:ea typeface="Canva Sans Bold"/>
                  <a:cs typeface="Canva Sans Bold"/>
                  <a:sym typeface="Canva Sans Bold"/>
                </a:rPr>
                <a:t>Topic Extraction</a:t>
              </a:r>
            </a:p>
          </p:txBody>
        </p:sp>
        <p:sp>
          <p:nvSpPr>
            <p:cNvPr id="48" name="AutoShape 48"/>
            <p:cNvSpPr/>
            <p:nvPr/>
          </p:nvSpPr>
          <p:spPr>
            <a:xfrm flipV="1">
              <a:off x="7395361" y="3569987"/>
              <a:ext cx="0" cy="1340289"/>
            </a:xfrm>
            <a:prstGeom prst="line">
              <a:avLst/>
            </a:prstGeom>
            <a:ln w="12700" cap="flat">
              <a:solidFill>
                <a:srgbClr val="658DEF"/>
              </a:solidFill>
              <a:prstDash val="solid"/>
              <a:headEnd type="none" w="sm" len="sm"/>
              <a:tailEnd type="none" w="sm" len="sm"/>
            </a:ln>
          </p:spPr>
        </p:sp>
      </p:grpSp>
      <p:grpSp>
        <p:nvGrpSpPr>
          <p:cNvPr id="71" name="Group 70">
            <a:extLst>
              <a:ext uri="{FF2B5EF4-FFF2-40B4-BE49-F238E27FC236}">
                <a16:creationId xmlns:a16="http://schemas.microsoft.com/office/drawing/2014/main" id="{ECC2A892-E812-DE8A-96FD-A2E6CE699C0A}"/>
              </a:ext>
            </a:extLst>
          </p:cNvPr>
          <p:cNvGrpSpPr/>
          <p:nvPr/>
        </p:nvGrpSpPr>
        <p:grpSpPr>
          <a:xfrm>
            <a:off x="9044637" y="2603135"/>
            <a:ext cx="1786270" cy="2091547"/>
            <a:chOff x="9739516" y="2949881"/>
            <a:chExt cx="1744317" cy="2214270"/>
          </a:xfrm>
        </p:grpSpPr>
        <p:grpSp>
          <p:nvGrpSpPr>
            <p:cNvPr id="49" name="Group 49"/>
            <p:cNvGrpSpPr/>
            <p:nvPr/>
          </p:nvGrpSpPr>
          <p:grpSpPr>
            <a:xfrm>
              <a:off x="9739516" y="2949881"/>
              <a:ext cx="1744317" cy="2214270"/>
              <a:chOff x="0" y="0"/>
              <a:chExt cx="713513" cy="913205"/>
            </a:xfrm>
          </p:grpSpPr>
          <p:sp>
            <p:nvSpPr>
              <p:cNvPr id="50" name="Freeform 50"/>
              <p:cNvSpPr/>
              <p:nvPr/>
            </p:nvSpPr>
            <p:spPr>
              <a:xfrm>
                <a:off x="0" y="0"/>
                <a:ext cx="713513" cy="913205"/>
              </a:xfrm>
              <a:custGeom>
                <a:avLst/>
                <a:gdLst/>
                <a:ahLst/>
                <a:cxnLst/>
                <a:rect l="l" t="t" r="r" b="b"/>
                <a:pathLst>
                  <a:path w="713513" h="913205">
                    <a:moveTo>
                      <a:pt x="108599" y="0"/>
                    </a:moveTo>
                    <a:lnTo>
                      <a:pt x="604914" y="0"/>
                    </a:lnTo>
                    <a:cubicBezTo>
                      <a:pt x="633716" y="0"/>
                      <a:pt x="661339" y="11442"/>
                      <a:pt x="681705" y="31808"/>
                    </a:cubicBezTo>
                    <a:cubicBezTo>
                      <a:pt x="702071" y="52174"/>
                      <a:pt x="713513" y="79797"/>
                      <a:pt x="713513" y="108599"/>
                    </a:cubicBezTo>
                    <a:lnTo>
                      <a:pt x="713513" y="804606"/>
                    </a:lnTo>
                    <a:cubicBezTo>
                      <a:pt x="713513" y="864584"/>
                      <a:pt x="664892" y="913205"/>
                      <a:pt x="604914" y="913205"/>
                    </a:cubicBezTo>
                    <a:lnTo>
                      <a:pt x="108599" y="913205"/>
                    </a:lnTo>
                    <a:cubicBezTo>
                      <a:pt x="48622" y="913205"/>
                      <a:pt x="0" y="864584"/>
                      <a:pt x="0" y="804606"/>
                    </a:cubicBezTo>
                    <a:lnTo>
                      <a:pt x="0" y="108599"/>
                    </a:lnTo>
                    <a:cubicBezTo>
                      <a:pt x="0" y="48622"/>
                      <a:pt x="48622" y="0"/>
                      <a:pt x="108599" y="0"/>
                    </a:cubicBezTo>
                    <a:close/>
                  </a:path>
                </a:pathLst>
              </a:custGeom>
              <a:solidFill>
                <a:srgbClr val="FFFFFF"/>
              </a:solidFill>
              <a:ln w="38100" cap="rnd">
                <a:solidFill>
                  <a:srgbClr val="00BF63"/>
                </a:solidFill>
                <a:prstDash val="solid"/>
                <a:round/>
              </a:ln>
            </p:spPr>
          </p:sp>
          <p:sp>
            <p:nvSpPr>
              <p:cNvPr id="51" name="TextBox 51"/>
              <p:cNvSpPr txBox="1"/>
              <p:nvPr/>
            </p:nvSpPr>
            <p:spPr>
              <a:xfrm>
                <a:off x="0" y="-47625"/>
                <a:ext cx="713513" cy="960830"/>
              </a:xfrm>
              <a:prstGeom prst="rect">
                <a:avLst/>
              </a:prstGeom>
            </p:spPr>
            <p:txBody>
              <a:bodyPr lIns="34756" tIns="34756" rIns="34756" bIns="34756" rtlCol="0" anchor="ctr"/>
              <a:lstStyle/>
              <a:p>
                <a:pPr algn="ctr">
                  <a:lnSpc>
                    <a:spcPts val="2659"/>
                  </a:lnSpc>
                </a:pPr>
                <a:endParaRPr/>
              </a:p>
            </p:txBody>
          </p:sp>
        </p:grpSp>
        <p:sp>
          <p:nvSpPr>
            <p:cNvPr id="52" name="Freeform 52"/>
            <p:cNvSpPr/>
            <p:nvPr/>
          </p:nvSpPr>
          <p:spPr>
            <a:xfrm>
              <a:off x="10061979" y="3412808"/>
              <a:ext cx="1049413" cy="741838"/>
            </a:xfrm>
            <a:custGeom>
              <a:avLst/>
              <a:gdLst/>
              <a:ahLst/>
              <a:cxnLst/>
              <a:rect l="l" t="t" r="r" b="b"/>
              <a:pathLst>
                <a:path w="1486810" h="1059690">
                  <a:moveTo>
                    <a:pt x="0" y="0"/>
                  </a:moveTo>
                  <a:lnTo>
                    <a:pt x="1486810" y="0"/>
                  </a:lnTo>
                  <a:lnTo>
                    <a:pt x="1486810" y="1059690"/>
                  </a:lnTo>
                  <a:lnTo>
                    <a:pt x="0" y="1059690"/>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sp>
        <p:sp>
          <p:nvSpPr>
            <p:cNvPr id="53" name="TextBox 53"/>
            <p:cNvSpPr txBox="1"/>
            <p:nvPr/>
          </p:nvSpPr>
          <p:spPr>
            <a:xfrm>
              <a:off x="9803959" y="3097367"/>
              <a:ext cx="1679872" cy="240733"/>
            </a:xfrm>
            <a:prstGeom prst="rect">
              <a:avLst/>
            </a:prstGeom>
          </p:spPr>
          <p:txBody>
            <a:bodyPr lIns="0" tIns="0" rIns="0" bIns="0" rtlCol="0" anchor="t">
              <a:spAutoFit/>
            </a:bodyPr>
            <a:lstStyle/>
            <a:p>
              <a:pPr algn="ctr">
                <a:lnSpc>
                  <a:spcPts val="2190"/>
                </a:lnSpc>
              </a:pPr>
              <a:r>
                <a:rPr lang="en-US" sz="1564" b="1">
                  <a:solidFill>
                    <a:srgbClr val="1800AD"/>
                  </a:solidFill>
                  <a:latin typeface="Canva Sans Bold"/>
                  <a:ea typeface="Canva Sans Bold"/>
                  <a:cs typeface="Canva Sans Bold"/>
                  <a:sym typeface="Canva Sans Bold"/>
                </a:rPr>
                <a:t>EVALUATION</a:t>
              </a:r>
            </a:p>
          </p:txBody>
        </p:sp>
        <p:sp>
          <p:nvSpPr>
            <p:cNvPr id="54" name="TextBox 54"/>
            <p:cNvSpPr txBox="1"/>
            <p:nvPr/>
          </p:nvSpPr>
          <p:spPr>
            <a:xfrm>
              <a:off x="9933218" y="4299989"/>
              <a:ext cx="1356912" cy="417906"/>
            </a:xfrm>
            <a:prstGeom prst="rect">
              <a:avLst/>
            </a:prstGeom>
          </p:spPr>
          <p:txBody>
            <a:bodyPr lIns="0" tIns="0" rIns="0" bIns="0" rtlCol="0" anchor="t">
              <a:spAutoFit/>
            </a:bodyPr>
            <a:lstStyle/>
            <a:p>
              <a:pPr algn="ctr">
                <a:lnSpc>
                  <a:spcPts val="930"/>
                </a:lnSpc>
              </a:pPr>
              <a:r>
                <a:rPr lang="en-US" sz="664" b="1">
                  <a:solidFill>
                    <a:srgbClr val="1800AD"/>
                  </a:solidFill>
                  <a:latin typeface="Canva Sans Bold"/>
                  <a:ea typeface="Canva Sans Bold"/>
                  <a:cs typeface="Canva Sans Bold"/>
                  <a:sym typeface="Canva Sans Bold"/>
                </a:rPr>
                <a:t>Coherence Score</a:t>
              </a:r>
            </a:p>
            <a:p>
              <a:pPr algn="ctr">
                <a:lnSpc>
                  <a:spcPts val="930"/>
                </a:lnSpc>
              </a:pPr>
              <a:r>
                <a:rPr lang="en-US" sz="664" b="1">
                  <a:solidFill>
                    <a:srgbClr val="1800AD"/>
                  </a:solidFill>
                  <a:latin typeface="Canva Sans Bold"/>
                  <a:ea typeface="Canva Sans Bold"/>
                  <a:cs typeface="Canva Sans Bold"/>
                  <a:sym typeface="Canva Sans Bold"/>
                </a:rPr>
                <a:t>Diversity Score</a:t>
              </a:r>
            </a:p>
            <a:p>
              <a:pPr algn="ctr">
                <a:lnSpc>
                  <a:spcPts val="930"/>
                </a:lnSpc>
              </a:pPr>
              <a:r>
                <a:rPr lang="en-US" sz="664" b="1">
                  <a:solidFill>
                    <a:srgbClr val="1800AD"/>
                  </a:solidFill>
                  <a:latin typeface="Canva Sans Bold"/>
                  <a:ea typeface="Canva Sans Bold"/>
                  <a:cs typeface="Canva Sans Bold"/>
                  <a:sym typeface="Canva Sans Bold"/>
                </a:rPr>
                <a:t>NPMI</a:t>
              </a:r>
            </a:p>
            <a:p>
              <a:pPr algn="ctr">
                <a:lnSpc>
                  <a:spcPts val="930"/>
                </a:lnSpc>
              </a:pPr>
              <a:r>
                <a:rPr lang="en-US" sz="664" b="1">
                  <a:solidFill>
                    <a:srgbClr val="1800AD"/>
                  </a:solidFill>
                  <a:latin typeface="Canva Sans Bold"/>
                  <a:ea typeface="Canva Sans Bold"/>
                  <a:cs typeface="Canva Sans Bold"/>
                  <a:sym typeface="Canva Sans Bold"/>
                </a:rPr>
                <a:t>UMass</a:t>
              </a:r>
            </a:p>
          </p:txBody>
        </p:sp>
        <p:sp>
          <p:nvSpPr>
            <p:cNvPr id="55" name="TextBox 55"/>
            <p:cNvSpPr txBox="1"/>
            <p:nvPr/>
          </p:nvSpPr>
          <p:spPr>
            <a:xfrm>
              <a:off x="9933218" y="4771582"/>
              <a:ext cx="1356912" cy="207740"/>
            </a:xfrm>
            <a:prstGeom prst="rect">
              <a:avLst/>
            </a:prstGeom>
          </p:spPr>
          <p:txBody>
            <a:bodyPr lIns="0" tIns="0" rIns="0" bIns="0" rtlCol="0" anchor="t">
              <a:spAutoFit/>
            </a:bodyPr>
            <a:lstStyle/>
            <a:p>
              <a:pPr algn="ctr">
                <a:lnSpc>
                  <a:spcPts val="930"/>
                </a:lnSpc>
              </a:pPr>
              <a:r>
                <a:rPr lang="en-US" sz="664" b="1">
                  <a:solidFill>
                    <a:srgbClr val="00BF63"/>
                  </a:solidFill>
                  <a:latin typeface="Canva Sans Bold"/>
                  <a:ea typeface="Canva Sans Bold"/>
                  <a:cs typeface="Canva Sans Bold"/>
                  <a:sym typeface="Canva Sans Bold"/>
                </a:rPr>
                <a:t>Menilai Kualitas dan Keragaman Topik dari Kedua Model</a:t>
              </a:r>
            </a:p>
          </p:txBody>
        </p:sp>
      </p:grpSp>
      <p:grpSp>
        <p:nvGrpSpPr>
          <p:cNvPr id="72" name="Group 71">
            <a:extLst>
              <a:ext uri="{FF2B5EF4-FFF2-40B4-BE49-F238E27FC236}">
                <a16:creationId xmlns:a16="http://schemas.microsoft.com/office/drawing/2014/main" id="{14BD5582-29A8-758F-7633-43C31E79E249}"/>
              </a:ext>
            </a:extLst>
          </p:cNvPr>
          <p:cNvGrpSpPr/>
          <p:nvPr/>
        </p:nvGrpSpPr>
        <p:grpSpPr>
          <a:xfrm>
            <a:off x="11379090" y="2648670"/>
            <a:ext cx="1691146" cy="2091547"/>
            <a:chOff x="12021664" y="2842068"/>
            <a:chExt cx="1842308" cy="2322083"/>
          </a:xfrm>
        </p:grpSpPr>
        <p:grpSp>
          <p:nvGrpSpPr>
            <p:cNvPr id="56" name="Group 56"/>
            <p:cNvGrpSpPr/>
            <p:nvPr/>
          </p:nvGrpSpPr>
          <p:grpSpPr>
            <a:xfrm>
              <a:off x="12021664" y="2842068"/>
              <a:ext cx="1842308" cy="2322083"/>
              <a:chOff x="0" y="0"/>
              <a:chExt cx="825973" cy="1049645"/>
            </a:xfrm>
          </p:grpSpPr>
          <p:sp>
            <p:nvSpPr>
              <p:cNvPr id="57" name="Freeform 57"/>
              <p:cNvSpPr/>
              <p:nvPr/>
            </p:nvSpPr>
            <p:spPr>
              <a:xfrm>
                <a:off x="0" y="0"/>
                <a:ext cx="825973" cy="1049645"/>
              </a:xfrm>
              <a:custGeom>
                <a:avLst/>
                <a:gdLst/>
                <a:ahLst/>
                <a:cxnLst/>
                <a:rect l="l" t="t" r="r" b="b"/>
                <a:pathLst>
                  <a:path w="825973" h="1049645">
                    <a:moveTo>
                      <a:pt x="102823" y="0"/>
                    </a:moveTo>
                    <a:lnTo>
                      <a:pt x="723150" y="0"/>
                    </a:lnTo>
                    <a:cubicBezTo>
                      <a:pt x="750420" y="0"/>
                      <a:pt x="776574" y="10833"/>
                      <a:pt x="795857" y="30116"/>
                    </a:cubicBezTo>
                    <a:cubicBezTo>
                      <a:pt x="815140" y="49399"/>
                      <a:pt x="825973" y="75553"/>
                      <a:pt x="825973" y="102823"/>
                    </a:cubicBezTo>
                    <a:lnTo>
                      <a:pt x="825973" y="946822"/>
                    </a:lnTo>
                    <a:cubicBezTo>
                      <a:pt x="825973" y="974092"/>
                      <a:pt x="815140" y="1000246"/>
                      <a:pt x="795857" y="1019529"/>
                    </a:cubicBezTo>
                    <a:cubicBezTo>
                      <a:pt x="776574" y="1038812"/>
                      <a:pt x="750420" y="1049645"/>
                      <a:pt x="723150" y="1049645"/>
                    </a:cubicBezTo>
                    <a:lnTo>
                      <a:pt x="102823" y="1049645"/>
                    </a:lnTo>
                    <a:cubicBezTo>
                      <a:pt x="75553" y="1049645"/>
                      <a:pt x="49399" y="1038812"/>
                      <a:pt x="30116" y="1019529"/>
                    </a:cubicBezTo>
                    <a:cubicBezTo>
                      <a:pt x="10833" y="1000246"/>
                      <a:pt x="0" y="974092"/>
                      <a:pt x="0" y="946822"/>
                    </a:cubicBezTo>
                    <a:lnTo>
                      <a:pt x="0" y="102823"/>
                    </a:lnTo>
                    <a:cubicBezTo>
                      <a:pt x="0" y="75553"/>
                      <a:pt x="10833" y="49399"/>
                      <a:pt x="30116" y="30116"/>
                    </a:cubicBezTo>
                    <a:cubicBezTo>
                      <a:pt x="49399" y="10833"/>
                      <a:pt x="75553" y="0"/>
                      <a:pt x="102823" y="0"/>
                    </a:cubicBezTo>
                    <a:close/>
                  </a:path>
                </a:pathLst>
              </a:custGeom>
              <a:solidFill>
                <a:srgbClr val="FFFFFF"/>
              </a:solidFill>
              <a:ln w="38100" cap="rnd">
                <a:solidFill>
                  <a:srgbClr val="CF4119"/>
                </a:solidFill>
                <a:prstDash val="solid"/>
                <a:round/>
              </a:ln>
            </p:spPr>
          </p:sp>
          <p:sp>
            <p:nvSpPr>
              <p:cNvPr id="58" name="TextBox 58"/>
              <p:cNvSpPr txBox="1"/>
              <p:nvPr/>
            </p:nvSpPr>
            <p:spPr>
              <a:xfrm>
                <a:off x="0" y="-47625"/>
                <a:ext cx="825973" cy="1097270"/>
              </a:xfrm>
              <a:prstGeom prst="rect">
                <a:avLst/>
              </a:prstGeom>
            </p:spPr>
            <p:txBody>
              <a:bodyPr lIns="31711" tIns="31711" rIns="31711" bIns="31711" rtlCol="0" anchor="ctr"/>
              <a:lstStyle/>
              <a:p>
                <a:pPr algn="ctr">
                  <a:lnSpc>
                    <a:spcPts val="2659"/>
                  </a:lnSpc>
                </a:pPr>
                <a:endParaRPr/>
              </a:p>
            </p:txBody>
          </p:sp>
        </p:grpSp>
        <p:sp>
          <p:nvSpPr>
            <p:cNvPr id="59" name="Freeform 59"/>
            <p:cNvSpPr/>
            <p:nvPr/>
          </p:nvSpPr>
          <p:spPr>
            <a:xfrm>
              <a:off x="12453891" y="3518175"/>
              <a:ext cx="977853" cy="969868"/>
            </a:xfrm>
            <a:custGeom>
              <a:avLst/>
              <a:gdLst/>
              <a:ahLst/>
              <a:cxnLst/>
              <a:rect l="l" t="t" r="r" b="b"/>
              <a:pathLst>
                <a:path w="1385424" h="1385424">
                  <a:moveTo>
                    <a:pt x="0" y="0"/>
                  </a:moveTo>
                  <a:lnTo>
                    <a:pt x="1385424" y="0"/>
                  </a:lnTo>
                  <a:lnTo>
                    <a:pt x="1385424" y="1385424"/>
                  </a:lnTo>
                  <a:lnTo>
                    <a:pt x="0" y="1385424"/>
                  </a:lnTo>
                  <a:lnTo>
                    <a:pt x="0" y="0"/>
                  </a:lnTo>
                  <a:close/>
                </a:path>
              </a:pathLst>
            </a:custGeom>
            <a:blipFill>
              <a:blip r:embed="rId20"/>
              <a:stretch>
                <a:fillRect/>
              </a:stretch>
            </a:blipFill>
          </p:spPr>
        </p:sp>
        <p:sp>
          <p:nvSpPr>
            <p:cNvPr id="60" name="TextBox 60"/>
            <p:cNvSpPr txBox="1"/>
            <p:nvPr/>
          </p:nvSpPr>
          <p:spPr>
            <a:xfrm>
              <a:off x="12060421" y="3042499"/>
              <a:ext cx="1764792" cy="240733"/>
            </a:xfrm>
            <a:prstGeom prst="rect">
              <a:avLst/>
            </a:prstGeom>
          </p:spPr>
          <p:txBody>
            <a:bodyPr lIns="0" tIns="0" rIns="0" bIns="0" rtlCol="0" anchor="t">
              <a:spAutoFit/>
            </a:bodyPr>
            <a:lstStyle/>
            <a:p>
              <a:pPr algn="ctr">
                <a:lnSpc>
                  <a:spcPts val="2190"/>
                </a:lnSpc>
              </a:pPr>
              <a:r>
                <a:rPr lang="en-US" sz="1564" b="1">
                  <a:solidFill>
                    <a:srgbClr val="1800AD"/>
                  </a:solidFill>
                  <a:latin typeface="Canva Sans Bold"/>
                  <a:ea typeface="Canva Sans Bold"/>
                  <a:cs typeface="Canva Sans Bold"/>
                  <a:sym typeface="Canva Sans Bold"/>
                </a:rPr>
                <a:t> GABUNGAN</a:t>
              </a:r>
            </a:p>
          </p:txBody>
        </p:sp>
        <p:sp>
          <p:nvSpPr>
            <p:cNvPr id="61" name="TextBox 61"/>
            <p:cNvSpPr txBox="1"/>
            <p:nvPr/>
          </p:nvSpPr>
          <p:spPr>
            <a:xfrm>
              <a:off x="12360317" y="4393924"/>
              <a:ext cx="1356912" cy="312822"/>
            </a:xfrm>
            <a:prstGeom prst="rect">
              <a:avLst/>
            </a:prstGeom>
          </p:spPr>
          <p:txBody>
            <a:bodyPr lIns="0" tIns="0" rIns="0" bIns="0" rtlCol="0" anchor="t">
              <a:spAutoFit/>
            </a:bodyPr>
            <a:lstStyle/>
            <a:p>
              <a:pPr algn="ctr">
                <a:lnSpc>
                  <a:spcPts val="930"/>
                </a:lnSpc>
              </a:pPr>
              <a:r>
                <a:rPr lang="en-US" sz="664" b="1">
                  <a:solidFill>
                    <a:srgbClr val="1800AD"/>
                  </a:solidFill>
                  <a:latin typeface="Canva Sans Bold"/>
                  <a:ea typeface="Canva Sans Bold"/>
                  <a:cs typeface="Canva Sans Bold"/>
                  <a:sym typeface="Canva Sans Bold"/>
                </a:rPr>
                <a:t>Menggabungkan hasil topik CTM dan BERTopic dengan model Jaccard Similiarity</a:t>
              </a:r>
            </a:p>
          </p:txBody>
        </p:sp>
      </p:grpSp>
      <p:grpSp>
        <p:nvGrpSpPr>
          <p:cNvPr id="62" name="Group 62"/>
          <p:cNvGrpSpPr/>
          <p:nvPr/>
        </p:nvGrpSpPr>
        <p:grpSpPr>
          <a:xfrm>
            <a:off x="14061084" y="2726590"/>
            <a:ext cx="1523997" cy="2013311"/>
            <a:chOff x="0" y="0"/>
            <a:chExt cx="825973" cy="1049645"/>
          </a:xfrm>
        </p:grpSpPr>
        <p:sp>
          <p:nvSpPr>
            <p:cNvPr id="63" name="Freeform 63"/>
            <p:cNvSpPr/>
            <p:nvPr/>
          </p:nvSpPr>
          <p:spPr>
            <a:xfrm>
              <a:off x="0" y="0"/>
              <a:ext cx="825973" cy="1049645"/>
            </a:xfrm>
            <a:custGeom>
              <a:avLst/>
              <a:gdLst/>
              <a:ahLst/>
              <a:cxnLst/>
              <a:rect l="l" t="t" r="r" b="b"/>
              <a:pathLst>
                <a:path w="825973" h="1049645">
                  <a:moveTo>
                    <a:pt x="102823" y="0"/>
                  </a:moveTo>
                  <a:lnTo>
                    <a:pt x="723150" y="0"/>
                  </a:lnTo>
                  <a:cubicBezTo>
                    <a:pt x="750420" y="0"/>
                    <a:pt x="776574" y="10833"/>
                    <a:pt x="795857" y="30116"/>
                  </a:cubicBezTo>
                  <a:cubicBezTo>
                    <a:pt x="815140" y="49399"/>
                    <a:pt x="825973" y="75553"/>
                    <a:pt x="825973" y="102823"/>
                  </a:cubicBezTo>
                  <a:lnTo>
                    <a:pt x="825973" y="946822"/>
                  </a:lnTo>
                  <a:cubicBezTo>
                    <a:pt x="825973" y="974092"/>
                    <a:pt x="815140" y="1000246"/>
                    <a:pt x="795857" y="1019529"/>
                  </a:cubicBezTo>
                  <a:cubicBezTo>
                    <a:pt x="776574" y="1038812"/>
                    <a:pt x="750420" y="1049645"/>
                    <a:pt x="723150" y="1049645"/>
                  </a:cubicBezTo>
                  <a:lnTo>
                    <a:pt x="102823" y="1049645"/>
                  </a:lnTo>
                  <a:cubicBezTo>
                    <a:pt x="75553" y="1049645"/>
                    <a:pt x="49399" y="1038812"/>
                    <a:pt x="30116" y="1019529"/>
                  </a:cubicBezTo>
                  <a:cubicBezTo>
                    <a:pt x="10833" y="1000246"/>
                    <a:pt x="0" y="974092"/>
                    <a:pt x="0" y="946822"/>
                  </a:cubicBezTo>
                  <a:lnTo>
                    <a:pt x="0" y="102823"/>
                  </a:lnTo>
                  <a:cubicBezTo>
                    <a:pt x="0" y="75553"/>
                    <a:pt x="10833" y="49399"/>
                    <a:pt x="30116" y="30116"/>
                  </a:cubicBezTo>
                  <a:cubicBezTo>
                    <a:pt x="49399" y="10833"/>
                    <a:pt x="75553" y="0"/>
                    <a:pt x="102823" y="0"/>
                  </a:cubicBezTo>
                  <a:close/>
                </a:path>
              </a:pathLst>
            </a:custGeom>
            <a:solidFill>
              <a:srgbClr val="FFFFFF"/>
            </a:solidFill>
            <a:ln w="38100" cap="rnd">
              <a:solidFill>
                <a:srgbClr val="CF4119"/>
              </a:solidFill>
              <a:prstDash val="solid"/>
              <a:round/>
            </a:ln>
          </p:spPr>
        </p:sp>
        <p:sp>
          <p:nvSpPr>
            <p:cNvPr id="64" name="TextBox 64"/>
            <p:cNvSpPr txBox="1"/>
            <p:nvPr/>
          </p:nvSpPr>
          <p:spPr>
            <a:xfrm>
              <a:off x="0" y="-47625"/>
              <a:ext cx="825973" cy="1097270"/>
            </a:xfrm>
            <a:prstGeom prst="rect">
              <a:avLst/>
            </a:prstGeom>
          </p:spPr>
          <p:txBody>
            <a:bodyPr lIns="31711" tIns="31711" rIns="31711" bIns="31711" rtlCol="0" anchor="ctr"/>
            <a:lstStyle/>
            <a:p>
              <a:pPr algn="ctr">
                <a:lnSpc>
                  <a:spcPts val="2659"/>
                </a:lnSpc>
              </a:pPr>
              <a:endParaRPr/>
            </a:p>
          </p:txBody>
        </p:sp>
      </p:grpSp>
      <p:sp>
        <p:nvSpPr>
          <p:cNvPr id="65" name="Freeform 65"/>
          <p:cNvSpPr/>
          <p:nvPr/>
        </p:nvSpPr>
        <p:spPr>
          <a:xfrm>
            <a:off x="14457513" y="3255568"/>
            <a:ext cx="693404" cy="720836"/>
          </a:xfrm>
          <a:custGeom>
            <a:avLst/>
            <a:gdLst/>
            <a:ahLst/>
            <a:cxnLst/>
            <a:rect l="l" t="t" r="r" b="b"/>
            <a:pathLst>
              <a:path w="1187609" h="1187609">
                <a:moveTo>
                  <a:pt x="0" y="0"/>
                </a:moveTo>
                <a:lnTo>
                  <a:pt x="1187609" y="0"/>
                </a:lnTo>
                <a:lnTo>
                  <a:pt x="1187609" y="1187610"/>
                </a:lnTo>
                <a:lnTo>
                  <a:pt x="0" y="1187610"/>
                </a:lnTo>
                <a:lnTo>
                  <a:pt x="0" y="0"/>
                </a:lnTo>
                <a:close/>
              </a:path>
            </a:pathLst>
          </a:custGeom>
          <a:blipFill>
            <a:blip r:embed="rId21"/>
            <a:stretch>
              <a:fillRect/>
            </a:stretch>
          </a:blipFill>
        </p:spPr>
      </p:sp>
      <p:sp>
        <p:nvSpPr>
          <p:cNvPr id="66" name="TextBox 66"/>
          <p:cNvSpPr txBox="1"/>
          <p:nvPr/>
        </p:nvSpPr>
        <p:spPr>
          <a:xfrm>
            <a:off x="14093145" y="2900369"/>
            <a:ext cx="1459874" cy="208722"/>
          </a:xfrm>
          <a:prstGeom prst="rect">
            <a:avLst/>
          </a:prstGeom>
        </p:spPr>
        <p:txBody>
          <a:bodyPr lIns="0" tIns="0" rIns="0" bIns="0" rtlCol="0" anchor="t">
            <a:spAutoFit/>
          </a:bodyPr>
          <a:lstStyle/>
          <a:p>
            <a:pPr algn="ctr">
              <a:lnSpc>
                <a:spcPts val="2190"/>
              </a:lnSpc>
            </a:pPr>
            <a:r>
              <a:rPr lang="en-US" sz="1564" b="1">
                <a:solidFill>
                  <a:srgbClr val="1800AD"/>
                </a:solidFill>
                <a:latin typeface="Canva Sans Bold"/>
                <a:ea typeface="Canva Sans Bold"/>
                <a:cs typeface="Canva Sans Bold"/>
                <a:sym typeface="Canva Sans Bold"/>
              </a:rPr>
              <a:t>INTEPPRETASI</a:t>
            </a:r>
          </a:p>
        </p:txBody>
      </p:sp>
      <p:sp>
        <p:nvSpPr>
          <p:cNvPr id="67" name="TextBox 67"/>
          <p:cNvSpPr txBox="1"/>
          <p:nvPr/>
        </p:nvSpPr>
        <p:spPr>
          <a:xfrm>
            <a:off x="14341225" y="4072093"/>
            <a:ext cx="1122467" cy="271225"/>
          </a:xfrm>
          <a:prstGeom prst="rect">
            <a:avLst/>
          </a:prstGeom>
        </p:spPr>
        <p:txBody>
          <a:bodyPr lIns="0" tIns="0" rIns="0" bIns="0" rtlCol="0" anchor="t">
            <a:spAutoFit/>
          </a:bodyPr>
          <a:lstStyle/>
          <a:p>
            <a:pPr algn="ctr">
              <a:lnSpc>
                <a:spcPts val="930"/>
              </a:lnSpc>
            </a:pPr>
            <a:r>
              <a:rPr lang="en-US" sz="664" b="1" dirty="0" err="1">
                <a:solidFill>
                  <a:srgbClr val="1800AD"/>
                </a:solidFill>
                <a:latin typeface="Canva Sans Bold"/>
                <a:ea typeface="Canva Sans Bold"/>
                <a:cs typeface="Canva Sans Bold"/>
                <a:sym typeface="Canva Sans Bold"/>
              </a:rPr>
              <a:t>Menginterpretasikan</a:t>
            </a:r>
            <a:r>
              <a:rPr lang="en-US" sz="664" b="1" dirty="0">
                <a:solidFill>
                  <a:srgbClr val="1800AD"/>
                </a:solidFill>
                <a:latin typeface="Canva Sans Bold"/>
                <a:ea typeface="Canva Sans Bold"/>
                <a:cs typeface="Canva Sans Bold"/>
                <a:sym typeface="Canva Sans Bold"/>
              </a:rPr>
              <a:t> Kata </a:t>
            </a:r>
            <a:r>
              <a:rPr lang="en-US" sz="664" b="1" dirty="0" err="1">
                <a:solidFill>
                  <a:srgbClr val="1800AD"/>
                </a:solidFill>
                <a:latin typeface="Canva Sans Bold"/>
                <a:ea typeface="Canva Sans Bold"/>
                <a:cs typeface="Canva Sans Bold"/>
                <a:sym typeface="Canva Sans Bold"/>
              </a:rPr>
              <a:t>kunci</a:t>
            </a:r>
            <a:r>
              <a:rPr lang="en-US" sz="664" b="1" dirty="0">
                <a:solidFill>
                  <a:srgbClr val="1800AD"/>
                </a:solidFill>
                <a:latin typeface="Canva Sans Bold"/>
                <a:ea typeface="Canva Sans Bold"/>
                <a:cs typeface="Canva Sans Bold"/>
                <a:sym typeface="Canva Sans Bold"/>
              </a:rPr>
              <a:t> yang </a:t>
            </a:r>
            <a:r>
              <a:rPr lang="en-US" sz="664" b="1" dirty="0" err="1">
                <a:solidFill>
                  <a:srgbClr val="1800AD"/>
                </a:solidFill>
                <a:latin typeface="Canva Sans Bold"/>
                <a:ea typeface="Canva Sans Bold"/>
                <a:cs typeface="Canva Sans Bold"/>
                <a:sym typeface="Canva Sans Bold"/>
              </a:rPr>
              <a:t>terbentuk</a:t>
            </a:r>
            <a:r>
              <a:rPr lang="en-US" sz="664" b="1" dirty="0">
                <a:solidFill>
                  <a:srgbClr val="1800AD"/>
                </a:solidFill>
                <a:latin typeface="Canva Sans Bold"/>
                <a:ea typeface="Canva Sans Bold"/>
                <a:cs typeface="Canva Sans Bold"/>
                <a:sym typeface="Canva Sans Bold"/>
              </a:rPr>
              <a:t> </a:t>
            </a:r>
            <a:r>
              <a:rPr lang="en-US" sz="664" b="1" dirty="0" err="1">
                <a:solidFill>
                  <a:srgbClr val="1800AD"/>
                </a:solidFill>
                <a:latin typeface="Canva Sans Bold"/>
                <a:ea typeface="Canva Sans Bold"/>
                <a:cs typeface="Canva Sans Bold"/>
                <a:sym typeface="Canva Sans Bold"/>
              </a:rPr>
              <a:t>sesuai</a:t>
            </a:r>
            <a:r>
              <a:rPr lang="en-US" sz="664" b="1" dirty="0">
                <a:solidFill>
                  <a:srgbClr val="1800AD"/>
                </a:solidFill>
                <a:latin typeface="Canva Sans Bold"/>
                <a:ea typeface="Canva Sans Bold"/>
                <a:cs typeface="Canva Sans Bold"/>
                <a:sym typeface="Canva Sans Bold"/>
              </a:rPr>
              <a:t> </a:t>
            </a:r>
            <a:r>
              <a:rPr lang="en-US" sz="664" b="1" dirty="0" err="1">
                <a:solidFill>
                  <a:srgbClr val="1800AD"/>
                </a:solidFill>
                <a:latin typeface="Canva Sans Bold"/>
                <a:ea typeface="Canva Sans Bold"/>
                <a:cs typeface="Canva Sans Bold"/>
                <a:sym typeface="Canva Sans Bold"/>
              </a:rPr>
              <a:t>dengan</a:t>
            </a:r>
            <a:r>
              <a:rPr lang="en-US" sz="664" b="1" dirty="0">
                <a:solidFill>
                  <a:srgbClr val="1800AD"/>
                </a:solidFill>
                <a:latin typeface="Canva Sans Bold"/>
                <a:ea typeface="Canva Sans Bold"/>
                <a:cs typeface="Canva Sans Bold"/>
                <a:sym typeface="Canva Sans Bold"/>
              </a:rPr>
              <a:t> </a:t>
            </a:r>
            <a:r>
              <a:rPr lang="en-US" sz="664" b="1" dirty="0" err="1">
                <a:solidFill>
                  <a:srgbClr val="1800AD"/>
                </a:solidFill>
                <a:latin typeface="Canva Sans Bold"/>
                <a:ea typeface="Canva Sans Bold"/>
                <a:cs typeface="Canva Sans Bold"/>
                <a:sym typeface="Canva Sans Bold"/>
              </a:rPr>
              <a:t>tema</a:t>
            </a:r>
            <a:r>
              <a:rPr lang="en-US" sz="664" b="1" dirty="0">
                <a:solidFill>
                  <a:srgbClr val="1800AD"/>
                </a:solidFill>
                <a:latin typeface="Canva Sans Bold"/>
                <a:ea typeface="Canva Sans Bold"/>
                <a:cs typeface="Canva Sans Bold"/>
                <a:sym typeface="Canva Sans Bold"/>
              </a:rPr>
              <a:t> </a:t>
            </a:r>
          </a:p>
        </p:txBody>
      </p:sp>
      <p:sp>
        <p:nvSpPr>
          <p:cNvPr id="68" name="TextBox 68"/>
          <p:cNvSpPr txBox="1"/>
          <p:nvPr/>
        </p:nvSpPr>
        <p:spPr>
          <a:xfrm>
            <a:off x="1028700" y="1200862"/>
            <a:ext cx="11742081" cy="1009635"/>
          </a:xfrm>
          <a:prstGeom prst="rect">
            <a:avLst/>
          </a:prstGeom>
        </p:spPr>
        <p:txBody>
          <a:bodyPr lIns="0" tIns="0" rIns="0" bIns="0" rtlCol="0" anchor="t">
            <a:spAutoFit/>
          </a:bodyPr>
          <a:lstStyle/>
          <a:p>
            <a:pPr algn="l">
              <a:lnSpc>
                <a:spcPts val="8300"/>
              </a:lnSpc>
            </a:pPr>
            <a:r>
              <a:rPr lang="en-US" sz="5929" b="1" dirty="0">
                <a:solidFill>
                  <a:srgbClr val="1800AD"/>
                </a:solidFill>
                <a:latin typeface="Archivo Narrow Bold"/>
                <a:ea typeface="Archivo Narrow Bold"/>
                <a:cs typeface="Archivo Narrow Bold"/>
                <a:sym typeface="Archivo Narrow Bold"/>
              </a:rPr>
              <a:t>Research Pipeline</a:t>
            </a:r>
          </a:p>
        </p:txBody>
      </p:sp>
      <p:sp>
        <p:nvSpPr>
          <p:cNvPr id="69" name="TextBox 69"/>
          <p:cNvSpPr txBox="1"/>
          <p:nvPr/>
        </p:nvSpPr>
        <p:spPr>
          <a:xfrm>
            <a:off x="1028700" y="215814"/>
            <a:ext cx="8131423" cy="812886"/>
          </a:xfrm>
          <a:prstGeom prst="rect">
            <a:avLst/>
          </a:prstGeom>
        </p:spPr>
        <p:txBody>
          <a:bodyPr lIns="0" tIns="0" rIns="0" bIns="0" rtlCol="0" anchor="t">
            <a:spAutoFit/>
          </a:bodyPr>
          <a:lstStyle/>
          <a:p>
            <a:pPr algn="l">
              <a:lnSpc>
                <a:spcPts val="6645"/>
              </a:lnSpc>
              <a:spcBef>
                <a:spcPct val="0"/>
              </a:spcBef>
            </a:pPr>
            <a:r>
              <a:rPr lang="en-US" sz="4746" b="1" dirty="0">
                <a:solidFill>
                  <a:srgbClr val="FF751F"/>
                </a:solidFill>
                <a:latin typeface="Montserrat Bold"/>
                <a:ea typeface="Montserrat Bold"/>
                <a:cs typeface="Montserrat Bold"/>
                <a:sym typeface="Montserrat Bold"/>
              </a:rPr>
              <a:t>05 | </a:t>
            </a:r>
            <a:r>
              <a:rPr lang="en-US" sz="4746" b="1" dirty="0" err="1">
                <a:solidFill>
                  <a:srgbClr val="FF751F"/>
                </a:solidFill>
                <a:latin typeface="Montserrat Bold"/>
                <a:ea typeface="Montserrat Bold"/>
                <a:cs typeface="Montserrat Bold"/>
                <a:sym typeface="Montserrat Bold"/>
              </a:rPr>
              <a:t>Metodelogi</a:t>
            </a:r>
            <a:endParaRPr lang="en-US" sz="4746" b="1" dirty="0">
              <a:solidFill>
                <a:srgbClr val="FF751F"/>
              </a:solidFill>
              <a:latin typeface="Montserrat Bold"/>
              <a:ea typeface="Montserrat Bold"/>
              <a:cs typeface="Montserrat Bold"/>
              <a:sym typeface="Montserrat Bold"/>
            </a:endParaRPr>
          </a:p>
        </p:txBody>
      </p:sp>
      <p:sp>
        <p:nvSpPr>
          <p:cNvPr id="75" name="Freeform 16">
            <a:extLst>
              <a:ext uri="{FF2B5EF4-FFF2-40B4-BE49-F238E27FC236}">
                <a16:creationId xmlns:a16="http://schemas.microsoft.com/office/drawing/2014/main" id="{42DBB169-7411-2F0D-6D33-1335DA9C3733}"/>
              </a:ext>
            </a:extLst>
          </p:cNvPr>
          <p:cNvSpPr/>
          <p:nvPr/>
        </p:nvSpPr>
        <p:spPr>
          <a:xfrm>
            <a:off x="533400" y="4876506"/>
            <a:ext cx="16421099" cy="4696691"/>
          </a:xfrm>
          <a:custGeom>
            <a:avLst/>
            <a:gdLst/>
            <a:ahLst/>
            <a:cxnLst/>
            <a:rect l="l" t="t" r="r" b="b"/>
            <a:pathLst>
              <a:path w="11203811" h="6731551">
                <a:moveTo>
                  <a:pt x="0" y="0"/>
                </a:moveTo>
                <a:lnTo>
                  <a:pt x="11203811" y="0"/>
                </a:lnTo>
                <a:lnTo>
                  <a:pt x="11203811" y="6731551"/>
                </a:lnTo>
                <a:lnTo>
                  <a:pt x="0" y="6731551"/>
                </a:lnTo>
                <a:lnTo>
                  <a:pt x="0" y="0"/>
                </a:lnTo>
                <a:close/>
              </a:path>
            </a:pathLst>
          </a:custGeom>
          <a:blipFill>
            <a:blip r:embed="rId22"/>
            <a:stretch>
              <a:fillRect t="-8902" b="-1985"/>
            </a:stretch>
          </a:blipFill>
        </p:spPr>
      </p:sp>
      <p:sp>
        <p:nvSpPr>
          <p:cNvPr id="77" name="TextBox 67">
            <a:extLst>
              <a:ext uri="{FF2B5EF4-FFF2-40B4-BE49-F238E27FC236}">
                <a16:creationId xmlns:a16="http://schemas.microsoft.com/office/drawing/2014/main" id="{0B240000-E7E5-D111-BFCC-62B36194C4E1}"/>
              </a:ext>
            </a:extLst>
          </p:cNvPr>
          <p:cNvSpPr txBox="1"/>
          <p:nvPr/>
        </p:nvSpPr>
        <p:spPr>
          <a:xfrm>
            <a:off x="14318365" y="4487331"/>
            <a:ext cx="1122467" cy="108556"/>
          </a:xfrm>
          <a:prstGeom prst="rect">
            <a:avLst/>
          </a:prstGeom>
        </p:spPr>
        <p:txBody>
          <a:bodyPr lIns="0" tIns="0" rIns="0" bIns="0" rtlCol="0" anchor="t">
            <a:spAutoFit/>
          </a:bodyPr>
          <a:lstStyle/>
          <a:p>
            <a:pPr algn="ctr">
              <a:lnSpc>
                <a:spcPts val="930"/>
              </a:lnSpc>
            </a:pPr>
            <a:r>
              <a:rPr lang="en-US" sz="664" b="1" dirty="0">
                <a:solidFill>
                  <a:srgbClr val="1800AD"/>
                </a:solidFill>
                <a:latin typeface="Canva Sans Bold"/>
                <a:ea typeface="Canva Sans Bold"/>
                <a:cs typeface="Canva Sans Bold"/>
                <a:sym typeface="Canva Sans Bold"/>
              </a:rPr>
              <a:t>Human Interpretability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reeform 2"/>
          <p:cNvSpPr/>
          <p:nvPr/>
        </p:nvSpPr>
        <p:spPr>
          <a:xfrm rot="5033559" flipV="1">
            <a:off x="-7724579" y="3061834"/>
            <a:ext cx="6313412" cy="11932565"/>
          </a:xfrm>
          <a:custGeom>
            <a:avLst/>
            <a:gdLst/>
            <a:ahLst/>
            <a:cxnLst/>
            <a:rect l="l" t="t" r="r" b="b"/>
            <a:pathLst>
              <a:path w="6313412" h="11932565">
                <a:moveTo>
                  <a:pt x="0" y="11932565"/>
                </a:moveTo>
                <a:lnTo>
                  <a:pt x="6313412" y="11932565"/>
                </a:lnTo>
                <a:lnTo>
                  <a:pt x="6313412" y="0"/>
                </a:lnTo>
                <a:lnTo>
                  <a:pt x="0" y="0"/>
                </a:lnTo>
                <a:lnTo>
                  <a:pt x="0" y="11932565"/>
                </a:lnTo>
                <a:close/>
              </a:path>
            </a:pathLst>
          </a:custGeom>
          <a:blipFill>
            <a:blip r:embed="rId2">
              <a:alphaModFix amt="7999"/>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0" y="9708804"/>
            <a:ext cx="9144000" cy="560871"/>
            <a:chOff x="0" y="0"/>
            <a:chExt cx="2408296" cy="147719"/>
          </a:xfrm>
        </p:grpSpPr>
        <p:sp>
          <p:nvSpPr>
            <p:cNvPr id="4" name="Freeform 4"/>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1800AD"/>
            </a:solidFill>
          </p:spPr>
        </p:sp>
        <p:sp>
          <p:nvSpPr>
            <p:cNvPr id="5" name="TextBox 5"/>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028700" y="2479309"/>
            <a:ext cx="8115300" cy="137058"/>
            <a:chOff x="0" y="0"/>
            <a:chExt cx="2137363" cy="36097"/>
          </a:xfrm>
        </p:grpSpPr>
        <p:sp>
          <p:nvSpPr>
            <p:cNvPr id="7" name="Freeform 7"/>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FFDE59"/>
            </a:solidFill>
          </p:spPr>
        </p:sp>
        <p:sp>
          <p:nvSpPr>
            <p:cNvPr id="8" name="TextBox 8"/>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9144000" y="2479309"/>
            <a:ext cx="8115300" cy="137058"/>
            <a:chOff x="0" y="0"/>
            <a:chExt cx="2137363" cy="36097"/>
          </a:xfrm>
        </p:grpSpPr>
        <p:sp>
          <p:nvSpPr>
            <p:cNvPr id="10" name="Freeform 10"/>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1800AD"/>
            </a:solidFill>
          </p:spPr>
        </p:sp>
        <p:sp>
          <p:nvSpPr>
            <p:cNvPr id="11" name="TextBox 11"/>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sp>
        <p:nvSpPr>
          <p:cNvPr id="12" name="Freeform 12"/>
          <p:cNvSpPr/>
          <p:nvPr/>
        </p:nvSpPr>
        <p:spPr>
          <a:xfrm>
            <a:off x="15487240" y="516545"/>
            <a:ext cx="1664226" cy="1616285"/>
          </a:xfrm>
          <a:custGeom>
            <a:avLst/>
            <a:gdLst/>
            <a:ahLst/>
            <a:cxnLst/>
            <a:rect l="l" t="t" r="r" b="b"/>
            <a:pathLst>
              <a:path w="1664226" h="1616285">
                <a:moveTo>
                  <a:pt x="0" y="0"/>
                </a:moveTo>
                <a:lnTo>
                  <a:pt x="1664226" y="0"/>
                </a:lnTo>
                <a:lnTo>
                  <a:pt x="1664226" y="1616285"/>
                </a:lnTo>
                <a:lnTo>
                  <a:pt x="0" y="1616285"/>
                </a:lnTo>
                <a:lnTo>
                  <a:pt x="0" y="0"/>
                </a:lnTo>
                <a:close/>
              </a:path>
            </a:pathLst>
          </a:custGeom>
          <a:blipFill>
            <a:blip r:embed="rId4"/>
            <a:stretch>
              <a:fillRect/>
            </a:stretch>
          </a:blipFill>
        </p:spPr>
      </p:sp>
      <p:grpSp>
        <p:nvGrpSpPr>
          <p:cNvPr id="13" name="Group 13"/>
          <p:cNvGrpSpPr/>
          <p:nvPr/>
        </p:nvGrpSpPr>
        <p:grpSpPr>
          <a:xfrm>
            <a:off x="9144000" y="9708804"/>
            <a:ext cx="9144000" cy="560871"/>
            <a:chOff x="0" y="0"/>
            <a:chExt cx="2408296" cy="147719"/>
          </a:xfrm>
        </p:grpSpPr>
        <p:sp>
          <p:nvSpPr>
            <p:cNvPr id="14" name="Freeform 14"/>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FFDE59"/>
            </a:solidFill>
          </p:spPr>
        </p:sp>
        <p:sp>
          <p:nvSpPr>
            <p:cNvPr id="15" name="TextBox 15"/>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sp>
        <p:nvSpPr>
          <p:cNvPr id="16" name="Freeform 16"/>
          <p:cNvSpPr/>
          <p:nvPr/>
        </p:nvSpPr>
        <p:spPr>
          <a:xfrm>
            <a:off x="3421339" y="2796810"/>
            <a:ext cx="11203811" cy="6731551"/>
          </a:xfrm>
          <a:custGeom>
            <a:avLst/>
            <a:gdLst/>
            <a:ahLst/>
            <a:cxnLst/>
            <a:rect l="l" t="t" r="r" b="b"/>
            <a:pathLst>
              <a:path w="11203811" h="6731551">
                <a:moveTo>
                  <a:pt x="0" y="0"/>
                </a:moveTo>
                <a:lnTo>
                  <a:pt x="11203811" y="0"/>
                </a:lnTo>
                <a:lnTo>
                  <a:pt x="11203811" y="6731551"/>
                </a:lnTo>
                <a:lnTo>
                  <a:pt x="0" y="6731551"/>
                </a:lnTo>
                <a:lnTo>
                  <a:pt x="0" y="0"/>
                </a:lnTo>
                <a:close/>
              </a:path>
            </a:pathLst>
          </a:custGeom>
          <a:blipFill>
            <a:blip r:embed="rId5"/>
            <a:stretch>
              <a:fillRect t="-8902" b="-1985"/>
            </a:stretch>
          </a:blipFill>
        </p:spPr>
      </p:sp>
      <p:sp>
        <p:nvSpPr>
          <p:cNvPr id="17" name="TextBox 17"/>
          <p:cNvSpPr txBox="1"/>
          <p:nvPr/>
        </p:nvSpPr>
        <p:spPr>
          <a:xfrm>
            <a:off x="1028700" y="1200862"/>
            <a:ext cx="11742081" cy="2068060"/>
          </a:xfrm>
          <a:prstGeom prst="rect">
            <a:avLst/>
          </a:prstGeom>
        </p:spPr>
        <p:txBody>
          <a:bodyPr lIns="0" tIns="0" rIns="0" bIns="0" rtlCol="0" anchor="t">
            <a:spAutoFit/>
          </a:bodyPr>
          <a:lstStyle/>
          <a:p>
            <a:pPr algn="l">
              <a:lnSpc>
                <a:spcPts val="8300"/>
              </a:lnSpc>
            </a:pPr>
            <a:r>
              <a:rPr lang="en-US" sz="5929" b="1">
                <a:solidFill>
                  <a:srgbClr val="1800AD"/>
                </a:solidFill>
                <a:latin typeface="Archivo Narrow Bold"/>
                <a:ea typeface="Archivo Narrow Bold"/>
                <a:cs typeface="Archivo Narrow Bold"/>
                <a:sym typeface="Archivo Narrow Bold"/>
              </a:rPr>
              <a:t>Research Pipeline</a:t>
            </a:r>
          </a:p>
          <a:p>
            <a:pPr algn="l">
              <a:lnSpc>
                <a:spcPts val="8300"/>
              </a:lnSpc>
              <a:spcBef>
                <a:spcPct val="0"/>
              </a:spcBef>
            </a:pPr>
            <a:endParaRPr lang="en-US" sz="5929" b="1">
              <a:solidFill>
                <a:srgbClr val="1800AD"/>
              </a:solidFill>
              <a:latin typeface="Archivo Narrow Bold"/>
              <a:ea typeface="Archivo Narrow Bold"/>
              <a:cs typeface="Archivo Narrow Bold"/>
              <a:sym typeface="Archivo Narrow Bold"/>
            </a:endParaRPr>
          </a:p>
        </p:txBody>
      </p:sp>
      <p:sp>
        <p:nvSpPr>
          <p:cNvPr id="18" name="TextBox 18"/>
          <p:cNvSpPr txBox="1"/>
          <p:nvPr/>
        </p:nvSpPr>
        <p:spPr>
          <a:xfrm>
            <a:off x="1028700" y="215814"/>
            <a:ext cx="8131423" cy="812886"/>
          </a:xfrm>
          <a:prstGeom prst="rect">
            <a:avLst/>
          </a:prstGeom>
        </p:spPr>
        <p:txBody>
          <a:bodyPr lIns="0" tIns="0" rIns="0" bIns="0" rtlCol="0" anchor="t">
            <a:spAutoFit/>
          </a:bodyPr>
          <a:lstStyle/>
          <a:p>
            <a:pPr algn="l">
              <a:lnSpc>
                <a:spcPts val="6645"/>
              </a:lnSpc>
              <a:spcBef>
                <a:spcPct val="0"/>
              </a:spcBef>
            </a:pPr>
            <a:r>
              <a:rPr lang="en-US" sz="4746" b="1">
                <a:solidFill>
                  <a:srgbClr val="FF751F"/>
                </a:solidFill>
                <a:latin typeface="Montserrat Bold"/>
                <a:ea typeface="Montserrat Bold"/>
                <a:cs typeface="Montserrat Bold"/>
                <a:sym typeface="Montserrat Bold"/>
              </a:rPr>
              <a:t>04 | Metodelogi</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033559" flipV="1">
            <a:off x="-7724579" y="3061834"/>
            <a:ext cx="6313412" cy="11932565"/>
          </a:xfrm>
          <a:custGeom>
            <a:avLst/>
            <a:gdLst/>
            <a:ahLst/>
            <a:cxnLst/>
            <a:rect l="l" t="t" r="r" b="b"/>
            <a:pathLst>
              <a:path w="6313412" h="11932565">
                <a:moveTo>
                  <a:pt x="0" y="11932565"/>
                </a:moveTo>
                <a:lnTo>
                  <a:pt x="6313412" y="11932565"/>
                </a:lnTo>
                <a:lnTo>
                  <a:pt x="6313412" y="0"/>
                </a:lnTo>
                <a:lnTo>
                  <a:pt x="0" y="0"/>
                </a:lnTo>
                <a:lnTo>
                  <a:pt x="0" y="11932565"/>
                </a:lnTo>
                <a:close/>
              </a:path>
            </a:pathLst>
          </a:custGeom>
          <a:blipFill>
            <a:blip r:embed="rId3">
              <a:alphaModFix amt="7999"/>
              <a:extLst>
                <a:ext uri="{96DAC541-7B7A-43D3-8B79-37D633B846F1}">
                  <asvg:svgBlip xmlns:asvg="http://schemas.microsoft.com/office/drawing/2016/SVG/main" r:embed="rId4"/>
                </a:ext>
              </a:extLst>
            </a:blip>
            <a:stretch>
              <a:fillRect/>
            </a:stretch>
          </a:blipFill>
        </p:spPr>
      </p:sp>
      <p:grpSp>
        <p:nvGrpSpPr>
          <p:cNvPr id="3" name="Group 3"/>
          <p:cNvGrpSpPr/>
          <p:nvPr/>
        </p:nvGrpSpPr>
        <p:grpSpPr>
          <a:xfrm>
            <a:off x="0" y="9708804"/>
            <a:ext cx="9144000" cy="560871"/>
            <a:chOff x="0" y="0"/>
            <a:chExt cx="2408296" cy="147719"/>
          </a:xfrm>
        </p:grpSpPr>
        <p:sp>
          <p:nvSpPr>
            <p:cNvPr id="4" name="Freeform 4"/>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1800AD"/>
            </a:solidFill>
          </p:spPr>
        </p:sp>
        <p:sp>
          <p:nvSpPr>
            <p:cNvPr id="5" name="TextBox 5"/>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028700" y="2479309"/>
            <a:ext cx="8115300" cy="137058"/>
            <a:chOff x="0" y="0"/>
            <a:chExt cx="2137363" cy="36097"/>
          </a:xfrm>
        </p:grpSpPr>
        <p:sp>
          <p:nvSpPr>
            <p:cNvPr id="7" name="Freeform 7"/>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FFDE59"/>
            </a:solidFill>
          </p:spPr>
        </p:sp>
        <p:sp>
          <p:nvSpPr>
            <p:cNvPr id="8" name="TextBox 8"/>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9144000" y="2479309"/>
            <a:ext cx="8115300" cy="137058"/>
            <a:chOff x="0" y="0"/>
            <a:chExt cx="2137363" cy="36097"/>
          </a:xfrm>
        </p:grpSpPr>
        <p:sp>
          <p:nvSpPr>
            <p:cNvPr id="10" name="Freeform 10"/>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1800AD"/>
            </a:solidFill>
          </p:spPr>
        </p:sp>
        <p:sp>
          <p:nvSpPr>
            <p:cNvPr id="11" name="TextBox 11"/>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sp>
        <p:nvSpPr>
          <p:cNvPr id="12" name="Freeform 12"/>
          <p:cNvSpPr/>
          <p:nvPr/>
        </p:nvSpPr>
        <p:spPr>
          <a:xfrm>
            <a:off x="15487240" y="516545"/>
            <a:ext cx="1664226" cy="1616285"/>
          </a:xfrm>
          <a:custGeom>
            <a:avLst/>
            <a:gdLst/>
            <a:ahLst/>
            <a:cxnLst/>
            <a:rect l="l" t="t" r="r" b="b"/>
            <a:pathLst>
              <a:path w="1664226" h="1616285">
                <a:moveTo>
                  <a:pt x="0" y="0"/>
                </a:moveTo>
                <a:lnTo>
                  <a:pt x="1664226" y="0"/>
                </a:lnTo>
                <a:lnTo>
                  <a:pt x="1664226" y="1616285"/>
                </a:lnTo>
                <a:lnTo>
                  <a:pt x="0" y="1616285"/>
                </a:lnTo>
                <a:lnTo>
                  <a:pt x="0" y="0"/>
                </a:lnTo>
                <a:close/>
              </a:path>
            </a:pathLst>
          </a:custGeom>
          <a:blipFill>
            <a:blip r:embed="rId5"/>
            <a:stretch>
              <a:fillRect/>
            </a:stretch>
          </a:blipFill>
        </p:spPr>
      </p:sp>
      <p:grpSp>
        <p:nvGrpSpPr>
          <p:cNvPr id="13" name="Group 13"/>
          <p:cNvGrpSpPr/>
          <p:nvPr/>
        </p:nvGrpSpPr>
        <p:grpSpPr>
          <a:xfrm>
            <a:off x="9144000" y="9708804"/>
            <a:ext cx="9144000" cy="560871"/>
            <a:chOff x="0" y="0"/>
            <a:chExt cx="2408296" cy="147719"/>
          </a:xfrm>
        </p:grpSpPr>
        <p:sp>
          <p:nvSpPr>
            <p:cNvPr id="14" name="Freeform 14"/>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FFDE59"/>
            </a:solidFill>
          </p:spPr>
        </p:sp>
        <p:sp>
          <p:nvSpPr>
            <p:cNvPr id="15" name="TextBox 15"/>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1028700" y="2866368"/>
            <a:ext cx="7204666" cy="801526"/>
            <a:chOff x="0" y="0"/>
            <a:chExt cx="2773450" cy="308549"/>
          </a:xfrm>
        </p:grpSpPr>
        <p:sp>
          <p:nvSpPr>
            <p:cNvPr id="17" name="Freeform 17"/>
            <p:cNvSpPr/>
            <p:nvPr/>
          </p:nvSpPr>
          <p:spPr>
            <a:xfrm>
              <a:off x="0" y="0"/>
              <a:ext cx="2773450" cy="308549"/>
            </a:xfrm>
            <a:custGeom>
              <a:avLst/>
              <a:gdLst/>
              <a:ahLst/>
              <a:cxnLst/>
              <a:rect l="l" t="t" r="r" b="b"/>
              <a:pathLst>
                <a:path w="2773450" h="308549">
                  <a:moveTo>
                    <a:pt x="27939" y="0"/>
                  </a:moveTo>
                  <a:lnTo>
                    <a:pt x="2745511" y="0"/>
                  </a:lnTo>
                  <a:cubicBezTo>
                    <a:pt x="2760941" y="0"/>
                    <a:pt x="2773450" y="12509"/>
                    <a:pt x="2773450" y="27939"/>
                  </a:cubicBezTo>
                  <a:lnTo>
                    <a:pt x="2773450" y="280610"/>
                  </a:lnTo>
                  <a:cubicBezTo>
                    <a:pt x="2773450" y="288020"/>
                    <a:pt x="2770506" y="295126"/>
                    <a:pt x="2765267" y="300366"/>
                  </a:cubicBezTo>
                  <a:cubicBezTo>
                    <a:pt x="2760027" y="305605"/>
                    <a:pt x="2752921" y="308549"/>
                    <a:pt x="2745511" y="308549"/>
                  </a:cubicBezTo>
                  <a:lnTo>
                    <a:pt x="27939" y="308549"/>
                  </a:lnTo>
                  <a:cubicBezTo>
                    <a:pt x="20529" y="308549"/>
                    <a:pt x="13423" y="305605"/>
                    <a:pt x="8183" y="300366"/>
                  </a:cubicBezTo>
                  <a:cubicBezTo>
                    <a:pt x="2944" y="295126"/>
                    <a:pt x="0" y="288020"/>
                    <a:pt x="0" y="280610"/>
                  </a:cubicBezTo>
                  <a:lnTo>
                    <a:pt x="0" y="27939"/>
                  </a:lnTo>
                  <a:cubicBezTo>
                    <a:pt x="0" y="20529"/>
                    <a:pt x="2944" y="13423"/>
                    <a:pt x="8183" y="8183"/>
                  </a:cubicBezTo>
                  <a:cubicBezTo>
                    <a:pt x="13423" y="2944"/>
                    <a:pt x="20529" y="0"/>
                    <a:pt x="27939" y="0"/>
                  </a:cubicBezTo>
                  <a:close/>
                </a:path>
              </a:pathLst>
            </a:custGeom>
            <a:solidFill>
              <a:srgbClr val="FFFFFF"/>
            </a:solidFill>
            <a:ln w="38100" cap="rnd">
              <a:solidFill>
                <a:srgbClr val="00BF63"/>
              </a:solidFill>
              <a:prstDash val="solid"/>
              <a:round/>
            </a:ln>
          </p:spPr>
        </p:sp>
        <p:sp>
          <p:nvSpPr>
            <p:cNvPr id="18" name="TextBox 18"/>
            <p:cNvSpPr txBox="1"/>
            <p:nvPr/>
          </p:nvSpPr>
          <p:spPr>
            <a:xfrm>
              <a:off x="0" y="-47625"/>
              <a:ext cx="2773450" cy="356174"/>
            </a:xfrm>
            <a:prstGeom prst="rect">
              <a:avLst/>
            </a:prstGeom>
          </p:spPr>
          <p:txBody>
            <a:bodyPr lIns="34756" tIns="34756" rIns="34756" bIns="34756" rtlCol="0" anchor="ctr"/>
            <a:lstStyle/>
            <a:p>
              <a:pPr algn="ctr">
                <a:lnSpc>
                  <a:spcPts val="2659"/>
                </a:lnSpc>
              </a:pPr>
              <a:endParaRPr/>
            </a:p>
          </p:txBody>
        </p:sp>
      </p:grpSp>
      <p:sp>
        <p:nvSpPr>
          <p:cNvPr id="19" name="Freeform 19"/>
          <p:cNvSpPr/>
          <p:nvPr/>
        </p:nvSpPr>
        <p:spPr>
          <a:xfrm>
            <a:off x="1156363" y="2946551"/>
            <a:ext cx="671693" cy="641162"/>
          </a:xfrm>
          <a:custGeom>
            <a:avLst/>
            <a:gdLst/>
            <a:ahLst/>
            <a:cxnLst/>
            <a:rect l="l" t="t" r="r" b="b"/>
            <a:pathLst>
              <a:path w="671693" h="641162">
                <a:moveTo>
                  <a:pt x="0" y="0"/>
                </a:moveTo>
                <a:lnTo>
                  <a:pt x="671693" y="0"/>
                </a:lnTo>
                <a:lnTo>
                  <a:pt x="671693" y="641161"/>
                </a:lnTo>
                <a:lnTo>
                  <a:pt x="0" y="64116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20" name="Group 20"/>
          <p:cNvGrpSpPr/>
          <p:nvPr/>
        </p:nvGrpSpPr>
        <p:grpSpPr>
          <a:xfrm>
            <a:off x="9144000" y="2866368"/>
            <a:ext cx="8115300" cy="801526"/>
            <a:chOff x="0" y="0"/>
            <a:chExt cx="3124000" cy="308549"/>
          </a:xfrm>
        </p:grpSpPr>
        <p:sp>
          <p:nvSpPr>
            <p:cNvPr id="21" name="Freeform 21"/>
            <p:cNvSpPr/>
            <p:nvPr/>
          </p:nvSpPr>
          <p:spPr>
            <a:xfrm>
              <a:off x="0" y="0"/>
              <a:ext cx="3124000" cy="308549"/>
            </a:xfrm>
            <a:custGeom>
              <a:avLst/>
              <a:gdLst/>
              <a:ahLst/>
              <a:cxnLst/>
              <a:rect l="l" t="t" r="r" b="b"/>
              <a:pathLst>
                <a:path w="3124000" h="308549">
                  <a:moveTo>
                    <a:pt x="24804" y="0"/>
                  </a:moveTo>
                  <a:lnTo>
                    <a:pt x="3099196" y="0"/>
                  </a:lnTo>
                  <a:cubicBezTo>
                    <a:pt x="3105775" y="0"/>
                    <a:pt x="3112083" y="2613"/>
                    <a:pt x="3116735" y="7265"/>
                  </a:cubicBezTo>
                  <a:cubicBezTo>
                    <a:pt x="3121387" y="11916"/>
                    <a:pt x="3124000" y="18225"/>
                    <a:pt x="3124000" y="24804"/>
                  </a:cubicBezTo>
                  <a:lnTo>
                    <a:pt x="3124000" y="283745"/>
                  </a:lnTo>
                  <a:cubicBezTo>
                    <a:pt x="3124000" y="290324"/>
                    <a:pt x="3121387" y="296633"/>
                    <a:pt x="3116735" y="301284"/>
                  </a:cubicBezTo>
                  <a:cubicBezTo>
                    <a:pt x="3112083" y="305936"/>
                    <a:pt x="3105775" y="308549"/>
                    <a:pt x="3099196" y="308549"/>
                  </a:cubicBezTo>
                  <a:lnTo>
                    <a:pt x="24804" y="308549"/>
                  </a:lnTo>
                  <a:cubicBezTo>
                    <a:pt x="18225" y="308549"/>
                    <a:pt x="11916" y="305936"/>
                    <a:pt x="7265" y="301284"/>
                  </a:cubicBezTo>
                  <a:cubicBezTo>
                    <a:pt x="2613" y="296633"/>
                    <a:pt x="0" y="290324"/>
                    <a:pt x="0" y="283745"/>
                  </a:cubicBezTo>
                  <a:lnTo>
                    <a:pt x="0" y="24804"/>
                  </a:lnTo>
                  <a:cubicBezTo>
                    <a:pt x="0" y="18225"/>
                    <a:pt x="2613" y="11916"/>
                    <a:pt x="7265" y="7265"/>
                  </a:cubicBezTo>
                  <a:cubicBezTo>
                    <a:pt x="11916" y="2613"/>
                    <a:pt x="18225" y="0"/>
                    <a:pt x="24804" y="0"/>
                  </a:cubicBezTo>
                  <a:close/>
                </a:path>
              </a:pathLst>
            </a:custGeom>
            <a:solidFill>
              <a:srgbClr val="FFFFFF"/>
            </a:solidFill>
            <a:ln w="38100" cap="rnd">
              <a:solidFill>
                <a:srgbClr val="00BF63"/>
              </a:solidFill>
              <a:prstDash val="solid"/>
              <a:round/>
            </a:ln>
          </p:spPr>
        </p:sp>
        <p:sp>
          <p:nvSpPr>
            <p:cNvPr id="22" name="TextBox 22"/>
            <p:cNvSpPr txBox="1"/>
            <p:nvPr/>
          </p:nvSpPr>
          <p:spPr>
            <a:xfrm>
              <a:off x="0" y="-47625"/>
              <a:ext cx="3124000" cy="356174"/>
            </a:xfrm>
            <a:prstGeom prst="rect">
              <a:avLst/>
            </a:prstGeom>
          </p:spPr>
          <p:txBody>
            <a:bodyPr lIns="34756" tIns="34756" rIns="34756" bIns="34756" rtlCol="0" anchor="ctr"/>
            <a:lstStyle/>
            <a:p>
              <a:pPr algn="ctr">
                <a:lnSpc>
                  <a:spcPts val="2659"/>
                </a:lnSpc>
              </a:pPr>
              <a:endParaRPr/>
            </a:p>
          </p:txBody>
        </p:sp>
      </p:grpSp>
      <p:sp>
        <p:nvSpPr>
          <p:cNvPr id="23" name="Freeform 23"/>
          <p:cNvSpPr/>
          <p:nvPr/>
        </p:nvSpPr>
        <p:spPr>
          <a:xfrm>
            <a:off x="9415186" y="2946551"/>
            <a:ext cx="671693" cy="641162"/>
          </a:xfrm>
          <a:custGeom>
            <a:avLst/>
            <a:gdLst/>
            <a:ahLst/>
            <a:cxnLst/>
            <a:rect l="l" t="t" r="r" b="b"/>
            <a:pathLst>
              <a:path w="671693" h="641162">
                <a:moveTo>
                  <a:pt x="0" y="0"/>
                </a:moveTo>
                <a:lnTo>
                  <a:pt x="671693" y="0"/>
                </a:lnTo>
                <a:lnTo>
                  <a:pt x="671693" y="641161"/>
                </a:lnTo>
                <a:lnTo>
                  <a:pt x="0" y="64116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24" name="Group 24"/>
          <p:cNvGrpSpPr/>
          <p:nvPr/>
        </p:nvGrpSpPr>
        <p:grpSpPr>
          <a:xfrm>
            <a:off x="8447614" y="3091555"/>
            <a:ext cx="482138" cy="482138"/>
            <a:chOff x="0" y="0"/>
            <a:chExt cx="812800" cy="812800"/>
          </a:xfrm>
        </p:grpSpPr>
        <p:sp>
          <p:nvSpPr>
            <p:cNvPr id="25" name="Freeform 25"/>
            <p:cNvSpPr/>
            <p:nvPr/>
          </p:nvSpPr>
          <p:spPr>
            <a:xfrm>
              <a:off x="0" y="0"/>
              <a:ext cx="812800" cy="812800"/>
            </a:xfrm>
            <a:custGeom>
              <a:avLst/>
              <a:gdLst/>
              <a:ahLst/>
              <a:cxnLst/>
              <a:rect l="l" t="t" r="r" b="b"/>
              <a:pathLst>
                <a:path w="812800" h="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FFFFFF"/>
            </a:solidFill>
            <a:ln w="38100" cap="sq">
              <a:solidFill>
                <a:srgbClr val="00BF63"/>
              </a:solidFill>
              <a:prstDash val="solid"/>
              <a:miter/>
            </a:ln>
          </p:spPr>
        </p:sp>
        <p:sp>
          <p:nvSpPr>
            <p:cNvPr id="26" name="TextBox 26"/>
            <p:cNvSpPr txBox="1"/>
            <p:nvPr/>
          </p:nvSpPr>
          <p:spPr>
            <a:xfrm>
              <a:off x="0" y="155575"/>
              <a:ext cx="711200" cy="454025"/>
            </a:xfrm>
            <a:prstGeom prst="rect">
              <a:avLst/>
            </a:prstGeom>
          </p:spPr>
          <p:txBody>
            <a:bodyPr lIns="50800" tIns="50800" rIns="50800" bIns="50800" rtlCol="0" anchor="ctr"/>
            <a:lstStyle/>
            <a:p>
              <a:pPr algn="ctr">
                <a:lnSpc>
                  <a:spcPts val="2659"/>
                </a:lnSpc>
              </a:pPr>
              <a:endParaRPr/>
            </a:p>
          </p:txBody>
        </p:sp>
      </p:grpSp>
      <p:grpSp>
        <p:nvGrpSpPr>
          <p:cNvPr id="27" name="Group 27"/>
          <p:cNvGrpSpPr/>
          <p:nvPr/>
        </p:nvGrpSpPr>
        <p:grpSpPr>
          <a:xfrm>
            <a:off x="1156363" y="3906020"/>
            <a:ext cx="4065711" cy="1980318"/>
            <a:chOff x="0" y="0"/>
            <a:chExt cx="1565103" cy="762327"/>
          </a:xfrm>
        </p:grpSpPr>
        <p:sp>
          <p:nvSpPr>
            <p:cNvPr id="28" name="Freeform 28"/>
            <p:cNvSpPr/>
            <p:nvPr/>
          </p:nvSpPr>
          <p:spPr>
            <a:xfrm>
              <a:off x="0" y="0"/>
              <a:ext cx="1565103" cy="762327"/>
            </a:xfrm>
            <a:custGeom>
              <a:avLst/>
              <a:gdLst/>
              <a:ahLst/>
              <a:cxnLst/>
              <a:rect l="l" t="t" r="r" b="b"/>
              <a:pathLst>
                <a:path w="1565103" h="762327">
                  <a:moveTo>
                    <a:pt x="49509" y="0"/>
                  </a:moveTo>
                  <a:lnTo>
                    <a:pt x="1515594" y="0"/>
                  </a:lnTo>
                  <a:cubicBezTo>
                    <a:pt x="1542937" y="0"/>
                    <a:pt x="1565103" y="22166"/>
                    <a:pt x="1565103" y="49509"/>
                  </a:cubicBezTo>
                  <a:lnTo>
                    <a:pt x="1565103" y="712818"/>
                  </a:lnTo>
                  <a:cubicBezTo>
                    <a:pt x="1565103" y="740161"/>
                    <a:pt x="1542937" y="762327"/>
                    <a:pt x="1515594" y="762327"/>
                  </a:cubicBezTo>
                  <a:lnTo>
                    <a:pt x="49509" y="762327"/>
                  </a:lnTo>
                  <a:cubicBezTo>
                    <a:pt x="22166" y="762327"/>
                    <a:pt x="0" y="740161"/>
                    <a:pt x="0" y="712818"/>
                  </a:cubicBezTo>
                  <a:lnTo>
                    <a:pt x="0" y="49509"/>
                  </a:lnTo>
                  <a:cubicBezTo>
                    <a:pt x="0" y="22166"/>
                    <a:pt x="22166" y="0"/>
                    <a:pt x="49509" y="0"/>
                  </a:cubicBezTo>
                  <a:close/>
                </a:path>
              </a:pathLst>
            </a:custGeom>
            <a:solidFill>
              <a:srgbClr val="FFFFFF"/>
            </a:solidFill>
            <a:ln w="38100" cap="rnd">
              <a:solidFill>
                <a:srgbClr val="00BF63"/>
              </a:solidFill>
              <a:prstDash val="solid"/>
              <a:round/>
            </a:ln>
          </p:spPr>
        </p:sp>
        <p:sp>
          <p:nvSpPr>
            <p:cNvPr id="29" name="TextBox 29"/>
            <p:cNvSpPr txBox="1"/>
            <p:nvPr/>
          </p:nvSpPr>
          <p:spPr>
            <a:xfrm>
              <a:off x="0" y="-47625"/>
              <a:ext cx="1565103" cy="809952"/>
            </a:xfrm>
            <a:prstGeom prst="rect">
              <a:avLst/>
            </a:prstGeom>
          </p:spPr>
          <p:txBody>
            <a:bodyPr lIns="34756" tIns="34756" rIns="34756" bIns="34756" rtlCol="0" anchor="ctr"/>
            <a:lstStyle/>
            <a:p>
              <a:pPr algn="ctr">
                <a:lnSpc>
                  <a:spcPts val="2659"/>
                </a:lnSpc>
              </a:pPr>
              <a:endParaRPr/>
            </a:p>
          </p:txBody>
        </p:sp>
      </p:grpSp>
      <p:grpSp>
        <p:nvGrpSpPr>
          <p:cNvPr id="30" name="Group 30"/>
          <p:cNvGrpSpPr/>
          <p:nvPr/>
        </p:nvGrpSpPr>
        <p:grpSpPr>
          <a:xfrm>
            <a:off x="5501523" y="3906020"/>
            <a:ext cx="4065711" cy="1980318"/>
            <a:chOff x="0" y="0"/>
            <a:chExt cx="1565103" cy="762327"/>
          </a:xfrm>
        </p:grpSpPr>
        <p:sp>
          <p:nvSpPr>
            <p:cNvPr id="31" name="Freeform 31"/>
            <p:cNvSpPr/>
            <p:nvPr/>
          </p:nvSpPr>
          <p:spPr>
            <a:xfrm>
              <a:off x="0" y="0"/>
              <a:ext cx="1565103" cy="762327"/>
            </a:xfrm>
            <a:custGeom>
              <a:avLst/>
              <a:gdLst/>
              <a:ahLst/>
              <a:cxnLst/>
              <a:rect l="l" t="t" r="r" b="b"/>
              <a:pathLst>
                <a:path w="1565103" h="762327">
                  <a:moveTo>
                    <a:pt x="49509" y="0"/>
                  </a:moveTo>
                  <a:lnTo>
                    <a:pt x="1515594" y="0"/>
                  </a:lnTo>
                  <a:cubicBezTo>
                    <a:pt x="1542937" y="0"/>
                    <a:pt x="1565103" y="22166"/>
                    <a:pt x="1565103" y="49509"/>
                  </a:cubicBezTo>
                  <a:lnTo>
                    <a:pt x="1565103" y="712818"/>
                  </a:lnTo>
                  <a:cubicBezTo>
                    <a:pt x="1565103" y="740161"/>
                    <a:pt x="1542937" y="762327"/>
                    <a:pt x="1515594" y="762327"/>
                  </a:cubicBezTo>
                  <a:lnTo>
                    <a:pt x="49509" y="762327"/>
                  </a:lnTo>
                  <a:cubicBezTo>
                    <a:pt x="22166" y="762327"/>
                    <a:pt x="0" y="740161"/>
                    <a:pt x="0" y="712818"/>
                  </a:cubicBezTo>
                  <a:lnTo>
                    <a:pt x="0" y="49509"/>
                  </a:lnTo>
                  <a:cubicBezTo>
                    <a:pt x="0" y="22166"/>
                    <a:pt x="22166" y="0"/>
                    <a:pt x="49509" y="0"/>
                  </a:cubicBezTo>
                  <a:close/>
                </a:path>
              </a:pathLst>
            </a:custGeom>
            <a:solidFill>
              <a:srgbClr val="FFFFFF"/>
            </a:solidFill>
            <a:ln w="38100" cap="rnd">
              <a:solidFill>
                <a:srgbClr val="00BF63"/>
              </a:solidFill>
              <a:prstDash val="solid"/>
              <a:round/>
            </a:ln>
          </p:spPr>
        </p:sp>
        <p:sp>
          <p:nvSpPr>
            <p:cNvPr id="32" name="TextBox 32"/>
            <p:cNvSpPr txBox="1"/>
            <p:nvPr/>
          </p:nvSpPr>
          <p:spPr>
            <a:xfrm>
              <a:off x="0" y="-47625"/>
              <a:ext cx="1565103" cy="809952"/>
            </a:xfrm>
            <a:prstGeom prst="rect">
              <a:avLst/>
            </a:prstGeom>
          </p:spPr>
          <p:txBody>
            <a:bodyPr lIns="34756" tIns="34756" rIns="34756" bIns="34756" rtlCol="0" anchor="ctr"/>
            <a:lstStyle/>
            <a:p>
              <a:pPr algn="ctr">
                <a:lnSpc>
                  <a:spcPts val="2659"/>
                </a:lnSpc>
              </a:pPr>
              <a:endParaRPr/>
            </a:p>
          </p:txBody>
        </p:sp>
      </p:grpSp>
      <p:grpSp>
        <p:nvGrpSpPr>
          <p:cNvPr id="33" name="Group 33"/>
          <p:cNvGrpSpPr/>
          <p:nvPr/>
        </p:nvGrpSpPr>
        <p:grpSpPr>
          <a:xfrm>
            <a:off x="9586604" y="3906020"/>
            <a:ext cx="4065711" cy="1980318"/>
            <a:chOff x="0" y="0"/>
            <a:chExt cx="1565103" cy="762327"/>
          </a:xfrm>
        </p:grpSpPr>
        <p:sp>
          <p:nvSpPr>
            <p:cNvPr id="34" name="Freeform 34"/>
            <p:cNvSpPr/>
            <p:nvPr/>
          </p:nvSpPr>
          <p:spPr>
            <a:xfrm>
              <a:off x="0" y="0"/>
              <a:ext cx="1565103" cy="762327"/>
            </a:xfrm>
            <a:custGeom>
              <a:avLst/>
              <a:gdLst/>
              <a:ahLst/>
              <a:cxnLst/>
              <a:rect l="l" t="t" r="r" b="b"/>
              <a:pathLst>
                <a:path w="1565103" h="762327">
                  <a:moveTo>
                    <a:pt x="49509" y="0"/>
                  </a:moveTo>
                  <a:lnTo>
                    <a:pt x="1515594" y="0"/>
                  </a:lnTo>
                  <a:cubicBezTo>
                    <a:pt x="1542937" y="0"/>
                    <a:pt x="1565103" y="22166"/>
                    <a:pt x="1565103" y="49509"/>
                  </a:cubicBezTo>
                  <a:lnTo>
                    <a:pt x="1565103" y="712818"/>
                  </a:lnTo>
                  <a:cubicBezTo>
                    <a:pt x="1565103" y="740161"/>
                    <a:pt x="1542937" y="762327"/>
                    <a:pt x="1515594" y="762327"/>
                  </a:cubicBezTo>
                  <a:lnTo>
                    <a:pt x="49509" y="762327"/>
                  </a:lnTo>
                  <a:cubicBezTo>
                    <a:pt x="22166" y="762327"/>
                    <a:pt x="0" y="740161"/>
                    <a:pt x="0" y="712818"/>
                  </a:cubicBezTo>
                  <a:lnTo>
                    <a:pt x="0" y="49509"/>
                  </a:lnTo>
                  <a:cubicBezTo>
                    <a:pt x="0" y="22166"/>
                    <a:pt x="22166" y="0"/>
                    <a:pt x="49509" y="0"/>
                  </a:cubicBezTo>
                  <a:close/>
                </a:path>
              </a:pathLst>
            </a:custGeom>
            <a:solidFill>
              <a:srgbClr val="FFFFFF"/>
            </a:solidFill>
            <a:ln w="38100" cap="rnd">
              <a:solidFill>
                <a:srgbClr val="00BF63"/>
              </a:solidFill>
              <a:prstDash val="solid"/>
              <a:round/>
            </a:ln>
          </p:spPr>
        </p:sp>
        <p:sp>
          <p:nvSpPr>
            <p:cNvPr id="35" name="TextBox 35"/>
            <p:cNvSpPr txBox="1"/>
            <p:nvPr/>
          </p:nvSpPr>
          <p:spPr>
            <a:xfrm>
              <a:off x="0" y="-47625"/>
              <a:ext cx="1565103" cy="809952"/>
            </a:xfrm>
            <a:prstGeom prst="rect">
              <a:avLst/>
            </a:prstGeom>
          </p:spPr>
          <p:txBody>
            <a:bodyPr lIns="34756" tIns="34756" rIns="34756" bIns="34756" rtlCol="0" anchor="ctr"/>
            <a:lstStyle/>
            <a:p>
              <a:pPr algn="ctr">
                <a:lnSpc>
                  <a:spcPts val="2659"/>
                </a:lnSpc>
              </a:pPr>
              <a:endParaRPr/>
            </a:p>
          </p:txBody>
        </p:sp>
      </p:grpSp>
      <p:grpSp>
        <p:nvGrpSpPr>
          <p:cNvPr id="36" name="Group 36"/>
          <p:cNvGrpSpPr/>
          <p:nvPr/>
        </p:nvGrpSpPr>
        <p:grpSpPr>
          <a:xfrm>
            <a:off x="13801725" y="3906020"/>
            <a:ext cx="3457575" cy="1980318"/>
            <a:chOff x="0" y="0"/>
            <a:chExt cx="1331000" cy="762327"/>
          </a:xfrm>
        </p:grpSpPr>
        <p:sp>
          <p:nvSpPr>
            <p:cNvPr id="37" name="Freeform 37"/>
            <p:cNvSpPr/>
            <p:nvPr/>
          </p:nvSpPr>
          <p:spPr>
            <a:xfrm>
              <a:off x="0" y="0"/>
              <a:ext cx="1331000" cy="762327"/>
            </a:xfrm>
            <a:custGeom>
              <a:avLst/>
              <a:gdLst/>
              <a:ahLst/>
              <a:cxnLst/>
              <a:rect l="l" t="t" r="r" b="b"/>
              <a:pathLst>
                <a:path w="1331000" h="762327">
                  <a:moveTo>
                    <a:pt x="58217" y="0"/>
                  </a:moveTo>
                  <a:lnTo>
                    <a:pt x="1272783" y="0"/>
                  </a:lnTo>
                  <a:cubicBezTo>
                    <a:pt x="1304935" y="0"/>
                    <a:pt x="1331000" y="26065"/>
                    <a:pt x="1331000" y="58217"/>
                  </a:cubicBezTo>
                  <a:lnTo>
                    <a:pt x="1331000" y="704110"/>
                  </a:lnTo>
                  <a:cubicBezTo>
                    <a:pt x="1331000" y="719550"/>
                    <a:pt x="1324867" y="734358"/>
                    <a:pt x="1313949" y="745276"/>
                  </a:cubicBezTo>
                  <a:cubicBezTo>
                    <a:pt x="1303031" y="756194"/>
                    <a:pt x="1288223" y="762327"/>
                    <a:pt x="1272783" y="762327"/>
                  </a:cubicBezTo>
                  <a:lnTo>
                    <a:pt x="58217" y="762327"/>
                  </a:lnTo>
                  <a:cubicBezTo>
                    <a:pt x="26065" y="762327"/>
                    <a:pt x="0" y="736263"/>
                    <a:pt x="0" y="704110"/>
                  </a:cubicBezTo>
                  <a:lnTo>
                    <a:pt x="0" y="58217"/>
                  </a:lnTo>
                  <a:cubicBezTo>
                    <a:pt x="0" y="26065"/>
                    <a:pt x="26065" y="0"/>
                    <a:pt x="58217" y="0"/>
                  </a:cubicBezTo>
                  <a:close/>
                </a:path>
              </a:pathLst>
            </a:custGeom>
            <a:solidFill>
              <a:srgbClr val="FFFFFF"/>
            </a:solidFill>
            <a:ln w="38100" cap="rnd">
              <a:solidFill>
                <a:srgbClr val="00BF63"/>
              </a:solidFill>
              <a:prstDash val="solid"/>
              <a:round/>
            </a:ln>
          </p:spPr>
        </p:sp>
        <p:sp>
          <p:nvSpPr>
            <p:cNvPr id="38" name="TextBox 38"/>
            <p:cNvSpPr txBox="1"/>
            <p:nvPr/>
          </p:nvSpPr>
          <p:spPr>
            <a:xfrm>
              <a:off x="0" y="-47625"/>
              <a:ext cx="1331000" cy="809952"/>
            </a:xfrm>
            <a:prstGeom prst="rect">
              <a:avLst/>
            </a:prstGeom>
          </p:spPr>
          <p:txBody>
            <a:bodyPr lIns="34756" tIns="34756" rIns="34756" bIns="34756" rtlCol="0" anchor="ctr"/>
            <a:lstStyle/>
            <a:p>
              <a:pPr algn="ctr">
                <a:lnSpc>
                  <a:spcPts val="2659"/>
                </a:lnSpc>
              </a:pPr>
              <a:endParaRPr/>
            </a:p>
          </p:txBody>
        </p:sp>
      </p:grpSp>
      <p:graphicFrame>
        <p:nvGraphicFramePr>
          <p:cNvPr id="39" name="Table 39"/>
          <p:cNvGraphicFramePr>
            <a:graphicFrameLocks noGrp="1"/>
          </p:cNvGraphicFramePr>
          <p:nvPr/>
        </p:nvGraphicFramePr>
        <p:xfrm>
          <a:off x="3189219" y="6298576"/>
          <a:ext cx="11077473" cy="3124200"/>
        </p:xfrm>
        <a:graphic>
          <a:graphicData uri="http://schemas.openxmlformats.org/drawingml/2006/table">
            <a:tbl>
              <a:tblPr/>
              <a:tblGrid>
                <a:gridCol w="2075514">
                  <a:extLst>
                    <a:ext uri="{9D8B030D-6E8A-4147-A177-3AD203B41FA5}">
                      <a16:colId xmlns:a16="http://schemas.microsoft.com/office/drawing/2014/main" val="20000"/>
                    </a:ext>
                  </a:extLst>
                </a:gridCol>
                <a:gridCol w="2075514">
                  <a:extLst>
                    <a:ext uri="{9D8B030D-6E8A-4147-A177-3AD203B41FA5}">
                      <a16:colId xmlns:a16="http://schemas.microsoft.com/office/drawing/2014/main" val="20001"/>
                    </a:ext>
                  </a:extLst>
                </a:gridCol>
                <a:gridCol w="6926445">
                  <a:extLst>
                    <a:ext uri="{9D8B030D-6E8A-4147-A177-3AD203B41FA5}">
                      <a16:colId xmlns:a16="http://schemas.microsoft.com/office/drawing/2014/main" val="20002"/>
                    </a:ext>
                  </a:extLst>
                </a:gridCol>
              </a:tblGrid>
              <a:tr h="781050">
                <a:tc>
                  <a:txBody>
                    <a:bodyPr/>
                    <a:lstStyle/>
                    <a:p>
                      <a:pPr algn="ctr">
                        <a:lnSpc>
                          <a:spcPts val="2659"/>
                        </a:lnSpc>
                        <a:defRPr/>
                      </a:pPr>
                      <a:r>
                        <a:rPr lang="en-US" sz="1899">
                          <a:solidFill>
                            <a:srgbClr val="000000"/>
                          </a:solidFill>
                          <a:latin typeface="Antic Bold"/>
                          <a:ea typeface="Antic Bold"/>
                          <a:cs typeface="Antic Bold"/>
                          <a:sym typeface="Antic Bold"/>
                        </a:rPr>
                        <a:t>Kolom</a:t>
                      </a:r>
                      <a:endParaRPr lang="en-US" sz="1100"/>
                    </a:p>
                  </a:txBody>
                  <a:tcPr marL="190500" marR="190500" marT="190500" marB="190500" anchor="ctr">
                    <a:lnL w="38100" cap="flat" cmpd="sng" algn="ctr">
                      <a:solidFill>
                        <a:srgbClr val="FFD699"/>
                      </a:solidFill>
                      <a:prstDash val="solid"/>
                      <a:round/>
                      <a:headEnd type="none" w="med" len="med"/>
                      <a:tailEnd type="none" w="med" len="med"/>
                    </a:lnL>
                    <a:lnR w="38100" cap="flat" cmpd="sng" algn="ctr">
                      <a:solidFill>
                        <a:srgbClr val="FFD699"/>
                      </a:solidFill>
                      <a:prstDash val="solid"/>
                      <a:round/>
                      <a:headEnd type="none" w="med" len="med"/>
                      <a:tailEnd type="none" w="med" len="med"/>
                    </a:lnR>
                    <a:lnT w="38100" cap="flat" cmpd="sng" algn="ctr">
                      <a:solidFill>
                        <a:srgbClr val="FFD699"/>
                      </a:solidFill>
                      <a:prstDash val="solid"/>
                      <a:round/>
                      <a:headEnd type="none" w="med" len="med"/>
                      <a:tailEnd type="none" w="med" len="med"/>
                    </a:lnT>
                    <a:lnB w="38100" cap="flat" cmpd="sng" algn="ctr">
                      <a:solidFill>
                        <a:srgbClr val="FFD699"/>
                      </a:solidFill>
                      <a:prstDash val="solid"/>
                      <a:round/>
                      <a:headEnd type="none" w="med" len="med"/>
                      <a:tailEnd type="none" w="med" len="med"/>
                    </a:lnB>
                    <a:solidFill>
                      <a:srgbClr val="7ED957"/>
                    </a:solidFill>
                  </a:tcPr>
                </a:tc>
                <a:tc>
                  <a:txBody>
                    <a:bodyPr/>
                    <a:lstStyle/>
                    <a:p>
                      <a:pPr algn="ctr">
                        <a:lnSpc>
                          <a:spcPts val="2659"/>
                        </a:lnSpc>
                        <a:defRPr/>
                      </a:pPr>
                      <a:r>
                        <a:rPr lang="en-US" sz="1899">
                          <a:solidFill>
                            <a:srgbClr val="000000"/>
                          </a:solidFill>
                          <a:latin typeface="Antic Bold"/>
                          <a:ea typeface="Antic Bold"/>
                          <a:cs typeface="Antic Bold"/>
                          <a:sym typeface="Antic Bold"/>
                        </a:rPr>
                        <a:t>Tipe</a:t>
                      </a:r>
                      <a:endParaRPr lang="en-US" sz="1100"/>
                    </a:p>
                  </a:txBody>
                  <a:tcPr marL="190500" marR="190500" marT="190500" marB="190500" anchor="ctr">
                    <a:lnL w="38100" cap="flat" cmpd="sng" algn="ctr">
                      <a:solidFill>
                        <a:srgbClr val="FFD699"/>
                      </a:solidFill>
                      <a:prstDash val="solid"/>
                      <a:round/>
                      <a:headEnd type="none" w="med" len="med"/>
                      <a:tailEnd type="none" w="med" len="med"/>
                    </a:lnL>
                    <a:lnR w="38100" cap="flat" cmpd="sng" algn="ctr">
                      <a:solidFill>
                        <a:srgbClr val="FFD699"/>
                      </a:solidFill>
                      <a:prstDash val="solid"/>
                      <a:round/>
                      <a:headEnd type="none" w="med" len="med"/>
                      <a:tailEnd type="none" w="med" len="med"/>
                    </a:lnR>
                    <a:lnT w="38100" cap="flat" cmpd="sng" algn="ctr">
                      <a:solidFill>
                        <a:srgbClr val="FFD699"/>
                      </a:solidFill>
                      <a:prstDash val="solid"/>
                      <a:round/>
                      <a:headEnd type="none" w="med" len="med"/>
                      <a:tailEnd type="none" w="med" len="med"/>
                    </a:lnT>
                    <a:lnB w="38100" cap="flat" cmpd="sng" algn="ctr">
                      <a:solidFill>
                        <a:srgbClr val="FFD699"/>
                      </a:solidFill>
                      <a:prstDash val="solid"/>
                      <a:round/>
                      <a:headEnd type="none" w="med" len="med"/>
                      <a:tailEnd type="none" w="med" len="med"/>
                    </a:lnB>
                    <a:solidFill>
                      <a:srgbClr val="7ED957"/>
                    </a:solidFill>
                  </a:tcPr>
                </a:tc>
                <a:tc>
                  <a:txBody>
                    <a:bodyPr/>
                    <a:lstStyle/>
                    <a:p>
                      <a:pPr algn="ctr">
                        <a:lnSpc>
                          <a:spcPts val="2659"/>
                        </a:lnSpc>
                        <a:defRPr/>
                      </a:pPr>
                      <a:r>
                        <a:rPr lang="en-US" sz="1899">
                          <a:solidFill>
                            <a:srgbClr val="000000"/>
                          </a:solidFill>
                          <a:latin typeface="Antic Bold"/>
                          <a:ea typeface="Antic Bold"/>
                          <a:cs typeface="Antic Bold"/>
                          <a:sym typeface="Antic Bold"/>
                        </a:rPr>
                        <a:t>Deskripsi</a:t>
                      </a:r>
                      <a:endParaRPr lang="en-US" sz="1100"/>
                    </a:p>
                  </a:txBody>
                  <a:tcPr marL="190500" marR="190500" marT="190500" marB="190500" anchor="ctr">
                    <a:lnL w="38100" cap="flat" cmpd="sng" algn="ctr">
                      <a:solidFill>
                        <a:srgbClr val="FFD699"/>
                      </a:solidFill>
                      <a:prstDash val="solid"/>
                      <a:round/>
                      <a:headEnd type="none" w="med" len="med"/>
                      <a:tailEnd type="none" w="med" len="med"/>
                    </a:lnL>
                    <a:lnR w="38100" cap="flat" cmpd="sng" algn="ctr">
                      <a:solidFill>
                        <a:srgbClr val="FFD699"/>
                      </a:solidFill>
                      <a:prstDash val="solid"/>
                      <a:round/>
                      <a:headEnd type="none" w="med" len="med"/>
                      <a:tailEnd type="none" w="med" len="med"/>
                    </a:lnR>
                    <a:lnT w="38100" cap="flat" cmpd="sng" algn="ctr">
                      <a:solidFill>
                        <a:srgbClr val="FFD699"/>
                      </a:solidFill>
                      <a:prstDash val="solid"/>
                      <a:round/>
                      <a:headEnd type="none" w="med" len="med"/>
                      <a:tailEnd type="none" w="med" len="med"/>
                    </a:lnT>
                    <a:lnB w="38100" cap="flat" cmpd="sng" algn="ctr">
                      <a:solidFill>
                        <a:srgbClr val="FFD699"/>
                      </a:solidFill>
                      <a:prstDash val="solid"/>
                      <a:round/>
                      <a:headEnd type="none" w="med" len="med"/>
                      <a:tailEnd type="none" w="med" len="med"/>
                    </a:lnB>
                    <a:solidFill>
                      <a:srgbClr val="7ED957"/>
                    </a:solidFill>
                  </a:tcPr>
                </a:tc>
                <a:extLst>
                  <a:ext uri="{0D108BD9-81ED-4DB2-BD59-A6C34878D82A}">
                    <a16:rowId xmlns:a16="http://schemas.microsoft.com/office/drawing/2014/main" val="10000"/>
                  </a:ext>
                </a:extLst>
              </a:tr>
              <a:tr h="781050">
                <a:tc>
                  <a:txBody>
                    <a:bodyPr/>
                    <a:lstStyle/>
                    <a:p>
                      <a:pPr algn="ctr">
                        <a:lnSpc>
                          <a:spcPts val="2659"/>
                        </a:lnSpc>
                        <a:defRPr/>
                      </a:pPr>
                      <a:r>
                        <a:rPr lang="en-US" sz="1899">
                          <a:solidFill>
                            <a:srgbClr val="000000"/>
                          </a:solidFill>
                          <a:latin typeface="Antic"/>
                          <a:ea typeface="Antic"/>
                          <a:cs typeface="Antic"/>
                          <a:sym typeface="Antic"/>
                        </a:rPr>
                        <a:t>Surat</a:t>
                      </a:r>
                      <a:endParaRPr lang="en-US" sz="1100"/>
                    </a:p>
                  </a:txBody>
                  <a:tcPr marL="190500" marR="190500" marT="190500" marB="190500" anchor="ctr">
                    <a:lnL w="38100" cap="flat" cmpd="sng" algn="ctr">
                      <a:solidFill>
                        <a:srgbClr val="FFD699"/>
                      </a:solidFill>
                      <a:prstDash val="solid"/>
                      <a:round/>
                      <a:headEnd type="none" w="med" len="med"/>
                      <a:tailEnd type="none" w="med" len="med"/>
                    </a:lnL>
                    <a:lnR w="38100" cap="flat" cmpd="sng" algn="ctr">
                      <a:solidFill>
                        <a:srgbClr val="FFD699"/>
                      </a:solidFill>
                      <a:prstDash val="solid"/>
                      <a:round/>
                      <a:headEnd type="none" w="med" len="med"/>
                      <a:tailEnd type="none" w="med" len="med"/>
                    </a:lnR>
                    <a:lnT w="38100" cap="flat" cmpd="sng" algn="ctr">
                      <a:solidFill>
                        <a:srgbClr val="FFD699"/>
                      </a:solidFill>
                      <a:prstDash val="solid"/>
                      <a:round/>
                      <a:headEnd type="none" w="med" len="med"/>
                      <a:tailEnd type="none" w="med" len="med"/>
                    </a:lnT>
                    <a:lnB w="38100" cap="flat" cmpd="sng" algn="ctr">
                      <a:solidFill>
                        <a:srgbClr val="FFD699"/>
                      </a:solidFill>
                      <a:prstDash val="solid"/>
                      <a:round/>
                      <a:headEnd type="none" w="med" len="med"/>
                      <a:tailEnd type="none" w="med" len="med"/>
                    </a:lnB>
                  </a:tcPr>
                </a:tc>
                <a:tc>
                  <a:txBody>
                    <a:bodyPr/>
                    <a:lstStyle/>
                    <a:p>
                      <a:pPr algn="ctr">
                        <a:lnSpc>
                          <a:spcPts val="2659"/>
                        </a:lnSpc>
                        <a:defRPr/>
                      </a:pPr>
                      <a:r>
                        <a:rPr lang="en-US" sz="1899">
                          <a:solidFill>
                            <a:srgbClr val="000000"/>
                          </a:solidFill>
                          <a:latin typeface="Antic"/>
                          <a:ea typeface="Antic"/>
                          <a:cs typeface="Antic"/>
                          <a:sym typeface="Antic"/>
                        </a:rPr>
                        <a:t>INT</a:t>
                      </a:r>
                      <a:endParaRPr lang="en-US" sz="1100"/>
                    </a:p>
                  </a:txBody>
                  <a:tcPr marL="190500" marR="190500" marT="190500" marB="190500" anchor="ctr">
                    <a:lnL w="38100" cap="flat" cmpd="sng" algn="ctr">
                      <a:solidFill>
                        <a:srgbClr val="FFD699"/>
                      </a:solidFill>
                      <a:prstDash val="solid"/>
                      <a:round/>
                      <a:headEnd type="none" w="med" len="med"/>
                      <a:tailEnd type="none" w="med" len="med"/>
                    </a:lnL>
                    <a:lnR w="38100" cap="flat" cmpd="sng" algn="ctr">
                      <a:solidFill>
                        <a:srgbClr val="FFD699"/>
                      </a:solidFill>
                      <a:prstDash val="solid"/>
                      <a:round/>
                      <a:headEnd type="none" w="med" len="med"/>
                      <a:tailEnd type="none" w="med" len="med"/>
                    </a:lnR>
                    <a:lnT w="38100" cap="flat" cmpd="sng" algn="ctr">
                      <a:solidFill>
                        <a:srgbClr val="FFD699"/>
                      </a:solidFill>
                      <a:prstDash val="solid"/>
                      <a:round/>
                      <a:headEnd type="none" w="med" len="med"/>
                      <a:tailEnd type="none" w="med" len="med"/>
                    </a:lnT>
                    <a:lnB w="38100" cap="flat" cmpd="sng" algn="ctr">
                      <a:solidFill>
                        <a:srgbClr val="FFD699"/>
                      </a:solidFill>
                      <a:prstDash val="solid"/>
                      <a:round/>
                      <a:headEnd type="none" w="med" len="med"/>
                      <a:tailEnd type="none" w="med" len="med"/>
                    </a:lnB>
                  </a:tcPr>
                </a:tc>
                <a:tc>
                  <a:txBody>
                    <a:bodyPr/>
                    <a:lstStyle/>
                    <a:p>
                      <a:pPr algn="ctr">
                        <a:lnSpc>
                          <a:spcPts val="2659"/>
                        </a:lnSpc>
                        <a:defRPr/>
                      </a:pPr>
                      <a:r>
                        <a:rPr lang="en-US" sz="1899">
                          <a:solidFill>
                            <a:srgbClr val="000000"/>
                          </a:solidFill>
                          <a:latin typeface="Antic"/>
                          <a:ea typeface="Antic"/>
                          <a:cs typeface="Antic"/>
                          <a:sym typeface="Antic"/>
                        </a:rPr>
                        <a:t>Nomor surat</a:t>
                      </a:r>
                      <a:endParaRPr lang="en-US" sz="1100"/>
                    </a:p>
                  </a:txBody>
                  <a:tcPr marL="190500" marR="190500" marT="190500" marB="190500" anchor="ctr">
                    <a:lnL w="38100" cap="flat" cmpd="sng" algn="ctr">
                      <a:solidFill>
                        <a:srgbClr val="FFD699"/>
                      </a:solidFill>
                      <a:prstDash val="solid"/>
                      <a:round/>
                      <a:headEnd type="none" w="med" len="med"/>
                      <a:tailEnd type="none" w="med" len="med"/>
                    </a:lnL>
                    <a:lnR w="38100" cap="flat" cmpd="sng" algn="ctr">
                      <a:solidFill>
                        <a:srgbClr val="FFD699"/>
                      </a:solidFill>
                      <a:prstDash val="solid"/>
                      <a:round/>
                      <a:headEnd type="none" w="med" len="med"/>
                      <a:tailEnd type="none" w="med" len="med"/>
                    </a:lnR>
                    <a:lnT w="38100" cap="flat" cmpd="sng" algn="ctr">
                      <a:solidFill>
                        <a:srgbClr val="FFD699"/>
                      </a:solidFill>
                      <a:prstDash val="solid"/>
                      <a:round/>
                      <a:headEnd type="none" w="med" len="med"/>
                      <a:tailEnd type="none" w="med" len="med"/>
                    </a:lnT>
                    <a:lnB w="38100" cap="flat" cmpd="sng" algn="ctr">
                      <a:solidFill>
                        <a:srgbClr val="FFD699"/>
                      </a:solidFill>
                      <a:prstDash val="solid"/>
                      <a:round/>
                      <a:headEnd type="none" w="med" len="med"/>
                      <a:tailEnd type="none" w="med" len="med"/>
                    </a:lnB>
                  </a:tcPr>
                </a:tc>
                <a:extLst>
                  <a:ext uri="{0D108BD9-81ED-4DB2-BD59-A6C34878D82A}">
                    <a16:rowId xmlns:a16="http://schemas.microsoft.com/office/drawing/2014/main" val="10001"/>
                  </a:ext>
                </a:extLst>
              </a:tr>
              <a:tr h="781050">
                <a:tc>
                  <a:txBody>
                    <a:bodyPr/>
                    <a:lstStyle/>
                    <a:p>
                      <a:pPr algn="ctr">
                        <a:lnSpc>
                          <a:spcPts val="2659"/>
                        </a:lnSpc>
                        <a:defRPr/>
                      </a:pPr>
                      <a:r>
                        <a:rPr lang="en-US" sz="1899">
                          <a:solidFill>
                            <a:srgbClr val="000000"/>
                          </a:solidFill>
                          <a:latin typeface="Antic"/>
                          <a:ea typeface="Antic"/>
                          <a:cs typeface="Antic"/>
                          <a:sym typeface="Antic"/>
                        </a:rPr>
                        <a:t>Ayat</a:t>
                      </a:r>
                      <a:endParaRPr lang="en-US" sz="1100"/>
                    </a:p>
                  </a:txBody>
                  <a:tcPr marL="190500" marR="190500" marT="190500" marB="190500" anchor="ctr">
                    <a:lnL w="38100" cap="flat" cmpd="sng" algn="ctr">
                      <a:solidFill>
                        <a:srgbClr val="FFD699"/>
                      </a:solidFill>
                      <a:prstDash val="solid"/>
                      <a:round/>
                      <a:headEnd type="none" w="med" len="med"/>
                      <a:tailEnd type="none" w="med" len="med"/>
                    </a:lnL>
                    <a:lnR w="38100" cap="flat" cmpd="sng" algn="ctr">
                      <a:solidFill>
                        <a:srgbClr val="FFD699"/>
                      </a:solidFill>
                      <a:prstDash val="solid"/>
                      <a:round/>
                      <a:headEnd type="none" w="med" len="med"/>
                      <a:tailEnd type="none" w="med" len="med"/>
                    </a:lnR>
                    <a:lnT w="38100" cap="flat" cmpd="sng" algn="ctr">
                      <a:solidFill>
                        <a:srgbClr val="FFD699"/>
                      </a:solidFill>
                      <a:prstDash val="solid"/>
                      <a:round/>
                      <a:headEnd type="none" w="med" len="med"/>
                      <a:tailEnd type="none" w="med" len="med"/>
                    </a:lnT>
                    <a:lnB w="38100" cap="flat" cmpd="sng" algn="ctr">
                      <a:solidFill>
                        <a:srgbClr val="FFD699"/>
                      </a:solidFill>
                      <a:prstDash val="solid"/>
                      <a:round/>
                      <a:headEnd type="none" w="med" len="med"/>
                      <a:tailEnd type="none" w="med" len="med"/>
                    </a:lnB>
                  </a:tcPr>
                </a:tc>
                <a:tc>
                  <a:txBody>
                    <a:bodyPr/>
                    <a:lstStyle/>
                    <a:p>
                      <a:pPr algn="ctr">
                        <a:lnSpc>
                          <a:spcPts val="2659"/>
                        </a:lnSpc>
                        <a:defRPr/>
                      </a:pPr>
                      <a:r>
                        <a:rPr lang="en-US" sz="1899">
                          <a:solidFill>
                            <a:srgbClr val="000000"/>
                          </a:solidFill>
                          <a:latin typeface="Antic"/>
                          <a:ea typeface="Antic"/>
                          <a:cs typeface="Antic"/>
                          <a:sym typeface="Antic"/>
                        </a:rPr>
                        <a:t>INT</a:t>
                      </a:r>
                      <a:endParaRPr lang="en-US" sz="1100"/>
                    </a:p>
                  </a:txBody>
                  <a:tcPr marL="190500" marR="190500" marT="190500" marB="190500" anchor="ctr">
                    <a:lnL w="38100" cap="flat" cmpd="sng" algn="ctr">
                      <a:solidFill>
                        <a:srgbClr val="FFD699"/>
                      </a:solidFill>
                      <a:prstDash val="solid"/>
                      <a:round/>
                      <a:headEnd type="none" w="med" len="med"/>
                      <a:tailEnd type="none" w="med" len="med"/>
                    </a:lnL>
                    <a:lnR w="38100" cap="flat" cmpd="sng" algn="ctr">
                      <a:solidFill>
                        <a:srgbClr val="FFD699"/>
                      </a:solidFill>
                      <a:prstDash val="solid"/>
                      <a:round/>
                      <a:headEnd type="none" w="med" len="med"/>
                      <a:tailEnd type="none" w="med" len="med"/>
                    </a:lnR>
                    <a:lnT w="38100" cap="flat" cmpd="sng" algn="ctr">
                      <a:solidFill>
                        <a:srgbClr val="FFD699"/>
                      </a:solidFill>
                      <a:prstDash val="solid"/>
                      <a:round/>
                      <a:headEnd type="none" w="med" len="med"/>
                      <a:tailEnd type="none" w="med" len="med"/>
                    </a:lnT>
                    <a:lnB w="38100" cap="flat" cmpd="sng" algn="ctr">
                      <a:solidFill>
                        <a:srgbClr val="FFD699"/>
                      </a:solidFill>
                      <a:prstDash val="solid"/>
                      <a:round/>
                      <a:headEnd type="none" w="med" len="med"/>
                      <a:tailEnd type="none" w="med" len="med"/>
                    </a:lnB>
                  </a:tcPr>
                </a:tc>
                <a:tc>
                  <a:txBody>
                    <a:bodyPr/>
                    <a:lstStyle/>
                    <a:p>
                      <a:pPr algn="ctr">
                        <a:lnSpc>
                          <a:spcPts val="2659"/>
                        </a:lnSpc>
                        <a:defRPr/>
                      </a:pPr>
                      <a:r>
                        <a:rPr lang="en-US" sz="1899">
                          <a:solidFill>
                            <a:srgbClr val="000000"/>
                          </a:solidFill>
                          <a:latin typeface="Antic"/>
                          <a:ea typeface="Antic"/>
                          <a:cs typeface="Antic"/>
                          <a:sym typeface="Antic"/>
                        </a:rPr>
                        <a:t>Nomor Ayat</a:t>
                      </a:r>
                      <a:endParaRPr lang="en-US" sz="1100"/>
                    </a:p>
                  </a:txBody>
                  <a:tcPr marL="190500" marR="190500" marT="190500" marB="190500" anchor="ctr">
                    <a:lnL w="38100" cap="flat" cmpd="sng" algn="ctr">
                      <a:solidFill>
                        <a:srgbClr val="FFD699"/>
                      </a:solidFill>
                      <a:prstDash val="solid"/>
                      <a:round/>
                      <a:headEnd type="none" w="med" len="med"/>
                      <a:tailEnd type="none" w="med" len="med"/>
                    </a:lnL>
                    <a:lnR w="38100" cap="flat" cmpd="sng" algn="ctr">
                      <a:solidFill>
                        <a:srgbClr val="FFD699"/>
                      </a:solidFill>
                      <a:prstDash val="solid"/>
                      <a:round/>
                      <a:headEnd type="none" w="med" len="med"/>
                      <a:tailEnd type="none" w="med" len="med"/>
                    </a:lnR>
                    <a:lnT w="38100" cap="flat" cmpd="sng" algn="ctr">
                      <a:solidFill>
                        <a:srgbClr val="FFD699"/>
                      </a:solidFill>
                      <a:prstDash val="solid"/>
                      <a:round/>
                      <a:headEnd type="none" w="med" len="med"/>
                      <a:tailEnd type="none" w="med" len="med"/>
                    </a:lnT>
                    <a:lnB w="38100" cap="flat" cmpd="sng" algn="ctr">
                      <a:solidFill>
                        <a:srgbClr val="FFD699"/>
                      </a:solidFill>
                      <a:prstDash val="solid"/>
                      <a:round/>
                      <a:headEnd type="none" w="med" len="med"/>
                      <a:tailEnd type="none" w="med" len="med"/>
                    </a:lnB>
                  </a:tcPr>
                </a:tc>
                <a:extLst>
                  <a:ext uri="{0D108BD9-81ED-4DB2-BD59-A6C34878D82A}">
                    <a16:rowId xmlns:a16="http://schemas.microsoft.com/office/drawing/2014/main" val="10002"/>
                  </a:ext>
                </a:extLst>
              </a:tr>
              <a:tr h="781050">
                <a:tc>
                  <a:txBody>
                    <a:bodyPr/>
                    <a:lstStyle/>
                    <a:p>
                      <a:pPr algn="ctr">
                        <a:lnSpc>
                          <a:spcPts val="2659"/>
                        </a:lnSpc>
                        <a:defRPr/>
                      </a:pPr>
                      <a:r>
                        <a:rPr lang="en-US" sz="1899">
                          <a:solidFill>
                            <a:srgbClr val="000000"/>
                          </a:solidFill>
                          <a:latin typeface="Antic"/>
                          <a:ea typeface="Antic"/>
                          <a:cs typeface="Antic"/>
                          <a:sym typeface="Antic"/>
                        </a:rPr>
                        <a:t>Teks</a:t>
                      </a:r>
                      <a:endParaRPr lang="en-US" sz="1100"/>
                    </a:p>
                  </a:txBody>
                  <a:tcPr marL="190500" marR="190500" marT="190500" marB="190500" anchor="ctr">
                    <a:lnL w="38100" cap="flat" cmpd="sng" algn="ctr">
                      <a:solidFill>
                        <a:srgbClr val="FFD699"/>
                      </a:solidFill>
                      <a:prstDash val="solid"/>
                      <a:round/>
                      <a:headEnd type="none" w="med" len="med"/>
                      <a:tailEnd type="none" w="med" len="med"/>
                    </a:lnL>
                    <a:lnR w="38100" cap="flat" cmpd="sng" algn="ctr">
                      <a:solidFill>
                        <a:srgbClr val="FFD699"/>
                      </a:solidFill>
                      <a:prstDash val="solid"/>
                      <a:round/>
                      <a:headEnd type="none" w="med" len="med"/>
                      <a:tailEnd type="none" w="med" len="med"/>
                    </a:lnR>
                    <a:lnT w="38100" cap="flat" cmpd="sng" algn="ctr">
                      <a:solidFill>
                        <a:srgbClr val="FFD699"/>
                      </a:solidFill>
                      <a:prstDash val="solid"/>
                      <a:round/>
                      <a:headEnd type="none" w="med" len="med"/>
                      <a:tailEnd type="none" w="med" len="med"/>
                    </a:lnT>
                    <a:lnB w="38100" cap="flat" cmpd="sng" algn="ctr">
                      <a:solidFill>
                        <a:srgbClr val="FFD699"/>
                      </a:solidFill>
                      <a:prstDash val="solid"/>
                      <a:round/>
                      <a:headEnd type="none" w="med" len="med"/>
                      <a:tailEnd type="none" w="med" len="med"/>
                    </a:lnB>
                  </a:tcPr>
                </a:tc>
                <a:tc>
                  <a:txBody>
                    <a:bodyPr/>
                    <a:lstStyle/>
                    <a:p>
                      <a:pPr algn="ctr">
                        <a:lnSpc>
                          <a:spcPts val="2659"/>
                        </a:lnSpc>
                        <a:defRPr/>
                      </a:pPr>
                      <a:r>
                        <a:rPr lang="en-US" sz="1899">
                          <a:solidFill>
                            <a:srgbClr val="000000"/>
                          </a:solidFill>
                          <a:latin typeface="Antic"/>
                          <a:ea typeface="Antic"/>
                          <a:cs typeface="Antic"/>
                          <a:sym typeface="Antic"/>
                        </a:rPr>
                        <a:t>TEKS</a:t>
                      </a:r>
                      <a:endParaRPr lang="en-US" sz="1100"/>
                    </a:p>
                  </a:txBody>
                  <a:tcPr marL="190500" marR="190500" marT="190500" marB="190500" anchor="ctr">
                    <a:lnL w="38100" cap="flat" cmpd="sng" algn="ctr">
                      <a:solidFill>
                        <a:srgbClr val="FFD699"/>
                      </a:solidFill>
                      <a:prstDash val="solid"/>
                      <a:round/>
                      <a:headEnd type="none" w="med" len="med"/>
                      <a:tailEnd type="none" w="med" len="med"/>
                    </a:lnL>
                    <a:lnR w="38100" cap="flat" cmpd="sng" algn="ctr">
                      <a:solidFill>
                        <a:srgbClr val="FFD699"/>
                      </a:solidFill>
                      <a:prstDash val="solid"/>
                      <a:round/>
                      <a:headEnd type="none" w="med" len="med"/>
                      <a:tailEnd type="none" w="med" len="med"/>
                    </a:lnR>
                    <a:lnT w="38100" cap="flat" cmpd="sng" algn="ctr">
                      <a:solidFill>
                        <a:srgbClr val="FFD699"/>
                      </a:solidFill>
                      <a:prstDash val="solid"/>
                      <a:round/>
                      <a:headEnd type="none" w="med" len="med"/>
                      <a:tailEnd type="none" w="med" len="med"/>
                    </a:lnT>
                    <a:lnB w="38100" cap="flat" cmpd="sng" algn="ctr">
                      <a:solidFill>
                        <a:srgbClr val="FFD699"/>
                      </a:solidFill>
                      <a:prstDash val="solid"/>
                      <a:round/>
                      <a:headEnd type="none" w="med" len="med"/>
                      <a:tailEnd type="none" w="med" len="med"/>
                    </a:lnB>
                  </a:tcPr>
                </a:tc>
                <a:tc>
                  <a:txBody>
                    <a:bodyPr/>
                    <a:lstStyle/>
                    <a:p>
                      <a:pPr algn="ctr">
                        <a:lnSpc>
                          <a:spcPts val="2659"/>
                        </a:lnSpc>
                        <a:defRPr/>
                      </a:pPr>
                      <a:r>
                        <a:rPr lang="en-US" sz="1899">
                          <a:solidFill>
                            <a:srgbClr val="000000"/>
                          </a:solidFill>
                          <a:latin typeface="Antic"/>
                          <a:ea typeface="Antic"/>
                          <a:cs typeface="Antic"/>
                          <a:sym typeface="Antic"/>
                        </a:rPr>
                        <a:t>Teks Terjemahan </a:t>
                      </a:r>
                      <a:endParaRPr lang="en-US" sz="1100"/>
                    </a:p>
                  </a:txBody>
                  <a:tcPr marL="190500" marR="190500" marT="190500" marB="190500" anchor="ctr">
                    <a:lnL w="38100" cap="flat" cmpd="sng" algn="ctr">
                      <a:solidFill>
                        <a:srgbClr val="FFD699"/>
                      </a:solidFill>
                      <a:prstDash val="solid"/>
                      <a:round/>
                      <a:headEnd type="none" w="med" len="med"/>
                      <a:tailEnd type="none" w="med" len="med"/>
                    </a:lnL>
                    <a:lnR w="38100" cap="flat" cmpd="sng" algn="ctr">
                      <a:solidFill>
                        <a:srgbClr val="FFD699"/>
                      </a:solidFill>
                      <a:prstDash val="solid"/>
                      <a:round/>
                      <a:headEnd type="none" w="med" len="med"/>
                      <a:tailEnd type="none" w="med" len="med"/>
                    </a:lnR>
                    <a:lnT w="38100" cap="flat" cmpd="sng" algn="ctr">
                      <a:solidFill>
                        <a:srgbClr val="FFD699"/>
                      </a:solidFill>
                      <a:prstDash val="solid"/>
                      <a:round/>
                      <a:headEnd type="none" w="med" len="med"/>
                      <a:tailEnd type="none" w="med" len="med"/>
                    </a:lnT>
                    <a:lnB w="38100" cap="flat" cmpd="sng" algn="ctr">
                      <a:solidFill>
                        <a:srgbClr val="FFD699"/>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40" name="TextBox 40"/>
          <p:cNvSpPr txBox="1"/>
          <p:nvPr/>
        </p:nvSpPr>
        <p:spPr>
          <a:xfrm>
            <a:off x="1028700" y="1210387"/>
            <a:ext cx="11543683" cy="995966"/>
          </a:xfrm>
          <a:prstGeom prst="rect">
            <a:avLst/>
          </a:prstGeom>
        </p:spPr>
        <p:txBody>
          <a:bodyPr lIns="0" tIns="0" rIns="0" bIns="0" rtlCol="0" anchor="t">
            <a:spAutoFit/>
          </a:bodyPr>
          <a:lstStyle/>
          <a:p>
            <a:pPr algn="l">
              <a:lnSpc>
                <a:spcPts val="8160"/>
              </a:lnSpc>
              <a:spcBef>
                <a:spcPct val="0"/>
              </a:spcBef>
            </a:pPr>
            <a:r>
              <a:rPr lang="en-US" sz="5828" b="1">
                <a:solidFill>
                  <a:srgbClr val="1800AD"/>
                </a:solidFill>
                <a:latin typeface="Archivo Narrow Bold"/>
                <a:ea typeface="Archivo Narrow Bold"/>
                <a:cs typeface="Archivo Narrow Bold"/>
                <a:sym typeface="Archivo Narrow Bold"/>
              </a:rPr>
              <a:t>Terjemahan Al-Quran Bahasa Indonesia</a:t>
            </a:r>
          </a:p>
        </p:txBody>
      </p:sp>
      <p:sp>
        <p:nvSpPr>
          <p:cNvPr id="41" name="TextBox 41"/>
          <p:cNvSpPr txBox="1"/>
          <p:nvPr/>
        </p:nvSpPr>
        <p:spPr>
          <a:xfrm>
            <a:off x="1028700" y="215814"/>
            <a:ext cx="8131423" cy="812886"/>
          </a:xfrm>
          <a:prstGeom prst="rect">
            <a:avLst/>
          </a:prstGeom>
        </p:spPr>
        <p:txBody>
          <a:bodyPr lIns="0" tIns="0" rIns="0" bIns="0" rtlCol="0" anchor="t">
            <a:spAutoFit/>
          </a:bodyPr>
          <a:lstStyle/>
          <a:p>
            <a:pPr algn="l">
              <a:lnSpc>
                <a:spcPts val="6645"/>
              </a:lnSpc>
              <a:spcBef>
                <a:spcPct val="0"/>
              </a:spcBef>
            </a:pPr>
            <a:r>
              <a:rPr lang="en-US" sz="4746" b="1">
                <a:solidFill>
                  <a:srgbClr val="FF751F"/>
                </a:solidFill>
                <a:latin typeface="Montserrat Bold"/>
                <a:ea typeface="Montserrat Bold"/>
                <a:cs typeface="Montserrat Bold"/>
                <a:sym typeface="Montserrat Bold"/>
              </a:rPr>
              <a:t>05 | Dataset</a:t>
            </a:r>
          </a:p>
        </p:txBody>
      </p:sp>
      <p:sp>
        <p:nvSpPr>
          <p:cNvPr id="42" name="TextBox 42"/>
          <p:cNvSpPr txBox="1"/>
          <p:nvPr/>
        </p:nvSpPr>
        <p:spPr>
          <a:xfrm>
            <a:off x="2026168" y="2951854"/>
            <a:ext cx="6056920" cy="563879"/>
          </a:xfrm>
          <a:prstGeom prst="rect">
            <a:avLst/>
          </a:prstGeom>
        </p:spPr>
        <p:txBody>
          <a:bodyPr lIns="0" tIns="0" rIns="0" bIns="0" rtlCol="0" anchor="t">
            <a:spAutoFit/>
          </a:bodyPr>
          <a:lstStyle/>
          <a:p>
            <a:pPr algn="l">
              <a:lnSpc>
                <a:spcPts val="4620"/>
              </a:lnSpc>
            </a:pPr>
            <a:r>
              <a:rPr lang="en-US" sz="3300" b="1">
                <a:solidFill>
                  <a:srgbClr val="000000"/>
                </a:solidFill>
                <a:latin typeface="Canva Sans Bold"/>
                <a:ea typeface="Canva Sans Bold"/>
                <a:cs typeface="Canva Sans Bold"/>
                <a:sym typeface="Canva Sans Bold"/>
              </a:rPr>
              <a:t>https ://quran.kemenag.go.id</a:t>
            </a:r>
          </a:p>
        </p:txBody>
      </p:sp>
      <p:sp>
        <p:nvSpPr>
          <p:cNvPr id="43" name="TextBox 43"/>
          <p:cNvSpPr txBox="1"/>
          <p:nvPr/>
        </p:nvSpPr>
        <p:spPr>
          <a:xfrm>
            <a:off x="10364147" y="3034405"/>
            <a:ext cx="6556966" cy="454548"/>
          </a:xfrm>
          <a:prstGeom prst="rect">
            <a:avLst/>
          </a:prstGeom>
        </p:spPr>
        <p:txBody>
          <a:bodyPr lIns="0" tIns="0" rIns="0" bIns="0" rtlCol="0" anchor="t">
            <a:spAutoFit/>
          </a:bodyPr>
          <a:lstStyle/>
          <a:p>
            <a:pPr algn="l">
              <a:lnSpc>
                <a:spcPts val="3920"/>
              </a:lnSpc>
            </a:pPr>
            <a:r>
              <a:rPr lang="en-US" sz="2400" b="1" dirty="0">
                <a:solidFill>
                  <a:srgbClr val="000000"/>
                </a:solidFill>
                <a:latin typeface="Canva Sans Bold"/>
                <a:ea typeface="Canva Sans Bold"/>
                <a:cs typeface="Canva Sans Bold"/>
                <a:sym typeface="Canva Sans Bold"/>
              </a:rPr>
              <a:t>https ://pustakalajnah.kemenag.go.id/</a:t>
            </a:r>
          </a:p>
        </p:txBody>
      </p:sp>
      <p:sp>
        <p:nvSpPr>
          <p:cNvPr id="44" name="TextBox 44"/>
          <p:cNvSpPr txBox="1"/>
          <p:nvPr/>
        </p:nvSpPr>
        <p:spPr>
          <a:xfrm>
            <a:off x="1700394" y="3890840"/>
            <a:ext cx="2695598" cy="1203313"/>
          </a:xfrm>
          <a:prstGeom prst="rect">
            <a:avLst/>
          </a:prstGeom>
        </p:spPr>
        <p:txBody>
          <a:bodyPr wrap="square" lIns="0" tIns="0" rIns="0" bIns="0" rtlCol="0" anchor="t">
            <a:spAutoFit/>
          </a:bodyPr>
          <a:lstStyle/>
          <a:p>
            <a:pPr algn="ctr">
              <a:lnSpc>
                <a:spcPts val="9800"/>
              </a:lnSpc>
            </a:pPr>
            <a:r>
              <a:rPr lang="en-US" sz="7000" b="1" dirty="0">
                <a:solidFill>
                  <a:srgbClr val="000000"/>
                </a:solidFill>
                <a:latin typeface="Canva Sans Bold"/>
                <a:ea typeface="Canva Sans Bold"/>
                <a:cs typeface="Canva Sans Bold"/>
                <a:sym typeface="Canva Sans Bold"/>
              </a:rPr>
              <a:t>6.236</a:t>
            </a:r>
          </a:p>
        </p:txBody>
      </p:sp>
      <p:sp>
        <p:nvSpPr>
          <p:cNvPr id="45" name="TextBox 45"/>
          <p:cNvSpPr txBox="1"/>
          <p:nvPr/>
        </p:nvSpPr>
        <p:spPr>
          <a:xfrm>
            <a:off x="6658467" y="3991309"/>
            <a:ext cx="2028333" cy="1243318"/>
          </a:xfrm>
          <a:prstGeom prst="rect">
            <a:avLst/>
          </a:prstGeom>
        </p:spPr>
        <p:txBody>
          <a:bodyPr wrap="square" lIns="0" tIns="0" rIns="0" bIns="0" rtlCol="0" anchor="t">
            <a:spAutoFit/>
          </a:bodyPr>
          <a:lstStyle/>
          <a:p>
            <a:pPr algn="ctr">
              <a:lnSpc>
                <a:spcPts val="10220"/>
              </a:lnSpc>
            </a:pPr>
            <a:r>
              <a:rPr lang="en-US" sz="7300" b="1" dirty="0">
                <a:solidFill>
                  <a:srgbClr val="000000"/>
                </a:solidFill>
                <a:latin typeface="Canva Sans Bold"/>
                <a:ea typeface="Canva Sans Bold"/>
                <a:cs typeface="Canva Sans Bold"/>
                <a:sym typeface="Canva Sans Bold"/>
              </a:rPr>
              <a:t>114</a:t>
            </a:r>
          </a:p>
        </p:txBody>
      </p:sp>
      <p:sp>
        <p:nvSpPr>
          <p:cNvPr id="46" name="TextBox 46"/>
          <p:cNvSpPr txBox="1"/>
          <p:nvPr/>
        </p:nvSpPr>
        <p:spPr>
          <a:xfrm>
            <a:off x="10269054" y="4016893"/>
            <a:ext cx="2989746" cy="1203313"/>
          </a:xfrm>
          <a:prstGeom prst="rect">
            <a:avLst/>
          </a:prstGeom>
        </p:spPr>
        <p:txBody>
          <a:bodyPr wrap="square" lIns="0" tIns="0" rIns="0" bIns="0" rtlCol="0" anchor="t">
            <a:spAutoFit/>
          </a:bodyPr>
          <a:lstStyle/>
          <a:p>
            <a:pPr algn="ctr">
              <a:lnSpc>
                <a:spcPts val="9800"/>
              </a:lnSpc>
            </a:pPr>
            <a:r>
              <a:rPr lang="en-US" sz="7000" b="1" dirty="0">
                <a:solidFill>
                  <a:srgbClr val="000000"/>
                </a:solidFill>
                <a:latin typeface="Canva Sans Bold"/>
                <a:ea typeface="Canva Sans Bold"/>
                <a:cs typeface="Canva Sans Bold"/>
                <a:sym typeface="Canva Sans Bold"/>
              </a:rPr>
              <a:t>77.439</a:t>
            </a:r>
          </a:p>
        </p:txBody>
      </p:sp>
      <p:sp>
        <p:nvSpPr>
          <p:cNvPr id="47" name="TextBox 47"/>
          <p:cNvSpPr txBox="1"/>
          <p:nvPr/>
        </p:nvSpPr>
        <p:spPr>
          <a:xfrm>
            <a:off x="14179227" y="4016893"/>
            <a:ext cx="2952409" cy="1203313"/>
          </a:xfrm>
          <a:prstGeom prst="rect">
            <a:avLst/>
          </a:prstGeom>
        </p:spPr>
        <p:txBody>
          <a:bodyPr wrap="square" lIns="0" tIns="0" rIns="0" bIns="0" rtlCol="0" anchor="t">
            <a:spAutoFit/>
          </a:bodyPr>
          <a:lstStyle/>
          <a:p>
            <a:pPr algn="ctr">
              <a:lnSpc>
                <a:spcPts val="9800"/>
              </a:lnSpc>
            </a:pPr>
            <a:r>
              <a:rPr lang="en-US" sz="7000" b="1" dirty="0">
                <a:solidFill>
                  <a:srgbClr val="000000"/>
                </a:solidFill>
                <a:latin typeface="Canva Sans Bold"/>
                <a:ea typeface="Canva Sans Bold"/>
                <a:cs typeface="Canva Sans Bold"/>
                <a:sym typeface="Canva Sans Bold"/>
              </a:rPr>
              <a:t>18.742</a:t>
            </a:r>
          </a:p>
        </p:txBody>
      </p:sp>
      <p:sp>
        <p:nvSpPr>
          <p:cNvPr id="48" name="TextBox 48"/>
          <p:cNvSpPr txBox="1"/>
          <p:nvPr/>
        </p:nvSpPr>
        <p:spPr>
          <a:xfrm>
            <a:off x="1156363" y="5200973"/>
            <a:ext cx="4065711" cy="563879"/>
          </a:xfrm>
          <a:prstGeom prst="rect">
            <a:avLst/>
          </a:prstGeom>
        </p:spPr>
        <p:txBody>
          <a:bodyPr lIns="0" tIns="0" rIns="0" bIns="0" rtlCol="0" anchor="t">
            <a:spAutoFit/>
          </a:bodyPr>
          <a:lstStyle/>
          <a:p>
            <a:pPr algn="ctr">
              <a:lnSpc>
                <a:spcPts val="4620"/>
              </a:lnSpc>
            </a:pPr>
            <a:r>
              <a:rPr lang="en-US" sz="3300" b="1">
                <a:solidFill>
                  <a:srgbClr val="000000"/>
                </a:solidFill>
                <a:latin typeface="Canva Sans Bold"/>
                <a:ea typeface="Canva Sans Bold"/>
                <a:cs typeface="Canva Sans Bold"/>
                <a:sym typeface="Canva Sans Bold"/>
              </a:rPr>
              <a:t>Total Ayat</a:t>
            </a:r>
          </a:p>
        </p:txBody>
      </p:sp>
      <p:sp>
        <p:nvSpPr>
          <p:cNvPr id="49" name="TextBox 49"/>
          <p:cNvSpPr txBox="1"/>
          <p:nvPr/>
        </p:nvSpPr>
        <p:spPr>
          <a:xfrm>
            <a:off x="5402420" y="5200973"/>
            <a:ext cx="4065711" cy="563879"/>
          </a:xfrm>
          <a:prstGeom prst="rect">
            <a:avLst/>
          </a:prstGeom>
        </p:spPr>
        <p:txBody>
          <a:bodyPr lIns="0" tIns="0" rIns="0" bIns="0" rtlCol="0" anchor="t">
            <a:spAutoFit/>
          </a:bodyPr>
          <a:lstStyle/>
          <a:p>
            <a:pPr algn="ctr">
              <a:lnSpc>
                <a:spcPts val="4620"/>
              </a:lnSpc>
            </a:pPr>
            <a:r>
              <a:rPr lang="en-US" sz="3300" b="1">
                <a:solidFill>
                  <a:srgbClr val="000000"/>
                </a:solidFill>
                <a:latin typeface="Canva Sans Bold"/>
                <a:ea typeface="Canva Sans Bold"/>
                <a:cs typeface="Canva Sans Bold"/>
                <a:sym typeface="Canva Sans Bold"/>
              </a:rPr>
              <a:t>Total Surat</a:t>
            </a:r>
          </a:p>
        </p:txBody>
      </p:sp>
      <p:sp>
        <p:nvSpPr>
          <p:cNvPr id="50" name="TextBox 50"/>
          <p:cNvSpPr txBox="1"/>
          <p:nvPr/>
        </p:nvSpPr>
        <p:spPr>
          <a:xfrm>
            <a:off x="9576919" y="5200973"/>
            <a:ext cx="4065711" cy="563879"/>
          </a:xfrm>
          <a:prstGeom prst="rect">
            <a:avLst/>
          </a:prstGeom>
        </p:spPr>
        <p:txBody>
          <a:bodyPr lIns="0" tIns="0" rIns="0" bIns="0" rtlCol="0" anchor="t">
            <a:spAutoFit/>
          </a:bodyPr>
          <a:lstStyle/>
          <a:p>
            <a:pPr algn="ctr">
              <a:lnSpc>
                <a:spcPts val="4620"/>
              </a:lnSpc>
            </a:pPr>
            <a:r>
              <a:rPr lang="en-US" sz="3300" b="1">
                <a:solidFill>
                  <a:srgbClr val="000000"/>
                </a:solidFill>
                <a:latin typeface="Canva Sans Bold"/>
                <a:ea typeface="Canva Sans Bold"/>
                <a:cs typeface="Canva Sans Bold"/>
                <a:sym typeface="Canva Sans Bold"/>
              </a:rPr>
              <a:t>Total Kata</a:t>
            </a:r>
          </a:p>
        </p:txBody>
      </p:sp>
      <p:sp>
        <p:nvSpPr>
          <p:cNvPr id="51" name="TextBox 51"/>
          <p:cNvSpPr txBox="1"/>
          <p:nvPr/>
        </p:nvSpPr>
        <p:spPr>
          <a:xfrm>
            <a:off x="13801725" y="5200973"/>
            <a:ext cx="3457575" cy="563879"/>
          </a:xfrm>
          <a:prstGeom prst="rect">
            <a:avLst/>
          </a:prstGeom>
        </p:spPr>
        <p:txBody>
          <a:bodyPr lIns="0" tIns="0" rIns="0" bIns="0" rtlCol="0" anchor="t">
            <a:spAutoFit/>
          </a:bodyPr>
          <a:lstStyle/>
          <a:p>
            <a:pPr algn="ctr">
              <a:lnSpc>
                <a:spcPts val="4620"/>
              </a:lnSpc>
            </a:pPr>
            <a:r>
              <a:rPr lang="en-US" sz="3300" b="1">
                <a:solidFill>
                  <a:srgbClr val="000000"/>
                </a:solidFill>
                <a:latin typeface="Canva Sans Bold"/>
                <a:ea typeface="Canva Sans Bold"/>
                <a:cs typeface="Canva Sans Bold"/>
                <a:sym typeface="Canva Sans Bold"/>
              </a:rPr>
              <a:t>Kosakata Unik</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033559" flipV="1">
            <a:off x="-6899734" y="5748474"/>
            <a:ext cx="6313412" cy="11932565"/>
          </a:xfrm>
          <a:custGeom>
            <a:avLst/>
            <a:gdLst/>
            <a:ahLst/>
            <a:cxnLst/>
            <a:rect l="l" t="t" r="r" b="b"/>
            <a:pathLst>
              <a:path w="6313412" h="11932565">
                <a:moveTo>
                  <a:pt x="0" y="11932564"/>
                </a:moveTo>
                <a:lnTo>
                  <a:pt x="6313412" y="11932564"/>
                </a:lnTo>
                <a:lnTo>
                  <a:pt x="6313412" y="0"/>
                </a:lnTo>
                <a:lnTo>
                  <a:pt x="0" y="0"/>
                </a:lnTo>
                <a:lnTo>
                  <a:pt x="0" y="11932564"/>
                </a:lnTo>
                <a:close/>
              </a:path>
            </a:pathLst>
          </a:custGeom>
          <a:blipFill>
            <a:blip r:embed="rId3">
              <a:alphaModFix amt="7999"/>
              <a:extLst>
                <a:ext uri="{96DAC541-7B7A-43D3-8B79-37D633B846F1}">
                  <asvg:svgBlip xmlns:asvg="http://schemas.microsoft.com/office/drawing/2016/SVG/main" r:embed="rId4"/>
                </a:ext>
              </a:extLst>
            </a:blip>
            <a:stretch>
              <a:fillRect/>
            </a:stretch>
          </a:blipFill>
        </p:spPr>
      </p:sp>
      <p:grpSp>
        <p:nvGrpSpPr>
          <p:cNvPr id="3" name="Group 3"/>
          <p:cNvGrpSpPr/>
          <p:nvPr/>
        </p:nvGrpSpPr>
        <p:grpSpPr>
          <a:xfrm>
            <a:off x="0" y="9708804"/>
            <a:ext cx="9144000" cy="560871"/>
            <a:chOff x="0" y="0"/>
            <a:chExt cx="2408296" cy="147719"/>
          </a:xfrm>
        </p:grpSpPr>
        <p:sp>
          <p:nvSpPr>
            <p:cNvPr id="4" name="Freeform 4"/>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1800AD"/>
            </a:solidFill>
          </p:spPr>
        </p:sp>
        <p:sp>
          <p:nvSpPr>
            <p:cNvPr id="5" name="TextBox 5"/>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028700" y="2479309"/>
            <a:ext cx="8115300" cy="137058"/>
            <a:chOff x="0" y="0"/>
            <a:chExt cx="2137363" cy="36097"/>
          </a:xfrm>
        </p:grpSpPr>
        <p:sp>
          <p:nvSpPr>
            <p:cNvPr id="7" name="Freeform 7"/>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FFDE59"/>
            </a:solidFill>
          </p:spPr>
        </p:sp>
        <p:sp>
          <p:nvSpPr>
            <p:cNvPr id="8" name="TextBox 8"/>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9144000" y="2479309"/>
            <a:ext cx="8115300" cy="137058"/>
            <a:chOff x="0" y="0"/>
            <a:chExt cx="2137363" cy="36097"/>
          </a:xfrm>
        </p:grpSpPr>
        <p:sp>
          <p:nvSpPr>
            <p:cNvPr id="10" name="Freeform 10"/>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1800AD"/>
            </a:solidFill>
          </p:spPr>
        </p:sp>
        <p:sp>
          <p:nvSpPr>
            <p:cNvPr id="11" name="TextBox 11"/>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sp>
        <p:nvSpPr>
          <p:cNvPr id="12" name="Freeform 12"/>
          <p:cNvSpPr/>
          <p:nvPr/>
        </p:nvSpPr>
        <p:spPr>
          <a:xfrm>
            <a:off x="15487240" y="516545"/>
            <a:ext cx="1664226" cy="1616285"/>
          </a:xfrm>
          <a:custGeom>
            <a:avLst/>
            <a:gdLst/>
            <a:ahLst/>
            <a:cxnLst/>
            <a:rect l="l" t="t" r="r" b="b"/>
            <a:pathLst>
              <a:path w="1664226" h="1616285">
                <a:moveTo>
                  <a:pt x="0" y="0"/>
                </a:moveTo>
                <a:lnTo>
                  <a:pt x="1664226" y="0"/>
                </a:lnTo>
                <a:lnTo>
                  <a:pt x="1664226" y="1616285"/>
                </a:lnTo>
                <a:lnTo>
                  <a:pt x="0" y="1616285"/>
                </a:lnTo>
                <a:lnTo>
                  <a:pt x="0" y="0"/>
                </a:lnTo>
                <a:close/>
              </a:path>
            </a:pathLst>
          </a:custGeom>
          <a:blipFill>
            <a:blip r:embed="rId5"/>
            <a:stretch>
              <a:fillRect/>
            </a:stretch>
          </a:blipFill>
        </p:spPr>
      </p:sp>
      <p:grpSp>
        <p:nvGrpSpPr>
          <p:cNvPr id="13" name="Group 13"/>
          <p:cNvGrpSpPr/>
          <p:nvPr/>
        </p:nvGrpSpPr>
        <p:grpSpPr>
          <a:xfrm>
            <a:off x="9144000" y="9708804"/>
            <a:ext cx="9144000" cy="560871"/>
            <a:chOff x="0" y="0"/>
            <a:chExt cx="2408296" cy="147719"/>
          </a:xfrm>
        </p:grpSpPr>
        <p:sp>
          <p:nvSpPr>
            <p:cNvPr id="14" name="Freeform 14"/>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FFDE59"/>
            </a:solidFill>
          </p:spPr>
        </p:sp>
        <p:sp>
          <p:nvSpPr>
            <p:cNvPr id="15" name="TextBox 15"/>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1665705" y="2735430"/>
            <a:ext cx="2527223" cy="3192650"/>
            <a:chOff x="0" y="0"/>
            <a:chExt cx="3369631" cy="4256867"/>
          </a:xfrm>
        </p:grpSpPr>
        <p:grpSp>
          <p:nvGrpSpPr>
            <p:cNvPr id="17" name="Group 17"/>
            <p:cNvGrpSpPr/>
            <p:nvPr/>
          </p:nvGrpSpPr>
          <p:grpSpPr>
            <a:xfrm>
              <a:off x="0" y="0"/>
              <a:ext cx="3369631" cy="4256867"/>
              <a:chOff x="0" y="0"/>
              <a:chExt cx="972859" cy="1229017"/>
            </a:xfrm>
          </p:grpSpPr>
          <p:sp>
            <p:nvSpPr>
              <p:cNvPr id="18" name="Freeform 18"/>
              <p:cNvSpPr/>
              <p:nvPr/>
            </p:nvSpPr>
            <p:spPr>
              <a:xfrm>
                <a:off x="0" y="0"/>
                <a:ext cx="972859" cy="1229017"/>
              </a:xfrm>
              <a:custGeom>
                <a:avLst/>
                <a:gdLst/>
                <a:ahLst/>
                <a:cxnLst/>
                <a:rect l="l" t="t" r="r" b="b"/>
                <a:pathLst>
                  <a:path w="972859" h="1229017">
                    <a:moveTo>
                      <a:pt x="79649" y="0"/>
                    </a:moveTo>
                    <a:lnTo>
                      <a:pt x="893211" y="0"/>
                    </a:lnTo>
                    <a:cubicBezTo>
                      <a:pt x="914335" y="0"/>
                      <a:pt x="934594" y="8392"/>
                      <a:pt x="949531" y="23329"/>
                    </a:cubicBezTo>
                    <a:cubicBezTo>
                      <a:pt x="964468" y="38266"/>
                      <a:pt x="972859" y="58525"/>
                      <a:pt x="972859" y="79649"/>
                    </a:cubicBezTo>
                    <a:lnTo>
                      <a:pt x="972859" y="1149368"/>
                    </a:lnTo>
                    <a:cubicBezTo>
                      <a:pt x="972859" y="1170492"/>
                      <a:pt x="964468" y="1190751"/>
                      <a:pt x="949531" y="1205688"/>
                    </a:cubicBezTo>
                    <a:cubicBezTo>
                      <a:pt x="934594" y="1220625"/>
                      <a:pt x="914335" y="1229017"/>
                      <a:pt x="893211" y="1229017"/>
                    </a:cubicBezTo>
                    <a:lnTo>
                      <a:pt x="79649" y="1229017"/>
                    </a:lnTo>
                    <a:cubicBezTo>
                      <a:pt x="35660" y="1229017"/>
                      <a:pt x="0" y="1193357"/>
                      <a:pt x="0" y="1149368"/>
                    </a:cubicBezTo>
                    <a:lnTo>
                      <a:pt x="0" y="79649"/>
                    </a:lnTo>
                    <a:cubicBezTo>
                      <a:pt x="0" y="58525"/>
                      <a:pt x="8392" y="38266"/>
                      <a:pt x="23329" y="23329"/>
                    </a:cubicBezTo>
                    <a:cubicBezTo>
                      <a:pt x="38266" y="8392"/>
                      <a:pt x="58525" y="0"/>
                      <a:pt x="79649" y="0"/>
                    </a:cubicBezTo>
                    <a:close/>
                  </a:path>
                </a:pathLst>
              </a:custGeom>
              <a:solidFill>
                <a:srgbClr val="FFFFFF"/>
              </a:solidFill>
              <a:ln w="38100" cap="rnd">
                <a:solidFill>
                  <a:srgbClr val="00BF63"/>
                </a:solidFill>
                <a:prstDash val="solid"/>
                <a:round/>
              </a:ln>
            </p:spPr>
          </p:sp>
          <p:sp>
            <p:nvSpPr>
              <p:cNvPr id="19" name="TextBox 19"/>
              <p:cNvSpPr txBox="1"/>
              <p:nvPr/>
            </p:nvSpPr>
            <p:spPr>
              <a:xfrm>
                <a:off x="0" y="-47625"/>
                <a:ext cx="972859" cy="1276642"/>
              </a:xfrm>
              <a:prstGeom prst="rect">
                <a:avLst/>
              </a:prstGeom>
            </p:spPr>
            <p:txBody>
              <a:bodyPr lIns="34756" tIns="34756" rIns="34756" bIns="34756" rtlCol="0" anchor="ctr"/>
              <a:lstStyle/>
              <a:p>
                <a:pPr algn="ctr">
                  <a:lnSpc>
                    <a:spcPts val="2659"/>
                  </a:lnSpc>
                </a:pPr>
                <a:endParaRPr/>
              </a:p>
            </p:txBody>
          </p:sp>
        </p:grpSp>
        <p:grpSp>
          <p:nvGrpSpPr>
            <p:cNvPr id="20" name="Group 20"/>
            <p:cNvGrpSpPr/>
            <p:nvPr/>
          </p:nvGrpSpPr>
          <p:grpSpPr>
            <a:xfrm>
              <a:off x="133238" y="2501322"/>
              <a:ext cx="3143320" cy="1551800"/>
              <a:chOff x="0" y="0"/>
              <a:chExt cx="907520" cy="448026"/>
            </a:xfrm>
          </p:grpSpPr>
          <p:sp>
            <p:nvSpPr>
              <p:cNvPr id="21" name="Freeform 21"/>
              <p:cNvSpPr/>
              <p:nvPr/>
            </p:nvSpPr>
            <p:spPr>
              <a:xfrm>
                <a:off x="0" y="0"/>
                <a:ext cx="907520" cy="448026"/>
              </a:xfrm>
              <a:custGeom>
                <a:avLst/>
                <a:gdLst/>
                <a:ahLst/>
                <a:cxnLst/>
                <a:rect l="l" t="t" r="r" b="b"/>
                <a:pathLst>
                  <a:path w="907520" h="448026">
                    <a:moveTo>
                      <a:pt x="0" y="0"/>
                    </a:moveTo>
                    <a:lnTo>
                      <a:pt x="907520" y="0"/>
                    </a:lnTo>
                    <a:lnTo>
                      <a:pt x="907520" y="448026"/>
                    </a:lnTo>
                    <a:lnTo>
                      <a:pt x="0" y="448026"/>
                    </a:lnTo>
                    <a:close/>
                  </a:path>
                </a:pathLst>
              </a:custGeom>
              <a:solidFill>
                <a:srgbClr val="00BF63"/>
              </a:solidFill>
              <a:ln w="38100" cap="sq">
                <a:solidFill>
                  <a:srgbClr val="00BF63"/>
                </a:solidFill>
                <a:prstDash val="solid"/>
                <a:miter/>
              </a:ln>
            </p:spPr>
          </p:sp>
          <p:sp>
            <p:nvSpPr>
              <p:cNvPr id="22" name="TextBox 22"/>
              <p:cNvSpPr txBox="1"/>
              <p:nvPr/>
            </p:nvSpPr>
            <p:spPr>
              <a:xfrm>
                <a:off x="0" y="-47625"/>
                <a:ext cx="907520" cy="495651"/>
              </a:xfrm>
              <a:prstGeom prst="rect">
                <a:avLst/>
              </a:prstGeom>
            </p:spPr>
            <p:txBody>
              <a:bodyPr lIns="34756" tIns="34756" rIns="34756" bIns="34756" rtlCol="0" anchor="ctr"/>
              <a:lstStyle/>
              <a:p>
                <a:pPr algn="ctr">
                  <a:lnSpc>
                    <a:spcPts val="2659"/>
                  </a:lnSpc>
                </a:pPr>
                <a:endParaRPr/>
              </a:p>
            </p:txBody>
          </p:sp>
        </p:grpSp>
        <p:grpSp>
          <p:nvGrpSpPr>
            <p:cNvPr id="23" name="Group 23"/>
            <p:cNvGrpSpPr/>
            <p:nvPr/>
          </p:nvGrpSpPr>
          <p:grpSpPr>
            <a:xfrm>
              <a:off x="1305083" y="126975"/>
              <a:ext cx="925422" cy="923447"/>
              <a:chOff x="0" y="0"/>
              <a:chExt cx="551635" cy="550458"/>
            </a:xfrm>
          </p:grpSpPr>
          <p:sp>
            <p:nvSpPr>
              <p:cNvPr id="24" name="Freeform 24"/>
              <p:cNvSpPr/>
              <p:nvPr/>
            </p:nvSpPr>
            <p:spPr>
              <a:xfrm>
                <a:off x="0" y="0"/>
                <a:ext cx="551635" cy="550458"/>
              </a:xfrm>
              <a:custGeom>
                <a:avLst/>
                <a:gdLst/>
                <a:ahLst/>
                <a:cxnLst/>
                <a:rect l="l" t="t" r="r" b="b"/>
                <a:pathLst>
                  <a:path w="551635" h="550458">
                    <a:moveTo>
                      <a:pt x="275818" y="0"/>
                    </a:moveTo>
                    <a:cubicBezTo>
                      <a:pt x="123488" y="0"/>
                      <a:pt x="0" y="123224"/>
                      <a:pt x="0" y="275229"/>
                    </a:cubicBezTo>
                    <a:cubicBezTo>
                      <a:pt x="0" y="427234"/>
                      <a:pt x="123488" y="550458"/>
                      <a:pt x="275818" y="550458"/>
                    </a:cubicBezTo>
                    <a:cubicBezTo>
                      <a:pt x="428147" y="550458"/>
                      <a:pt x="551635" y="427234"/>
                      <a:pt x="551635" y="275229"/>
                    </a:cubicBezTo>
                    <a:cubicBezTo>
                      <a:pt x="551635" y="123224"/>
                      <a:pt x="428147" y="0"/>
                      <a:pt x="275818" y="0"/>
                    </a:cubicBezTo>
                    <a:close/>
                  </a:path>
                </a:pathLst>
              </a:custGeom>
              <a:solidFill>
                <a:srgbClr val="FFFFFF"/>
              </a:solidFill>
              <a:ln w="38100" cap="sq">
                <a:solidFill>
                  <a:srgbClr val="5CE1E6"/>
                </a:solidFill>
                <a:prstDash val="solid"/>
                <a:miter/>
              </a:ln>
            </p:spPr>
          </p:sp>
          <p:sp>
            <p:nvSpPr>
              <p:cNvPr id="25" name="TextBox 25"/>
              <p:cNvSpPr txBox="1"/>
              <p:nvPr/>
            </p:nvSpPr>
            <p:spPr>
              <a:xfrm>
                <a:off x="51716" y="13505"/>
                <a:ext cx="448204" cy="485347"/>
              </a:xfrm>
              <a:prstGeom prst="rect">
                <a:avLst/>
              </a:prstGeom>
            </p:spPr>
            <p:txBody>
              <a:bodyPr lIns="50800" tIns="50800" rIns="50800" bIns="50800" rtlCol="0" anchor="ctr"/>
              <a:lstStyle/>
              <a:p>
                <a:pPr algn="ctr">
                  <a:lnSpc>
                    <a:spcPts val="2799"/>
                  </a:lnSpc>
                </a:pPr>
                <a:r>
                  <a:rPr lang="en-US" sz="1999">
                    <a:solidFill>
                      <a:srgbClr val="000000"/>
                    </a:solidFill>
                    <a:latin typeface="Antic"/>
                    <a:ea typeface="Antic"/>
                    <a:cs typeface="Antic"/>
                    <a:sym typeface="Antic"/>
                  </a:rPr>
                  <a:t>1</a:t>
                </a:r>
              </a:p>
            </p:txBody>
          </p:sp>
        </p:grpSp>
        <p:grpSp>
          <p:nvGrpSpPr>
            <p:cNvPr id="26" name="Group 26"/>
            <p:cNvGrpSpPr/>
            <p:nvPr/>
          </p:nvGrpSpPr>
          <p:grpSpPr>
            <a:xfrm>
              <a:off x="1517182" y="3094338"/>
              <a:ext cx="263312" cy="263312"/>
              <a:chOff x="0" y="0"/>
              <a:chExt cx="812800" cy="812800"/>
            </a:xfrm>
          </p:grpSpPr>
          <p:sp>
            <p:nvSpPr>
              <p:cNvPr id="27" name="Freeform 27"/>
              <p:cNvSpPr/>
              <p:nvPr/>
            </p:nvSpPr>
            <p:spPr>
              <a:xfrm>
                <a:off x="0" y="0"/>
                <a:ext cx="812800" cy="812800"/>
              </a:xfrm>
              <a:custGeom>
                <a:avLst/>
                <a:gdLst/>
                <a:ahLst/>
                <a:cxnLst/>
                <a:rect l="l" t="t" r="r" b="b"/>
                <a:pathLst>
                  <a:path w="812800" h="81280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FFFFFF"/>
              </a:solidFill>
              <a:ln w="9525" cap="sq">
                <a:solidFill>
                  <a:srgbClr val="FFFFFF"/>
                </a:solidFill>
                <a:prstDash val="solid"/>
                <a:miter/>
              </a:ln>
            </p:spPr>
          </p:sp>
          <p:sp>
            <p:nvSpPr>
              <p:cNvPr id="28" name="TextBox 28"/>
              <p:cNvSpPr txBox="1"/>
              <p:nvPr/>
            </p:nvSpPr>
            <p:spPr>
              <a:xfrm>
                <a:off x="203200" y="-47625"/>
                <a:ext cx="406400" cy="758825"/>
              </a:xfrm>
              <a:prstGeom prst="rect">
                <a:avLst/>
              </a:prstGeom>
            </p:spPr>
            <p:txBody>
              <a:bodyPr lIns="50800" tIns="50800" rIns="50800" bIns="50800" rtlCol="0" anchor="ctr"/>
              <a:lstStyle/>
              <a:p>
                <a:pPr algn="ctr">
                  <a:lnSpc>
                    <a:spcPts val="2659"/>
                  </a:lnSpc>
                </a:pPr>
                <a:endParaRPr/>
              </a:p>
            </p:txBody>
          </p:sp>
        </p:grpSp>
        <p:sp>
          <p:nvSpPr>
            <p:cNvPr id="29" name="TextBox 29"/>
            <p:cNvSpPr txBox="1"/>
            <p:nvPr/>
          </p:nvSpPr>
          <p:spPr>
            <a:xfrm>
              <a:off x="255227" y="1170351"/>
              <a:ext cx="2965627" cy="386027"/>
            </a:xfrm>
            <a:prstGeom prst="rect">
              <a:avLst/>
            </a:prstGeom>
          </p:spPr>
          <p:txBody>
            <a:bodyPr lIns="0" tIns="0" rIns="0" bIns="0" rtlCol="0" anchor="t">
              <a:spAutoFit/>
            </a:bodyPr>
            <a:lstStyle/>
            <a:p>
              <a:pPr algn="ctr">
                <a:lnSpc>
                  <a:spcPts val="2548"/>
                </a:lnSpc>
              </a:pPr>
              <a:r>
                <a:rPr lang="en-US" sz="1820" b="1">
                  <a:solidFill>
                    <a:srgbClr val="1800AD"/>
                  </a:solidFill>
                  <a:latin typeface="Canva Sans Bold"/>
                  <a:ea typeface="Canva Sans Bold"/>
                  <a:cs typeface="Canva Sans Bold"/>
                  <a:sym typeface="Canva Sans Bold"/>
                </a:rPr>
                <a:t>Case Folding</a:t>
              </a:r>
            </a:p>
          </p:txBody>
        </p:sp>
        <p:sp>
          <p:nvSpPr>
            <p:cNvPr id="30" name="TextBox 30"/>
            <p:cNvSpPr txBox="1"/>
            <p:nvPr/>
          </p:nvSpPr>
          <p:spPr>
            <a:xfrm>
              <a:off x="531654" y="2517550"/>
              <a:ext cx="2472279" cy="513288"/>
            </a:xfrm>
            <a:prstGeom prst="rect">
              <a:avLst/>
            </a:prstGeom>
          </p:spPr>
          <p:txBody>
            <a:bodyPr lIns="0" tIns="0" rIns="0" bIns="0" rtlCol="0" anchor="t">
              <a:spAutoFit/>
            </a:bodyPr>
            <a:lstStyle/>
            <a:p>
              <a:pPr algn="ctr">
                <a:lnSpc>
                  <a:spcPts val="1618"/>
                </a:lnSpc>
              </a:pPr>
              <a:r>
                <a:rPr lang="en-US" sz="1156">
                  <a:solidFill>
                    <a:srgbClr val="FFFFFF"/>
                  </a:solidFill>
                  <a:latin typeface="Canva Sans"/>
                  <a:ea typeface="Canva Sans"/>
                  <a:cs typeface="Canva Sans"/>
                  <a:sym typeface="Canva Sans"/>
                </a:rPr>
                <a:t>Segala puji bagi Allah, Tuhan semesta alam</a:t>
              </a:r>
            </a:p>
          </p:txBody>
        </p:sp>
        <p:sp>
          <p:nvSpPr>
            <p:cNvPr id="31" name="TextBox 31"/>
            <p:cNvSpPr txBox="1"/>
            <p:nvPr/>
          </p:nvSpPr>
          <p:spPr>
            <a:xfrm>
              <a:off x="501901" y="3402100"/>
              <a:ext cx="2472279" cy="513288"/>
            </a:xfrm>
            <a:prstGeom prst="rect">
              <a:avLst/>
            </a:prstGeom>
          </p:spPr>
          <p:txBody>
            <a:bodyPr lIns="0" tIns="0" rIns="0" bIns="0" rtlCol="0" anchor="t">
              <a:spAutoFit/>
            </a:bodyPr>
            <a:lstStyle/>
            <a:p>
              <a:pPr algn="ctr">
                <a:lnSpc>
                  <a:spcPts val="1618"/>
                </a:lnSpc>
              </a:pPr>
              <a:r>
                <a:rPr lang="en-US" sz="1156">
                  <a:solidFill>
                    <a:srgbClr val="FFFFFF"/>
                  </a:solidFill>
                  <a:latin typeface="Canva Sans"/>
                  <a:ea typeface="Canva Sans"/>
                  <a:cs typeface="Canva Sans"/>
                  <a:sym typeface="Canva Sans"/>
                </a:rPr>
                <a:t>segala puji bagi allah, tuhan semesta alam</a:t>
              </a:r>
            </a:p>
          </p:txBody>
        </p:sp>
      </p:grpSp>
      <p:grpSp>
        <p:nvGrpSpPr>
          <p:cNvPr id="32" name="Group 32"/>
          <p:cNvGrpSpPr/>
          <p:nvPr/>
        </p:nvGrpSpPr>
        <p:grpSpPr>
          <a:xfrm>
            <a:off x="7560145" y="2735430"/>
            <a:ext cx="2527223" cy="3192650"/>
            <a:chOff x="0" y="0"/>
            <a:chExt cx="3369631" cy="4256867"/>
          </a:xfrm>
        </p:grpSpPr>
        <p:grpSp>
          <p:nvGrpSpPr>
            <p:cNvPr id="33" name="Group 33"/>
            <p:cNvGrpSpPr/>
            <p:nvPr/>
          </p:nvGrpSpPr>
          <p:grpSpPr>
            <a:xfrm>
              <a:off x="0" y="0"/>
              <a:ext cx="3369631" cy="4256867"/>
              <a:chOff x="0" y="0"/>
              <a:chExt cx="972859" cy="1229017"/>
            </a:xfrm>
          </p:grpSpPr>
          <p:sp>
            <p:nvSpPr>
              <p:cNvPr id="34" name="Freeform 34"/>
              <p:cNvSpPr/>
              <p:nvPr/>
            </p:nvSpPr>
            <p:spPr>
              <a:xfrm>
                <a:off x="0" y="0"/>
                <a:ext cx="972859" cy="1229017"/>
              </a:xfrm>
              <a:custGeom>
                <a:avLst/>
                <a:gdLst/>
                <a:ahLst/>
                <a:cxnLst/>
                <a:rect l="l" t="t" r="r" b="b"/>
                <a:pathLst>
                  <a:path w="972859" h="1229017">
                    <a:moveTo>
                      <a:pt x="79649" y="0"/>
                    </a:moveTo>
                    <a:lnTo>
                      <a:pt x="893211" y="0"/>
                    </a:lnTo>
                    <a:cubicBezTo>
                      <a:pt x="914335" y="0"/>
                      <a:pt x="934594" y="8392"/>
                      <a:pt x="949531" y="23329"/>
                    </a:cubicBezTo>
                    <a:cubicBezTo>
                      <a:pt x="964468" y="38266"/>
                      <a:pt x="972859" y="58525"/>
                      <a:pt x="972859" y="79649"/>
                    </a:cubicBezTo>
                    <a:lnTo>
                      <a:pt x="972859" y="1149368"/>
                    </a:lnTo>
                    <a:cubicBezTo>
                      <a:pt x="972859" y="1170492"/>
                      <a:pt x="964468" y="1190751"/>
                      <a:pt x="949531" y="1205688"/>
                    </a:cubicBezTo>
                    <a:cubicBezTo>
                      <a:pt x="934594" y="1220625"/>
                      <a:pt x="914335" y="1229017"/>
                      <a:pt x="893211" y="1229017"/>
                    </a:cubicBezTo>
                    <a:lnTo>
                      <a:pt x="79649" y="1229017"/>
                    </a:lnTo>
                    <a:cubicBezTo>
                      <a:pt x="35660" y="1229017"/>
                      <a:pt x="0" y="1193357"/>
                      <a:pt x="0" y="1149368"/>
                    </a:cubicBezTo>
                    <a:lnTo>
                      <a:pt x="0" y="79649"/>
                    </a:lnTo>
                    <a:cubicBezTo>
                      <a:pt x="0" y="58525"/>
                      <a:pt x="8392" y="38266"/>
                      <a:pt x="23329" y="23329"/>
                    </a:cubicBezTo>
                    <a:cubicBezTo>
                      <a:pt x="38266" y="8392"/>
                      <a:pt x="58525" y="0"/>
                      <a:pt x="79649" y="0"/>
                    </a:cubicBezTo>
                    <a:close/>
                  </a:path>
                </a:pathLst>
              </a:custGeom>
              <a:solidFill>
                <a:srgbClr val="FFFFFF"/>
              </a:solidFill>
              <a:ln w="38100" cap="rnd">
                <a:solidFill>
                  <a:srgbClr val="00BF63"/>
                </a:solidFill>
                <a:prstDash val="solid"/>
                <a:round/>
              </a:ln>
            </p:spPr>
          </p:sp>
          <p:sp>
            <p:nvSpPr>
              <p:cNvPr id="35" name="TextBox 35"/>
              <p:cNvSpPr txBox="1"/>
              <p:nvPr/>
            </p:nvSpPr>
            <p:spPr>
              <a:xfrm>
                <a:off x="0" y="-47625"/>
                <a:ext cx="972859" cy="1276642"/>
              </a:xfrm>
              <a:prstGeom prst="rect">
                <a:avLst/>
              </a:prstGeom>
            </p:spPr>
            <p:txBody>
              <a:bodyPr lIns="34756" tIns="34756" rIns="34756" bIns="34756" rtlCol="0" anchor="ctr"/>
              <a:lstStyle/>
              <a:p>
                <a:pPr algn="ctr">
                  <a:lnSpc>
                    <a:spcPts val="2659"/>
                  </a:lnSpc>
                </a:pPr>
                <a:endParaRPr/>
              </a:p>
            </p:txBody>
          </p:sp>
        </p:grpSp>
        <p:grpSp>
          <p:nvGrpSpPr>
            <p:cNvPr id="36" name="Group 36"/>
            <p:cNvGrpSpPr/>
            <p:nvPr/>
          </p:nvGrpSpPr>
          <p:grpSpPr>
            <a:xfrm>
              <a:off x="133238" y="2490587"/>
              <a:ext cx="3143320" cy="1551800"/>
              <a:chOff x="0" y="0"/>
              <a:chExt cx="907520" cy="448026"/>
            </a:xfrm>
          </p:grpSpPr>
          <p:sp>
            <p:nvSpPr>
              <p:cNvPr id="37" name="Freeform 37"/>
              <p:cNvSpPr/>
              <p:nvPr/>
            </p:nvSpPr>
            <p:spPr>
              <a:xfrm>
                <a:off x="0" y="0"/>
                <a:ext cx="907520" cy="448026"/>
              </a:xfrm>
              <a:custGeom>
                <a:avLst/>
                <a:gdLst/>
                <a:ahLst/>
                <a:cxnLst/>
                <a:rect l="l" t="t" r="r" b="b"/>
                <a:pathLst>
                  <a:path w="907520" h="448026">
                    <a:moveTo>
                      <a:pt x="0" y="0"/>
                    </a:moveTo>
                    <a:lnTo>
                      <a:pt x="907520" y="0"/>
                    </a:lnTo>
                    <a:lnTo>
                      <a:pt x="907520" y="448026"/>
                    </a:lnTo>
                    <a:lnTo>
                      <a:pt x="0" y="448026"/>
                    </a:lnTo>
                    <a:close/>
                  </a:path>
                </a:pathLst>
              </a:custGeom>
              <a:solidFill>
                <a:srgbClr val="00BF63"/>
              </a:solidFill>
              <a:ln w="38100" cap="sq">
                <a:solidFill>
                  <a:srgbClr val="00BF63"/>
                </a:solidFill>
                <a:prstDash val="solid"/>
                <a:miter/>
              </a:ln>
            </p:spPr>
          </p:sp>
          <p:sp>
            <p:nvSpPr>
              <p:cNvPr id="38" name="TextBox 38"/>
              <p:cNvSpPr txBox="1"/>
              <p:nvPr/>
            </p:nvSpPr>
            <p:spPr>
              <a:xfrm>
                <a:off x="0" y="-47625"/>
                <a:ext cx="907520" cy="495651"/>
              </a:xfrm>
              <a:prstGeom prst="rect">
                <a:avLst/>
              </a:prstGeom>
            </p:spPr>
            <p:txBody>
              <a:bodyPr lIns="34756" tIns="34756" rIns="34756" bIns="34756" rtlCol="0" anchor="ctr"/>
              <a:lstStyle/>
              <a:p>
                <a:pPr algn="ctr">
                  <a:lnSpc>
                    <a:spcPts val="2659"/>
                  </a:lnSpc>
                </a:pPr>
                <a:endParaRPr/>
              </a:p>
            </p:txBody>
          </p:sp>
        </p:grpSp>
        <p:grpSp>
          <p:nvGrpSpPr>
            <p:cNvPr id="39" name="Group 39"/>
            <p:cNvGrpSpPr/>
            <p:nvPr/>
          </p:nvGrpSpPr>
          <p:grpSpPr>
            <a:xfrm>
              <a:off x="1305083" y="126975"/>
              <a:ext cx="925422" cy="923447"/>
              <a:chOff x="0" y="0"/>
              <a:chExt cx="551635" cy="550458"/>
            </a:xfrm>
          </p:grpSpPr>
          <p:sp>
            <p:nvSpPr>
              <p:cNvPr id="40" name="Freeform 40"/>
              <p:cNvSpPr/>
              <p:nvPr/>
            </p:nvSpPr>
            <p:spPr>
              <a:xfrm>
                <a:off x="0" y="0"/>
                <a:ext cx="551635" cy="550458"/>
              </a:xfrm>
              <a:custGeom>
                <a:avLst/>
                <a:gdLst/>
                <a:ahLst/>
                <a:cxnLst/>
                <a:rect l="l" t="t" r="r" b="b"/>
                <a:pathLst>
                  <a:path w="551635" h="550458">
                    <a:moveTo>
                      <a:pt x="275818" y="0"/>
                    </a:moveTo>
                    <a:cubicBezTo>
                      <a:pt x="123488" y="0"/>
                      <a:pt x="0" y="123224"/>
                      <a:pt x="0" y="275229"/>
                    </a:cubicBezTo>
                    <a:cubicBezTo>
                      <a:pt x="0" y="427234"/>
                      <a:pt x="123488" y="550458"/>
                      <a:pt x="275818" y="550458"/>
                    </a:cubicBezTo>
                    <a:cubicBezTo>
                      <a:pt x="428147" y="550458"/>
                      <a:pt x="551635" y="427234"/>
                      <a:pt x="551635" y="275229"/>
                    </a:cubicBezTo>
                    <a:cubicBezTo>
                      <a:pt x="551635" y="123224"/>
                      <a:pt x="428147" y="0"/>
                      <a:pt x="275818" y="0"/>
                    </a:cubicBezTo>
                    <a:close/>
                  </a:path>
                </a:pathLst>
              </a:custGeom>
              <a:solidFill>
                <a:srgbClr val="FFFFFF"/>
              </a:solidFill>
              <a:ln w="38100" cap="sq">
                <a:solidFill>
                  <a:srgbClr val="5CE1E6"/>
                </a:solidFill>
                <a:prstDash val="solid"/>
                <a:miter/>
              </a:ln>
            </p:spPr>
          </p:sp>
          <p:sp>
            <p:nvSpPr>
              <p:cNvPr id="41" name="TextBox 41"/>
              <p:cNvSpPr txBox="1"/>
              <p:nvPr/>
            </p:nvSpPr>
            <p:spPr>
              <a:xfrm>
                <a:off x="51716" y="13505"/>
                <a:ext cx="448204" cy="485347"/>
              </a:xfrm>
              <a:prstGeom prst="rect">
                <a:avLst/>
              </a:prstGeom>
            </p:spPr>
            <p:txBody>
              <a:bodyPr lIns="50800" tIns="50800" rIns="50800" bIns="50800" rtlCol="0" anchor="ctr"/>
              <a:lstStyle/>
              <a:p>
                <a:pPr algn="ctr">
                  <a:lnSpc>
                    <a:spcPts val="2799"/>
                  </a:lnSpc>
                </a:pPr>
                <a:r>
                  <a:rPr lang="en-US" sz="1999">
                    <a:solidFill>
                      <a:srgbClr val="000000"/>
                    </a:solidFill>
                    <a:latin typeface="Antic"/>
                    <a:ea typeface="Antic"/>
                    <a:cs typeface="Antic"/>
                    <a:sym typeface="Antic"/>
                  </a:rPr>
                  <a:t>3</a:t>
                </a:r>
              </a:p>
            </p:txBody>
          </p:sp>
        </p:grpSp>
        <p:grpSp>
          <p:nvGrpSpPr>
            <p:cNvPr id="42" name="Group 42"/>
            <p:cNvGrpSpPr/>
            <p:nvPr/>
          </p:nvGrpSpPr>
          <p:grpSpPr>
            <a:xfrm>
              <a:off x="1517182" y="3107038"/>
              <a:ext cx="263312" cy="263312"/>
              <a:chOff x="0" y="0"/>
              <a:chExt cx="812800" cy="812800"/>
            </a:xfrm>
          </p:grpSpPr>
          <p:sp>
            <p:nvSpPr>
              <p:cNvPr id="43" name="Freeform 43"/>
              <p:cNvSpPr/>
              <p:nvPr/>
            </p:nvSpPr>
            <p:spPr>
              <a:xfrm>
                <a:off x="0" y="0"/>
                <a:ext cx="812800" cy="812800"/>
              </a:xfrm>
              <a:custGeom>
                <a:avLst/>
                <a:gdLst/>
                <a:ahLst/>
                <a:cxnLst/>
                <a:rect l="l" t="t" r="r" b="b"/>
                <a:pathLst>
                  <a:path w="812800" h="81280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FFFFFF"/>
              </a:solidFill>
              <a:ln w="9525" cap="sq">
                <a:solidFill>
                  <a:srgbClr val="FFFFFF"/>
                </a:solidFill>
                <a:prstDash val="solid"/>
                <a:miter/>
              </a:ln>
            </p:spPr>
          </p:sp>
          <p:sp>
            <p:nvSpPr>
              <p:cNvPr id="44" name="TextBox 44"/>
              <p:cNvSpPr txBox="1"/>
              <p:nvPr/>
            </p:nvSpPr>
            <p:spPr>
              <a:xfrm>
                <a:off x="203200" y="-47625"/>
                <a:ext cx="406400" cy="758825"/>
              </a:xfrm>
              <a:prstGeom prst="rect">
                <a:avLst/>
              </a:prstGeom>
            </p:spPr>
            <p:txBody>
              <a:bodyPr lIns="50800" tIns="50800" rIns="50800" bIns="50800" rtlCol="0" anchor="ctr"/>
              <a:lstStyle/>
              <a:p>
                <a:pPr algn="ctr">
                  <a:lnSpc>
                    <a:spcPts val="2659"/>
                  </a:lnSpc>
                </a:pPr>
                <a:endParaRPr/>
              </a:p>
            </p:txBody>
          </p:sp>
        </p:grpSp>
        <p:sp>
          <p:nvSpPr>
            <p:cNvPr id="45" name="TextBox 45"/>
            <p:cNvSpPr txBox="1"/>
            <p:nvPr/>
          </p:nvSpPr>
          <p:spPr>
            <a:xfrm>
              <a:off x="310931" y="1170351"/>
              <a:ext cx="2965627" cy="386027"/>
            </a:xfrm>
            <a:prstGeom prst="rect">
              <a:avLst/>
            </a:prstGeom>
          </p:spPr>
          <p:txBody>
            <a:bodyPr lIns="0" tIns="0" rIns="0" bIns="0" rtlCol="0" anchor="t">
              <a:spAutoFit/>
            </a:bodyPr>
            <a:lstStyle/>
            <a:p>
              <a:pPr algn="ctr">
                <a:lnSpc>
                  <a:spcPts val="2548"/>
                </a:lnSpc>
              </a:pPr>
              <a:r>
                <a:rPr lang="en-US" sz="1820" b="1">
                  <a:solidFill>
                    <a:srgbClr val="1800AD"/>
                  </a:solidFill>
                  <a:latin typeface="Canva Sans Bold"/>
                  <a:ea typeface="Canva Sans Bold"/>
                  <a:cs typeface="Canva Sans Bold"/>
                  <a:sym typeface="Canva Sans Bold"/>
                </a:rPr>
                <a:t>Tokenization</a:t>
              </a:r>
            </a:p>
          </p:txBody>
        </p:sp>
        <p:sp>
          <p:nvSpPr>
            <p:cNvPr id="46" name="TextBox 46"/>
            <p:cNvSpPr txBox="1"/>
            <p:nvPr/>
          </p:nvSpPr>
          <p:spPr>
            <a:xfrm>
              <a:off x="531654" y="2530250"/>
              <a:ext cx="2472279" cy="513288"/>
            </a:xfrm>
            <a:prstGeom prst="rect">
              <a:avLst/>
            </a:prstGeom>
          </p:spPr>
          <p:txBody>
            <a:bodyPr lIns="0" tIns="0" rIns="0" bIns="0" rtlCol="0" anchor="t">
              <a:spAutoFit/>
            </a:bodyPr>
            <a:lstStyle/>
            <a:p>
              <a:pPr algn="ctr">
                <a:lnSpc>
                  <a:spcPts val="1618"/>
                </a:lnSpc>
              </a:pPr>
              <a:r>
                <a:rPr lang="en-US" sz="1156">
                  <a:solidFill>
                    <a:srgbClr val="FFFFFF"/>
                  </a:solidFill>
                  <a:latin typeface="Canva Sans"/>
                  <a:ea typeface="Canva Sans"/>
                  <a:cs typeface="Canva Sans"/>
                  <a:sym typeface="Canva Sans"/>
                </a:rPr>
                <a:t>Segala puji bagi Allah, Tuhan semesta alam</a:t>
              </a:r>
            </a:p>
          </p:txBody>
        </p:sp>
        <p:sp>
          <p:nvSpPr>
            <p:cNvPr id="47" name="TextBox 47"/>
            <p:cNvSpPr txBox="1"/>
            <p:nvPr/>
          </p:nvSpPr>
          <p:spPr>
            <a:xfrm>
              <a:off x="501901" y="3414800"/>
              <a:ext cx="2472279" cy="513288"/>
            </a:xfrm>
            <a:prstGeom prst="rect">
              <a:avLst/>
            </a:prstGeom>
          </p:spPr>
          <p:txBody>
            <a:bodyPr lIns="0" tIns="0" rIns="0" bIns="0" rtlCol="0" anchor="t">
              <a:spAutoFit/>
            </a:bodyPr>
            <a:lstStyle/>
            <a:p>
              <a:pPr algn="just">
                <a:lnSpc>
                  <a:spcPts val="1618"/>
                </a:lnSpc>
              </a:pPr>
              <a:r>
                <a:rPr lang="en-US" sz="1156">
                  <a:solidFill>
                    <a:srgbClr val="FFFFFF"/>
                  </a:solidFill>
                  <a:latin typeface="Canva Sans"/>
                  <a:ea typeface="Canva Sans"/>
                  <a:cs typeface="Canva Sans"/>
                  <a:sym typeface="Canva Sans"/>
                </a:rPr>
                <a:t>[puji, allah, tuhan, semesta, alam]                         </a:t>
              </a:r>
            </a:p>
          </p:txBody>
        </p:sp>
      </p:grpSp>
      <p:grpSp>
        <p:nvGrpSpPr>
          <p:cNvPr id="48" name="Group 48"/>
          <p:cNvGrpSpPr/>
          <p:nvPr/>
        </p:nvGrpSpPr>
        <p:grpSpPr>
          <a:xfrm>
            <a:off x="4555854" y="2735430"/>
            <a:ext cx="2527223" cy="3192650"/>
            <a:chOff x="0" y="0"/>
            <a:chExt cx="3369631" cy="4256867"/>
          </a:xfrm>
        </p:grpSpPr>
        <p:grpSp>
          <p:nvGrpSpPr>
            <p:cNvPr id="49" name="Group 49"/>
            <p:cNvGrpSpPr/>
            <p:nvPr/>
          </p:nvGrpSpPr>
          <p:grpSpPr>
            <a:xfrm>
              <a:off x="0" y="0"/>
              <a:ext cx="3369631" cy="4256867"/>
              <a:chOff x="0" y="0"/>
              <a:chExt cx="972859" cy="1229017"/>
            </a:xfrm>
          </p:grpSpPr>
          <p:sp>
            <p:nvSpPr>
              <p:cNvPr id="50" name="Freeform 50"/>
              <p:cNvSpPr/>
              <p:nvPr/>
            </p:nvSpPr>
            <p:spPr>
              <a:xfrm>
                <a:off x="0" y="0"/>
                <a:ext cx="972859" cy="1229017"/>
              </a:xfrm>
              <a:custGeom>
                <a:avLst/>
                <a:gdLst/>
                <a:ahLst/>
                <a:cxnLst/>
                <a:rect l="l" t="t" r="r" b="b"/>
                <a:pathLst>
                  <a:path w="972859" h="1229017">
                    <a:moveTo>
                      <a:pt x="79649" y="0"/>
                    </a:moveTo>
                    <a:lnTo>
                      <a:pt x="893211" y="0"/>
                    </a:lnTo>
                    <a:cubicBezTo>
                      <a:pt x="914335" y="0"/>
                      <a:pt x="934594" y="8392"/>
                      <a:pt x="949531" y="23329"/>
                    </a:cubicBezTo>
                    <a:cubicBezTo>
                      <a:pt x="964468" y="38266"/>
                      <a:pt x="972859" y="58525"/>
                      <a:pt x="972859" y="79649"/>
                    </a:cubicBezTo>
                    <a:lnTo>
                      <a:pt x="972859" y="1149368"/>
                    </a:lnTo>
                    <a:cubicBezTo>
                      <a:pt x="972859" y="1170492"/>
                      <a:pt x="964468" y="1190751"/>
                      <a:pt x="949531" y="1205688"/>
                    </a:cubicBezTo>
                    <a:cubicBezTo>
                      <a:pt x="934594" y="1220625"/>
                      <a:pt x="914335" y="1229017"/>
                      <a:pt x="893211" y="1229017"/>
                    </a:cubicBezTo>
                    <a:lnTo>
                      <a:pt x="79649" y="1229017"/>
                    </a:lnTo>
                    <a:cubicBezTo>
                      <a:pt x="35660" y="1229017"/>
                      <a:pt x="0" y="1193357"/>
                      <a:pt x="0" y="1149368"/>
                    </a:cubicBezTo>
                    <a:lnTo>
                      <a:pt x="0" y="79649"/>
                    </a:lnTo>
                    <a:cubicBezTo>
                      <a:pt x="0" y="58525"/>
                      <a:pt x="8392" y="38266"/>
                      <a:pt x="23329" y="23329"/>
                    </a:cubicBezTo>
                    <a:cubicBezTo>
                      <a:pt x="38266" y="8392"/>
                      <a:pt x="58525" y="0"/>
                      <a:pt x="79649" y="0"/>
                    </a:cubicBezTo>
                    <a:close/>
                  </a:path>
                </a:pathLst>
              </a:custGeom>
              <a:solidFill>
                <a:srgbClr val="FFFFFF"/>
              </a:solidFill>
              <a:ln w="38100" cap="rnd">
                <a:solidFill>
                  <a:srgbClr val="00BF63"/>
                </a:solidFill>
                <a:prstDash val="solid"/>
                <a:round/>
              </a:ln>
            </p:spPr>
          </p:sp>
          <p:sp>
            <p:nvSpPr>
              <p:cNvPr id="51" name="TextBox 51"/>
              <p:cNvSpPr txBox="1"/>
              <p:nvPr/>
            </p:nvSpPr>
            <p:spPr>
              <a:xfrm>
                <a:off x="0" y="-47625"/>
                <a:ext cx="972859" cy="1276642"/>
              </a:xfrm>
              <a:prstGeom prst="rect">
                <a:avLst/>
              </a:prstGeom>
            </p:spPr>
            <p:txBody>
              <a:bodyPr lIns="34756" tIns="34756" rIns="34756" bIns="34756" rtlCol="0" anchor="ctr"/>
              <a:lstStyle/>
              <a:p>
                <a:pPr algn="ctr">
                  <a:lnSpc>
                    <a:spcPts val="2659"/>
                  </a:lnSpc>
                </a:pPr>
                <a:endParaRPr/>
              </a:p>
            </p:txBody>
          </p:sp>
        </p:grpSp>
        <p:grpSp>
          <p:nvGrpSpPr>
            <p:cNvPr id="52" name="Group 52"/>
            <p:cNvGrpSpPr/>
            <p:nvPr/>
          </p:nvGrpSpPr>
          <p:grpSpPr>
            <a:xfrm>
              <a:off x="133238" y="2537885"/>
              <a:ext cx="3143320" cy="1551800"/>
              <a:chOff x="0" y="0"/>
              <a:chExt cx="907520" cy="448026"/>
            </a:xfrm>
          </p:grpSpPr>
          <p:sp>
            <p:nvSpPr>
              <p:cNvPr id="53" name="Freeform 53"/>
              <p:cNvSpPr/>
              <p:nvPr/>
            </p:nvSpPr>
            <p:spPr>
              <a:xfrm>
                <a:off x="0" y="0"/>
                <a:ext cx="907520" cy="448026"/>
              </a:xfrm>
              <a:custGeom>
                <a:avLst/>
                <a:gdLst/>
                <a:ahLst/>
                <a:cxnLst/>
                <a:rect l="l" t="t" r="r" b="b"/>
                <a:pathLst>
                  <a:path w="907520" h="448026">
                    <a:moveTo>
                      <a:pt x="0" y="0"/>
                    </a:moveTo>
                    <a:lnTo>
                      <a:pt x="907520" y="0"/>
                    </a:lnTo>
                    <a:lnTo>
                      <a:pt x="907520" y="448026"/>
                    </a:lnTo>
                    <a:lnTo>
                      <a:pt x="0" y="448026"/>
                    </a:lnTo>
                    <a:close/>
                  </a:path>
                </a:pathLst>
              </a:custGeom>
              <a:solidFill>
                <a:srgbClr val="00BF63"/>
              </a:solidFill>
              <a:ln w="38100" cap="sq">
                <a:solidFill>
                  <a:srgbClr val="00BF63"/>
                </a:solidFill>
                <a:prstDash val="solid"/>
                <a:miter/>
              </a:ln>
            </p:spPr>
          </p:sp>
          <p:sp>
            <p:nvSpPr>
              <p:cNvPr id="54" name="TextBox 54"/>
              <p:cNvSpPr txBox="1"/>
              <p:nvPr/>
            </p:nvSpPr>
            <p:spPr>
              <a:xfrm>
                <a:off x="0" y="-47625"/>
                <a:ext cx="907520" cy="495651"/>
              </a:xfrm>
              <a:prstGeom prst="rect">
                <a:avLst/>
              </a:prstGeom>
            </p:spPr>
            <p:txBody>
              <a:bodyPr lIns="34756" tIns="34756" rIns="34756" bIns="34756" rtlCol="0" anchor="ctr"/>
              <a:lstStyle/>
              <a:p>
                <a:pPr algn="ctr">
                  <a:lnSpc>
                    <a:spcPts val="2659"/>
                  </a:lnSpc>
                </a:pPr>
                <a:endParaRPr/>
              </a:p>
            </p:txBody>
          </p:sp>
        </p:grpSp>
        <p:grpSp>
          <p:nvGrpSpPr>
            <p:cNvPr id="55" name="Group 55"/>
            <p:cNvGrpSpPr/>
            <p:nvPr/>
          </p:nvGrpSpPr>
          <p:grpSpPr>
            <a:xfrm>
              <a:off x="1305083" y="126975"/>
              <a:ext cx="925422" cy="923447"/>
              <a:chOff x="0" y="0"/>
              <a:chExt cx="551635" cy="550458"/>
            </a:xfrm>
          </p:grpSpPr>
          <p:sp>
            <p:nvSpPr>
              <p:cNvPr id="56" name="Freeform 56"/>
              <p:cNvSpPr/>
              <p:nvPr/>
            </p:nvSpPr>
            <p:spPr>
              <a:xfrm>
                <a:off x="0" y="0"/>
                <a:ext cx="551635" cy="550458"/>
              </a:xfrm>
              <a:custGeom>
                <a:avLst/>
                <a:gdLst/>
                <a:ahLst/>
                <a:cxnLst/>
                <a:rect l="l" t="t" r="r" b="b"/>
                <a:pathLst>
                  <a:path w="551635" h="550458">
                    <a:moveTo>
                      <a:pt x="275818" y="0"/>
                    </a:moveTo>
                    <a:cubicBezTo>
                      <a:pt x="123488" y="0"/>
                      <a:pt x="0" y="123224"/>
                      <a:pt x="0" y="275229"/>
                    </a:cubicBezTo>
                    <a:cubicBezTo>
                      <a:pt x="0" y="427234"/>
                      <a:pt x="123488" y="550458"/>
                      <a:pt x="275818" y="550458"/>
                    </a:cubicBezTo>
                    <a:cubicBezTo>
                      <a:pt x="428147" y="550458"/>
                      <a:pt x="551635" y="427234"/>
                      <a:pt x="551635" y="275229"/>
                    </a:cubicBezTo>
                    <a:cubicBezTo>
                      <a:pt x="551635" y="123224"/>
                      <a:pt x="428147" y="0"/>
                      <a:pt x="275818" y="0"/>
                    </a:cubicBezTo>
                    <a:close/>
                  </a:path>
                </a:pathLst>
              </a:custGeom>
              <a:solidFill>
                <a:srgbClr val="FFFFFF"/>
              </a:solidFill>
              <a:ln w="38100" cap="sq">
                <a:solidFill>
                  <a:srgbClr val="5CE1E6"/>
                </a:solidFill>
                <a:prstDash val="solid"/>
                <a:miter/>
              </a:ln>
            </p:spPr>
          </p:sp>
          <p:sp>
            <p:nvSpPr>
              <p:cNvPr id="57" name="TextBox 57"/>
              <p:cNvSpPr txBox="1"/>
              <p:nvPr/>
            </p:nvSpPr>
            <p:spPr>
              <a:xfrm>
                <a:off x="51716" y="13505"/>
                <a:ext cx="448204" cy="485347"/>
              </a:xfrm>
              <a:prstGeom prst="rect">
                <a:avLst/>
              </a:prstGeom>
            </p:spPr>
            <p:txBody>
              <a:bodyPr lIns="50800" tIns="50800" rIns="50800" bIns="50800" rtlCol="0" anchor="ctr"/>
              <a:lstStyle/>
              <a:p>
                <a:pPr algn="ctr">
                  <a:lnSpc>
                    <a:spcPts val="2799"/>
                  </a:lnSpc>
                </a:pPr>
                <a:r>
                  <a:rPr lang="en-US" sz="1999">
                    <a:solidFill>
                      <a:srgbClr val="000000"/>
                    </a:solidFill>
                    <a:latin typeface="Antic"/>
                    <a:ea typeface="Antic"/>
                    <a:cs typeface="Antic"/>
                    <a:sym typeface="Antic"/>
                  </a:rPr>
                  <a:t>2</a:t>
                </a:r>
              </a:p>
            </p:txBody>
          </p:sp>
        </p:grpSp>
        <p:grpSp>
          <p:nvGrpSpPr>
            <p:cNvPr id="58" name="Group 58"/>
            <p:cNvGrpSpPr/>
            <p:nvPr/>
          </p:nvGrpSpPr>
          <p:grpSpPr>
            <a:xfrm>
              <a:off x="1517182" y="3154336"/>
              <a:ext cx="263312" cy="263312"/>
              <a:chOff x="0" y="0"/>
              <a:chExt cx="812800" cy="812800"/>
            </a:xfrm>
          </p:grpSpPr>
          <p:sp>
            <p:nvSpPr>
              <p:cNvPr id="59" name="Freeform 59"/>
              <p:cNvSpPr/>
              <p:nvPr/>
            </p:nvSpPr>
            <p:spPr>
              <a:xfrm>
                <a:off x="0" y="0"/>
                <a:ext cx="812800" cy="812800"/>
              </a:xfrm>
              <a:custGeom>
                <a:avLst/>
                <a:gdLst/>
                <a:ahLst/>
                <a:cxnLst/>
                <a:rect l="l" t="t" r="r" b="b"/>
                <a:pathLst>
                  <a:path w="812800" h="81280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FFFFFF"/>
              </a:solidFill>
              <a:ln w="9525" cap="sq">
                <a:solidFill>
                  <a:srgbClr val="FFFFFF"/>
                </a:solidFill>
                <a:prstDash val="solid"/>
                <a:miter/>
              </a:ln>
            </p:spPr>
          </p:sp>
          <p:sp>
            <p:nvSpPr>
              <p:cNvPr id="60" name="TextBox 60"/>
              <p:cNvSpPr txBox="1"/>
              <p:nvPr/>
            </p:nvSpPr>
            <p:spPr>
              <a:xfrm>
                <a:off x="203200" y="-47625"/>
                <a:ext cx="406400" cy="758825"/>
              </a:xfrm>
              <a:prstGeom prst="rect">
                <a:avLst/>
              </a:prstGeom>
            </p:spPr>
            <p:txBody>
              <a:bodyPr lIns="50800" tIns="50800" rIns="50800" bIns="50800" rtlCol="0" anchor="ctr"/>
              <a:lstStyle/>
              <a:p>
                <a:pPr algn="ctr">
                  <a:lnSpc>
                    <a:spcPts val="2659"/>
                  </a:lnSpc>
                </a:pPr>
                <a:endParaRPr/>
              </a:p>
            </p:txBody>
          </p:sp>
        </p:grpSp>
        <p:sp>
          <p:nvSpPr>
            <p:cNvPr id="61" name="TextBox 61"/>
            <p:cNvSpPr txBox="1"/>
            <p:nvPr/>
          </p:nvSpPr>
          <p:spPr>
            <a:xfrm>
              <a:off x="133238" y="1170351"/>
              <a:ext cx="3143320" cy="386027"/>
            </a:xfrm>
            <a:prstGeom prst="rect">
              <a:avLst/>
            </a:prstGeom>
          </p:spPr>
          <p:txBody>
            <a:bodyPr lIns="0" tIns="0" rIns="0" bIns="0" rtlCol="0" anchor="t">
              <a:spAutoFit/>
            </a:bodyPr>
            <a:lstStyle/>
            <a:p>
              <a:pPr algn="ctr">
                <a:lnSpc>
                  <a:spcPts val="2548"/>
                </a:lnSpc>
              </a:pPr>
              <a:r>
                <a:rPr lang="en-US" sz="1820" b="1">
                  <a:solidFill>
                    <a:srgbClr val="1800AD"/>
                  </a:solidFill>
                  <a:latin typeface="Canva Sans Bold"/>
                  <a:ea typeface="Canva Sans Bold"/>
                  <a:cs typeface="Canva Sans Bold"/>
                  <a:sym typeface="Canva Sans Bold"/>
                </a:rPr>
                <a:t>Stopwords Removal</a:t>
              </a:r>
            </a:p>
          </p:txBody>
        </p:sp>
        <p:sp>
          <p:nvSpPr>
            <p:cNvPr id="62" name="TextBox 62"/>
            <p:cNvSpPr txBox="1"/>
            <p:nvPr/>
          </p:nvSpPr>
          <p:spPr>
            <a:xfrm>
              <a:off x="531654" y="2577548"/>
              <a:ext cx="2472279" cy="513288"/>
            </a:xfrm>
            <a:prstGeom prst="rect">
              <a:avLst/>
            </a:prstGeom>
          </p:spPr>
          <p:txBody>
            <a:bodyPr lIns="0" tIns="0" rIns="0" bIns="0" rtlCol="0" anchor="t">
              <a:spAutoFit/>
            </a:bodyPr>
            <a:lstStyle/>
            <a:p>
              <a:pPr algn="ctr">
                <a:lnSpc>
                  <a:spcPts val="1618"/>
                </a:lnSpc>
              </a:pPr>
              <a:r>
                <a:rPr lang="en-US" sz="1156">
                  <a:solidFill>
                    <a:srgbClr val="FFFFFF"/>
                  </a:solidFill>
                  <a:latin typeface="Canva Sans"/>
                  <a:ea typeface="Canva Sans"/>
                  <a:cs typeface="Canva Sans"/>
                  <a:sym typeface="Canva Sans"/>
                </a:rPr>
                <a:t>Segala puji bagi Allah, Tuhan semesta alam</a:t>
              </a:r>
            </a:p>
          </p:txBody>
        </p:sp>
        <p:sp>
          <p:nvSpPr>
            <p:cNvPr id="63" name="TextBox 63"/>
            <p:cNvSpPr txBox="1"/>
            <p:nvPr/>
          </p:nvSpPr>
          <p:spPr>
            <a:xfrm>
              <a:off x="501901" y="3462098"/>
              <a:ext cx="2472279" cy="513288"/>
            </a:xfrm>
            <a:prstGeom prst="rect">
              <a:avLst/>
            </a:prstGeom>
          </p:spPr>
          <p:txBody>
            <a:bodyPr lIns="0" tIns="0" rIns="0" bIns="0" rtlCol="0" anchor="t">
              <a:spAutoFit/>
            </a:bodyPr>
            <a:lstStyle/>
            <a:p>
              <a:pPr algn="ctr">
                <a:lnSpc>
                  <a:spcPts val="1618"/>
                </a:lnSpc>
              </a:pPr>
              <a:r>
                <a:rPr lang="en-US" sz="1156">
                  <a:solidFill>
                    <a:srgbClr val="FFFFFF"/>
                  </a:solidFill>
                  <a:latin typeface="Canva Sans"/>
                  <a:ea typeface="Canva Sans"/>
                  <a:cs typeface="Canva Sans"/>
                  <a:sym typeface="Canva Sans"/>
                </a:rPr>
                <a:t>puji allah tuhan semesta alam                       </a:t>
              </a:r>
            </a:p>
          </p:txBody>
        </p:sp>
      </p:grpSp>
      <p:grpSp>
        <p:nvGrpSpPr>
          <p:cNvPr id="64" name="Group 64"/>
          <p:cNvGrpSpPr/>
          <p:nvPr/>
        </p:nvGrpSpPr>
        <p:grpSpPr>
          <a:xfrm>
            <a:off x="10449318" y="2735430"/>
            <a:ext cx="2527223" cy="3192650"/>
            <a:chOff x="0" y="0"/>
            <a:chExt cx="3369631" cy="4256867"/>
          </a:xfrm>
        </p:grpSpPr>
        <p:grpSp>
          <p:nvGrpSpPr>
            <p:cNvPr id="65" name="Group 65"/>
            <p:cNvGrpSpPr/>
            <p:nvPr/>
          </p:nvGrpSpPr>
          <p:grpSpPr>
            <a:xfrm>
              <a:off x="0" y="0"/>
              <a:ext cx="3369631" cy="4256867"/>
              <a:chOff x="0" y="0"/>
              <a:chExt cx="972859" cy="1229017"/>
            </a:xfrm>
          </p:grpSpPr>
          <p:sp>
            <p:nvSpPr>
              <p:cNvPr id="66" name="Freeform 66"/>
              <p:cNvSpPr/>
              <p:nvPr/>
            </p:nvSpPr>
            <p:spPr>
              <a:xfrm>
                <a:off x="0" y="0"/>
                <a:ext cx="972859" cy="1229017"/>
              </a:xfrm>
              <a:custGeom>
                <a:avLst/>
                <a:gdLst/>
                <a:ahLst/>
                <a:cxnLst/>
                <a:rect l="l" t="t" r="r" b="b"/>
                <a:pathLst>
                  <a:path w="972859" h="1229017">
                    <a:moveTo>
                      <a:pt x="79649" y="0"/>
                    </a:moveTo>
                    <a:lnTo>
                      <a:pt x="893211" y="0"/>
                    </a:lnTo>
                    <a:cubicBezTo>
                      <a:pt x="914335" y="0"/>
                      <a:pt x="934594" y="8392"/>
                      <a:pt x="949531" y="23329"/>
                    </a:cubicBezTo>
                    <a:cubicBezTo>
                      <a:pt x="964468" y="38266"/>
                      <a:pt x="972859" y="58525"/>
                      <a:pt x="972859" y="79649"/>
                    </a:cubicBezTo>
                    <a:lnTo>
                      <a:pt x="972859" y="1149368"/>
                    </a:lnTo>
                    <a:cubicBezTo>
                      <a:pt x="972859" y="1170492"/>
                      <a:pt x="964468" y="1190751"/>
                      <a:pt x="949531" y="1205688"/>
                    </a:cubicBezTo>
                    <a:cubicBezTo>
                      <a:pt x="934594" y="1220625"/>
                      <a:pt x="914335" y="1229017"/>
                      <a:pt x="893211" y="1229017"/>
                    </a:cubicBezTo>
                    <a:lnTo>
                      <a:pt x="79649" y="1229017"/>
                    </a:lnTo>
                    <a:cubicBezTo>
                      <a:pt x="35660" y="1229017"/>
                      <a:pt x="0" y="1193357"/>
                      <a:pt x="0" y="1149368"/>
                    </a:cubicBezTo>
                    <a:lnTo>
                      <a:pt x="0" y="79649"/>
                    </a:lnTo>
                    <a:cubicBezTo>
                      <a:pt x="0" y="58525"/>
                      <a:pt x="8392" y="38266"/>
                      <a:pt x="23329" y="23329"/>
                    </a:cubicBezTo>
                    <a:cubicBezTo>
                      <a:pt x="38266" y="8392"/>
                      <a:pt x="58525" y="0"/>
                      <a:pt x="79649" y="0"/>
                    </a:cubicBezTo>
                    <a:close/>
                  </a:path>
                </a:pathLst>
              </a:custGeom>
              <a:solidFill>
                <a:srgbClr val="FFFFFF"/>
              </a:solidFill>
              <a:ln w="38100" cap="rnd">
                <a:solidFill>
                  <a:srgbClr val="00BF63"/>
                </a:solidFill>
                <a:prstDash val="solid"/>
                <a:round/>
              </a:ln>
            </p:spPr>
          </p:sp>
          <p:sp>
            <p:nvSpPr>
              <p:cNvPr id="67" name="TextBox 67"/>
              <p:cNvSpPr txBox="1"/>
              <p:nvPr/>
            </p:nvSpPr>
            <p:spPr>
              <a:xfrm>
                <a:off x="0" y="-47625"/>
                <a:ext cx="972859" cy="1276642"/>
              </a:xfrm>
              <a:prstGeom prst="rect">
                <a:avLst/>
              </a:prstGeom>
            </p:spPr>
            <p:txBody>
              <a:bodyPr lIns="34756" tIns="34756" rIns="34756" bIns="34756" rtlCol="0" anchor="ctr"/>
              <a:lstStyle/>
              <a:p>
                <a:pPr algn="ctr">
                  <a:lnSpc>
                    <a:spcPts val="2659"/>
                  </a:lnSpc>
                </a:pPr>
                <a:endParaRPr/>
              </a:p>
            </p:txBody>
          </p:sp>
        </p:grpSp>
        <p:grpSp>
          <p:nvGrpSpPr>
            <p:cNvPr id="68" name="Group 68"/>
            <p:cNvGrpSpPr/>
            <p:nvPr/>
          </p:nvGrpSpPr>
          <p:grpSpPr>
            <a:xfrm>
              <a:off x="133238" y="2471613"/>
              <a:ext cx="3143320" cy="1551800"/>
              <a:chOff x="0" y="0"/>
              <a:chExt cx="907520" cy="448026"/>
            </a:xfrm>
          </p:grpSpPr>
          <p:sp>
            <p:nvSpPr>
              <p:cNvPr id="69" name="Freeform 69"/>
              <p:cNvSpPr/>
              <p:nvPr/>
            </p:nvSpPr>
            <p:spPr>
              <a:xfrm>
                <a:off x="0" y="0"/>
                <a:ext cx="907520" cy="448026"/>
              </a:xfrm>
              <a:custGeom>
                <a:avLst/>
                <a:gdLst/>
                <a:ahLst/>
                <a:cxnLst/>
                <a:rect l="l" t="t" r="r" b="b"/>
                <a:pathLst>
                  <a:path w="907520" h="448026">
                    <a:moveTo>
                      <a:pt x="0" y="0"/>
                    </a:moveTo>
                    <a:lnTo>
                      <a:pt x="907520" y="0"/>
                    </a:lnTo>
                    <a:lnTo>
                      <a:pt x="907520" y="448026"/>
                    </a:lnTo>
                    <a:lnTo>
                      <a:pt x="0" y="448026"/>
                    </a:lnTo>
                    <a:close/>
                  </a:path>
                </a:pathLst>
              </a:custGeom>
              <a:solidFill>
                <a:srgbClr val="00BF63"/>
              </a:solidFill>
              <a:ln w="38100" cap="sq">
                <a:solidFill>
                  <a:srgbClr val="00BF63"/>
                </a:solidFill>
                <a:prstDash val="solid"/>
                <a:miter/>
              </a:ln>
            </p:spPr>
          </p:sp>
          <p:sp>
            <p:nvSpPr>
              <p:cNvPr id="70" name="TextBox 70"/>
              <p:cNvSpPr txBox="1"/>
              <p:nvPr/>
            </p:nvSpPr>
            <p:spPr>
              <a:xfrm>
                <a:off x="0" y="-47625"/>
                <a:ext cx="907520" cy="495651"/>
              </a:xfrm>
              <a:prstGeom prst="rect">
                <a:avLst/>
              </a:prstGeom>
            </p:spPr>
            <p:txBody>
              <a:bodyPr lIns="34756" tIns="34756" rIns="34756" bIns="34756" rtlCol="0" anchor="ctr"/>
              <a:lstStyle/>
              <a:p>
                <a:pPr algn="ctr">
                  <a:lnSpc>
                    <a:spcPts val="2659"/>
                  </a:lnSpc>
                </a:pPr>
                <a:endParaRPr/>
              </a:p>
            </p:txBody>
          </p:sp>
        </p:grpSp>
        <p:grpSp>
          <p:nvGrpSpPr>
            <p:cNvPr id="71" name="Group 71"/>
            <p:cNvGrpSpPr/>
            <p:nvPr/>
          </p:nvGrpSpPr>
          <p:grpSpPr>
            <a:xfrm>
              <a:off x="1335285" y="126975"/>
              <a:ext cx="890418" cy="888518"/>
              <a:chOff x="0" y="0"/>
              <a:chExt cx="551635" cy="550458"/>
            </a:xfrm>
          </p:grpSpPr>
          <p:sp>
            <p:nvSpPr>
              <p:cNvPr id="72" name="Freeform 72"/>
              <p:cNvSpPr/>
              <p:nvPr/>
            </p:nvSpPr>
            <p:spPr>
              <a:xfrm>
                <a:off x="0" y="0"/>
                <a:ext cx="551635" cy="550458"/>
              </a:xfrm>
              <a:custGeom>
                <a:avLst/>
                <a:gdLst/>
                <a:ahLst/>
                <a:cxnLst/>
                <a:rect l="l" t="t" r="r" b="b"/>
                <a:pathLst>
                  <a:path w="551635" h="550458">
                    <a:moveTo>
                      <a:pt x="275818" y="0"/>
                    </a:moveTo>
                    <a:cubicBezTo>
                      <a:pt x="123488" y="0"/>
                      <a:pt x="0" y="123224"/>
                      <a:pt x="0" y="275229"/>
                    </a:cubicBezTo>
                    <a:cubicBezTo>
                      <a:pt x="0" y="427234"/>
                      <a:pt x="123488" y="550458"/>
                      <a:pt x="275818" y="550458"/>
                    </a:cubicBezTo>
                    <a:cubicBezTo>
                      <a:pt x="428147" y="550458"/>
                      <a:pt x="551635" y="427234"/>
                      <a:pt x="551635" y="275229"/>
                    </a:cubicBezTo>
                    <a:cubicBezTo>
                      <a:pt x="551635" y="123224"/>
                      <a:pt x="428147" y="0"/>
                      <a:pt x="275818" y="0"/>
                    </a:cubicBezTo>
                    <a:close/>
                  </a:path>
                </a:pathLst>
              </a:custGeom>
              <a:solidFill>
                <a:srgbClr val="FFFFFF"/>
              </a:solidFill>
              <a:ln w="38100" cap="sq">
                <a:solidFill>
                  <a:srgbClr val="5CE1E6"/>
                </a:solidFill>
                <a:prstDash val="solid"/>
                <a:miter/>
              </a:ln>
            </p:spPr>
          </p:sp>
          <p:sp>
            <p:nvSpPr>
              <p:cNvPr id="73" name="TextBox 73"/>
              <p:cNvSpPr txBox="1"/>
              <p:nvPr/>
            </p:nvSpPr>
            <p:spPr>
              <a:xfrm>
                <a:off x="51716" y="13505"/>
                <a:ext cx="448204" cy="485347"/>
              </a:xfrm>
              <a:prstGeom prst="rect">
                <a:avLst/>
              </a:prstGeom>
            </p:spPr>
            <p:txBody>
              <a:bodyPr lIns="50800" tIns="50800" rIns="50800" bIns="50800" rtlCol="0" anchor="ctr"/>
              <a:lstStyle/>
              <a:p>
                <a:pPr algn="ctr">
                  <a:lnSpc>
                    <a:spcPts val="2799"/>
                  </a:lnSpc>
                </a:pPr>
                <a:r>
                  <a:rPr lang="en-US" sz="1999">
                    <a:solidFill>
                      <a:srgbClr val="000000"/>
                    </a:solidFill>
                    <a:latin typeface="Antic"/>
                    <a:ea typeface="Antic"/>
                    <a:cs typeface="Antic"/>
                    <a:sym typeface="Antic"/>
                  </a:rPr>
                  <a:t>4</a:t>
                </a:r>
              </a:p>
            </p:txBody>
          </p:sp>
        </p:grpSp>
        <p:grpSp>
          <p:nvGrpSpPr>
            <p:cNvPr id="74" name="Group 74"/>
            <p:cNvGrpSpPr/>
            <p:nvPr/>
          </p:nvGrpSpPr>
          <p:grpSpPr>
            <a:xfrm>
              <a:off x="1517182" y="3088064"/>
              <a:ext cx="263312" cy="263312"/>
              <a:chOff x="0" y="0"/>
              <a:chExt cx="812800" cy="812800"/>
            </a:xfrm>
          </p:grpSpPr>
          <p:sp>
            <p:nvSpPr>
              <p:cNvPr id="75" name="Freeform 75"/>
              <p:cNvSpPr/>
              <p:nvPr/>
            </p:nvSpPr>
            <p:spPr>
              <a:xfrm>
                <a:off x="0" y="0"/>
                <a:ext cx="812800" cy="812800"/>
              </a:xfrm>
              <a:custGeom>
                <a:avLst/>
                <a:gdLst/>
                <a:ahLst/>
                <a:cxnLst/>
                <a:rect l="l" t="t" r="r" b="b"/>
                <a:pathLst>
                  <a:path w="812800" h="81280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FFFFFF"/>
              </a:solidFill>
              <a:ln w="9525" cap="sq">
                <a:solidFill>
                  <a:srgbClr val="FFFFFF"/>
                </a:solidFill>
                <a:prstDash val="solid"/>
                <a:miter/>
              </a:ln>
            </p:spPr>
          </p:sp>
          <p:sp>
            <p:nvSpPr>
              <p:cNvPr id="76" name="TextBox 76"/>
              <p:cNvSpPr txBox="1"/>
              <p:nvPr/>
            </p:nvSpPr>
            <p:spPr>
              <a:xfrm>
                <a:off x="203200" y="-47625"/>
                <a:ext cx="406400" cy="758825"/>
              </a:xfrm>
              <a:prstGeom prst="rect">
                <a:avLst/>
              </a:prstGeom>
            </p:spPr>
            <p:txBody>
              <a:bodyPr lIns="50800" tIns="50800" rIns="50800" bIns="50800" rtlCol="0" anchor="ctr"/>
              <a:lstStyle/>
              <a:p>
                <a:pPr algn="ctr">
                  <a:lnSpc>
                    <a:spcPts val="2659"/>
                  </a:lnSpc>
                </a:pPr>
                <a:endParaRPr/>
              </a:p>
            </p:txBody>
          </p:sp>
        </p:grpSp>
        <p:sp>
          <p:nvSpPr>
            <p:cNvPr id="77" name="TextBox 77"/>
            <p:cNvSpPr txBox="1"/>
            <p:nvPr/>
          </p:nvSpPr>
          <p:spPr>
            <a:xfrm>
              <a:off x="310931" y="1170351"/>
              <a:ext cx="2965627" cy="386027"/>
            </a:xfrm>
            <a:prstGeom prst="rect">
              <a:avLst/>
            </a:prstGeom>
          </p:spPr>
          <p:txBody>
            <a:bodyPr lIns="0" tIns="0" rIns="0" bIns="0" rtlCol="0" anchor="t">
              <a:spAutoFit/>
            </a:bodyPr>
            <a:lstStyle/>
            <a:p>
              <a:pPr algn="ctr">
                <a:lnSpc>
                  <a:spcPts val="2548"/>
                </a:lnSpc>
              </a:pPr>
              <a:r>
                <a:rPr lang="en-US" sz="1820" b="1">
                  <a:solidFill>
                    <a:srgbClr val="1800AD"/>
                  </a:solidFill>
                  <a:latin typeface="Canva Sans Bold"/>
                  <a:ea typeface="Canva Sans Bold"/>
                  <a:cs typeface="Canva Sans Bold"/>
                  <a:sym typeface="Canva Sans Bold"/>
                </a:rPr>
                <a:t>Stemming</a:t>
              </a:r>
            </a:p>
          </p:txBody>
        </p:sp>
        <p:sp>
          <p:nvSpPr>
            <p:cNvPr id="78" name="TextBox 78"/>
            <p:cNvSpPr txBox="1"/>
            <p:nvPr/>
          </p:nvSpPr>
          <p:spPr>
            <a:xfrm>
              <a:off x="531654" y="2511276"/>
              <a:ext cx="2472279" cy="513288"/>
            </a:xfrm>
            <a:prstGeom prst="rect">
              <a:avLst/>
            </a:prstGeom>
          </p:spPr>
          <p:txBody>
            <a:bodyPr lIns="0" tIns="0" rIns="0" bIns="0" rtlCol="0" anchor="t">
              <a:spAutoFit/>
            </a:bodyPr>
            <a:lstStyle/>
            <a:p>
              <a:pPr algn="ctr">
                <a:lnSpc>
                  <a:spcPts val="1618"/>
                </a:lnSpc>
              </a:pPr>
              <a:r>
                <a:rPr lang="en-US" sz="1156">
                  <a:solidFill>
                    <a:srgbClr val="FFFFFF"/>
                  </a:solidFill>
                  <a:latin typeface="Canva Sans"/>
                  <a:ea typeface="Canva Sans"/>
                  <a:cs typeface="Canva Sans"/>
                  <a:sym typeface="Canva Sans"/>
                </a:rPr>
                <a:t>Segala puji bagi Allah, Tuhan semesta alam</a:t>
              </a:r>
            </a:p>
          </p:txBody>
        </p:sp>
        <p:sp>
          <p:nvSpPr>
            <p:cNvPr id="79" name="TextBox 79"/>
            <p:cNvSpPr txBox="1"/>
            <p:nvPr/>
          </p:nvSpPr>
          <p:spPr>
            <a:xfrm>
              <a:off x="501901" y="3395826"/>
              <a:ext cx="2472279" cy="513288"/>
            </a:xfrm>
            <a:prstGeom prst="rect">
              <a:avLst/>
            </a:prstGeom>
          </p:spPr>
          <p:txBody>
            <a:bodyPr lIns="0" tIns="0" rIns="0" bIns="0" rtlCol="0" anchor="t">
              <a:spAutoFit/>
            </a:bodyPr>
            <a:lstStyle/>
            <a:p>
              <a:pPr algn="just">
                <a:lnSpc>
                  <a:spcPts val="1618"/>
                </a:lnSpc>
              </a:pPr>
              <a:r>
                <a:rPr lang="en-US" sz="1156">
                  <a:solidFill>
                    <a:srgbClr val="FFFFFF"/>
                  </a:solidFill>
                  <a:latin typeface="Canva Sans"/>
                  <a:ea typeface="Canva Sans"/>
                  <a:cs typeface="Canva Sans"/>
                  <a:sym typeface="Canva Sans"/>
                </a:rPr>
                <a:t>puji allah tuhan semesta alam                                      </a:t>
              </a:r>
            </a:p>
          </p:txBody>
        </p:sp>
      </p:grpSp>
      <p:grpSp>
        <p:nvGrpSpPr>
          <p:cNvPr id="80" name="Group 80"/>
          <p:cNvGrpSpPr/>
          <p:nvPr/>
        </p:nvGrpSpPr>
        <p:grpSpPr>
          <a:xfrm>
            <a:off x="13452791" y="2735430"/>
            <a:ext cx="2591203" cy="3192650"/>
            <a:chOff x="0" y="0"/>
            <a:chExt cx="3454938" cy="4256867"/>
          </a:xfrm>
        </p:grpSpPr>
        <p:grpSp>
          <p:nvGrpSpPr>
            <p:cNvPr id="81" name="Group 81"/>
            <p:cNvGrpSpPr/>
            <p:nvPr/>
          </p:nvGrpSpPr>
          <p:grpSpPr>
            <a:xfrm>
              <a:off x="0" y="0"/>
              <a:ext cx="3454938" cy="4256867"/>
              <a:chOff x="0" y="0"/>
              <a:chExt cx="972859" cy="1198671"/>
            </a:xfrm>
          </p:grpSpPr>
          <p:sp>
            <p:nvSpPr>
              <p:cNvPr id="82" name="Freeform 82"/>
              <p:cNvSpPr/>
              <p:nvPr/>
            </p:nvSpPr>
            <p:spPr>
              <a:xfrm>
                <a:off x="0" y="0"/>
                <a:ext cx="972859" cy="1198671"/>
              </a:xfrm>
              <a:custGeom>
                <a:avLst/>
                <a:gdLst/>
                <a:ahLst/>
                <a:cxnLst/>
                <a:rect l="l" t="t" r="r" b="b"/>
                <a:pathLst>
                  <a:path w="972859" h="1198671">
                    <a:moveTo>
                      <a:pt x="77682" y="0"/>
                    </a:moveTo>
                    <a:lnTo>
                      <a:pt x="895177" y="0"/>
                    </a:lnTo>
                    <a:cubicBezTo>
                      <a:pt x="938080" y="0"/>
                      <a:pt x="972859" y="34779"/>
                      <a:pt x="972859" y="77682"/>
                    </a:cubicBezTo>
                    <a:lnTo>
                      <a:pt x="972859" y="1120989"/>
                    </a:lnTo>
                    <a:cubicBezTo>
                      <a:pt x="972859" y="1163891"/>
                      <a:pt x="938080" y="1198671"/>
                      <a:pt x="895177" y="1198671"/>
                    </a:cubicBezTo>
                    <a:lnTo>
                      <a:pt x="77682" y="1198671"/>
                    </a:lnTo>
                    <a:cubicBezTo>
                      <a:pt x="34779" y="1198671"/>
                      <a:pt x="0" y="1163891"/>
                      <a:pt x="0" y="1120989"/>
                    </a:cubicBezTo>
                    <a:lnTo>
                      <a:pt x="0" y="77682"/>
                    </a:lnTo>
                    <a:cubicBezTo>
                      <a:pt x="0" y="34779"/>
                      <a:pt x="34779" y="0"/>
                      <a:pt x="77682" y="0"/>
                    </a:cubicBezTo>
                    <a:close/>
                  </a:path>
                </a:pathLst>
              </a:custGeom>
              <a:solidFill>
                <a:srgbClr val="FFFFFF"/>
              </a:solidFill>
              <a:ln w="38100" cap="rnd">
                <a:solidFill>
                  <a:srgbClr val="00BF63"/>
                </a:solidFill>
                <a:prstDash val="solid"/>
                <a:round/>
              </a:ln>
            </p:spPr>
          </p:sp>
          <p:sp>
            <p:nvSpPr>
              <p:cNvPr id="83" name="TextBox 83"/>
              <p:cNvSpPr txBox="1"/>
              <p:nvPr/>
            </p:nvSpPr>
            <p:spPr>
              <a:xfrm>
                <a:off x="0" y="-47625"/>
                <a:ext cx="972859" cy="1246296"/>
              </a:xfrm>
              <a:prstGeom prst="rect">
                <a:avLst/>
              </a:prstGeom>
            </p:spPr>
            <p:txBody>
              <a:bodyPr lIns="35636" tIns="35636" rIns="35636" bIns="35636" rtlCol="0" anchor="ctr"/>
              <a:lstStyle/>
              <a:p>
                <a:pPr algn="ctr">
                  <a:lnSpc>
                    <a:spcPts val="2659"/>
                  </a:lnSpc>
                </a:pPr>
                <a:endParaRPr/>
              </a:p>
            </p:txBody>
          </p:sp>
        </p:grpSp>
        <p:grpSp>
          <p:nvGrpSpPr>
            <p:cNvPr id="84" name="Group 84"/>
            <p:cNvGrpSpPr/>
            <p:nvPr/>
          </p:nvGrpSpPr>
          <p:grpSpPr>
            <a:xfrm>
              <a:off x="136611" y="2432327"/>
              <a:ext cx="3222897" cy="1591086"/>
              <a:chOff x="0" y="0"/>
              <a:chExt cx="907520" cy="448026"/>
            </a:xfrm>
          </p:grpSpPr>
          <p:sp>
            <p:nvSpPr>
              <p:cNvPr id="85" name="Freeform 85"/>
              <p:cNvSpPr/>
              <p:nvPr/>
            </p:nvSpPr>
            <p:spPr>
              <a:xfrm>
                <a:off x="0" y="0"/>
                <a:ext cx="907520" cy="448026"/>
              </a:xfrm>
              <a:custGeom>
                <a:avLst/>
                <a:gdLst/>
                <a:ahLst/>
                <a:cxnLst/>
                <a:rect l="l" t="t" r="r" b="b"/>
                <a:pathLst>
                  <a:path w="907520" h="448026">
                    <a:moveTo>
                      <a:pt x="0" y="0"/>
                    </a:moveTo>
                    <a:lnTo>
                      <a:pt x="907520" y="0"/>
                    </a:lnTo>
                    <a:lnTo>
                      <a:pt x="907520" y="448026"/>
                    </a:lnTo>
                    <a:lnTo>
                      <a:pt x="0" y="448026"/>
                    </a:lnTo>
                    <a:close/>
                  </a:path>
                </a:pathLst>
              </a:custGeom>
              <a:solidFill>
                <a:srgbClr val="00BF63"/>
              </a:solidFill>
              <a:ln w="38100" cap="sq">
                <a:solidFill>
                  <a:srgbClr val="00BF63"/>
                </a:solidFill>
                <a:prstDash val="solid"/>
                <a:miter/>
              </a:ln>
            </p:spPr>
          </p:sp>
          <p:sp>
            <p:nvSpPr>
              <p:cNvPr id="86" name="TextBox 86"/>
              <p:cNvSpPr txBox="1"/>
              <p:nvPr/>
            </p:nvSpPr>
            <p:spPr>
              <a:xfrm>
                <a:off x="0" y="-47625"/>
                <a:ext cx="907520" cy="495651"/>
              </a:xfrm>
              <a:prstGeom prst="rect">
                <a:avLst/>
              </a:prstGeom>
            </p:spPr>
            <p:txBody>
              <a:bodyPr lIns="35636" tIns="35636" rIns="35636" bIns="35636" rtlCol="0" anchor="ctr"/>
              <a:lstStyle/>
              <a:p>
                <a:pPr algn="ctr">
                  <a:lnSpc>
                    <a:spcPts val="2659"/>
                  </a:lnSpc>
                </a:pPr>
                <a:endParaRPr/>
              </a:p>
            </p:txBody>
          </p:sp>
        </p:grpSp>
        <p:grpSp>
          <p:nvGrpSpPr>
            <p:cNvPr id="87" name="Group 87"/>
            <p:cNvGrpSpPr/>
            <p:nvPr/>
          </p:nvGrpSpPr>
          <p:grpSpPr>
            <a:xfrm>
              <a:off x="1369090" y="130190"/>
              <a:ext cx="912960" cy="911012"/>
              <a:chOff x="0" y="0"/>
              <a:chExt cx="551635" cy="550458"/>
            </a:xfrm>
          </p:grpSpPr>
          <p:sp>
            <p:nvSpPr>
              <p:cNvPr id="88" name="Freeform 88"/>
              <p:cNvSpPr/>
              <p:nvPr/>
            </p:nvSpPr>
            <p:spPr>
              <a:xfrm>
                <a:off x="0" y="0"/>
                <a:ext cx="551635" cy="550458"/>
              </a:xfrm>
              <a:custGeom>
                <a:avLst/>
                <a:gdLst/>
                <a:ahLst/>
                <a:cxnLst/>
                <a:rect l="l" t="t" r="r" b="b"/>
                <a:pathLst>
                  <a:path w="551635" h="550458">
                    <a:moveTo>
                      <a:pt x="275818" y="0"/>
                    </a:moveTo>
                    <a:cubicBezTo>
                      <a:pt x="123488" y="0"/>
                      <a:pt x="0" y="123224"/>
                      <a:pt x="0" y="275229"/>
                    </a:cubicBezTo>
                    <a:cubicBezTo>
                      <a:pt x="0" y="427234"/>
                      <a:pt x="123488" y="550458"/>
                      <a:pt x="275818" y="550458"/>
                    </a:cubicBezTo>
                    <a:cubicBezTo>
                      <a:pt x="428147" y="550458"/>
                      <a:pt x="551635" y="427234"/>
                      <a:pt x="551635" y="275229"/>
                    </a:cubicBezTo>
                    <a:cubicBezTo>
                      <a:pt x="551635" y="123224"/>
                      <a:pt x="428147" y="0"/>
                      <a:pt x="275818" y="0"/>
                    </a:cubicBezTo>
                    <a:close/>
                  </a:path>
                </a:pathLst>
              </a:custGeom>
              <a:solidFill>
                <a:srgbClr val="FFFFFF"/>
              </a:solidFill>
              <a:ln w="38100" cap="sq">
                <a:solidFill>
                  <a:srgbClr val="5CE1E6"/>
                </a:solidFill>
                <a:prstDash val="solid"/>
                <a:miter/>
              </a:ln>
            </p:spPr>
          </p:sp>
          <p:sp>
            <p:nvSpPr>
              <p:cNvPr id="89" name="TextBox 89"/>
              <p:cNvSpPr txBox="1"/>
              <p:nvPr/>
            </p:nvSpPr>
            <p:spPr>
              <a:xfrm>
                <a:off x="51716" y="13505"/>
                <a:ext cx="448204" cy="485347"/>
              </a:xfrm>
              <a:prstGeom prst="rect">
                <a:avLst/>
              </a:prstGeom>
            </p:spPr>
            <p:txBody>
              <a:bodyPr lIns="52086" tIns="52086" rIns="52086" bIns="52086" rtlCol="0" anchor="ctr"/>
              <a:lstStyle/>
              <a:p>
                <a:pPr algn="ctr">
                  <a:lnSpc>
                    <a:spcPts val="2799"/>
                  </a:lnSpc>
                </a:pPr>
                <a:r>
                  <a:rPr lang="en-US" sz="1999">
                    <a:solidFill>
                      <a:srgbClr val="000000"/>
                    </a:solidFill>
                    <a:latin typeface="Antic"/>
                    <a:ea typeface="Antic"/>
                    <a:cs typeface="Antic"/>
                    <a:sym typeface="Antic"/>
                  </a:rPr>
                  <a:t>5</a:t>
                </a:r>
              </a:p>
            </p:txBody>
          </p:sp>
        </p:grpSp>
        <p:grpSp>
          <p:nvGrpSpPr>
            <p:cNvPr id="90" name="Group 90"/>
            <p:cNvGrpSpPr/>
            <p:nvPr/>
          </p:nvGrpSpPr>
          <p:grpSpPr>
            <a:xfrm>
              <a:off x="1555592" y="3064384"/>
              <a:ext cx="269978" cy="269978"/>
              <a:chOff x="0" y="0"/>
              <a:chExt cx="812800" cy="812800"/>
            </a:xfrm>
          </p:grpSpPr>
          <p:sp>
            <p:nvSpPr>
              <p:cNvPr id="91" name="Freeform 91"/>
              <p:cNvSpPr/>
              <p:nvPr/>
            </p:nvSpPr>
            <p:spPr>
              <a:xfrm>
                <a:off x="0" y="0"/>
                <a:ext cx="812800" cy="812800"/>
              </a:xfrm>
              <a:custGeom>
                <a:avLst/>
                <a:gdLst/>
                <a:ahLst/>
                <a:cxnLst/>
                <a:rect l="l" t="t" r="r" b="b"/>
                <a:pathLst>
                  <a:path w="812800" h="81280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FFFFFF"/>
              </a:solidFill>
              <a:ln w="9525" cap="sq">
                <a:solidFill>
                  <a:srgbClr val="FFFFFF"/>
                </a:solidFill>
                <a:prstDash val="solid"/>
                <a:miter/>
              </a:ln>
            </p:spPr>
          </p:sp>
          <p:sp>
            <p:nvSpPr>
              <p:cNvPr id="92" name="TextBox 92"/>
              <p:cNvSpPr txBox="1"/>
              <p:nvPr/>
            </p:nvSpPr>
            <p:spPr>
              <a:xfrm>
                <a:off x="203200" y="-47625"/>
                <a:ext cx="406400" cy="758825"/>
              </a:xfrm>
              <a:prstGeom prst="rect">
                <a:avLst/>
              </a:prstGeom>
            </p:spPr>
            <p:txBody>
              <a:bodyPr lIns="52086" tIns="52086" rIns="52086" bIns="52086" rtlCol="0" anchor="ctr"/>
              <a:lstStyle/>
              <a:p>
                <a:pPr algn="ctr">
                  <a:lnSpc>
                    <a:spcPts val="2659"/>
                  </a:lnSpc>
                </a:pPr>
                <a:endParaRPr/>
              </a:p>
            </p:txBody>
          </p:sp>
        </p:grpSp>
        <p:sp>
          <p:nvSpPr>
            <p:cNvPr id="93" name="TextBox 93"/>
            <p:cNvSpPr txBox="1"/>
            <p:nvPr/>
          </p:nvSpPr>
          <p:spPr>
            <a:xfrm>
              <a:off x="318802" y="1160826"/>
              <a:ext cx="3040706" cy="418962"/>
            </a:xfrm>
            <a:prstGeom prst="rect">
              <a:avLst/>
            </a:prstGeom>
          </p:spPr>
          <p:txBody>
            <a:bodyPr lIns="0" tIns="0" rIns="0" bIns="0" rtlCol="0" anchor="t">
              <a:spAutoFit/>
            </a:bodyPr>
            <a:lstStyle/>
            <a:p>
              <a:pPr algn="ctr">
                <a:lnSpc>
                  <a:spcPts val="2630"/>
                </a:lnSpc>
              </a:pPr>
              <a:r>
                <a:rPr lang="en-US" sz="1879" b="1">
                  <a:solidFill>
                    <a:srgbClr val="1800AD"/>
                  </a:solidFill>
                  <a:latin typeface="Canva Sans Bold"/>
                  <a:ea typeface="Canva Sans Bold"/>
                  <a:cs typeface="Canva Sans Bold"/>
                  <a:sym typeface="Canva Sans Bold"/>
                </a:rPr>
                <a:t>Lemmatization</a:t>
              </a:r>
            </a:p>
          </p:txBody>
        </p:sp>
        <p:sp>
          <p:nvSpPr>
            <p:cNvPr id="94" name="TextBox 94"/>
            <p:cNvSpPr txBox="1"/>
            <p:nvPr/>
          </p:nvSpPr>
          <p:spPr>
            <a:xfrm>
              <a:off x="545114" y="2473477"/>
              <a:ext cx="2534869" cy="525800"/>
            </a:xfrm>
            <a:prstGeom prst="rect">
              <a:avLst/>
            </a:prstGeom>
          </p:spPr>
          <p:txBody>
            <a:bodyPr lIns="0" tIns="0" rIns="0" bIns="0" rtlCol="0" anchor="t">
              <a:spAutoFit/>
            </a:bodyPr>
            <a:lstStyle/>
            <a:p>
              <a:pPr algn="ctr">
                <a:lnSpc>
                  <a:spcPts val="1659"/>
                </a:lnSpc>
              </a:pPr>
              <a:r>
                <a:rPr lang="en-US" sz="1185">
                  <a:solidFill>
                    <a:srgbClr val="FFFFFF"/>
                  </a:solidFill>
                  <a:latin typeface="Canva Sans"/>
                  <a:ea typeface="Canva Sans"/>
                  <a:cs typeface="Canva Sans"/>
                  <a:sym typeface="Canva Sans"/>
                </a:rPr>
                <a:t>Segala puji bagi Allah, Tuhan semesta alam</a:t>
              </a:r>
            </a:p>
          </p:txBody>
        </p:sp>
        <p:sp>
          <p:nvSpPr>
            <p:cNvPr id="95" name="TextBox 95"/>
            <p:cNvSpPr txBox="1"/>
            <p:nvPr/>
          </p:nvSpPr>
          <p:spPr>
            <a:xfrm>
              <a:off x="514607" y="3380420"/>
              <a:ext cx="2534869" cy="525800"/>
            </a:xfrm>
            <a:prstGeom prst="rect">
              <a:avLst/>
            </a:prstGeom>
          </p:spPr>
          <p:txBody>
            <a:bodyPr lIns="0" tIns="0" rIns="0" bIns="0" rtlCol="0" anchor="t">
              <a:spAutoFit/>
            </a:bodyPr>
            <a:lstStyle/>
            <a:p>
              <a:pPr algn="just">
                <a:lnSpc>
                  <a:spcPts val="1659"/>
                </a:lnSpc>
              </a:pPr>
              <a:r>
                <a:rPr lang="en-US" sz="1185">
                  <a:solidFill>
                    <a:srgbClr val="FFFFFF"/>
                  </a:solidFill>
                  <a:latin typeface="Canva Sans"/>
                  <a:ea typeface="Canva Sans"/>
                  <a:cs typeface="Canva Sans"/>
                  <a:sym typeface="Canva Sans"/>
                </a:rPr>
                <a:t>puji allah tuhan semesta alam                                      </a:t>
              </a:r>
            </a:p>
          </p:txBody>
        </p:sp>
      </p:grpSp>
      <p:graphicFrame>
        <p:nvGraphicFramePr>
          <p:cNvPr id="96" name="Table 96"/>
          <p:cNvGraphicFramePr>
            <a:graphicFrameLocks noGrp="1"/>
          </p:cNvGraphicFramePr>
          <p:nvPr>
            <p:extLst>
              <p:ext uri="{D42A27DB-BD31-4B8C-83A1-F6EECF244321}">
                <p14:modId xmlns:p14="http://schemas.microsoft.com/office/powerpoint/2010/main" val="2434727855"/>
              </p:ext>
            </p:extLst>
          </p:nvPr>
        </p:nvGraphicFramePr>
        <p:xfrm>
          <a:off x="1665705" y="6101585"/>
          <a:ext cx="10539337" cy="3433714"/>
        </p:xfrm>
        <a:graphic>
          <a:graphicData uri="http://schemas.openxmlformats.org/drawingml/2006/table">
            <a:tbl>
              <a:tblPr/>
              <a:tblGrid>
                <a:gridCol w="3674517">
                  <a:extLst>
                    <a:ext uri="{9D8B030D-6E8A-4147-A177-3AD203B41FA5}">
                      <a16:colId xmlns:a16="http://schemas.microsoft.com/office/drawing/2014/main" val="20000"/>
                    </a:ext>
                  </a:extLst>
                </a:gridCol>
                <a:gridCol w="2405683">
                  <a:extLst>
                    <a:ext uri="{9D8B030D-6E8A-4147-A177-3AD203B41FA5}">
                      <a16:colId xmlns:a16="http://schemas.microsoft.com/office/drawing/2014/main" val="20001"/>
                    </a:ext>
                  </a:extLst>
                </a:gridCol>
                <a:gridCol w="2228991">
                  <a:extLst>
                    <a:ext uri="{9D8B030D-6E8A-4147-A177-3AD203B41FA5}">
                      <a16:colId xmlns:a16="http://schemas.microsoft.com/office/drawing/2014/main" val="20002"/>
                    </a:ext>
                  </a:extLst>
                </a:gridCol>
                <a:gridCol w="2230146">
                  <a:extLst>
                    <a:ext uri="{9D8B030D-6E8A-4147-A177-3AD203B41FA5}">
                      <a16:colId xmlns:a16="http://schemas.microsoft.com/office/drawing/2014/main" val="20003"/>
                    </a:ext>
                  </a:extLst>
                </a:gridCol>
              </a:tblGrid>
              <a:tr h="965512">
                <a:tc>
                  <a:txBody>
                    <a:bodyPr/>
                    <a:lstStyle/>
                    <a:p>
                      <a:pPr algn="ctr">
                        <a:lnSpc>
                          <a:spcPts val="1618"/>
                        </a:lnSpc>
                        <a:defRPr/>
                      </a:pPr>
                      <a:r>
                        <a:rPr lang="en-US" sz="1156" b="1">
                          <a:solidFill>
                            <a:srgbClr val="000000"/>
                          </a:solidFill>
                          <a:latin typeface="Canva Sans Bold"/>
                          <a:ea typeface="Canva Sans Bold"/>
                          <a:cs typeface="Canva Sans Bold"/>
                          <a:sym typeface="Canva Sans Bold"/>
                        </a:rPr>
                        <a:t>Variasi Preprocessing</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00BF63"/>
                    </a:solidFill>
                  </a:tcPr>
                </a:tc>
                <a:tc>
                  <a:txBody>
                    <a:bodyPr/>
                    <a:lstStyle/>
                    <a:p>
                      <a:pPr algn="ctr">
                        <a:lnSpc>
                          <a:spcPts val="1618"/>
                        </a:lnSpc>
                        <a:defRPr/>
                      </a:pPr>
                      <a:r>
                        <a:rPr lang="en-US" sz="1156" b="1">
                          <a:solidFill>
                            <a:srgbClr val="000000"/>
                          </a:solidFill>
                          <a:latin typeface="Canva Sans Bold"/>
                          <a:ea typeface="Canva Sans Bold"/>
                          <a:cs typeface="Canva Sans Bold"/>
                          <a:sym typeface="Canva Sans Bold"/>
                        </a:rPr>
                        <a:t>Reduksi Token (%)</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00BF63"/>
                    </a:solidFill>
                  </a:tcPr>
                </a:tc>
                <a:tc>
                  <a:txBody>
                    <a:bodyPr/>
                    <a:lstStyle/>
                    <a:p>
                      <a:pPr algn="ctr">
                        <a:lnSpc>
                          <a:spcPts val="1618"/>
                        </a:lnSpc>
                        <a:defRPr/>
                      </a:pPr>
                      <a:r>
                        <a:rPr lang="en-US" sz="1156" b="1">
                          <a:solidFill>
                            <a:srgbClr val="000000"/>
                          </a:solidFill>
                          <a:latin typeface="Canva Sans Bold"/>
                          <a:ea typeface="Canva Sans Bold"/>
                          <a:cs typeface="Canva Sans Bold"/>
                          <a:sym typeface="Canva Sans Bold"/>
                        </a:rPr>
                        <a:t>Reduksi Kosatakata (%)</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00BF63"/>
                    </a:solidFill>
                  </a:tcPr>
                </a:tc>
                <a:tc>
                  <a:txBody>
                    <a:bodyPr/>
                    <a:lstStyle/>
                    <a:p>
                      <a:pPr algn="ctr">
                        <a:lnSpc>
                          <a:spcPts val="1618"/>
                        </a:lnSpc>
                        <a:defRPr/>
                      </a:pPr>
                      <a:r>
                        <a:rPr lang="en-US" sz="1156" b="1">
                          <a:solidFill>
                            <a:srgbClr val="000000"/>
                          </a:solidFill>
                          <a:latin typeface="Canva Sans Bold"/>
                          <a:ea typeface="Canva Sans Bold"/>
                          <a:cs typeface="Canva Sans Bold"/>
                          <a:sym typeface="Canva Sans Bold"/>
                        </a:rPr>
                        <a:t>Preservasi Makna (%)</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00BF63"/>
                    </a:solidFill>
                  </a:tcPr>
                </a:tc>
                <a:extLst>
                  <a:ext uri="{0D108BD9-81ED-4DB2-BD59-A6C34878D82A}">
                    <a16:rowId xmlns:a16="http://schemas.microsoft.com/office/drawing/2014/main" val="10000"/>
                  </a:ext>
                </a:extLst>
              </a:tr>
              <a:tr h="1005564">
                <a:tc>
                  <a:txBody>
                    <a:bodyPr/>
                    <a:lstStyle/>
                    <a:p>
                      <a:pPr algn="l">
                        <a:lnSpc>
                          <a:spcPts val="1679"/>
                        </a:lnSpc>
                        <a:defRPr/>
                      </a:pPr>
                      <a:r>
                        <a:rPr lang="en-US" sz="1200" b="1">
                          <a:solidFill>
                            <a:srgbClr val="000000"/>
                          </a:solidFill>
                          <a:latin typeface="Arimo Bold"/>
                          <a:ea typeface="Arimo Bold"/>
                          <a:cs typeface="Arimo Bold"/>
                          <a:sym typeface="Arimo Bold"/>
                        </a:rPr>
                        <a:t>preprocessed Basic (tanpa Stopword, dan steming)</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CDCD"/>
                    </a:solidFill>
                  </a:tcPr>
                </a:tc>
                <a:tc>
                  <a:txBody>
                    <a:bodyPr/>
                    <a:lstStyle/>
                    <a:p>
                      <a:pPr algn="ctr">
                        <a:lnSpc>
                          <a:spcPts val="1618"/>
                        </a:lnSpc>
                        <a:defRPr/>
                      </a:pPr>
                      <a:r>
                        <a:rPr lang="en-US" sz="1400" dirty="0">
                          <a:solidFill>
                            <a:srgbClr val="000000"/>
                          </a:solidFill>
                          <a:latin typeface="Canva Sans"/>
                          <a:ea typeface="Canva Sans"/>
                          <a:cs typeface="Canva Sans"/>
                          <a:sym typeface="Canva Sans"/>
                        </a:rPr>
                        <a:t>6.81</a:t>
                      </a:r>
                      <a:endParaRPr lang="en-US" sz="1400" dirty="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1618"/>
                        </a:lnSpc>
                        <a:defRPr/>
                      </a:pPr>
                      <a:r>
                        <a:rPr lang="en-US" sz="1400" dirty="0">
                          <a:solidFill>
                            <a:srgbClr val="000000"/>
                          </a:solidFill>
                          <a:latin typeface="Canva Sans"/>
                          <a:ea typeface="Canva Sans"/>
                          <a:cs typeface="Canva Sans"/>
                          <a:sym typeface="Canva Sans"/>
                        </a:rPr>
                        <a:t>58.43</a:t>
                      </a:r>
                      <a:endParaRPr lang="en-US" sz="1400" dirty="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1618"/>
                        </a:lnSpc>
                        <a:defRPr/>
                      </a:pPr>
                      <a:r>
                        <a:rPr lang="en-US" sz="1400" dirty="0">
                          <a:solidFill>
                            <a:srgbClr val="000000"/>
                          </a:solidFill>
                          <a:latin typeface="Canva Sans"/>
                          <a:ea typeface="Canva Sans"/>
                          <a:cs typeface="Canva Sans"/>
                          <a:sym typeface="Canva Sans"/>
                        </a:rPr>
                        <a:t>68.61</a:t>
                      </a:r>
                      <a:endParaRPr lang="en-US" sz="1400" dirty="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extLst>
                  <a:ext uri="{0D108BD9-81ED-4DB2-BD59-A6C34878D82A}">
                    <a16:rowId xmlns:a16="http://schemas.microsoft.com/office/drawing/2014/main" val="10001"/>
                  </a:ext>
                </a:extLst>
              </a:tr>
              <a:tr h="731319">
                <a:tc>
                  <a:txBody>
                    <a:bodyPr/>
                    <a:lstStyle/>
                    <a:p>
                      <a:pPr algn="l">
                        <a:lnSpc>
                          <a:spcPts val="1618"/>
                        </a:lnSpc>
                        <a:defRPr/>
                      </a:pPr>
                      <a:r>
                        <a:rPr lang="en-US" sz="1156" b="1">
                          <a:solidFill>
                            <a:srgbClr val="000000"/>
                          </a:solidFill>
                          <a:latin typeface="Canva Sans Bold"/>
                          <a:ea typeface="Canva Sans Bold"/>
                          <a:cs typeface="Canva Sans Bold"/>
                          <a:sym typeface="Canva Sans Bold"/>
                        </a:rPr>
                        <a:t>preprocessed no steam (tanpa stemming)</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CDCD"/>
                    </a:solidFill>
                  </a:tcPr>
                </a:tc>
                <a:tc>
                  <a:txBody>
                    <a:bodyPr/>
                    <a:lstStyle/>
                    <a:p>
                      <a:pPr algn="ctr">
                        <a:lnSpc>
                          <a:spcPts val="1618"/>
                        </a:lnSpc>
                        <a:defRPr/>
                      </a:pPr>
                      <a:r>
                        <a:rPr lang="en-US" sz="1400" dirty="0">
                          <a:solidFill>
                            <a:srgbClr val="000000"/>
                          </a:solidFill>
                          <a:latin typeface="Canva Sans"/>
                          <a:ea typeface="Canva Sans"/>
                          <a:cs typeface="Canva Sans"/>
                          <a:sym typeface="Canva Sans"/>
                        </a:rPr>
                        <a:t>55.7</a:t>
                      </a:r>
                      <a:endParaRPr lang="en-US" sz="1400" dirty="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1618"/>
                        </a:lnSpc>
                        <a:defRPr/>
                      </a:pPr>
                      <a:r>
                        <a:rPr lang="en-US" sz="1400" dirty="0">
                          <a:solidFill>
                            <a:srgbClr val="000000"/>
                          </a:solidFill>
                          <a:latin typeface="Canva Sans"/>
                          <a:ea typeface="Canva Sans"/>
                          <a:cs typeface="Canva Sans"/>
                          <a:sym typeface="Canva Sans"/>
                        </a:rPr>
                        <a:t>59.31</a:t>
                      </a:r>
                      <a:endParaRPr lang="en-US" sz="1400" dirty="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1618"/>
                        </a:lnSpc>
                        <a:defRPr/>
                      </a:pPr>
                      <a:r>
                        <a:rPr lang="en-US" sz="1400" dirty="0">
                          <a:solidFill>
                            <a:srgbClr val="000000"/>
                          </a:solidFill>
                          <a:latin typeface="Canva Sans"/>
                          <a:ea typeface="Canva Sans"/>
                          <a:cs typeface="Canva Sans"/>
                          <a:sym typeface="Canva Sans"/>
                        </a:rPr>
                        <a:t>74.45</a:t>
                      </a:r>
                      <a:endParaRPr lang="en-US" sz="1400" dirty="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extLst>
                  <a:ext uri="{0D108BD9-81ED-4DB2-BD59-A6C34878D82A}">
                    <a16:rowId xmlns:a16="http://schemas.microsoft.com/office/drawing/2014/main" val="10002"/>
                  </a:ext>
                </a:extLst>
              </a:tr>
              <a:tr h="731319">
                <a:tc>
                  <a:txBody>
                    <a:bodyPr/>
                    <a:lstStyle/>
                    <a:p>
                      <a:pPr algn="l">
                        <a:lnSpc>
                          <a:spcPts val="1618"/>
                        </a:lnSpc>
                        <a:defRPr/>
                      </a:pPr>
                      <a:r>
                        <a:rPr lang="en-US" sz="1156" b="1">
                          <a:solidFill>
                            <a:srgbClr val="000000"/>
                          </a:solidFill>
                          <a:latin typeface="Canva Sans Bold"/>
                          <a:ea typeface="Canva Sans Bold"/>
                          <a:cs typeface="Canva Sans Bold"/>
                          <a:sym typeface="Canva Sans Bold"/>
                        </a:rPr>
                        <a:t>preprocessed advance</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CDCD"/>
                    </a:solidFill>
                  </a:tcPr>
                </a:tc>
                <a:tc>
                  <a:txBody>
                    <a:bodyPr/>
                    <a:lstStyle/>
                    <a:p>
                      <a:pPr algn="ctr">
                        <a:lnSpc>
                          <a:spcPts val="1618"/>
                        </a:lnSpc>
                        <a:defRPr/>
                      </a:pPr>
                      <a:r>
                        <a:rPr lang="en-US" sz="1400" dirty="0">
                          <a:solidFill>
                            <a:srgbClr val="000000"/>
                          </a:solidFill>
                          <a:latin typeface="Canva Sans"/>
                          <a:ea typeface="Canva Sans"/>
                          <a:cs typeface="Canva Sans"/>
                          <a:sym typeface="Canva Sans"/>
                        </a:rPr>
                        <a:t>55.6</a:t>
                      </a:r>
                      <a:endParaRPr lang="en-US" sz="1400" dirty="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1618"/>
                        </a:lnSpc>
                        <a:defRPr/>
                      </a:pPr>
                      <a:r>
                        <a:rPr lang="en-US" sz="1400" dirty="0">
                          <a:solidFill>
                            <a:srgbClr val="000000"/>
                          </a:solidFill>
                          <a:latin typeface="Canva Sans"/>
                          <a:ea typeface="Canva Sans"/>
                          <a:cs typeface="Canva Sans"/>
                          <a:sym typeface="Canva Sans"/>
                        </a:rPr>
                        <a:t>83.75</a:t>
                      </a:r>
                      <a:endParaRPr lang="en-US" sz="1400" dirty="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1618"/>
                        </a:lnSpc>
                        <a:defRPr/>
                      </a:pPr>
                      <a:r>
                        <a:rPr lang="en-US" sz="1400" dirty="0">
                          <a:solidFill>
                            <a:srgbClr val="000000"/>
                          </a:solidFill>
                          <a:latin typeface="Canva Sans"/>
                          <a:ea typeface="Canva Sans"/>
                          <a:cs typeface="Canva Sans"/>
                          <a:sym typeface="Canva Sans"/>
                        </a:rPr>
                        <a:t>73.20</a:t>
                      </a:r>
                      <a:endParaRPr lang="en-US" sz="1400" dirty="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extLst>
                  <a:ext uri="{0D108BD9-81ED-4DB2-BD59-A6C34878D82A}">
                    <a16:rowId xmlns:a16="http://schemas.microsoft.com/office/drawing/2014/main" val="10003"/>
                  </a:ext>
                </a:extLst>
              </a:tr>
            </a:tbl>
          </a:graphicData>
        </a:graphic>
      </p:graphicFrame>
      <p:sp>
        <p:nvSpPr>
          <p:cNvPr id="97" name="TextBox 97"/>
          <p:cNvSpPr txBox="1"/>
          <p:nvPr/>
        </p:nvSpPr>
        <p:spPr>
          <a:xfrm>
            <a:off x="1028700" y="1210387"/>
            <a:ext cx="11543683" cy="995966"/>
          </a:xfrm>
          <a:prstGeom prst="rect">
            <a:avLst/>
          </a:prstGeom>
        </p:spPr>
        <p:txBody>
          <a:bodyPr lIns="0" tIns="0" rIns="0" bIns="0" rtlCol="0" anchor="t">
            <a:spAutoFit/>
          </a:bodyPr>
          <a:lstStyle/>
          <a:p>
            <a:pPr algn="l">
              <a:lnSpc>
                <a:spcPts val="8160"/>
              </a:lnSpc>
              <a:spcBef>
                <a:spcPct val="0"/>
              </a:spcBef>
            </a:pPr>
            <a:r>
              <a:rPr lang="en-US" sz="5828" b="1">
                <a:solidFill>
                  <a:srgbClr val="1800AD"/>
                </a:solidFill>
                <a:latin typeface="Archivo Narrow Bold"/>
                <a:ea typeface="Archivo Narrow Bold"/>
                <a:cs typeface="Archivo Narrow Bold"/>
                <a:sym typeface="Archivo Narrow Bold"/>
              </a:rPr>
              <a:t>Tahapan Text Preprocessing</a:t>
            </a:r>
          </a:p>
        </p:txBody>
      </p:sp>
      <p:sp>
        <p:nvSpPr>
          <p:cNvPr id="98" name="TextBox 98"/>
          <p:cNvSpPr txBox="1"/>
          <p:nvPr/>
        </p:nvSpPr>
        <p:spPr>
          <a:xfrm>
            <a:off x="1028700" y="215814"/>
            <a:ext cx="8131423" cy="812886"/>
          </a:xfrm>
          <a:prstGeom prst="rect">
            <a:avLst/>
          </a:prstGeom>
        </p:spPr>
        <p:txBody>
          <a:bodyPr lIns="0" tIns="0" rIns="0" bIns="0" rtlCol="0" anchor="t">
            <a:spAutoFit/>
          </a:bodyPr>
          <a:lstStyle/>
          <a:p>
            <a:pPr algn="l">
              <a:lnSpc>
                <a:spcPts val="6645"/>
              </a:lnSpc>
              <a:spcBef>
                <a:spcPct val="0"/>
              </a:spcBef>
            </a:pPr>
            <a:r>
              <a:rPr lang="en-US" sz="4746" b="1">
                <a:solidFill>
                  <a:srgbClr val="FF751F"/>
                </a:solidFill>
                <a:latin typeface="Montserrat Bold"/>
                <a:ea typeface="Montserrat Bold"/>
                <a:cs typeface="Montserrat Bold"/>
                <a:sym typeface="Montserrat Bold"/>
              </a:rPr>
              <a:t>06 | Preprocessing Teks</a:t>
            </a:r>
          </a:p>
        </p:txBody>
      </p:sp>
      <p:grpSp>
        <p:nvGrpSpPr>
          <p:cNvPr id="99" name="Group 99"/>
          <p:cNvGrpSpPr/>
          <p:nvPr/>
        </p:nvGrpSpPr>
        <p:grpSpPr>
          <a:xfrm>
            <a:off x="13516772" y="6270980"/>
            <a:ext cx="2527223" cy="3192650"/>
            <a:chOff x="0" y="0"/>
            <a:chExt cx="3369631" cy="4256867"/>
          </a:xfrm>
        </p:grpSpPr>
        <p:grpSp>
          <p:nvGrpSpPr>
            <p:cNvPr id="100" name="Group 100"/>
            <p:cNvGrpSpPr/>
            <p:nvPr/>
          </p:nvGrpSpPr>
          <p:grpSpPr>
            <a:xfrm>
              <a:off x="0" y="0"/>
              <a:ext cx="3369631" cy="4256867"/>
              <a:chOff x="0" y="0"/>
              <a:chExt cx="972859" cy="1229017"/>
            </a:xfrm>
          </p:grpSpPr>
          <p:sp>
            <p:nvSpPr>
              <p:cNvPr id="101" name="Freeform 101"/>
              <p:cNvSpPr/>
              <p:nvPr/>
            </p:nvSpPr>
            <p:spPr>
              <a:xfrm>
                <a:off x="0" y="0"/>
                <a:ext cx="972859" cy="1229017"/>
              </a:xfrm>
              <a:custGeom>
                <a:avLst/>
                <a:gdLst/>
                <a:ahLst/>
                <a:cxnLst/>
                <a:rect l="l" t="t" r="r" b="b"/>
                <a:pathLst>
                  <a:path w="972859" h="1229017">
                    <a:moveTo>
                      <a:pt x="79649" y="0"/>
                    </a:moveTo>
                    <a:lnTo>
                      <a:pt x="893211" y="0"/>
                    </a:lnTo>
                    <a:cubicBezTo>
                      <a:pt x="914335" y="0"/>
                      <a:pt x="934594" y="8392"/>
                      <a:pt x="949531" y="23329"/>
                    </a:cubicBezTo>
                    <a:cubicBezTo>
                      <a:pt x="964468" y="38266"/>
                      <a:pt x="972859" y="58525"/>
                      <a:pt x="972859" y="79649"/>
                    </a:cubicBezTo>
                    <a:lnTo>
                      <a:pt x="972859" y="1149368"/>
                    </a:lnTo>
                    <a:cubicBezTo>
                      <a:pt x="972859" y="1170492"/>
                      <a:pt x="964468" y="1190751"/>
                      <a:pt x="949531" y="1205688"/>
                    </a:cubicBezTo>
                    <a:cubicBezTo>
                      <a:pt x="934594" y="1220625"/>
                      <a:pt x="914335" y="1229017"/>
                      <a:pt x="893211" y="1229017"/>
                    </a:cubicBezTo>
                    <a:lnTo>
                      <a:pt x="79649" y="1229017"/>
                    </a:lnTo>
                    <a:cubicBezTo>
                      <a:pt x="35660" y="1229017"/>
                      <a:pt x="0" y="1193357"/>
                      <a:pt x="0" y="1149368"/>
                    </a:cubicBezTo>
                    <a:lnTo>
                      <a:pt x="0" y="79649"/>
                    </a:lnTo>
                    <a:cubicBezTo>
                      <a:pt x="0" y="58525"/>
                      <a:pt x="8392" y="38266"/>
                      <a:pt x="23329" y="23329"/>
                    </a:cubicBezTo>
                    <a:cubicBezTo>
                      <a:pt x="38266" y="8392"/>
                      <a:pt x="58525" y="0"/>
                      <a:pt x="79649" y="0"/>
                    </a:cubicBezTo>
                    <a:close/>
                  </a:path>
                </a:pathLst>
              </a:custGeom>
              <a:solidFill>
                <a:srgbClr val="FFFFFF"/>
              </a:solidFill>
              <a:ln w="38100" cap="rnd">
                <a:solidFill>
                  <a:srgbClr val="FF751F"/>
                </a:solidFill>
                <a:prstDash val="solid"/>
                <a:round/>
              </a:ln>
            </p:spPr>
          </p:sp>
          <p:sp>
            <p:nvSpPr>
              <p:cNvPr id="102" name="TextBox 102"/>
              <p:cNvSpPr txBox="1"/>
              <p:nvPr/>
            </p:nvSpPr>
            <p:spPr>
              <a:xfrm>
                <a:off x="0" y="-47625"/>
                <a:ext cx="972859" cy="1276642"/>
              </a:xfrm>
              <a:prstGeom prst="rect">
                <a:avLst/>
              </a:prstGeom>
            </p:spPr>
            <p:txBody>
              <a:bodyPr lIns="34756" tIns="34756" rIns="34756" bIns="34756" rtlCol="0" anchor="ctr"/>
              <a:lstStyle/>
              <a:p>
                <a:pPr algn="ctr">
                  <a:lnSpc>
                    <a:spcPts val="2659"/>
                  </a:lnSpc>
                </a:pPr>
                <a:endParaRPr/>
              </a:p>
            </p:txBody>
          </p:sp>
        </p:grpSp>
        <p:grpSp>
          <p:nvGrpSpPr>
            <p:cNvPr id="103" name="Group 103"/>
            <p:cNvGrpSpPr/>
            <p:nvPr/>
          </p:nvGrpSpPr>
          <p:grpSpPr>
            <a:xfrm>
              <a:off x="133238" y="2501322"/>
              <a:ext cx="3143320" cy="1551800"/>
              <a:chOff x="0" y="0"/>
              <a:chExt cx="907520" cy="448026"/>
            </a:xfrm>
          </p:grpSpPr>
          <p:sp>
            <p:nvSpPr>
              <p:cNvPr id="104" name="Freeform 104"/>
              <p:cNvSpPr/>
              <p:nvPr/>
            </p:nvSpPr>
            <p:spPr>
              <a:xfrm>
                <a:off x="0" y="0"/>
                <a:ext cx="907520" cy="448026"/>
              </a:xfrm>
              <a:custGeom>
                <a:avLst/>
                <a:gdLst/>
                <a:ahLst/>
                <a:cxnLst/>
                <a:rect l="l" t="t" r="r" b="b"/>
                <a:pathLst>
                  <a:path w="907520" h="448026">
                    <a:moveTo>
                      <a:pt x="0" y="0"/>
                    </a:moveTo>
                    <a:lnTo>
                      <a:pt x="907520" y="0"/>
                    </a:lnTo>
                    <a:lnTo>
                      <a:pt x="907520" y="448026"/>
                    </a:lnTo>
                    <a:lnTo>
                      <a:pt x="0" y="448026"/>
                    </a:lnTo>
                    <a:close/>
                  </a:path>
                </a:pathLst>
              </a:custGeom>
              <a:solidFill>
                <a:srgbClr val="FF751F"/>
              </a:solidFill>
              <a:ln w="38100" cap="sq">
                <a:solidFill>
                  <a:srgbClr val="FF751F"/>
                </a:solidFill>
                <a:prstDash val="solid"/>
                <a:miter/>
              </a:ln>
            </p:spPr>
          </p:sp>
          <p:sp>
            <p:nvSpPr>
              <p:cNvPr id="105" name="TextBox 105"/>
              <p:cNvSpPr txBox="1"/>
              <p:nvPr/>
            </p:nvSpPr>
            <p:spPr>
              <a:xfrm>
                <a:off x="0" y="-47625"/>
                <a:ext cx="907520" cy="495651"/>
              </a:xfrm>
              <a:prstGeom prst="rect">
                <a:avLst/>
              </a:prstGeom>
            </p:spPr>
            <p:txBody>
              <a:bodyPr lIns="34756" tIns="34756" rIns="34756" bIns="34756" rtlCol="0" anchor="ctr"/>
              <a:lstStyle/>
              <a:p>
                <a:pPr algn="ctr">
                  <a:lnSpc>
                    <a:spcPts val="2659"/>
                  </a:lnSpc>
                </a:pPr>
                <a:endParaRPr/>
              </a:p>
            </p:txBody>
          </p:sp>
        </p:grpSp>
        <p:sp>
          <p:nvSpPr>
            <p:cNvPr id="106" name="Freeform 106"/>
            <p:cNvSpPr/>
            <p:nvPr/>
          </p:nvSpPr>
          <p:spPr>
            <a:xfrm>
              <a:off x="1173878" y="241584"/>
              <a:ext cx="957342" cy="957342"/>
            </a:xfrm>
            <a:custGeom>
              <a:avLst/>
              <a:gdLst/>
              <a:ahLst/>
              <a:cxnLst/>
              <a:rect l="l" t="t" r="r" b="b"/>
              <a:pathLst>
                <a:path w="957342" h="957342">
                  <a:moveTo>
                    <a:pt x="0" y="0"/>
                  </a:moveTo>
                  <a:lnTo>
                    <a:pt x="957341" y="0"/>
                  </a:lnTo>
                  <a:lnTo>
                    <a:pt x="957341" y="957342"/>
                  </a:lnTo>
                  <a:lnTo>
                    <a:pt x="0" y="95734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07" name="TextBox 107"/>
            <p:cNvSpPr txBox="1"/>
            <p:nvPr/>
          </p:nvSpPr>
          <p:spPr>
            <a:xfrm>
              <a:off x="202002" y="1338348"/>
              <a:ext cx="2965627" cy="1224227"/>
            </a:xfrm>
            <a:prstGeom prst="rect">
              <a:avLst/>
            </a:prstGeom>
          </p:spPr>
          <p:txBody>
            <a:bodyPr lIns="0" tIns="0" rIns="0" bIns="0" rtlCol="0" anchor="t">
              <a:spAutoFit/>
            </a:bodyPr>
            <a:lstStyle/>
            <a:p>
              <a:pPr algn="ctr">
                <a:lnSpc>
                  <a:spcPts val="2548"/>
                </a:lnSpc>
              </a:pPr>
              <a:r>
                <a:rPr lang="en-US" sz="1820" b="1">
                  <a:solidFill>
                    <a:srgbClr val="1800AD"/>
                  </a:solidFill>
                  <a:latin typeface="Canva Sans Bold"/>
                  <a:ea typeface="Canva Sans Bold"/>
                  <a:cs typeface="Canva Sans Bold"/>
                  <a:sym typeface="Canva Sans Bold"/>
                </a:rPr>
                <a:t>Preprocessed Advanced</a:t>
              </a:r>
            </a:p>
            <a:p>
              <a:pPr algn="ctr">
                <a:lnSpc>
                  <a:spcPts val="2548"/>
                </a:lnSpc>
              </a:pPr>
              <a:endParaRPr lang="en-US" sz="1820" b="1">
                <a:solidFill>
                  <a:srgbClr val="1800AD"/>
                </a:solidFill>
                <a:latin typeface="Canva Sans Bold"/>
                <a:ea typeface="Canva Sans Bold"/>
                <a:cs typeface="Canva Sans Bold"/>
                <a:sym typeface="Canva Sans Bold"/>
              </a:endParaRPr>
            </a:p>
          </p:txBody>
        </p:sp>
        <p:sp>
          <p:nvSpPr>
            <p:cNvPr id="108" name="TextBox 108"/>
            <p:cNvSpPr txBox="1"/>
            <p:nvPr/>
          </p:nvSpPr>
          <p:spPr>
            <a:xfrm>
              <a:off x="531654" y="2739735"/>
              <a:ext cx="2472279" cy="1313388"/>
            </a:xfrm>
            <a:prstGeom prst="rect">
              <a:avLst/>
            </a:prstGeom>
          </p:spPr>
          <p:txBody>
            <a:bodyPr lIns="0" tIns="0" rIns="0" bIns="0" rtlCol="0" anchor="t">
              <a:spAutoFit/>
            </a:bodyPr>
            <a:lstStyle/>
            <a:p>
              <a:pPr algn="ctr">
                <a:lnSpc>
                  <a:spcPts val="1618"/>
                </a:lnSpc>
              </a:pPr>
              <a:r>
                <a:rPr lang="en-US" sz="1156">
                  <a:solidFill>
                    <a:srgbClr val="FFFFFF"/>
                  </a:solidFill>
                  <a:latin typeface="Canva Sans"/>
                  <a:ea typeface="Canva Sans"/>
                  <a:cs typeface="Canva Sans"/>
                  <a:sym typeface="Canva Sans"/>
                </a:rPr>
                <a:t>Keseimbangan terbaik antara reduksi noise dan preservasi makna semantik teks Al-Qur'an</a:t>
              </a:r>
            </a:p>
            <a:p>
              <a:pPr algn="ctr">
                <a:lnSpc>
                  <a:spcPts val="1618"/>
                </a:lnSpc>
              </a:pPr>
              <a:endParaRPr lang="en-US" sz="1156">
                <a:solidFill>
                  <a:srgbClr val="FFFFFF"/>
                </a:solidFill>
                <a:latin typeface="Canva Sans"/>
                <a:ea typeface="Canva Sans"/>
                <a:cs typeface="Canva Sans"/>
                <a:sym typeface="Canva Sans"/>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033559" flipV="1">
            <a:off x="-6899734" y="5748474"/>
            <a:ext cx="6313412" cy="11932565"/>
          </a:xfrm>
          <a:custGeom>
            <a:avLst/>
            <a:gdLst/>
            <a:ahLst/>
            <a:cxnLst/>
            <a:rect l="l" t="t" r="r" b="b"/>
            <a:pathLst>
              <a:path w="6313412" h="11932565">
                <a:moveTo>
                  <a:pt x="0" y="11932564"/>
                </a:moveTo>
                <a:lnTo>
                  <a:pt x="6313412" y="11932564"/>
                </a:lnTo>
                <a:lnTo>
                  <a:pt x="6313412" y="0"/>
                </a:lnTo>
                <a:lnTo>
                  <a:pt x="0" y="0"/>
                </a:lnTo>
                <a:lnTo>
                  <a:pt x="0" y="11932564"/>
                </a:lnTo>
                <a:close/>
              </a:path>
            </a:pathLst>
          </a:custGeom>
          <a:blipFill>
            <a:blip r:embed="rId4">
              <a:alphaModFix amt="7999"/>
              <a:extLst>
                <a:ext uri="{96DAC541-7B7A-43D3-8B79-37D633B846F1}">
                  <asvg:svgBlip xmlns:asvg="http://schemas.microsoft.com/office/drawing/2016/SVG/main" r:embed="rId5"/>
                </a:ext>
              </a:extLst>
            </a:blip>
            <a:stretch>
              <a:fillRect/>
            </a:stretch>
          </a:blipFill>
        </p:spPr>
      </p:sp>
      <p:grpSp>
        <p:nvGrpSpPr>
          <p:cNvPr id="3" name="Group 3"/>
          <p:cNvGrpSpPr/>
          <p:nvPr/>
        </p:nvGrpSpPr>
        <p:grpSpPr>
          <a:xfrm>
            <a:off x="0" y="9708804"/>
            <a:ext cx="9144000" cy="560871"/>
            <a:chOff x="0" y="0"/>
            <a:chExt cx="2408296" cy="147719"/>
          </a:xfrm>
        </p:grpSpPr>
        <p:sp>
          <p:nvSpPr>
            <p:cNvPr id="4" name="Freeform 4"/>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1800AD"/>
            </a:solidFill>
          </p:spPr>
        </p:sp>
        <p:sp>
          <p:nvSpPr>
            <p:cNvPr id="5" name="TextBox 5"/>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028700" y="2479309"/>
            <a:ext cx="8115300" cy="137058"/>
            <a:chOff x="0" y="0"/>
            <a:chExt cx="2137363" cy="36097"/>
          </a:xfrm>
        </p:grpSpPr>
        <p:sp>
          <p:nvSpPr>
            <p:cNvPr id="7" name="Freeform 7"/>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FFDE59"/>
            </a:solidFill>
          </p:spPr>
        </p:sp>
        <p:sp>
          <p:nvSpPr>
            <p:cNvPr id="8" name="TextBox 8"/>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9144000" y="2479309"/>
            <a:ext cx="8115300" cy="137058"/>
            <a:chOff x="0" y="0"/>
            <a:chExt cx="2137363" cy="36097"/>
          </a:xfrm>
        </p:grpSpPr>
        <p:sp>
          <p:nvSpPr>
            <p:cNvPr id="10" name="Freeform 10"/>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1800AD"/>
            </a:solidFill>
          </p:spPr>
        </p:sp>
        <p:sp>
          <p:nvSpPr>
            <p:cNvPr id="11" name="TextBox 11"/>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sp>
        <p:nvSpPr>
          <p:cNvPr id="12" name="Freeform 12"/>
          <p:cNvSpPr/>
          <p:nvPr/>
        </p:nvSpPr>
        <p:spPr>
          <a:xfrm>
            <a:off x="15487240" y="516545"/>
            <a:ext cx="1664226" cy="1616285"/>
          </a:xfrm>
          <a:custGeom>
            <a:avLst/>
            <a:gdLst/>
            <a:ahLst/>
            <a:cxnLst/>
            <a:rect l="l" t="t" r="r" b="b"/>
            <a:pathLst>
              <a:path w="1664226" h="1616285">
                <a:moveTo>
                  <a:pt x="0" y="0"/>
                </a:moveTo>
                <a:lnTo>
                  <a:pt x="1664226" y="0"/>
                </a:lnTo>
                <a:lnTo>
                  <a:pt x="1664226" y="1616285"/>
                </a:lnTo>
                <a:lnTo>
                  <a:pt x="0" y="1616285"/>
                </a:lnTo>
                <a:lnTo>
                  <a:pt x="0" y="0"/>
                </a:lnTo>
                <a:close/>
              </a:path>
            </a:pathLst>
          </a:custGeom>
          <a:blipFill>
            <a:blip r:embed="rId6"/>
            <a:stretch>
              <a:fillRect/>
            </a:stretch>
          </a:blipFill>
        </p:spPr>
      </p:sp>
      <p:grpSp>
        <p:nvGrpSpPr>
          <p:cNvPr id="13" name="Group 13"/>
          <p:cNvGrpSpPr/>
          <p:nvPr/>
        </p:nvGrpSpPr>
        <p:grpSpPr>
          <a:xfrm>
            <a:off x="9144000" y="9708804"/>
            <a:ext cx="9144000" cy="560871"/>
            <a:chOff x="0" y="0"/>
            <a:chExt cx="2408296" cy="147719"/>
          </a:xfrm>
        </p:grpSpPr>
        <p:sp>
          <p:nvSpPr>
            <p:cNvPr id="14" name="Freeform 14"/>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FFDE59"/>
            </a:solidFill>
          </p:spPr>
        </p:sp>
        <p:sp>
          <p:nvSpPr>
            <p:cNvPr id="15" name="TextBox 15"/>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1028700" y="2854732"/>
            <a:ext cx="4423258" cy="793726"/>
            <a:chOff x="0" y="0"/>
            <a:chExt cx="5897677" cy="1058301"/>
          </a:xfrm>
        </p:grpSpPr>
        <p:grpSp>
          <p:nvGrpSpPr>
            <p:cNvPr id="17" name="Group 17"/>
            <p:cNvGrpSpPr/>
            <p:nvPr/>
          </p:nvGrpSpPr>
          <p:grpSpPr>
            <a:xfrm>
              <a:off x="0" y="0"/>
              <a:ext cx="5897677" cy="1058301"/>
              <a:chOff x="0" y="0"/>
              <a:chExt cx="2496752" cy="448026"/>
            </a:xfrm>
          </p:grpSpPr>
          <p:sp>
            <p:nvSpPr>
              <p:cNvPr id="18" name="Freeform 18"/>
              <p:cNvSpPr/>
              <p:nvPr/>
            </p:nvSpPr>
            <p:spPr>
              <a:xfrm>
                <a:off x="0" y="0"/>
                <a:ext cx="2496752" cy="448026"/>
              </a:xfrm>
              <a:custGeom>
                <a:avLst/>
                <a:gdLst/>
                <a:ahLst/>
                <a:cxnLst/>
                <a:rect l="l" t="t" r="r" b="b"/>
                <a:pathLst>
                  <a:path w="2496752" h="448026">
                    <a:moveTo>
                      <a:pt x="0" y="0"/>
                    </a:moveTo>
                    <a:lnTo>
                      <a:pt x="2496752" y="0"/>
                    </a:lnTo>
                    <a:lnTo>
                      <a:pt x="2496752" y="448026"/>
                    </a:lnTo>
                    <a:lnTo>
                      <a:pt x="0" y="448026"/>
                    </a:lnTo>
                    <a:close/>
                  </a:path>
                </a:pathLst>
              </a:custGeom>
              <a:solidFill>
                <a:srgbClr val="FEFCFB"/>
              </a:solidFill>
              <a:ln w="38100" cap="sq">
                <a:solidFill>
                  <a:srgbClr val="FF751F"/>
                </a:solidFill>
                <a:prstDash val="solid"/>
                <a:miter/>
              </a:ln>
            </p:spPr>
          </p:sp>
          <p:sp>
            <p:nvSpPr>
              <p:cNvPr id="19" name="TextBox 19"/>
              <p:cNvSpPr txBox="1"/>
              <p:nvPr/>
            </p:nvSpPr>
            <p:spPr>
              <a:xfrm>
                <a:off x="0" y="-47625"/>
                <a:ext cx="2496752" cy="495651"/>
              </a:xfrm>
              <a:prstGeom prst="rect">
                <a:avLst/>
              </a:prstGeom>
            </p:spPr>
            <p:txBody>
              <a:bodyPr lIns="34756" tIns="34756" rIns="34756" bIns="34756" rtlCol="0" anchor="ctr"/>
              <a:lstStyle/>
              <a:p>
                <a:pPr algn="ctr">
                  <a:lnSpc>
                    <a:spcPts val="2659"/>
                  </a:lnSpc>
                </a:pPr>
                <a:endParaRPr/>
              </a:p>
            </p:txBody>
          </p:sp>
        </p:grpSp>
        <p:sp>
          <p:nvSpPr>
            <p:cNvPr id="20" name="TextBox 20"/>
            <p:cNvSpPr txBox="1"/>
            <p:nvPr/>
          </p:nvSpPr>
          <p:spPr>
            <a:xfrm>
              <a:off x="613466" y="245303"/>
              <a:ext cx="4340416" cy="548645"/>
            </a:xfrm>
            <a:prstGeom prst="rect">
              <a:avLst/>
            </a:prstGeom>
          </p:spPr>
          <p:txBody>
            <a:bodyPr lIns="0" tIns="0" rIns="0" bIns="0" rtlCol="0" anchor="t">
              <a:spAutoFit/>
            </a:bodyPr>
            <a:lstStyle/>
            <a:p>
              <a:pPr algn="ctr">
                <a:lnSpc>
                  <a:spcPts val="1738"/>
                </a:lnSpc>
              </a:pPr>
              <a:r>
                <a:rPr lang="en-US" sz="1241" b="1">
                  <a:solidFill>
                    <a:srgbClr val="CF4119"/>
                  </a:solidFill>
                  <a:latin typeface="Canva Sans Bold"/>
                  <a:ea typeface="Canva Sans Bold"/>
                  <a:cs typeface="Canva Sans Bold"/>
                  <a:sym typeface="Canva Sans Bold"/>
                </a:rPr>
                <a:t>Optimasi parameter jumlah topik (K)</a:t>
              </a:r>
            </a:p>
            <a:p>
              <a:pPr algn="ctr">
                <a:lnSpc>
                  <a:spcPts val="1738"/>
                </a:lnSpc>
              </a:pPr>
              <a:r>
                <a:rPr lang="en-US" sz="1241" b="1">
                  <a:solidFill>
                    <a:srgbClr val="CF4119"/>
                  </a:solidFill>
                  <a:latin typeface="Canva Sans Bold"/>
                  <a:ea typeface="Canva Sans Bold"/>
                  <a:cs typeface="Canva Sans Bold"/>
                  <a:sym typeface="Canva Sans Bold"/>
                </a:rPr>
                <a:t>K = 8 sampai K=19</a:t>
              </a:r>
            </a:p>
          </p:txBody>
        </p:sp>
      </p:grpSp>
      <p:grpSp>
        <p:nvGrpSpPr>
          <p:cNvPr id="21" name="Group 21"/>
          <p:cNvGrpSpPr/>
          <p:nvPr/>
        </p:nvGrpSpPr>
        <p:grpSpPr>
          <a:xfrm>
            <a:off x="5661322" y="2800148"/>
            <a:ext cx="6608985" cy="947517"/>
            <a:chOff x="0" y="0"/>
            <a:chExt cx="8811980" cy="1263356"/>
          </a:xfrm>
        </p:grpSpPr>
        <p:grpSp>
          <p:nvGrpSpPr>
            <p:cNvPr id="22" name="Group 22"/>
            <p:cNvGrpSpPr/>
            <p:nvPr/>
          </p:nvGrpSpPr>
          <p:grpSpPr>
            <a:xfrm>
              <a:off x="0" y="0"/>
              <a:ext cx="8811980" cy="1263356"/>
              <a:chOff x="0" y="0"/>
              <a:chExt cx="3165274" cy="453799"/>
            </a:xfrm>
          </p:grpSpPr>
          <p:sp>
            <p:nvSpPr>
              <p:cNvPr id="23" name="Freeform 23"/>
              <p:cNvSpPr/>
              <p:nvPr/>
            </p:nvSpPr>
            <p:spPr>
              <a:xfrm>
                <a:off x="0" y="0"/>
                <a:ext cx="3165274" cy="453799"/>
              </a:xfrm>
              <a:custGeom>
                <a:avLst/>
                <a:gdLst/>
                <a:ahLst/>
                <a:cxnLst/>
                <a:rect l="l" t="t" r="r" b="b"/>
                <a:pathLst>
                  <a:path w="3165274" h="453799">
                    <a:moveTo>
                      <a:pt x="0" y="0"/>
                    </a:moveTo>
                    <a:lnTo>
                      <a:pt x="3165274" y="0"/>
                    </a:lnTo>
                    <a:lnTo>
                      <a:pt x="3165274" y="453799"/>
                    </a:lnTo>
                    <a:lnTo>
                      <a:pt x="0" y="453799"/>
                    </a:lnTo>
                    <a:close/>
                  </a:path>
                </a:pathLst>
              </a:custGeom>
              <a:solidFill>
                <a:srgbClr val="FFFFFF"/>
              </a:solidFill>
              <a:ln w="38100" cap="sq">
                <a:solidFill>
                  <a:srgbClr val="FF751F"/>
                </a:solidFill>
                <a:prstDash val="solid"/>
                <a:miter/>
              </a:ln>
            </p:spPr>
          </p:sp>
          <p:sp>
            <p:nvSpPr>
              <p:cNvPr id="24" name="TextBox 24"/>
              <p:cNvSpPr txBox="1"/>
              <p:nvPr/>
            </p:nvSpPr>
            <p:spPr>
              <a:xfrm>
                <a:off x="0" y="-38100"/>
                <a:ext cx="3165274" cy="491899"/>
              </a:xfrm>
              <a:prstGeom prst="rect">
                <a:avLst/>
              </a:prstGeom>
            </p:spPr>
            <p:txBody>
              <a:bodyPr lIns="36010" tIns="36010" rIns="36010" bIns="36010" rtlCol="0" anchor="ctr"/>
              <a:lstStyle/>
              <a:p>
                <a:pPr algn="ctr">
                  <a:lnSpc>
                    <a:spcPts val="2799"/>
                  </a:lnSpc>
                </a:pPr>
                <a:endParaRPr/>
              </a:p>
            </p:txBody>
          </p:sp>
        </p:grpSp>
        <p:sp>
          <p:nvSpPr>
            <p:cNvPr id="25" name="TextBox 25"/>
            <p:cNvSpPr txBox="1"/>
            <p:nvPr/>
          </p:nvSpPr>
          <p:spPr>
            <a:xfrm>
              <a:off x="348123" y="261272"/>
              <a:ext cx="8115737" cy="727293"/>
            </a:xfrm>
            <a:prstGeom prst="rect">
              <a:avLst/>
            </a:prstGeom>
          </p:spPr>
          <p:txBody>
            <a:bodyPr lIns="0" tIns="0" rIns="0" bIns="0" rtlCol="0" anchor="t">
              <a:spAutoFit/>
            </a:bodyPr>
            <a:lstStyle/>
            <a:p>
              <a:pPr algn="ctr">
                <a:lnSpc>
                  <a:spcPts val="2188"/>
                </a:lnSpc>
              </a:pPr>
              <a:r>
                <a:rPr lang="en-US" sz="1563" b="1" dirty="0">
                  <a:solidFill>
                    <a:srgbClr val="FF751F"/>
                  </a:solidFill>
                  <a:latin typeface="Canva Sans Bold"/>
                  <a:ea typeface="Canva Sans Bold"/>
                  <a:cs typeface="Canva Sans Bold"/>
                  <a:sym typeface="Canva Sans Bold"/>
                </a:rPr>
                <a:t>114 </a:t>
              </a:r>
              <a:r>
                <a:rPr lang="en-US" sz="1563" b="1" dirty="0" err="1">
                  <a:solidFill>
                    <a:srgbClr val="FF751F"/>
                  </a:solidFill>
                  <a:latin typeface="Canva Sans Bold"/>
                  <a:ea typeface="Canva Sans Bold"/>
                  <a:cs typeface="Canva Sans Bold"/>
                  <a:sym typeface="Canva Sans Bold"/>
                </a:rPr>
                <a:t>Dokumen</a:t>
              </a:r>
              <a:endParaRPr lang="en-US" sz="1563" b="1" dirty="0">
                <a:solidFill>
                  <a:srgbClr val="FF751F"/>
                </a:solidFill>
                <a:latin typeface="Canva Sans Bold"/>
                <a:ea typeface="Canva Sans Bold"/>
                <a:cs typeface="Canva Sans Bold"/>
                <a:sym typeface="Canva Sans Bold"/>
              </a:endParaRPr>
            </a:p>
            <a:p>
              <a:pPr algn="ctr">
                <a:lnSpc>
                  <a:spcPts val="2188"/>
                </a:lnSpc>
              </a:pPr>
              <a:r>
                <a:rPr lang="en-US" sz="1563" b="1" dirty="0">
                  <a:solidFill>
                    <a:srgbClr val="FF751F"/>
                  </a:solidFill>
                  <a:latin typeface="Canva Sans Bold"/>
                  <a:ea typeface="Canva Sans Bold"/>
                  <a:cs typeface="Canva Sans Bold"/>
                  <a:sym typeface="Canva Sans Bold"/>
                </a:rPr>
                <a:t> 75.490 token</a:t>
              </a:r>
            </a:p>
          </p:txBody>
        </p:sp>
      </p:grpSp>
      <p:graphicFrame>
        <p:nvGraphicFramePr>
          <p:cNvPr id="26" name="Object 26"/>
          <p:cNvGraphicFramePr/>
          <p:nvPr/>
        </p:nvGraphicFramePr>
        <p:xfrm>
          <a:off x="1028700" y="3833520"/>
          <a:ext cx="11315700" cy="8172450"/>
        </p:xfrm>
        <a:graphic>
          <a:graphicData uri="http://schemas.openxmlformats.org/presentationml/2006/ole">
            <mc:AlternateContent xmlns:mc="http://schemas.openxmlformats.org/markup-compatibility/2006">
              <mc:Choice xmlns:v="urn:schemas-microsoft-com:vml" Requires="v">
                <p:oleObj spid="_x0000_s1033" name="Worksheet" r:id="rId7" imgW="13576300" imgH="10439400" progId="Excel.Sheet.12">
                  <p:embed/>
                </p:oleObj>
              </mc:Choice>
              <mc:Fallback>
                <p:oleObj name="Worksheet" r:id="rId7" imgW="13576300" imgH="10439400" progId="Excel.Sheet.12">
                  <p:embed/>
                  <p:pic>
                    <p:nvPicPr>
                      <p:cNvPr id="0" name=""/>
                      <p:cNvPicPr/>
                      <p:nvPr/>
                    </p:nvPicPr>
                    <p:blipFill>
                      <a:blip r:embed="rId8"/>
                      <a:stretch>
                        <a:fillRect/>
                      </a:stretch>
                    </p:blipFill>
                    <p:spPr>
                      <a:xfrm>
                        <a:off x="1028700" y="3833520"/>
                        <a:ext cx="11315700" cy="8172450"/>
                      </a:xfrm>
                      <a:prstGeom prst="rect">
                        <a:avLst/>
                      </a:prstGeom>
                    </p:spPr>
                  </p:pic>
                </p:oleObj>
              </mc:Fallback>
            </mc:AlternateContent>
          </a:graphicData>
        </a:graphic>
      </p:graphicFrame>
      <p:sp>
        <p:nvSpPr>
          <p:cNvPr id="27" name="Freeform 27"/>
          <p:cNvSpPr/>
          <p:nvPr/>
        </p:nvSpPr>
        <p:spPr>
          <a:xfrm>
            <a:off x="12479857" y="3563830"/>
            <a:ext cx="5356464" cy="3720450"/>
          </a:xfrm>
          <a:custGeom>
            <a:avLst/>
            <a:gdLst/>
            <a:ahLst/>
            <a:cxnLst/>
            <a:rect l="l" t="t" r="r" b="b"/>
            <a:pathLst>
              <a:path w="5356464" h="3720450">
                <a:moveTo>
                  <a:pt x="0" y="0"/>
                </a:moveTo>
                <a:lnTo>
                  <a:pt x="5356463" y="0"/>
                </a:lnTo>
                <a:lnTo>
                  <a:pt x="5356463" y="3720449"/>
                </a:lnTo>
                <a:lnTo>
                  <a:pt x="0" y="3720449"/>
                </a:lnTo>
                <a:lnTo>
                  <a:pt x="0" y="0"/>
                </a:lnTo>
                <a:close/>
              </a:path>
            </a:pathLst>
          </a:custGeom>
          <a:blipFill>
            <a:blip r:embed="rId9"/>
            <a:stretch>
              <a:fillRect l="-233" r="-233"/>
            </a:stretch>
          </a:blipFill>
        </p:spPr>
      </p:sp>
      <p:sp>
        <p:nvSpPr>
          <p:cNvPr id="28" name="TextBox 28"/>
          <p:cNvSpPr txBox="1"/>
          <p:nvPr/>
        </p:nvSpPr>
        <p:spPr>
          <a:xfrm>
            <a:off x="1028700" y="1210387"/>
            <a:ext cx="11543683" cy="995966"/>
          </a:xfrm>
          <a:prstGeom prst="rect">
            <a:avLst/>
          </a:prstGeom>
        </p:spPr>
        <p:txBody>
          <a:bodyPr lIns="0" tIns="0" rIns="0" bIns="0" rtlCol="0" anchor="t">
            <a:spAutoFit/>
          </a:bodyPr>
          <a:lstStyle/>
          <a:p>
            <a:pPr algn="l">
              <a:lnSpc>
                <a:spcPts val="8160"/>
              </a:lnSpc>
              <a:spcBef>
                <a:spcPct val="0"/>
              </a:spcBef>
            </a:pPr>
            <a:r>
              <a:rPr lang="en-US" sz="5828" b="1">
                <a:solidFill>
                  <a:srgbClr val="1800AD"/>
                </a:solidFill>
                <a:latin typeface="Archivo Narrow Bold"/>
                <a:ea typeface="Archivo Narrow Bold"/>
                <a:cs typeface="Archivo Narrow Bold"/>
                <a:sym typeface="Archivo Narrow Bold"/>
              </a:rPr>
              <a:t>Optimasi Parameter K</a:t>
            </a:r>
          </a:p>
        </p:txBody>
      </p:sp>
      <p:sp>
        <p:nvSpPr>
          <p:cNvPr id="29" name="TextBox 29"/>
          <p:cNvSpPr txBox="1"/>
          <p:nvPr/>
        </p:nvSpPr>
        <p:spPr>
          <a:xfrm>
            <a:off x="1028700" y="215814"/>
            <a:ext cx="10960228" cy="812886"/>
          </a:xfrm>
          <a:prstGeom prst="rect">
            <a:avLst/>
          </a:prstGeom>
        </p:spPr>
        <p:txBody>
          <a:bodyPr lIns="0" tIns="0" rIns="0" bIns="0" rtlCol="0" anchor="t">
            <a:spAutoFit/>
          </a:bodyPr>
          <a:lstStyle/>
          <a:p>
            <a:pPr algn="l">
              <a:lnSpc>
                <a:spcPts val="6645"/>
              </a:lnSpc>
              <a:spcBef>
                <a:spcPct val="0"/>
              </a:spcBef>
            </a:pPr>
            <a:r>
              <a:rPr lang="en-US" sz="4746" b="1">
                <a:solidFill>
                  <a:srgbClr val="FF751F"/>
                </a:solidFill>
                <a:latin typeface="Montserrat Bold"/>
                <a:ea typeface="Montserrat Bold"/>
                <a:cs typeface="Montserrat Bold"/>
                <a:sym typeface="Montserrat Bold"/>
              </a:rPr>
              <a:t>07 | Correlated Topic Model</a:t>
            </a:r>
          </a:p>
        </p:txBody>
      </p:sp>
      <p:grpSp>
        <p:nvGrpSpPr>
          <p:cNvPr id="30" name="Group 30"/>
          <p:cNvGrpSpPr/>
          <p:nvPr/>
        </p:nvGrpSpPr>
        <p:grpSpPr>
          <a:xfrm>
            <a:off x="12658490" y="7324461"/>
            <a:ext cx="5177830" cy="1814562"/>
            <a:chOff x="0" y="0"/>
            <a:chExt cx="6903774" cy="2419417"/>
          </a:xfrm>
        </p:grpSpPr>
        <p:grpSp>
          <p:nvGrpSpPr>
            <p:cNvPr id="31" name="Group 31"/>
            <p:cNvGrpSpPr/>
            <p:nvPr/>
          </p:nvGrpSpPr>
          <p:grpSpPr>
            <a:xfrm>
              <a:off x="0" y="0"/>
              <a:ext cx="6903774" cy="2419417"/>
              <a:chOff x="0" y="0"/>
              <a:chExt cx="3506983" cy="1229017"/>
            </a:xfrm>
          </p:grpSpPr>
          <p:sp>
            <p:nvSpPr>
              <p:cNvPr id="32" name="Freeform 32"/>
              <p:cNvSpPr/>
              <p:nvPr/>
            </p:nvSpPr>
            <p:spPr>
              <a:xfrm>
                <a:off x="0" y="0"/>
                <a:ext cx="3506983" cy="1229017"/>
              </a:xfrm>
              <a:custGeom>
                <a:avLst/>
                <a:gdLst/>
                <a:ahLst/>
                <a:cxnLst/>
                <a:rect l="l" t="t" r="r" b="b"/>
                <a:pathLst>
                  <a:path w="3506983" h="1229017">
                    <a:moveTo>
                      <a:pt x="38875" y="0"/>
                    </a:moveTo>
                    <a:lnTo>
                      <a:pt x="3468108" y="0"/>
                    </a:lnTo>
                    <a:cubicBezTo>
                      <a:pt x="3478418" y="0"/>
                      <a:pt x="3488306" y="4096"/>
                      <a:pt x="3495597" y="11386"/>
                    </a:cubicBezTo>
                    <a:cubicBezTo>
                      <a:pt x="3502887" y="18677"/>
                      <a:pt x="3506983" y="28565"/>
                      <a:pt x="3506983" y="38875"/>
                    </a:cubicBezTo>
                    <a:lnTo>
                      <a:pt x="3506983" y="1190141"/>
                    </a:lnTo>
                    <a:cubicBezTo>
                      <a:pt x="3506983" y="1200452"/>
                      <a:pt x="3502887" y="1210340"/>
                      <a:pt x="3495597" y="1217630"/>
                    </a:cubicBezTo>
                    <a:cubicBezTo>
                      <a:pt x="3488306" y="1224921"/>
                      <a:pt x="3478418" y="1229017"/>
                      <a:pt x="3468108" y="1229017"/>
                    </a:cubicBezTo>
                    <a:lnTo>
                      <a:pt x="38875" y="1229017"/>
                    </a:lnTo>
                    <a:cubicBezTo>
                      <a:pt x="17405" y="1229017"/>
                      <a:pt x="0" y="1211612"/>
                      <a:pt x="0" y="1190141"/>
                    </a:cubicBezTo>
                    <a:lnTo>
                      <a:pt x="0" y="38875"/>
                    </a:lnTo>
                    <a:cubicBezTo>
                      <a:pt x="0" y="28565"/>
                      <a:pt x="4096" y="18677"/>
                      <a:pt x="11386" y="11386"/>
                    </a:cubicBezTo>
                    <a:cubicBezTo>
                      <a:pt x="18677" y="4096"/>
                      <a:pt x="28565" y="0"/>
                      <a:pt x="38875" y="0"/>
                    </a:cubicBezTo>
                    <a:close/>
                  </a:path>
                </a:pathLst>
              </a:custGeom>
              <a:solidFill>
                <a:srgbClr val="FFFFFF"/>
              </a:solidFill>
              <a:ln w="38100" cap="rnd">
                <a:solidFill>
                  <a:srgbClr val="FF751F"/>
                </a:solidFill>
                <a:prstDash val="solid"/>
                <a:round/>
              </a:ln>
            </p:spPr>
          </p:sp>
          <p:sp>
            <p:nvSpPr>
              <p:cNvPr id="33" name="TextBox 33"/>
              <p:cNvSpPr txBox="1"/>
              <p:nvPr/>
            </p:nvSpPr>
            <p:spPr>
              <a:xfrm>
                <a:off x="0" y="-47625"/>
                <a:ext cx="3506983" cy="1276642"/>
              </a:xfrm>
              <a:prstGeom prst="rect">
                <a:avLst/>
              </a:prstGeom>
            </p:spPr>
            <p:txBody>
              <a:bodyPr lIns="19754" tIns="19754" rIns="19754" bIns="19754" rtlCol="0" anchor="ctr"/>
              <a:lstStyle/>
              <a:p>
                <a:pPr algn="ctr">
                  <a:lnSpc>
                    <a:spcPts val="2659"/>
                  </a:lnSpc>
                </a:pPr>
                <a:endParaRPr/>
              </a:p>
            </p:txBody>
          </p:sp>
        </p:grpSp>
        <p:grpSp>
          <p:nvGrpSpPr>
            <p:cNvPr id="34" name="Group 34"/>
            <p:cNvGrpSpPr/>
            <p:nvPr/>
          </p:nvGrpSpPr>
          <p:grpSpPr>
            <a:xfrm>
              <a:off x="1756112" y="1057861"/>
              <a:ext cx="4560625" cy="1128792"/>
              <a:chOff x="0" y="0"/>
              <a:chExt cx="2316709" cy="573404"/>
            </a:xfrm>
          </p:grpSpPr>
          <p:sp>
            <p:nvSpPr>
              <p:cNvPr id="35" name="Freeform 35"/>
              <p:cNvSpPr/>
              <p:nvPr/>
            </p:nvSpPr>
            <p:spPr>
              <a:xfrm>
                <a:off x="0" y="0"/>
                <a:ext cx="2316709" cy="573404"/>
              </a:xfrm>
              <a:custGeom>
                <a:avLst/>
                <a:gdLst/>
                <a:ahLst/>
                <a:cxnLst/>
                <a:rect l="l" t="t" r="r" b="b"/>
                <a:pathLst>
                  <a:path w="2316709" h="573404">
                    <a:moveTo>
                      <a:pt x="0" y="0"/>
                    </a:moveTo>
                    <a:lnTo>
                      <a:pt x="2316709" y="0"/>
                    </a:lnTo>
                    <a:lnTo>
                      <a:pt x="2316709" y="573404"/>
                    </a:lnTo>
                    <a:lnTo>
                      <a:pt x="0" y="573404"/>
                    </a:lnTo>
                    <a:close/>
                  </a:path>
                </a:pathLst>
              </a:custGeom>
              <a:solidFill>
                <a:srgbClr val="FF751F"/>
              </a:solidFill>
              <a:ln w="38100" cap="sq">
                <a:solidFill>
                  <a:srgbClr val="FF751F"/>
                </a:solidFill>
                <a:prstDash val="solid"/>
                <a:miter/>
              </a:ln>
            </p:spPr>
          </p:sp>
          <p:sp>
            <p:nvSpPr>
              <p:cNvPr id="36" name="TextBox 36"/>
              <p:cNvSpPr txBox="1"/>
              <p:nvPr/>
            </p:nvSpPr>
            <p:spPr>
              <a:xfrm>
                <a:off x="0" y="-47625"/>
                <a:ext cx="2316709" cy="621029"/>
              </a:xfrm>
              <a:prstGeom prst="rect">
                <a:avLst/>
              </a:prstGeom>
            </p:spPr>
            <p:txBody>
              <a:bodyPr lIns="19754" tIns="19754" rIns="19754" bIns="19754" rtlCol="0" anchor="ctr"/>
              <a:lstStyle/>
              <a:p>
                <a:pPr algn="ctr">
                  <a:lnSpc>
                    <a:spcPts val="2659"/>
                  </a:lnSpc>
                </a:pPr>
                <a:endParaRPr/>
              </a:p>
            </p:txBody>
          </p:sp>
        </p:grpSp>
        <p:sp>
          <p:nvSpPr>
            <p:cNvPr id="37" name="Freeform 37"/>
            <p:cNvSpPr/>
            <p:nvPr/>
          </p:nvSpPr>
          <p:spPr>
            <a:xfrm>
              <a:off x="335610" y="822326"/>
              <a:ext cx="1176319" cy="1176319"/>
            </a:xfrm>
            <a:custGeom>
              <a:avLst/>
              <a:gdLst/>
              <a:ahLst/>
              <a:cxnLst/>
              <a:rect l="l" t="t" r="r" b="b"/>
              <a:pathLst>
                <a:path w="1176319" h="1176319">
                  <a:moveTo>
                    <a:pt x="0" y="0"/>
                  </a:moveTo>
                  <a:lnTo>
                    <a:pt x="1176318" y="0"/>
                  </a:lnTo>
                  <a:lnTo>
                    <a:pt x="1176318" y="1176319"/>
                  </a:lnTo>
                  <a:lnTo>
                    <a:pt x="0" y="1176319"/>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38" name="TextBox 38"/>
            <p:cNvSpPr txBox="1"/>
            <p:nvPr/>
          </p:nvSpPr>
          <p:spPr>
            <a:xfrm>
              <a:off x="2680509" y="90698"/>
              <a:ext cx="2182316" cy="848037"/>
            </a:xfrm>
            <a:prstGeom prst="rect">
              <a:avLst/>
            </a:prstGeom>
          </p:spPr>
          <p:txBody>
            <a:bodyPr lIns="0" tIns="0" rIns="0" bIns="0" rtlCol="0" anchor="t">
              <a:spAutoFit/>
            </a:bodyPr>
            <a:lstStyle/>
            <a:p>
              <a:pPr algn="ctr">
                <a:lnSpc>
                  <a:spcPts val="5368"/>
                </a:lnSpc>
              </a:pPr>
              <a:r>
                <a:rPr lang="en-US" sz="3834" b="1">
                  <a:solidFill>
                    <a:srgbClr val="1800AD"/>
                  </a:solidFill>
                  <a:latin typeface="Canva Sans Bold"/>
                  <a:ea typeface="Canva Sans Bold"/>
                  <a:cs typeface="Canva Sans Bold"/>
                  <a:sym typeface="Canva Sans Bold"/>
                </a:rPr>
                <a:t>K = 14</a:t>
              </a:r>
            </a:p>
          </p:txBody>
        </p:sp>
        <p:sp>
          <p:nvSpPr>
            <p:cNvPr id="39" name="TextBox 39"/>
            <p:cNvSpPr txBox="1"/>
            <p:nvPr/>
          </p:nvSpPr>
          <p:spPr>
            <a:xfrm>
              <a:off x="1894811" y="1222752"/>
              <a:ext cx="4283227" cy="779959"/>
            </a:xfrm>
            <a:prstGeom prst="rect">
              <a:avLst/>
            </a:prstGeom>
          </p:spPr>
          <p:txBody>
            <a:bodyPr lIns="0" tIns="0" rIns="0" bIns="0" rtlCol="0" anchor="t">
              <a:spAutoFit/>
            </a:bodyPr>
            <a:lstStyle/>
            <a:p>
              <a:pPr algn="ctr">
                <a:lnSpc>
                  <a:spcPts val="1620"/>
                </a:lnSpc>
              </a:pPr>
              <a:r>
                <a:rPr lang="en-US" sz="1157" b="1">
                  <a:solidFill>
                    <a:srgbClr val="FFFFFF"/>
                  </a:solidFill>
                  <a:latin typeface="Canva Sans Bold"/>
                  <a:ea typeface="Canva Sans Bold"/>
                  <a:cs typeface="Canva Sans Bold"/>
                  <a:sym typeface="Canva Sans Bold"/>
                </a:rPr>
                <a:t>hampir seluruh metrik berada pada posisi yang relatif tinggi dan seimbang dibandingkan jumlah topik lainnya</a:t>
              </a: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033559" flipV="1">
            <a:off x="-6899734" y="5748474"/>
            <a:ext cx="6313412" cy="11932565"/>
          </a:xfrm>
          <a:custGeom>
            <a:avLst/>
            <a:gdLst/>
            <a:ahLst/>
            <a:cxnLst/>
            <a:rect l="l" t="t" r="r" b="b"/>
            <a:pathLst>
              <a:path w="6313412" h="11932565">
                <a:moveTo>
                  <a:pt x="0" y="11932564"/>
                </a:moveTo>
                <a:lnTo>
                  <a:pt x="6313412" y="11932564"/>
                </a:lnTo>
                <a:lnTo>
                  <a:pt x="6313412" y="0"/>
                </a:lnTo>
                <a:lnTo>
                  <a:pt x="0" y="0"/>
                </a:lnTo>
                <a:lnTo>
                  <a:pt x="0" y="11932564"/>
                </a:lnTo>
                <a:close/>
              </a:path>
            </a:pathLst>
          </a:custGeom>
          <a:blipFill>
            <a:blip r:embed="rId4">
              <a:alphaModFix amt="7999"/>
              <a:extLst>
                <a:ext uri="{96DAC541-7B7A-43D3-8B79-37D633B846F1}">
                  <asvg:svgBlip xmlns:asvg="http://schemas.microsoft.com/office/drawing/2016/SVG/main" r:embed="rId5"/>
                </a:ext>
              </a:extLst>
            </a:blip>
            <a:stretch>
              <a:fillRect/>
            </a:stretch>
          </a:blipFill>
        </p:spPr>
      </p:sp>
      <p:grpSp>
        <p:nvGrpSpPr>
          <p:cNvPr id="3" name="Group 3"/>
          <p:cNvGrpSpPr/>
          <p:nvPr/>
        </p:nvGrpSpPr>
        <p:grpSpPr>
          <a:xfrm>
            <a:off x="0" y="9708804"/>
            <a:ext cx="9144000" cy="560871"/>
            <a:chOff x="0" y="0"/>
            <a:chExt cx="2408296" cy="147719"/>
          </a:xfrm>
        </p:grpSpPr>
        <p:sp>
          <p:nvSpPr>
            <p:cNvPr id="4" name="Freeform 4"/>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1800AD"/>
            </a:solidFill>
          </p:spPr>
        </p:sp>
        <p:sp>
          <p:nvSpPr>
            <p:cNvPr id="5" name="TextBox 5"/>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028700" y="2479309"/>
            <a:ext cx="8115300" cy="137058"/>
            <a:chOff x="0" y="0"/>
            <a:chExt cx="2137363" cy="36097"/>
          </a:xfrm>
        </p:grpSpPr>
        <p:sp>
          <p:nvSpPr>
            <p:cNvPr id="7" name="Freeform 7"/>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FFDE59"/>
            </a:solidFill>
          </p:spPr>
        </p:sp>
        <p:sp>
          <p:nvSpPr>
            <p:cNvPr id="8" name="TextBox 8"/>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9144000" y="2479309"/>
            <a:ext cx="8115300" cy="137058"/>
            <a:chOff x="0" y="0"/>
            <a:chExt cx="2137363" cy="36097"/>
          </a:xfrm>
        </p:grpSpPr>
        <p:sp>
          <p:nvSpPr>
            <p:cNvPr id="10" name="Freeform 10"/>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1800AD"/>
            </a:solidFill>
          </p:spPr>
        </p:sp>
        <p:sp>
          <p:nvSpPr>
            <p:cNvPr id="11" name="TextBox 11"/>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sp>
        <p:nvSpPr>
          <p:cNvPr id="12" name="Freeform 12"/>
          <p:cNvSpPr/>
          <p:nvPr/>
        </p:nvSpPr>
        <p:spPr>
          <a:xfrm>
            <a:off x="15487240" y="516545"/>
            <a:ext cx="1664226" cy="1616285"/>
          </a:xfrm>
          <a:custGeom>
            <a:avLst/>
            <a:gdLst/>
            <a:ahLst/>
            <a:cxnLst/>
            <a:rect l="l" t="t" r="r" b="b"/>
            <a:pathLst>
              <a:path w="1664226" h="1616285">
                <a:moveTo>
                  <a:pt x="0" y="0"/>
                </a:moveTo>
                <a:lnTo>
                  <a:pt x="1664226" y="0"/>
                </a:lnTo>
                <a:lnTo>
                  <a:pt x="1664226" y="1616285"/>
                </a:lnTo>
                <a:lnTo>
                  <a:pt x="0" y="1616285"/>
                </a:lnTo>
                <a:lnTo>
                  <a:pt x="0" y="0"/>
                </a:lnTo>
                <a:close/>
              </a:path>
            </a:pathLst>
          </a:custGeom>
          <a:blipFill>
            <a:blip r:embed="rId6"/>
            <a:stretch>
              <a:fillRect/>
            </a:stretch>
          </a:blipFill>
        </p:spPr>
      </p:sp>
      <p:grpSp>
        <p:nvGrpSpPr>
          <p:cNvPr id="13" name="Group 13"/>
          <p:cNvGrpSpPr/>
          <p:nvPr/>
        </p:nvGrpSpPr>
        <p:grpSpPr>
          <a:xfrm>
            <a:off x="9144000" y="9708804"/>
            <a:ext cx="9144000" cy="560871"/>
            <a:chOff x="0" y="0"/>
            <a:chExt cx="2408296" cy="147719"/>
          </a:xfrm>
        </p:grpSpPr>
        <p:sp>
          <p:nvSpPr>
            <p:cNvPr id="14" name="Freeform 14"/>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FFDE59"/>
            </a:solidFill>
          </p:spPr>
        </p:sp>
        <p:sp>
          <p:nvSpPr>
            <p:cNvPr id="15" name="TextBox 15"/>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graphicFrame>
        <p:nvGraphicFramePr>
          <p:cNvPr id="16" name="Object 16"/>
          <p:cNvGraphicFramePr/>
          <p:nvPr/>
        </p:nvGraphicFramePr>
        <p:xfrm>
          <a:off x="1314450" y="4423935"/>
          <a:ext cx="3771900" cy="3771900"/>
        </p:xfrm>
        <a:graphic>
          <a:graphicData uri="http://schemas.openxmlformats.org/presentationml/2006/ole">
            <mc:AlternateContent xmlns:mc="http://schemas.openxmlformats.org/markup-compatibility/2006">
              <mc:Choice xmlns:v="urn:schemas-microsoft-com:vml" Requires="v">
                <p:oleObj spid="_x0000_s2058" name="Worksheet" r:id="rId7" imgW="4521200" imgH="4521200" progId="Excel.Sheet.12">
                  <p:embed/>
                </p:oleObj>
              </mc:Choice>
              <mc:Fallback>
                <p:oleObj name="Worksheet" r:id="rId7" imgW="4521200" imgH="4521200" progId="Excel.Sheet.12">
                  <p:embed/>
                  <p:pic>
                    <p:nvPicPr>
                      <p:cNvPr id="0" name=""/>
                      <p:cNvPicPr/>
                      <p:nvPr/>
                    </p:nvPicPr>
                    <p:blipFill>
                      <a:blip r:embed="rId8"/>
                      <a:stretch>
                        <a:fillRect/>
                      </a:stretch>
                    </p:blipFill>
                    <p:spPr>
                      <a:xfrm>
                        <a:off x="1314450" y="4423935"/>
                        <a:ext cx="3771900" cy="3771900"/>
                      </a:xfrm>
                      <a:prstGeom prst="rect">
                        <a:avLst/>
                      </a:prstGeom>
                    </p:spPr>
                  </p:pic>
                </p:oleObj>
              </mc:Fallback>
            </mc:AlternateContent>
          </a:graphicData>
        </a:graphic>
      </p:graphicFrame>
      <p:grpSp>
        <p:nvGrpSpPr>
          <p:cNvPr id="17" name="Group 17"/>
          <p:cNvGrpSpPr/>
          <p:nvPr/>
        </p:nvGrpSpPr>
        <p:grpSpPr>
          <a:xfrm>
            <a:off x="5657782" y="3229788"/>
            <a:ext cx="6331146" cy="6160194"/>
            <a:chOff x="0" y="0"/>
            <a:chExt cx="1667462" cy="1622438"/>
          </a:xfrm>
        </p:grpSpPr>
        <p:sp>
          <p:nvSpPr>
            <p:cNvPr id="18" name="Freeform 18"/>
            <p:cNvSpPr/>
            <p:nvPr/>
          </p:nvSpPr>
          <p:spPr>
            <a:xfrm>
              <a:off x="0" y="0"/>
              <a:ext cx="1667462" cy="1622438"/>
            </a:xfrm>
            <a:custGeom>
              <a:avLst/>
              <a:gdLst/>
              <a:ahLst/>
              <a:cxnLst/>
              <a:rect l="l" t="t" r="r" b="b"/>
              <a:pathLst>
                <a:path w="1667462" h="1622438">
                  <a:moveTo>
                    <a:pt x="0" y="0"/>
                  </a:moveTo>
                  <a:lnTo>
                    <a:pt x="1667462" y="0"/>
                  </a:lnTo>
                  <a:lnTo>
                    <a:pt x="1667462" y="1622438"/>
                  </a:lnTo>
                  <a:lnTo>
                    <a:pt x="0" y="1622438"/>
                  </a:lnTo>
                  <a:close/>
                </a:path>
              </a:pathLst>
            </a:custGeom>
            <a:solidFill>
              <a:srgbClr val="FFFFFF"/>
            </a:solidFill>
            <a:ln w="38100" cap="sq">
              <a:solidFill>
                <a:srgbClr val="FF751F"/>
              </a:solidFill>
              <a:prstDash val="solid"/>
              <a:miter/>
            </a:ln>
          </p:spPr>
        </p:sp>
        <p:sp>
          <p:nvSpPr>
            <p:cNvPr id="19" name="TextBox 19"/>
            <p:cNvSpPr txBox="1"/>
            <p:nvPr/>
          </p:nvSpPr>
          <p:spPr>
            <a:xfrm>
              <a:off x="0" y="-47625"/>
              <a:ext cx="1667462" cy="1670063"/>
            </a:xfrm>
            <a:prstGeom prst="rect">
              <a:avLst/>
            </a:prstGeom>
          </p:spPr>
          <p:txBody>
            <a:bodyPr lIns="50800" tIns="50800" rIns="50800" bIns="50800" rtlCol="0" anchor="ctr"/>
            <a:lstStyle/>
            <a:p>
              <a:pPr algn="ctr">
                <a:lnSpc>
                  <a:spcPts val="2659"/>
                </a:lnSpc>
              </a:pPr>
              <a:endParaRPr/>
            </a:p>
          </p:txBody>
        </p:sp>
      </p:grpSp>
      <p:pic>
        <p:nvPicPr>
          <p:cNvPr id="20" name="Picture 20"/>
          <p:cNvPicPr>
            <a:picLocks noChangeAspect="1"/>
          </p:cNvPicPr>
          <p:nvPr/>
        </p:nvPicPr>
        <p:blipFill>
          <a:blip r:embed="rId9"/>
          <a:stretch>
            <a:fillRect/>
          </a:stretch>
        </p:blipFill>
        <p:spPr>
          <a:xfrm>
            <a:off x="5264555" y="2779207"/>
            <a:ext cx="7117601" cy="7061358"/>
          </a:xfrm>
          <a:prstGeom prst="rect">
            <a:avLst/>
          </a:prstGeom>
        </p:spPr>
      </p:pic>
      <p:sp>
        <p:nvSpPr>
          <p:cNvPr id="21" name="TextBox 21"/>
          <p:cNvSpPr txBox="1"/>
          <p:nvPr/>
        </p:nvSpPr>
        <p:spPr>
          <a:xfrm>
            <a:off x="1028700" y="1210387"/>
            <a:ext cx="11543683" cy="995966"/>
          </a:xfrm>
          <a:prstGeom prst="rect">
            <a:avLst/>
          </a:prstGeom>
        </p:spPr>
        <p:txBody>
          <a:bodyPr lIns="0" tIns="0" rIns="0" bIns="0" rtlCol="0" anchor="t">
            <a:spAutoFit/>
          </a:bodyPr>
          <a:lstStyle/>
          <a:p>
            <a:pPr algn="l">
              <a:lnSpc>
                <a:spcPts val="8160"/>
              </a:lnSpc>
              <a:spcBef>
                <a:spcPct val="0"/>
              </a:spcBef>
            </a:pPr>
            <a:r>
              <a:rPr lang="en-US" sz="5828" b="1">
                <a:solidFill>
                  <a:srgbClr val="1800AD"/>
                </a:solidFill>
                <a:latin typeface="Archivo Narrow Bold"/>
                <a:ea typeface="Archivo Narrow Bold"/>
                <a:cs typeface="Archivo Narrow Bold"/>
                <a:sym typeface="Archivo Narrow Bold"/>
              </a:rPr>
              <a:t>Optimasi Parameter K</a:t>
            </a:r>
          </a:p>
        </p:txBody>
      </p:sp>
      <p:sp>
        <p:nvSpPr>
          <p:cNvPr id="22" name="TextBox 22"/>
          <p:cNvSpPr txBox="1"/>
          <p:nvPr/>
        </p:nvSpPr>
        <p:spPr>
          <a:xfrm>
            <a:off x="1028700" y="215814"/>
            <a:ext cx="10960228" cy="812886"/>
          </a:xfrm>
          <a:prstGeom prst="rect">
            <a:avLst/>
          </a:prstGeom>
        </p:spPr>
        <p:txBody>
          <a:bodyPr lIns="0" tIns="0" rIns="0" bIns="0" rtlCol="0" anchor="t">
            <a:spAutoFit/>
          </a:bodyPr>
          <a:lstStyle/>
          <a:p>
            <a:pPr algn="l">
              <a:lnSpc>
                <a:spcPts val="6645"/>
              </a:lnSpc>
              <a:spcBef>
                <a:spcPct val="0"/>
              </a:spcBef>
            </a:pPr>
            <a:r>
              <a:rPr lang="en-US" sz="4746" b="1">
                <a:solidFill>
                  <a:srgbClr val="FF751F"/>
                </a:solidFill>
                <a:latin typeface="Montserrat Bold"/>
                <a:ea typeface="Montserrat Bold"/>
                <a:cs typeface="Montserrat Bold"/>
                <a:sym typeface="Montserrat Bold"/>
              </a:rPr>
              <a:t>08 | Correlated Topic Model</a:t>
            </a:r>
          </a:p>
        </p:txBody>
      </p:sp>
      <p:grpSp>
        <p:nvGrpSpPr>
          <p:cNvPr id="23" name="Group 23"/>
          <p:cNvGrpSpPr/>
          <p:nvPr/>
        </p:nvGrpSpPr>
        <p:grpSpPr>
          <a:xfrm>
            <a:off x="12309225" y="4486816"/>
            <a:ext cx="4388356" cy="2915042"/>
            <a:chOff x="0" y="0"/>
            <a:chExt cx="2972266" cy="1974380"/>
          </a:xfrm>
        </p:grpSpPr>
        <p:sp>
          <p:nvSpPr>
            <p:cNvPr id="24" name="Freeform 24"/>
            <p:cNvSpPr/>
            <p:nvPr/>
          </p:nvSpPr>
          <p:spPr>
            <a:xfrm>
              <a:off x="0" y="0"/>
              <a:ext cx="2972266" cy="1974380"/>
            </a:xfrm>
            <a:custGeom>
              <a:avLst/>
              <a:gdLst/>
              <a:ahLst/>
              <a:cxnLst/>
              <a:rect l="l" t="t" r="r" b="b"/>
              <a:pathLst>
                <a:path w="2972266" h="1974380">
                  <a:moveTo>
                    <a:pt x="45869" y="0"/>
                  </a:moveTo>
                  <a:lnTo>
                    <a:pt x="2926397" y="0"/>
                  </a:lnTo>
                  <a:cubicBezTo>
                    <a:pt x="2938562" y="0"/>
                    <a:pt x="2950229" y="4833"/>
                    <a:pt x="2958831" y="13435"/>
                  </a:cubicBezTo>
                  <a:cubicBezTo>
                    <a:pt x="2967433" y="22037"/>
                    <a:pt x="2972266" y="33704"/>
                    <a:pt x="2972266" y="45869"/>
                  </a:cubicBezTo>
                  <a:lnTo>
                    <a:pt x="2972266" y="1928511"/>
                  </a:lnTo>
                  <a:cubicBezTo>
                    <a:pt x="2972266" y="1953844"/>
                    <a:pt x="2951730" y="1974380"/>
                    <a:pt x="2926397" y="1974380"/>
                  </a:cubicBezTo>
                  <a:lnTo>
                    <a:pt x="45869" y="1974380"/>
                  </a:lnTo>
                  <a:cubicBezTo>
                    <a:pt x="20536" y="1974380"/>
                    <a:pt x="0" y="1953844"/>
                    <a:pt x="0" y="1928511"/>
                  </a:cubicBezTo>
                  <a:lnTo>
                    <a:pt x="0" y="45869"/>
                  </a:lnTo>
                  <a:cubicBezTo>
                    <a:pt x="0" y="20536"/>
                    <a:pt x="20536" y="0"/>
                    <a:pt x="45869" y="0"/>
                  </a:cubicBezTo>
                  <a:close/>
                </a:path>
              </a:pathLst>
            </a:custGeom>
            <a:solidFill>
              <a:srgbClr val="FFFFFF"/>
            </a:solidFill>
            <a:ln w="38100" cap="rnd">
              <a:solidFill>
                <a:srgbClr val="FF751F"/>
              </a:solidFill>
              <a:prstDash val="solid"/>
              <a:round/>
            </a:ln>
          </p:spPr>
        </p:sp>
        <p:sp>
          <p:nvSpPr>
            <p:cNvPr id="25" name="TextBox 25"/>
            <p:cNvSpPr txBox="1"/>
            <p:nvPr/>
          </p:nvSpPr>
          <p:spPr>
            <a:xfrm>
              <a:off x="0" y="-47625"/>
              <a:ext cx="2972266" cy="2022005"/>
            </a:xfrm>
            <a:prstGeom prst="rect">
              <a:avLst/>
            </a:prstGeom>
          </p:spPr>
          <p:txBody>
            <a:bodyPr lIns="19754" tIns="19754" rIns="19754" bIns="19754" rtlCol="0" anchor="ctr"/>
            <a:lstStyle/>
            <a:p>
              <a:pPr algn="ctr">
                <a:lnSpc>
                  <a:spcPts val="2659"/>
                </a:lnSpc>
              </a:pPr>
              <a:endParaRPr/>
            </a:p>
          </p:txBody>
        </p:sp>
      </p:grpSp>
      <p:grpSp>
        <p:nvGrpSpPr>
          <p:cNvPr id="26" name="Group 26"/>
          <p:cNvGrpSpPr/>
          <p:nvPr/>
        </p:nvGrpSpPr>
        <p:grpSpPr>
          <a:xfrm>
            <a:off x="12824091" y="4729972"/>
            <a:ext cx="3420469" cy="2434764"/>
            <a:chOff x="0" y="0"/>
            <a:chExt cx="2316709" cy="1649084"/>
          </a:xfrm>
        </p:grpSpPr>
        <p:sp>
          <p:nvSpPr>
            <p:cNvPr id="27" name="Freeform 27"/>
            <p:cNvSpPr/>
            <p:nvPr/>
          </p:nvSpPr>
          <p:spPr>
            <a:xfrm>
              <a:off x="0" y="0"/>
              <a:ext cx="2316709" cy="1649084"/>
            </a:xfrm>
            <a:custGeom>
              <a:avLst/>
              <a:gdLst/>
              <a:ahLst/>
              <a:cxnLst/>
              <a:rect l="l" t="t" r="r" b="b"/>
              <a:pathLst>
                <a:path w="2316709" h="1649084">
                  <a:moveTo>
                    <a:pt x="0" y="0"/>
                  </a:moveTo>
                  <a:lnTo>
                    <a:pt x="2316709" y="0"/>
                  </a:lnTo>
                  <a:lnTo>
                    <a:pt x="2316709" y="1649084"/>
                  </a:lnTo>
                  <a:lnTo>
                    <a:pt x="0" y="1649084"/>
                  </a:lnTo>
                  <a:close/>
                </a:path>
              </a:pathLst>
            </a:custGeom>
            <a:solidFill>
              <a:srgbClr val="FF751F"/>
            </a:solidFill>
            <a:ln w="38100" cap="sq">
              <a:solidFill>
                <a:srgbClr val="FF751F"/>
              </a:solidFill>
              <a:prstDash val="solid"/>
              <a:miter/>
            </a:ln>
          </p:spPr>
        </p:sp>
        <p:sp>
          <p:nvSpPr>
            <p:cNvPr id="28" name="TextBox 28"/>
            <p:cNvSpPr txBox="1"/>
            <p:nvPr/>
          </p:nvSpPr>
          <p:spPr>
            <a:xfrm>
              <a:off x="0" y="-47625"/>
              <a:ext cx="2316709" cy="1696709"/>
            </a:xfrm>
            <a:prstGeom prst="rect">
              <a:avLst/>
            </a:prstGeom>
          </p:spPr>
          <p:txBody>
            <a:bodyPr lIns="19754" tIns="19754" rIns="19754" bIns="19754" rtlCol="0" anchor="ctr"/>
            <a:lstStyle/>
            <a:p>
              <a:pPr algn="ctr">
                <a:lnSpc>
                  <a:spcPts val="2659"/>
                </a:lnSpc>
              </a:pPr>
              <a:endParaRPr/>
            </a:p>
          </p:txBody>
        </p:sp>
      </p:grpSp>
      <p:sp>
        <p:nvSpPr>
          <p:cNvPr id="29" name="Freeform 29"/>
          <p:cNvSpPr/>
          <p:nvPr/>
        </p:nvSpPr>
        <p:spPr>
          <a:xfrm>
            <a:off x="13716000" y="3438814"/>
            <a:ext cx="882239" cy="882239"/>
          </a:xfrm>
          <a:custGeom>
            <a:avLst/>
            <a:gdLst/>
            <a:ahLst/>
            <a:cxnLst/>
            <a:rect l="l" t="t" r="r" b="b"/>
            <a:pathLst>
              <a:path w="882239" h="882239">
                <a:moveTo>
                  <a:pt x="0" y="0"/>
                </a:moveTo>
                <a:lnTo>
                  <a:pt x="882239" y="0"/>
                </a:lnTo>
                <a:lnTo>
                  <a:pt x="882239" y="882239"/>
                </a:lnTo>
                <a:lnTo>
                  <a:pt x="0" y="882239"/>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30" name="TextBox 30"/>
          <p:cNvSpPr txBox="1"/>
          <p:nvPr/>
        </p:nvSpPr>
        <p:spPr>
          <a:xfrm>
            <a:off x="12928115" y="5105400"/>
            <a:ext cx="3212420" cy="1888307"/>
          </a:xfrm>
          <a:prstGeom prst="rect">
            <a:avLst/>
          </a:prstGeom>
        </p:spPr>
        <p:txBody>
          <a:bodyPr lIns="0" tIns="0" rIns="0" bIns="0" rtlCol="0" anchor="t">
            <a:spAutoFit/>
          </a:bodyPr>
          <a:lstStyle/>
          <a:p>
            <a:pPr algn="ctr">
              <a:lnSpc>
                <a:spcPts val="3020"/>
              </a:lnSpc>
            </a:pPr>
            <a:r>
              <a:rPr lang="en-US" sz="2157" b="1">
                <a:solidFill>
                  <a:srgbClr val="FFFFFF"/>
                </a:solidFill>
                <a:latin typeface="Canva Sans Bold"/>
                <a:ea typeface="Canva Sans Bold"/>
                <a:cs typeface="Canva Sans Bold"/>
                <a:sym typeface="Canva Sans Bold"/>
              </a:rPr>
              <a:t>model telah mencapai kondisi konvergensi (menuju satu titik pemusatan) pada iterasi ke-100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033559" flipV="1">
            <a:off x="-6899734" y="5748474"/>
            <a:ext cx="6313412" cy="11932565"/>
          </a:xfrm>
          <a:custGeom>
            <a:avLst/>
            <a:gdLst/>
            <a:ahLst/>
            <a:cxnLst/>
            <a:rect l="l" t="t" r="r" b="b"/>
            <a:pathLst>
              <a:path w="6313412" h="11932565">
                <a:moveTo>
                  <a:pt x="0" y="11932564"/>
                </a:moveTo>
                <a:lnTo>
                  <a:pt x="6313412" y="11932564"/>
                </a:lnTo>
                <a:lnTo>
                  <a:pt x="6313412" y="0"/>
                </a:lnTo>
                <a:lnTo>
                  <a:pt x="0" y="0"/>
                </a:lnTo>
                <a:lnTo>
                  <a:pt x="0" y="11932564"/>
                </a:lnTo>
                <a:close/>
              </a:path>
            </a:pathLst>
          </a:custGeom>
          <a:blipFill>
            <a:blip r:embed="rId4">
              <a:alphaModFix amt="7999"/>
              <a:extLst>
                <a:ext uri="{96DAC541-7B7A-43D3-8B79-37D633B846F1}">
                  <asvg:svgBlip xmlns:asvg="http://schemas.microsoft.com/office/drawing/2016/SVG/main" r:embed="rId5"/>
                </a:ext>
              </a:extLst>
            </a:blip>
            <a:stretch>
              <a:fillRect/>
            </a:stretch>
          </a:blipFill>
        </p:spPr>
      </p:sp>
      <p:grpSp>
        <p:nvGrpSpPr>
          <p:cNvPr id="3" name="Group 3"/>
          <p:cNvGrpSpPr/>
          <p:nvPr/>
        </p:nvGrpSpPr>
        <p:grpSpPr>
          <a:xfrm>
            <a:off x="0" y="9708804"/>
            <a:ext cx="9144000" cy="560871"/>
            <a:chOff x="0" y="0"/>
            <a:chExt cx="2408296" cy="147719"/>
          </a:xfrm>
        </p:grpSpPr>
        <p:sp>
          <p:nvSpPr>
            <p:cNvPr id="4" name="Freeform 4"/>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1800AD"/>
            </a:solidFill>
          </p:spPr>
        </p:sp>
        <p:sp>
          <p:nvSpPr>
            <p:cNvPr id="5" name="TextBox 5"/>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028700" y="2479309"/>
            <a:ext cx="8115300" cy="137058"/>
            <a:chOff x="0" y="0"/>
            <a:chExt cx="2137363" cy="36097"/>
          </a:xfrm>
        </p:grpSpPr>
        <p:sp>
          <p:nvSpPr>
            <p:cNvPr id="7" name="Freeform 7"/>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FFDE59"/>
            </a:solidFill>
          </p:spPr>
        </p:sp>
        <p:sp>
          <p:nvSpPr>
            <p:cNvPr id="8" name="TextBox 8"/>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9144000" y="2479309"/>
            <a:ext cx="8115300" cy="137058"/>
            <a:chOff x="0" y="0"/>
            <a:chExt cx="2137363" cy="36097"/>
          </a:xfrm>
        </p:grpSpPr>
        <p:sp>
          <p:nvSpPr>
            <p:cNvPr id="10" name="Freeform 10"/>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1800AD"/>
            </a:solidFill>
          </p:spPr>
        </p:sp>
        <p:sp>
          <p:nvSpPr>
            <p:cNvPr id="11" name="TextBox 11"/>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sp>
        <p:nvSpPr>
          <p:cNvPr id="12" name="Freeform 12"/>
          <p:cNvSpPr/>
          <p:nvPr/>
        </p:nvSpPr>
        <p:spPr>
          <a:xfrm>
            <a:off x="15487240" y="516545"/>
            <a:ext cx="1664226" cy="1616285"/>
          </a:xfrm>
          <a:custGeom>
            <a:avLst/>
            <a:gdLst/>
            <a:ahLst/>
            <a:cxnLst/>
            <a:rect l="l" t="t" r="r" b="b"/>
            <a:pathLst>
              <a:path w="1664226" h="1616285">
                <a:moveTo>
                  <a:pt x="0" y="0"/>
                </a:moveTo>
                <a:lnTo>
                  <a:pt x="1664226" y="0"/>
                </a:lnTo>
                <a:lnTo>
                  <a:pt x="1664226" y="1616285"/>
                </a:lnTo>
                <a:lnTo>
                  <a:pt x="0" y="1616285"/>
                </a:lnTo>
                <a:lnTo>
                  <a:pt x="0" y="0"/>
                </a:lnTo>
                <a:close/>
              </a:path>
            </a:pathLst>
          </a:custGeom>
          <a:blipFill>
            <a:blip r:embed="rId6"/>
            <a:stretch>
              <a:fillRect/>
            </a:stretch>
          </a:blipFill>
        </p:spPr>
      </p:sp>
      <p:grpSp>
        <p:nvGrpSpPr>
          <p:cNvPr id="13" name="Group 13"/>
          <p:cNvGrpSpPr/>
          <p:nvPr/>
        </p:nvGrpSpPr>
        <p:grpSpPr>
          <a:xfrm>
            <a:off x="9144000" y="9708804"/>
            <a:ext cx="9144000" cy="560871"/>
            <a:chOff x="0" y="0"/>
            <a:chExt cx="2408296" cy="147719"/>
          </a:xfrm>
        </p:grpSpPr>
        <p:sp>
          <p:nvSpPr>
            <p:cNvPr id="14" name="Freeform 14"/>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FFDE59"/>
            </a:solidFill>
          </p:spPr>
        </p:sp>
        <p:sp>
          <p:nvSpPr>
            <p:cNvPr id="15" name="TextBox 15"/>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graphicFrame>
        <p:nvGraphicFramePr>
          <p:cNvPr id="16" name="Object 16"/>
          <p:cNvGraphicFramePr/>
          <p:nvPr>
            <p:extLst>
              <p:ext uri="{D42A27DB-BD31-4B8C-83A1-F6EECF244321}">
                <p14:modId xmlns:p14="http://schemas.microsoft.com/office/powerpoint/2010/main" val="271025956"/>
              </p:ext>
            </p:extLst>
          </p:nvPr>
        </p:nvGraphicFramePr>
        <p:xfrm>
          <a:off x="1028700" y="3205163"/>
          <a:ext cx="5372100" cy="8229600"/>
        </p:xfrm>
        <a:graphic>
          <a:graphicData uri="http://schemas.openxmlformats.org/presentationml/2006/ole">
            <mc:AlternateContent xmlns:mc="http://schemas.openxmlformats.org/markup-compatibility/2006">
              <mc:Choice xmlns:v="urn:schemas-microsoft-com:vml" Requires="v">
                <p:oleObj spid="_x0000_s3082" name="Worksheet" r:id="rId7" imgW="4927600" imgH="9867900" progId="Excel.Sheet.12">
                  <p:embed/>
                </p:oleObj>
              </mc:Choice>
              <mc:Fallback>
                <p:oleObj name="Worksheet" r:id="rId7" imgW="4927600" imgH="9867900" progId="Excel.Sheet.12">
                  <p:embed/>
                  <p:pic>
                    <p:nvPicPr>
                      <p:cNvPr id="0" name=""/>
                      <p:cNvPicPr/>
                      <p:nvPr/>
                    </p:nvPicPr>
                    <p:blipFill>
                      <a:blip r:embed="rId8"/>
                      <a:stretch>
                        <a:fillRect/>
                      </a:stretch>
                    </p:blipFill>
                    <p:spPr>
                      <a:xfrm>
                        <a:off x="1028700" y="3205163"/>
                        <a:ext cx="5372100" cy="8229600"/>
                      </a:xfrm>
                      <a:prstGeom prst="rect">
                        <a:avLst/>
                      </a:prstGeom>
                    </p:spPr>
                  </p:pic>
                </p:oleObj>
              </mc:Fallback>
            </mc:AlternateContent>
          </a:graphicData>
        </a:graphic>
      </p:graphicFrame>
      <p:sp>
        <p:nvSpPr>
          <p:cNvPr id="17" name="TextBox 17"/>
          <p:cNvSpPr txBox="1"/>
          <p:nvPr/>
        </p:nvSpPr>
        <p:spPr>
          <a:xfrm>
            <a:off x="1028700" y="1210387"/>
            <a:ext cx="11543683" cy="995966"/>
          </a:xfrm>
          <a:prstGeom prst="rect">
            <a:avLst/>
          </a:prstGeom>
        </p:spPr>
        <p:txBody>
          <a:bodyPr lIns="0" tIns="0" rIns="0" bIns="0" rtlCol="0" anchor="t">
            <a:spAutoFit/>
          </a:bodyPr>
          <a:lstStyle/>
          <a:p>
            <a:pPr algn="l">
              <a:lnSpc>
                <a:spcPts val="8160"/>
              </a:lnSpc>
              <a:spcBef>
                <a:spcPct val="0"/>
              </a:spcBef>
            </a:pPr>
            <a:r>
              <a:rPr lang="en-US" sz="5828" b="1">
                <a:solidFill>
                  <a:srgbClr val="1800AD"/>
                </a:solidFill>
                <a:latin typeface="Archivo Narrow Bold"/>
                <a:ea typeface="Archivo Narrow Bold"/>
                <a:cs typeface="Archivo Narrow Bold"/>
                <a:sym typeface="Archivo Narrow Bold"/>
              </a:rPr>
              <a:t>Hasil Topik CTM</a:t>
            </a:r>
          </a:p>
        </p:txBody>
      </p:sp>
      <p:sp>
        <p:nvSpPr>
          <p:cNvPr id="18" name="TextBox 18"/>
          <p:cNvSpPr txBox="1"/>
          <p:nvPr/>
        </p:nvSpPr>
        <p:spPr>
          <a:xfrm>
            <a:off x="1028700" y="215814"/>
            <a:ext cx="10960228" cy="812886"/>
          </a:xfrm>
          <a:prstGeom prst="rect">
            <a:avLst/>
          </a:prstGeom>
        </p:spPr>
        <p:txBody>
          <a:bodyPr lIns="0" tIns="0" rIns="0" bIns="0" rtlCol="0" anchor="t">
            <a:spAutoFit/>
          </a:bodyPr>
          <a:lstStyle/>
          <a:p>
            <a:pPr algn="l">
              <a:lnSpc>
                <a:spcPts val="6645"/>
              </a:lnSpc>
              <a:spcBef>
                <a:spcPct val="0"/>
              </a:spcBef>
            </a:pPr>
            <a:r>
              <a:rPr lang="en-US" sz="4746" b="1">
                <a:solidFill>
                  <a:srgbClr val="FF751F"/>
                </a:solidFill>
                <a:latin typeface="Montserrat Bold"/>
                <a:ea typeface="Montserrat Bold"/>
                <a:cs typeface="Montserrat Bold"/>
                <a:sym typeface="Montserrat Bold"/>
              </a:rPr>
              <a:t>09 | Correlated Topic Model</a:t>
            </a:r>
          </a:p>
        </p:txBody>
      </p:sp>
      <p:sp>
        <p:nvSpPr>
          <p:cNvPr id="19" name="Freeform 19"/>
          <p:cNvSpPr/>
          <p:nvPr/>
        </p:nvSpPr>
        <p:spPr>
          <a:xfrm>
            <a:off x="6800542" y="3151433"/>
            <a:ext cx="6448822" cy="5844904"/>
          </a:xfrm>
          <a:custGeom>
            <a:avLst/>
            <a:gdLst/>
            <a:ahLst/>
            <a:cxnLst/>
            <a:rect l="l" t="t" r="r" b="b"/>
            <a:pathLst>
              <a:path w="6448822" h="5844904">
                <a:moveTo>
                  <a:pt x="0" y="0"/>
                </a:moveTo>
                <a:lnTo>
                  <a:pt x="6448822" y="0"/>
                </a:lnTo>
                <a:lnTo>
                  <a:pt x="6448822" y="5844904"/>
                </a:lnTo>
                <a:lnTo>
                  <a:pt x="0" y="5844904"/>
                </a:lnTo>
                <a:lnTo>
                  <a:pt x="0" y="0"/>
                </a:lnTo>
                <a:close/>
              </a:path>
            </a:pathLst>
          </a:custGeom>
          <a:blipFill>
            <a:blip r:embed="rId9"/>
            <a:stretch>
              <a:fillRect b="-918"/>
            </a:stretch>
          </a:blipFill>
        </p:spPr>
      </p:sp>
      <p:grpSp>
        <p:nvGrpSpPr>
          <p:cNvPr id="20" name="Group 20"/>
          <p:cNvGrpSpPr/>
          <p:nvPr/>
        </p:nvGrpSpPr>
        <p:grpSpPr>
          <a:xfrm>
            <a:off x="13354734" y="3572398"/>
            <a:ext cx="4270876" cy="5423939"/>
            <a:chOff x="0" y="0"/>
            <a:chExt cx="2892696" cy="3673674"/>
          </a:xfrm>
        </p:grpSpPr>
        <p:sp>
          <p:nvSpPr>
            <p:cNvPr id="21" name="Freeform 21"/>
            <p:cNvSpPr/>
            <p:nvPr/>
          </p:nvSpPr>
          <p:spPr>
            <a:xfrm>
              <a:off x="0" y="0"/>
              <a:ext cx="2892696" cy="3673674"/>
            </a:xfrm>
            <a:custGeom>
              <a:avLst/>
              <a:gdLst/>
              <a:ahLst/>
              <a:cxnLst/>
              <a:rect l="l" t="t" r="r" b="b"/>
              <a:pathLst>
                <a:path w="2892696" h="3673674">
                  <a:moveTo>
                    <a:pt x="47131" y="0"/>
                  </a:moveTo>
                  <a:lnTo>
                    <a:pt x="2845565" y="0"/>
                  </a:lnTo>
                  <a:cubicBezTo>
                    <a:pt x="2858065" y="0"/>
                    <a:pt x="2870053" y="4966"/>
                    <a:pt x="2878892" y="13804"/>
                  </a:cubicBezTo>
                  <a:cubicBezTo>
                    <a:pt x="2887730" y="22643"/>
                    <a:pt x="2892696" y="34631"/>
                    <a:pt x="2892696" y="47131"/>
                  </a:cubicBezTo>
                  <a:lnTo>
                    <a:pt x="2892696" y="3626543"/>
                  </a:lnTo>
                  <a:cubicBezTo>
                    <a:pt x="2892696" y="3639043"/>
                    <a:pt x="2887730" y="3651031"/>
                    <a:pt x="2878892" y="3659870"/>
                  </a:cubicBezTo>
                  <a:cubicBezTo>
                    <a:pt x="2870053" y="3668709"/>
                    <a:pt x="2858065" y="3673674"/>
                    <a:pt x="2845565" y="3673674"/>
                  </a:cubicBezTo>
                  <a:lnTo>
                    <a:pt x="47131" y="3673674"/>
                  </a:lnTo>
                  <a:cubicBezTo>
                    <a:pt x="34631" y="3673674"/>
                    <a:pt x="22643" y="3668709"/>
                    <a:pt x="13804" y="3659870"/>
                  </a:cubicBezTo>
                  <a:cubicBezTo>
                    <a:pt x="4966" y="3651031"/>
                    <a:pt x="0" y="3639043"/>
                    <a:pt x="0" y="3626543"/>
                  </a:cubicBezTo>
                  <a:lnTo>
                    <a:pt x="0" y="47131"/>
                  </a:lnTo>
                  <a:cubicBezTo>
                    <a:pt x="0" y="34631"/>
                    <a:pt x="4966" y="22643"/>
                    <a:pt x="13804" y="13804"/>
                  </a:cubicBezTo>
                  <a:cubicBezTo>
                    <a:pt x="22643" y="4966"/>
                    <a:pt x="34631" y="0"/>
                    <a:pt x="47131" y="0"/>
                  </a:cubicBezTo>
                  <a:close/>
                </a:path>
              </a:pathLst>
            </a:custGeom>
            <a:solidFill>
              <a:srgbClr val="FFFFFF"/>
            </a:solidFill>
            <a:ln w="38100" cap="rnd">
              <a:solidFill>
                <a:srgbClr val="FF751F"/>
              </a:solidFill>
              <a:prstDash val="solid"/>
              <a:round/>
            </a:ln>
          </p:spPr>
        </p:sp>
        <p:sp>
          <p:nvSpPr>
            <p:cNvPr id="22" name="TextBox 22"/>
            <p:cNvSpPr txBox="1"/>
            <p:nvPr/>
          </p:nvSpPr>
          <p:spPr>
            <a:xfrm>
              <a:off x="0" y="-47625"/>
              <a:ext cx="2892696" cy="3721299"/>
            </a:xfrm>
            <a:prstGeom prst="rect">
              <a:avLst/>
            </a:prstGeom>
          </p:spPr>
          <p:txBody>
            <a:bodyPr lIns="19754" tIns="19754" rIns="19754" bIns="19754" rtlCol="0" anchor="ctr"/>
            <a:lstStyle/>
            <a:p>
              <a:pPr algn="ctr">
                <a:lnSpc>
                  <a:spcPts val="2659"/>
                </a:lnSpc>
              </a:pPr>
              <a:endParaRPr/>
            </a:p>
          </p:txBody>
        </p:sp>
      </p:grpSp>
      <p:sp>
        <p:nvSpPr>
          <p:cNvPr id="23" name="TextBox 23"/>
          <p:cNvSpPr txBox="1"/>
          <p:nvPr/>
        </p:nvSpPr>
        <p:spPr>
          <a:xfrm>
            <a:off x="13487488" y="3839332"/>
            <a:ext cx="2514511" cy="240579"/>
          </a:xfrm>
          <a:prstGeom prst="rect">
            <a:avLst/>
          </a:prstGeom>
        </p:spPr>
        <p:txBody>
          <a:bodyPr wrap="square" lIns="0" tIns="0" rIns="0" bIns="0" rtlCol="0" anchor="t">
            <a:spAutoFit/>
          </a:bodyPr>
          <a:lstStyle/>
          <a:p>
            <a:pPr algn="ctr">
              <a:lnSpc>
                <a:spcPts val="2042"/>
              </a:lnSpc>
            </a:pPr>
            <a:r>
              <a:rPr lang="en-US" sz="1458" b="1" dirty="0">
                <a:solidFill>
                  <a:srgbClr val="000000"/>
                </a:solidFill>
                <a:latin typeface="Canva Sans Bold"/>
                <a:ea typeface="Canva Sans Bold"/>
                <a:cs typeface="Canva Sans Bold"/>
                <a:sym typeface="Canva Sans Bold"/>
              </a:rPr>
              <a:t> Topic 1 ↔ Topic 2 = 0.12</a:t>
            </a:r>
          </a:p>
        </p:txBody>
      </p:sp>
      <p:sp>
        <p:nvSpPr>
          <p:cNvPr id="24" name="TextBox 24"/>
          <p:cNvSpPr txBox="1"/>
          <p:nvPr/>
        </p:nvSpPr>
        <p:spPr>
          <a:xfrm>
            <a:off x="13665478" y="5732351"/>
            <a:ext cx="2717521" cy="240579"/>
          </a:xfrm>
          <a:prstGeom prst="rect">
            <a:avLst/>
          </a:prstGeom>
        </p:spPr>
        <p:txBody>
          <a:bodyPr wrap="square" lIns="0" tIns="0" rIns="0" bIns="0" rtlCol="0" anchor="t">
            <a:spAutoFit/>
          </a:bodyPr>
          <a:lstStyle/>
          <a:p>
            <a:pPr algn="ctr">
              <a:lnSpc>
                <a:spcPts val="2042"/>
              </a:lnSpc>
            </a:pPr>
            <a:r>
              <a:rPr lang="en-US" sz="1458" b="1" dirty="0">
                <a:solidFill>
                  <a:srgbClr val="000000"/>
                </a:solidFill>
                <a:latin typeface="Canva Sans Bold"/>
                <a:ea typeface="Canva Sans Bold"/>
                <a:cs typeface="Canva Sans Bold"/>
                <a:sym typeface="Canva Sans Bold"/>
              </a:rPr>
              <a:t>Topic 0 ↔ Topic 1 = 0.10</a:t>
            </a:r>
          </a:p>
        </p:txBody>
      </p:sp>
      <p:sp>
        <p:nvSpPr>
          <p:cNvPr id="25" name="TextBox 25"/>
          <p:cNvSpPr txBox="1"/>
          <p:nvPr/>
        </p:nvSpPr>
        <p:spPr>
          <a:xfrm>
            <a:off x="13606656" y="4187264"/>
            <a:ext cx="4018953" cy="789717"/>
          </a:xfrm>
          <a:prstGeom prst="rect">
            <a:avLst/>
          </a:prstGeom>
        </p:spPr>
        <p:txBody>
          <a:bodyPr lIns="0" tIns="0" rIns="0" bIns="0" rtlCol="0" anchor="t">
            <a:spAutoFit/>
          </a:bodyPr>
          <a:lstStyle/>
          <a:p>
            <a:pPr marL="250182" lvl="1" indent="-125091" algn="l">
              <a:lnSpc>
                <a:spcPts val="1622"/>
              </a:lnSpc>
              <a:buFont typeface="Arial"/>
              <a:buChar char="•"/>
            </a:pPr>
            <a:r>
              <a:rPr lang="en-US" sz="1158" b="1">
                <a:solidFill>
                  <a:srgbClr val="000000"/>
                </a:solidFill>
                <a:latin typeface="Canva Sans Bold"/>
                <a:ea typeface="Canva Sans Bold"/>
                <a:cs typeface="Canva Sans Bold"/>
                <a:sym typeface="Canva Sans Bold"/>
              </a:rPr>
              <a:t>Kebenaran - Rosul</a:t>
            </a:r>
          </a:p>
          <a:p>
            <a:pPr marL="250182" lvl="1" indent="-125091" algn="l">
              <a:lnSpc>
                <a:spcPts val="1622"/>
              </a:lnSpc>
              <a:buFont typeface="Arial"/>
              <a:buChar char="•"/>
            </a:pPr>
            <a:r>
              <a:rPr lang="en-US" sz="1158" b="1">
                <a:solidFill>
                  <a:srgbClr val="000000"/>
                </a:solidFill>
                <a:latin typeface="Canva Sans Bold"/>
                <a:ea typeface="Canva Sans Bold"/>
                <a:cs typeface="Canva Sans Bold"/>
                <a:sym typeface="Canva Sans Bold"/>
              </a:rPr>
              <a:t>Janji Allah - Bukti Kerasulan</a:t>
            </a:r>
          </a:p>
          <a:p>
            <a:pPr marL="250182" lvl="1" indent="-125091" algn="l">
              <a:lnSpc>
                <a:spcPts val="1622"/>
              </a:lnSpc>
              <a:buFont typeface="Arial"/>
              <a:buChar char="•"/>
            </a:pPr>
            <a:r>
              <a:rPr lang="en-US" sz="1158" b="1">
                <a:solidFill>
                  <a:srgbClr val="000000"/>
                </a:solidFill>
                <a:latin typeface="Canva Sans Bold"/>
                <a:ea typeface="Canva Sans Bold"/>
                <a:cs typeface="Canva Sans Bold"/>
                <a:sym typeface="Canva Sans Bold"/>
              </a:rPr>
              <a:t>Setan - Pendusta</a:t>
            </a:r>
          </a:p>
          <a:p>
            <a:pPr marL="250182" lvl="1" indent="-125091" algn="l">
              <a:lnSpc>
                <a:spcPts val="1622"/>
              </a:lnSpc>
              <a:buFont typeface="Arial"/>
              <a:buChar char="•"/>
            </a:pPr>
            <a:r>
              <a:rPr lang="en-US" sz="1158" b="1">
                <a:solidFill>
                  <a:srgbClr val="000000"/>
                </a:solidFill>
                <a:latin typeface="Canva Sans Bold"/>
                <a:ea typeface="Canva Sans Bold"/>
                <a:cs typeface="Canva Sans Bold"/>
                <a:sym typeface="Canva Sans Bold"/>
              </a:rPr>
              <a:t>Ajaran - Datang Pembuktian</a:t>
            </a:r>
          </a:p>
        </p:txBody>
      </p:sp>
      <p:sp>
        <p:nvSpPr>
          <p:cNvPr id="26" name="Freeform 26"/>
          <p:cNvSpPr/>
          <p:nvPr/>
        </p:nvSpPr>
        <p:spPr>
          <a:xfrm>
            <a:off x="13354734" y="2903515"/>
            <a:ext cx="621491" cy="621491"/>
          </a:xfrm>
          <a:custGeom>
            <a:avLst/>
            <a:gdLst/>
            <a:ahLst/>
            <a:cxnLst/>
            <a:rect l="l" t="t" r="r" b="b"/>
            <a:pathLst>
              <a:path w="621491" h="621491">
                <a:moveTo>
                  <a:pt x="0" y="0"/>
                </a:moveTo>
                <a:lnTo>
                  <a:pt x="621490" y="0"/>
                </a:lnTo>
                <a:lnTo>
                  <a:pt x="621490" y="621491"/>
                </a:lnTo>
                <a:lnTo>
                  <a:pt x="0" y="621491"/>
                </a:lnTo>
                <a:lnTo>
                  <a:pt x="0" y="0"/>
                </a:lnTo>
                <a:close/>
              </a:path>
            </a:pathLst>
          </a:custGeom>
          <a:blipFill>
            <a:blip r:embed="rId10"/>
            <a:stretch>
              <a:fillRect/>
            </a:stretch>
          </a:blipFill>
        </p:spPr>
      </p:sp>
      <p:sp>
        <p:nvSpPr>
          <p:cNvPr id="27" name="TextBox 27"/>
          <p:cNvSpPr txBox="1"/>
          <p:nvPr/>
        </p:nvSpPr>
        <p:spPr>
          <a:xfrm>
            <a:off x="14080999" y="3008373"/>
            <a:ext cx="2934799" cy="345902"/>
          </a:xfrm>
          <a:prstGeom prst="rect">
            <a:avLst/>
          </a:prstGeom>
        </p:spPr>
        <p:txBody>
          <a:bodyPr lIns="0" tIns="0" rIns="0" bIns="0" rtlCol="0" anchor="t">
            <a:spAutoFit/>
          </a:bodyPr>
          <a:lstStyle/>
          <a:p>
            <a:pPr algn="ctr">
              <a:lnSpc>
                <a:spcPts val="2742"/>
              </a:lnSpc>
            </a:pPr>
            <a:r>
              <a:rPr lang="en-US" sz="1958" b="1">
                <a:solidFill>
                  <a:srgbClr val="CF4119"/>
                </a:solidFill>
                <a:latin typeface="Canva Sans Bold"/>
                <a:ea typeface="Canva Sans Bold"/>
                <a:cs typeface="Canva Sans Bold"/>
                <a:sym typeface="Canva Sans Bold"/>
              </a:rPr>
              <a:t>CONTOH INTERPRETASI</a:t>
            </a:r>
          </a:p>
        </p:txBody>
      </p:sp>
      <p:sp>
        <p:nvSpPr>
          <p:cNvPr id="28" name="TextBox 28"/>
          <p:cNvSpPr txBox="1"/>
          <p:nvPr/>
        </p:nvSpPr>
        <p:spPr>
          <a:xfrm>
            <a:off x="13606656" y="6004692"/>
            <a:ext cx="4018953" cy="789717"/>
          </a:xfrm>
          <a:prstGeom prst="rect">
            <a:avLst/>
          </a:prstGeom>
        </p:spPr>
        <p:txBody>
          <a:bodyPr lIns="0" tIns="0" rIns="0" bIns="0" rtlCol="0" anchor="t">
            <a:spAutoFit/>
          </a:bodyPr>
          <a:lstStyle/>
          <a:p>
            <a:pPr marL="250182" lvl="1" indent="-125091" algn="l">
              <a:lnSpc>
                <a:spcPts val="1622"/>
              </a:lnSpc>
              <a:buFont typeface="Arial"/>
              <a:buChar char="•"/>
            </a:pPr>
            <a:r>
              <a:rPr lang="en-US" sz="1158" b="1">
                <a:solidFill>
                  <a:srgbClr val="000000"/>
                </a:solidFill>
                <a:latin typeface="Canva Sans Bold"/>
                <a:ea typeface="Canva Sans Bold"/>
                <a:cs typeface="Canva Sans Bold"/>
                <a:sym typeface="Canva Sans Bold"/>
              </a:rPr>
              <a:t>Ayat - Kebenaran</a:t>
            </a:r>
          </a:p>
          <a:p>
            <a:pPr marL="250182" lvl="1" indent="-125091" algn="l">
              <a:lnSpc>
                <a:spcPts val="1622"/>
              </a:lnSpc>
              <a:buFont typeface="Arial"/>
              <a:buChar char="•"/>
            </a:pPr>
            <a:r>
              <a:rPr lang="en-US" sz="1158" b="1">
                <a:solidFill>
                  <a:srgbClr val="000000"/>
                </a:solidFill>
                <a:latin typeface="Canva Sans Bold"/>
                <a:ea typeface="Canva Sans Bold"/>
                <a:cs typeface="Canva Sans Bold"/>
                <a:sym typeface="Canva Sans Bold"/>
              </a:rPr>
              <a:t>Setan - Perbuatan Dosa</a:t>
            </a:r>
          </a:p>
          <a:p>
            <a:pPr marL="250182" lvl="1" indent="-125091" algn="l">
              <a:lnSpc>
                <a:spcPts val="1622"/>
              </a:lnSpc>
              <a:buFont typeface="Arial"/>
              <a:buChar char="•"/>
            </a:pPr>
            <a:r>
              <a:rPr lang="en-US" sz="1158" b="1">
                <a:solidFill>
                  <a:srgbClr val="000000"/>
                </a:solidFill>
                <a:latin typeface="Canva Sans Bold"/>
                <a:ea typeface="Canva Sans Bold"/>
                <a:cs typeface="Canva Sans Bold"/>
                <a:sym typeface="Canva Sans Bold"/>
              </a:rPr>
              <a:t>Ingat -  Ajaran Allah</a:t>
            </a:r>
          </a:p>
          <a:p>
            <a:pPr marL="250182" lvl="1" indent="-125091" algn="l">
              <a:lnSpc>
                <a:spcPts val="1622"/>
              </a:lnSpc>
              <a:buFont typeface="Arial"/>
              <a:buChar char="•"/>
            </a:pPr>
            <a:r>
              <a:rPr lang="en-US" sz="1158" b="1">
                <a:solidFill>
                  <a:srgbClr val="000000"/>
                </a:solidFill>
                <a:latin typeface="Canva Sans Bold"/>
                <a:ea typeface="Canva Sans Bold"/>
                <a:cs typeface="Canva Sans Bold"/>
                <a:sym typeface="Canva Sans Bold"/>
              </a:rPr>
              <a:t>Baca dan Dengan - Ambil dari kebenaran </a:t>
            </a:r>
          </a:p>
        </p:txBody>
      </p:sp>
      <p:sp>
        <p:nvSpPr>
          <p:cNvPr id="29" name="TextBox 29"/>
          <p:cNvSpPr txBox="1"/>
          <p:nvPr/>
        </p:nvSpPr>
        <p:spPr>
          <a:xfrm>
            <a:off x="13785606" y="5021374"/>
            <a:ext cx="3661053" cy="653827"/>
          </a:xfrm>
          <a:prstGeom prst="rect">
            <a:avLst/>
          </a:prstGeom>
        </p:spPr>
        <p:txBody>
          <a:bodyPr lIns="0" tIns="0" rIns="0" bIns="0" rtlCol="0" anchor="t">
            <a:spAutoFit/>
          </a:bodyPr>
          <a:lstStyle/>
          <a:p>
            <a:pPr algn="l">
              <a:lnSpc>
                <a:spcPts val="1762"/>
              </a:lnSpc>
            </a:pPr>
            <a:r>
              <a:rPr lang="en-US" sz="1258" b="1">
                <a:solidFill>
                  <a:srgbClr val="CF4119"/>
                </a:solidFill>
                <a:latin typeface="Canva Sans Bold"/>
                <a:ea typeface="Canva Sans Bold"/>
                <a:cs typeface="Canva Sans Bold"/>
                <a:sym typeface="Canva Sans Bold"/>
              </a:rPr>
              <a:t>Ketika Al-Quran  Membahas Rosul sering juga </a:t>
            </a:r>
          </a:p>
          <a:p>
            <a:pPr algn="l">
              <a:lnSpc>
                <a:spcPts val="1762"/>
              </a:lnSpc>
            </a:pPr>
            <a:r>
              <a:rPr lang="en-US" sz="1258" b="1">
                <a:solidFill>
                  <a:srgbClr val="CF4119"/>
                </a:solidFill>
                <a:latin typeface="Canva Sans Bold"/>
                <a:ea typeface="Canva Sans Bold"/>
                <a:cs typeface="Canva Sans Bold"/>
                <a:sym typeface="Canva Sans Bold"/>
              </a:rPr>
              <a:t> dibahas Pembenaran Ajaran, Gangguan Setan, </a:t>
            </a:r>
          </a:p>
          <a:p>
            <a:pPr algn="l">
              <a:lnSpc>
                <a:spcPts val="1762"/>
              </a:lnSpc>
            </a:pPr>
            <a:r>
              <a:rPr lang="en-US" sz="1258" b="1">
                <a:solidFill>
                  <a:srgbClr val="CF4119"/>
                </a:solidFill>
                <a:latin typeface="Canva Sans Bold"/>
                <a:ea typeface="Canva Sans Bold"/>
                <a:cs typeface="Canva Sans Bold"/>
                <a:sym typeface="Canva Sans Bold"/>
              </a:rPr>
              <a:t>Pendustaan orang-orang kafi </a:t>
            </a:r>
          </a:p>
        </p:txBody>
      </p:sp>
      <p:sp>
        <p:nvSpPr>
          <p:cNvPr id="30" name="TextBox 30"/>
          <p:cNvSpPr txBox="1"/>
          <p:nvPr/>
        </p:nvSpPr>
        <p:spPr>
          <a:xfrm>
            <a:off x="13785606" y="6803934"/>
            <a:ext cx="3661053" cy="653827"/>
          </a:xfrm>
          <a:prstGeom prst="rect">
            <a:avLst/>
          </a:prstGeom>
        </p:spPr>
        <p:txBody>
          <a:bodyPr lIns="0" tIns="0" rIns="0" bIns="0" rtlCol="0" anchor="t">
            <a:spAutoFit/>
          </a:bodyPr>
          <a:lstStyle/>
          <a:p>
            <a:pPr algn="l">
              <a:lnSpc>
                <a:spcPts val="1762"/>
              </a:lnSpc>
            </a:pPr>
            <a:r>
              <a:rPr lang="en-US" sz="1258" b="1">
                <a:solidFill>
                  <a:srgbClr val="CF4119"/>
                </a:solidFill>
                <a:latin typeface="Canva Sans Bold"/>
                <a:ea typeface="Canva Sans Bold"/>
                <a:cs typeface="Canva Sans Bold"/>
                <a:sym typeface="Canva Sans Bold"/>
              </a:rPr>
              <a:t>Ayat-ayat Allah  merupakan kebenaran yang harus </a:t>
            </a:r>
          </a:p>
          <a:p>
            <a:pPr algn="l">
              <a:lnSpc>
                <a:spcPts val="1762"/>
              </a:lnSpc>
            </a:pPr>
            <a:r>
              <a:rPr lang="en-US" sz="1258" b="1">
                <a:solidFill>
                  <a:srgbClr val="CF4119"/>
                </a:solidFill>
                <a:latin typeface="Canva Sans Bold"/>
                <a:ea typeface="Canva Sans Bold"/>
                <a:cs typeface="Canva Sans Bold"/>
                <a:sym typeface="Canva Sans Bold"/>
              </a:rPr>
              <a:t>dibaca </a:t>
            </a:r>
          </a:p>
        </p:txBody>
      </p:sp>
      <p:sp>
        <p:nvSpPr>
          <p:cNvPr id="31" name="TextBox 31"/>
          <p:cNvSpPr txBox="1"/>
          <p:nvPr/>
        </p:nvSpPr>
        <p:spPr>
          <a:xfrm>
            <a:off x="13515810" y="7448236"/>
            <a:ext cx="2714789" cy="240579"/>
          </a:xfrm>
          <a:prstGeom prst="rect">
            <a:avLst/>
          </a:prstGeom>
        </p:spPr>
        <p:txBody>
          <a:bodyPr wrap="square" lIns="0" tIns="0" rIns="0" bIns="0" rtlCol="0" anchor="t">
            <a:spAutoFit/>
          </a:bodyPr>
          <a:lstStyle/>
          <a:p>
            <a:pPr algn="ctr">
              <a:lnSpc>
                <a:spcPts val="2042"/>
              </a:lnSpc>
            </a:pPr>
            <a:r>
              <a:rPr lang="en-US" sz="1458" b="1" dirty="0">
                <a:solidFill>
                  <a:srgbClr val="000000"/>
                </a:solidFill>
                <a:latin typeface="Canva Sans Bold"/>
                <a:ea typeface="Canva Sans Bold"/>
                <a:cs typeface="Canva Sans Bold"/>
                <a:sym typeface="Canva Sans Bold"/>
              </a:rPr>
              <a:t>Topic 5 ↔ Topic 3 = 0.10</a:t>
            </a:r>
          </a:p>
        </p:txBody>
      </p:sp>
      <p:sp>
        <p:nvSpPr>
          <p:cNvPr id="32" name="TextBox 32"/>
          <p:cNvSpPr txBox="1"/>
          <p:nvPr/>
        </p:nvSpPr>
        <p:spPr>
          <a:xfrm>
            <a:off x="13665479" y="7754082"/>
            <a:ext cx="4018953" cy="1189767"/>
          </a:xfrm>
          <a:prstGeom prst="rect">
            <a:avLst/>
          </a:prstGeom>
        </p:spPr>
        <p:txBody>
          <a:bodyPr lIns="0" tIns="0" rIns="0" bIns="0" rtlCol="0" anchor="t">
            <a:spAutoFit/>
          </a:bodyPr>
          <a:lstStyle/>
          <a:p>
            <a:pPr marL="250182" lvl="1" indent="-125091" algn="l">
              <a:lnSpc>
                <a:spcPts val="1622"/>
              </a:lnSpc>
              <a:buFont typeface="Arial"/>
              <a:buChar char="•"/>
            </a:pPr>
            <a:r>
              <a:rPr lang="en-US" sz="1158" b="1">
                <a:solidFill>
                  <a:srgbClr val="000000"/>
                </a:solidFill>
                <a:latin typeface="Canva Sans Bold"/>
                <a:ea typeface="Canva Sans Bold"/>
                <a:cs typeface="Canva Sans Bold"/>
                <a:sym typeface="Canva Sans Bold"/>
              </a:rPr>
              <a:t>bumi - langit</a:t>
            </a:r>
          </a:p>
          <a:p>
            <a:pPr marL="250182" lvl="1" indent="-125091" algn="l">
              <a:lnSpc>
                <a:spcPts val="1622"/>
              </a:lnSpc>
              <a:buFont typeface="Arial"/>
              <a:buChar char="•"/>
            </a:pPr>
            <a:r>
              <a:rPr lang="en-US" sz="1158" b="1">
                <a:solidFill>
                  <a:srgbClr val="000000"/>
                </a:solidFill>
                <a:latin typeface="Canva Sans Bold"/>
                <a:ea typeface="Canva Sans Bold"/>
                <a:cs typeface="Canva Sans Bold"/>
                <a:sym typeface="Canva Sans Bold"/>
              </a:rPr>
              <a:t>Hidup - mati, waktu</a:t>
            </a:r>
          </a:p>
          <a:p>
            <a:pPr marL="250182" lvl="1" indent="-125091" algn="l">
              <a:lnSpc>
                <a:spcPts val="1622"/>
              </a:lnSpc>
              <a:buFont typeface="Arial"/>
              <a:buChar char="•"/>
            </a:pPr>
            <a:r>
              <a:rPr lang="en-US" sz="1158" b="1">
                <a:solidFill>
                  <a:srgbClr val="000000"/>
                </a:solidFill>
                <a:latin typeface="Canva Sans Bold"/>
                <a:ea typeface="Canva Sans Bold"/>
                <a:cs typeface="Canva Sans Bold"/>
                <a:sym typeface="Canva Sans Bold"/>
              </a:rPr>
              <a:t>tanda kekuasaan Allah</a:t>
            </a:r>
          </a:p>
          <a:p>
            <a:pPr algn="l">
              <a:lnSpc>
                <a:spcPts val="1622"/>
              </a:lnSpc>
            </a:pPr>
            <a:r>
              <a:rPr lang="en-US" sz="1158" b="1">
                <a:solidFill>
                  <a:srgbClr val="CF4119"/>
                </a:solidFill>
                <a:latin typeface="Canva Sans Bold"/>
                <a:ea typeface="Canva Sans Bold"/>
                <a:cs typeface="Canva Sans Bold"/>
                <a:sym typeface="Canva Sans Bold"/>
              </a:rPr>
              <a:t>Menbahas Penciptaan Alam Dan kekuasaan Allah</a:t>
            </a:r>
          </a:p>
          <a:p>
            <a:pPr algn="l">
              <a:lnSpc>
                <a:spcPts val="1622"/>
              </a:lnSpc>
            </a:pPr>
            <a:endParaRPr lang="en-US" sz="1158" b="1">
              <a:solidFill>
                <a:srgbClr val="CF4119"/>
              </a:solidFill>
              <a:latin typeface="Canva Sans Bold"/>
              <a:ea typeface="Canva Sans Bold"/>
              <a:cs typeface="Canva Sans Bold"/>
              <a:sym typeface="Canva Sans Bold"/>
            </a:endParaRPr>
          </a:p>
          <a:p>
            <a:pPr algn="l">
              <a:lnSpc>
                <a:spcPts val="1622"/>
              </a:lnSpc>
            </a:pPr>
            <a:endParaRPr lang="en-US" sz="1158" b="1">
              <a:solidFill>
                <a:srgbClr val="CF4119"/>
              </a:solidFill>
              <a:latin typeface="Canva Sans Bold"/>
              <a:ea typeface="Canva Sans Bold"/>
              <a:cs typeface="Canva Sans Bold"/>
              <a:sym typeface="Canva Sans Bo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033559" flipV="1">
            <a:off x="-6899734" y="5748474"/>
            <a:ext cx="6313412" cy="11932565"/>
          </a:xfrm>
          <a:custGeom>
            <a:avLst/>
            <a:gdLst/>
            <a:ahLst/>
            <a:cxnLst/>
            <a:rect l="l" t="t" r="r" b="b"/>
            <a:pathLst>
              <a:path w="6313412" h="11932565">
                <a:moveTo>
                  <a:pt x="0" y="11932564"/>
                </a:moveTo>
                <a:lnTo>
                  <a:pt x="6313412" y="11932564"/>
                </a:lnTo>
                <a:lnTo>
                  <a:pt x="6313412" y="0"/>
                </a:lnTo>
                <a:lnTo>
                  <a:pt x="0" y="0"/>
                </a:lnTo>
                <a:lnTo>
                  <a:pt x="0" y="11932564"/>
                </a:lnTo>
                <a:close/>
              </a:path>
            </a:pathLst>
          </a:custGeom>
          <a:blipFill>
            <a:blip r:embed="rId3">
              <a:alphaModFix amt="7999"/>
              <a:extLst>
                <a:ext uri="{96DAC541-7B7A-43D3-8B79-37D633B846F1}">
                  <asvg:svgBlip xmlns:asvg="http://schemas.microsoft.com/office/drawing/2016/SVG/main" r:embed="rId4"/>
                </a:ext>
              </a:extLst>
            </a:blip>
            <a:stretch>
              <a:fillRect/>
            </a:stretch>
          </a:blipFill>
        </p:spPr>
      </p:sp>
      <p:grpSp>
        <p:nvGrpSpPr>
          <p:cNvPr id="3" name="Group 3"/>
          <p:cNvGrpSpPr/>
          <p:nvPr/>
        </p:nvGrpSpPr>
        <p:grpSpPr>
          <a:xfrm>
            <a:off x="0" y="9708804"/>
            <a:ext cx="9144000" cy="560871"/>
            <a:chOff x="0" y="0"/>
            <a:chExt cx="2408296" cy="147719"/>
          </a:xfrm>
        </p:grpSpPr>
        <p:sp>
          <p:nvSpPr>
            <p:cNvPr id="4" name="Freeform 4"/>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1800AD"/>
            </a:solidFill>
          </p:spPr>
        </p:sp>
        <p:sp>
          <p:nvSpPr>
            <p:cNvPr id="5" name="TextBox 5"/>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028700" y="2479309"/>
            <a:ext cx="8115300" cy="137058"/>
            <a:chOff x="0" y="0"/>
            <a:chExt cx="2137363" cy="36097"/>
          </a:xfrm>
        </p:grpSpPr>
        <p:sp>
          <p:nvSpPr>
            <p:cNvPr id="7" name="Freeform 7"/>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FFDE59"/>
            </a:solidFill>
          </p:spPr>
        </p:sp>
        <p:sp>
          <p:nvSpPr>
            <p:cNvPr id="8" name="TextBox 8"/>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9144000" y="2479309"/>
            <a:ext cx="8115300" cy="137058"/>
            <a:chOff x="0" y="0"/>
            <a:chExt cx="2137363" cy="36097"/>
          </a:xfrm>
        </p:grpSpPr>
        <p:sp>
          <p:nvSpPr>
            <p:cNvPr id="10" name="Freeform 10"/>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1800AD"/>
            </a:solidFill>
          </p:spPr>
        </p:sp>
        <p:sp>
          <p:nvSpPr>
            <p:cNvPr id="11" name="TextBox 11"/>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sp>
        <p:nvSpPr>
          <p:cNvPr id="12" name="Freeform 12"/>
          <p:cNvSpPr/>
          <p:nvPr/>
        </p:nvSpPr>
        <p:spPr>
          <a:xfrm>
            <a:off x="15487240" y="516545"/>
            <a:ext cx="1664226" cy="1616285"/>
          </a:xfrm>
          <a:custGeom>
            <a:avLst/>
            <a:gdLst/>
            <a:ahLst/>
            <a:cxnLst/>
            <a:rect l="l" t="t" r="r" b="b"/>
            <a:pathLst>
              <a:path w="1664226" h="1616285">
                <a:moveTo>
                  <a:pt x="0" y="0"/>
                </a:moveTo>
                <a:lnTo>
                  <a:pt x="1664226" y="0"/>
                </a:lnTo>
                <a:lnTo>
                  <a:pt x="1664226" y="1616285"/>
                </a:lnTo>
                <a:lnTo>
                  <a:pt x="0" y="1616285"/>
                </a:lnTo>
                <a:lnTo>
                  <a:pt x="0" y="0"/>
                </a:lnTo>
                <a:close/>
              </a:path>
            </a:pathLst>
          </a:custGeom>
          <a:blipFill>
            <a:blip r:embed="rId5"/>
            <a:stretch>
              <a:fillRect/>
            </a:stretch>
          </a:blipFill>
        </p:spPr>
      </p:sp>
      <p:grpSp>
        <p:nvGrpSpPr>
          <p:cNvPr id="13" name="Group 13"/>
          <p:cNvGrpSpPr/>
          <p:nvPr/>
        </p:nvGrpSpPr>
        <p:grpSpPr>
          <a:xfrm>
            <a:off x="9144000" y="9708804"/>
            <a:ext cx="9144000" cy="560871"/>
            <a:chOff x="0" y="0"/>
            <a:chExt cx="2408296" cy="147719"/>
          </a:xfrm>
        </p:grpSpPr>
        <p:sp>
          <p:nvSpPr>
            <p:cNvPr id="14" name="Freeform 14"/>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FFDE59"/>
            </a:solidFill>
          </p:spPr>
        </p:sp>
        <p:sp>
          <p:nvSpPr>
            <p:cNvPr id="15" name="TextBox 15"/>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sp>
        <p:nvSpPr>
          <p:cNvPr id="16" name="Freeform 16"/>
          <p:cNvSpPr/>
          <p:nvPr/>
        </p:nvSpPr>
        <p:spPr>
          <a:xfrm>
            <a:off x="1456467" y="4000466"/>
            <a:ext cx="318524" cy="318524"/>
          </a:xfrm>
          <a:custGeom>
            <a:avLst/>
            <a:gdLst/>
            <a:ahLst/>
            <a:cxnLst/>
            <a:rect l="l" t="t" r="r" b="b"/>
            <a:pathLst>
              <a:path w="318524" h="318524">
                <a:moveTo>
                  <a:pt x="0" y="0"/>
                </a:moveTo>
                <a:lnTo>
                  <a:pt x="318525" y="0"/>
                </a:lnTo>
                <a:lnTo>
                  <a:pt x="318525" y="318524"/>
                </a:lnTo>
                <a:lnTo>
                  <a:pt x="0" y="31852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7" name="TextBox 17"/>
          <p:cNvSpPr txBox="1"/>
          <p:nvPr/>
        </p:nvSpPr>
        <p:spPr>
          <a:xfrm>
            <a:off x="1028700" y="1210387"/>
            <a:ext cx="11543683" cy="995966"/>
          </a:xfrm>
          <a:prstGeom prst="rect">
            <a:avLst/>
          </a:prstGeom>
        </p:spPr>
        <p:txBody>
          <a:bodyPr lIns="0" tIns="0" rIns="0" bIns="0" rtlCol="0" anchor="t">
            <a:spAutoFit/>
          </a:bodyPr>
          <a:lstStyle/>
          <a:p>
            <a:pPr algn="l">
              <a:lnSpc>
                <a:spcPts val="8160"/>
              </a:lnSpc>
              <a:spcBef>
                <a:spcPct val="0"/>
              </a:spcBef>
            </a:pPr>
            <a:r>
              <a:rPr lang="en-US" sz="5828" b="1">
                <a:solidFill>
                  <a:srgbClr val="1800AD"/>
                </a:solidFill>
                <a:latin typeface="Archivo Narrow Bold"/>
                <a:ea typeface="Archivo Narrow Bold"/>
                <a:cs typeface="Archivo Narrow Bold"/>
                <a:sym typeface="Archivo Narrow Bold"/>
              </a:rPr>
              <a:t>Evaluasi Model</a:t>
            </a:r>
          </a:p>
        </p:txBody>
      </p:sp>
      <p:sp>
        <p:nvSpPr>
          <p:cNvPr id="18" name="TextBox 18"/>
          <p:cNvSpPr txBox="1"/>
          <p:nvPr/>
        </p:nvSpPr>
        <p:spPr>
          <a:xfrm>
            <a:off x="1028700" y="215814"/>
            <a:ext cx="10960228" cy="812886"/>
          </a:xfrm>
          <a:prstGeom prst="rect">
            <a:avLst/>
          </a:prstGeom>
        </p:spPr>
        <p:txBody>
          <a:bodyPr lIns="0" tIns="0" rIns="0" bIns="0" rtlCol="0" anchor="t">
            <a:spAutoFit/>
          </a:bodyPr>
          <a:lstStyle/>
          <a:p>
            <a:pPr algn="l">
              <a:lnSpc>
                <a:spcPts val="6645"/>
              </a:lnSpc>
              <a:spcBef>
                <a:spcPct val="0"/>
              </a:spcBef>
            </a:pPr>
            <a:r>
              <a:rPr lang="en-US" sz="4746" b="1">
                <a:solidFill>
                  <a:srgbClr val="FF751F"/>
                </a:solidFill>
                <a:latin typeface="Montserrat Bold"/>
                <a:ea typeface="Montserrat Bold"/>
                <a:cs typeface="Montserrat Bold"/>
                <a:sym typeface="Montserrat Bold"/>
              </a:rPr>
              <a:t>11 | Correlated Topic Model</a:t>
            </a:r>
          </a:p>
        </p:txBody>
      </p:sp>
      <p:grpSp>
        <p:nvGrpSpPr>
          <p:cNvPr id="19" name="Group 19"/>
          <p:cNvGrpSpPr/>
          <p:nvPr/>
        </p:nvGrpSpPr>
        <p:grpSpPr>
          <a:xfrm>
            <a:off x="930705" y="2760342"/>
            <a:ext cx="3044503" cy="1643868"/>
            <a:chOff x="0" y="0"/>
            <a:chExt cx="4059338" cy="2191824"/>
          </a:xfrm>
        </p:grpSpPr>
        <p:grpSp>
          <p:nvGrpSpPr>
            <p:cNvPr id="20" name="Group 20"/>
            <p:cNvGrpSpPr/>
            <p:nvPr/>
          </p:nvGrpSpPr>
          <p:grpSpPr>
            <a:xfrm>
              <a:off x="0" y="1387472"/>
              <a:ext cx="4059338" cy="804352"/>
              <a:chOff x="0" y="0"/>
              <a:chExt cx="2062065" cy="408595"/>
            </a:xfrm>
          </p:grpSpPr>
          <p:sp>
            <p:nvSpPr>
              <p:cNvPr id="21" name="Freeform 21"/>
              <p:cNvSpPr/>
              <p:nvPr/>
            </p:nvSpPr>
            <p:spPr>
              <a:xfrm>
                <a:off x="0" y="0"/>
                <a:ext cx="2062065" cy="408595"/>
              </a:xfrm>
              <a:custGeom>
                <a:avLst/>
                <a:gdLst/>
                <a:ahLst/>
                <a:cxnLst/>
                <a:rect l="l" t="t" r="r" b="b"/>
                <a:pathLst>
                  <a:path w="2062065" h="408595">
                    <a:moveTo>
                      <a:pt x="20946" y="0"/>
                    </a:moveTo>
                    <a:lnTo>
                      <a:pt x="2041119" y="0"/>
                    </a:lnTo>
                    <a:cubicBezTo>
                      <a:pt x="2046674" y="0"/>
                      <a:pt x="2052002" y="2207"/>
                      <a:pt x="2055930" y="6135"/>
                    </a:cubicBezTo>
                    <a:cubicBezTo>
                      <a:pt x="2059858" y="10063"/>
                      <a:pt x="2062065" y="15390"/>
                      <a:pt x="2062065" y="20946"/>
                    </a:cubicBezTo>
                    <a:lnTo>
                      <a:pt x="2062065" y="387650"/>
                    </a:lnTo>
                    <a:cubicBezTo>
                      <a:pt x="2062065" y="393205"/>
                      <a:pt x="2059858" y="398532"/>
                      <a:pt x="2055930" y="402460"/>
                    </a:cubicBezTo>
                    <a:cubicBezTo>
                      <a:pt x="2052002" y="406388"/>
                      <a:pt x="2046674" y="408595"/>
                      <a:pt x="2041119" y="408595"/>
                    </a:cubicBezTo>
                    <a:lnTo>
                      <a:pt x="20946" y="408595"/>
                    </a:lnTo>
                    <a:cubicBezTo>
                      <a:pt x="9378" y="408595"/>
                      <a:pt x="0" y="399218"/>
                      <a:pt x="0" y="387650"/>
                    </a:cubicBezTo>
                    <a:lnTo>
                      <a:pt x="0" y="20946"/>
                    </a:lnTo>
                    <a:cubicBezTo>
                      <a:pt x="0" y="15390"/>
                      <a:pt x="2207" y="10063"/>
                      <a:pt x="6135" y="6135"/>
                    </a:cubicBezTo>
                    <a:cubicBezTo>
                      <a:pt x="10063" y="2207"/>
                      <a:pt x="15390" y="0"/>
                      <a:pt x="20946" y="0"/>
                    </a:cubicBezTo>
                    <a:close/>
                  </a:path>
                </a:pathLst>
              </a:custGeom>
              <a:solidFill>
                <a:srgbClr val="FFFFFF"/>
              </a:solidFill>
              <a:ln w="38100" cap="sq">
                <a:solidFill>
                  <a:srgbClr val="FF751F"/>
                </a:solidFill>
                <a:prstDash val="solid"/>
                <a:miter/>
              </a:ln>
            </p:spPr>
          </p:sp>
          <p:sp>
            <p:nvSpPr>
              <p:cNvPr id="22" name="TextBox 22"/>
              <p:cNvSpPr txBox="1"/>
              <p:nvPr/>
            </p:nvSpPr>
            <p:spPr>
              <a:xfrm>
                <a:off x="0" y="-47625"/>
                <a:ext cx="2062065" cy="456220"/>
              </a:xfrm>
              <a:prstGeom prst="rect">
                <a:avLst/>
              </a:prstGeom>
            </p:spPr>
            <p:txBody>
              <a:bodyPr lIns="21584" tIns="21584" rIns="21584" bIns="21584" rtlCol="0" anchor="ctr"/>
              <a:lstStyle/>
              <a:p>
                <a:pPr algn="ctr">
                  <a:lnSpc>
                    <a:spcPts val="2659"/>
                  </a:lnSpc>
                </a:pPr>
                <a:endParaRPr/>
              </a:p>
            </p:txBody>
          </p:sp>
        </p:grpSp>
        <p:grpSp>
          <p:nvGrpSpPr>
            <p:cNvPr id="23" name="Group 23"/>
            <p:cNvGrpSpPr/>
            <p:nvPr/>
          </p:nvGrpSpPr>
          <p:grpSpPr>
            <a:xfrm>
              <a:off x="0" y="0"/>
              <a:ext cx="4059338" cy="1591018"/>
              <a:chOff x="0" y="0"/>
              <a:chExt cx="2253126" cy="883091"/>
            </a:xfrm>
          </p:grpSpPr>
          <p:sp>
            <p:nvSpPr>
              <p:cNvPr id="24" name="Freeform 24"/>
              <p:cNvSpPr/>
              <p:nvPr/>
            </p:nvSpPr>
            <p:spPr>
              <a:xfrm>
                <a:off x="0" y="0"/>
                <a:ext cx="2253126" cy="883091"/>
              </a:xfrm>
              <a:custGeom>
                <a:avLst/>
                <a:gdLst/>
                <a:ahLst/>
                <a:cxnLst/>
                <a:rect l="l" t="t" r="r" b="b"/>
                <a:pathLst>
                  <a:path w="2253126" h="883091">
                    <a:moveTo>
                      <a:pt x="20946" y="0"/>
                    </a:moveTo>
                    <a:lnTo>
                      <a:pt x="2232180" y="0"/>
                    </a:lnTo>
                    <a:cubicBezTo>
                      <a:pt x="2237735" y="0"/>
                      <a:pt x="2243063" y="2207"/>
                      <a:pt x="2246991" y="6135"/>
                    </a:cubicBezTo>
                    <a:cubicBezTo>
                      <a:pt x="2250919" y="10063"/>
                      <a:pt x="2253126" y="15390"/>
                      <a:pt x="2253126" y="20946"/>
                    </a:cubicBezTo>
                    <a:lnTo>
                      <a:pt x="2253126" y="862145"/>
                    </a:lnTo>
                    <a:cubicBezTo>
                      <a:pt x="2253126" y="867700"/>
                      <a:pt x="2250919" y="873028"/>
                      <a:pt x="2246991" y="876956"/>
                    </a:cubicBezTo>
                    <a:cubicBezTo>
                      <a:pt x="2243063" y="880884"/>
                      <a:pt x="2237735" y="883091"/>
                      <a:pt x="2232180" y="883091"/>
                    </a:cubicBezTo>
                    <a:lnTo>
                      <a:pt x="20946" y="883091"/>
                    </a:lnTo>
                    <a:cubicBezTo>
                      <a:pt x="15390" y="883091"/>
                      <a:pt x="10063" y="880884"/>
                      <a:pt x="6135" y="876956"/>
                    </a:cubicBezTo>
                    <a:cubicBezTo>
                      <a:pt x="2207" y="873028"/>
                      <a:pt x="0" y="867700"/>
                      <a:pt x="0" y="862145"/>
                    </a:cubicBezTo>
                    <a:lnTo>
                      <a:pt x="0" y="20946"/>
                    </a:lnTo>
                    <a:cubicBezTo>
                      <a:pt x="0" y="15390"/>
                      <a:pt x="2207" y="10063"/>
                      <a:pt x="6135" y="6135"/>
                    </a:cubicBezTo>
                    <a:cubicBezTo>
                      <a:pt x="10063" y="2207"/>
                      <a:pt x="15390" y="0"/>
                      <a:pt x="20946" y="0"/>
                    </a:cubicBezTo>
                    <a:close/>
                  </a:path>
                </a:pathLst>
              </a:custGeom>
              <a:solidFill>
                <a:srgbClr val="FF751F"/>
              </a:solidFill>
              <a:ln w="38100" cap="sq">
                <a:solidFill>
                  <a:srgbClr val="FF751F"/>
                </a:solidFill>
                <a:prstDash val="solid"/>
                <a:miter/>
              </a:ln>
            </p:spPr>
          </p:sp>
          <p:sp>
            <p:nvSpPr>
              <p:cNvPr id="25" name="TextBox 25"/>
              <p:cNvSpPr txBox="1"/>
              <p:nvPr/>
            </p:nvSpPr>
            <p:spPr>
              <a:xfrm>
                <a:off x="0" y="-47625"/>
                <a:ext cx="2253126" cy="930716"/>
              </a:xfrm>
              <a:prstGeom prst="rect">
                <a:avLst/>
              </a:prstGeom>
            </p:spPr>
            <p:txBody>
              <a:bodyPr lIns="19754" tIns="19754" rIns="19754" bIns="19754" rtlCol="0" anchor="ctr"/>
              <a:lstStyle/>
              <a:p>
                <a:pPr algn="ctr">
                  <a:lnSpc>
                    <a:spcPts val="2659"/>
                  </a:lnSpc>
                </a:pPr>
                <a:endParaRPr/>
              </a:p>
            </p:txBody>
          </p:sp>
        </p:grpSp>
        <p:sp>
          <p:nvSpPr>
            <p:cNvPr id="26" name="TextBox 26"/>
            <p:cNvSpPr txBox="1"/>
            <p:nvPr/>
          </p:nvSpPr>
          <p:spPr>
            <a:xfrm>
              <a:off x="776403" y="599310"/>
              <a:ext cx="2506531" cy="782205"/>
            </a:xfrm>
            <a:prstGeom prst="rect">
              <a:avLst/>
            </a:prstGeom>
          </p:spPr>
          <p:txBody>
            <a:bodyPr lIns="0" tIns="0" rIns="0" bIns="0" rtlCol="0" anchor="t">
              <a:spAutoFit/>
            </a:bodyPr>
            <a:lstStyle/>
            <a:p>
              <a:pPr algn="ctr">
                <a:lnSpc>
                  <a:spcPts val="4954"/>
                </a:lnSpc>
              </a:pPr>
              <a:r>
                <a:rPr lang="en-US" sz="3538" b="1">
                  <a:solidFill>
                    <a:srgbClr val="1800AD"/>
                  </a:solidFill>
                  <a:latin typeface="Canva Sans Bold"/>
                  <a:ea typeface="Canva Sans Bold"/>
                  <a:cs typeface="Canva Sans Bold"/>
                  <a:sym typeface="Canva Sans Bold"/>
                </a:rPr>
                <a:t>0.517</a:t>
              </a:r>
            </a:p>
          </p:txBody>
        </p:sp>
        <p:sp>
          <p:nvSpPr>
            <p:cNvPr id="27" name="TextBox 27"/>
            <p:cNvSpPr txBox="1"/>
            <p:nvPr/>
          </p:nvSpPr>
          <p:spPr>
            <a:xfrm>
              <a:off x="1461971" y="-38100"/>
              <a:ext cx="1135396" cy="529739"/>
            </a:xfrm>
            <a:prstGeom prst="rect">
              <a:avLst/>
            </a:prstGeom>
          </p:spPr>
          <p:txBody>
            <a:bodyPr lIns="0" tIns="0" rIns="0" bIns="0" rtlCol="0" anchor="t">
              <a:spAutoFit/>
            </a:bodyPr>
            <a:lstStyle/>
            <a:p>
              <a:pPr algn="ctr">
                <a:lnSpc>
                  <a:spcPts val="3389"/>
                </a:lnSpc>
              </a:pPr>
              <a:r>
                <a:rPr lang="en-US" sz="2421" b="1">
                  <a:solidFill>
                    <a:srgbClr val="FFFFFF"/>
                  </a:solidFill>
                  <a:latin typeface="Canva Sans Bold"/>
                  <a:ea typeface="Canva Sans Bold"/>
                  <a:cs typeface="Canva Sans Bold"/>
                  <a:sym typeface="Canva Sans Bold"/>
                </a:rPr>
                <a:t>C_v</a:t>
              </a:r>
            </a:p>
          </p:txBody>
        </p:sp>
      </p:grpSp>
      <p:grpSp>
        <p:nvGrpSpPr>
          <p:cNvPr id="28" name="Group 28"/>
          <p:cNvGrpSpPr/>
          <p:nvPr/>
        </p:nvGrpSpPr>
        <p:grpSpPr>
          <a:xfrm>
            <a:off x="4343362" y="3800946"/>
            <a:ext cx="3044503" cy="603264"/>
            <a:chOff x="0" y="0"/>
            <a:chExt cx="2062065" cy="408595"/>
          </a:xfrm>
        </p:grpSpPr>
        <p:sp>
          <p:nvSpPr>
            <p:cNvPr id="29" name="Freeform 29"/>
            <p:cNvSpPr/>
            <p:nvPr/>
          </p:nvSpPr>
          <p:spPr>
            <a:xfrm>
              <a:off x="0" y="0"/>
              <a:ext cx="2062065" cy="408595"/>
            </a:xfrm>
            <a:custGeom>
              <a:avLst/>
              <a:gdLst/>
              <a:ahLst/>
              <a:cxnLst/>
              <a:rect l="l" t="t" r="r" b="b"/>
              <a:pathLst>
                <a:path w="2062065" h="408595">
                  <a:moveTo>
                    <a:pt x="22886" y="0"/>
                  </a:moveTo>
                  <a:lnTo>
                    <a:pt x="2039179" y="0"/>
                  </a:lnTo>
                  <a:cubicBezTo>
                    <a:pt x="2051818" y="0"/>
                    <a:pt x="2062065" y="10247"/>
                    <a:pt x="2062065" y="22886"/>
                  </a:cubicBezTo>
                  <a:lnTo>
                    <a:pt x="2062065" y="385709"/>
                  </a:lnTo>
                  <a:cubicBezTo>
                    <a:pt x="2062065" y="391779"/>
                    <a:pt x="2059654" y="397600"/>
                    <a:pt x="2055362" y="401892"/>
                  </a:cubicBezTo>
                  <a:cubicBezTo>
                    <a:pt x="2051070" y="406184"/>
                    <a:pt x="2045248" y="408595"/>
                    <a:pt x="2039179" y="408595"/>
                  </a:cubicBezTo>
                  <a:lnTo>
                    <a:pt x="22886" y="408595"/>
                  </a:lnTo>
                  <a:cubicBezTo>
                    <a:pt x="10247" y="408595"/>
                    <a:pt x="0" y="398349"/>
                    <a:pt x="0" y="385709"/>
                  </a:cubicBezTo>
                  <a:lnTo>
                    <a:pt x="0" y="22886"/>
                  </a:lnTo>
                  <a:cubicBezTo>
                    <a:pt x="0" y="10247"/>
                    <a:pt x="10247" y="0"/>
                    <a:pt x="22886" y="0"/>
                  </a:cubicBezTo>
                  <a:close/>
                </a:path>
              </a:pathLst>
            </a:custGeom>
            <a:solidFill>
              <a:srgbClr val="FFFFFF"/>
            </a:solidFill>
            <a:ln w="38100" cap="sq">
              <a:solidFill>
                <a:srgbClr val="FF751F"/>
              </a:solidFill>
              <a:prstDash val="solid"/>
              <a:miter/>
            </a:ln>
          </p:spPr>
        </p:sp>
        <p:sp>
          <p:nvSpPr>
            <p:cNvPr id="30" name="TextBox 30"/>
            <p:cNvSpPr txBox="1"/>
            <p:nvPr/>
          </p:nvSpPr>
          <p:spPr>
            <a:xfrm>
              <a:off x="0" y="-47625"/>
              <a:ext cx="2062065" cy="456220"/>
            </a:xfrm>
            <a:prstGeom prst="rect">
              <a:avLst/>
            </a:prstGeom>
          </p:spPr>
          <p:txBody>
            <a:bodyPr lIns="19754" tIns="19754" rIns="19754" bIns="19754" rtlCol="0" anchor="ctr"/>
            <a:lstStyle/>
            <a:p>
              <a:pPr algn="ctr">
                <a:lnSpc>
                  <a:spcPts val="2659"/>
                </a:lnSpc>
              </a:pPr>
              <a:endParaRPr/>
            </a:p>
          </p:txBody>
        </p:sp>
      </p:grpSp>
      <p:grpSp>
        <p:nvGrpSpPr>
          <p:cNvPr id="31" name="Group 31"/>
          <p:cNvGrpSpPr/>
          <p:nvPr/>
        </p:nvGrpSpPr>
        <p:grpSpPr>
          <a:xfrm>
            <a:off x="4343362" y="2760342"/>
            <a:ext cx="3044503" cy="1240124"/>
            <a:chOff x="0" y="0"/>
            <a:chExt cx="2253126" cy="917770"/>
          </a:xfrm>
        </p:grpSpPr>
        <p:sp>
          <p:nvSpPr>
            <p:cNvPr id="32" name="Freeform 32"/>
            <p:cNvSpPr/>
            <p:nvPr/>
          </p:nvSpPr>
          <p:spPr>
            <a:xfrm>
              <a:off x="0" y="0"/>
              <a:ext cx="2253126" cy="917770"/>
            </a:xfrm>
            <a:custGeom>
              <a:avLst/>
              <a:gdLst/>
              <a:ahLst/>
              <a:cxnLst/>
              <a:rect l="l" t="t" r="r" b="b"/>
              <a:pathLst>
                <a:path w="2253126" h="917770">
                  <a:moveTo>
                    <a:pt x="22886" y="0"/>
                  </a:moveTo>
                  <a:lnTo>
                    <a:pt x="2230239" y="0"/>
                  </a:lnTo>
                  <a:cubicBezTo>
                    <a:pt x="2236309" y="0"/>
                    <a:pt x="2242130" y="2411"/>
                    <a:pt x="2246422" y="6703"/>
                  </a:cubicBezTo>
                  <a:cubicBezTo>
                    <a:pt x="2250714" y="10995"/>
                    <a:pt x="2253126" y="16816"/>
                    <a:pt x="2253126" y="22886"/>
                  </a:cubicBezTo>
                  <a:lnTo>
                    <a:pt x="2253126" y="894884"/>
                  </a:lnTo>
                  <a:cubicBezTo>
                    <a:pt x="2253126" y="907524"/>
                    <a:pt x="2242879" y="917770"/>
                    <a:pt x="2230239" y="917770"/>
                  </a:cubicBezTo>
                  <a:lnTo>
                    <a:pt x="22886" y="917770"/>
                  </a:lnTo>
                  <a:cubicBezTo>
                    <a:pt x="10247" y="917770"/>
                    <a:pt x="0" y="907524"/>
                    <a:pt x="0" y="894884"/>
                  </a:cubicBezTo>
                  <a:lnTo>
                    <a:pt x="0" y="22886"/>
                  </a:lnTo>
                  <a:cubicBezTo>
                    <a:pt x="0" y="10247"/>
                    <a:pt x="10247" y="0"/>
                    <a:pt x="22886" y="0"/>
                  </a:cubicBezTo>
                  <a:close/>
                </a:path>
              </a:pathLst>
            </a:custGeom>
            <a:solidFill>
              <a:srgbClr val="FF751F"/>
            </a:solidFill>
            <a:ln w="38100" cap="sq">
              <a:solidFill>
                <a:srgbClr val="FF751F"/>
              </a:solidFill>
              <a:prstDash val="solid"/>
              <a:miter/>
            </a:ln>
          </p:spPr>
        </p:sp>
        <p:sp>
          <p:nvSpPr>
            <p:cNvPr id="33" name="TextBox 33"/>
            <p:cNvSpPr txBox="1"/>
            <p:nvPr/>
          </p:nvSpPr>
          <p:spPr>
            <a:xfrm>
              <a:off x="0" y="-47625"/>
              <a:ext cx="2253126" cy="965395"/>
            </a:xfrm>
            <a:prstGeom prst="rect">
              <a:avLst/>
            </a:prstGeom>
          </p:spPr>
          <p:txBody>
            <a:bodyPr lIns="18079" tIns="18079" rIns="18079" bIns="18079" rtlCol="0" anchor="ctr"/>
            <a:lstStyle/>
            <a:p>
              <a:pPr algn="ctr">
                <a:lnSpc>
                  <a:spcPts val="2659"/>
                </a:lnSpc>
              </a:pPr>
              <a:endParaRPr/>
            </a:p>
          </p:txBody>
        </p:sp>
      </p:grpSp>
      <p:sp>
        <p:nvSpPr>
          <p:cNvPr id="34" name="TextBox 34"/>
          <p:cNvSpPr txBox="1"/>
          <p:nvPr/>
        </p:nvSpPr>
        <p:spPr>
          <a:xfrm>
            <a:off x="5152243" y="3224029"/>
            <a:ext cx="1937343" cy="575094"/>
          </a:xfrm>
          <a:prstGeom prst="rect">
            <a:avLst/>
          </a:prstGeom>
        </p:spPr>
        <p:txBody>
          <a:bodyPr wrap="square" lIns="0" tIns="0" rIns="0" bIns="0" rtlCol="0" anchor="t">
            <a:spAutoFit/>
          </a:bodyPr>
          <a:lstStyle/>
          <a:p>
            <a:pPr algn="ctr">
              <a:lnSpc>
                <a:spcPts val="4798"/>
              </a:lnSpc>
            </a:pPr>
            <a:r>
              <a:rPr lang="en-US" sz="3427" b="1" dirty="0">
                <a:solidFill>
                  <a:srgbClr val="1800AD"/>
                </a:solidFill>
                <a:latin typeface="Canva Sans Bold"/>
                <a:ea typeface="Canva Sans Bold"/>
                <a:cs typeface="Canva Sans Bold"/>
                <a:sym typeface="Canva Sans Bold"/>
              </a:rPr>
              <a:t>-0.0226</a:t>
            </a:r>
          </a:p>
        </p:txBody>
      </p:sp>
      <p:sp>
        <p:nvSpPr>
          <p:cNvPr id="35" name="TextBox 35"/>
          <p:cNvSpPr txBox="1"/>
          <p:nvPr/>
        </p:nvSpPr>
        <p:spPr>
          <a:xfrm>
            <a:off x="5330129" y="2854492"/>
            <a:ext cx="1070971" cy="388092"/>
          </a:xfrm>
          <a:prstGeom prst="rect">
            <a:avLst/>
          </a:prstGeom>
        </p:spPr>
        <p:txBody>
          <a:bodyPr lIns="0" tIns="0" rIns="0" bIns="0" rtlCol="0" anchor="t">
            <a:spAutoFit/>
          </a:bodyPr>
          <a:lstStyle/>
          <a:p>
            <a:pPr algn="ctr">
              <a:lnSpc>
                <a:spcPts val="3284"/>
              </a:lnSpc>
            </a:pPr>
            <a:r>
              <a:rPr lang="en-US" sz="2345" b="1">
                <a:solidFill>
                  <a:srgbClr val="FFFFFF"/>
                </a:solidFill>
                <a:latin typeface="Canva Sans Bold"/>
                <a:ea typeface="Canva Sans Bold"/>
                <a:cs typeface="Canva Sans Bold"/>
                <a:sym typeface="Canva Sans Bold"/>
              </a:rPr>
              <a:t>NPMI</a:t>
            </a:r>
          </a:p>
        </p:txBody>
      </p:sp>
      <p:grpSp>
        <p:nvGrpSpPr>
          <p:cNvPr id="36" name="Group 36"/>
          <p:cNvGrpSpPr/>
          <p:nvPr/>
        </p:nvGrpSpPr>
        <p:grpSpPr>
          <a:xfrm>
            <a:off x="7750718" y="2760342"/>
            <a:ext cx="3044503" cy="1240124"/>
            <a:chOff x="0" y="0"/>
            <a:chExt cx="2253126" cy="917770"/>
          </a:xfrm>
        </p:grpSpPr>
        <p:sp>
          <p:nvSpPr>
            <p:cNvPr id="37" name="Freeform 37"/>
            <p:cNvSpPr/>
            <p:nvPr/>
          </p:nvSpPr>
          <p:spPr>
            <a:xfrm>
              <a:off x="0" y="0"/>
              <a:ext cx="2253126" cy="917770"/>
            </a:xfrm>
            <a:custGeom>
              <a:avLst/>
              <a:gdLst/>
              <a:ahLst/>
              <a:cxnLst/>
              <a:rect l="l" t="t" r="r" b="b"/>
              <a:pathLst>
                <a:path w="2253126" h="917770">
                  <a:moveTo>
                    <a:pt x="22886" y="0"/>
                  </a:moveTo>
                  <a:lnTo>
                    <a:pt x="2230239" y="0"/>
                  </a:lnTo>
                  <a:cubicBezTo>
                    <a:pt x="2236309" y="0"/>
                    <a:pt x="2242130" y="2411"/>
                    <a:pt x="2246422" y="6703"/>
                  </a:cubicBezTo>
                  <a:cubicBezTo>
                    <a:pt x="2250714" y="10995"/>
                    <a:pt x="2253126" y="16816"/>
                    <a:pt x="2253126" y="22886"/>
                  </a:cubicBezTo>
                  <a:lnTo>
                    <a:pt x="2253126" y="894884"/>
                  </a:lnTo>
                  <a:cubicBezTo>
                    <a:pt x="2253126" y="907524"/>
                    <a:pt x="2242879" y="917770"/>
                    <a:pt x="2230239" y="917770"/>
                  </a:cubicBezTo>
                  <a:lnTo>
                    <a:pt x="22886" y="917770"/>
                  </a:lnTo>
                  <a:cubicBezTo>
                    <a:pt x="10247" y="917770"/>
                    <a:pt x="0" y="907524"/>
                    <a:pt x="0" y="894884"/>
                  </a:cubicBezTo>
                  <a:lnTo>
                    <a:pt x="0" y="22886"/>
                  </a:lnTo>
                  <a:cubicBezTo>
                    <a:pt x="0" y="10247"/>
                    <a:pt x="10247" y="0"/>
                    <a:pt x="22886" y="0"/>
                  </a:cubicBezTo>
                  <a:close/>
                </a:path>
              </a:pathLst>
            </a:custGeom>
            <a:solidFill>
              <a:srgbClr val="FF751F"/>
            </a:solidFill>
            <a:ln w="38100" cap="sq">
              <a:solidFill>
                <a:srgbClr val="FF751F"/>
              </a:solidFill>
              <a:prstDash val="solid"/>
              <a:miter/>
            </a:ln>
          </p:spPr>
        </p:sp>
        <p:sp>
          <p:nvSpPr>
            <p:cNvPr id="38" name="TextBox 38"/>
            <p:cNvSpPr txBox="1"/>
            <p:nvPr/>
          </p:nvSpPr>
          <p:spPr>
            <a:xfrm>
              <a:off x="0" y="-47625"/>
              <a:ext cx="2253126" cy="965395"/>
            </a:xfrm>
            <a:prstGeom prst="rect">
              <a:avLst/>
            </a:prstGeom>
          </p:spPr>
          <p:txBody>
            <a:bodyPr lIns="18079" tIns="18079" rIns="18079" bIns="18079" rtlCol="0" anchor="ctr"/>
            <a:lstStyle/>
            <a:p>
              <a:pPr algn="ctr">
                <a:lnSpc>
                  <a:spcPts val="2659"/>
                </a:lnSpc>
              </a:pPr>
              <a:endParaRPr/>
            </a:p>
          </p:txBody>
        </p:sp>
      </p:grpSp>
      <p:sp>
        <p:nvSpPr>
          <p:cNvPr id="39" name="TextBox 39"/>
          <p:cNvSpPr txBox="1"/>
          <p:nvPr/>
        </p:nvSpPr>
        <p:spPr>
          <a:xfrm>
            <a:off x="8568966" y="3185434"/>
            <a:ext cx="1426740" cy="576917"/>
          </a:xfrm>
          <a:prstGeom prst="rect">
            <a:avLst/>
          </a:prstGeom>
        </p:spPr>
        <p:txBody>
          <a:bodyPr lIns="0" tIns="0" rIns="0" bIns="0" rtlCol="0" anchor="t">
            <a:spAutoFit/>
          </a:bodyPr>
          <a:lstStyle/>
          <a:p>
            <a:pPr algn="ctr">
              <a:lnSpc>
                <a:spcPts val="4798"/>
              </a:lnSpc>
            </a:pPr>
            <a:r>
              <a:rPr lang="en-US" sz="3427" b="1">
                <a:solidFill>
                  <a:srgbClr val="1800AD"/>
                </a:solidFill>
                <a:latin typeface="Canva Sans Bold"/>
                <a:ea typeface="Canva Sans Bold"/>
                <a:cs typeface="Canva Sans Bold"/>
                <a:sym typeface="Canva Sans Bold"/>
              </a:rPr>
              <a:t>-5.066</a:t>
            </a:r>
          </a:p>
        </p:txBody>
      </p:sp>
      <p:sp>
        <p:nvSpPr>
          <p:cNvPr id="40" name="TextBox 40"/>
          <p:cNvSpPr txBox="1"/>
          <p:nvPr/>
        </p:nvSpPr>
        <p:spPr>
          <a:xfrm>
            <a:off x="1989779" y="3982945"/>
            <a:ext cx="911709" cy="336045"/>
          </a:xfrm>
          <a:prstGeom prst="rect">
            <a:avLst/>
          </a:prstGeom>
        </p:spPr>
        <p:txBody>
          <a:bodyPr lIns="0" tIns="0" rIns="0" bIns="0" rtlCol="0" anchor="t">
            <a:spAutoFit/>
          </a:bodyPr>
          <a:lstStyle/>
          <a:p>
            <a:pPr algn="ctr">
              <a:lnSpc>
                <a:spcPts val="2795"/>
              </a:lnSpc>
            </a:pPr>
            <a:r>
              <a:rPr lang="en-US" sz="1996" b="1">
                <a:solidFill>
                  <a:srgbClr val="000000"/>
                </a:solidFill>
                <a:latin typeface="Canva Sans Bold"/>
                <a:ea typeface="Canva Sans Bold"/>
                <a:cs typeface="Canva Sans Bold"/>
                <a:sym typeface="Canva Sans Bold"/>
              </a:rPr>
              <a:t>&gt; 0.5</a:t>
            </a:r>
          </a:p>
        </p:txBody>
      </p:sp>
      <p:grpSp>
        <p:nvGrpSpPr>
          <p:cNvPr id="41" name="Group 41"/>
          <p:cNvGrpSpPr/>
          <p:nvPr/>
        </p:nvGrpSpPr>
        <p:grpSpPr>
          <a:xfrm>
            <a:off x="930705" y="4546868"/>
            <a:ext cx="3105810" cy="1358020"/>
            <a:chOff x="0" y="0"/>
            <a:chExt cx="2103588" cy="919797"/>
          </a:xfrm>
        </p:grpSpPr>
        <p:sp>
          <p:nvSpPr>
            <p:cNvPr id="42" name="Freeform 42"/>
            <p:cNvSpPr/>
            <p:nvPr/>
          </p:nvSpPr>
          <p:spPr>
            <a:xfrm>
              <a:off x="0" y="0"/>
              <a:ext cx="2103588" cy="919797"/>
            </a:xfrm>
            <a:custGeom>
              <a:avLst/>
              <a:gdLst/>
              <a:ahLst/>
              <a:cxnLst/>
              <a:rect l="l" t="t" r="r" b="b"/>
              <a:pathLst>
                <a:path w="2103588" h="919797">
                  <a:moveTo>
                    <a:pt x="22434" y="0"/>
                  </a:moveTo>
                  <a:lnTo>
                    <a:pt x="2081154" y="0"/>
                  </a:lnTo>
                  <a:cubicBezTo>
                    <a:pt x="2093544" y="0"/>
                    <a:pt x="2103588" y="10044"/>
                    <a:pt x="2103588" y="22434"/>
                  </a:cubicBezTo>
                  <a:lnTo>
                    <a:pt x="2103588" y="897363"/>
                  </a:lnTo>
                  <a:cubicBezTo>
                    <a:pt x="2103588" y="909753"/>
                    <a:pt x="2093544" y="919797"/>
                    <a:pt x="2081154" y="919797"/>
                  </a:cubicBezTo>
                  <a:lnTo>
                    <a:pt x="22434" y="919797"/>
                  </a:lnTo>
                  <a:cubicBezTo>
                    <a:pt x="10044" y="919797"/>
                    <a:pt x="0" y="909753"/>
                    <a:pt x="0" y="897363"/>
                  </a:cubicBezTo>
                  <a:lnTo>
                    <a:pt x="0" y="22434"/>
                  </a:lnTo>
                  <a:cubicBezTo>
                    <a:pt x="0" y="10044"/>
                    <a:pt x="10044" y="0"/>
                    <a:pt x="22434" y="0"/>
                  </a:cubicBezTo>
                  <a:close/>
                </a:path>
              </a:pathLst>
            </a:custGeom>
            <a:solidFill>
              <a:srgbClr val="081F8C"/>
            </a:solidFill>
            <a:ln w="38100" cap="sq">
              <a:solidFill>
                <a:srgbClr val="FF751F"/>
              </a:solidFill>
              <a:prstDash val="solid"/>
              <a:miter/>
            </a:ln>
          </p:spPr>
        </p:sp>
        <p:sp>
          <p:nvSpPr>
            <p:cNvPr id="43" name="TextBox 43"/>
            <p:cNvSpPr txBox="1"/>
            <p:nvPr/>
          </p:nvSpPr>
          <p:spPr>
            <a:xfrm>
              <a:off x="0" y="-47625"/>
              <a:ext cx="2103588" cy="967422"/>
            </a:xfrm>
            <a:prstGeom prst="rect">
              <a:avLst/>
            </a:prstGeom>
          </p:spPr>
          <p:txBody>
            <a:bodyPr lIns="19754" tIns="19754" rIns="19754" bIns="19754" rtlCol="0" anchor="ctr"/>
            <a:lstStyle/>
            <a:p>
              <a:pPr algn="ctr">
                <a:lnSpc>
                  <a:spcPts val="2659"/>
                </a:lnSpc>
              </a:pPr>
              <a:endParaRPr/>
            </a:p>
          </p:txBody>
        </p:sp>
      </p:grpSp>
      <p:sp>
        <p:nvSpPr>
          <p:cNvPr id="44" name="TextBox 44"/>
          <p:cNvSpPr txBox="1"/>
          <p:nvPr/>
        </p:nvSpPr>
        <p:spPr>
          <a:xfrm>
            <a:off x="1028700" y="4703812"/>
            <a:ext cx="2689206" cy="1036320"/>
          </a:xfrm>
          <a:prstGeom prst="rect">
            <a:avLst/>
          </a:prstGeom>
        </p:spPr>
        <p:txBody>
          <a:bodyPr lIns="0" tIns="0" rIns="0" bIns="0" rtlCol="0" anchor="t">
            <a:spAutoFit/>
          </a:bodyPr>
          <a:lstStyle/>
          <a:p>
            <a:pPr algn="ctr">
              <a:lnSpc>
                <a:spcPts val="1680"/>
              </a:lnSpc>
            </a:pPr>
            <a:r>
              <a:rPr lang="en-US" sz="1200" b="1">
                <a:solidFill>
                  <a:srgbClr val="FFFFFF"/>
                </a:solidFill>
                <a:latin typeface="Canva Sans Bold"/>
                <a:ea typeface="Canva Sans Bold"/>
                <a:cs typeface="Canva Sans Bold"/>
                <a:sym typeface="Canva Sans Bold"/>
              </a:rPr>
              <a:t>koherensi topik  kategori sedang ( artinya kata-kata dalam setiap topik sudah cukup saling berkaitan secara semantik dan dapat diinterpretasikan dengan baik)</a:t>
            </a:r>
          </a:p>
        </p:txBody>
      </p:sp>
      <p:grpSp>
        <p:nvGrpSpPr>
          <p:cNvPr id="45" name="Group 45"/>
          <p:cNvGrpSpPr/>
          <p:nvPr/>
        </p:nvGrpSpPr>
        <p:grpSpPr>
          <a:xfrm>
            <a:off x="4343362" y="4546868"/>
            <a:ext cx="3105810" cy="1358020"/>
            <a:chOff x="0" y="0"/>
            <a:chExt cx="2103588" cy="919797"/>
          </a:xfrm>
        </p:grpSpPr>
        <p:sp>
          <p:nvSpPr>
            <p:cNvPr id="46" name="Freeform 46"/>
            <p:cNvSpPr/>
            <p:nvPr/>
          </p:nvSpPr>
          <p:spPr>
            <a:xfrm>
              <a:off x="0" y="0"/>
              <a:ext cx="2103588" cy="919797"/>
            </a:xfrm>
            <a:custGeom>
              <a:avLst/>
              <a:gdLst/>
              <a:ahLst/>
              <a:cxnLst/>
              <a:rect l="l" t="t" r="r" b="b"/>
              <a:pathLst>
                <a:path w="2103588" h="919797">
                  <a:moveTo>
                    <a:pt x="22434" y="0"/>
                  </a:moveTo>
                  <a:lnTo>
                    <a:pt x="2081154" y="0"/>
                  </a:lnTo>
                  <a:cubicBezTo>
                    <a:pt x="2093544" y="0"/>
                    <a:pt x="2103588" y="10044"/>
                    <a:pt x="2103588" y="22434"/>
                  </a:cubicBezTo>
                  <a:lnTo>
                    <a:pt x="2103588" y="897363"/>
                  </a:lnTo>
                  <a:cubicBezTo>
                    <a:pt x="2103588" y="909753"/>
                    <a:pt x="2093544" y="919797"/>
                    <a:pt x="2081154" y="919797"/>
                  </a:cubicBezTo>
                  <a:lnTo>
                    <a:pt x="22434" y="919797"/>
                  </a:lnTo>
                  <a:cubicBezTo>
                    <a:pt x="10044" y="919797"/>
                    <a:pt x="0" y="909753"/>
                    <a:pt x="0" y="897363"/>
                  </a:cubicBezTo>
                  <a:lnTo>
                    <a:pt x="0" y="22434"/>
                  </a:lnTo>
                  <a:cubicBezTo>
                    <a:pt x="0" y="10044"/>
                    <a:pt x="10044" y="0"/>
                    <a:pt x="22434" y="0"/>
                  </a:cubicBezTo>
                  <a:close/>
                </a:path>
              </a:pathLst>
            </a:custGeom>
            <a:solidFill>
              <a:srgbClr val="081F8C"/>
            </a:solidFill>
            <a:ln w="38100" cap="sq">
              <a:solidFill>
                <a:srgbClr val="FF751F"/>
              </a:solidFill>
              <a:prstDash val="solid"/>
              <a:miter/>
            </a:ln>
          </p:spPr>
        </p:sp>
        <p:sp>
          <p:nvSpPr>
            <p:cNvPr id="47" name="TextBox 47"/>
            <p:cNvSpPr txBox="1"/>
            <p:nvPr/>
          </p:nvSpPr>
          <p:spPr>
            <a:xfrm>
              <a:off x="0" y="-47625"/>
              <a:ext cx="2103588" cy="967422"/>
            </a:xfrm>
            <a:prstGeom prst="rect">
              <a:avLst/>
            </a:prstGeom>
          </p:spPr>
          <p:txBody>
            <a:bodyPr lIns="19754" tIns="19754" rIns="19754" bIns="19754" rtlCol="0" anchor="ctr"/>
            <a:lstStyle/>
            <a:p>
              <a:pPr algn="ctr">
                <a:lnSpc>
                  <a:spcPts val="2659"/>
                </a:lnSpc>
              </a:pPr>
              <a:endParaRPr/>
            </a:p>
          </p:txBody>
        </p:sp>
      </p:grpSp>
      <p:sp>
        <p:nvSpPr>
          <p:cNvPr id="48" name="TextBox 48"/>
          <p:cNvSpPr txBox="1"/>
          <p:nvPr/>
        </p:nvSpPr>
        <p:spPr>
          <a:xfrm>
            <a:off x="4572000" y="4703812"/>
            <a:ext cx="2689206" cy="617220"/>
          </a:xfrm>
          <a:prstGeom prst="rect">
            <a:avLst/>
          </a:prstGeom>
        </p:spPr>
        <p:txBody>
          <a:bodyPr lIns="0" tIns="0" rIns="0" bIns="0" rtlCol="0" anchor="t">
            <a:spAutoFit/>
          </a:bodyPr>
          <a:lstStyle/>
          <a:p>
            <a:pPr algn="ctr">
              <a:lnSpc>
                <a:spcPts val="1680"/>
              </a:lnSpc>
            </a:pPr>
            <a:r>
              <a:rPr lang="en-US" sz="1200" b="1">
                <a:solidFill>
                  <a:srgbClr val="FFFFFF"/>
                </a:solidFill>
                <a:latin typeface="Canva Sans Bold"/>
                <a:ea typeface="Canva Sans Bold"/>
                <a:cs typeface="Canva Sans Bold"/>
                <a:sym typeface="Canva Sans Bold"/>
              </a:rPr>
              <a:t>mendekati nol dengan nilai  negatif menunjukkan bahwa keterkaitan antar kata dalam topik relatif lemah</a:t>
            </a:r>
          </a:p>
        </p:txBody>
      </p:sp>
      <p:grpSp>
        <p:nvGrpSpPr>
          <p:cNvPr id="49" name="Group 49"/>
          <p:cNvGrpSpPr/>
          <p:nvPr/>
        </p:nvGrpSpPr>
        <p:grpSpPr>
          <a:xfrm>
            <a:off x="7750718" y="3800946"/>
            <a:ext cx="3044503" cy="603264"/>
            <a:chOff x="0" y="0"/>
            <a:chExt cx="2062065" cy="408595"/>
          </a:xfrm>
        </p:grpSpPr>
        <p:sp>
          <p:nvSpPr>
            <p:cNvPr id="50" name="Freeform 50"/>
            <p:cNvSpPr/>
            <p:nvPr/>
          </p:nvSpPr>
          <p:spPr>
            <a:xfrm>
              <a:off x="0" y="0"/>
              <a:ext cx="2062065" cy="408595"/>
            </a:xfrm>
            <a:custGeom>
              <a:avLst/>
              <a:gdLst/>
              <a:ahLst/>
              <a:cxnLst/>
              <a:rect l="l" t="t" r="r" b="b"/>
              <a:pathLst>
                <a:path w="2062065" h="408595">
                  <a:moveTo>
                    <a:pt x="22886" y="0"/>
                  </a:moveTo>
                  <a:lnTo>
                    <a:pt x="2039179" y="0"/>
                  </a:lnTo>
                  <a:cubicBezTo>
                    <a:pt x="2051818" y="0"/>
                    <a:pt x="2062065" y="10247"/>
                    <a:pt x="2062065" y="22886"/>
                  </a:cubicBezTo>
                  <a:lnTo>
                    <a:pt x="2062065" y="385709"/>
                  </a:lnTo>
                  <a:cubicBezTo>
                    <a:pt x="2062065" y="391779"/>
                    <a:pt x="2059654" y="397600"/>
                    <a:pt x="2055362" y="401892"/>
                  </a:cubicBezTo>
                  <a:cubicBezTo>
                    <a:pt x="2051070" y="406184"/>
                    <a:pt x="2045248" y="408595"/>
                    <a:pt x="2039179" y="408595"/>
                  </a:cubicBezTo>
                  <a:lnTo>
                    <a:pt x="22886" y="408595"/>
                  </a:lnTo>
                  <a:cubicBezTo>
                    <a:pt x="10247" y="408595"/>
                    <a:pt x="0" y="398349"/>
                    <a:pt x="0" y="385709"/>
                  </a:cubicBezTo>
                  <a:lnTo>
                    <a:pt x="0" y="22886"/>
                  </a:lnTo>
                  <a:cubicBezTo>
                    <a:pt x="0" y="10247"/>
                    <a:pt x="10247" y="0"/>
                    <a:pt x="22886" y="0"/>
                  </a:cubicBezTo>
                  <a:close/>
                </a:path>
              </a:pathLst>
            </a:custGeom>
            <a:solidFill>
              <a:srgbClr val="FFFFFF"/>
            </a:solidFill>
            <a:ln w="38100" cap="sq">
              <a:solidFill>
                <a:srgbClr val="FF751F"/>
              </a:solidFill>
              <a:prstDash val="solid"/>
              <a:miter/>
            </a:ln>
          </p:spPr>
        </p:sp>
        <p:sp>
          <p:nvSpPr>
            <p:cNvPr id="51" name="TextBox 51"/>
            <p:cNvSpPr txBox="1"/>
            <p:nvPr/>
          </p:nvSpPr>
          <p:spPr>
            <a:xfrm>
              <a:off x="0" y="-47625"/>
              <a:ext cx="2062065" cy="456220"/>
            </a:xfrm>
            <a:prstGeom prst="rect">
              <a:avLst/>
            </a:prstGeom>
          </p:spPr>
          <p:txBody>
            <a:bodyPr lIns="19754" tIns="19754" rIns="19754" bIns="19754" rtlCol="0" anchor="ctr"/>
            <a:lstStyle/>
            <a:p>
              <a:pPr algn="ctr">
                <a:lnSpc>
                  <a:spcPts val="2659"/>
                </a:lnSpc>
              </a:pPr>
              <a:endParaRPr/>
            </a:p>
          </p:txBody>
        </p:sp>
      </p:grpSp>
      <p:sp>
        <p:nvSpPr>
          <p:cNvPr id="52" name="TextBox 52"/>
          <p:cNvSpPr txBox="1"/>
          <p:nvPr/>
        </p:nvSpPr>
        <p:spPr>
          <a:xfrm>
            <a:off x="8740416" y="2854492"/>
            <a:ext cx="1245923" cy="388092"/>
          </a:xfrm>
          <a:prstGeom prst="rect">
            <a:avLst/>
          </a:prstGeom>
        </p:spPr>
        <p:txBody>
          <a:bodyPr lIns="0" tIns="0" rIns="0" bIns="0" rtlCol="0" anchor="t">
            <a:spAutoFit/>
          </a:bodyPr>
          <a:lstStyle/>
          <a:p>
            <a:pPr algn="ctr">
              <a:lnSpc>
                <a:spcPts val="3284"/>
              </a:lnSpc>
            </a:pPr>
            <a:r>
              <a:rPr lang="en-US" sz="2345" b="1">
                <a:solidFill>
                  <a:srgbClr val="FFFFFF"/>
                </a:solidFill>
                <a:latin typeface="Canva Sans Bold"/>
                <a:ea typeface="Canva Sans Bold"/>
                <a:cs typeface="Canva Sans Bold"/>
                <a:sym typeface="Canva Sans Bold"/>
              </a:rPr>
              <a:t>UMASS</a:t>
            </a:r>
          </a:p>
        </p:txBody>
      </p:sp>
      <p:grpSp>
        <p:nvGrpSpPr>
          <p:cNvPr id="53" name="Group 53"/>
          <p:cNvGrpSpPr/>
          <p:nvPr/>
        </p:nvGrpSpPr>
        <p:grpSpPr>
          <a:xfrm>
            <a:off x="11050132" y="2760342"/>
            <a:ext cx="3044503" cy="1240124"/>
            <a:chOff x="0" y="0"/>
            <a:chExt cx="2253126" cy="917770"/>
          </a:xfrm>
        </p:grpSpPr>
        <p:sp>
          <p:nvSpPr>
            <p:cNvPr id="54" name="Freeform 54"/>
            <p:cNvSpPr/>
            <p:nvPr/>
          </p:nvSpPr>
          <p:spPr>
            <a:xfrm>
              <a:off x="0" y="0"/>
              <a:ext cx="2253126" cy="917770"/>
            </a:xfrm>
            <a:custGeom>
              <a:avLst/>
              <a:gdLst/>
              <a:ahLst/>
              <a:cxnLst/>
              <a:rect l="l" t="t" r="r" b="b"/>
              <a:pathLst>
                <a:path w="2253126" h="917770">
                  <a:moveTo>
                    <a:pt x="22886" y="0"/>
                  </a:moveTo>
                  <a:lnTo>
                    <a:pt x="2230239" y="0"/>
                  </a:lnTo>
                  <a:cubicBezTo>
                    <a:pt x="2236309" y="0"/>
                    <a:pt x="2242130" y="2411"/>
                    <a:pt x="2246422" y="6703"/>
                  </a:cubicBezTo>
                  <a:cubicBezTo>
                    <a:pt x="2250714" y="10995"/>
                    <a:pt x="2253126" y="16816"/>
                    <a:pt x="2253126" y="22886"/>
                  </a:cubicBezTo>
                  <a:lnTo>
                    <a:pt x="2253126" y="894884"/>
                  </a:lnTo>
                  <a:cubicBezTo>
                    <a:pt x="2253126" y="907524"/>
                    <a:pt x="2242879" y="917770"/>
                    <a:pt x="2230239" y="917770"/>
                  </a:cubicBezTo>
                  <a:lnTo>
                    <a:pt x="22886" y="917770"/>
                  </a:lnTo>
                  <a:cubicBezTo>
                    <a:pt x="10247" y="917770"/>
                    <a:pt x="0" y="907524"/>
                    <a:pt x="0" y="894884"/>
                  </a:cubicBezTo>
                  <a:lnTo>
                    <a:pt x="0" y="22886"/>
                  </a:lnTo>
                  <a:cubicBezTo>
                    <a:pt x="0" y="10247"/>
                    <a:pt x="10247" y="0"/>
                    <a:pt x="22886" y="0"/>
                  </a:cubicBezTo>
                  <a:close/>
                </a:path>
              </a:pathLst>
            </a:custGeom>
            <a:solidFill>
              <a:srgbClr val="FF751F"/>
            </a:solidFill>
            <a:ln w="38100" cap="sq">
              <a:solidFill>
                <a:srgbClr val="FF751F"/>
              </a:solidFill>
              <a:prstDash val="solid"/>
              <a:miter/>
            </a:ln>
          </p:spPr>
        </p:sp>
        <p:sp>
          <p:nvSpPr>
            <p:cNvPr id="55" name="TextBox 55"/>
            <p:cNvSpPr txBox="1"/>
            <p:nvPr/>
          </p:nvSpPr>
          <p:spPr>
            <a:xfrm>
              <a:off x="0" y="-47625"/>
              <a:ext cx="2253126" cy="965395"/>
            </a:xfrm>
            <a:prstGeom prst="rect">
              <a:avLst/>
            </a:prstGeom>
          </p:spPr>
          <p:txBody>
            <a:bodyPr lIns="18079" tIns="18079" rIns="18079" bIns="18079" rtlCol="0" anchor="ctr"/>
            <a:lstStyle/>
            <a:p>
              <a:pPr algn="ctr">
                <a:lnSpc>
                  <a:spcPts val="2659"/>
                </a:lnSpc>
              </a:pPr>
              <a:endParaRPr/>
            </a:p>
          </p:txBody>
        </p:sp>
      </p:grpSp>
      <p:grpSp>
        <p:nvGrpSpPr>
          <p:cNvPr id="56" name="Group 56"/>
          <p:cNvGrpSpPr/>
          <p:nvPr/>
        </p:nvGrpSpPr>
        <p:grpSpPr>
          <a:xfrm>
            <a:off x="11050132" y="3800946"/>
            <a:ext cx="3044503" cy="603264"/>
            <a:chOff x="0" y="0"/>
            <a:chExt cx="2062065" cy="408595"/>
          </a:xfrm>
        </p:grpSpPr>
        <p:sp>
          <p:nvSpPr>
            <p:cNvPr id="57" name="Freeform 57"/>
            <p:cNvSpPr/>
            <p:nvPr/>
          </p:nvSpPr>
          <p:spPr>
            <a:xfrm>
              <a:off x="0" y="0"/>
              <a:ext cx="2062065" cy="408595"/>
            </a:xfrm>
            <a:custGeom>
              <a:avLst/>
              <a:gdLst/>
              <a:ahLst/>
              <a:cxnLst/>
              <a:rect l="l" t="t" r="r" b="b"/>
              <a:pathLst>
                <a:path w="2062065" h="408595">
                  <a:moveTo>
                    <a:pt x="22886" y="0"/>
                  </a:moveTo>
                  <a:lnTo>
                    <a:pt x="2039179" y="0"/>
                  </a:lnTo>
                  <a:cubicBezTo>
                    <a:pt x="2051818" y="0"/>
                    <a:pt x="2062065" y="10247"/>
                    <a:pt x="2062065" y="22886"/>
                  </a:cubicBezTo>
                  <a:lnTo>
                    <a:pt x="2062065" y="385709"/>
                  </a:lnTo>
                  <a:cubicBezTo>
                    <a:pt x="2062065" y="391779"/>
                    <a:pt x="2059654" y="397600"/>
                    <a:pt x="2055362" y="401892"/>
                  </a:cubicBezTo>
                  <a:cubicBezTo>
                    <a:pt x="2051070" y="406184"/>
                    <a:pt x="2045248" y="408595"/>
                    <a:pt x="2039179" y="408595"/>
                  </a:cubicBezTo>
                  <a:lnTo>
                    <a:pt x="22886" y="408595"/>
                  </a:lnTo>
                  <a:cubicBezTo>
                    <a:pt x="10247" y="408595"/>
                    <a:pt x="0" y="398349"/>
                    <a:pt x="0" y="385709"/>
                  </a:cubicBezTo>
                  <a:lnTo>
                    <a:pt x="0" y="22886"/>
                  </a:lnTo>
                  <a:cubicBezTo>
                    <a:pt x="0" y="10247"/>
                    <a:pt x="10247" y="0"/>
                    <a:pt x="22886" y="0"/>
                  </a:cubicBezTo>
                  <a:close/>
                </a:path>
              </a:pathLst>
            </a:custGeom>
            <a:solidFill>
              <a:srgbClr val="FFFFFF"/>
            </a:solidFill>
            <a:ln w="38100" cap="sq">
              <a:solidFill>
                <a:srgbClr val="FF751F"/>
              </a:solidFill>
              <a:prstDash val="solid"/>
              <a:miter/>
            </a:ln>
          </p:spPr>
        </p:sp>
        <p:sp>
          <p:nvSpPr>
            <p:cNvPr id="58" name="TextBox 58"/>
            <p:cNvSpPr txBox="1"/>
            <p:nvPr/>
          </p:nvSpPr>
          <p:spPr>
            <a:xfrm>
              <a:off x="0" y="-47625"/>
              <a:ext cx="2062065" cy="456220"/>
            </a:xfrm>
            <a:prstGeom prst="rect">
              <a:avLst/>
            </a:prstGeom>
          </p:spPr>
          <p:txBody>
            <a:bodyPr lIns="19754" tIns="19754" rIns="19754" bIns="19754" rtlCol="0" anchor="ctr"/>
            <a:lstStyle/>
            <a:p>
              <a:pPr algn="ctr">
                <a:lnSpc>
                  <a:spcPts val="2659"/>
                </a:lnSpc>
              </a:pPr>
              <a:endParaRPr/>
            </a:p>
          </p:txBody>
        </p:sp>
      </p:grpSp>
      <p:sp>
        <p:nvSpPr>
          <p:cNvPr id="59" name="TextBox 59"/>
          <p:cNvSpPr txBox="1"/>
          <p:nvPr/>
        </p:nvSpPr>
        <p:spPr>
          <a:xfrm>
            <a:off x="12039830" y="2854492"/>
            <a:ext cx="1245923" cy="388092"/>
          </a:xfrm>
          <a:prstGeom prst="rect">
            <a:avLst/>
          </a:prstGeom>
        </p:spPr>
        <p:txBody>
          <a:bodyPr lIns="0" tIns="0" rIns="0" bIns="0" rtlCol="0" anchor="t">
            <a:spAutoFit/>
          </a:bodyPr>
          <a:lstStyle/>
          <a:p>
            <a:pPr algn="ctr">
              <a:lnSpc>
                <a:spcPts val="3284"/>
              </a:lnSpc>
            </a:pPr>
            <a:r>
              <a:rPr lang="en-US" sz="2345" b="1">
                <a:solidFill>
                  <a:srgbClr val="FFFFFF"/>
                </a:solidFill>
                <a:latin typeface="Canva Sans Bold"/>
                <a:ea typeface="Canva Sans Bold"/>
                <a:cs typeface="Canva Sans Bold"/>
                <a:sym typeface="Canva Sans Bold"/>
              </a:rPr>
              <a:t>UCl</a:t>
            </a:r>
          </a:p>
        </p:txBody>
      </p:sp>
      <p:sp>
        <p:nvSpPr>
          <p:cNvPr id="60" name="TextBox 60"/>
          <p:cNvSpPr txBox="1"/>
          <p:nvPr/>
        </p:nvSpPr>
        <p:spPr>
          <a:xfrm>
            <a:off x="11774910" y="3204731"/>
            <a:ext cx="1426740" cy="576917"/>
          </a:xfrm>
          <a:prstGeom prst="rect">
            <a:avLst/>
          </a:prstGeom>
        </p:spPr>
        <p:txBody>
          <a:bodyPr lIns="0" tIns="0" rIns="0" bIns="0" rtlCol="0" anchor="t">
            <a:spAutoFit/>
          </a:bodyPr>
          <a:lstStyle/>
          <a:p>
            <a:pPr algn="ctr">
              <a:lnSpc>
                <a:spcPts val="4798"/>
              </a:lnSpc>
            </a:pPr>
            <a:r>
              <a:rPr lang="en-US" sz="3427" b="1">
                <a:solidFill>
                  <a:srgbClr val="1800AD"/>
                </a:solidFill>
                <a:latin typeface="Canva Sans Bold"/>
                <a:ea typeface="Canva Sans Bold"/>
                <a:cs typeface="Canva Sans Bold"/>
                <a:sym typeface="Canva Sans Bold"/>
              </a:rPr>
              <a:t>-2.137</a:t>
            </a:r>
          </a:p>
        </p:txBody>
      </p:sp>
      <p:grpSp>
        <p:nvGrpSpPr>
          <p:cNvPr id="61" name="Group 61"/>
          <p:cNvGrpSpPr/>
          <p:nvPr/>
        </p:nvGrpSpPr>
        <p:grpSpPr>
          <a:xfrm>
            <a:off x="14252600" y="2760342"/>
            <a:ext cx="3044503" cy="1240124"/>
            <a:chOff x="0" y="0"/>
            <a:chExt cx="2253126" cy="917770"/>
          </a:xfrm>
        </p:grpSpPr>
        <p:sp>
          <p:nvSpPr>
            <p:cNvPr id="62" name="Freeform 62"/>
            <p:cNvSpPr/>
            <p:nvPr/>
          </p:nvSpPr>
          <p:spPr>
            <a:xfrm>
              <a:off x="0" y="0"/>
              <a:ext cx="2253126" cy="917770"/>
            </a:xfrm>
            <a:custGeom>
              <a:avLst/>
              <a:gdLst/>
              <a:ahLst/>
              <a:cxnLst/>
              <a:rect l="l" t="t" r="r" b="b"/>
              <a:pathLst>
                <a:path w="2253126" h="917770">
                  <a:moveTo>
                    <a:pt x="22886" y="0"/>
                  </a:moveTo>
                  <a:lnTo>
                    <a:pt x="2230239" y="0"/>
                  </a:lnTo>
                  <a:cubicBezTo>
                    <a:pt x="2236309" y="0"/>
                    <a:pt x="2242130" y="2411"/>
                    <a:pt x="2246422" y="6703"/>
                  </a:cubicBezTo>
                  <a:cubicBezTo>
                    <a:pt x="2250714" y="10995"/>
                    <a:pt x="2253126" y="16816"/>
                    <a:pt x="2253126" y="22886"/>
                  </a:cubicBezTo>
                  <a:lnTo>
                    <a:pt x="2253126" y="894884"/>
                  </a:lnTo>
                  <a:cubicBezTo>
                    <a:pt x="2253126" y="907524"/>
                    <a:pt x="2242879" y="917770"/>
                    <a:pt x="2230239" y="917770"/>
                  </a:cubicBezTo>
                  <a:lnTo>
                    <a:pt x="22886" y="917770"/>
                  </a:lnTo>
                  <a:cubicBezTo>
                    <a:pt x="10247" y="917770"/>
                    <a:pt x="0" y="907524"/>
                    <a:pt x="0" y="894884"/>
                  </a:cubicBezTo>
                  <a:lnTo>
                    <a:pt x="0" y="22886"/>
                  </a:lnTo>
                  <a:cubicBezTo>
                    <a:pt x="0" y="10247"/>
                    <a:pt x="10247" y="0"/>
                    <a:pt x="22886" y="0"/>
                  </a:cubicBezTo>
                  <a:close/>
                </a:path>
              </a:pathLst>
            </a:custGeom>
            <a:solidFill>
              <a:srgbClr val="FF751F"/>
            </a:solidFill>
            <a:ln w="38100" cap="sq">
              <a:solidFill>
                <a:srgbClr val="FF751F"/>
              </a:solidFill>
              <a:prstDash val="solid"/>
              <a:miter/>
            </a:ln>
          </p:spPr>
        </p:sp>
        <p:sp>
          <p:nvSpPr>
            <p:cNvPr id="63" name="TextBox 63"/>
            <p:cNvSpPr txBox="1"/>
            <p:nvPr/>
          </p:nvSpPr>
          <p:spPr>
            <a:xfrm>
              <a:off x="0" y="-47625"/>
              <a:ext cx="2253126" cy="965395"/>
            </a:xfrm>
            <a:prstGeom prst="rect">
              <a:avLst/>
            </a:prstGeom>
          </p:spPr>
          <p:txBody>
            <a:bodyPr lIns="18079" tIns="18079" rIns="18079" bIns="18079" rtlCol="0" anchor="ctr"/>
            <a:lstStyle/>
            <a:p>
              <a:pPr algn="ctr">
                <a:lnSpc>
                  <a:spcPts val="2659"/>
                </a:lnSpc>
              </a:pPr>
              <a:endParaRPr/>
            </a:p>
          </p:txBody>
        </p:sp>
      </p:grpSp>
      <p:grpSp>
        <p:nvGrpSpPr>
          <p:cNvPr id="64" name="Group 64"/>
          <p:cNvGrpSpPr/>
          <p:nvPr/>
        </p:nvGrpSpPr>
        <p:grpSpPr>
          <a:xfrm>
            <a:off x="14252600" y="3800946"/>
            <a:ext cx="3044503" cy="603264"/>
            <a:chOff x="0" y="0"/>
            <a:chExt cx="2062065" cy="408595"/>
          </a:xfrm>
        </p:grpSpPr>
        <p:sp>
          <p:nvSpPr>
            <p:cNvPr id="65" name="Freeform 65"/>
            <p:cNvSpPr/>
            <p:nvPr/>
          </p:nvSpPr>
          <p:spPr>
            <a:xfrm>
              <a:off x="0" y="0"/>
              <a:ext cx="2062065" cy="408595"/>
            </a:xfrm>
            <a:custGeom>
              <a:avLst/>
              <a:gdLst/>
              <a:ahLst/>
              <a:cxnLst/>
              <a:rect l="l" t="t" r="r" b="b"/>
              <a:pathLst>
                <a:path w="2062065" h="408595">
                  <a:moveTo>
                    <a:pt x="22886" y="0"/>
                  </a:moveTo>
                  <a:lnTo>
                    <a:pt x="2039179" y="0"/>
                  </a:lnTo>
                  <a:cubicBezTo>
                    <a:pt x="2051818" y="0"/>
                    <a:pt x="2062065" y="10247"/>
                    <a:pt x="2062065" y="22886"/>
                  </a:cubicBezTo>
                  <a:lnTo>
                    <a:pt x="2062065" y="385709"/>
                  </a:lnTo>
                  <a:cubicBezTo>
                    <a:pt x="2062065" y="391779"/>
                    <a:pt x="2059654" y="397600"/>
                    <a:pt x="2055362" y="401892"/>
                  </a:cubicBezTo>
                  <a:cubicBezTo>
                    <a:pt x="2051070" y="406184"/>
                    <a:pt x="2045248" y="408595"/>
                    <a:pt x="2039179" y="408595"/>
                  </a:cubicBezTo>
                  <a:lnTo>
                    <a:pt x="22886" y="408595"/>
                  </a:lnTo>
                  <a:cubicBezTo>
                    <a:pt x="10247" y="408595"/>
                    <a:pt x="0" y="398349"/>
                    <a:pt x="0" y="385709"/>
                  </a:cubicBezTo>
                  <a:lnTo>
                    <a:pt x="0" y="22886"/>
                  </a:lnTo>
                  <a:cubicBezTo>
                    <a:pt x="0" y="10247"/>
                    <a:pt x="10247" y="0"/>
                    <a:pt x="22886" y="0"/>
                  </a:cubicBezTo>
                  <a:close/>
                </a:path>
              </a:pathLst>
            </a:custGeom>
            <a:solidFill>
              <a:srgbClr val="FFFFFF"/>
            </a:solidFill>
            <a:ln w="38100" cap="sq">
              <a:solidFill>
                <a:srgbClr val="FF751F"/>
              </a:solidFill>
              <a:prstDash val="solid"/>
              <a:miter/>
            </a:ln>
          </p:spPr>
        </p:sp>
        <p:sp>
          <p:nvSpPr>
            <p:cNvPr id="66" name="TextBox 66"/>
            <p:cNvSpPr txBox="1"/>
            <p:nvPr/>
          </p:nvSpPr>
          <p:spPr>
            <a:xfrm>
              <a:off x="0" y="-47625"/>
              <a:ext cx="2062065" cy="456220"/>
            </a:xfrm>
            <a:prstGeom prst="rect">
              <a:avLst/>
            </a:prstGeom>
          </p:spPr>
          <p:txBody>
            <a:bodyPr lIns="19754" tIns="19754" rIns="19754" bIns="19754" rtlCol="0" anchor="ctr"/>
            <a:lstStyle/>
            <a:p>
              <a:pPr algn="ctr">
                <a:lnSpc>
                  <a:spcPts val="2659"/>
                </a:lnSpc>
              </a:pPr>
              <a:endParaRPr/>
            </a:p>
          </p:txBody>
        </p:sp>
      </p:grpSp>
      <p:sp>
        <p:nvSpPr>
          <p:cNvPr id="67" name="TextBox 67"/>
          <p:cNvSpPr txBox="1"/>
          <p:nvPr/>
        </p:nvSpPr>
        <p:spPr>
          <a:xfrm>
            <a:off x="15001084" y="2853989"/>
            <a:ext cx="1909168" cy="388092"/>
          </a:xfrm>
          <a:prstGeom prst="rect">
            <a:avLst/>
          </a:prstGeom>
        </p:spPr>
        <p:txBody>
          <a:bodyPr lIns="0" tIns="0" rIns="0" bIns="0" rtlCol="0" anchor="t">
            <a:spAutoFit/>
          </a:bodyPr>
          <a:lstStyle/>
          <a:p>
            <a:pPr algn="ctr">
              <a:lnSpc>
                <a:spcPts val="3284"/>
              </a:lnSpc>
            </a:pPr>
            <a:r>
              <a:rPr lang="en-US" sz="2345" b="1">
                <a:solidFill>
                  <a:srgbClr val="FFFFFF"/>
                </a:solidFill>
                <a:latin typeface="Canva Sans Bold"/>
                <a:ea typeface="Canva Sans Bold"/>
                <a:cs typeface="Canva Sans Bold"/>
                <a:sym typeface="Canva Sans Bold"/>
              </a:rPr>
              <a:t>Perplexity</a:t>
            </a:r>
          </a:p>
        </p:txBody>
      </p:sp>
      <p:sp>
        <p:nvSpPr>
          <p:cNvPr id="68" name="TextBox 68"/>
          <p:cNvSpPr txBox="1"/>
          <p:nvPr/>
        </p:nvSpPr>
        <p:spPr>
          <a:xfrm>
            <a:off x="15242298" y="3261131"/>
            <a:ext cx="1426740" cy="464118"/>
          </a:xfrm>
          <a:prstGeom prst="rect">
            <a:avLst/>
          </a:prstGeom>
        </p:spPr>
        <p:txBody>
          <a:bodyPr lIns="0" tIns="0" rIns="0" bIns="0" rtlCol="0" anchor="t">
            <a:spAutoFit/>
          </a:bodyPr>
          <a:lstStyle/>
          <a:p>
            <a:pPr algn="ctr">
              <a:lnSpc>
                <a:spcPts val="3818"/>
              </a:lnSpc>
            </a:pPr>
            <a:r>
              <a:rPr lang="en-US" sz="2727" b="1">
                <a:solidFill>
                  <a:srgbClr val="1800AD"/>
                </a:solidFill>
                <a:latin typeface="Canva Sans Bold"/>
                <a:ea typeface="Canva Sans Bold"/>
                <a:cs typeface="Canva Sans Bold"/>
                <a:sym typeface="Canva Sans Bold"/>
              </a:rPr>
              <a:t>1720.28</a:t>
            </a:r>
          </a:p>
        </p:txBody>
      </p:sp>
      <p:grpSp>
        <p:nvGrpSpPr>
          <p:cNvPr id="69" name="Group 69"/>
          <p:cNvGrpSpPr/>
          <p:nvPr/>
        </p:nvGrpSpPr>
        <p:grpSpPr>
          <a:xfrm>
            <a:off x="7810473" y="4546868"/>
            <a:ext cx="6284162" cy="1358020"/>
            <a:chOff x="0" y="0"/>
            <a:chExt cx="4256310" cy="919797"/>
          </a:xfrm>
        </p:grpSpPr>
        <p:sp>
          <p:nvSpPr>
            <p:cNvPr id="70" name="Freeform 70"/>
            <p:cNvSpPr/>
            <p:nvPr/>
          </p:nvSpPr>
          <p:spPr>
            <a:xfrm>
              <a:off x="0" y="0"/>
              <a:ext cx="4256310" cy="919797"/>
            </a:xfrm>
            <a:custGeom>
              <a:avLst/>
              <a:gdLst/>
              <a:ahLst/>
              <a:cxnLst/>
              <a:rect l="l" t="t" r="r" b="b"/>
              <a:pathLst>
                <a:path w="4256310" h="919797">
                  <a:moveTo>
                    <a:pt x="11088" y="0"/>
                  </a:moveTo>
                  <a:lnTo>
                    <a:pt x="4245222" y="0"/>
                  </a:lnTo>
                  <a:cubicBezTo>
                    <a:pt x="4248163" y="0"/>
                    <a:pt x="4250983" y="1168"/>
                    <a:pt x="4253062" y="3248"/>
                  </a:cubicBezTo>
                  <a:cubicBezTo>
                    <a:pt x="4255142" y="5327"/>
                    <a:pt x="4256310" y="8147"/>
                    <a:pt x="4256310" y="11088"/>
                  </a:cubicBezTo>
                  <a:lnTo>
                    <a:pt x="4256310" y="908709"/>
                  </a:lnTo>
                  <a:cubicBezTo>
                    <a:pt x="4256310" y="914833"/>
                    <a:pt x="4251346" y="919797"/>
                    <a:pt x="4245222" y="919797"/>
                  </a:cubicBezTo>
                  <a:lnTo>
                    <a:pt x="11088" y="919797"/>
                  </a:lnTo>
                  <a:cubicBezTo>
                    <a:pt x="8147" y="919797"/>
                    <a:pt x="5327" y="918629"/>
                    <a:pt x="3248" y="916550"/>
                  </a:cubicBezTo>
                  <a:cubicBezTo>
                    <a:pt x="1168" y="914470"/>
                    <a:pt x="0" y="911650"/>
                    <a:pt x="0" y="908709"/>
                  </a:cubicBezTo>
                  <a:lnTo>
                    <a:pt x="0" y="11088"/>
                  </a:lnTo>
                  <a:cubicBezTo>
                    <a:pt x="0" y="8147"/>
                    <a:pt x="1168" y="5327"/>
                    <a:pt x="3248" y="3248"/>
                  </a:cubicBezTo>
                  <a:cubicBezTo>
                    <a:pt x="5327" y="1168"/>
                    <a:pt x="8147" y="0"/>
                    <a:pt x="11088" y="0"/>
                  </a:cubicBezTo>
                  <a:close/>
                </a:path>
              </a:pathLst>
            </a:custGeom>
            <a:solidFill>
              <a:srgbClr val="081F8C"/>
            </a:solidFill>
            <a:ln w="38100" cap="sq">
              <a:solidFill>
                <a:srgbClr val="FF751F"/>
              </a:solidFill>
              <a:prstDash val="solid"/>
              <a:miter/>
            </a:ln>
          </p:spPr>
        </p:sp>
        <p:sp>
          <p:nvSpPr>
            <p:cNvPr id="71" name="TextBox 71"/>
            <p:cNvSpPr txBox="1"/>
            <p:nvPr/>
          </p:nvSpPr>
          <p:spPr>
            <a:xfrm>
              <a:off x="0" y="-47625"/>
              <a:ext cx="4256310" cy="967422"/>
            </a:xfrm>
            <a:prstGeom prst="rect">
              <a:avLst/>
            </a:prstGeom>
          </p:spPr>
          <p:txBody>
            <a:bodyPr lIns="19754" tIns="19754" rIns="19754" bIns="19754" rtlCol="0" anchor="ctr"/>
            <a:lstStyle/>
            <a:p>
              <a:pPr algn="ctr">
                <a:lnSpc>
                  <a:spcPts val="2659"/>
                </a:lnSpc>
              </a:pPr>
              <a:endParaRPr/>
            </a:p>
          </p:txBody>
        </p:sp>
      </p:grpSp>
      <p:sp>
        <p:nvSpPr>
          <p:cNvPr id="72" name="TextBox 72"/>
          <p:cNvSpPr txBox="1"/>
          <p:nvPr/>
        </p:nvSpPr>
        <p:spPr>
          <a:xfrm>
            <a:off x="7982572" y="4703812"/>
            <a:ext cx="5881378" cy="826770"/>
          </a:xfrm>
          <a:prstGeom prst="rect">
            <a:avLst/>
          </a:prstGeom>
        </p:spPr>
        <p:txBody>
          <a:bodyPr lIns="0" tIns="0" rIns="0" bIns="0" rtlCol="0" anchor="t">
            <a:spAutoFit/>
          </a:bodyPr>
          <a:lstStyle/>
          <a:p>
            <a:pPr algn="ctr">
              <a:lnSpc>
                <a:spcPts val="1680"/>
              </a:lnSpc>
            </a:pPr>
            <a:r>
              <a:rPr lang="en-US" sz="1200" b="1">
                <a:solidFill>
                  <a:srgbClr val="FFFFFF"/>
                </a:solidFill>
                <a:latin typeface="Canva Sans Bold"/>
                <a:ea typeface="Canva Sans Bold"/>
                <a:cs typeface="Canva Sans Bold"/>
                <a:sym typeface="Canva Sans Bold"/>
              </a:rPr>
              <a:t>UMass  dan UCI  keduanya bernilai negatif dan mengindikasikan bahwa dari perspektif probabilistik berbasis corpus, hubungan antar kata dalam topik masih kurang kuat atau kurang konsisten muncul bersama dalam dokumen yang sama</a:t>
            </a:r>
          </a:p>
        </p:txBody>
      </p:sp>
      <p:grpSp>
        <p:nvGrpSpPr>
          <p:cNvPr id="73" name="Group 73"/>
          <p:cNvGrpSpPr/>
          <p:nvPr/>
        </p:nvGrpSpPr>
        <p:grpSpPr>
          <a:xfrm>
            <a:off x="14252600" y="4546868"/>
            <a:ext cx="3105810" cy="1358020"/>
            <a:chOff x="0" y="0"/>
            <a:chExt cx="2103588" cy="919797"/>
          </a:xfrm>
        </p:grpSpPr>
        <p:sp>
          <p:nvSpPr>
            <p:cNvPr id="74" name="Freeform 74"/>
            <p:cNvSpPr/>
            <p:nvPr/>
          </p:nvSpPr>
          <p:spPr>
            <a:xfrm>
              <a:off x="0" y="0"/>
              <a:ext cx="2103588" cy="919797"/>
            </a:xfrm>
            <a:custGeom>
              <a:avLst/>
              <a:gdLst/>
              <a:ahLst/>
              <a:cxnLst/>
              <a:rect l="l" t="t" r="r" b="b"/>
              <a:pathLst>
                <a:path w="2103588" h="919797">
                  <a:moveTo>
                    <a:pt x="22434" y="0"/>
                  </a:moveTo>
                  <a:lnTo>
                    <a:pt x="2081154" y="0"/>
                  </a:lnTo>
                  <a:cubicBezTo>
                    <a:pt x="2093544" y="0"/>
                    <a:pt x="2103588" y="10044"/>
                    <a:pt x="2103588" y="22434"/>
                  </a:cubicBezTo>
                  <a:lnTo>
                    <a:pt x="2103588" y="897363"/>
                  </a:lnTo>
                  <a:cubicBezTo>
                    <a:pt x="2103588" y="909753"/>
                    <a:pt x="2093544" y="919797"/>
                    <a:pt x="2081154" y="919797"/>
                  </a:cubicBezTo>
                  <a:lnTo>
                    <a:pt x="22434" y="919797"/>
                  </a:lnTo>
                  <a:cubicBezTo>
                    <a:pt x="10044" y="919797"/>
                    <a:pt x="0" y="909753"/>
                    <a:pt x="0" y="897363"/>
                  </a:cubicBezTo>
                  <a:lnTo>
                    <a:pt x="0" y="22434"/>
                  </a:lnTo>
                  <a:cubicBezTo>
                    <a:pt x="0" y="10044"/>
                    <a:pt x="10044" y="0"/>
                    <a:pt x="22434" y="0"/>
                  </a:cubicBezTo>
                  <a:close/>
                </a:path>
              </a:pathLst>
            </a:custGeom>
            <a:solidFill>
              <a:srgbClr val="081F8C"/>
            </a:solidFill>
            <a:ln w="38100" cap="sq">
              <a:solidFill>
                <a:srgbClr val="FF751F"/>
              </a:solidFill>
              <a:prstDash val="solid"/>
              <a:miter/>
            </a:ln>
          </p:spPr>
        </p:sp>
        <p:sp>
          <p:nvSpPr>
            <p:cNvPr id="75" name="TextBox 75"/>
            <p:cNvSpPr txBox="1"/>
            <p:nvPr/>
          </p:nvSpPr>
          <p:spPr>
            <a:xfrm>
              <a:off x="0" y="-47625"/>
              <a:ext cx="2103588" cy="967422"/>
            </a:xfrm>
            <a:prstGeom prst="rect">
              <a:avLst/>
            </a:prstGeom>
          </p:spPr>
          <p:txBody>
            <a:bodyPr lIns="19754" tIns="19754" rIns="19754" bIns="19754" rtlCol="0" anchor="ctr"/>
            <a:lstStyle/>
            <a:p>
              <a:pPr algn="ctr">
                <a:lnSpc>
                  <a:spcPts val="2659"/>
                </a:lnSpc>
              </a:pPr>
              <a:endParaRPr/>
            </a:p>
          </p:txBody>
        </p:sp>
      </p:grpSp>
      <p:sp>
        <p:nvSpPr>
          <p:cNvPr id="76" name="TextBox 76"/>
          <p:cNvSpPr txBox="1"/>
          <p:nvPr/>
        </p:nvSpPr>
        <p:spPr>
          <a:xfrm>
            <a:off x="14460902" y="4703812"/>
            <a:ext cx="2689206" cy="826770"/>
          </a:xfrm>
          <a:prstGeom prst="rect">
            <a:avLst/>
          </a:prstGeom>
        </p:spPr>
        <p:txBody>
          <a:bodyPr lIns="0" tIns="0" rIns="0" bIns="0" rtlCol="0" anchor="t">
            <a:spAutoFit/>
          </a:bodyPr>
          <a:lstStyle/>
          <a:p>
            <a:pPr algn="ctr">
              <a:lnSpc>
                <a:spcPts val="1680"/>
              </a:lnSpc>
            </a:pPr>
            <a:r>
              <a:rPr lang="en-US" sz="1200" b="1">
                <a:solidFill>
                  <a:srgbClr val="FFFFFF"/>
                </a:solidFill>
                <a:latin typeface="Canva Sans Bold"/>
                <a:ea typeface="Canva Sans Bold"/>
                <a:cs typeface="Canva Sans Bold"/>
                <a:sym typeface="Canva Sans Bold"/>
              </a:rPr>
              <a:t>menunjukkan yang digunakan masih belum optimal dalam menangkap struktur distribusi kata pada dataset</a:t>
            </a:r>
          </a:p>
        </p:txBody>
      </p:sp>
      <p:sp>
        <p:nvSpPr>
          <p:cNvPr id="77" name="TextBox 77"/>
          <p:cNvSpPr txBox="1"/>
          <p:nvPr/>
        </p:nvSpPr>
        <p:spPr>
          <a:xfrm>
            <a:off x="4724400" y="4117069"/>
            <a:ext cx="2456613" cy="264431"/>
          </a:xfrm>
          <a:prstGeom prst="rect">
            <a:avLst/>
          </a:prstGeom>
        </p:spPr>
        <p:txBody>
          <a:bodyPr wrap="square" lIns="0" tIns="0" rIns="0" bIns="0" rtlCol="0" anchor="t">
            <a:spAutoFit/>
          </a:bodyPr>
          <a:lstStyle/>
          <a:p>
            <a:pPr algn="ctr">
              <a:lnSpc>
                <a:spcPts val="2235"/>
              </a:lnSpc>
            </a:pPr>
            <a:r>
              <a:rPr lang="en-US" sz="1596" b="1" dirty="0">
                <a:solidFill>
                  <a:srgbClr val="000000"/>
                </a:solidFill>
                <a:latin typeface="Canva Sans Bold"/>
                <a:ea typeface="Canva Sans Bold"/>
                <a:cs typeface="Canva Sans Bold"/>
                <a:sym typeface="Canva Sans Bold"/>
              </a:rPr>
              <a:t>&lt; 0 = </a:t>
            </a:r>
            <a:r>
              <a:rPr lang="en-US" sz="1596" b="1" dirty="0" err="1">
                <a:solidFill>
                  <a:srgbClr val="000000"/>
                </a:solidFill>
                <a:latin typeface="Canva Sans Bold"/>
                <a:ea typeface="Canva Sans Bold"/>
                <a:cs typeface="Canva Sans Bold"/>
                <a:sym typeface="Canva Sans Bold"/>
              </a:rPr>
              <a:t>hubungan</a:t>
            </a:r>
            <a:r>
              <a:rPr lang="en-US" sz="1596" b="1" dirty="0">
                <a:solidFill>
                  <a:srgbClr val="000000"/>
                </a:solidFill>
                <a:latin typeface="Canva Sans Bold"/>
                <a:ea typeface="Canva Sans Bold"/>
                <a:cs typeface="Canva Sans Bold"/>
                <a:sym typeface="Canva Sans Bold"/>
              </a:rPr>
              <a:t> </a:t>
            </a:r>
            <a:r>
              <a:rPr lang="en-US" sz="1596" b="1" dirty="0" err="1">
                <a:solidFill>
                  <a:srgbClr val="000000"/>
                </a:solidFill>
                <a:latin typeface="Canva Sans Bold"/>
                <a:ea typeface="Canva Sans Bold"/>
                <a:cs typeface="Canva Sans Bold"/>
                <a:sym typeface="Canva Sans Bold"/>
              </a:rPr>
              <a:t>lemah</a:t>
            </a:r>
            <a:endParaRPr lang="en-US" sz="1596" b="1" dirty="0">
              <a:solidFill>
                <a:srgbClr val="000000"/>
              </a:solidFill>
              <a:latin typeface="Canva Sans Bold"/>
              <a:ea typeface="Canva Sans Bold"/>
              <a:cs typeface="Canva Sans Bold"/>
              <a:sym typeface="Canva Sans Bold"/>
            </a:endParaRPr>
          </a:p>
        </p:txBody>
      </p:sp>
      <p:sp>
        <p:nvSpPr>
          <p:cNvPr id="78" name="TextBox 78"/>
          <p:cNvSpPr txBox="1"/>
          <p:nvPr/>
        </p:nvSpPr>
        <p:spPr>
          <a:xfrm>
            <a:off x="8281670" y="3956172"/>
            <a:ext cx="2163414" cy="264237"/>
          </a:xfrm>
          <a:prstGeom prst="rect">
            <a:avLst/>
          </a:prstGeom>
        </p:spPr>
        <p:txBody>
          <a:bodyPr lIns="0" tIns="0" rIns="0" bIns="0" rtlCol="0" anchor="t">
            <a:spAutoFit/>
          </a:bodyPr>
          <a:lstStyle/>
          <a:p>
            <a:pPr algn="ctr">
              <a:lnSpc>
                <a:spcPts val="2235"/>
              </a:lnSpc>
            </a:pPr>
            <a:r>
              <a:rPr lang="en-US" sz="1596" b="1">
                <a:solidFill>
                  <a:srgbClr val="000000"/>
                </a:solidFill>
                <a:latin typeface="Canva Sans Bold"/>
                <a:ea typeface="Canva Sans Bold"/>
                <a:cs typeface="Canva Sans Bold"/>
                <a:sym typeface="Canva Sans Bold"/>
              </a:rPr>
              <a:t>-4 s/d -6 (sedang)</a:t>
            </a:r>
          </a:p>
        </p:txBody>
      </p:sp>
      <p:sp>
        <p:nvSpPr>
          <p:cNvPr id="79" name="TextBox 79"/>
          <p:cNvSpPr txBox="1"/>
          <p:nvPr/>
        </p:nvSpPr>
        <p:spPr>
          <a:xfrm>
            <a:off x="930705" y="6581163"/>
            <a:ext cx="16427705" cy="1190310"/>
          </a:xfrm>
          <a:prstGeom prst="rect">
            <a:avLst/>
          </a:prstGeom>
        </p:spPr>
        <p:txBody>
          <a:bodyPr lIns="0" tIns="0" rIns="0" bIns="0" rtlCol="0" anchor="t">
            <a:spAutoFit/>
          </a:bodyPr>
          <a:lstStyle/>
          <a:p>
            <a:pPr algn="ctr">
              <a:lnSpc>
                <a:spcPts val="3209"/>
              </a:lnSpc>
            </a:pPr>
            <a:r>
              <a:rPr lang="en-US" sz="2292" b="1">
                <a:solidFill>
                  <a:srgbClr val="000000"/>
                </a:solidFill>
                <a:latin typeface="Canva Sans Bold"/>
                <a:ea typeface="Canva Sans Bold"/>
                <a:cs typeface="Canva Sans Bold"/>
                <a:sym typeface="Canva Sans Bold"/>
              </a:rPr>
              <a:t>model Correlated Topic Model (CTM) menghasilkan kualitas topik yang cukup baik dan dapat diinterpretasikan, Nilai NPMI mendekati nol menunjukkan adanya hubungan semantik antar kata dalam topik meskipun belum terlalu kuat,nilai UMass dan UCl  mengindikasikan bahwa koherensi topik masih berada pada tingkat sedang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033559" flipV="1">
            <a:off x="-6899734" y="5748474"/>
            <a:ext cx="6313412" cy="11932565"/>
          </a:xfrm>
          <a:custGeom>
            <a:avLst/>
            <a:gdLst/>
            <a:ahLst/>
            <a:cxnLst/>
            <a:rect l="l" t="t" r="r" b="b"/>
            <a:pathLst>
              <a:path w="6313412" h="11932565">
                <a:moveTo>
                  <a:pt x="0" y="11932564"/>
                </a:moveTo>
                <a:lnTo>
                  <a:pt x="6313412" y="11932564"/>
                </a:lnTo>
                <a:lnTo>
                  <a:pt x="6313412" y="0"/>
                </a:lnTo>
                <a:lnTo>
                  <a:pt x="0" y="0"/>
                </a:lnTo>
                <a:lnTo>
                  <a:pt x="0" y="11932564"/>
                </a:lnTo>
                <a:close/>
              </a:path>
            </a:pathLst>
          </a:custGeom>
          <a:blipFill>
            <a:blip r:embed="rId3">
              <a:alphaModFix amt="7999"/>
              <a:extLst>
                <a:ext uri="{96DAC541-7B7A-43D3-8B79-37D633B846F1}">
                  <asvg:svgBlip xmlns:asvg="http://schemas.microsoft.com/office/drawing/2016/SVG/main" r:embed="rId4"/>
                </a:ext>
              </a:extLst>
            </a:blip>
            <a:stretch>
              <a:fillRect/>
            </a:stretch>
          </a:blipFill>
        </p:spPr>
      </p:sp>
      <p:grpSp>
        <p:nvGrpSpPr>
          <p:cNvPr id="3" name="Group 3"/>
          <p:cNvGrpSpPr/>
          <p:nvPr/>
        </p:nvGrpSpPr>
        <p:grpSpPr>
          <a:xfrm>
            <a:off x="0" y="9708804"/>
            <a:ext cx="9144000" cy="560871"/>
            <a:chOff x="0" y="0"/>
            <a:chExt cx="2408296" cy="147719"/>
          </a:xfrm>
        </p:grpSpPr>
        <p:sp>
          <p:nvSpPr>
            <p:cNvPr id="4" name="Freeform 4"/>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1800AD"/>
            </a:solidFill>
          </p:spPr>
        </p:sp>
        <p:sp>
          <p:nvSpPr>
            <p:cNvPr id="5" name="TextBox 5"/>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028700" y="2479309"/>
            <a:ext cx="8115300" cy="137058"/>
            <a:chOff x="0" y="0"/>
            <a:chExt cx="2137363" cy="36097"/>
          </a:xfrm>
        </p:grpSpPr>
        <p:sp>
          <p:nvSpPr>
            <p:cNvPr id="7" name="Freeform 7"/>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FFDE59"/>
            </a:solidFill>
          </p:spPr>
        </p:sp>
        <p:sp>
          <p:nvSpPr>
            <p:cNvPr id="8" name="TextBox 8"/>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9144000" y="2479309"/>
            <a:ext cx="8115300" cy="137058"/>
            <a:chOff x="0" y="0"/>
            <a:chExt cx="2137363" cy="36097"/>
          </a:xfrm>
        </p:grpSpPr>
        <p:sp>
          <p:nvSpPr>
            <p:cNvPr id="10" name="Freeform 10"/>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1800AD"/>
            </a:solidFill>
          </p:spPr>
        </p:sp>
        <p:sp>
          <p:nvSpPr>
            <p:cNvPr id="11" name="TextBox 11"/>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sp>
        <p:nvSpPr>
          <p:cNvPr id="12" name="Freeform 12"/>
          <p:cNvSpPr/>
          <p:nvPr/>
        </p:nvSpPr>
        <p:spPr>
          <a:xfrm>
            <a:off x="15487240" y="516545"/>
            <a:ext cx="1664226" cy="1616285"/>
          </a:xfrm>
          <a:custGeom>
            <a:avLst/>
            <a:gdLst/>
            <a:ahLst/>
            <a:cxnLst/>
            <a:rect l="l" t="t" r="r" b="b"/>
            <a:pathLst>
              <a:path w="1664226" h="1616285">
                <a:moveTo>
                  <a:pt x="0" y="0"/>
                </a:moveTo>
                <a:lnTo>
                  <a:pt x="1664226" y="0"/>
                </a:lnTo>
                <a:lnTo>
                  <a:pt x="1664226" y="1616285"/>
                </a:lnTo>
                <a:lnTo>
                  <a:pt x="0" y="1616285"/>
                </a:lnTo>
                <a:lnTo>
                  <a:pt x="0" y="0"/>
                </a:lnTo>
                <a:close/>
              </a:path>
            </a:pathLst>
          </a:custGeom>
          <a:blipFill>
            <a:blip r:embed="rId5"/>
            <a:stretch>
              <a:fillRect/>
            </a:stretch>
          </a:blipFill>
        </p:spPr>
      </p:sp>
      <p:grpSp>
        <p:nvGrpSpPr>
          <p:cNvPr id="13" name="Group 13"/>
          <p:cNvGrpSpPr/>
          <p:nvPr/>
        </p:nvGrpSpPr>
        <p:grpSpPr>
          <a:xfrm>
            <a:off x="9144000" y="9708804"/>
            <a:ext cx="9144000" cy="560871"/>
            <a:chOff x="0" y="0"/>
            <a:chExt cx="2408296" cy="147719"/>
          </a:xfrm>
        </p:grpSpPr>
        <p:sp>
          <p:nvSpPr>
            <p:cNvPr id="14" name="Freeform 14"/>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FFDE59"/>
            </a:solidFill>
          </p:spPr>
        </p:sp>
        <p:sp>
          <p:nvSpPr>
            <p:cNvPr id="15" name="TextBox 15"/>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sp>
        <p:nvSpPr>
          <p:cNvPr id="16" name="Freeform 16"/>
          <p:cNvSpPr/>
          <p:nvPr/>
        </p:nvSpPr>
        <p:spPr>
          <a:xfrm>
            <a:off x="884998" y="3004234"/>
            <a:ext cx="8259002" cy="5906689"/>
          </a:xfrm>
          <a:custGeom>
            <a:avLst/>
            <a:gdLst/>
            <a:ahLst/>
            <a:cxnLst/>
            <a:rect l="l" t="t" r="r" b="b"/>
            <a:pathLst>
              <a:path w="8259002" h="5906689">
                <a:moveTo>
                  <a:pt x="0" y="0"/>
                </a:moveTo>
                <a:lnTo>
                  <a:pt x="8259002" y="0"/>
                </a:lnTo>
                <a:lnTo>
                  <a:pt x="8259002" y="5906689"/>
                </a:lnTo>
                <a:lnTo>
                  <a:pt x="0" y="5906689"/>
                </a:lnTo>
                <a:lnTo>
                  <a:pt x="0" y="0"/>
                </a:lnTo>
                <a:close/>
              </a:path>
            </a:pathLst>
          </a:custGeom>
          <a:blipFill>
            <a:blip r:embed="rId6"/>
            <a:stretch>
              <a:fillRect/>
            </a:stretch>
          </a:blipFill>
        </p:spPr>
      </p:sp>
      <p:sp>
        <p:nvSpPr>
          <p:cNvPr id="17" name="TextBox 17"/>
          <p:cNvSpPr txBox="1"/>
          <p:nvPr/>
        </p:nvSpPr>
        <p:spPr>
          <a:xfrm>
            <a:off x="1028700" y="1210387"/>
            <a:ext cx="11543683" cy="995966"/>
          </a:xfrm>
          <a:prstGeom prst="rect">
            <a:avLst/>
          </a:prstGeom>
        </p:spPr>
        <p:txBody>
          <a:bodyPr lIns="0" tIns="0" rIns="0" bIns="0" rtlCol="0" anchor="t">
            <a:spAutoFit/>
          </a:bodyPr>
          <a:lstStyle/>
          <a:p>
            <a:pPr algn="l">
              <a:lnSpc>
                <a:spcPts val="8160"/>
              </a:lnSpc>
              <a:spcBef>
                <a:spcPct val="0"/>
              </a:spcBef>
            </a:pPr>
            <a:r>
              <a:rPr lang="en-US" sz="5828" b="1">
                <a:solidFill>
                  <a:srgbClr val="1800AD"/>
                </a:solidFill>
                <a:latin typeface="Archivo Narrow Bold"/>
                <a:ea typeface="Archivo Narrow Bold"/>
                <a:cs typeface="Archivo Narrow Bold"/>
                <a:sym typeface="Archivo Narrow Bold"/>
              </a:rPr>
              <a:t>Distribusi Topik Pada 20 Surat Pertama</a:t>
            </a:r>
          </a:p>
        </p:txBody>
      </p:sp>
      <p:sp>
        <p:nvSpPr>
          <p:cNvPr id="18" name="TextBox 18"/>
          <p:cNvSpPr txBox="1"/>
          <p:nvPr/>
        </p:nvSpPr>
        <p:spPr>
          <a:xfrm>
            <a:off x="1028700" y="215814"/>
            <a:ext cx="10960228" cy="812886"/>
          </a:xfrm>
          <a:prstGeom prst="rect">
            <a:avLst/>
          </a:prstGeom>
        </p:spPr>
        <p:txBody>
          <a:bodyPr lIns="0" tIns="0" rIns="0" bIns="0" rtlCol="0" anchor="t">
            <a:spAutoFit/>
          </a:bodyPr>
          <a:lstStyle/>
          <a:p>
            <a:pPr algn="l">
              <a:lnSpc>
                <a:spcPts val="6645"/>
              </a:lnSpc>
              <a:spcBef>
                <a:spcPct val="0"/>
              </a:spcBef>
            </a:pPr>
            <a:r>
              <a:rPr lang="en-US" sz="4746" b="1">
                <a:solidFill>
                  <a:srgbClr val="FF751F"/>
                </a:solidFill>
                <a:latin typeface="Montserrat Bold"/>
                <a:ea typeface="Montserrat Bold"/>
                <a:cs typeface="Montserrat Bold"/>
                <a:sym typeface="Montserrat Bold"/>
              </a:rPr>
              <a:t>12 | Correlated Topic Model</a:t>
            </a:r>
          </a:p>
        </p:txBody>
      </p:sp>
      <p:sp>
        <p:nvSpPr>
          <p:cNvPr id="19" name="TextBox 19"/>
          <p:cNvSpPr txBox="1"/>
          <p:nvPr/>
        </p:nvSpPr>
        <p:spPr>
          <a:xfrm>
            <a:off x="9299426" y="3326131"/>
            <a:ext cx="7852040" cy="4563110"/>
          </a:xfrm>
          <a:prstGeom prst="rect">
            <a:avLst/>
          </a:prstGeom>
        </p:spPr>
        <p:txBody>
          <a:bodyPr lIns="0" tIns="0" rIns="0" bIns="0" rtlCol="0" anchor="t">
            <a:spAutoFit/>
          </a:bodyPr>
          <a:lstStyle/>
          <a:p>
            <a:pPr algn="just">
              <a:lnSpc>
                <a:spcPts val="3639"/>
              </a:lnSpc>
            </a:pPr>
            <a:r>
              <a:rPr lang="en-US" sz="2599" b="1">
                <a:solidFill>
                  <a:srgbClr val="000000"/>
                </a:solidFill>
                <a:latin typeface="Canva Sans Bold"/>
                <a:ea typeface="Canva Sans Bold"/>
                <a:cs typeface="Canva Sans Bold"/>
                <a:sym typeface="Canva Sans Bold"/>
              </a:rPr>
              <a:t>Secara umum, distribusi topik terlihat tidak merata, yang mengindikasikan bahwa setiap surat memiliki kecenderungan kuat terhadap topik tertentu. </a:t>
            </a:r>
          </a:p>
          <a:p>
            <a:pPr algn="just">
              <a:lnSpc>
                <a:spcPts val="3639"/>
              </a:lnSpc>
            </a:pPr>
            <a:endParaRPr lang="en-US" sz="2599" b="1">
              <a:solidFill>
                <a:srgbClr val="000000"/>
              </a:solidFill>
              <a:latin typeface="Canva Sans Bold"/>
              <a:ea typeface="Canva Sans Bold"/>
              <a:cs typeface="Canva Sans Bold"/>
              <a:sym typeface="Canva Sans Bold"/>
            </a:endParaRPr>
          </a:p>
          <a:p>
            <a:pPr algn="just">
              <a:lnSpc>
                <a:spcPts val="3639"/>
              </a:lnSpc>
            </a:pPr>
            <a:r>
              <a:rPr lang="en-US" sz="2599" b="1">
                <a:solidFill>
                  <a:srgbClr val="000000"/>
                </a:solidFill>
                <a:latin typeface="Canva Sans Bold"/>
                <a:ea typeface="Canva Sans Bold"/>
                <a:cs typeface="Canva Sans Bold"/>
                <a:sym typeface="Canva Sans Bold"/>
              </a:rPr>
              <a:t>Beberapa topik seperti Topik 12 dan 13 tampak memiliki nilai yang relatif tinggi dan konsisten di banyak surat (misalnya mencapai kisaran 0.15–0.26), sehingga dapat diasumsikan sebagai topik dominan global dalam korpus 20 surat pertama</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033559" flipV="1">
            <a:off x="-6899734" y="5748474"/>
            <a:ext cx="6313412" cy="11932565"/>
          </a:xfrm>
          <a:custGeom>
            <a:avLst/>
            <a:gdLst/>
            <a:ahLst/>
            <a:cxnLst/>
            <a:rect l="l" t="t" r="r" b="b"/>
            <a:pathLst>
              <a:path w="6313412" h="11932565">
                <a:moveTo>
                  <a:pt x="0" y="11932564"/>
                </a:moveTo>
                <a:lnTo>
                  <a:pt x="6313412" y="11932564"/>
                </a:lnTo>
                <a:lnTo>
                  <a:pt x="6313412" y="0"/>
                </a:lnTo>
                <a:lnTo>
                  <a:pt x="0" y="0"/>
                </a:lnTo>
                <a:lnTo>
                  <a:pt x="0" y="11932564"/>
                </a:lnTo>
                <a:close/>
              </a:path>
            </a:pathLst>
          </a:custGeom>
          <a:blipFill>
            <a:blip r:embed="rId4">
              <a:alphaModFix amt="7999"/>
              <a:extLst>
                <a:ext uri="{96DAC541-7B7A-43D3-8B79-37D633B846F1}">
                  <asvg:svgBlip xmlns:asvg="http://schemas.microsoft.com/office/drawing/2016/SVG/main" r:embed="rId5"/>
                </a:ext>
              </a:extLst>
            </a:blip>
            <a:stretch>
              <a:fillRect/>
            </a:stretch>
          </a:blipFill>
        </p:spPr>
      </p:sp>
      <p:grpSp>
        <p:nvGrpSpPr>
          <p:cNvPr id="3" name="Group 3"/>
          <p:cNvGrpSpPr/>
          <p:nvPr/>
        </p:nvGrpSpPr>
        <p:grpSpPr>
          <a:xfrm>
            <a:off x="0" y="9708804"/>
            <a:ext cx="9144000" cy="560871"/>
            <a:chOff x="0" y="0"/>
            <a:chExt cx="2408296" cy="147719"/>
          </a:xfrm>
        </p:grpSpPr>
        <p:sp>
          <p:nvSpPr>
            <p:cNvPr id="4" name="Freeform 4"/>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1800AD"/>
            </a:solidFill>
          </p:spPr>
        </p:sp>
        <p:sp>
          <p:nvSpPr>
            <p:cNvPr id="5" name="TextBox 5"/>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028700" y="2479309"/>
            <a:ext cx="8115300" cy="137058"/>
            <a:chOff x="0" y="0"/>
            <a:chExt cx="2137363" cy="36097"/>
          </a:xfrm>
        </p:grpSpPr>
        <p:sp>
          <p:nvSpPr>
            <p:cNvPr id="7" name="Freeform 7"/>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FFDE59"/>
            </a:solidFill>
          </p:spPr>
        </p:sp>
        <p:sp>
          <p:nvSpPr>
            <p:cNvPr id="8" name="TextBox 8"/>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9144000" y="2479309"/>
            <a:ext cx="8115300" cy="137058"/>
            <a:chOff x="0" y="0"/>
            <a:chExt cx="2137363" cy="36097"/>
          </a:xfrm>
        </p:grpSpPr>
        <p:sp>
          <p:nvSpPr>
            <p:cNvPr id="10" name="Freeform 10"/>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1800AD"/>
            </a:solidFill>
          </p:spPr>
        </p:sp>
        <p:sp>
          <p:nvSpPr>
            <p:cNvPr id="11" name="TextBox 11"/>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sp>
        <p:nvSpPr>
          <p:cNvPr id="12" name="Freeform 12"/>
          <p:cNvSpPr/>
          <p:nvPr/>
        </p:nvSpPr>
        <p:spPr>
          <a:xfrm>
            <a:off x="15487240" y="516545"/>
            <a:ext cx="1664226" cy="1616285"/>
          </a:xfrm>
          <a:custGeom>
            <a:avLst/>
            <a:gdLst/>
            <a:ahLst/>
            <a:cxnLst/>
            <a:rect l="l" t="t" r="r" b="b"/>
            <a:pathLst>
              <a:path w="1664226" h="1616285">
                <a:moveTo>
                  <a:pt x="0" y="0"/>
                </a:moveTo>
                <a:lnTo>
                  <a:pt x="1664226" y="0"/>
                </a:lnTo>
                <a:lnTo>
                  <a:pt x="1664226" y="1616285"/>
                </a:lnTo>
                <a:lnTo>
                  <a:pt x="0" y="1616285"/>
                </a:lnTo>
                <a:lnTo>
                  <a:pt x="0" y="0"/>
                </a:lnTo>
                <a:close/>
              </a:path>
            </a:pathLst>
          </a:custGeom>
          <a:blipFill>
            <a:blip r:embed="rId6"/>
            <a:stretch>
              <a:fillRect/>
            </a:stretch>
          </a:blipFill>
        </p:spPr>
      </p:sp>
      <p:grpSp>
        <p:nvGrpSpPr>
          <p:cNvPr id="13" name="Group 13"/>
          <p:cNvGrpSpPr/>
          <p:nvPr/>
        </p:nvGrpSpPr>
        <p:grpSpPr>
          <a:xfrm>
            <a:off x="9144000" y="9708804"/>
            <a:ext cx="9144000" cy="560871"/>
            <a:chOff x="0" y="0"/>
            <a:chExt cx="2408296" cy="147719"/>
          </a:xfrm>
        </p:grpSpPr>
        <p:sp>
          <p:nvSpPr>
            <p:cNvPr id="14" name="Freeform 14"/>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FFDE59"/>
            </a:solidFill>
          </p:spPr>
        </p:sp>
        <p:sp>
          <p:nvSpPr>
            <p:cNvPr id="15" name="TextBox 15"/>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graphicFrame>
        <p:nvGraphicFramePr>
          <p:cNvPr id="16" name="Object 16"/>
          <p:cNvGraphicFramePr/>
          <p:nvPr/>
        </p:nvGraphicFramePr>
        <p:xfrm>
          <a:off x="5715617" y="3097965"/>
          <a:ext cx="16230600" cy="4360949"/>
        </p:xfrm>
        <a:graphic>
          <a:graphicData uri="http://schemas.openxmlformats.org/presentationml/2006/ole">
            <mc:AlternateContent xmlns:mc="http://schemas.openxmlformats.org/markup-compatibility/2006">
              <mc:Choice xmlns:v="urn:schemas-microsoft-com:vml" Requires="v">
                <p:oleObj spid="_x0000_s4106" name="Worksheet" r:id="rId7" imgW="19469100" imgH="7607300" progId="Excel.Sheet.12">
                  <p:embed/>
                </p:oleObj>
              </mc:Choice>
              <mc:Fallback>
                <p:oleObj name="Worksheet" r:id="rId7" imgW="19469100" imgH="7607300" progId="Excel.Sheet.12">
                  <p:embed/>
                  <p:pic>
                    <p:nvPicPr>
                      <p:cNvPr id="0" name=""/>
                      <p:cNvPicPr/>
                      <p:nvPr/>
                    </p:nvPicPr>
                    <p:blipFill>
                      <a:blip r:embed="rId8"/>
                      <a:stretch>
                        <a:fillRect/>
                      </a:stretch>
                    </p:blipFill>
                    <p:spPr>
                      <a:xfrm>
                        <a:off x="5715617" y="3097965"/>
                        <a:ext cx="16230600" cy="4360949"/>
                      </a:xfrm>
                      <a:prstGeom prst="rect">
                        <a:avLst/>
                      </a:prstGeom>
                    </p:spPr>
                  </p:pic>
                </p:oleObj>
              </mc:Fallback>
            </mc:AlternateContent>
          </a:graphicData>
        </a:graphic>
      </p:graphicFrame>
      <p:sp>
        <p:nvSpPr>
          <p:cNvPr id="17" name="TextBox 17"/>
          <p:cNvSpPr txBox="1"/>
          <p:nvPr/>
        </p:nvSpPr>
        <p:spPr>
          <a:xfrm>
            <a:off x="1028700" y="1210387"/>
            <a:ext cx="11543683" cy="995966"/>
          </a:xfrm>
          <a:prstGeom prst="rect">
            <a:avLst/>
          </a:prstGeom>
        </p:spPr>
        <p:txBody>
          <a:bodyPr lIns="0" tIns="0" rIns="0" bIns="0" rtlCol="0" anchor="t">
            <a:spAutoFit/>
          </a:bodyPr>
          <a:lstStyle/>
          <a:p>
            <a:pPr algn="l">
              <a:lnSpc>
                <a:spcPts val="8160"/>
              </a:lnSpc>
              <a:spcBef>
                <a:spcPct val="0"/>
              </a:spcBef>
            </a:pPr>
            <a:r>
              <a:rPr lang="en-US" sz="5828" b="1">
                <a:solidFill>
                  <a:srgbClr val="1800AD"/>
                </a:solidFill>
                <a:latin typeface="Archivo Narrow Bold"/>
                <a:ea typeface="Archivo Narrow Bold"/>
                <a:cs typeface="Archivo Narrow Bold"/>
                <a:sym typeface="Archivo Narrow Bold"/>
              </a:rPr>
              <a:t>Uji Parameter Jumlah</a:t>
            </a:r>
          </a:p>
        </p:txBody>
      </p:sp>
      <p:sp>
        <p:nvSpPr>
          <p:cNvPr id="18" name="TextBox 18"/>
          <p:cNvSpPr txBox="1"/>
          <p:nvPr/>
        </p:nvSpPr>
        <p:spPr>
          <a:xfrm>
            <a:off x="1028700" y="215814"/>
            <a:ext cx="10960228" cy="812886"/>
          </a:xfrm>
          <a:prstGeom prst="rect">
            <a:avLst/>
          </a:prstGeom>
        </p:spPr>
        <p:txBody>
          <a:bodyPr lIns="0" tIns="0" rIns="0" bIns="0" rtlCol="0" anchor="t">
            <a:spAutoFit/>
          </a:bodyPr>
          <a:lstStyle/>
          <a:p>
            <a:pPr algn="l">
              <a:lnSpc>
                <a:spcPts val="6645"/>
              </a:lnSpc>
              <a:spcBef>
                <a:spcPct val="0"/>
              </a:spcBef>
            </a:pPr>
            <a:r>
              <a:rPr lang="en-US" sz="4746" b="1">
                <a:solidFill>
                  <a:srgbClr val="FF751F"/>
                </a:solidFill>
                <a:latin typeface="Montserrat Bold"/>
                <a:ea typeface="Montserrat Bold"/>
                <a:cs typeface="Montserrat Bold"/>
                <a:sym typeface="Montserrat Bold"/>
              </a:rPr>
              <a:t>13 | BERTopic Model</a:t>
            </a:r>
          </a:p>
        </p:txBody>
      </p:sp>
      <p:grpSp>
        <p:nvGrpSpPr>
          <p:cNvPr id="19" name="Group 19"/>
          <p:cNvGrpSpPr/>
          <p:nvPr/>
        </p:nvGrpSpPr>
        <p:grpSpPr>
          <a:xfrm>
            <a:off x="794026" y="3067588"/>
            <a:ext cx="4744620" cy="1828038"/>
            <a:chOff x="0" y="0"/>
            <a:chExt cx="3213566" cy="1238144"/>
          </a:xfrm>
        </p:grpSpPr>
        <p:sp>
          <p:nvSpPr>
            <p:cNvPr id="20" name="Freeform 20"/>
            <p:cNvSpPr/>
            <p:nvPr/>
          </p:nvSpPr>
          <p:spPr>
            <a:xfrm>
              <a:off x="0" y="0"/>
              <a:ext cx="3213566" cy="1238144"/>
            </a:xfrm>
            <a:custGeom>
              <a:avLst/>
              <a:gdLst/>
              <a:ahLst/>
              <a:cxnLst/>
              <a:rect l="l" t="t" r="r" b="b"/>
              <a:pathLst>
                <a:path w="3213566" h="1238144">
                  <a:moveTo>
                    <a:pt x="42425" y="0"/>
                  </a:moveTo>
                  <a:lnTo>
                    <a:pt x="3171142" y="0"/>
                  </a:lnTo>
                  <a:cubicBezTo>
                    <a:pt x="3182393" y="0"/>
                    <a:pt x="3193184" y="4470"/>
                    <a:pt x="3201140" y="12426"/>
                  </a:cubicBezTo>
                  <a:cubicBezTo>
                    <a:pt x="3209097" y="20382"/>
                    <a:pt x="3213566" y="31173"/>
                    <a:pt x="3213566" y="42425"/>
                  </a:cubicBezTo>
                  <a:lnTo>
                    <a:pt x="3213566" y="1195719"/>
                  </a:lnTo>
                  <a:cubicBezTo>
                    <a:pt x="3213566" y="1206971"/>
                    <a:pt x="3209097" y="1217762"/>
                    <a:pt x="3201140" y="1225718"/>
                  </a:cubicBezTo>
                  <a:cubicBezTo>
                    <a:pt x="3193184" y="1233674"/>
                    <a:pt x="3182393" y="1238144"/>
                    <a:pt x="3171142" y="1238144"/>
                  </a:cubicBezTo>
                  <a:lnTo>
                    <a:pt x="42425" y="1238144"/>
                  </a:lnTo>
                  <a:cubicBezTo>
                    <a:pt x="31173" y="1238144"/>
                    <a:pt x="20382" y="1233674"/>
                    <a:pt x="12426" y="1225718"/>
                  </a:cubicBezTo>
                  <a:cubicBezTo>
                    <a:pt x="4470" y="1217762"/>
                    <a:pt x="0" y="1206971"/>
                    <a:pt x="0" y="1195719"/>
                  </a:cubicBezTo>
                  <a:lnTo>
                    <a:pt x="0" y="42425"/>
                  </a:lnTo>
                  <a:cubicBezTo>
                    <a:pt x="0" y="31173"/>
                    <a:pt x="4470" y="20382"/>
                    <a:pt x="12426" y="12426"/>
                  </a:cubicBezTo>
                  <a:cubicBezTo>
                    <a:pt x="20382" y="4470"/>
                    <a:pt x="31173" y="0"/>
                    <a:pt x="42425" y="0"/>
                  </a:cubicBezTo>
                  <a:close/>
                </a:path>
              </a:pathLst>
            </a:custGeom>
            <a:solidFill>
              <a:srgbClr val="FFFFFF"/>
            </a:solidFill>
            <a:ln w="38100" cap="rnd">
              <a:solidFill>
                <a:srgbClr val="1800AD"/>
              </a:solidFill>
              <a:prstDash val="solid"/>
              <a:round/>
            </a:ln>
          </p:spPr>
        </p:sp>
        <p:sp>
          <p:nvSpPr>
            <p:cNvPr id="21" name="TextBox 21"/>
            <p:cNvSpPr txBox="1"/>
            <p:nvPr/>
          </p:nvSpPr>
          <p:spPr>
            <a:xfrm>
              <a:off x="0" y="-47625"/>
              <a:ext cx="3213566" cy="1285769"/>
            </a:xfrm>
            <a:prstGeom prst="rect">
              <a:avLst/>
            </a:prstGeom>
          </p:spPr>
          <p:txBody>
            <a:bodyPr lIns="19754" tIns="19754" rIns="19754" bIns="19754" rtlCol="0" anchor="ctr"/>
            <a:lstStyle/>
            <a:p>
              <a:pPr algn="ctr">
                <a:lnSpc>
                  <a:spcPts val="2659"/>
                </a:lnSpc>
              </a:pPr>
              <a:endParaRPr/>
            </a:p>
          </p:txBody>
        </p:sp>
      </p:grpSp>
      <p:sp>
        <p:nvSpPr>
          <p:cNvPr id="22" name="TextBox 22"/>
          <p:cNvSpPr txBox="1"/>
          <p:nvPr/>
        </p:nvSpPr>
        <p:spPr>
          <a:xfrm>
            <a:off x="1206889" y="3214009"/>
            <a:ext cx="4275272" cy="1296669"/>
          </a:xfrm>
          <a:prstGeom prst="rect">
            <a:avLst/>
          </a:prstGeom>
        </p:spPr>
        <p:txBody>
          <a:bodyPr lIns="0" tIns="0" rIns="0" bIns="0" rtlCol="0" anchor="t">
            <a:spAutoFit/>
          </a:bodyPr>
          <a:lstStyle/>
          <a:p>
            <a:pPr algn="ctr">
              <a:lnSpc>
                <a:spcPts val="3256"/>
              </a:lnSpc>
            </a:pPr>
            <a:r>
              <a:rPr lang="en-US" sz="2325" b="1">
                <a:solidFill>
                  <a:srgbClr val="CF4119"/>
                </a:solidFill>
                <a:latin typeface="Canva Sans Bold"/>
                <a:ea typeface="Canva Sans Bold"/>
                <a:cs typeface="Canva Sans Bold"/>
                <a:sym typeface="Canva Sans Bold"/>
              </a:rPr>
              <a:t>Topic size 25 </a:t>
            </a:r>
          </a:p>
          <a:p>
            <a:pPr algn="ctr">
              <a:lnSpc>
                <a:spcPts val="3256"/>
              </a:lnSpc>
            </a:pPr>
            <a:r>
              <a:rPr lang="en-US" sz="2325" b="1">
                <a:solidFill>
                  <a:srgbClr val="000000"/>
                </a:solidFill>
                <a:latin typeface="Canva Sans Bold"/>
                <a:ea typeface="Canva Sans Bold"/>
                <a:cs typeface="Canva Sans Bold"/>
                <a:sym typeface="Canva Sans Bold"/>
              </a:rPr>
              <a:t>(keseimbangan terbaik)</a:t>
            </a:r>
          </a:p>
          <a:p>
            <a:pPr algn="ctr">
              <a:lnSpc>
                <a:spcPts val="3953"/>
              </a:lnSpc>
            </a:pPr>
            <a:r>
              <a:rPr lang="en-US" sz="2824" b="1">
                <a:solidFill>
                  <a:srgbClr val="000000"/>
                </a:solidFill>
                <a:latin typeface="Canva Sans Bold"/>
                <a:ea typeface="Canva Sans Bold"/>
                <a:cs typeface="Canva Sans Bold"/>
                <a:sym typeface="Canva Sans Bold"/>
              </a:rPr>
              <a:t>Final Score 0.87 </a:t>
            </a:r>
          </a:p>
        </p:txBody>
      </p:sp>
      <p:grpSp>
        <p:nvGrpSpPr>
          <p:cNvPr id="23" name="Group 23"/>
          <p:cNvGrpSpPr/>
          <p:nvPr/>
        </p:nvGrpSpPr>
        <p:grpSpPr>
          <a:xfrm>
            <a:off x="737541" y="5043560"/>
            <a:ext cx="4744620" cy="1828038"/>
            <a:chOff x="0" y="0"/>
            <a:chExt cx="3213566" cy="1238144"/>
          </a:xfrm>
        </p:grpSpPr>
        <p:sp>
          <p:nvSpPr>
            <p:cNvPr id="24" name="Freeform 24"/>
            <p:cNvSpPr/>
            <p:nvPr/>
          </p:nvSpPr>
          <p:spPr>
            <a:xfrm>
              <a:off x="0" y="0"/>
              <a:ext cx="3213566" cy="1238144"/>
            </a:xfrm>
            <a:custGeom>
              <a:avLst/>
              <a:gdLst/>
              <a:ahLst/>
              <a:cxnLst/>
              <a:rect l="l" t="t" r="r" b="b"/>
              <a:pathLst>
                <a:path w="3213566" h="1238144">
                  <a:moveTo>
                    <a:pt x="42425" y="0"/>
                  </a:moveTo>
                  <a:lnTo>
                    <a:pt x="3171142" y="0"/>
                  </a:lnTo>
                  <a:cubicBezTo>
                    <a:pt x="3182393" y="0"/>
                    <a:pt x="3193184" y="4470"/>
                    <a:pt x="3201140" y="12426"/>
                  </a:cubicBezTo>
                  <a:cubicBezTo>
                    <a:pt x="3209097" y="20382"/>
                    <a:pt x="3213566" y="31173"/>
                    <a:pt x="3213566" y="42425"/>
                  </a:cubicBezTo>
                  <a:lnTo>
                    <a:pt x="3213566" y="1195719"/>
                  </a:lnTo>
                  <a:cubicBezTo>
                    <a:pt x="3213566" y="1206971"/>
                    <a:pt x="3209097" y="1217762"/>
                    <a:pt x="3201140" y="1225718"/>
                  </a:cubicBezTo>
                  <a:cubicBezTo>
                    <a:pt x="3193184" y="1233674"/>
                    <a:pt x="3182393" y="1238144"/>
                    <a:pt x="3171142" y="1238144"/>
                  </a:cubicBezTo>
                  <a:lnTo>
                    <a:pt x="42425" y="1238144"/>
                  </a:lnTo>
                  <a:cubicBezTo>
                    <a:pt x="31173" y="1238144"/>
                    <a:pt x="20382" y="1233674"/>
                    <a:pt x="12426" y="1225718"/>
                  </a:cubicBezTo>
                  <a:cubicBezTo>
                    <a:pt x="4470" y="1217762"/>
                    <a:pt x="0" y="1206971"/>
                    <a:pt x="0" y="1195719"/>
                  </a:cubicBezTo>
                  <a:lnTo>
                    <a:pt x="0" y="42425"/>
                  </a:lnTo>
                  <a:cubicBezTo>
                    <a:pt x="0" y="31173"/>
                    <a:pt x="4470" y="20382"/>
                    <a:pt x="12426" y="12426"/>
                  </a:cubicBezTo>
                  <a:cubicBezTo>
                    <a:pt x="20382" y="4470"/>
                    <a:pt x="31173" y="0"/>
                    <a:pt x="42425" y="0"/>
                  </a:cubicBezTo>
                  <a:close/>
                </a:path>
              </a:pathLst>
            </a:custGeom>
            <a:solidFill>
              <a:srgbClr val="FFFFFF"/>
            </a:solidFill>
            <a:ln w="38100" cap="rnd">
              <a:solidFill>
                <a:srgbClr val="FF751F"/>
              </a:solidFill>
              <a:prstDash val="solid"/>
              <a:round/>
            </a:ln>
          </p:spPr>
        </p:sp>
        <p:sp>
          <p:nvSpPr>
            <p:cNvPr id="25" name="TextBox 25"/>
            <p:cNvSpPr txBox="1"/>
            <p:nvPr/>
          </p:nvSpPr>
          <p:spPr>
            <a:xfrm>
              <a:off x="0" y="-47625"/>
              <a:ext cx="3213566" cy="1285769"/>
            </a:xfrm>
            <a:prstGeom prst="rect">
              <a:avLst/>
            </a:prstGeom>
          </p:spPr>
          <p:txBody>
            <a:bodyPr lIns="19754" tIns="19754" rIns="19754" bIns="19754" rtlCol="0" anchor="ctr"/>
            <a:lstStyle/>
            <a:p>
              <a:pPr algn="ctr">
                <a:lnSpc>
                  <a:spcPts val="2659"/>
                </a:lnSpc>
              </a:pPr>
              <a:endParaRPr/>
            </a:p>
          </p:txBody>
        </p:sp>
      </p:grpSp>
      <p:sp>
        <p:nvSpPr>
          <p:cNvPr id="26" name="TextBox 26"/>
          <p:cNvSpPr txBox="1"/>
          <p:nvPr/>
        </p:nvSpPr>
        <p:spPr>
          <a:xfrm>
            <a:off x="1028700" y="5095875"/>
            <a:ext cx="4275272" cy="2611119"/>
          </a:xfrm>
          <a:prstGeom prst="rect">
            <a:avLst/>
          </a:prstGeom>
        </p:spPr>
        <p:txBody>
          <a:bodyPr lIns="0" tIns="0" rIns="0" bIns="0" rtlCol="0" anchor="t">
            <a:spAutoFit/>
          </a:bodyPr>
          <a:lstStyle/>
          <a:p>
            <a:pPr algn="ctr">
              <a:lnSpc>
                <a:spcPts val="3256"/>
              </a:lnSpc>
            </a:pPr>
            <a:r>
              <a:rPr lang="en-US" sz="2325" b="1">
                <a:solidFill>
                  <a:srgbClr val="CF4119"/>
                </a:solidFill>
                <a:latin typeface="Canva Sans Bold"/>
                <a:ea typeface="Canva Sans Bold"/>
                <a:cs typeface="Canva Sans Bold"/>
                <a:sym typeface="Canva Sans Bold"/>
              </a:rPr>
              <a:t>C_v = 0.5735</a:t>
            </a:r>
          </a:p>
          <a:p>
            <a:pPr algn="ctr">
              <a:lnSpc>
                <a:spcPts val="3256"/>
              </a:lnSpc>
            </a:pPr>
            <a:r>
              <a:rPr lang="en-US" sz="2325" b="1">
                <a:solidFill>
                  <a:srgbClr val="CF4119"/>
                </a:solidFill>
                <a:latin typeface="Canva Sans Bold"/>
                <a:ea typeface="Canva Sans Bold"/>
                <a:cs typeface="Canva Sans Bold"/>
                <a:sym typeface="Canva Sans Bold"/>
              </a:rPr>
              <a:t>NPMI = 0.0530 </a:t>
            </a:r>
          </a:p>
          <a:p>
            <a:pPr algn="ctr">
              <a:lnSpc>
                <a:spcPts val="3256"/>
              </a:lnSpc>
            </a:pPr>
            <a:r>
              <a:rPr lang="en-US" sz="2325" b="1">
                <a:solidFill>
                  <a:srgbClr val="CF4119"/>
                </a:solidFill>
                <a:latin typeface="Canva Sans Bold"/>
                <a:ea typeface="Canva Sans Bold"/>
                <a:cs typeface="Canva Sans Bold"/>
                <a:sym typeface="Canva Sans Bold"/>
              </a:rPr>
              <a:t>UMass yang paling mendekati nol (-5.3257)</a:t>
            </a:r>
          </a:p>
          <a:p>
            <a:pPr algn="ctr">
              <a:lnSpc>
                <a:spcPts val="3953"/>
              </a:lnSpc>
            </a:pPr>
            <a:endParaRPr lang="en-US" sz="2325" b="1">
              <a:solidFill>
                <a:srgbClr val="CF4119"/>
              </a:solidFill>
              <a:latin typeface="Canva Sans Bold"/>
              <a:ea typeface="Canva Sans Bold"/>
              <a:cs typeface="Canva Sans Bold"/>
              <a:sym typeface="Canva Sans Bold"/>
            </a:endParaRPr>
          </a:p>
          <a:p>
            <a:pPr algn="ctr">
              <a:lnSpc>
                <a:spcPts val="3953"/>
              </a:lnSpc>
            </a:pPr>
            <a:endParaRPr lang="en-US" sz="2325" b="1">
              <a:solidFill>
                <a:srgbClr val="CF4119"/>
              </a:solidFill>
              <a:latin typeface="Canva Sans Bold"/>
              <a:ea typeface="Canva Sans Bold"/>
              <a:cs typeface="Canva Sans Bold"/>
              <a:sym typeface="Canva Sans Bo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033559" flipV="1">
            <a:off x="-6899734" y="5748474"/>
            <a:ext cx="6313412" cy="11932565"/>
          </a:xfrm>
          <a:custGeom>
            <a:avLst/>
            <a:gdLst/>
            <a:ahLst/>
            <a:cxnLst/>
            <a:rect l="l" t="t" r="r" b="b"/>
            <a:pathLst>
              <a:path w="6313412" h="11932565">
                <a:moveTo>
                  <a:pt x="0" y="11932564"/>
                </a:moveTo>
                <a:lnTo>
                  <a:pt x="6313412" y="11932564"/>
                </a:lnTo>
                <a:lnTo>
                  <a:pt x="6313412" y="0"/>
                </a:lnTo>
                <a:lnTo>
                  <a:pt x="0" y="0"/>
                </a:lnTo>
                <a:lnTo>
                  <a:pt x="0" y="11932564"/>
                </a:lnTo>
                <a:close/>
              </a:path>
            </a:pathLst>
          </a:custGeom>
          <a:blipFill>
            <a:blip r:embed="rId3">
              <a:alphaModFix amt="7999"/>
              <a:extLst>
                <a:ext uri="{96DAC541-7B7A-43D3-8B79-37D633B846F1}">
                  <asvg:svgBlip xmlns:asvg="http://schemas.microsoft.com/office/drawing/2016/SVG/main" r:embed="rId4"/>
                </a:ext>
              </a:extLst>
            </a:blip>
            <a:stretch>
              <a:fillRect/>
            </a:stretch>
          </a:blipFill>
        </p:spPr>
      </p:sp>
      <p:grpSp>
        <p:nvGrpSpPr>
          <p:cNvPr id="3" name="Group 3"/>
          <p:cNvGrpSpPr/>
          <p:nvPr/>
        </p:nvGrpSpPr>
        <p:grpSpPr>
          <a:xfrm>
            <a:off x="0" y="9708804"/>
            <a:ext cx="9144000" cy="560871"/>
            <a:chOff x="0" y="0"/>
            <a:chExt cx="2408296" cy="147719"/>
          </a:xfrm>
        </p:grpSpPr>
        <p:sp>
          <p:nvSpPr>
            <p:cNvPr id="4" name="Freeform 4"/>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1800AD"/>
            </a:solidFill>
          </p:spPr>
        </p:sp>
        <p:sp>
          <p:nvSpPr>
            <p:cNvPr id="5" name="TextBox 5"/>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028700" y="2479309"/>
            <a:ext cx="8115300" cy="137058"/>
            <a:chOff x="0" y="0"/>
            <a:chExt cx="2137363" cy="36097"/>
          </a:xfrm>
        </p:grpSpPr>
        <p:sp>
          <p:nvSpPr>
            <p:cNvPr id="7" name="Freeform 7"/>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FFDE59"/>
            </a:solidFill>
          </p:spPr>
        </p:sp>
        <p:sp>
          <p:nvSpPr>
            <p:cNvPr id="8" name="TextBox 8"/>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9144000" y="2479309"/>
            <a:ext cx="8115300" cy="137058"/>
            <a:chOff x="0" y="0"/>
            <a:chExt cx="2137363" cy="36097"/>
          </a:xfrm>
        </p:grpSpPr>
        <p:sp>
          <p:nvSpPr>
            <p:cNvPr id="10" name="Freeform 10"/>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1800AD"/>
            </a:solidFill>
          </p:spPr>
        </p:sp>
        <p:sp>
          <p:nvSpPr>
            <p:cNvPr id="11" name="TextBox 11"/>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sp>
        <p:nvSpPr>
          <p:cNvPr id="12" name="Freeform 12"/>
          <p:cNvSpPr/>
          <p:nvPr/>
        </p:nvSpPr>
        <p:spPr>
          <a:xfrm>
            <a:off x="15487240" y="516545"/>
            <a:ext cx="1664226" cy="1616285"/>
          </a:xfrm>
          <a:custGeom>
            <a:avLst/>
            <a:gdLst/>
            <a:ahLst/>
            <a:cxnLst/>
            <a:rect l="l" t="t" r="r" b="b"/>
            <a:pathLst>
              <a:path w="1664226" h="1616285">
                <a:moveTo>
                  <a:pt x="0" y="0"/>
                </a:moveTo>
                <a:lnTo>
                  <a:pt x="1664226" y="0"/>
                </a:lnTo>
                <a:lnTo>
                  <a:pt x="1664226" y="1616285"/>
                </a:lnTo>
                <a:lnTo>
                  <a:pt x="0" y="1616285"/>
                </a:lnTo>
                <a:lnTo>
                  <a:pt x="0" y="0"/>
                </a:lnTo>
                <a:close/>
              </a:path>
            </a:pathLst>
          </a:custGeom>
          <a:blipFill>
            <a:blip r:embed="rId5"/>
            <a:stretch>
              <a:fillRect/>
            </a:stretch>
          </a:blipFill>
        </p:spPr>
      </p:sp>
      <p:grpSp>
        <p:nvGrpSpPr>
          <p:cNvPr id="13" name="Group 13"/>
          <p:cNvGrpSpPr/>
          <p:nvPr/>
        </p:nvGrpSpPr>
        <p:grpSpPr>
          <a:xfrm>
            <a:off x="9144000" y="9708804"/>
            <a:ext cx="9144000" cy="560871"/>
            <a:chOff x="0" y="0"/>
            <a:chExt cx="2408296" cy="147719"/>
          </a:xfrm>
        </p:grpSpPr>
        <p:sp>
          <p:nvSpPr>
            <p:cNvPr id="14" name="Freeform 14"/>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FFDE59"/>
            </a:solidFill>
          </p:spPr>
        </p:sp>
        <p:sp>
          <p:nvSpPr>
            <p:cNvPr id="15" name="TextBox 15"/>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sp>
        <p:nvSpPr>
          <p:cNvPr id="16" name="Freeform 16"/>
          <p:cNvSpPr/>
          <p:nvPr/>
        </p:nvSpPr>
        <p:spPr>
          <a:xfrm>
            <a:off x="1442846" y="6414494"/>
            <a:ext cx="6258307" cy="2843806"/>
          </a:xfrm>
          <a:custGeom>
            <a:avLst/>
            <a:gdLst/>
            <a:ahLst/>
            <a:cxnLst/>
            <a:rect l="l" t="t" r="r" b="b"/>
            <a:pathLst>
              <a:path w="6258307" h="2843806">
                <a:moveTo>
                  <a:pt x="0" y="0"/>
                </a:moveTo>
                <a:lnTo>
                  <a:pt x="6258308" y="0"/>
                </a:lnTo>
                <a:lnTo>
                  <a:pt x="6258308" y="2843806"/>
                </a:lnTo>
                <a:lnTo>
                  <a:pt x="0" y="2843806"/>
                </a:lnTo>
                <a:lnTo>
                  <a:pt x="0" y="0"/>
                </a:lnTo>
                <a:close/>
              </a:path>
            </a:pathLst>
          </a:custGeom>
          <a:blipFill>
            <a:blip r:embed="rId6"/>
            <a:stretch>
              <a:fillRect/>
            </a:stretch>
          </a:blipFill>
        </p:spPr>
      </p:sp>
      <p:sp>
        <p:nvSpPr>
          <p:cNvPr id="17" name="Freeform 17"/>
          <p:cNvSpPr/>
          <p:nvPr/>
        </p:nvSpPr>
        <p:spPr>
          <a:xfrm>
            <a:off x="2691998" y="2954273"/>
            <a:ext cx="13295787" cy="2712302"/>
          </a:xfrm>
          <a:custGeom>
            <a:avLst/>
            <a:gdLst/>
            <a:ahLst/>
            <a:cxnLst/>
            <a:rect l="l" t="t" r="r" b="b"/>
            <a:pathLst>
              <a:path w="13295787" h="2712302">
                <a:moveTo>
                  <a:pt x="0" y="0"/>
                </a:moveTo>
                <a:lnTo>
                  <a:pt x="13295787" y="0"/>
                </a:lnTo>
                <a:lnTo>
                  <a:pt x="13295787" y="2712302"/>
                </a:lnTo>
                <a:lnTo>
                  <a:pt x="0" y="2712302"/>
                </a:lnTo>
                <a:lnTo>
                  <a:pt x="0" y="0"/>
                </a:lnTo>
                <a:close/>
              </a:path>
            </a:pathLst>
          </a:custGeom>
          <a:blipFill>
            <a:blip r:embed="rId7"/>
            <a:stretch>
              <a:fillRect t="-8824" b="-8824"/>
            </a:stretch>
          </a:blipFill>
        </p:spPr>
      </p:sp>
      <p:sp>
        <p:nvSpPr>
          <p:cNvPr id="18" name="TextBox 18"/>
          <p:cNvSpPr txBox="1"/>
          <p:nvPr/>
        </p:nvSpPr>
        <p:spPr>
          <a:xfrm>
            <a:off x="1028700" y="1210387"/>
            <a:ext cx="11543683" cy="995966"/>
          </a:xfrm>
          <a:prstGeom prst="rect">
            <a:avLst/>
          </a:prstGeom>
        </p:spPr>
        <p:txBody>
          <a:bodyPr lIns="0" tIns="0" rIns="0" bIns="0" rtlCol="0" anchor="t">
            <a:spAutoFit/>
          </a:bodyPr>
          <a:lstStyle/>
          <a:p>
            <a:pPr algn="l">
              <a:lnSpc>
                <a:spcPts val="8160"/>
              </a:lnSpc>
              <a:spcBef>
                <a:spcPct val="0"/>
              </a:spcBef>
            </a:pPr>
            <a:r>
              <a:rPr lang="en-US" sz="5828" b="1">
                <a:solidFill>
                  <a:srgbClr val="1800AD"/>
                </a:solidFill>
                <a:latin typeface="Archivo Narrow Bold"/>
                <a:ea typeface="Archivo Narrow Bold"/>
                <a:cs typeface="Archivo Narrow Bold"/>
                <a:sym typeface="Archivo Narrow Bold"/>
              </a:rPr>
              <a:t>Evaluasi Model</a:t>
            </a:r>
          </a:p>
        </p:txBody>
      </p:sp>
      <p:sp>
        <p:nvSpPr>
          <p:cNvPr id="19" name="TextBox 19"/>
          <p:cNvSpPr txBox="1"/>
          <p:nvPr/>
        </p:nvSpPr>
        <p:spPr>
          <a:xfrm>
            <a:off x="1028700" y="215814"/>
            <a:ext cx="10960228" cy="812886"/>
          </a:xfrm>
          <a:prstGeom prst="rect">
            <a:avLst/>
          </a:prstGeom>
        </p:spPr>
        <p:txBody>
          <a:bodyPr lIns="0" tIns="0" rIns="0" bIns="0" rtlCol="0" anchor="t">
            <a:spAutoFit/>
          </a:bodyPr>
          <a:lstStyle/>
          <a:p>
            <a:pPr algn="l">
              <a:lnSpc>
                <a:spcPts val="6645"/>
              </a:lnSpc>
              <a:spcBef>
                <a:spcPct val="0"/>
              </a:spcBef>
            </a:pPr>
            <a:r>
              <a:rPr lang="en-US" sz="4746" b="1">
                <a:solidFill>
                  <a:srgbClr val="FF751F"/>
                </a:solidFill>
                <a:latin typeface="Montserrat Bold"/>
                <a:ea typeface="Montserrat Bold"/>
                <a:cs typeface="Montserrat Bold"/>
                <a:sym typeface="Montserrat Bold"/>
              </a:rPr>
              <a:t>14 | BERTopic Model</a:t>
            </a:r>
          </a:p>
        </p:txBody>
      </p:sp>
      <p:sp>
        <p:nvSpPr>
          <p:cNvPr id="20" name="TextBox 20"/>
          <p:cNvSpPr txBox="1"/>
          <p:nvPr/>
        </p:nvSpPr>
        <p:spPr>
          <a:xfrm>
            <a:off x="2691998" y="6548957"/>
            <a:ext cx="3985545" cy="632877"/>
          </a:xfrm>
          <a:prstGeom prst="rect">
            <a:avLst/>
          </a:prstGeom>
        </p:spPr>
        <p:txBody>
          <a:bodyPr lIns="0" tIns="0" rIns="0" bIns="0" rtlCol="0" anchor="t">
            <a:spAutoFit/>
          </a:bodyPr>
          <a:lstStyle/>
          <a:p>
            <a:pPr algn="ctr">
              <a:lnSpc>
                <a:spcPts val="2792"/>
              </a:lnSpc>
            </a:pPr>
            <a:r>
              <a:rPr lang="en-US" sz="1994" b="1">
                <a:solidFill>
                  <a:srgbClr val="FEFCFB"/>
                </a:solidFill>
                <a:latin typeface="Canva Sans Bold"/>
                <a:ea typeface="Canva Sans Bold"/>
                <a:cs typeface="Canva Sans Bold"/>
                <a:sym typeface="Canva Sans Bold"/>
              </a:rPr>
              <a:t>Parameter Optimal BERTopic</a:t>
            </a:r>
          </a:p>
          <a:p>
            <a:pPr algn="ctr">
              <a:lnSpc>
                <a:spcPts val="2327"/>
              </a:lnSpc>
            </a:pPr>
            <a:endParaRPr lang="en-US" sz="1994" b="1">
              <a:solidFill>
                <a:srgbClr val="FEFCFB"/>
              </a:solidFill>
              <a:latin typeface="Canva Sans Bold"/>
              <a:ea typeface="Canva Sans Bold"/>
              <a:cs typeface="Canva Sans Bold"/>
              <a:sym typeface="Canva Sans Bold"/>
            </a:endParaRPr>
          </a:p>
        </p:txBody>
      </p:sp>
      <p:sp>
        <p:nvSpPr>
          <p:cNvPr id="21" name="TextBox 21"/>
          <p:cNvSpPr txBox="1"/>
          <p:nvPr/>
        </p:nvSpPr>
        <p:spPr>
          <a:xfrm>
            <a:off x="1659117" y="7143734"/>
            <a:ext cx="2394352" cy="335752"/>
          </a:xfrm>
          <a:prstGeom prst="rect">
            <a:avLst/>
          </a:prstGeom>
        </p:spPr>
        <p:txBody>
          <a:bodyPr lIns="0" tIns="0" rIns="0" bIns="0" rtlCol="0" anchor="t">
            <a:spAutoFit/>
          </a:bodyPr>
          <a:lstStyle/>
          <a:p>
            <a:pPr algn="ctr">
              <a:lnSpc>
                <a:spcPts val="2792"/>
              </a:lnSpc>
            </a:pPr>
            <a:r>
              <a:rPr lang="en-US" sz="1994" b="1">
                <a:solidFill>
                  <a:srgbClr val="FEFCFB"/>
                </a:solidFill>
                <a:latin typeface="Canva Sans Bold"/>
                <a:ea typeface="Canva Sans Bold"/>
                <a:cs typeface="Canva Sans Bold"/>
                <a:sym typeface="Canva Sans Bold"/>
              </a:rPr>
              <a:t>Min Topic Size </a:t>
            </a:r>
          </a:p>
        </p:txBody>
      </p:sp>
      <p:sp>
        <p:nvSpPr>
          <p:cNvPr id="22" name="TextBox 22"/>
          <p:cNvSpPr txBox="1"/>
          <p:nvPr/>
        </p:nvSpPr>
        <p:spPr>
          <a:xfrm>
            <a:off x="4684770" y="7076275"/>
            <a:ext cx="2394352" cy="335752"/>
          </a:xfrm>
          <a:prstGeom prst="rect">
            <a:avLst/>
          </a:prstGeom>
        </p:spPr>
        <p:txBody>
          <a:bodyPr lIns="0" tIns="0" rIns="0" bIns="0" rtlCol="0" anchor="t">
            <a:spAutoFit/>
          </a:bodyPr>
          <a:lstStyle/>
          <a:p>
            <a:pPr algn="ctr">
              <a:lnSpc>
                <a:spcPts val="2792"/>
              </a:lnSpc>
            </a:pPr>
            <a:r>
              <a:rPr lang="en-US" sz="1994" b="1">
                <a:solidFill>
                  <a:srgbClr val="FEFCFB"/>
                </a:solidFill>
                <a:latin typeface="Canva Sans Bold"/>
                <a:ea typeface="Canva Sans Bold"/>
                <a:cs typeface="Canva Sans Bold"/>
                <a:sym typeface="Canva Sans Bold"/>
              </a:rPr>
              <a:t>25</a:t>
            </a:r>
          </a:p>
        </p:txBody>
      </p:sp>
      <p:sp>
        <p:nvSpPr>
          <p:cNvPr id="23" name="TextBox 23"/>
          <p:cNvSpPr txBox="1"/>
          <p:nvPr/>
        </p:nvSpPr>
        <p:spPr>
          <a:xfrm>
            <a:off x="1819391" y="7649471"/>
            <a:ext cx="2394352" cy="335752"/>
          </a:xfrm>
          <a:prstGeom prst="rect">
            <a:avLst/>
          </a:prstGeom>
        </p:spPr>
        <p:txBody>
          <a:bodyPr lIns="0" tIns="0" rIns="0" bIns="0" rtlCol="0" anchor="t">
            <a:spAutoFit/>
          </a:bodyPr>
          <a:lstStyle/>
          <a:p>
            <a:pPr algn="ctr">
              <a:lnSpc>
                <a:spcPts val="2792"/>
              </a:lnSpc>
            </a:pPr>
            <a:r>
              <a:rPr lang="en-US" sz="1994" b="1">
                <a:solidFill>
                  <a:srgbClr val="FEFCFB"/>
                </a:solidFill>
                <a:latin typeface="Canva Sans Bold"/>
                <a:ea typeface="Canva Sans Bold"/>
                <a:cs typeface="Canva Sans Bold"/>
                <a:sym typeface="Canva Sans Bold"/>
              </a:rPr>
              <a:t>Sentence Model</a:t>
            </a:r>
          </a:p>
        </p:txBody>
      </p:sp>
      <p:sp>
        <p:nvSpPr>
          <p:cNvPr id="24" name="TextBox 24"/>
          <p:cNvSpPr txBox="1"/>
          <p:nvPr/>
        </p:nvSpPr>
        <p:spPr>
          <a:xfrm>
            <a:off x="4803309" y="7623620"/>
            <a:ext cx="2519708" cy="685106"/>
          </a:xfrm>
          <a:prstGeom prst="rect">
            <a:avLst/>
          </a:prstGeom>
        </p:spPr>
        <p:txBody>
          <a:bodyPr lIns="0" tIns="0" rIns="0" bIns="0" rtlCol="0" anchor="t">
            <a:spAutoFit/>
          </a:bodyPr>
          <a:lstStyle/>
          <a:p>
            <a:pPr algn="ctr">
              <a:lnSpc>
                <a:spcPts val="1817"/>
              </a:lnSpc>
            </a:pPr>
            <a:r>
              <a:rPr lang="en-US" sz="1298" b="1">
                <a:solidFill>
                  <a:srgbClr val="FEFCFB"/>
                </a:solidFill>
                <a:latin typeface="Canva Sans Bold"/>
                <a:ea typeface="Canva Sans Bold"/>
                <a:cs typeface="Canva Sans Bold"/>
                <a:sym typeface="Canva Sans Bold"/>
              </a:rPr>
              <a:t>paraphrase-multilingual-MiniLM-L12paraphrase-multilingual-MiniLM-L12</a:t>
            </a:r>
          </a:p>
        </p:txBody>
      </p:sp>
      <p:sp>
        <p:nvSpPr>
          <p:cNvPr id="25" name="Freeform 25"/>
          <p:cNvSpPr/>
          <p:nvPr/>
        </p:nvSpPr>
        <p:spPr>
          <a:xfrm>
            <a:off x="8291704" y="6414494"/>
            <a:ext cx="2429525" cy="2843806"/>
          </a:xfrm>
          <a:custGeom>
            <a:avLst/>
            <a:gdLst/>
            <a:ahLst/>
            <a:cxnLst/>
            <a:rect l="l" t="t" r="r" b="b"/>
            <a:pathLst>
              <a:path w="2429525" h="2843806">
                <a:moveTo>
                  <a:pt x="0" y="0"/>
                </a:moveTo>
                <a:lnTo>
                  <a:pt x="2429525" y="0"/>
                </a:lnTo>
                <a:lnTo>
                  <a:pt x="2429525" y="2843806"/>
                </a:lnTo>
                <a:lnTo>
                  <a:pt x="0" y="2843806"/>
                </a:lnTo>
                <a:lnTo>
                  <a:pt x="0" y="0"/>
                </a:lnTo>
                <a:close/>
              </a:path>
            </a:pathLst>
          </a:custGeom>
          <a:blipFill>
            <a:blip r:embed="rId6"/>
            <a:stretch>
              <a:fillRect r="-157593"/>
            </a:stretch>
          </a:blipFill>
        </p:spPr>
      </p:sp>
      <p:sp>
        <p:nvSpPr>
          <p:cNvPr id="26" name="Freeform 26"/>
          <p:cNvSpPr/>
          <p:nvPr/>
        </p:nvSpPr>
        <p:spPr>
          <a:xfrm>
            <a:off x="11026306" y="6414494"/>
            <a:ext cx="2429525" cy="2843806"/>
          </a:xfrm>
          <a:custGeom>
            <a:avLst/>
            <a:gdLst/>
            <a:ahLst/>
            <a:cxnLst/>
            <a:rect l="l" t="t" r="r" b="b"/>
            <a:pathLst>
              <a:path w="2429525" h="2843806">
                <a:moveTo>
                  <a:pt x="0" y="0"/>
                </a:moveTo>
                <a:lnTo>
                  <a:pt x="2429525" y="0"/>
                </a:lnTo>
                <a:lnTo>
                  <a:pt x="2429525" y="2843806"/>
                </a:lnTo>
                <a:lnTo>
                  <a:pt x="0" y="2843806"/>
                </a:lnTo>
                <a:lnTo>
                  <a:pt x="0" y="0"/>
                </a:lnTo>
                <a:close/>
              </a:path>
            </a:pathLst>
          </a:custGeom>
          <a:blipFill>
            <a:blip r:embed="rId6"/>
            <a:stretch>
              <a:fillRect r="-157593"/>
            </a:stretch>
          </a:blipFill>
        </p:spPr>
      </p:sp>
      <p:sp>
        <p:nvSpPr>
          <p:cNvPr id="27" name="Freeform 27"/>
          <p:cNvSpPr/>
          <p:nvPr/>
        </p:nvSpPr>
        <p:spPr>
          <a:xfrm>
            <a:off x="13716000" y="6414494"/>
            <a:ext cx="2429525" cy="2843806"/>
          </a:xfrm>
          <a:custGeom>
            <a:avLst/>
            <a:gdLst/>
            <a:ahLst/>
            <a:cxnLst/>
            <a:rect l="l" t="t" r="r" b="b"/>
            <a:pathLst>
              <a:path w="2429525" h="2843806">
                <a:moveTo>
                  <a:pt x="0" y="0"/>
                </a:moveTo>
                <a:lnTo>
                  <a:pt x="2429525" y="0"/>
                </a:lnTo>
                <a:lnTo>
                  <a:pt x="2429525" y="2843806"/>
                </a:lnTo>
                <a:lnTo>
                  <a:pt x="0" y="2843806"/>
                </a:lnTo>
                <a:lnTo>
                  <a:pt x="0" y="0"/>
                </a:lnTo>
                <a:close/>
              </a:path>
            </a:pathLst>
          </a:custGeom>
          <a:blipFill>
            <a:blip r:embed="rId6"/>
            <a:stretch>
              <a:fillRect r="-157593"/>
            </a:stretch>
          </a:blipFill>
        </p:spPr>
      </p:sp>
      <p:sp>
        <p:nvSpPr>
          <p:cNvPr id="28" name="TextBox 28"/>
          <p:cNvSpPr txBox="1"/>
          <p:nvPr/>
        </p:nvSpPr>
        <p:spPr>
          <a:xfrm>
            <a:off x="8765702" y="6607703"/>
            <a:ext cx="1481529" cy="276743"/>
          </a:xfrm>
          <a:prstGeom prst="rect">
            <a:avLst/>
          </a:prstGeom>
        </p:spPr>
        <p:txBody>
          <a:bodyPr lIns="0" tIns="0" rIns="0" bIns="0" rtlCol="0" anchor="t">
            <a:spAutoFit/>
          </a:bodyPr>
          <a:lstStyle/>
          <a:p>
            <a:pPr algn="ctr">
              <a:lnSpc>
                <a:spcPts val="2299"/>
              </a:lnSpc>
            </a:pPr>
            <a:r>
              <a:rPr lang="en-US" sz="1642">
                <a:solidFill>
                  <a:srgbClr val="FFFFFF"/>
                </a:solidFill>
                <a:latin typeface="Canva Sans"/>
                <a:ea typeface="Canva Sans"/>
                <a:cs typeface="Canva Sans"/>
                <a:sym typeface="Canva Sans"/>
              </a:rPr>
              <a:t>C_v Coherence</a:t>
            </a:r>
          </a:p>
        </p:txBody>
      </p:sp>
      <p:sp>
        <p:nvSpPr>
          <p:cNvPr id="29" name="TextBox 29"/>
          <p:cNvSpPr txBox="1"/>
          <p:nvPr/>
        </p:nvSpPr>
        <p:spPr>
          <a:xfrm>
            <a:off x="11632255" y="6607703"/>
            <a:ext cx="1172719" cy="276743"/>
          </a:xfrm>
          <a:prstGeom prst="rect">
            <a:avLst/>
          </a:prstGeom>
        </p:spPr>
        <p:txBody>
          <a:bodyPr lIns="0" tIns="0" rIns="0" bIns="0" rtlCol="0" anchor="t">
            <a:spAutoFit/>
          </a:bodyPr>
          <a:lstStyle/>
          <a:p>
            <a:pPr algn="ctr">
              <a:lnSpc>
                <a:spcPts val="2299"/>
              </a:lnSpc>
            </a:pPr>
            <a:r>
              <a:rPr lang="en-US" sz="1642">
                <a:solidFill>
                  <a:srgbClr val="FFFFFF"/>
                </a:solidFill>
                <a:latin typeface="Canva Sans"/>
                <a:ea typeface="Canva Sans"/>
                <a:cs typeface="Canva Sans"/>
                <a:sym typeface="Canva Sans"/>
              </a:rPr>
              <a:t>NPMI Score</a:t>
            </a:r>
          </a:p>
        </p:txBody>
      </p:sp>
      <p:sp>
        <p:nvSpPr>
          <p:cNvPr id="30" name="TextBox 30"/>
          <p:cNvSpPr txBox="1"/>
          <p:nvPr/>
        </p:nvSpPr>
        <p:spPr>
          <a:xfrm>
            <a:off x="14257207" y="6558482"/>
            <a:ext cx="1347111" cy="276743"/>
          </a:xfrm>
          <a:prstGeom prst="rect">
            <a:avLst/>
          </a:prstGeom>
        </p:spPr>
        <p:txBody>
          <a:bodyPr lIns="0" tIns="0" rIns="0" bIns="0" rtlCol="0" anchor="t">
            <a:spAutoFit/>
          </a:bodyPr>
          <a:lstStyle/>
          <a:p>
            <a:pPr algn="ctr">
              <a:lnSpc>
                <a:spcPts val="2299"/>
              </a:lnSpc>
            </a:pPr>
            <a:r>
              <a:rPr lang="en-US" sz="1642">
                <a:solidFill>
                  <a:srgbClr val="FFFFFF"/>
                </a:solidFill>
                <a:latin typeface="Canva Sans"/>
                <a:ea typeface="Canva Sans"/>
                <a:cs typeface="Canva Sans"/>
                <a:sym typeface="Canva Sans"/>
              </a:rPr>
              <a:t>Umass  Score</a:t>
            </a:r>
          </a:p>
        </p:txBody>
      </p:sp>
      <p:sp>
        <p:nvSpPr>
          <p:cNvPr id="31" name="TextBox 31"/>
          <p:cNvSpPr txBox="1"/>
          <p:nvPr/>
        </p:nvSpPr>
        <p:spPr>
          <a:xfrm>
            <a:off x="8649693" y="7040837"/>
            <a:ext cx="1713548" cy="711794"/>
          </a:xfrm>
          <a:prstGeom prst="rect">
            <a:avLst/>
          </a:prstGeom>
        </p:spPr>
        <p:txBody>
          <a:bodyPr lIns="0" tIns="0" rIns="0" bIns="0" rtlCol="0" anchor="t">
            <a:spAutoFit/>
          </a:bodyPr>
          <a:lstStyle/>
          <a:p>
            <a:pPr algn="ctr">
              <a:lnSpc>
                <a:spcPts val="5917"/>
              </a:lnSpc>
            </a:pPr>
            <a:r>
              <a:rPr lang="en-US" sz="4226" b="1">
                <a:solidFill>
                  <a:srgbClr val="FF751F"/>
                </a:solidFill>
                <a:latin typeface="Canva Sans Bold"/>
                <a:ea typeface="Canva Sans Bold"/>
                <a:cs typeface="Canva Sans Bold"/>
                <a:sym typeface="Canva Sans Bold"/>
              </a:rPr>
              <a:t>0.5735</a:t>
            </a:r>
          </a:p>
        </p:txBody>
      </p:sp>
      <p:sp>
        <p:nvSpPr>
          <p:cNvPr id="32" name="TextBox 32"/>
          <p:cNvSpPr txBox="1"/>
          <p:nvPr/>
        </p:nvSpPr>
        <p:spPr>
          <a:xfrm>
            <a:off x="11417558" y="7141620"/>
            <a:ext cx="1854637" cy="711794"/>
          </a:xfrm>
          <a:prstGeom prst="rect">
            <a:avLst/>
          </a:prstGeom>
        </p:spPr>
        <p:txBody>
          <a:bodyPr lIns="0" tIns="0" rIns="0" bIns="0" rtlCol="0" anchor="t">
            <a:spAutoFit/>
          </a:bodyPr>
          <a:lstStyle/>
          <a:p>
            <a:pPr algn="ctr">
              <a:lnSpc>
                <a:spcPts val="5917"/>
              </a:lnSpc>
            </a:pPr>
            <a:r>
              <a:rPr lang="en-US" sz="4226" b="1">
                <a:solidFill>
                  <a:srgbClr val="FF751F"/>
                </a:solidFill>
                <a:latin typeface="Canva Sans Bold"/>
                <a:ea typeface="Canva Sans Bold"/>
                <a:cs typeface="Canva Sans Bold"/>
                <a:sym typeface="Canva Sans Bold"/>
              </a:rPr>
              <a:t>0.0530</a:t>
            </a:r>
          </a:p>
        </p:txBody>
      </p:sp>
      <p:sp>
        <p:nvSpPr>
          <p:cNvPr id="33" name="TextBox 33"/>
          <p:cNvSpPr txBox="1"/>
          <p:nvPr/>
        </p:nvSpPr>
        <p:spPr>
          <a:xfrm>
            <a:off x="14039713" y="7141620"/>
            <a:ext cx="1867972" cy="711794"/>
          </a:xfrm>
          <a:prstGeom prst="rect">
            <a:avLst/>
          </a:prstGeom>
        </p:spPr>
        <p:txBody>
          <a:bodyPr lIns="0" tIns="0" rIns="0" bIns="0" rtlCol="0" anchor="t">
            <a:spAutoFit/>
          </a:bodyPr>
          <a:lstStyle/>
          <a:p>
            <a:pPr algn="ctr">
              <a:lnSpc>
                <a:spcPts val="5917"/>
              </a:lnSpc>
            </a:pPr>
            <a:r>
              <a:rPr lang="en-US" sz="4226" b="1">
                <a:solidFill>
                  <a:srgbClr val="FF751F"/>
                </a:solidFill>
                <a:latin typeface="Canva Sans Bold"/>
                <a:ea typeface="Canva Sans Bold"/>
                <a:cs typeface="Canva Sans Bold"/>
                <a:sym typeface="Canva Sans Bold"/>
              </a:rPr>
              <a:t>-5.3257</a:t>
            </a:r>
          </a:p>
        </p:txBody>
      </p:sp>
      <p:sp>
        <p:nvSpPr>
          <p:cNvPr id="34" name="TextBox 34"/>
          <p:cNvSpPr txBox="1"/>
          <p:nvPr/>
        </p:nvSpPr>
        <p:spPr>
          <a:xfrm>
            <a:off x="8563607" y="8019331"/>
            <a:ext cx="1885718" cy="904332"/>
          </a:xfrm>
          <a:prstGeom prst="rect">
            <a:avLst/>
          </a:prstGeom>
        </p:spPr>
        <p:txBody>
          <a:bodyPr lIns="0" tIns="0" rIns="0" bIns="0" rtlCol="0" anchor="t">
            <a:spAutoFit/>
          </a:bodyPr>
          <a:lstStyle/>
          <a:p>
            <a:pPr algn="ctr">
              <a:lnSpc>
                <a:spcPts val="1843"/>
              </a:lnSpc>
            </a:pPr>
            <a:r>
              <a:rPr lang="en-US" sz="1316">
                <a:solidFill>
                  <a:srgbClr val="FCEE16"/>
                </a:solidFill>
                <a:latin typeface="Canva Sans"/>
                <a:ea typeface="Canva Sans"/>
                <a:cs typeface="Canva Sans"/>
                <a:sym typeface="Canva Sans"/>
              </a:rPr>
              <a:t>topik yang dihasilkan memiliki tingkat koherensi yang cukup baik.</a:t>
            </a:r>
          </a:p>
        </p:txBody>
      </p:sp>
      <p:sp>
        <p:nvSpPr>
          <p:cNvPr id="35" name="TextBox 35"/>
          <p:cNvSpPr txBox="1"/>
          <p:nvPr/>
        </p:nvSpPr>
        <p:spPr>
          <a:xfrm>
            <a:off x="11310199" y="8019331"/>
            <a:ext cx="2069355" cy="1131632"/>
          </a:xfrm>
          <a:prstGeom prst="rect">
            <a:avLst/>
          </a:prstGeom>
        </p:spPr>
        <p:txBody>
          <a:bodyPr lIns="0" tIns="0" rIns="0" bIns="0" rtlCol="0" anchor="t">
            <a:spAutoFit/>
          </a:bodyPr>
          <a:lstStyle/>
          <a:p>
            <a:pPr algn="ctr">
              <a:lnSpc>
                <a:spcPts val="1843"/>
              </a:lnSpc>
            </a:pPr>
            <a:r>
              <a:rPr lang="en-US" sz="1316">
                <a:solidFill>
                  <a:srgbClr val="FCEE16"/>
                </a:solidFill>
                <a:latin typeface="Canva Sans"/>
                <a:ea typeface="Canva Sans"/>
                <a:cs typeface="Canva Sans"/>
                <a:sym typeface="Canva Sans"/>
              </a:rPr>
              <a:t>bernilai positif menunjukkan bahwa terdapat asosiasi statistik yang bermakna antar kata dalam topik</a:t>
            </a:r>
          </a:p>
        </p:txBody>
      </p:sp>
      <p:sp>
        <p:nvSpPr>
          <p:cNvPr id="36" name="TextBox 36"/>
          <p:cNvSpPr txBox="1"/>
          <p:nvPr/>
        </p:nvSpPr>
        <p:spPr>
          <a:xfrm>
            <a:off x="13896085" y="8132981"/>
            <a:ext cx="2069355" cy="904332"/>
          </a:xfrm>
          <a:prstGeom prst="rect">
            <a:avLst/>
          </a:prstGeom>
        </p:spPr>
        <p:txBody>
          <a:bodyPr lIns="0" tIns="0" rIns="0" bIns="0" rtlCol="0" anchor="t">
            <a:spAutoFit/>
          </a:bodyPr>
          <a:lstStyle/>
          <a:p>
            <a:pPr algn="ctr">
              <a:lnSpc>
                <a:spcPts val="1843"/>
              </a:lnSpc>
            </a:pPr>
            <a:r>
              <a:rPr lang="en-US" sz="1316">
                <a:solidFill>
                  <a:srgbClr val="FCEE16"/>
                </a:solidFill>
                <a:latin typeface="Canva Sans"/>
                <a:ea typeface="Canva Sans"/>
                <a:cs typeface="Canva Sans"/>
                <a:sym typeface="Canva Sans"/>
              </a:rPr>
              <a:t>bahwa model memiliki konsistensi probabilistik yang baik terhadap distribusi dokumen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708804"/>
            <a:ext cx="9144000" cy="560871"/>
            <a:chOff x="0" y="0"/>
            <a:chExt cx="2408296" cy="147719"/>
          </a:xfrm>
        </p:grpSpPr>
        <p:sp>
          <p:nvSpPr>
            <p:cNvPr id="3" name="Freeform 3"/>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1800AD"/>
            </a:solidFill>
          </p:spPr>
        </p:sp>
        <p:sp>
          <p:nvSpPr>
            <p:cNvPr id="4" name="TextBox 4"/>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028700" y="2479309"/>
            <a:ext cx="8115300" cy="137058"/>
            <a:chOff x="0" y="0"/>
            <a:chExt cx="2137363" cy="36097"/>
          </a:xfrm>
        </p:grpSpPr>
        <p:sp>
          <p:nvSpPr>
            <p:cNvPr id="6" name="Freeform 6"/>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FFDE59"/>
            </a:solidFill>
          </p:spPr>
        </p:sp>
        <p:sp>
          <p:nvSpPr>
            <p:cNvPr id="7" name="TextBox 7"/>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9144000" y="2479309"/>
            <a:ext cx="8115300" cy="137058"/>
            <a:chOff x="0" y="0"/>
            <a:chExt cx="2137363" cy="36097"/>
          </a:xfrm>
        </p:grpSpPr>
        <p:sp>
          <p:nvSpPr>
            <p:cNvPr id="9" name="Freeform 9"/>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1800AD"/>
            </a:solidFill>
          </p:spPr>
        </p:sp>
        <p:sp>
          <p:nvSpPr>
            <p:cNvPr id="10" name="TextBox 10"/>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a:off x="15487240" y="516545"/>
            <a:ext cx="1664226" cy="1616285"/>
          </a:xfrm>
          <a:custGeom>
            <a:avLst/>
            <a:gdLst/>
            <a:ahLst/>
            <a:cxnLst/>
            <a:rect l="l" t="t" r="r" b="b"/>
            <a:pathLst>
              <a:path w="1664226" h="1616285">
                <a:moveTo>
                  <a:pt x="0" y="0"/>
                </a:moveTo>
                <a:lnTo>
                  <a:pt x="1664226" y="0"/>
                </a:lnTo>
                <a:lnTo>
                  <a:pt x="1664226" y="1616285"/>
                </a:lnTo>
                <a:lnTo>
                  <a:pt x="0" y="1616285"/>
                </a:lnTo>
                <a:lnTo>
                  <a:pt x="0" y="0"/>
                </a:lnTo>
                <a:close/>
              </a:path>
            </a:pathLst>
          </a:custGeom>
          <a:blipFill>
            <a:blip r:embed="rId3"/>
            <a:stretch>
              <a:fillRect/>
            </a:stretch>
          </a:blipFill>
        </p:spPr>
      </p:sp>
      <p:grpSp>
        <p:nvGrpSpPr>
          <p:cNvPr id="12" name="Group 12"/>
          <p:cNvGrpSpPr/>
          <p:nvPr/>
        </p:nvGrpSpPr>
        <p:grpSpPr>
          <a:xfrm>
            <a:off x="9144000" y="9708804"/>
            <a:ext cx="9144000" cy="560871"/>
            <a:chOff x="0" y="0"/>
            <a:chExt cx="2408296" cy="147719"/>
          </a:xfrm>
        </p:grpSpPr>
        <p:sp>
          <p:nvSpPr>
            <p:cNvPr id="13" name="Freeform 13"/>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FFDE59"/>
            </a:solidFill>
          </p:spPr>
        </p:sp>
        <p:sp>
          <p:nvSpPr>
            <p:cNvPr id="14" name="TextBox 14"/>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sp>
        <p:nvSpPr>
          <p:cNvPr id="15" name="Freeform 15"/>
          <p:cNvSpPr/>
          <p:nvPr/>
        </p:nvSpPr>
        <p:spPr>
          <a:xfrm>
            <a:off x="2435555" y="2911642"/>
            <a:ext cx="7197292" cy="6310018"/>
          </a:xfrm>
          <a:custGeom>
            <a:avLst/>
            <a:gdLst/>
            <a:ahLst/>
            <a:cxnLst/>
            <a:rect l="l" t="t" r="r" b="b"/>
            <a:pathLst>
              <a:path w="7197292" h="6310018">
                <a:moveTo>
                  <a:pt x="0" y="0"/>
                </a:moveTo>
                <a:lnTo>
                  <a:pt x="7197291" y="0"/>
                </a:lnTo>
                <a:lnTo>
                  <a:pt x="7197291" y="6310018"/>
                </a:lnTo>
                <a:lnTo>
                  <a:pt x="0" y="6310018"/>
                </a:lnTo>
                <a:lnTo>
                  <a:pt x="0" y="0"/>
                </a:lnTo>
                <a:close/>
              </a:path>
            </a:pathLst>
          </a:custGeom>
          <a:blipFill>
            <a:blip r:embed="rId4"/>
            <a:stretch>
              <a:fillRect r="-5966"/>
            </a:stretch>
          </a:blipFill>
        </p:spPr>
      </p:sp>
      <p:sp>
        <p:nvSpPr>
          <p:cNvPr id="16" name="TextBox 16"/>
          <p:cNvSpPr txBox="1"/>
          <p:nvPr/>
        </p:nvSpPr>
        <p:spPr>
          <a:xfrm>
            <a:off x="1028700" y="1210387"/>
            <a:ext cx="11543683" cy="995966"/>
          </a:xfrm>
          <a:prstGeom prst="rect">
            <a:avLst/>
          </a:prstGeom>
        </p:spPr>
        <p:txBody>
          <a:bodyPr lIns="0" tIns="0" rIns="0" bIns="0" rtlCol="0" anchor="t">
            <a:spAutoFit/>
          </a:bodyPr>
          <a:lstStyle/>
          <a:p>
            <a:pPr algn="l">
              <a:lnSpc>
                <a:spcPts val="8160"/>
              </a:lnSpc>
              <a:spcBef>
                <a:spcPct val="0"/>
              </a:spcBef>
            </a:pPr>
            <a:r>
              <a:rPr lang="en-US" sz="5828" b="1">
                <a:solidFill>
                  <a:srgbClr val="1800AD"/>
                </a:solidFill>
                <a:latin typeface="Archivo Narrow Bold"/>
                <a:ea typeface="Archivo Narrow Bold"/>
                <a:cs typeface="Archivo Narrow Bold"/>
                <a:sym typeface="Archivo Narrow Bold"/>
              </a:rPr>
              <a:t>Grafik Topic Word Scores</a:t>
            </a:r>
          </a:p>
        </p:txBody>
      </p:sp>
      <p:sp>
        <p:nvSpPr>
          <p:cNvPr id="17" name="TextBox 17"/>
          <p:cNvSpPr txBox="1"/>
          <p:nvPr/>
        </p:nvSpPr>
        <p:spPr>
          <a:xfrm>
            <a:off x="1028700" y="215814"/>
            <a:ext cx="10960228" cy="812886"/>
          </a:xfrm>
          <a:prstGeom prst="rect">
            <a:avLst/>
          </a:prstGeom>
        </p:spPr>
        <p:txBody>
          <a:bodyPr lIns="0" tIns="0" rIns="0" bIns="0" rtlCol="0" anchor="t">
            <a:spAutoFit/>
          </a:bodyPr>
          <a:lstStyle/>
          <a:p>
            <a:pPr algn="l">
              <a:lnSpc>
                <a:spcPts val="6645"/>
              </a:lnSpc>
              <a:spcBef>
                <a:spcPct val="0"/>
              </a:spcBef>
            </a:pPr>
            <a:r>
              <a:rPr lang="en-US" sz="4746" b="1">
                <a:solidFill>
                  <a:srgbClr val="FF751F"/>
                </a:solidFill>
                <a:latin typeface="Montserrat Bold"/>
                <a:ea typeface="Montserrat Bold"/>
                <a:cs typeface="Montserrat Bold"/>
                <a:sym typeface="Montserrat Bold"/>
              </a:rPr>
              <a:t>15 | BERTopic Model</a:t>
            </a:r>
          </a:p>
        </p:txBody>
      </p:sp>
      <p:sp>
        <p:nvSpPr>
          <p:cNvPr id="18" name="TextBox 18"/>
          <p:cNvSpPr txBox="1"/>
          <p:nvPr/>
        </p:nvSpPr>
        <p:spPr>
          <a:xfrm>
            <a:off x="10945284" y="4693571"/>
            <a:ext cx="6022255" cy="2601234"/>
          </a:xfrm>
          <a:prstGeom prst="rect">
            <a:avLst/>
          </a:prstGeom>
        </p:spPr>
        <p:txBody>
          <a:bodyPr lIns="0" tIns="0" rIns="0" bIns="0" rtlCol="0" anchor="t">
            <a:spAutoFit/>
          </a:bodyPr>
          <a:lstStyle/>
          <a:p>
            <a:pPr algn="ctr">
              <a:lnSpc>
                <a:spcPts val="4149"/>
              </a:lnSpc>
            </a:pPr>
            <a:r>
              <a:rPr lang="en-US" sz="2964" b="1" dirty="0" err="1">
                <a:solidFill>
                  <a:srgbClr val="000000"/>
                </a:solidFill>
                <a:latin typeface="Canva Sans Bold"/>
                <a:ea typeface="Canva Sans Bold"/>
                <a:cs typeface="Canva Sans Bold"/>
                <a:sym typeface="Canva Sans Bold"/>
              </a:rPr>
              <a:t>Grafik</a:t>
            </a:r>
            <a:r>
              <a:rPr lang="en-US" sz="2964" b="1" dirty="0">
                <a:solidFill>
                  <a:srgbClr val="000000"/>
                </a:solidFill>
                <a:latin typeface="Canva Sans Bold"/>
                <a:ea typeface="Canva Sans Bold"/>
                <a:cs typeface="Canva Sans Bold"/>
                <a:sym typeface="Canva Sans Bold"/>
              </a:rPr>
              <a:t> Topic Word Scores </a:t>
            </a:r>
            <a:r>
              <a:rPr lang="en-US" sz="2964" b="1" dirty="0" err="1">
                <a:solidFill>
                  <a:srgbClr val="000000"/>
                </a:solidFill>
                <a:latin typeface="Canva Sans Bold"/>
                <a:ea typeface="Canva Sans Bold"/>
                <a:cs typeface="Canva Sans Bold"/>
                <a:sym typeface="Canva Sans Bold"/>
              </a:rPr>
              <a:t>secara</a:t>
            </a:r>
            <a:r>
              <a:rPr lang="en-US" sz="2964" b="1" dirty="0">
                <a:solidFill>
                  <a:srgbClr val="000000"/>
                </a:solidFill>
                <a:latin typeface="Canva Sans Bold"/>
                <a:ea typeface="Canva Sans Bold"/>
                <a:cs typeface="Canva Sans Bold"/>
                <a:sym typeface="Canva Sans Bold"/>
              </a:rPr>
              <a:t> </a:t>
            </a:r>
            <a:r>
              <a:rPr lang="en-US" sz="2964" b="1" dirty="0" err="1">
                <a:solidFill>
                  <a:srgbClr val="000000"/>
                </a:solidFill>
                <a:latin typeface="Canva Sans Bold"/>
                <a:ea typeface="Canva Sans Bold"/>
                <a:cs typeface="Canva Sans Bold"/>
                <a:sym typeface="Canva Sans Bold"/>
              </a:rPr>
              <a:t>khusus</a:t>
            </a:r>
            <a:r>
              <a:rPr lang="en-US" sz="2964" b="1" dirty="0">
                <a:solidFill>
                  <a:srgbClr val="000000"/>
                </a:solidFill>
                <a:latin typeface="Canva Sans Bold"/>
                <a:ea typeface="Canva Sans Bold"/>
                <a:cs typeface="Canva Sans Bold"/>
                <a:sym typeface="Canva Sans Bold"/>
              </a:rPr>
              <a:t> </a:t>
            </a:r>
            <a:r>
              <a:rPr lang="en-US" sz="2964" b="1" dirty="0" err="1">
                <a:solidFill>
                  <a:srgbClr val="000000"/>
                </a:solidFill>
                <a:latin typeface="Canva Sans Bold"/>
                <a:ea typeface="Canva Sans Bold"/>
                <a:cs typeface="Canva Sans Bold"/>
                <a:sym typeface="Canva Sans Bold"/>
              </a:rPr>
              <a:t>fungsi</a:t>
            </a:r>
            <a:r>
              <a:rPr lang="en-US" sz="2964" b="1" dirty="0">
                <a:solidFill>
                  <a:srgbClr val="000000"/>
                </a:solidFill>
                <a:latin typeface="Canva Sans Bold"/>
                <a:ea typeface="Canva Sans Bold"/>
                <a:cs typeface="Canva Sans Bold"/>
                <a:sym typeface="Canva Sans Bold"/>
              </a:rPr>
              <a:t> </a:t>
            </a:r>
            <a:r>
              <a:rPr lang="en-US" sz="2964" b="1" dirty="0" err="1">
                <a:solidFill>
                  <a:srgbClr val="000000"/>
                </a:solidFill>
                <a:latin typeface="Canva Sans Bold"/>
                <a:ea typeface="Canva Sans Bold"/>
                <a:cs typeface="Canva Sans Bold"/>
                <a:sym typeface="Canva Sans Bold"/>
              </a:rPr>
              <a:t>menampilkan</a:t>
            </a:r>
            <a:r>
              <a:rPr lang="en-US" sz="2964" b="1" dirty="0">
                <a:solidFill>
                  <a:srgbClr val="000000"/>
                </a:solidFill>
                <a:latin typeface="Canva Sans Bold"/>
                <a:ea typeface="Canva Sans Bold"/>
                <a:cs typeface="Canva Sans Bold"/>
                <a:sym typeface="Canva Sans Bold"/>
              </a:rPr>
              <a:t> </a:t>
            </a:r>
            <a:r>
              <a:rPr lang="en-US" sz="2964" b="1" dirty="0" err="1">
                <a:solidFill>
                  <a:srgbClr val="000000"/>
                </a:solidFill>
                <a:latin typeface="Canva Sans Bold"/>
                <a:ea typeface="Canva Sans Bold"/>
                <a:cs typeface="Canva Sans Bold"/>
                <a:sym typeface="Canva Sans Bold"/>
              </a:rPr>
              <a:t>topik</a:t>
            </a:r>
            <a:r>
              <a:rPr lang="en-US" sz="2964" b="1" dirty="0">
                <a:solidFill>
                  <a:srgbClr val="000000"/>
                </a:solidFill>
                <a:latin typeface="Canva Sans Bold"/>
                <a:ea typeface="Canva Sans Bold"/>
                <a:cs typeface="Canva Sans Bold"/>
                <a:sym typeface="Canva Sans Bold"/>
              </a:rPr>
              <a:t> </a:t>
            </a:r>
            <a:r>
              <a:rPr lang="en-US" sz="2964" b="1" dirty="0" err="1">
                <a:solidFill>
                  <a:srgbClr val="000000"/>
                </a:solidFill>
                <a:latin typeface="Canva Sans Bold"/>
                <a:ea typeface="Canva Sans Bold"/>
                <a:cs typeface="Canva Sans Bold"/>
                <a:sym typeface="Canva Sans Bold"/>
              </a:rPr>
              <a:t>berdasarkan</a:t>
            </a:r>
            <a:r>
              <a:rPr lang="en-US" sz="2964" b="1" dirty="0">
                <a:solidFill>
                  <a:srgbClr val="000000"/>
                </a:solidFill>
                <a:latin typeface="Canva Sans Bold"/>
                <a:ea typeface="Canva Sans Bold"/>
                <a:cs typeface="Canva Sans Bold"/>
                <a:sym typeface="Canva Sans Bold"/>
              </a:rPr>
              <a:t> </a:t>
            </a:r>
            <a:r>
              <a:rPr lang="en-US" sz="2964" b="1" dirty="0" err="1">
                <a:solidFill>
                  <a:srgbClr val="000000"/>
                </a:solidFill>
                <a:latin typeface="Canva Sans Bold"/>
                <a:ea typeface="Canva Sans Bold"/>
                <a:cs typeface="Canva Sans Bold"/>
                <a:sym typeface="Canva Sans Bold"/>
              </a:rPr>
              <a:t>tingkat</a:t>
            </a:r>
            <a:r>
              <a:rPr lang="en-US" sz="2964" b="1" dirty="0">
                <a:solidFill>
                  <a:srgbClr val="000000"/>
                </a:solidFill>
                <a:latin typeface="Canva Sans Bold"/>
                <a:ea typeface="Canva Sans Bold"/>
                <a:cs typeface="Canva Sans Bold"/>
                <a:sym typeface="Canva Sans Bold"/>
              </a:rPr>
              <a:t> </a:t>
            </a:r>
            <a:r>
              <a:rPr lang="en-US" sz="2964" b="1" dirty="0" err="1">
                <a:solidFill>
                  <a:srgbClr val="000000"/>
                </a:solidFill>
                <a:latin typeface="Canva Sans Bold"/>
                <a:ea typeface="Canva Sans Bold"/>
                <a:cs typeface="Canva Sans Bold"/>
                <a:sym typeface="Canva Sans Bold"/>
              </a:rPr>
              <a:t>dominansi</a:t>
            </a:r>
            <a:r>
              <a:rPr lang="en-US" sz="2964" b="1" dirty="0">
                <a:solidFill>
                  <a:srgbClr val="000000"/>
                </a:solidFill>
                <a:latin typeface="Canva Sans Bold"/>
                <a:ea typeface="Canva Sans Bold"/>
                <a:cs typeface="Canva Sans Bold"/>
                <a:sym typeface="Canva Sans Bold"/>
              </a:rPr>
              <a:t> </a:t>
            </a:r>
            <a:r>
              <a:rPr lang="en-US" sz="2964" b="1" dirty="0" err="1">
                <a:solidFill>
                  <a:srgbClr val="000000"/>
                </a:solidFill>
                <a:latin typeface="Canva Sans Bold"/>
                <a:ea typeface="Canva Sans Bold"/>
                <a:cs typeface="Canva Sans Bold"/>
                <a:sym typeface="Canva Sans Bold"/>
              </a:rPr>
              <a:t>atau</a:t>
            </a:r>
            <a:r>
              <a:rPr lang="en-US" sz="2964" b="1" dirty="0">
                <a:solidFill>
                  <a:srgbClr val="000000"/>
                </a:solidFill>
                <a:latin typeface="Canva Sans Bold"/>
                <a:ea typeface="Canva Sans Bold"/>
                <a:cs typeface="Canva Sans Bold"/>
                <a:sym typeface="Canva Sans Bold"/>
              </a:rPr>
              <a:t> </a:t>
            </a:r>
            <a:r>
              <a:rPr lang="en-US" sz="2964" b="1" dirty="0" err="1">
                <a:solidFill>
                  <a:srgbClr val="000000"/>
                </a:solidFill>
                <a:latin typeface="Canva Sans Bold"/>
                <a:ea typeface="Canva Sans Bold"/>
                <a:cs typeface="Canva Sans Bold"/>
                <a:sym typeface="Canva Sans Bold"/>
              </a:rPr>
              <a:t>frekuensi</a:t>
            </a:r>
            <a:r>
              <a:rPr lang="en-US" sz="2964" b="1" dirty="0">
                <a:solidFill>
                  <a:srgbClr val="000000"/>
                </a:solidFill>
                <a:latin typeface="Canva Sans Bold"/>
                <a:ea typeface="Canva Sans Bold"/>
                <a:cs typeface="Canva Sans Bold"/>
                <a:sym typeface="Canva Sans Bold"/>
              </a:rPr>
              <a:t> </a:t>
            </a:r>
            <a:r>
              <a:rPr lang="en-US" sz="2964" b="1" dirty="0" err="1">
                <a:solidFill>
                  <a:srgbClr val="000000"/>
                </a:solidFill>
                <a:latin typeface="Canva Sans Bold"/>
                <a:ea typeface="Canva Sans Bold"/>
                <a:cs typeface="Canva Sans Bold"/>
                <a:sym typeface="Canva Sans Bold"/>
              </a:rPr>
              <a:t>kemunculannya</a:t>
            </a:r>
            <a:r>
              <a:rPr lang="en-US" sz="2964" b="1" dirty="0">
                <a:solidFill>
                  <a:srgbClr val="000000"/>
                </a:solidFill>
                <a:latin typeface="Canva Sans Bold"/>
                <a:ea typeface="Canva Sans Bold"/>
                <a:cs typeface="Canva Sans Bold"/>
                <a:sym typeface="Canva Sans Bold"/>
              </a:rPr>
              <a:t> </a:t>
            </a:r>
            <a:r>
              <a:rPr lang="en-US" sz="2964" b="1" dirty="0" err="1">
                <a:solidFill>
                  <a:srgbClr val="000000"/>
                </a:solidFill>
                <a:latin typeface="Canva Sans Bold"/>
                <a:ea typeface="Canva Sans Bold"/>
                <a:cs typeface="Canva Sans Bold"/>
                <a:sym typeface="Canva Sans Bold"/>
              </a:rPr>
              <a:t>dalam</a:t>
            </a:r>
            <a:r>
              <a:rPr lang="en-US" sz="2964" b="1" dirty="0">
                <a:solidFill>
                  <a:srgbClr val="000000"/>
                </a:solidFill>
                <a:latin typeface="Canva Sans Bold"/>
                <a:ea typeface="Canva Sans Bold"/>
                <a:cs typeface="Canva Sans Bold"/>
                <a:sym typeface="Canva Sans Bold"/>
              </a:rPr>
              <a:t> </a:t>
            </a:r>
            <a:r>
              <a:rPr lang="en-US" sz="2964" b="1" dirty="0" err="1">
                <a:solidFill>
                  <a:srgbClr val="000000"/>
                </a:solidFill>
                <a:latin typeface="Canva Sans Bold"/>
                <a:ea typeface="Canva Sans Bold"/>
                <a:cs typeface="Canva Sans Bold"/>
                <a:sym typeface="Canva Sans Bold"/>
              </a:rPr>
              <a:t>dokumen</a:t>
            </a:r>
            <a:r>
              <a:rPr lang="en-US" sz="2964" b="1" dirty="0">
                <a:solidFill>
                  <a:srgbClr val="000000"/>
                </a:solidFill>
                <a:latin typeface="Canva Sans Bold"/>
                <a:ea typeface="Canva Sans Bold"/>
                <a:cs typeface="Canva Sans Bold"/>
                <a:sym typeface="Canva Sans Bold"/>
              </a:rPr>
              <a:t>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708804"/>
            <a:ext cx="9144000" cy="560871"/>
            <a:chOff x="0" y="0"/>
            <a:chExt cx="2408296" cy="147719"/>
          </a:xfrm>
        </p:grpSpPr>
        <p:sp>
          <p:nvSpPr>
            <p:cNvPr id="3" name="Freeform 3"/>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1800AD"/>
            </a:solidFill>
          </p:spPr>
        </p:sp>
        <p:sp>
          <p:nvSpPr>
            <p:cNvPr id="4" name="TextBox 4"/>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028700" y="2479309"/>
            <a:ext cx="8115300" cy="137058"/>
            <a:chOff x="0" y="0"/>
            <a:chExt cx="2137363" cy="36097"/>
          </a:xfrm>
        </p:grpSpPr>
        <p:sp>
          <p:nvSpPr>
            <p:cNvPr id="6" name="Freeform 6"/>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FFDE59"/>
            </a:solidFill>
          </p:spPr>
        </p:sp>
        <p:sp>
          <p:nvSpPr>
            <p:cNvPr id="7" name="TextBox 7"/>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9144000" y="2479309"/>
            <a:ext cx="8115300" cy="137058"/>
            <a:chOff x="0" y="0"/>
            <a:chExt cx="2137363" cy="36097"/>
          </a:xfrm>
        </p:grpSpPr>
        <p:sp>
          <p:nvSpPr>
            <p:cNvPr id="9" name="Freeform 9"/>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1800AD"/>
            </a:solidFill>
          </p:spPr>
        </p:sp>
        <p:sp>
          <p:nvSpPr>
            <p:cNvPr id="10" name="TextBox 10"/>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a:off x="15487240" y="516545"/>
            <a:ext cx="1664226" cy="1616285"/>
          </a:xfrm>
          <a:custGeom>
            <a:avLst/>
            <a:gdLst/>
            <a:ahLst/>
            <a:cxnLst/>
            <a:rect l="l" t="t" r="r" b="b"/>
            <a:pathLst>
              <a:path w="1664226" h="1616285">
                <a:moveTo>
                  <a:pt x="0" y="0"/>
                </a:moveTo>
                <a:lnTo>
                  <a:pt x="1664226" y="0"/>
                </a:lnTo>
                <a:lnTo>
                  <a:pt x="1664226" y="1616285"/>
                </a:lnTo>
                <a:lnTo>
                  <a:pt x="0" y="1616285"/>
                </a:lnTo>
                <a:lnTo>
                  <a:pt x="0" y="0"/>
                </a:lnTo>
                <a:close/>
              </a:path>
            </a:pathLst>
          </a:custGeom>
          <a:blipFill>
            <a:blip r:embed="rId4"/>
            <a:stretch>
              <a:fillRect/>
            </a:stretch>
          </a:blipFill>
        </p:spPr>
      </p:sp>
      <p:grpSp>
        <p:nvGrpSpPr>
          <p:cNvPr id="12" name="Group 12"/>
          <p:cNvGrpSpPr/>
          <p:nvPr/>
        </p:nvGrpSpPr>
        <p:grpSpPr>
          <a:xfrm>
            <a:off x="9144000" y="9708804"/>
            <a:ext cx="9144000" cy="560871"/>
            <a:chOff x="0" y="0"/>
            <a:chExt cx="2408296" cy="147719"/>
          </a:xfrm>
        </p:grpSpPr>
        <p:sp>
          <p:nvSpPr>
            <p:cNvPr id="13" name="Freeform 13"/>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FFDE59"/>
            </a:solidFill>
          </p:spPr>
        </p:sp>
        <p:sp>
          <p:nvSpPr>
            <p:cNvPr id="14" name="TextBox 14"/>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graphicFrame>
        <p:nvGraphicFramePr>
          <p:cNvPr id="15" name="Object 15"/>
          <p:cNvGraphicFramePr/>
          <p:nvPr>
            <p:extLst>
              <p:ext uri="{D42A27DB-BD31-4B8C-83A1-F6EECF244321}">
                <p14:modId xmlns:p14="http://schemas.microsoft.com/office/powerpoint/2010/main" val="1824179232"/>
              </p:ext>
            </p:extLst>
          </p:nvPr>
        </p:nvGraphicFramePr>
        <p:xfrm>
          <a:off x="3079210" y="2694879"/>
          <a:ext cx="6686550" cy="8229600"/>
        </p:xfrm>
        <a:graphic>
          <a:graphicData uri="http://schemas.openxmlformats.org/presentationml/2006/ole">
            <mc:AlternateContent xmlns:mc="http://schemas.openxmlformats.org/markup-compatibility/2006">
              <mc:Choice xmlns:v="urn:schemas-microsoft-com:vml" Requires="v">
                <p:oleObj spid="_x0000_s5138" name="Worksheet" r:id="rId5" imgW="8331200" imgH="9867900" progId="Excel.Sheet.12">
                  <p:embed/>
                </p:oleObj>
              </mc:Choice>
              <mc:Fallback>
                <p:oleObj name="Worksheet" r:id="rId5" imgW="8331200" imgH="9867900" progId="Excel.Sheet.12">
                  <p:embed/>
                  <p:pic>
                    <p:nvPicPr>
                      <p:cNvPr id="0" name=""/>
                      <p:cNvPicPr/>
                      <p:nvPr/>
                    </p:nvPicPr>
                    <p:blipFill>
                      <a:blip r:embed="rId6"/>
                      <a:stretch>
                        <a:fillRect/>
                      </a:stretch>
                    </p:blipFill>
                    <p:spPr>
                      <a:xfrm>
                        <a:off x="3079210" y="2694879"/>
                        <a:ext cx="6686550" cy="8229600"/>
                      </a:xfrm>
                      <a:prstGeom prst="rect">
                        <a:avLst/>
                      </a:prstGeom>
                    </p:spPr>
                  </p:pic>
                </p:oleObj>
              </mc:Fallback>
            </mc:AlternateContent>
          </a:graphicData>
        </a:graphic>
      </p:graphicFrame>
      <p:graphicFrame>
        <p:nvGraphicFramePr>
          <p:cNvPr id="16" name="Object 16"/>
          <p:cNvGraphicFramePr/>
          <p:nvPr>
            <p:extLst>
              <p:ext uri="{D42A27DB-BD31-4B8C-83A1-F6EECF244321}">
                <p14:modId xmlns:p14="http://schemas.microsoft.com/office/powerpoint/2010/main" val="2039662756"/>
              </p:ext>
            </p:extLst>
          </p:nvPr>
        </p:nvGraphicFramePr>
        <p:xfrm>
          <a:off x="8243478" y="2708494"/>
          <a:ext cx="7243762" cy="7738110"/>
        </p:xfrm>
        <a:graphic>
          <a:graphicData uri="http://schemas.openxmlformats.org/presentationml/2006/ole">
            <mc:AlternateContent xmlns:mc="http://schemas.openxmlformats.org/markup-compatibility/2006">
              <mc:Choice xmlns:v="urn:schemas-microsoft-com:vml" Requires="v">
                <p:oleObj spid="_x0000_s5139" name="Worksheet" r:id="rId7" imgW="8788400" imgH="9283700" progId="Excel.Sheet.12">
                  <p:embed/>
                </p:oleObj>
              </mc:Choice>
              <mc:Fallback>
                <p:oleObj name="Worksheet" r:id="rId7" imgW="8788400" imgH="9283700" progId="Excel.Sheet.12">
                  <p:embed/>
                  <p:pic>
                    <p:nvPicPr>
                      <p:cNvPr id="0" name=""/>
                      <p:cNvPicPr/>
                      <p:nvPr/>
                    </p:nvPicPr>
                    <p:blipFill>
                      <a:blip r:embed="rId8"/>
                      <a:stretch>
                        <a:fillRect/>
                      </a:stretch>
                    </p:blipFill>
                    <p:spPr>
                      <a:xfrm>
                        <a:off x="8243478" y="2708494"/>
                        <a:ext cx="7243762" cy="7738110"/>
                      </a:xfrm>
                      <a:prstGeom prst="rect">
                        <a:avLst/>
                      </a:prstGeom>
                    </p:spPr>
                  </p:pic>
                </p:oleObj>
              </mc:Fallback>
            </mc:AlternateContent>
          </a:graphicData>
        </a:graphic>
      </p:graphicFrame>
      <p:sp>
        <p:nvSpPr>
          <p:cNvPr id="17" name="TextBox 17"/>
          <p:cNvSpPr txBox="1"/>
          <p:nvPr/>
        </p:nvSpPr>
        <p:spPr>
          <a:xfrm>
            <a:off x="1028700" y="1210387"/>
            <a:ext cx="11543683" cy="995966"/>
          </a:xfrm>
          <a:prstGeom prst="rect">
            <a:avLst/>
          </a:prstGeom>
        </p:spPr>
        <p:txBody>
          <a:bodyPr lIns="0" tIns="0" rIns="0" bIns="0" rtlCol="0" anchor="t">
            <a:spAutoFit/>
          </a:bodyPr>
          <a:lstStyle/>
          <a:p>
            <a:pPr algn="l">
              <a:lnSpc>
                <a:spcPts val="8160"/>
              </a:lnSpc>
              <a:spcBef>
                <a:spcPct val="0"/>
              </a:spcBef>
            </a:pPr>
            <a:r>
              <a:rPr lang="en-US" sz="5828" b="1">
                <a:solidFill>
                  <a:srgbClr val="1800AD"/>
                </a:solidFill>
                <a:latin typeface="Archivo Narrow Bold"/>
                <a:ea typeface="Archivo Narrow Bold"/>
                <a:cs typeface="Archivo Narrow Bold"/>
                <a:sym typeface="Archivo Narrow Bold"/>
              </a:rPr>
              <a:t>Hasil Topik Model BERTopic</a:t>
            </a:r>
          </a:p>
        </p:txBody>
      </p:sp>
      <p:sp>
        <p:nvSpPr>
          <p:cNvPr id="18" name="TextBox 18"/>
          <p:cNvSpPr txBox="1"/>
          <p:nvPr/>
        </p:nvSpPr>
        <p:spPr>
          <a:xfrm>
            <a:off x="1028700" y="215814"/>
            <a:ext cx="10960228" cy="812886"/>
          </a:xfrm>
          <a:prstGeom prst="rect">
            <a:avLst/>
          </a:prstGeom>
        </p:spPr>
        <p:txBody>
          <a:bodyPr lIns="0" tIns="0" rIns="0" bIns="0" rtlCol="0" anchor="t">
            <a:spAutoFit/>
          </a:bodyPr>
          <a:lstStyle/>
          <a:p>
            <a:pPr algn="l">
              <a:lnSpc>
                <a:spcPts val="6645"/>
              </a:lnSpc>
              <a:spcBef>
                <a:spcPct val="0"/>
              </a:spcBef>
            </a:pPr>
            <a:r>
              <a:rPr lang="en-US" sz="4746" b="1">
                <a:solidFill>
                  <a:srgbClr val="FF751F"/>
                </a:solidFill>
                <a:latin typeface="Montserrat Bold"/>
                <a:ea typeface="Montserrat Bold"/>
                <a:cs typeface="Montserrat Bold"/>
                <a:sym typeface="Montserrat Bold"/>
              </a:rPr>
              <a:t>16 | BERTopic Model</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708804"/>
            <a:ext cx="9144000" cy="560871"/>
            <a:chOff x="0" y="0"/>
            <a:chExt cx="2408296" cy="147719"/>
          </a:xfrm>
        </p:grpSpPr>
        <p:sp>
          <p:nvSpPr>
            <p:cNvPr id="3" name="Freeform 3"/>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1800AD"/>
            </a:solidFill>
          </p:spPr>
        </p:sp>
        <p:sp>
          <p:nvSpPr>
            <p:cNvPr id="4" name="TextBox 4"/>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028700" y="2479309"/>
            <a:ext cx="8115300" cy="137058"/>
            <a:chOff x="0" y="0"/>
            <a:chExt cx="2137363" cy="36097"/>
          </a:xfrm>
        </p:grpSpPr>
        <p:sp>
          <p:nvSpPr>
            <p:cNvPr id="6" name="Freeform 6"/>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FFDE59"/>
            </a:solidFill>
          </p:spPr>
        </p:sp>
        <p:sp>
          <p:nvSpPr>
            <p:cNvPr id="7" name="TextBox 7"/>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9144000" y="2479309"/>
            <a:ext cx="8115300" cy="137058"/>
            <a:chOff x="0" y="0"/>
            <a:chExt cx="2137363" cy="36097"/>
          </a:xfrm>
        </p:grpSpPr>
        <p:sp>
          <p:nvSpPr>
            <p:cNvPr id="9" name="Freeform 9"/>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1800AD"/>
            </a:solidFill>
          </p:spPr>
        </p:sp>
        <p:sp>
          <p:nvSpPr>
            <p:cNvPr id="10" name="TextBox 10"/>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a:off x="15487240" y="516545"/>
            <a:ext cx="1664226" cy="1616285"/>
          </a:xfrm>
          <a:custGeom>
            <a:avLst/>
            <a:gdLst/>
            <a:ahLst/>
            <a:cxnLst/>
            <a:rect l="l" t="t" r="r" b="b"/>
            <a:pathLst>
              <a:path w="1664226" h="1616285">
                <a:moveTo>
                  <a:pt x="0" y="0"/>
                </a:moveTo>
                <a:lnTo>
                  <a:pt x="1664226" y="0"/>
                </a:lnTo>
                <a:lnTo>
                  <a:pt x="1664226" y="1616285"/>
                </a:lnTo>
                <a:lnTo>
                  <a:pt x="0" y="1616285"/>
                </a:lnTo>
                <a:lnTo>
                  <a:pt x="0" y="0"/>
                </a:lnTo>
                <a:close/>
              </a:path>
            </a:pathLst>
          </a:custGeom>
          <a:blipFill>
            <a:blip r:embed="rId4"/>
            <a:stretch>
              <a:fillRect/>
            </a:stretch>
          </a:blipFill>
        </p:spPr>
      </p:sp>
      <p:grpSp>
        <p:nvGrpSpPr>
          <p:cNvPr id="12" name="Group 12"/>
          <p:cNvGrpSpPr/>
          <p:nvPr/>
        </p:nvGrpSpPr>
        <p:grpSpPr>
          <a:xfrm>
            <a:off x="9144000" y="9708804"/>
            <a:ext cx="9144000" cy="560871"/>
            <a:chOff x="0" y="0"/>
            <a:chExt cx="2408296" cy="147719"/>
          </a:xfrm>
        </p:grpSpPr>
        <p:sp>
          <p:nvSpPr>
            <p:cNvPr id="13" name="Freeform 13"/>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FFDE59"/>
            </a:solidFill>
          </p:spPr>
        </p:sp>
        <p:sp>
          <p:nvSpPr>
            <p:cNvPr id="14" name="TextBox 14"/>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graphicFrame>
        <p:nvGraphicFramePr>
          <p:cNvPr id="15" name="Object 15"/>
          <p:cNvGraphicFramePr/>
          <p:nvPr/>
        </p:nvGraphicFramePr>
        <p:xfrm>
          <a:off x="950119" y="2805886"/>
          <a:ext cx="7243762" cy="7463790"/>
        </p:xfrm>
        <a:graphic>
          <a:graphicData uri="http://schemas.openxmlformats.org/presentationml/2006/ole">
            <mc:AlternateContent xmlns:mc="http://schemas.openxmlformats.org/markup-compatibility/2006">
              <mc:Choice xmlns:v="urn:schemas-microsoft-com:vml" Requires="v">
                <p:oleObj spid="_x0000_s6162" name="Worksheet" r:id="rId5" imgW="8724900" imgH="8953500" progId="Excel.Sheet.12">
                  <p:embed/>
                </p:oleObj>
              </mc:Choice>
              <mc:Fallback>
                <p:oleObj name="Worksheet" r:id="rId5" imgW="8724900" imgH="8953500" progId="Excel.Sheet.12">
                  <p:embed/>
                  <p:pic>
                    <p:nvPicPr>
                      <p:cNvPr id="0" name=""/>
                      <p:cNvPicPr/>
                      <p:nvPr/>
                    </p:nvPicPr>
                    <p:blipFill>
                      <a:blip r:embed="rId6"/>
                      <a:stretch>
                        <a:fillRect/>
                      </a:stretch>
                    </p:blipFill>
                    <p:spPr>
                      <a:xfrm>
                        <a:off x="950119" y="2805886"/>
                        <a:ext cx="7243762" cy="7463790"/>
                      </a:xfrm>
                      <a:prstGeom prst="rect">
                        <a:avLst/>
                      </a:prstGeom>
                    </p:spPr>
                  </p:pic>
                </p:oleObj>
              </mc:Fallback>
            </mc:AlternateContent>
          </a:graphicData>
        </a:graphic>
      </p:graphicFrame>
      <p:graphicFrame>
        <p:nvGraphicFramePr>
          <p:cNvPr id="16" name="Object 16"/>
          <p:cNvGraphicFramePr/>
          <p:nvPr/>
        </p:nvGraphicFramePr>
        <p:xfrm>
          <a:off x="9405519" y="2805886"/>
          <a:ext cx="7243762" cy="7463790"/>
        </p:xfrm>
        <a:graphic>
          <a:graphicData uri="http://schemas.openxmlformats.org/presentationml/2006/ole">
            <mc:AlternateContent xmlns:mc="http://schemas.openxmlformats.org/markup-compatibility/2006">
              <mc:Choice xmlns:v="urn:schemas-microsoft-com:vml" Requires="v">
                <p:oleObj spid="_x0000_s6163" name="Worksheet" r:id="rId7" imgW="8724900" imgH="8953500" progId="Excel.Sheet.12">
                  <p:embed/>
                </p:oleObj>
              </mc:Choice>
              <mc:Fallback>
                <p:oleObj name="Worksheet" r:id="rId7" imgW="8724900" imgH="8953500" progId="Excel.Sheet.12">
                  <p:embed/>
                  <p:pic>
                    <p:nvPicPr>
                      <p:cNvPr id="0" name=""/>
                      <p:cNvPicPr/>
                      <p:nvPr/>
                    </p:nvPicPr>
                    <p:blipFill>
                      <a:blip r:embed="rId8"/>
                      <a:stretch>
                        <a:fillRect/>
                      </a:stretch>
                    </p:blipFill>
                    <p:spPr>
                      <a:xfrm>
                        <a:off x="9405519" y="2805886"/>
                        <a:ext cx="7243762" cy="7463790"/>
                      </a:xfrm>
                      <a:prstGeom prst="rect">
                        <a:avLst/>
                      </a:prstGeom>
                    </p:spPr>
                  </p:pic>
                </p:oleObj>
              </mc:Fallback>
            </mc:AlternateContent>
          </a:graphicData>
        </a:graphic>
      </p:graphicFrame>
      <p:sp>
        <p:nvSpPr>
          <p:cNvPr id="17" name="TextBox 17"/>
          <p:cNvSpPr txBox="1"/>
          <p:nvPr/>
        </p:nvSpPr>
        <p:spPr>
          <a:xfrm>
            <a:off x="1028700" y="1210387"/>
            <a:ext cx="11543683" cy="995966"/>
          </a:xfrm>
          <a:prstGeom prst="rect">
            <a:avLst/>
          </a:prstGeom>
        </p:spPr>
        <p:txBody>
          <a:bodyPr lIns="0" tIns="0" rIns="0" bIns="0" rtlCol="0" anchor="t">
            <a:spAutoFit/>
          </a:bodyPr>
          <a:lstStyle/>
          <a:p>
            <a:pPr algn="l">
              <a:lnSpc>
                <a:spcPts val="8160"/>
              </a:lnSpc>
              <a:spcBef>
                <a:spcPct val="0"/>
              </a:spcBef>
            </a:pPr>
            <a:r>
              <a:rPr lang="en-US" sz="5828" b="1">
                <a:solidFill>
                  <a:srgbClr val="1800AD"/>
                </a:solidFill>
                <a:latin typeface="Archivo Narrow Bold"/>
                <a:ea typeface="Archivo Narrow Bold"/>
                <a:cs typeface="Archivo Narrow Bold"/>
                <a:sym typeface="Archivo Narrow Bold"/>
              </a:rPr>
              <a:t>Hasil Topik Model BERTopic</a:t>
            </a:r>
          </a:p>
        </p:txBody>
      </p:sp>
      <p:sp>
        <p:nvSpPr>
          <p:cNvPr id="18" name="TextBox 18"/>
          <p:cNvSpPr txBox="1"/>
          <p:nvPr/>
        </p:nvSpPr>
        <p:spPr>
          <a:xfrm>
            <a:off x="1028700" y="215814"/>
            <a:ext cx="10960228" cy="812886"/>
          </a:xfrm>
          <a:prstGeom prst="rect">
            <a:avLst/>
          </a:prstGeom>
        </p:spPr>
        <p:txBody>
          <a:bodyPr lIns="0" tIns="0" rIns="0" bIns="0" rtlCol="0" anchor="t">
            <a:spAutoFit/>
          </a:bodyPr>
          <a:lstStyle/>
          <a:p>
            <a:pPr algn="l">
              <a:lnSpc>
                <a:spcPts val="6645"/>
              </a:lnSpc>
              <a:spcBef>
                <a:spcPct val="0"/>
              </a:spcBef>
            </a:pPr>
            <a:r>
              <a:rPr lang="en-US" sz="4746" b="1">
                <a:solidFill>
                  <a:srgbClr val="FF751F"/>
                </a:solidFill>
                <a:latin typeface="Montserrat Bold"/>
                <a:ea typeface="Montserrat Bold"/>
                <a:cs typeface="Montserrat Bold"/>
                <a:sym typeface="Montserrat Bold"/>
              </a:rPr>
              <a:t>17 | BERTopic Model</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708804"/>
            <a:ext cx="9144000" cy="560871"/>
            <a:chOff x="0" y="0"/>
            <a:chExt cx="2408296" cy="147719"/>
          </a:xfrm>
        </p:grpSpPr>
        <p:sp>
          <p:nvSpPr>
            <p:cNvPr id="3" name="Freeform 3"/>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1800AD"/>
            </a:solidFill>
          </p:spPr>
        </p:sp>
        <p:sp>
          <p:nvSpPr>
            <p:cNvPr id="4" name="TextBox 4"/>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028700" y="2479309"/>
            <a:ext cx="8115300" cy="137058"/>
            <a:chOff x="0" y="0"/>
            <a:chExt cx="2137363" cy="36097"/>
          </a:xfrm>
        </p:grpSpPr>
        <p:sp>
          <p:nvSpPr>
            <p:cNvPr id="6" name="Freeform 6"/>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FFDE59"/>
            </a:solidFill>
          </p:spPr>
        </p:sp>
        <p:sp>
          <p:nvSpPr>
            <p:cNvPr id="7" name="TextBox 7"/>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9144000" y="2479309"/>
            <a:ext cx="8115300" cy="137058"/>
            <a:chOff x="0" y="0"/>
            <a:chExt cx="2137363" cy="36097"/>
          </a:xfrm>
        </p:grpSpPr>
        <p:sp>
          <p:nvSpPr>
            <p:cNvPr id="9" name="Freeform 9"/>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1800AD"/>
            </a:solidFill>
          </p:spPr>
        </p:sp>
        <p:sp>
          <p:nvSpPr>
            <p:cNvPr id="10" name="TextBox 10"/>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a:off x="15487240" y="516545"/>
            <a:ext cx="1664226" cy="1616285"/>
          </a:xfrm>
          <a:custGeom>
            <a:avLst/>
            <a:gdLst/>
            <a:ahLst/>
            <a:cxnLst/>
            <a:rect l="l" t="t" r="r" b="b"/>
            <a:pathLst>
              <a:path w="1664226" h="1616285">
                <a:moveTo>
                  <a:pt x="0" y="0"/>
                </a:moveTo>
                <a:lnTo>
                  <a:pt x="1664226" y="0"/>
                </a:lnTo>
                <a:lnTo>
                  <a:pt x="1664226" y="1616285"/>
                </a:lnTo>
                <a:lnTo>
                  <a:pt x="0" y="1616285"/>
                </a:lnTo>
                <a:lnTo>
                  <a:pt x="0" y="0"/>
                </a:lnTo>
                <a:close/>
              </a:path>
            </a:pathLst>
          </a:custGeom>
          <a:blipFill>
            <a:blip r:embed="rId4"/>
            <a:stretch>
              <a:fillRect/>
            </a:stretch>
          </a:blipFill>
        </p:spPr>
      </p:sp>
      <p:grpSp>
        <p:nvGrpSpPr>
          <p:cNvPr id="12" name="Group 12"/>
          <p:cNvGrpSpPr/>
          <p:nvPr/>
        </p:nvGrpSpPr>
        <p:grpSpPr>
          <a:xfrm>
            <a:off x="9144000" y="9708804"/>
            <a:ext cx="9144000" cy="560871"/>
            <a:chOff x="0" y="0"/>
            <a:chExt cx="2408296" cy="147719"/>
          </a:xfrm>
        </p:grpSpPr>
        <p:sp>
          <p:nvSpPr>
            <p:cNvPr id="13" name="Freeform 13"/>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FFDE59"/>
            </a:solidFill>
          </p:spPr>
        </p:sp>
        <p:sp>
          <p:nvSpPr>
            <p:cNvPr id="14" name="TextBox 14"/>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graphicFrame>
        <p:nvGraphicFramePr>
          <p:cNvPr id="15" name="Object 15"/>
          <p:cNvGraphicFramePr/>
          <p:nvPr/>
        </p:nvGraphicFramePr>
        <p:xfrm>
          <a:off x="1190016" y="2911642"/>
          <a:ext cx="7243762" cy="7658100"/>
        </p:xfrm>
        <a:graphic>
          <a:graphicData uri="http://schemas.openxmlformats.org/presentationml/2006/ole">
            <mc:AlternateContent xmlns:mc="http://schemas.openxmlformats.org/markup-compatibility/2006">
              <mc:Choice xmlns:v="urn:schemas-microsoft-com:vml" Requires="v">
                <p:oleObj spid="_x0000_s7178" name="Worksheet" r:id="rId5" imgW="8763000" imgH="9182100" progId="Excel.Sheet.12">
                  <p:embed/>
                </p:oleObj>
              </mc:Choice>
              <mc:Fallback>
                <p:oleObj name="Worksheet" r:id="rId5" imgW="8763000" imgH="9182100" progId="Excel.Sheet.12">
                  <p:embed/>
                  <p:pic>
                    <p:nvPicPr>
                      <p:cNvPr id="0" name=""/>
                      <p:cNvPicPr/>
                      <p:nvPr/>
                    </p:nvPicPr>
                    <p:blipFill>
                      <a:blip r:embed="rId6"/>
                      <a:stretch>
                        <a:fillRect/>
                      </a:stretch>
                    </p:blipFill>
                    <p:spPr>
                      <a:xfrm>
                        <a:off x="1190016" y="2911642"/>
                        <a:ext cx="7243762" cy="7658100"/>
                      </a:xfrm>
                      <a:prstGeom prst="rect">
                        <a:avLst/>
                      </a:prstGeom>
                    </p:spPr>
                  </p:pic>
                </p:oleObj>
              </mc:Fallback>
            </mc:AlternateContent>
          </a:graphicData>
        </a:graphic>
      </p:graphicFrame>
      <p:sp>
        <p:nvSpPr>
          <p:cNvPr id="16" name="TextBox 16"/>
          <p:cNvSpPr txBox="1"/>
          <p:nvPr/>
        </p:nvSpPr>
        <p:spPr>
          <a:xfrm>
            <a:off x="1028700" y="1210387"/>
            <a:ext cx="11543683" cy="995966"/>
          </a:xfrm>
          <a:prstGeom prst="rect">
            <a:avLst/>
          </a:prstGeom>
        </p:spPr>
        <p:txBody>
          <a:bodyPr lIns="0" tIns="0" rIns="0" bIns="0" rtlCol="0" anchor="t">
            <a:spAutoFit/>
          </a:bodyPr>
          <a:lstStyle/>
          <a:p>
            <a:pPr algn="l">
              <a:lnSpc>
                <a:spcPts val="8160"/>
              </a:lnSpc>
              <a:spcBef>
                <a:spcPct val="0"/>
              </a:spcBef>
            </a:pPr>
            <a:r>
              <a:rPr lang="en-US" sz="5828" b="1">
                <a:solidFill>
                  <a:srgbClr val="1800AD"/>
                </a:solidFill>
                <a:latin typeface="Archivo Narrow Bold"/>
                <a:ea typeface="Archivo Narrow Bold"/>
                <a:cs typeface="Archivo Narrow Bold"/>
                <a:sym typeface="Archivo Narrow Bold"/>
              </a:rPr>
              <a:t>Hasil Topik Model BERTopic</a:t>
            </a:r>
          </a:p>
        </p:txBody>
      </p:sp>
      <p:sp>
        <p:nvSpPr>
          <p:cNvPr id="17" name="TextBox 17"/>
          <p:cNvSpPr txBox="1"/>
          <p:nvPr/>
        </p:nvSpPr>
        <p:spPr>
          <a:xfrm>
            <a:off x="1028700" y="215814"/>
            <a:ext cx="10960228" cy="812886"/>
          </a:xfrm>
          <a:prstGeom prst="rect">
            <a:avLst/>
          </a:prstGeom>
        </p:spPr>
        <p:txBody>
          <a:bodyPr lIns="0" tIns="0" rIns="0" bIns="0" rtlCol="0" anchor="t">
            <a:spAutoFit/>
          </a:bodyPr>
          <a:lstStyle/>
          <a:p>
            <a:pPr algn="l">
              <a:lnSpc>
                <a:spcPts val="6645"/>
              </a:lnSpc>
              <a:spcBef>
                <a:spcPct val="0"/>
              </a:spcBef>
            </a:pPr>
            <a:r>
              <a:rPr lang="en-US" sz="4746" b="1">
                <a:solidFill>
                  <a:srgbClr val="FF751F"/>
                </a:solidFill>
                <a:latin typeface="Montserrat Bold"/>
                <a:ea typeface="Montserrat Bold"/>
                <a:cs typeface="Montserrat Bold"/>
                <a:sym typeface="Montserrat Bold"/>
              </a:rPr>
              <a:t>18 | BERTopic Model</a:t>
            </a:r>
          </a:p>
        </p:txBody>
      </p:sp>
      <p:grpSp>
        <p:nvGrpSpPr>
          <p:cNvPr id="18" name="Group 18"/>
          <p:cNvGrpSpPr/>
          <p:nvPr/>
        </p:nvGrpSpPr>
        <p:grpSpPr>
          <a:xfrm>
            <a:off x="8813294" y="3685979"/>
            <a:ext cx="8446006" cy="4243868"/>
            <a:chOff x="0" y="0"/>
            <a:chExt cx="5720543" cy="2874403"/>
          </a:xfrm>
        </p:grpSpPr>
        <p:sp>
          <p:nvSpPr>
            <p:cNvPr id="19" name="Freeform 19"/>
            <p:cNvSpPr/>
            <p:nvPr/>
          </p:nvSpPr>
          <p:spPr>
            <a:xfrm>
              <a:off x="0" y="0"/>
              <a:ext cx="5720543" cy="2874403"/>
            </a:xfrm>
            <a:custGeom>
              <a:avLst/>
              <a:gdLst/>
              <a:ahLst/>
              <a:cxnLst/>
              <a:rect l="l" t="t" r="r" b="b"/>
              <a:pathLst>
                <a:path w="5720543" h="2874403">
                  <a:moveTo>
                    <a:pt x="23833" y="0"/>
                  </a:moveTo>
                  <a:lnTo>
                    <a:pt x="5696710" y="0"/>
                  </a:lnTo>
                  <a:cubicBezTo>
                    <a:pt x="5709872" y="0"/>
                    <a:pt x="5720543" y="10670"/>
                    <a:pt x="5720543" y="23833"/>
                  </a:cubicBezTo>
                  <a:lnTo>
                    <a:pt x="5720543" y="2850571"/>
                  </a:lnTo>
                  <a:cubicBezTo>
                    <a:pt x="5720543" y="2863733"/>
                    <a:pt x="5709872" y="2874403"/>
                    <a:pt x="5696710" y="2874403"/>
                  </a:cubicBezTo>
                  <a:lnTo>
                    <a:pt x="23833" y="2874403"/>
                  </a:lnTo>
                  <a:cubicBezTo>
                    <a:pt x="10670" y="2874403"/>
                    <a:pt x="0" y="2863733"/>
                    <a:pt x="0" y="2850571"/>
                  </a:cubicBezTo>
                  <a:lnTo>
                    <a:pt x="0" y="23833"/>
                  </a:lnTo>
                  <a:cubicBezTo>
                    <a:pt x="0" y="10670"/>
                    <a:pt x="10670" y="0"/>
                    <a:pt x="23833" y="0"/>
                  </a:cubicBezTo>
                  <a:close/>
                </a:path>
              </a:pathLst>
            </a:custGeom>
            <a:solidFill>
              <a:srgbClr val="FFFFFF"/>
            </a:solidFill>
            <a:ln w="38100" cap="rnd">
              <a:solidFill>
                <a:srgbClr val="FF751F"/>
              </a:solidFill>
              <a:prstDash val="solid"/>
              <a:round/>
            </a:ln>
          </p:spPr>
        </p:sp>
        <p:sp>
          <p:nvSpPr>
            <p:cNvPr id="20" name="TextBox 20"/>
            <p:cNvSpPr txBox="1"/>
            <p:nvPr/>
          </p:nvSpPr>
          <p:spPr>
            <a:xfrm>
              <a:off x="0" y="-47625"/>
              <a:ext cx="5720543" cy="2922028"/>
            </a:xfrm>
            <a:prstGeom prst="rect">
              <a:avLst/>
            </a:prstGeom>
          </p:spPr>
          <p:txBody>
            <a:bodyPr lIns="19754" tIns="19754" rIns="19754" bIns="19754" rtlCol="0" anchor="ctr"/>
            <a:lstStyle/>
            <a:p>
              <a:pPr algn="ctr">
                <a:lnSpc>
                  <a:spcPts val="2659"/>
                </a:lnSpc>
              </a:pPr>
              <a:endParaRPr/>
            </a:p>
          </p:txBody>
        </p:sp>
      </p:grpSp>
      <p:sp>
        <p:nvSpPr>
          <p:cNvPr id="21" name="TextBox 21"/>
          <p:cNvSpPr txBox="1"/>
          <p:nvPr/>
        </p:nvSpPr>
        <p:spPr>
          <a:xfrm>
            <a:off x="9032564" y="3970186"/>
            <a:ext cx="8007466" cy="3714749"/>
          </a:xfrm>
          <a:prstGeom prst="rect">
            <a:avLst/>
          </a:prstGeom>
        </p:spPr>
        <p:txBody>
          <a:bodyPr lIns="0" tIns="0" rIns="0" bIns="0" rtlCol="0" anchor="t">
            <a:spAutoFit/>
          </a:bodyPr>
          <a:lstStyle/>
          <a:p>
            <a:pPr algn="ctr">
              <a:lnSpc>
                <a:spcPts val="4200"/>
              </a:lnSpc>
            </a:pPr>
            <a:r>
              <a:rPr lang="en-US" sz="3000" b="1">
                <a:solidFill>
                  <a:srgbClr val="000000"/>
                </a:solidFill>
                <a:latin typeface="Canva Sans Bold"/>
                <a:ea typeface="Canva Sans Bold"/>
                <a:cs typeface="Canva Sans Bold"/>
                <a:sym typeface="Canva Sans Bold"/>
              </a:rPr>
              <a:t>Topik-topik yang dihasilkan memiliki koherensi semantik yang jelas dan mencerminkan tema-tema seperti ketuhanan, kenabian, keimanan, akhlak, eskatologi (hari kiamat, surga, dan neraka), ilmu pengetahuan (science), sosial, dan hukum</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708804"/>
            <a:ext cx="9144000" cy="560871"/>
            <a:chOff x="0" y="0"/>
            <a:chExt cx="2408296" cy="147719"/>
          </a:xfrm>
        </p:grpSpPr>
        <p:sp>
          <p:nvSpPr>
            <p:cNvPr id="3" name="Freeform 3"/>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1800AD"/>
            </a:solidFill>
          </p:spPr>
        </p:sp>
        <p:sp>
          <p:nvSpPr>
            <p:cNvPr id="4" name="TextBox 4"/>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028700" y="2180455"/>
            <a:ext cx="16230600" cy="137058"/>
            <a:chOff x="0" y="0"/>
            <a:chExt cx="21640800" cy="182743"/>
          </a:xfrm>
        </p:grpSpPr>
        <p:grpSp>
          <p:nvGrpSpPr>
            <p:cNvPr id="6" name="Group 6"/>
            <p:cNvGrpSpPr/>
            <p:nvPr/>
          </p:nvGrpSpPr>
          <p:grpSpPr>
            <a:xfrm>
              <a:off x="0" y="0"/>
              <a:ext cx="10820400" cy="182743"/>
              <a:chOff x="0" y="0"/>
              <a:chExt cx="2137363" cy="36097"/>
            </a:xfrm>
          </p:grpSpPr>
          <p:sp>
            <p:nvSpPr>
              <p:cNvPr id="7" name="Freeform 7"/>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FFDE59"/>
              </a:solidFill>
            </p:spPr>
          </p:sp>
          <p:sp>
            <p:nvSpPr>
              <p:cNvPr id="8" name="TextBox 8"/>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10820400" y="0"/>
              <a:ext cx="10820400" cy="182743"/>
              <a:chOff x="0" y="0"/>
              <a:chExt cx="2137363" cy="36097"/>
            </a:xfrm>
          </p:grpSpPr>
          <p:sp>
            <p:nvSpPr>
              <p:cNvPr id="10" name="Freeform 10"/>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1800AD"/>
              </a:solidFill>
            </p:spPr>
          </p:sp>
          <p:sp>
            <p:nvSpPr>
              <p:cNvPr id="11" name="TextBox 11"/>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grpSp>
      <p:sp>
        <p:nvSpPr>
          <p:cNvPr id="12" name="Freeform 12"/>
          <p:cNvSpPr/>
          <p:nvPr/>
        </p:nvSpPr>
        <p:spPr>
          <a:xfrm>
            <a:off x="15487240" y="516545"/>
            <a:ext cx="1664226" cy="1616285"/>
          </a:xfrm>
          <a:custGeom>
            <a:avLst/>
            <a:gdLst/>
            <a:ahLst/>
            <a:cxnLst/>
            <a:rect l="l" t="t" r="r" b="b"/>
            <a:pathLst>
              <a:path w="1664226" h="1616285">
                <a:moveTo>
                  <a:pt x="0" y="0"/>
                </a:moveTo>
                <a:lnTo>
                  <a:pt x="1664226" y="0"/>
                </a:lnTo>
                <a:lnTo>
                  <a:pt x="1664226" y="1616285"/>
                </a:lnTo>
                <a:lnTo>
                  <a:pt x="0" y="1616285"/>
                </a:lnTo>
                <a:lnTo>
                  <a:pt x="0" y="0"/>
                </a:lnTo>
                <a:close/>
              </a:path>
            </a:pathLst>
          </a:custGeom>
          <a:blipFill>
            <a:blip r:embed="rId4"/>
            <a:stretch>
              <a:fillRect/>
            </a:stretch>
          </a:blipFill>
        </p:spPr>
      </p:sp>
      <p:grpSp>
        <p:nvGrpSpPr>
          <p:cNvPr id="13" name="Group 13"/>
          <p:cNvGrpSpPr/>
          <p:nvPr/>
        </p:nvGrpSpPr>
        <p:grpSpPr>
          <a:xfrm>
            <a:off x="9144000" y="9708804"/>
            <a:ext cx="9144000" cy="560871"/>
            <a:chOff x="0" y="0"/>
            <a:chExt cx="2408296" cy="147719"/>
          </a:xfrm>
        </p:grpSpPr>
        <p:sp>
          <p:nvSpPr>
            <p:cNvPr id="14" name="Freeform 14"/>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FFDE59"/>
            </a:solidFill>
          </p:spPr>
        </p:sp>
        <p:sp>
          <p:nvSpPr>
            <p:cNvPr id="15" name="TextBox 15"/>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graphicFrame>
        <p:nvGraphicFramePr>
          <p:cNvPr id="16" name="Object 16"/>
          <p:cNvGraphicFramePr/>
          <p:nvPr>
            <p:extLst>
              <p:ext uri="{D42A27DB-BD31-4B8C-83A1-F6EECF244321}">
                <p14:modId xmlns:p14="http://schemas.microsoft.com/office/powerpoint/2010/main" val="2484431996"/>
              </p:ext>
            </p:extLst>
          </p:nvPr>
        </p:nvGraphicFramePr>
        <p:xfrm>
          <a:off x="2133600" y="2422809"/>
          <a:ext cx="14773275" cy="7543800"/>
        </p:xfrm>
        <a:graphic>
          <a:graphicData uri="http://schemas.openxmlformats.org/presentationml/2006/ole">
            <mc:AlternateContent xmlns:mc="http://schemas.openxmlformats.org/markup-compatibility/2006">
              <mc:Choice xmlns:v="urn:schemas-microsoft-com:vml" Requires="v">
                <p:oleObj spid="_x0000_s8202" name="Worksheet" r:id="rId5" imgW="17716500" imgH="10490200" progId="Excel.Sheet.12">
                  <p:embed/>
                </p:oleObj>
              </mc:Choice>
              <mc:Fallback>
                <p:oleObj name="Worksheet" r:id="rId5" imgW="17716500" imgH="10490200" progId="Excel.Sheet.12">
                  <p:embed/>
                  <p:pic>
                    <p:nvPicPr>
                      <p:cNvPr id="0" name=""/>
                      <p:cNvPicPr/>
                      <p:nvPr/>
                    </p:nvPicPr>
                    <p:blipFill>
                      <a:blip r:embed="rId6"/>
                      <a:stretch>
                        <a:fillRect/>
                      </a:stretch>
                    </p:blipFill>
                    <p:spPr>
                      <a:xfrm>
                        <a:off x="2133600" y="2422809"/>
                        <a:ext cx="14773275" cy="7543800"/>
                      </a:xfrm>
                      <a:prstGeom prst="rect">
                        <a:avLst/>
                      </a:prstGeom>
                    </p:spPr>
                  </p:pic>
                </p:oleObj>
              </mc:Fallback>
            </mc:AlternateContent>
          </a:graphicData>
        </a:graphic>
      </p:graphicFrame>
      <p:sp>
        <p:nvSpPr>
          <p:cNvPr id="17" name="TextBox 17"/>
          <p:cNvSpPr txBox="1"/>
          <p:nvPr/>
        </p:nvSpPr>
        <p:spPr>
          <a:xfrm>
            <a:off x="1028700" y="1219912"/>
            <a:ext cx="15290653" cy="862867"/>
          </a:xfrm>
          <a:prstGeom prst="rect">
            <a:avLst/>
          </a:prstGeom>
        </p:spPr>
        <p:txBody>
          <a:bodyPr lIns="0" tIns="0" rIns="0" bIns="0" rtlCol="0" anchor="t">
            <a:spAutoFit/>
          </a:bodyPr>
          <a:lstStyle/>
          <a:p>
            <a:pPr algn="l">
              <a:lnSpc>
                <a:spcPts val="7040"/>
              </a:lnSpc>
              <a:spcBef>
                <a:spcPct val="0"/>
              </a:spcBef>
            </a:pPr>
            <a:r>
              <a:rPr lang="en-US" sz="5028" b="1">
                <a:solidFill>
                  <a:srgbClr val="1800AD"/>
                </a:solidFill>
                <a:latin typeface="Archivo Narrow Bold"/>
                <a:ea typeface="Archivo Narrow Bold"/>
                <a:cs typeface="Archivo Narrow Bold"/>
                <a:sym typeface="Archivo Narrow Bold"/>
              </a:rPr>
              <a:t>Penggabungan hasil topik model CTM dan BERTopic</a:t>
            </a:r>
          </a:p>
        </p:txBody>
      </p:sp>
      <p:sp>
        <p:nvSpPr>
          <p:cNvPr id="18" name="TextBox 18"/>
          <p:cNvSpPr txBox="1"/>
          <p:nvPr/>
        </p:nvSpPr>
        <p:spPr>
          <a:xfrm>
            <a:off x="1028700" y="215814"/>
            <a:ext cx="12992100" cy="785151"/>
          </a:xfrm>
          <a:prstGeom prst="rect">
            <a:avLst/>
          </a:prstGeom>
        </p:spPr>
        <p:txBody>
          <a:bodyPr wrap="square" lIns="0" tIns="0" rIns="0" bIns="0" rtlCol="0" anchor="t">
            <a:spAutoFit/>
          </a:bodyPr>
          <a:lstStyle/>
          <a:p>
            <a:pPr algn="l">
              <a:lnSpc>
                <a:spcPts val="6645"/>
              </a:lnSpc>
              <a:spcBef>
                <a:spcPct val="0"/>
              </a:spcBef>
            </a:pPr>
            <a:r>
              <a:rPr lang="en-US" sz="4746" b="1" dirty="0">
                <a:solidFill>
                  <a:srgbClr val="FF751F"/>
                </a:solidFill>
                <a:latin typeface="Montserrat Bold"/>
                <a:ea typeface="Montserrat Bold"/>
                <a:cs typeface="Montserrat Bold"/>
                <a:sym typeface="Montserrat Bold"/>
              </a:rPr>
              <a:t>19 | </a:t>
            </a:r>
            <a:r>
              <a:rPr lang="en-US" sz="4746" b="1" dirty="0" err="1">
                <a:solidFill>
                  <a:srgbClr val="FF751F"/>
                </a:solidFill>
                <a:latin typeface="Montserrat Bold"/>
                <a:ea typeface="Montserrat Bold"/>
                <a:cs typeface="Montserrat Bold"/>
                <a:sym typeface="Montserrat Bold"/>
              </a:rPr>
              <a:t>Analisis</a:t>
            </a:r>
            <a:r>
              <a:rPr lang="en-US" sz="4746" b="1" dirty="0">
                <a:solidFill>
                  <a:srgbClr val="FF751F"/>
                </a:solidFill>
                <a:latin typeface="Montserrat Bold"/>
                <a:ea typeface="Montserrat Bold"/>
                <a:cs typeface="Montserrat Bold"/>
                <a:sym typeface="Montserrat Bold"/>
              </a:rPr>
              <a:t> </a:t>
            </a:r>
            <a:r>
              <a:rPr lang="en-US" sz="4746" b="1" dirty="0" err="1">
                <a:solidFill>
                  <a:srgbClr val="FF751F"/>
                </a:solidFill>
                <a:latin typeface="Montserrat Bold"/>
                <a:ea typeface="Montserrat Bold"/>
                <a:cs typeface="Montserrat Bold"/>
                <a:sym typeface="Montserrat Bold"/>
              </a:rPr>
              <a:t>Gabungan</a:t>
            </a:r>
            <a:r>
              <a:rPr lang="en-US" sz="4746" b="1" dirty="0">
                <a:solidFill>
                  <a:srgbClr val="FF751F"/>
                </a:solidFill>
                <a:latin typeface="Montserrat Bold"/>
                <a:ea typeface="Montserrat Bold"/>
                <a:cs typeface="Montserrat Bold"/>
                <a:sym typeface="Montserrat Bold"/>
              </a:rPr>
              <a:t> CTM &amp; </a:t>
            </a:r>
            <a:r>
              <a:rPr lang="en-US" sz="4746" b="1" dirty="0" err="1">
                <a:solidFill>
                  <a:srgbClr val="FF751F"/>
                </a:solidFill>
                <a:latin typeface="Montserrat Bold"/>
                <a:ea typeface="Montserrat Bold"/>
                <a:cs typeface="Montserrat Bold"/>
                <a:sym typeface="Montserrat Bold"/>
              </a:rPr>
              <a:t>BERTopic</a:t>
            </a:r>
            <a:endParaRPr lang="en-US" sz="4746" b="1" dirty="0">
              <a:solidFill>
                <a:srgbClr val="FF751F"/>
              </a:solidFill>
              <a:latin typeface="Montserrat Bold"/>
              <a:ea typeface="Montserrat Bold"/>
              <a:cs typeface="Montserrat Bold"/>
              <a:sym typeface="Montserrat Bold"/>
            </a:endParaRPr>
          </a:p>
        </p:txBody>
      </p:sp>
      <p:sp>
        <p:nvSpPr>
          <p:cNvPr id="19" name="TextBox 19"/>
          <p:cNvSpPr txBox="1"/>
          <p:nvPr/>
        </p:nvSpPr>
        <p:spPr>
          <a:xfrm>
            <a:off x="6540484" y="2520485"/>
            <a:ext cx="4267084" cy="505508"/>
          </a:xfrm>
          <a:prstGeom prst="rect">
            <a:avLst/>
          </a:prstGeom>
        </p:spPr>
        <p:txBody>
          <a:bodyPr lIns="0" tIns="0" rIns="0" bIns="0" rtlCol="0" anchor="t">
            <a:spAutoFit/>
          </a:bodyPr>
          <a:lstStyle/>
          <a:p>
            <a:pPr algn="ctr">
              <a:lnSpc>
                <a:spcPts val="4162"/>
              </a:lnSpc>
            </a:pPr>
            <a:r>
              <a:rPr lang="en-US" sz="2973" b="1" dirty="0">
                <a:solidFill>
                  <a:srgbClr val="000000"/>
                </a:solidFill>
                <a:latin typeface="Canva Sans Bold"/>
                <a:ea typeface="Canva Sans Bold"/>
                <a:cs typeface="Canva Sans Bold"/>
                <a:sym typeface="Canva Sans Bold"/>
              </a:rPr>
              <a:t>Jaccard similarity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033559" flipV="1">
            <a:off x="-6899734" y="5748474"/>
            <a:ext cx="6313412" cy="11932565"/>
          </a:xfrm>
          <a:custGeom>
            <a:avLst/>
            <a:gdLst/>
            <a:ahLst/>
            <a:cxnLst/>
            <a:rect l="l" t="t" r="r" b="b"/>
            <a:pathLst>
              <a:path w="6313412" h="11932565">
                <a:moveTo>
                  <a:pt x="0" y="11932564"/>
                </a:moveTo>
                <a:lnTo>
                  <a:pt x="6313412" y="11932564"/>
                </a:lnTo>
                <a:lnTo>
                  <a:pt x="6313412" y="0"/>
                </a:lnTo>
                <a:lnTo>
                  <a:pt x="0" y="0"/>
                </a:lnTo>
                <a:lnTo>
                  <a:pt x="0" y="11932564"/>
                </a:lnTo>
                <a:close/>
              </a:path>
            </a:pathLst>
          </a:custGeom>
          <a:blipFill>
            <a:blip r:embed="rId4">
              <a:alphaModFix amt="7999"/>
              <a:extLst>
                <a:ext uri="{96DAC541-7B7A-43D3-8B79-37D633B846F1}">
                  <asvg:svgBlip xmlns:asvg="http://schemas.microsoft.com/office/drawing/2016/SVG/main" r:embed="rId5"/>
                </a:ext>
              </a:extLst>
            </a:blip>
            <a:stretch>
              <a:fillRect/>
            </a:stretch>
          </a:blipFill>
        </p:spPr>
      </p:sp>
      <p:grpSp>
        <p:nvGrpSpPr>
          <p:cNvPr id="3" name="Group 3"/>
          <p:cNvGrpSpPr/>
          <p:nvPr/>
        </p:nvGrpSpPr>
        <p:grpSpPr>
          <a:xfrm>
            <a:off x="0" y="9708804"/>
            <a:ext cx="9144000" cy="560871"/>
            <a:chOff x="0" y="0"/>
            <a:chExt cx="2408296" cy="147719"/>
          </a:xfrm>
        </p:grpSpPr>
        <p:sp>
          <p:nvSpPr>
            <p:cNvPr id="4" name="Freeform 4"/>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1800AD"/>
            </a:solidFill>
          </p:spPr>
        </p:sp>
        <p:sp>
          <p:nvSpPr>
            <p:cNvPr id="5" name="TextBox 5"/>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028700" y="2479309"/>
            <a:ext cx="8115300" cy="137058"/>
            <a:chOff x="0" y="0"/>
            <a:chExt cx="2137363" cy="36097"/>
          </a:xfrm>
        </p:grpSpPr>
        <p:sp>
          <p:nvSpPr>
            <p:cNvPr id="7" name="Freeform 7"/>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FFDE59"/>
            </a:solidFill>
          </p:spPr>
        </p:sp>
        <p:sp>
          <p:nvSpPr>
            <p:cNvPr id="8" name="TextBox 8"/>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9144000" y="2479309"/>
            <a:ext cx="8115300" cy="137058"/>
            <a:chOff x="0" y="0"/>
            <a:chExt cx="2137363" cy="36097"/>
          </a:xfrm>
        </p:grpSpPr>
        <p:sp>
          <p:nvSpPr>
            <p:cNvPr id="10" name="Freeform 10"/>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1800AD"/>
            </a:solidFill>
          </p:spPr>
        </p:sp>
        <p:sp>
          <p:nvSpPr>
            <p:cNvPr id="11" name="TextBox 11"/>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sp>
        <p:nvSpPr>
          <p:cNvPr id="12" name="Freeform 12"/>
          <p:cNvSpPr/>
          <p:nvPr/>
        </p:nvSpPr>
        <p:spPr>
          <a:xfrm>
            <a:off x="15487240" y="516545"/>
            <a:ext cx="1664226" cy="1616285"/>
          </a:xfrm>
          <a:custGeom>
            <a:avLst/>
            <a:gdLst/>
            <a:ahLst/>
            <a:cxnLst/>
            <a:rect l="l" t="t" r="r" b="b"/>
            <a:pathLst>
              <a:path w="1664226" h="1616285">
                <a:moveTo>
                  <a:pt x="0" y="0"/>
                </a:moveTo>
                <a:lnTo>
                  <a:pt x="1664226" y="0"/>
                </a:lnTo>
                <a:lnTo>
                  <a:pt x="1664226" y="1616285"/>
                </a:lnTo>
                <a:lnTo>
                  <a:pt x="0" y="1616285"/>
                </a:lnTo>
                <a:lnTo>
                  <a:pt x="0" y="0"/>
                </a:lnTo>
                <a:close/>
              </a:path>
            </a:pathLst>
          </a:custGeom>
          <a:blipFill>
            <a:blip r:embed="rId6"/>
            <a:stretch>
              <a:fillRect/>
            </a:stretch>
          </a:blipFill>
        </p:spPr>
      </p:sp>
      <p:grpSp>
        <p:nvGrpSpPr>
          <p:cNvPr id="13" name="Group 13"/>
          <p:cNvGrpSpPr/>
          <p:nvPr/>
        </p:nvGrpSpPr>
        <p:grpSpPr>
          <a:xfrm>
            <a:off x="9144000" y="9708804"/>
            <a:ext cx="9144000" cy="560871"/>
            <a:chOff x="0" y="0"/>
            <a:chExt cx="2408296" cy="147719"/>
          </a:xfrm>
        </p:grpSpPr>
        <p:sp>
          <p:nvSpPr>
            <p:cNvPr id="14" name="Freeform 14"/>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FFDE59"/>
            </a:solidFill>
          </p:spPr>
        </p:sp>
        <p:sp>
          <p:nvSpPr>
            <p:cNvPr id="15" name="TextBox 15"/>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graphicFrame>
        <p:nvGraphicFramePr>
          <p:cNvPr id="16" name="Object 16"/>
          <p:cNvGraphicFramePr/>
          <p:nvPr/>
        </p:nvGraphicFramePr>
        <p:xfrm>
          <a:off x="2389763" y="2892592"/>
          <a:ext cx="7185280" cy="8229600"/>
        </p:xfrm>
        <a:graphic>
          <a:graphicData uri="http://schemas.openxmlformats.org/presentationml/2006/ole">
            <mc:AlternateContent xmlns:mc="http://schemas.openxmlformats.org/markup-compatibility/2006">
              <mc:Choice xmlns:v="urn:schemas-microsoft-com:vml" Requires="v">
                <p:oleObj spid="_x0000_s9226" name="Worksheet" r:id="rId7" imgW="8826500" imgH="9867900" progId="Excel.Sheet.12">
                  <p:embed/>
                </p:oleObj>
              </mc:Choice>
              <mc:Fallback>
                <p:oleObj name="Worksheet" r:id="rId7" imgW="8826500" imgH="9867900" progId="Excel.Sheet.12">
                  <p:embed/>
                  <p:pic>
                    <p:nvPicPr>
                      <p:cNvPr id="0" name=""/>
                      <p:cNvPicPr/>
                      <p:nvPr/>
                    </p:nvPicPr>
                    <p:blipFill>
                      <a:blip r:embed="rId8"/>
                      <a:stretch>
                        <a:fillRect/>
                      </a:stretch>
                    </p:blipFill>
                    <p:spPr>
                      <a:xfrm>
                        <a:off x="2389763" y="2892592"/>
                        <a:ext cx="7185280" cy="8229600"/>
                      </a:xfrm>
                      <a:prstGeom prst="rect">
                        <a:avLst/>
                      </a:prstGeom>
                    </p:spPr>
                  </p:pic>
                </p:oleObj>
              </mc:Fallback>
            </mc:AlternateContent>
          </a:graphicData>
        </a:graphic>
      </p:graphicFrame>
      <p:sp>
        <p:nvSpPr>
          <p:cNvPr id="17" name="TextBox 17"/>
          <p:cNvSpPr txBox="1"/>
          <p:nvPr/>
        </p:nvSpPr>
        <p:spPr>
          <a:xfrm>
            <a:off x="1028700" y="1210387"/>
            <a:ext cx="11543683" cy="2025684"/>
          </a:xfrm>
          <a:prstGeom prst="rect">
            <a:avLst/>
          </a:prstGeom>
        </p:spPr>
        <p:txBody>
          <a:bodyPr lIns="0" tIns="0" rIns="0" bIns="0" rtlCol="0" anchor="t">
            <a:spAutoFit/>
          </a:bodyPr>
          <a:lstStyle/>
          <a:p>
            <a:pPr algn="l">
              <a:lnSpc>
                <a:spcPts val="8160"/>
              </a:lnSpc>
            </a:pPr>
            <a:r>
              <a:rPr lang="en-US" sz="5828" b="1">
                <a:solidFill>
                  <a:srgbClr val="1800AD"/>
                </a:solidFill>
                <a:latin typeface="Archivo Narrow Bold"/>
                <a:ea typeface="Archivo Narrow Bold"/>
                <a:cs typeface="Archivo Narrow Bold"/>
                <a:sym typeface="Archivo Narrow Bold"/>
              </a:rPr>
              <a:t>Human Interpretability Analysis</a:t>
            </a:r>
          </a:p>
          <a:p>
            <a:pPr algn="l">
              <a:lnSpc>
                <a:spcPts val="8160"/>
              </a:lnSpc>
              <a:spcBef>
                <a:spcPct val="0"/>
              </a:spcBef>
            </a:pPr>
            <a:endParaRPr lang="en-US" sz="5828" b="1">
              <a:solidFill>
                <a:srgbClr val="1800AD"/>
              </a:solidFill>
              <a:latin typeface="Archivo Narrow Bold"/>
              <a:ea typeface="Archivo Narrow Bold"/>
              <a:cs typeface="Archivo Narrow Bold"/>
              <a:sym typeface="Archivo Narrow Bold"/>
            </a:endParaRPr>
          </a:p>
        </p:txBody>
      </p:sp>
      <p:sp>
        <p:nvSpPr>
          <p:cNvPr id="18" name="TextBox 18"/>
          <p:cNvSpPr txBox="1"/>
          <p:nvPr/>
        </p:nvSpPr>
        <p:spPr>
          <a:xfrm>
            <a:off x="1028700" y="215814"/>
            <a:ext cx="13373100" cy="812886"/>
          </a:xfrm>
          <a:prstGeom prst="rect">
            <a:avLst/>
          </a:prstGeom>
        </p:spPr>
        <p:txBody>
          <a:bodyPr wrap="square" lIns="0" tIns="0" rIns="0" bIns="0" rtlCol="0" anchor="t">
            <a:spAutoFit/>
          </a:bodyPr>
          <a:lstStyle/>
          <a:p>
            <a:pPr algn="l">
              <a:lnSpc>
                <a:spcPts val="6645"/>
              </a:lnSpc>
              <a:spcBef>
                <a:spcPct val="0"/>
              </a:spcBef>
            </a:pPr>
            <a:r>
              <a:rPr lang="en-US" sz="4746" b="1" dirty="0">
                <a:solidFill>
                  <a:srgbClr val="FF751F"/>
                </a:solidFill>
                <a:latin typeface="Montserrat Bold"/>
                <a:ea typeface="Montserrat Bold"/>
                <a:cs typeface="Montserrat Bold"/>
                <a:sym typeface="Montserrat Bold"/>
              </a:rPr>
              <a:t>20 | </a:t>
            </a:r>
            <a:r>
              <a:rPr lang="en-US" sz="4746" b="1" dirty="0" err="1">
                <a:solidFill>
                  <a:srgbClr val="FF751F"/>
                </a:solidFill>
                <a:latin typeface="Montserrat Bold"/>
                <a:ea typeface="Montserrat Bold"/>
                <a:cs typeface="Montserrat Bold"/>
                <a:sym typeface="Montserrat Bold"/>
              </a:rPr>
              <a:t>Analisis</a:t>
            </a:r>
            <a:r>
              <a:rPr lang="en-US" sz="4746" b="1" dirty="0">
                <a:solidFill>
                  <a:srgbClr val="FF751F"/>
                </a:solidFill>
                <a:latin typeface="Montserrat Bold"/>
                <a:ea typeface="Montserrat Bold"/>
                <a:cs typeface="Montserrat Bold"/>
                <a:sym typeface="Montserrat Bold"/>
              </a:rPr>
              <a:t> </a:t>
            </a:r>
            <a:r>
              <a:rPr lang="en-US" sz="4746" b="1" dirty="0" err="1">
                <a:solidFill>
                  <a:srgbClr val="FF751F"/>
                </a:solidFill>
                <a:latin typeface="Montserrat Bold"/>
                <a:ea typeface="Montserrat Bold"/>
                <a:cs typeface="Montserrat Bold"/>
                <a:sym typeface="Montserrat Bold"/>
              </a:rPr>
              <a:t>Gabungan</a:t>
            </a:r>
            <a:r>
              <a:rPr lang="en-US" sz="4746" b="1" dirty="0">
                <a:solidFill>
                  <a:srgbClr val="FF751F"/>
                </a:solidFill>
                <a:latin typeface="Montserrat Bold"/>
                <a:ea typeface="Montserrat Bold"/>
                <a:cs typeface="Montserrat Bold"/>
                <a:sym typeface="Montserrat Bold"/>
              </a:rPr>
              <a:t> CTM &amp; </a:t>
            </a:r>
            <a:r>
              <a:rPr lang="en-US" sz="4746" b="1" dirty="0" err="1">
                <a:solidFill>
                  <a:srgbClr val="FF751F"/>
                </a:solidFill>
                <a:latin typeface="Montserrat Bold"/>
                <a:ea typeface="Montserrat Bold"/>
                <a:cs typeface="Montserrat Bold"/>
                <a:sym typeface="Montserrat Bold"/>
              </a:rPr>
              <a:t>BERTopic</a:t>
            </a:r>
            <a:endParaRPr lang="en-US" sz="4746" b="1" dirty="0">
              <a:solidFill>
                <a:srgbClr val="FF751F"/>
              </a:solidFill>
              <a:latin typeface="Montserrat Bold"/>
              <a:ea typeface="Montserrat Bold"/>
              <a:cs typeface="Montserrat Bold"/>
              <a:sym typeface="Montserrat Bo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assets/logo.png"/>
          <p:cNvPicPr>
            <a:picLocks noChangeAspect="1"/>
          </p:cNvPicPr>
          <p:nvPr/>
        </p:nvPicPr>
        <p:blipFill>
          <a:blip r:embed="rId3"/>
          <a:stretch>
            <a:fillRect/>
          </a:stretch>
        </p:blipFill>
        <p:spPr>
          <a:xfrm>
            <a:off x="16664940" y="384048"/>
            <a:ext cx="987552" cy="960120"/>
          </a:xfrm>
          <a:prstGeom prst="rect">
            <a:avLst/>
          </a:prstGeom>
        </p:spPr>
      </p:pic>
      <p:sp>
        <p:nvSpPr>
          <p:cNvPr id="3" name="Text 0"/>
          <p:cNvSpPr/>
          <p:nvPr/>
        </p:nvSpPr>
        <p:spPr>
          <a:xfrm>
            <a:off x="754380" y="411480"/>
            <a:ext cx="14401800" cy="548640"/>
          </a:xfrm>
          <a:prstGeom prst="rect">
            <a:avLst/>
          </a:prstGeom>
          <a:noFill/>
          <a:ln/>
        </p:spPr>
        <p:txBody>
          <a:bodyPr wrap="square" lIns="0" tIns="0" rIns="0" bIns="0" rtlCol="0" anchor="ctr"/>
          <a:lstStyle/>
          <a:p>
            <a:r>
              <a:rPr lang="en-US" sz="2400" b="1" dirty="0">
                <a:solidFill>
                  <a:srgbClr val="FF751F"/>
                </a:solidFill>
                <a:latin typeface="Calibri" pitchFamily="34" charset="0"/>
                <a:ea typeface="Calibri" pitchFamily="34" charset="-122"/>
                <a:cs typeface="Calibri" pitchFamily="34" charset="-120"/>
              </a:rPr>
              <a:t>20| </a:t>
            </a:r>
            <a:r>
              <a:rPr lang="en-US" sz="2400" b="1" dirty="0" err="1">
                <a:solidFill>
                  <a:srgbClr val="FF751F"/>
                </a:solidFill>
                <a:latin typeface="Calibri" pitchFamily="34" charset="0"/>
                <a:ea typeface="Calibri" pitchFamily="34" charset="-122"/>
                <a:cs typeface="Calibri" pitchFamily="34" charset="-120"/>
              </a:rPr>
              <a:t>Temuan</a:t>
            </a:r>
            <a:r>
              <a:rPr lang="en-US" sz="2400" b="1" dirty="0">
                <a:solidFill>
                  <a:srgbClr val="FF751F"/>
                </a:solidFill>
                <a:latin typeface="Calibri" pitchFamily="34" charset="0"/>
                <a:ea typeface="Calibri" pitchFamily="34" charset="-122"/>
                <a:cs typeface="Calibri" pitchFamily="34" charset="-120"/>
              </a:rPr>
              <a:t> Utama</a:t>
            </a:r>
            <a:endParaRPr lang="en-US" sz="2400" dirty="0"/>
          </a:p>
        </p:txBody>
      </p:sp>
      <p:sp>
        <p:nvSpPr>
          <p:cNvPr id="5" name="Shape 2"/>
          <p:cNvSpPr/>
          <p:nvPr/>
        </p:nvSpPr>
        <p:spPr>
          <a:xfrm>
            <a:off x="754380" y="1947672"/>
            <a:ext cx="2331720" cy="82296"/>
          </a:xfrm>
          <a:prstGeom prst="rect">
            <a:avLst/>
          </a:prstGeom>
          <a:solidFill>
            <a:srgbClr val="FFDE59"/>
          </a:solidFill>
          <a:ln/>
        </p:spPr>
      </p:sp>
      <p:sp>
        <p:nvSpPr>
          <p:cNvPr id="6" name="Shape 3"/>
          <p:cNvSpPr/>
          <p:nvPr/>
        </p:nvSpPr>
        <p:spPr>
          <a:xfrm>
            <a:off x="3086100" y="1947672"/>
            <a:ext cx="14470380" cy="82296"/>
          </a:xfrm>
          <a:prstGeom prst="rect">
            <a:avLst/>
          </a:prstGeom>
          <a:solidFill>
            <a:srgbClr val="1800AD"/>
          </a:solidFill>
          <a:ln/>
        </p:spPr>
      </p:sp>
      <p:sp>
        <p:nvSpPr>
          <p:cNvPr id="7" name="Shape 4"/>
          <p:cNvSpPr/>
          <p:nvPr/>
        </p:nvSpPr>
        <p:spPr>
          <a:xfrm>
            <a:off x="0" y="9793224"/>
            <a:ext cx="14950440" cy="493776"/>
          </a:xfrm>
          <a:prstGeom prst="rect">
            <a:avLst/>
          </a:prstGeom>
          <a:solidFill>
            <a:srgbClr val="1800AD"/>
          </a:solidFill>
          <a:ln/>
        </p:spPr>
      </p:sp>
      <p:sp>
        <p:nvSpPr>
          <p:cNvPr id="8" name="Shape 5"/>
          <p:cNvSpPr/>
          <p:nvPr/>
        </p:nvSpPr>
        <p:spPr>
          <a:xfrm>
            <a:off x="14950441" y="9793224"/>
            <a:ext cx="3337103" cy="493776"/>
          </a:xfrm>
          <a:prstGeom prst="rect">
            <a:avLst/>
          </a:prstGeom>
          <a:solidFill>
            <a:srgbClr val="FFDE59"/>
          </a:solidFill>
          <a:ln/>
        </p:spPr>
      </p:sp>
      <p:sp>
        <p:nvSpPr>
          <p:cNvPr id="9" name="Text 6"/>
          <p:cNvSpPr/>
          <p:nvPr/>
        </p:nvSpPr>
        <p:spPr>
          <a:xfrm>
            <a:off x="14950440" y="9793224"/>
            <a:ext cx="3223260" cy="493776"/>
          </a:xfrm>
          <a:prstGeom prst="rect">
            <a:avLst/>
          </a:prstGeom>
          <a:noFill/>
          <a:ln/>
        </p:spPr>
        <p:txBody>
          <a:bodyPr wrap="square" lIns="0" tIns="0" rIns="0" bIns="0" rtlCol="0" anchor="ctr"/>
          <a:lstStyle/>
          <a:p>
            <a:pPr algn="ctr"/>
            <a:r>
              <a:rPr lang="en-US" sz="1350" b="1" dirty="0">
                <a:solidFill>
                  <a:srgbClr val="1800AD"/>
                </a:solidFill>
                <a:latin typeface="Calibri" pitchFamily="34" charset="0"/>
                <a:ea typeface="Calibri" pitchFamily="34" charset="-122"/>
                <a:cs typeface="Calibri" pitchFamily="34" charset="-120"/>
              </a:rPr>
              <a:t>UNIVERSITAS PAMULANG</a:t>
            </a:r>
            <a:endParaRPr lang="en-US" sz="1350" dirty="0"/>
          </a:p>
        </p:txBody>
      </p:sp>
      <p:sp>
        <p:nvSpPr>
          <p:cNvPr id="11" name="Shape 8"/>
          <p:cNvSpPr/>
          <p:nvPr/>
        </p:nvSpPr>
        <p:spPr>
          <a:xfrm>
            <a:off x="754380" y="2948940"/>
            <a:ext cx="5417820" cy="1851660"/>
          </a:xfrm>
          <a:prstGeom prst="roundRect">
            <a:avLst>
              <a:gd name="adj" fmla="val 2634"/>
            </a:avLst>
          </a:prstGeom>
          <a:solidFill>
            <a:srgbClr val="1800AD"/>
          </a:solidFill>
          <a:ln/>
        </p:spPr>
      </p:sp>
      <p:sp>
        <p:nvSpPr>
          <p:cNvPr id="12" name="Text 9"/>
          <p:cNvSpPr/>
          <p:nvPr/>
        </p:nvSpPr>
        <p:spPr>
          <a:xfrm>
            <a:off x="1028700" y="3336036"/>
            <a:ext cx="4869180" cy="754380"/>
          </a:xfrm>
          <a:prstGeom prst="rect">
            <a:avLst/>
          </a:prstGeom>
          <a:noFill/>
          <a:ln/>
        </p:spPr>
        <p:txBody>
          <a:bodyPr wrap="square" lIns="0" tIns="0" rIns="0" bIns="0" rtlCol="0" anchor="t"/>
          <a:lstStyle/>
          <a:p>
            <a:r>
              <a:rPr lang="en-US" sz="2175" b="1" dirty="0">
                <a:solidFill>
                  <a:srgbClr val="FFFFFF"/>
                </a:solidFill>
                <a:latin typeface="Calibri" pitchFamily="34" charset="0"/>
                <a:ea typeface="Calibri" pitchFamily="34" charset="-122"/>
                <a:cs typeface="Calibri" pitchFamily="34" charset="-120"/>
              </a:rPr>
              <a:t>Aqidah (Keimanan)</a:t>
            </a:r>
            <a:endParaRPr lang="en-US" sz="2175" dirty="0"/>
          </a:p>
        </p:txBody>
      </p:sp>
      <p:sp>
        <p:nvSpPr>
          <p:cNvPr id="13" name="Text 10"/>
          <p:cNvSpPr/>
          <p:nvPr/>
        </p:nvSpPr>
        <p:spPr>
          <a:xfrm>
            <a:off x="1028700" y="3977640"/>
            <a:ext cx="4869180" cy="685800"/>
          </a:xfrm>
          <a:prstGeom prst="rect">
            <a:avLst/>
          </a:prstGeom>
          <a:noFill/>
          <a:ln/>
        </p:spPr>
        <p:txBody>
          <a:bodyPr wrap="square" lIns="0" tIns="0" rIns="0" bIns="0" rtlCol="0" anchor="ctr"/>
          <a:lstStyle/>
          <a:p>
            <a:r>
              <a:rPr lang="en-US" sz="3000" b="1" dirty="0">
                <a:solidFill>
                  <a:srgbClr val="FFDE59"/>
                </a:solidFill>
                <a:latin typeface="Calibri" pitchFamily="34" charset="0"/>
                <a:ea typeface="Calibri" pitchFamily="34" charset="-122"/>
                <a:cs typeface="Calibri" pitchFamily="34" charset="-120"/>
              </a:rPr>
              <a:t>12 topik</a:t>
            </a:r>
            <a:endParaRPr lang="en-US" sz="3000" dirty="0"/>
          </a:p>
        </p:txBody>
      </p:sp>
      <p:sp>
        <p:nvSpPr>
          <p:cNvPr id="14" name="Text 11"/>
          <p:cNvSpPr/>
          <p:nvPr/>
        </p:nvSpPr>
        <p:spPr>
          <a:xfrm>
            <a:off x="1028700" y="3017520"/>
            <a:ext cx="4869180" cy="342900"/>
          </a:xfrm>
          <a:prstGeom prst="rect">
            <a:avLst/>
          </a:prstGeom>
          <a:noFill/>
          <a:ln/>
        </p:spPr>
        <p:txBody>
          <a:bodyPr wrap="square" lIns="0" tIns="0" rIns="0" bIns="0" rtlCol="0" anchor="ctr"/>
          <a:lstStyle/>
          <a:p>
            <a:r>
              <a:rPr lang="en-US" sz="1350" b="1" dirty="0">
                <a:solidFill>
                  <a:srgbClr val="5CE1E6"/>
                </a:solidFill>
                <a:latin typeface="Calibri" pitchFamily="34" charset="0"/>
                <a:ea typeface="Calibri" pitchFamily="34" charset="-122"/>
                <a:cs typeface="Calibri" pitchFamily="34" charset="-120"/>
              </a:rPr>
              <a:t>TEMA DOMINAN</a:t>
            </a:r>
            <a:endParaRPr lang="en-US" sz="1350" dirty="0"/>
          </a:p>
        </p:txBody>
      </p:sp>
      <p:sp>
        <p:nvSpPr>
          <p:cNvPr id="15" name="Shape 12"/>
          <p:cNvSpPr/>
          <p:nvPr/>
        </p:nvSpPr>
        <p:spPr>
          <a:xfrm>
            <a:off x="6377940" y="2948940"/>
            <a:ext cx="5417820" cy="1851660"/>
          </a:xfrm>
          <a:prstGeom prst="roundRect">
            <a:avLst>
              <a:gd name="adj" fmla="val 5926"/>
            </a:avLst>
          </a:prstGeom>
          <a:solidFill>
            <a:srgbClr val="FF751F"/>
          </a:solidFill>
          <a:ln/>
        </p:spPr>
      </p:sp>
      <p:sp>
        <p:nvSpPr>
          <p:cNvPr id="16" name="Text 13"/>
          <p:cNvSpPr/>
          <p:nvPr/>
        </p:nvSpPr>
        <p:spPr>
          <a:xfrm>
            <a:off x="6652260" y="3276600"/>
            <a:ext cx="4869180" cy="754380"/>
          </a:xfrm>
          <a:prstGeom prst="rect">
            <a:avLst/>
          </a:prstGeom>
          <a:noFill/>
          <a:ln/>
        </p:spPr>
        <p:txBody>
          <a:bodyPr wrap="square" lIns="0" tIns="0" rIns="0" bIns="0" rtlCol="0" anchor="t"/>
          <a:lstStyle/>
          <a:p>
            <a:r>
              <a:rPr lang="en-US" sz="2175" b="1" dirty="0">
                <a:solidFill>
                  <a:srgbClr val="FFFFFF"/>
                </a:solidFill>
                <a:latin typeface="Calibri" pitchFamily="34" charset="0"/>
                <a:ea typeface="Calibri" pitchFamily="34" charset="-122"/>
                <a:cs typeface="Calibri" pitchFamily="34" charset="-120"/>
              </a:rPr>
              <a:t>Eskatologi (Akhirat)</a:t>
            </a:r>
            <a:endParaRPr lang="en-US" sz="2175" dirty="0"/>
          </a:p>
        </p:txBody>
      </p:sp>
      <p:sp>
        <p:nvSpPr>
          <p:cNvPr id="17" name="Text 14"/>
          <p:cNvSpPr/>
          <p:nvPr/>
        </p:nvSpPr>
        <p:spPr>
          <a:xfrm>
            <a:off x="6652260" y="3977640"/>
            <a:ext cx="4869180" cy="685800"/>
          </a:xfrm>
          <a:prstGeom prst="rect">
            <a:avLst/>
          </a:prstGeom>
          <a:noFill/>
          <a:ln/>
        </p:spPr>
        <p:txBody>
          <a:bodyPr wrap="square" lIns="0" tIns="0" rIns="0" bIns="0" rtlCol="0" anchor="ctr"/>
          <a:lstStyle/>
          <a:p>
            <a:r>
              <a:rPr lang="en-US" sz="3000" b="1" dirty="0">
                <a:solidFill>
                  <a:srgbClr val="FFDE59"/>
                </a:solidFill>
                <a:latin typeface="Calibri" pitchFamily="34" charset="0"/>
                <a:ea typeface="Calibri" pitchFamily="34" charset="-122"/>
                <a:cs typeface="Calibri" pitchFamily="34" charset="-120"/>
              </a:rPr>
              <a:t>11 topik</a:t>
            </a:r>
            <a:endParaRPr lang="en-US" sz="3000" dirty="0"/>
          </a:p>
        </p:txBody>
      </p:sp>
      <p:sp>
        <p:nvSpPr>
          <p:cNvPr id="18" name="Text 15"/>
          <p:cNvSpPr/>
          <p:nvPr/>
        </p:nvSpPr>
        <p:spPr>
          <a:xfrm>
            <a:off x="6652260" y="3017520"/>
            <a:ext cx="4869180" cy="342900"/>
          </a:xfrm>
          <a:prstGeom prst="rect">
            <a:avLst/>
          </a:prstGeom>
          <a:noFill/>
          <a:ln/>
        </p:spPr>
        <p:txBody>
          <a:bodyPr wrap="square" lIns="0" tIns="0" rIns="0" bIns="0" rtlCol="0" anchor="ctr"/>
          <a:lstStyle/>
          <a:p>
            <a:r>
              <a:rPr lang="en-US" sz="1350" b="1" dirty="0">
                <a:solidFill>
                  <a:srgbClr val="5CE1E6"/>
                </a:solidFill>
                <a:latin typeface="Calibri" pitchFamily="34" charset="0"/>
                <a:ea typeface="Calibri" pitchFamily="34" charset="-122"/>
                <a:cs typeface="Calibri" pitchFamily="34" charset="-120"/>
              </a:rPr>
              <a:t>TEMA DOMINAN</a:t>
            </a:r>
            <a:endParaRPr lang="en-US" sz="1350" dirty="0"/>
          </a:p>
        </p:txBody>
      </p:sp>
      <p:sp>
        <p:nvSpPr>
          <p:cNvPr id="19" name="Shape 16"/>
          <p:cNvSpPr/>
          <p:nvPr/>
        </p:nvSpPr>
        <p:spPr>
          <a:xfrm>
            <a:off x="12001500" y="2948940"/>
            <a:ext cx="5417820" cy="1851660"/>
          </a:xfrm>
          <a:prstGeom prst="roundRect">
            <a:avLst>
              <a:gd name="adj" fmla="val 5926"/>
            </a:avLst>
          </a:prstGeom>
          <a:solidFill>
            <a:srgbClr val="F4F5FB"/>
          </a:solidFill>
          <a:ln/>
        </p:spPr>
      </p:sp>
      <p:sp>
        <p:nvSpPr>
          <p:cNvPr id="20" name="Text 17"/>
          <p:cNvSpPr/>
          <p:nvPr/>
        </p:nvSpPr>
        <p:spPr>
          <a:xfrm>
            <a:off x="12275820" y="3154680"/>
            <a:ext cx="4869180" cy="754380"/>
          </a:xfrm>
          <a:prstGeom prst="rect">
            <a:avLst/>
          </a:prstGeom>
          <a:noFill/>
          <a:ln/>
        </p:spPr>
        <p:txBody>
          <a:bodyPr wrap="square" lIns="0" tIns="0" rIns="0" bIns="0" rtlCol="0" anchor="t"/>
          <a:lstStyle/>
          <a:p>
            <a:r>
              <a:rPr lang="en-US" sz="2175" b="1" dirty="0">
                <a:solidFill>
                  <a:srgbClr val="1800AD"/>
                </a:solidFill>
                <a:latin typeface="Calibri" pitchFamily="34" charset="0"/>
                <a:ea typeface="Calibri" pitchFamily="34" charset="-122"/>
                <a:cs typeface="Calibri" pitchFamily="34" charset="-120"/>
              </a:rPr>
              <a:t>Akhlak (Moral &amp; Sikap)</a:t>
            </a:r>
            <a:endParaRPr lang="en-US" sz="2175" dirty="0"/>
          </a:p>
        </p:txBody>
      </p:sp>
      <p:sp>
        <p:nvSpPr>
          <p:cNvPr id="21" name="Text 18"/>
          <p:cNvSpPr/>
          <p:nvPr/>
        </p:nvSpPr>
        <p:spPr>
          <a:xfrm>
            <a:off x="12275820" y="3977640"/>
            <a:ext cx="4869180" cy="685800"/>
          </a:xfrm>
          <a:prstGeom prst="rect">
            <a:avLst/>
          </a:prstGeom>
          <a:noFill/>
          <a:ln/>
        </p:spPr>
        <p:txBody>
          <a:bodyPr wrap="square" lIns="0" tIns="0" rIns="0" bIns="0" rtlCol="0" anchor="ctr"/>
          <a:lstStyle/>
          <a:p>
            <a:r>
              <a:rPr lang="en-US" sz="3000" b="1" dirty="0">
                <a:solidFill>
                  <a:srgbClr val="FF751F"/>
                </a:solidFill>
                <a:latin typeface="Calibri" pitchFamily="34" charset="0"/>
                <a:ea typeface="Calibri" pitchFamily="34" charset="-122"/>
                <a:cs typeface="Calibri" pitchFamily="34" charset="-120"/>
              </a:rPr>
              <a:t>7 topik</a:t>
            </a:r>
            <a:endParaRPr lang="en-US" sz="3000" dirty="0"/>
          </a:p>
        </p:txBody>
      </p:sp>
      <p:sp>
        <p:nvSpPr>
          <p:cNvPr id="22" name="Shape 19"/>
          <p:cNvSpPr/>
          <p:nvPr/>
        </p:nvSpPr>
        <p:spPr>
          <a:xfrm>
            <a:off x="754380" y="5047488"/>
            <a:ext cx="5417820" cy="1851660"/>
          </a:xfrm>
          <a:prstGeom prst="roundRect">
            <a:avLst>
              <a:gd name="adj" fmla="val 5926"/>
            </a:avLst>
          </a:prstGeom>
          <a:solidFill>
            <a:srgbClr val="F4F5FB"/>
          </a:solidFill>
          <a:ln/>
        </p:spPr>
      </p:sp>
      <p:sp>
        <p:nvSpPr>
          <p:cNvPr id="23" name="Text 20"/>
          <p:cNvSpPr/>
          <p:nvPr/>
        </p:nvSpPr>
        <p:spPr>
          <a:xfrm>
            <a:off x="1028700" y="5253228"/>
            <a:ext cx="4869180" cy="754380"/>
          </a:xfrm>
          <a:prstGeom prst="rect">
            <a:avLst/>
          </a:prstGeom>
          <a:noFill/>
          <a:ln/>
        </p:spPr>
        <p:txBody>
          <a:bodyPr wrap="square" lIns="0" tIns="0" rIns="0" bIns="0" rtlCol="0" anchor="t"/>
          <a:lstStyle/>
          <a:p>
            <a:r>
              <a:rPr lang="en-US" sz="2175" b="1" dirty="0">
                <a:solidFill>
                  <a:srgbClr val="1800AD"/>
                </a:solidFill>
                <a:latin typeface="Calibri" pitchFamily="34" charset="0"/>
                <a:ea typeface="Calibri" pitchFamily="34" charset="-122"/>
                <a:cs typeface="Calibri" pitchFamily="34" charset="-120"/>
              </a:rPr>
              <a:t>Syariah (Hukum &amp; Ibadah)</a:t>
            </a:r>
            <a:endParaRPr lang="en-US" sz="2175" dirty="0"/>
          </a:p>
        </p:txBody>
      </p:sp>
      <p:sp>
        <p:nvSpPr>
          <p:cNvPr id="24" name="Text 21"/>
          <p:cNvSpPr/>
          <p:nvPr/>
        </p:nvSpPr>
        <p:spPr>
          <a:xfrm>
            <a:off x="1028700" y="6076188"/>
            <a:ext cx="4869180" cy="685800"/>
          </a:xfrm>
          <a:prstGeom prst="rect">
            <a:avLst/>
          </a:prstGeom>
          <a:noFill/>
          <a:ln/>
        </p:spPr>
        <p:txBody>
          <a:bodyPr wrap="square" lIns="0" tIns="0" rIns="0" bIns="0" rtlCol="0" anchor="ctr"/>
          <a:lstStyle/>
          <a:p>
            <a:r>
              <a:rPr lang="en-US" sz="3000" b="1" dirty="0">
                <a:solidFill>
                  <a:srgbClr val="FF751F"/>
                </a:solidFill>
                <a:latin typeface="Calibri" pitchFamily="34" charset="0"/>
                <a:ea typeface="Calibri" pitchFamily="34" charset="-122"/>
                <a:cs typeface="Calibri" pitchFamily="34" charset="-120"/>
              </a:rPr>
              <a:t>5 topik</a:t>
            </a:r>
            <a:endParaRPr lang="en-US" sz="3000" dirty="0"/>
          </a:p>
        </p:txBody>
      </p:sp>
      <p:sp>
        <p:nvSpPr>
          <p:cNvPr id="25" name="Shape 22"/>
          <p:cNvSpPr/>
          <p:nvPr/>
        </p:nvSpPr>
        <p:spPr>
          <a:xfrm>
            <a:off x="6377940" y="5047488"/>
            <a:ext cx="5417820" cy="1851660"/>
          </a:xfrm>
          <a:prstGeom prst="roundRect">
            <a:avLst>
              <a:gd name="adj" fmla="val 5926"/>
            </a:avLst>
          </a:prstGeom>
          <a:solidFill>
            <a:srgbClr val="F4F5FB"/>
          </a:solidFill>
          <a:ln/>
        </p:spPr>
      </p:sp>
      <p:sp>
        <p:nvSpPr>
          <p:cNvPr id="26" name="Text 23"/>
          <p:cNvSpPr/>
          <p:nvPr/>
        </p:nvSpPr>
        <p:spPr>
          <a:xfrm>
            <a:off x="6652260" y="5253228"/>
            <a:ext cx="4869180" cy="754380"/>
          </a:xfrm>
          <a:prstGeom prst="rect">
            <a:avLst/>
          </a:prstGeom>
          <a:noFill/>
          <a:ln/>
        </p:spPr>
        <p:txBody>
          <a:bodyPr wrap="square" lIns="0" tIns="0" rIns="0" bIns="0" rtlCol="0" anchor="t"/>
          <a:lstStyle/>
          <a:p>
            <a:r>
              <a:rPr lang="en-US" sz="2175" b="1" dirty="0">
                <a:solidFill>
                  <a:srgbClr val="1800AD"/>
                </a:solidFill>
                <a:latin typeface="Calibri" pitchFamily="34" charset="0"/>
                <a:ea typeface="Calibri" pitchFamily="34" charset="-122"/>
                <a:cs typeface="Calibri" pitchFamily="34" charset="-120"/>
              </a:rPr>
              <a:t>Alam (Kauniyah)</a:t>
            </a:r>
            <a:endParaRPr lang="en-US" sz="2175" dirty="0"/>
          </a:p>
        </p:txBody>
      </p:sp>
      <p:sp>
        <p:nvSpPr>
          <p:cNvPr id="27" name="Text 24"/>
          <p:cNvSpPr/>
          <p:nvPr/>
        </p:nvSpPr>
        <p:spPr>
          <a:xfrm>
            <a:off x="6652260" y="6076188"/>
            <a:ext cx="4869180" cy="685800"/>
          </a:xfrm>
          <a:prstGeom prst="rect">
            <a:avLst/>
          </a:prstGeom>
          <a:noFill/>
          <a:ln/>
        </p:spPr>
        <p:txBody>
          <a:bodyPr wrap="square" lIns="0" tIns="0" rIns="0" bIns="0" rtlCol="0" anchor="ctr"/>
          <a:lstStyle/>
          <a:p>
            <a:r>
              <a:rPr lang="en-US" sz="3000" b="1" dirty="0">
                <a:solidFill>
                  <a:srgbClr val="FF751F"/>
                </a:solidFill>
                <a:latin typeface="Calibri" pitchFamily="34" charset="0"/>
                <a:ea typeface="Calibri" pitchFamily="34" charset="-122"/>
                <a:cs typeface="Calibri" pitchFamily="34" charset="-120"/>
              </a:rPr>
              <a:t>5 topik</a:t>
            </a:r>
            <a:endParaRPr lang="en-US" sz="3000" dirty="0"/>
          </a:p>
        </p:txBody>
      </p:sp>
      <p:sp>
        <p:nvSpPr>
          <p:cNvPr id="28" name="Shape 25"/>
          <p:cNvSpPr/>
          <p:nvPr/>
        </p:nvSpPr>
        <p:spPr>
          <a:xfrm>
            <a:off x="12001500" y="5047488"/>
            <a:ext cx="5417820" cy="1851660"/>
          </a:xfrm>
          <a:prstGeom prst="roundRect">
            <a:avLst>
              <a:gd name="adj" fmla="val 5926"/>
            </a:avLst>
          </a:prstGeom>
          <a:solidFill>
            <a:srgbClr val="F4F5FB"/>
          </a:solidFill>
          <a:ln/>
        </p:spPr>
      </p:sp>
      <p:sp>
        <p:nvSpPr>
          <p:cNvPr id="29" name="Text 26"/>
          <p:cNvSpPr/>
          <p:nvPr/>
        </p:nvSpPr>
        <p:spPr>
          <a:xfrm>
            <a:off x="12275820" y="5253228"/>
            <a:ext cx="4869180" cy="754380"/>
          </a:xfrm>
          <a:prstGeom prst="rect">
            <a:avLst/>
          </a:prstGeom>
          <a:noFill/>
          <a:ln/>
        </p:spPr>
        <p:txBody>
          <a:bodyPr wrap="square" lIns="0" tIns="0" rIns="0" bIns="0" rtlCol="0" anchor="t"/>
          <a:lstStyle/>
          <a:p>
            <a:r>
              <a:rPr lang="en-US" sz="2175" b="1" dirty="0">
                <a:solidFill>
                  <a:srgbClr val="1800AD"/>
                </a:solidFill>
                <a:latin typeface="Calibri" pitchFamily="34" charset="0"/>
                <a:ea typeface="Calibri" pitchFamily="34" charset="-122"/>
                <a:cs typeface="Calibri" pitchFamily="34" charset="-120"/>
              </a:rPr>
              <a:t>Muamalah (Sosial)</a:t>
            </a:r>
            <a:endParaRPr lang="en-US" sz="2175" dirty="0"/>
          </a:p>
        </p:txBody>
      </p:sp>
      <p:sp>
        <p:nvSpPr>
          <p:cNvPr id="30" name="Text 27"/>
          <p:cNvSpPr/>
          <p:nvPr/>
        </p:nvSpPr>
        <p:spPr>
          <a:xfrm>
            <a:off x="12275820" y="6076188"/>
            <a:ext cx="4869180" cy="685800"/>
          </a:xfrm>
          <a:prstGeom prst="rect">
            <a:avLst/>
          </a:prstGeom>
          <a:noFill/>
          <a:ln/>
        </p:spPr>
        <p:txBody>
          <a:bodyPr wrap="square" lIns="0" tIns="0" rIns="0" bIns="0" rtlCol="0" anchor="ctr"/>
          <a:lstStyle/>
          <a:p>
            <a:r>
              <a:rPr lang="en-US" sz="3000" b="1" dirty="0">
                <a:solidFill>
                  <a:srgbClr val="FF751F"/>
                </a:solidFill>
                <a:latin typeface="Calibri" pitchFamily="34" charset="0"/>
                <a:ea typeface="Calibri" pitchFamily="34" charset="-122"/>
                <a:cs typeface="Calibri" pitchFamily="34" charset="-120"/>
              </a:rPr>
              <a:t>3 topik</a:t>
            </a:r>
            <a:endParaRPr lang="en-US" sz="3000" dirty="0"/>
          </a:p>
        </p:txBody>
      </p:sp>
      <p:sp>
        <p:nvSpPr>
          <p:cNvPr id="31" name="Shape 28"/>
          <p:cNvSpPr/>
          <p:nvPr/>
        </p:nvSpPr>
        <p:spPr>
          <a:xfrm>
            <a:off x="754380" y="7146036"/>
            <a:ext cx="5417820" cy="1851660"/>
          </a:xfrm>
          <a:prstGeom prst="roundRect">
            <a:avLst>
              <a:gd name="adj" fmla="val 5926"/>
            </a:avLst>
          </a:prstGeom>
          <a:solidFill>
            <a:srgbClr val="F4F5FB"/>
          </a:solidFill>
          <a:ln/>
        </p:spPr>
      </p:sp>
      <p:sp>
        <p:nvSpPr>
          <p:cNvPr id="32" name="Text 29"/>
          <p:cNvSpPr/>
          <p:nvPr/>
        </p:nvSpPr>
        <p:spPr>
          <a:xfrm>
            <a:off x="1028700" y="7351776"/>
            <a:ext cx="4869180" cy="754380"/>
          </a:xfrm>
          <a:prstGeom prst="rect">
            <a:avLst/>
          </a:prstGeom>
          <a:noFill/>
          <a:ln/>
        </p:spPr>
        <p:txBody>
          <a:bodyPr wrap="square" lIns="0" tIns="0" rIns="0" bIns="0" rtlCol="0" anchor="t"/>
          <a:lstStyle/>
          <a:p>
            <a:r>
              <a:rPr lang="en-US" sz="2175" b="1" dirty="0">
                <a:solidFill>
                  <a:srgbClr val="1800AD"/>
                </a:solidFill>
                <a:latin typeface="Calibri" pitchFamily="34" charset="0"/>
                <a:ea typeface="Calibri" pitchFamily="34" charset="-122"/>
                <a:cs typeface="Calibri" pitchFamily="34" charset="-120"/>
              </a:rPr>
              <a:t>Ilmu Pengetahuan (Science)</a:t>
            </a:r>
            <a:endParaRPr lang="en-US" sz="2175" dirty="0"/>
          </a:p>
        </p:txBody>
      </p:sp>
      <p:sp>
        <p:nvSpPr>
          <p:cNvPr id="33" name="Text 30"/>
          <p:cNvSpPr/>
          <p:nvPr/>
        </p:nvSpPr>
        <p:spPr>
          <a:xfrm>
            <a:off x="1028700" y="8174736"/>
            <a:ext cx="4869180" cy="685800"/>
          </a:xfrm>
          <a:prstGeom prst="rect">
            <a:avLst/>
          </a:prstGeom>
          <a:noFill/>
          <a:ln/>
        </p:spPr>
        <p:txBody>
          <a:bodyPr wrap="square" lIns="0" tIns="0" rIns="0" bIns="0" rtlCol="0" anchor="ctr"/>
          <a:lstStyle/>
          <a:p>
            <a:r>
              <a:rPr lang="en-US" sz="3000" b="1" dirty="0">
                <a:solidFill>
                  <a:srgbClr val="FF751F"/>
                </a:solidFill>
                <a:latin typeface="Calibri" pitchFamily="34" charset="0"/>
                <a:ea typeface="Calibri" pitchFamily="34" charset="-122"/>
                <a:cs typeface="Calibri" pitchFamily="34" charset="-120"/>
              </a:rPr>
              <a:t>3 topik</a:t>
            </a:r>
            <a:endParaRPr lang="en-US" sz="3000" dirty="0"/>
          </a:p>
        </p:txBody>
      </p:sp>
      <p:sp>
        <p:nvSpPr>
          <p:cNvPr id="34" name="Shape 31"/>
          <p:cNvSpPr/>
          <p:nvPr/>
        </p:nvSpPr>
        <p:spPr>
          <a:xfrm>
            <a:off x="6377940" y="7146036"/>
            <a:ext cx="5417820" cy="1851660"/>
          </a:xfrm>
          <a:prstGeom prst="roundRect">
            <a:avLst>
              <a:gd name="adj" fmla="val 5926"/>
            </a:avLst>
          </a:prstGeom>
          <a:solidFill>
            <a:srgbClr val="F4F5FB"/>
          </a:solidFill>
          <a:ln/>
        </p:spPr>
      </p:sp>
      <p:sp>
        <p:nvSpPr>
          <p:cNvPr id="35" name="Text 32"/>
          <p:cNvSpPr/>
          <p:nvPr/>
        </p:nvSpPr>
        <p:spPr>
          <a:xfrm>
            <a:off x="6652260" y="7351776"/>
            <a:ext cx="4869180" cy="754380"/>
          </a:xfrm>
          <a:prstGeom prst="rect">
            <a:avLst/>
          </a:prstGeom>
          <a:noFill/>
          <a:ln/>
        </p:spPr>
        <p:txBody>
          <a:bodyPr wrap="square" lIns="0" tIns="0" rIns="0" bIns="0" rtlCol="0" anchor="t"/>
          <a:lstStyle/>
          <a:p>
            <a:r>
              <a:rPr lang="en-US" sz="2175" b="1" dirty="0">
                <a:solidFill>
                  <a:srgbClr val="1800AD"/>
                </a:solidFill>
                <a:latin typeface="Calibri" pitchFamily="34" charset="0"/>
                <a:ea typeface="Calibri" pitchFamily="34" charset="-122"/>
                <a:cs typeface="Calibri" pitchFamily="34" charset="-120"/>
              </a:rPr>
              <a:t>History (Kisah Umat)</a:t>
            </a:r>
            <a:endParaRPr lang="en-US" sz="2175" dirty="0"/>
          </a:p>
        </p:txBody>
      </p:sp>
      <p:sp>
        <p:nvSpPr>
          <p:cNvPr id="36" name="Text 33"/>
          <p:cNvSpPr/>
          <p:nvPr/>
        </p:nvSpPr>
        <p:spPr>
          <a:xfrm>
            <a:off x="6652260" y="8174736"/>
            <a:ext cx="4869180" cy="685800"/>
          </a:xfrm>
          <a:prstGeom prst="rect">
            <a:avLst/>
          </a:prstGeom>
          <a:noFill/>
          <a:ln/>
        </p:spPr>
        <p:txBody>
          <a:bodyPr wrap="square" lIns="0" tIns="0" rIns="0" bIns="0" rtlCol="0" anchor="ctr"/>
          <a:lstStyle/>
          <a:p>
            <a:r>
              <a:rPr lang="en-US" sz="3000" b="1" dirty="0">
                <a:solidFill>
                  <a:srgbClr val="FF751F"/>
                </a:solidFill>
                <a:latin typeface="Calibri" pitchFamily="34" charset="0"/>
                <a:ea typeface="Calibri" pitchFamily="34" charset="-122"/>
                <a:cs typeface="Calibri" pitchFamily="34" charset="-120"/>
              </a:rPr>
              <a:t>3 topik</a:t>
            </a:r>
            <a:endParaRPr lang="en-US" sz="3000" dirty="0"/>
          </a:p>
        </p:txBody>
      </p:sp>
      <p:sp>
        <p:nvSpPr>
          <p:cNvPr id="37" name="Shape 34"/>
          <p:cNvSpPr/>
          <p:nvPr/>
        </p:nvSpPr>
        <p:spPr>
          <a:xfrm>
            <a:off x="12001500" y="7146036"/>
            <a:ext cx="5417820" cy="1851660"/>
          </a:xfrm>
          <a:prstGeom prst="roundRect">
            <a:avLst>
              <a:gd name="adj" fmla="val 5926"/>
            </a:avLst>
          </a:prstGeom>
          <a:solidFill>
            <a:srgbClr val="F4F5FB"/>
          </a:solidFill>
          <a:ln/>
        </p:spPr>
      </p:sp>
      <p:sp>
        <p:nvSpPr>
          <p:cNvPr id="38" name="Text 35"/>
          <p:cNvSpPr/>
          <p:nvPr/>
        </p:nvSpPr>
        <p:spPr>
          <a:xfrm>
            <a:off x="12275820" y="7351776"/>
            <a:ext cx="4869180" cy="754380"/>
          </a:xfrm>
          <a:prstGeom prst="rect">
            <a:avLst/>
          </a:prstGeom>
          <a:noFill/>
          <a:ln/>
        </p:spPr>
        <p:txBody>
          <a:bodyPr wrap="square" lIns="0" tIns="0" rIns="0" bIns="0" rtlCol="0" anchor="t"/>
          <a:lstStyle/>
          <a:p>
            <a:r>
              <a:rPr lang="en-US" sz="2175" b="1" dirty="0">
                <a:solidFill>
                  <a:srgbClr val="1800AD"/>
                </a:solidFill>
                <a:latin typeface="Calibri" pitchFamily="34" charset="0"/>
                <a:ea typeface="Calibri" pitchFamily="34" charset="-122"/>
                <a:cs typeface="Calibri" pitchFamily="34" charset="-120"/>
              </a:rPr>
              <a:t>Psikologis (Batin Manusia)</a:t>
            </a:r>
            <a:endParaRPr lang="en-US" sz="2175" dirty="0"/>
          </a:p>
        </p:txBody>
      </p:sp>
      <p:sp>
        <p:nvSpPr>
          <p:cNvPr id="39" name="Text 36"/>
          <p:cNvSpPr/>
          <p:nvPr/>
        </p:nvSpPr>
        <p:spPr>
          <a:xfrm>
            <a:off x="12275820" y="8174736"/>
            <a:ext cx="4869180" cy="685800"/>
          </a:xfrm>
          <a:prstGeom prst="rect">
            <a:avLst/>
          </a:prstGeom>
          <a:noFill/>
          <a:ln/>
        </p:spPr>
        <p:txBody>
          <a:bodyPr wrap="square" lIns="0" tIns="0" rIns="0" bIns="0" rtlCol="0" anchor="ctr"/>
          <a:lstStyle/>
          <a:p>
            <a:r>
              <a:rPr lang="en-US" sz="3000" b="1" dirty="0">
                <a:solidFill>
                  <a:srgbClr val="FF751F"/>
                </a:solidFill>
                <a:latin typeface="Calibri" pitchFamily="34" charset="0"/>
                <a:ea typeface="Calibri" pitchFamily="34" charset="-122"/>
                <a:cs typeface="Calibri" pitchFamily="34" charset="-120"/>
              </a:rPr>
              <a:t>1 topik</a:t>
            </a:r>
            <a:endParaRPr lang="en-US" sz="3000" dirty="0"/>
          </a:p>
        </p:txBody>
      </p:sp>
      <p:sp>
        <p:nvSpPr>
          <p:cNvPr id="40" name="Text 37"/>
          <p:cNvSpPr/>
          <p:nvPr/>
        </p:nvSpPr>
        <p:spPr>
          <a:xfrm>
            <a:off x="754380" y="9313164"/>
            <a:ext cx="16733520" cy="548640"/>
          </a:xfrm>
          <a:prstGeom prst="rect">
            <a:avLst/>
          </a:prstGeom>
          <a:noFill/>
          <a:ln/>
        </p:spPr>
        <p:txBody>
          <a:bodyPr wrap="square" lIns="0" tIns="0" rIns="0" bIns="0" rtlCol="0" anchor="ctr"/>
          <a:lstStyle/>
          <a:p>
            <a:r>
              <a:rPr lang="en-US" sz="1725" i="1" dirty="0">
                <a:solidFill>
                  <a:srgbClr val="666666"/>
                </a:solidFill>
                <a:latin typeface="Calibri" pitchFamily="34" charset="0"/>
                <a:ea typeface="Calibri" pitchFamily="34" charset="-122"/>
                <a:cs typeface="Calibri" pitchFamily="34" charset="-120"/>
              </a:rPr>
              <a:t>Total 50 topik BERTopic terpetakan ke 9 kategori tematik melalui interpretasi manusia berbasis kata kunci hasil penggabungan CTM + BERTopic (Jaccard Similarity).</a:t>
            </a:r>
            <a:endParaRPr lang="en-US" sz="1725" dirty="0"/>
          </a:p>
        </p:txBody>
      </p:sp>
      <p:sp>
        <p:nvSpPr>
          <p:cNvPr id="42" name="TextBox 17">
            <a:extLst>
              <a:ext uri="{FF2B5EF4-FFF2-40B4-BE49-F238E27FC236}">
                <a16:creationId xmlns:a16="http://schemas.microsoft.com/office/drawing/2014/main" id="{95562284-1EC6-0B44-2A56-EB56B9062F7F}"/>
              </a:ext>
            </a:extLst>
          </p:cNvPr>
          <p:cNvSpPr txBox="1"/>
          <p:nvPr/>
        </p:nvSpPr>
        <p:spPr>
          <a:xfrm>
            <a:off x="650748" y="921393"/>
            <a:ext cx="11468100" cy="996427"/>
          </a:xfrm>
          <a:prstGeom prst="rect">
            <a:avLst/>
          </a:prstGeom>
        </p:spPr>
        <p:txBody>
          <a:bodyPr wrap="square" lIns="0" tIns="0" rIns="0" bIns="0" rtlCol="0" anchor="t">
            <a:spAutoFit/>
          </a:bodyPr>
          <a:lstStyle/>
          <a:p>
            <a:pPr algn="l">
              <a:lnSpc>
                <a:spcPts val="8160"/>
              </a:lnSpc>
            </a:pPr>
            <a:r>
              <a:rPr lang="en-US" sz="5828" b="1" dirty="0">
                <a:solidFill>
                  <a:srgbClr val="1800AD"/>
                </a:solidFill>
                <a:latin typeface="Archivo Narrow Bold"/>
                <a:ea typeface="Archivo Narrow Bold"/>
                <a:cs typeface="Archivo Narrow Bold"/>
                <a:sym typeface="Archivo Narrow Bold"/>
              </a:rPr>
              <a:t>Human Interpretability Analysis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033559" flipV="1">
            <a:off x="5434946" y="547167"/>
            <a:ext cx="6313412" cy="11932565"/>
          </a:xfrm>
          <a:custGeom>
            <a:avLst/>
            <a:gdLst/>
            <a:ahLst/>
            <a:cxnLst/>
            <a:rect l="l" t="t" r="r" b="b"/>
            <a:pathLst>
              <a:path w="6313412" h="11932565">
                <a:moveTo>
                  <a:pt x="0" y="11932565"/>
                </a:moveTo>
                <a:lnTo>
                  <a:pt x="6313412" y="11932565"/>
                </a:lnTo>
                <a:lnTo>
                  <a:pt x="6313412" y="0"/>
                </a:lnTo>
                <a:lnTo>
                  <a:pt x="0" y="0"/>
                </a:lnTo>
                <a:lnTo>
                  <a:pt x="0" y="11932565"/>
                </a:lnTo>
                <a:close/>
              </a:path>
            </a:pathLst>
          </a:custGeom>
          <a:blipFill>
            <a:blip r:embed="rId3">
              <a:alphaModFix amt="7999"/>
              <a:extLst>
                <a:ext uri="{96DAC541-7B7A-43D3-8B79-37D633B846F1}">
                  <asvg:svgBlip xmlns:asvg="http://schemas.microsoft.com/office/drawing/2016/SVG/main" r:embed="rId4"/>
                </a:ext>
              </a:extLst>
            </a:blip>
            <a:stretch>
              <a:fillRect/>
            </a:stretch>
          </a:blipFill>
        </p:spPr>
      </p:sp>
      <p:grpSp>
        <p:nvGrpSpPr>
          <p:cNvPr id="3" name="Group 3"/>
          <p:cNvGrpSpPr/>
          <p:nvPr/>
        </p:nvGrpSpPr>
        <p:grpSpPr>
          <a:xfrm>
            <a:off x="0" y="9708804"/>
            <a:ext cx="9144000" cy="560871"/>
            <a:chOff x="0" y="0"/>
            <a:chExt cx="2408296" cy="147719"/>
          </a:xfrm>
        </p:grpSpPr>
        <p:sp>
          <p:nvSpPr>
            <p:cNvPr id="4" name="Freeform 4"/>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1800AD"/>
            </a:solidFill>
          </p:spPr>
        </p:sp>
        <p:sp>
          <p:nvSpPr>
            <p:cNvPr id="5" name="TextBox 5"/>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028700" y="2479309"/>
            <a:ext cx="8115300" cy="137058"/>
            <a:chOff x="0" y="0"/>
            <a:chExt cx="2137363" cy="36097"/>
          </a:xfrm>
        </p:grpSpPr>
        <p:sp>
          <p:nvSpPr>
            <p:cNvPr id="7" name="Freeform 7"/>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FFDE59"/>
            </a:solidFill>
          </p:spPr>
        </p:sp>
        <p:sp>
          <p:nvSpPr>
            <p:cNvPr id="8" name="TextBox 8"/>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9144000" y="2479309"/>
            <a:ext cx="8115300" cy="137058"/>
            <a:chOff x="0" y="0"/>
            <a:chExt cx="2137363" cy="36097"/>
          </a:xfrm>
        </p:grpSpPr>
        <p:sp>
          <p:nvSpPr>
            <p:cNvPr id="10" name="Freeform 10"/>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1800AD"/>
            </a:solidFill>
          </p:spPr>
        </p:sp>
        <p:sp>
          <p:nvSpPr>
            <p:cNvPr id="11" name="TextBox 11"/>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sp>
        <p:nvSpPr>
          <p:cNvPr id="12" name="Freeform 12"/>
          <p:cNvSpPr/>
          <p:nvPr/>
        </p:nvSpPr>
        <p:spPr>
          <a:xfrm>
            <a:off x="15487240" y="516545"/>
            <a:ext cx="1664226" cy="1616285"/>
          </a:xfrm>
          <a:custGeom>
            <a:avLst/>
            <a:gdLst/>
            <a:ahLst/>
            <a:cxnLst/>
            <a:rect l="l" t="t" r="r" b="b"/>
            <a:pathLst>
              <a:path w="1664226" h="1616285">
                <a:moveTo>
                  <a:pt x="0" y="0"/>
                </a:moveTo>
                <a:lnTo>
                  <a:pt x="1664226" y="0"/>
                </a:lnTo>
                <a:lnTo>
                  <a:pt x="1664226" y="1616285"/>
                </a:lnTo>
                <a:lnTo>
                  <a:pt x="0" y="1616285"/>
                </a:lnTo>
                <a:lnTo>
                  <a:pt x="0" y="0"/>
                </a:lnTo>
                <a:close/>
              </a:path>
            </a:pathLst>
          </a:custGeom>
          <a:blipFill>
            <a:blip r:embed="rId5"/>
            <a:stretch>
              <a:fillRect/>
            </a:stretch>
          </a:blipFill>
        </p:spPr>
      </p:sp>
      <p:grpSp>
        <p:nvGrpSpPr>
          <p:cNvPr id="13" name="Group 13"/>
          <p:cNvGrpSpPr/>
          <p:nvPr/>
        </p:nvGrpSpPr>
        <p:grpSpPr>
          <a:xfrm>
            <a:off x="9144000" y="9708804"/>
            <a:ext cx="9144000" cy="560871"/>
            <a:chOff x="0" y="0"/>
            <a:chExt cx="2408296" cy="147719"/>
          </a:xfrm>
        </p:grpSpPr>
        <p:sp>
          <p:nvSpPr>
            <p:cNvPr id="14" name="Freeform 14"/>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FFDE59"/>
            </a:solidFill>
          </p:spPr>
        </p:sp>
        <p:sp>
          <p:nvSpPr>
            <p:cNvPr id="15" name="TextBox 15"/>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sp>
        <p:nvSpPr>
          <p:cNvPr id="16" name="Freeform 16"/>
          <p:cNvSpPr/>
          <p:nvPr/>
        </p:nvSpPr>
        <p:spPr>
          <a:xfrm>
            <a:off x="1028700" y="3000781"/>
            <a:ext cx="8458954" cy="4416150"/>
          </a:xfrm>
          <a:custGeom>
            <a:avLst/>
            <a:gdLst/>
            <a:ahLst/>
            <a:cxnLst/>
            <a:rect l="l" t="t" r="r" b="b"/>
            <a:pathLst>
              <a:path w="8458954" h="4416150">
                <a:moveTo>
                  <a:pt x="0" y="0"/>
                </a:moveTo>
                <a:lnTo>
                  <a:pt x="8458954" y="0"/>
                </a:lnTo>
                <a:lnTo>
                  <a:pt x="8458954" y="4416150"/>
                </a:lnTo>
                <a:lnTo>
                  <a:pt x="0" y="4416150"/>
                </a:lnTo>
                <a:lnTo>
                  <a:pt x="0" y="0"/>
                </a:lnTo>
                <a:close/>
              </a:path>
            </a:pathLst>
          </a:custGeom>
          <a:blipFill>
            <a:blip r:embed="rId6"/>
            <a:stretch>
              <a:fillRect/>
            </a:stretch>
          </a:blipFill>
        </p:spPr>
      </p:sp>
      <p:sp>
        <p:nvSpPr>
          <p:cNvPr id="17" name="TextBox 17"/>
          <p:cNvSpPr txBox="1"/>
          <p:nvPr/>
        </p:nvSpPr>
        <p:spPr>
          <a:xfrm>
            <a:off x="1028700" y="1210387"/>
            <a:ext cx="11468100" cy="996427"/>
          </a:xfrm>
          <a:prstGeom prst="rect">
            <a:avLst/>
          </a:prstGeom>
        </p:spPr>
        <p:txBody>
          <a:bodyPr wrap="square" lIns="0" tIns="0" rIns="0" bIns="0" rtlCol="0" anchor="t">
            <a:spAutoFit/>
          </a:bodyPr>
          <a:lstStyle/>
          <a:p>
            <a:pPr algn="l">
              <a:lnSpc>
                <a:spcPts val="8160"/>
              </a:lnSpc>
            </a:pPr>
            <a:r>
              <a:rPr lang="en-US" sz="5828" b="1" dirty="0">
                <a:solidFill>
                  <a:srgbClr val="1800AD"/>
                </a:solidFill>
                <a:latin typeface="Archivo Narrow Bold"/>
                <a:ea typeface="Archivo Narrow Bold"/>
                <a:cs typeface="Archivo Narrow Bold"/>
                <a:sym typeface="Archivo Narrow Bold"/>
              </a:rPr>
              <a:t>Human Interpretability Analysis</a:t>
            </a:r>
          </a:p>
        </p:txBody>
      </p:sp>
      <p:sp>
        <p:nvSpPr>
          <p:cNvPr id="18" name="TextBox 18"/>
          <p:cNvSpPr txBox="1"/>
          <p:nvPr/>
        </p:nvSpPr>
        <p:spPr>
          <a:xfrm>
            <a:off x="1028700" y="215814"/>
            <a:ext cx="10960228" cy="812886"/>
          </a:xfrm>
          <a:prstGeom prst="rect">
            <a:avLst/>
          </a:prstGeom>
        </p:spPr>
        <p:txBody>
          <a:bodyPr lIns="0" tIns="0" rIns="0" bIns="0" rtlCol="0" anchor="t">
            <a:spAutoFit/>
          </a:bodyPr>
          <a:lstStyle/>
          <a:p>
            <a:pPr algn="l">
              <a:lnSpc>
                <a:spcPts val="6645"/>
              </a:lnSpc>
              <a:spcBef>
                <a:spcPct val="0"/>
              </a:spcBef>
            </a:pPr>
            <a:r>
              <a:rPr lang="en-US" sz="4746" b="1">
                <a:solidFill>
                  <a:srgbClr val="FF751F"/>
                </a:solidFill>
                <a:latin typeface="Montserrat Bold"/>
                <a:ea typeface="Montserrat Bold"/>
                <a:cs typeface="Montserrat Bold"/>
                <a:sym typeface="Montserrat Bold"/>
              </a:rPr>
              <a:t>21 | Correlated Topic Model</a:t>
            </a:r>
          </a:p>
        </p:txBody>
      </p:sp>
      <p:grpSp>
        <p:nvGrpSpPr>
          <p:cNvPr id="19" name="Group 19"/>
          <p:cNvGrpSpPr/>
          <p:nvPr/>
        </p:nvGrpSpPr>
        <p:grpSpPr>
          <a:xfrm>
            <a:off x="9792944" y="3685979"/>
            <a:ext cx="7466356" cy="2574010"/>
            <a:chOff x="0" y="0"/>
            <a:chExt cx="5057019" cy="1743396"/>
          </a:xfrm>
        </p:grpSpPr>
        <p:sp>
          <p:nvSpPr>
            <p:cNvPr id="20" name="Freeform 20"/>
            <p:cNvSpPr/>
            <p:nvPr/>
          </p:nvSpPr>
          <p:spPr>
            <a:xfrm>
              <a:off x="0" y="0"/>
              <a:ext cx="5057019" cy="1743396"/>
            </a:xfrm>
            <a:custGeom>
              <a:avLst/>
              <a:gdLst/>
              <a:ahLst/>
              <a:cxnLst/>
              <a:rect l="l" t="t" r="r" b="b"/>
              <a:pathLst>
                <a:path w="5057019" h="1743396">
                  <a:moveTo>
                    <a:pt x="26960" y="0"/>
                  </a:moveTo>
                  <a:lnTo>
                    <a:pt x="5030059" y="0"/>
                  </a:lnTo>
                  <a:cubicBezTo>
                    <a:pt x="5037209" y="0"/>
                    <a:pt x="5044067" y="2840"/>
                    <a:pt x="5049122" y="7896"/>
                  </a:cubicBezTo>
                  <a:cubicBezTo>
                    <a:pt x="5054178" y="12952"/>
                    <a:pt x="5057019" y="19809"/>
                    <a:pt x="5057019" y="26960"/>
                  </a:cubicBezTo>
                  <a:lnTo>
                    <a:pt x="5057019" y="1716437"/>
                  </a:lnTo>
                  <a:cubicBezTo>
                    <a:pt x="5057019" y="1723587"/>
                    <a:pt x="5054178" y="1730444"/>
                    <a:pt x="5049122" y="1735500"/>
                  </a:cubicBezTo>
                  <a:cubicBezTo>
                    <a:pt x="5044067" y="1740556"/>
                    <a:pt x="5037209" y="1743396"/>
                    <a:pt x="5030059" y="1743396"/>
                  </a:cubicBezTo>
                  <a:lnTo>
                    <a:pt x="26960" y="1743396"/>
                  </a:lnTo>
                  <a:cubicBezTo>
                    <a:pt x="19809" y="1743396"/>
                    <a:pt x="12952" y="1740556"/>
                    <a:pt x="7896" y="1735500"/>
                  </a:cubicBezTo>
                  <a:cubicBezTo>
                    <a:pt x="2840" y="1730444"/>
                    <a:pt x="0" y="1723587"/>
                    <a:pt x="0" y="1716437"/>
                  </a:cubicBezTo>
                  <a:lnTo>
                    <a:pt x="0" y="26960"/>
                  </a:lnTo>
                  <a:cubicBezTo>
                    <a:pt x="0" y="19809"/>
                    <a:pt x="2840" y="12952"/>
                    <a:pt x="7896" y="7896"/>
                  </a:cubicBezTo>
                  <a:cubicBezTo>
                    <a:pt x="12952" y="2840"/>
                    <a:pt x="19809" y="0"/>
                    <a:pt x="26960" y="0"/>
                  </a:cubicBezTo>
                  <a:close/>
                </a:path>
              </a:pathLst>
            </a:custGeom>
            <a:solidFill>
              <a:srgbClr val="FFFFFF"/>
            </a:solidFill>
            <a:ln w="38100" cap="rnd">
              <a:solidFill>
                <a:srgbClr val="FF751F"/>
              </a:solidFill>
              <a:prstDash val="solid"/>
              <a:round/>
            </a:ln>
          </p:spPr>
        </p:sp>
        <p:sp>
          <p:nvSpPr>
            <p:cNvPr id="21" name="TextBox 21"/>
            <p:cNvSpPr txBox="1"/>
            <p:nvPr/>
          </p:nvSpPr>
          <p:spPr>
            <a:xfrm>
              <a:off x="0" y="-47625"/>
              <a:ext cx="5057019" cy="1791021"/>
            </a:xfrm>
            <a:prstGeom prst="rect">
              <a:avLst/>
            </a:prstGeom>
          </p:spPr>
          <p:txBody>
            <a:bodyPr lIns="19754" tIns="19754" rIns="19754" bIns="19754" rtlCol="0" anchor="ctr"/>
            <a:lstStyle/>
            <a:p>
              <a:pPr algn="ctr">
                <a:lnSpc>
                  <a:spcPts val="2659"/>
                </a:lnSpc>
              </a:pPr>
              <a:endParaRPr/>
            </a:p>
          </p:txBody>
        </p:sp>
      </p:grpSp>
      <p:sp>
        <p:nvSpPr>
          <p:cNvPr id="22" name="TextBox 22"/>
          <p:cNvSpPr txBox="1"/>
          <p:nvPr/>
        </p:nvSpPr>
        <p:spPr>
          <a:xfrm>
            <a:off x="10036875" y="4355739"/>
            <a:ext cx="5972225" cy="1126074"/>
          </a:xfrm>
          <a:prstGeom prst="rect">
            <a:avLst/>
          </a:prstGeom>
        </p:spPr>
        <p:txBody>
          <a:bodyPr lIns="0" tIns="0" rIns="0" bIns="0" rtlCol="0" anchor="t">
            <a:spAutoFit/>
          </a:bodyPr>
          <a:lstStyle/>
          <a:p>
            <a:pPr algn="ctr">
              <a:lnSpc>
                <a:spcPts val="3032"/>
              </a:lnSpc>
            </a:pPr>
            <a:r>
              <a:rPr lang="en-US" sz="2166" b="1">
                <a:solidFill>
                  <a:srgbClr val="000000"/>
                </a:solidFill>
                <a:latin typeface="Canva Sans Bold"/>
                <a:ea typeface="Canva Sans Bold"/>
                <a:cs typeface="Canva Sans Bold"/>
                <a:sym typeface="Canva Sans Bold"/>
              </a:rPr>
              <a:t>Contoh distribusi topik terhadap ayat pada tiga surat, yaitu Surat Al-Fatihah (Surat 1), Al-Baqarah (Surat 2), dan Ali Imran (Surat 3).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assets/logo.png"/>
          <p:cNvPicPr>
            <a:picLocks noChangeAspect="1"/>
          </p:cNvPicPr>
          <p:nvPr/>
        </p:nvPicPr>
        <p:blipFill>
          <a:blip r:embed="rId3"/>
          <a:stretch>
            <a:fillRect/>
          </a:stretch>
        </p:blipFill>
        <p:spPr>
          <a:xfrm>
            <a:off x="16664940" y="384048"/>
            <a:ext cx="987552" cy="960120"/>
          </a:xfrm>
          <a:prstGeom prst="rect">
            <a:avLst/>
          </a:prstGeom>
        </p:spPr>
      </p:pic>
      <p:sp>
        <p:nvSpPr>
          <p:cNvPr id="3" name="Text 0"/>
          <p:cNvSpPr/>
          <p:nvPr/>
        </p:nvSpPr>
        <p:spPr>
          <a:xfrm>
            <a:off x="754380" y="411480"/>
            <a:ext cx="14401800" cy="548640"/>
          </a:xfrm>
          <a:prstGeom prst="rect">
            <a:avLst/>
          </a:prstGeom>
          <a:noFill/>
          <a:ln/>
        </p:spPr>
        <p:txBody>
          <a:bodyPr wrap="square" lIns="0" tIns="0" rIns="0" bIns="0" rtlCol="0" anchor="ctr"/>
          <a:lstStyle/>
          <a:p>
            <a:r>
              <a:rPr lang="en-US" sz="2400" b="1" dirty="0">
                <a:solidFill>
                  <a:srgbClr val="FF751F"/>
                </a:solidFill>
                <a:latin typeface="Calibri" pitchFamily="34" charset="0"/>
                <a:ea typeface="Calibri" pitchFamily="34" charset="-122"/>
                <a:cs typeface="Calibri" pitchFamily="34" charset="-120"/>
              </a:rPr>
              <a:t>23|  Kontribusi Praktis</a:t>
            </a:r>
            <a:endParaRPr lang="en-US" sz="2400" dirty="0"/>
          </a:p>
        </p:txBody>
      </p:sp>
      <p:sp>
        <p:nvSpPr>
          <p:cNvPr id="4" name="Text 1"/>
          <p:cNvSpPr/>
          <p:nvPr/>
        </p:nvSpPr>
        <p:spPr>
          <a:xfrm>
            <a:off x="754380" y="850392"/>
            <a:ext cx="15361920" cy="1028700"/>
          </a:xfrm>
          <a:prstGeom prst="rect">
            <a:avLst/>
          </a:prstGeom>
          <a:noFill/>
          <a:ln/>
        </p:spPr>
        <p:txBody>
          <a:bodyPr wrap="square" lIns="0" tIns="0" rIns="0" bIns="0" rtlCol="0" anchor="ctr"/>
          <a:lstStyle/>
          <a:p>
            <a:r>
              <a:rPr lang="en-US" sz="4200" b="1" dirty="0">
                <a:solidFill>
                  <a:srgbClr val="1800AD"/>
                </a:solidFill>
                <a:latin typeface="Calibri" pitchFamily="34" charset="0"/>
                <a:ea typeface="Calibri" pitchFamily="34" charset="-122"/>
                <a:cs typeface="Calibri" pitchFamily="34" charset="-120"/>
              </a:rPr>
              <a:t>Implementasi Aplikasi Web</a:t>
            </a:r>
            <a:endParaRPr lang="en-US" sz="4200" dirty="0"/>
          </a:p>
        </p:txBody>
      </p:sp>
      <p:sp>
        <p:nvSpPr>
          <p:cNvPr id="5" name="Shape 2"/>
          <p:cNvSpPr/>
          <p:nvPr/>
        </p:nvSpPr>
        <p:spPr>
          <a:xfrm>
            <a:off x="754380" y="1947672"/>
            <a:ext cx="2331720" cy="82296"/>
          </a:xfrm>
          <a:prstGeom prst="rect">
            <a:avLst/>
          </a:prstGeom>
          <a:solidFill>
            <a:srgbClr val="FFDE59"/>
          </a:solidFill>
          <a:ln/>
        </p:spPr>
      </p:sp>
      <p:sp>
        <p:nvSpPr>
          <p:cNvPr id="6" name="Shape 3"/>
          <p:cNvSpPr/>
          <p:nvPr/>
        </p:nvSpPr>
        <p:spPr>
          <a:xfrm>
            <a:off x="3086100" y="1947672"/>
            <a:ext cx="14470380" cy="82296"/>
          </a:xfrm>
          <a:prstGeom prst="rect">
            <a:avLst/>
          </a:prstGeom>
          <a:solidFill>
            <a:srgbClr val="1800AD"/>
          </a:solidFill>
          <a:ln/>
        </p:spPr>
      </p:sp>
      <p:sp>
        <p:nvSpPr>
          <p:cNvPr id="7" name="Shape 4"/>
          <p:cNvSpPr/>
          <p:nvPr/>
        </p:nvSpPr>
        <p:spPr>
          <a:xfrm>
            <a:off x="0" y="9793224"/>
            <a:ext cx="14950440" cy="493776"/>
          </a:xfrm>
          <a:prstGeom prst="rect">
            <a:avLst/>
          </a:prstGeom>
          <a:solidFill>
            <a:srgbClr val="1800AD"/>
          </a:solidFill>
          <a:ln/>
        </p:spPr>
      </p:sp>
      <p:sp>
        <p:nvSpPr>
          <p:cNvPr id="8" name="Shape 5"/>
          <p:cNvSpPr/>
          <p:nvPr/>
        </p:nvSpPr>
        <p:spPr>
          <a:xfrm>
            <a:off x="14950441" y="9793224"/>
            <a:ext cx="3337103" cy="493776"/>
          </a:xfrm>
          <a:prstGeom prst="rect">
            <a:avLst/>
          </a:prstGeom>
          <a:solidFill>
            <a:srgbClr val="FFDE59"/>
          </a:solidFill>
          <a:ln/>
        </p:spPr>
      </p:sp>
      <p:sp>
        <p:nvSpPr>
          <p:cNvPr id="9" name="Text 6"/>
          <p:cNvSpPr/>
          <p:nvPr/>
        </p:nvSpPr>
        <p:spPr>
          <a:xfrm>
            <a:off x="14950440" y="9793224"/>
            <a:ext cx="3223260" cy="493776"/>
          </a:xfrm>
          <a:prstGeom prst="rect">
            <a:avLst/>
          </a:prstGeom>
          <a:noFill/>
          <a:ln/>
        </p:spPr>
        <p:txBody>
          <a:bodyPr wrap="square" lIns="0" tIns="0" rIns="0" bIns="0" rtlCol="0" anchor="ctr"/>
          <a:lstStyle/>
          <a:p>
            <a:pPr algn="ctr"/>
            <a:r>
              <a:rPr lang="en-US" sz="1350" b="1" dirty="0">
                <a:solidFill>
                  <a:srgbClr val="1800AD"/>
                </a:solidFill>
                <a:latin typeface="Calibri" pitchFamily="34" charset="0"/>
                <a:ea typeface="Calibri" pitchFamily="34" charset="-122"/>
                <a:cs typeface="Calibri" pitchFamily="34" charset="-120"/>
              </a:rPr>
              <a:t>UNIVERSITAS PAMULANG</a:t>
            </a:r>
            <a:endParaRPr lang="en-US" sz="1350" dirty="0"/>
          </a:p>
        </p:txBody>
      </p:sp>
      <p:pic>
        <p:nvPicPr>
          <p:cNvPr id="11" name="Image 1" descr="assets/dashboard.png"/>
          <p:cNvPicPr>
            <a:picLocks noChangeAspect="1"/>
          </p:cNvPicPr>
          <p:nvPr/>
        </p:nvPicPr>
        <p:blipFill>
          <a:blip r:embed="rId4"/>
          <a:stretch>
            <a:fillRect/>
          </a:stretch>
        </p:blipFill>
        <p:spPr>
          <a:xfrm>
            <a:off x="754380" y="2948941"/>
            <a:ext cx="10424160" cy="4425080"/>
          </a:xfrm>
          <a:prstGeom prst="rect">
            <a:avLst/>
          </a:prstGeom>
        </p:spPr>
      </p:pic>
      <p:sp>
        <p:nvSpPr>
          <p:cNvPr id="12" name="Text 8"/>
          <p:cNvSpPr/>
          <p:nvPr/>
        </p:nvSpPr>
        <p:spPr>
          <a:xfrm>
            <a:off x="754380" y="7442600"/>
            <a:ext cx="10424160" cy="411480"/>
          </a:xfrm>
          <a:prstGeom prst="rect">
            <a:avLst/>
          </a:prstGeom>
          <a:noFill/>
          <a:ln/>
        </p:spPr>
        <p:txBody>
          <a:bodyPr wrap="square" lIns="0" tIns="0" rIns="0" bIns="0" rtlCol="0" anchor="ctr"/>
          <a:lstStyle/>
          <a:p>
            <a:pPr algn="ctr"/>
            <a:r>
              <a:rPr lang="en-US" sz="1575" i="1" dirty="0">
                <a:solidFill>
                  <a:srgbClr val="666666"/>
                </a:solidFill>
                <a:latin typeface="Calibri" pitchFamily="34" charset="0"/>
                <a:ea typeface="Calibri" pitchFamily="34" charset="-122"/>
                <a:cs typeface="Calibri" pitchFamily="34" charset="-120"/>
              </a:rPr>
              <a:t>Dashboard Login &amp; dashboard sistem</a:t>
            </a:r>
            <a:endParaRPr lang="en-US" sz="1575" dirty="0"/>
          </a:p>
        </p:txBody>
      </p:sp>
      <p:pic>
        <p:nvPicPr>
          <p:cNvPr id="13" name="Image 2" descr="assets/arsitektur.png"/>
          <p:cNvPicPr>
            <a:picLocks noChangeAspect="1"/>
          </p:cNvPicPr>
          <p:nvPr/>
        </p:nvPicPr>
        <p:blipFill>
          <a:blip r:embed="rId5"/>
          <a:stretch>
            <a:fillRect/>
          </a:stretch>
        </p:blipFill>
        <p:spPr>
          <a:xfrm>
            <a:off x="11452860" y="2948941"/>
            <a:ext cx="5623560" cy="3468764"/>
          </a:xfrm>
          <a:prstGeom prst="rect">
            <a:avLst/>
          </a:prstGeom>
        </p:spPr>
      </p:pic>
      <p:sp>
        <p:nvSpPr>
          <p:cNvPr id="14" name="Text 9"/>
          <p:cNvSpPr/>
          <p:nvPr/>
        </p:nvSpPr>
        <p:spPr>
          <a:xfrm>
            <a:off x="11452860" y="6486284"/>
            <a:ext cx="5623560" cy="411480"/>
          </a:xfrm>
          <a:prstGeom prst="rect">
            <a:avLst/>
          </a:prstGeom>
          <a:noFill/>
          <a:ln/>
        </p:spPr>
        <p:txBody>
          <a:bodyPr wrap="square" lIns="0" tIns="0" rIns="0" bIns="0" rtlCol="0" anchor="ctr"/>
          <a:lstStyle/>
          <a:p>
            <a:pPr algn="ctr"/>
            <a:r>
              <a:rPr lang="en-US" sz="1575" i="1" dirty="0">
                <a:solidFill>
                  <a:srgbClr val="666666"/>
                </a:solidFill>
                <a:latin typeface="Calibri" pitchFamily="34" charset="0"/>
                <a:ea typeface="Calibri" pitchFamily="34" charset="-122"/>
                <a:cs typeface="Calibri" pitchFamily="34" charset="-120"/>
              </a:rPr>
              <a:t>Arsitektur sistem</a:t>
            </a:r>
            <a:endParaRPr lang="en-US" sz="1575" dirty="0"/>
          </a:p>
        </p:txBody>
      </p:sp>
      <p:sp>
        <p:nvSpPr>
          <p:cNvPr id="15" name="Shape 10"/>
          <p:cNvSpPr/>
          <p:nvPr/>
        </p:nvSpPr>
        <p:spPr>
          <a:xfrm>
            <a:off x="11452860" y="7103504"/>
            <a:ext cx="5623560" cy="576072"/>
          </a:xfrm>
          <a:prstGeom prst="roundRect">
            <a:avLst>
              <a:gd name="adj" fmla="val 14286"/>
            </a:avLst>
          </a:prstGeom>
          <a:solidFill>
            <a:srgbClr val="EDF1FB"/>
          </a:solidFill>
          <a:ln/>
        </p:spPr>
      </p:sp>
      <p:sp>
        <p:nvSpPr>
          <p:cNvPr id="16" name="Text 11"/>
          <p:cNvSpPr/>
          <p:nvPr/>
        </p:nvSpPr>
        <p:spPr>
          <a:xfrm>
            <a:off x="11590020" y="7103504"/>
            <a:ext cx="5349240" cy="576072"/>
          </a:xfrm>
          <a:prstGeom prst="rect">
            <a:avLst/>
          </a:prstGeom>
          <a:noFill/>
          <a:ln/>
        </p:spPr>
        <p:txBody>
          <a:bodyPr wrap="square" lIns="0" tIns="0" rIns="0" bIns="0" rtlCol="0" anchor="ctr"/>
          <a:lstStyle/>
          <a:p>
            <a:r>
              <a:rPr lang="en-US" sz="1650" dirty="0">
                <a:solidFill>
                  <a:srgbClr val="1800AD"/>
                </a:solidFill>
                <a:latin typeface="Calibri" pitchFamily="34" charset="0"/>
                <a:ea typeface="Calibri" pitchFamily="34" charset="-122"/>
                <a:cs typeface="Calibri" pitchFamily="34" charset="-120"/>
              </a:rPr>
              <a:t>Frontend: HTML / CSS / Bootstrap</a:t>
            </a:r>
            <a:endParaRPr lang="en-US" sz="1650" dirty="0"/>
          </a:p>
        </p:txBody>
      </p:sp>
      <p:sp>
        <p:nvSpPr>
          <p:cNvPr id="17" name="Shape 12"/>
          <p:cNvSpPr/>
          <p:nvPr/>
        </p:nvSpPr>
        <p:spPr>
          <a:xfrm>
            <a:off x="11452860" y="7789304"/>
            <a:ext cx="5623560" cy="576072"/>
          </a:xfrm>
          <a:prstGeom prst="roundRect">
            <a:avLst>
              <a:gd name="adj" fmla="val 14286"/>
            </a:avLst>
          </a:prstGeom>
          <a:solidFill>
            <a:srgbClr val="EDF1FB"/>
          </a:solidFill>
          <a:ln/>
        </p:spPr>
      </p:sp>
      <p:sp>
        <p:nvSpPr>
          <p:cNvPr id="18" name="Text 13"/>
          <p:cNvSpPr/>
          <p:nvPr/>
        </p:nvSpPr>
        <p:spPr>
          <a:xfrm>
            <a:off x="11590020" y="7789304"/>
            <a:ext cx="5349240" cy="576072"/>
          </a:xfrm>
          <a:prstGeom prst="rect">
            <a:avLst/>
          </a:prstGeom>
          <a:noFill/>
          <a:ln/>
        </p:spPr>
        <p:txBody>
          <a:bodyPr wrap="square" lIns="0" tIns="0" rIns="0" bIns="0" rtlCol="0" anchor="ctr"/>
          <a:lstStyle/>
          <a:p>
            <a:r>
              <a:rPr lang="en-US" sz="1650" dirty="0">
                <a:solidFill>
                  <a:srgbClr val="1800AD"/>
                </a:solidFill>
                <a:latin typeface="Calibri" pitchFamily="34" charset="0"/>
                <a:ea typeface="Calibri" pitchFamily="34" charset="-122"/>
                <a:cs typeface="Calibri" pitchFamily="34" charset="-120"/>
              </a:rPr>
              <a:t>Backend: Flask (Python)</a:t>
            </a:r>
            <a:endParaRPr lang="en-US" sz="1650" dirty="0"/>
          </a:p>
        </p:txBody>
      </p:sp>
      <p:sp>
        <p:nvSpPr>
          <p:cNvPr id="19" name="Shape 14"/>
          <p:cNvSpPr/>
          <p:nvPr/>
        </p:nvSpPr>
        <p:spPr>
          <a:xfrm>
            <a:off x="11452860" y="8475104"/>
            <a:ext cx="5623560" cy="576072"/>
          </a:xfrm>
          <a:prstGeom prst="roundRect">
            <a:avLst>
              <a:gd name="adj" fmla="val 14286"/>
            </a:avLst>
          </a:prstGeom>
          <a:solidFill>
            <a:srgbClr val="EDF1FB"/>
          </a:solidFill>
          <a:ln/>
        </p:spPr>
      </p:sp>
      <p:sp>
        <p:nvSpPr>
          <p:cNvPr id="20" name="Text 15"/>
          <p:cNvSpPr/>
          <p:nvPr/>
        </p:nvSpPr>
        <p:spPr>
          <a:xfrm>
            <a:off x="11590020" y="8475104"/>
            <a:ext cx="5349240" cy="576072"/>
          </a:xfrm>
          <a:prstGeom prst="rect">
            <a:avLst/>
          </a:prstGeom>
          <a:noFill/>
          <a:ln/>
        </p:spPr>
        <p:txBody>
          <a:bodyPr wrap="square" lIns="0" tIns="0" rIns="0" bIns="0" rtlCol="0" anchor="ctr"/>
          <a:lstStyle/>
          <a:p>
            <a:r>
              <a:rPr lang="en-US" sz="1650" dirty="0">
                <a:solidFill>
                  <a:srgbClr val="1800AD"/>
                </a:solidFill>
                <a:latin typeface="Calibri" pitchFamily="34" charset="0"/>
                <a:ea typeface="Calibri" pitchFamily="34" charset="-122"/>
                <a:cs typeface="Calibri" pitchFamily="34" charset="-120"/>
              </a:rPr>
              <a:t>Database: MySQL</a:t>
            </a:r>
            <a:endParaRPr lang="en-US" sz="1650" dirty="0"/>
          </a:p>
        </p:txBody>
      </p:sp>
      <p:sp>
        <p:nvSpPr>
          <p:cNvPr id="21" name="Shape 16"/>
          <p:cNvSpPr/>
          <p:nvPr/>
        </p:nvSpPr>
        <p:spPr>
          <a:xfrm>
            <a:off x="11452860" y="9160904"/>
            <a:ext cx="5623560" cy="576072"/>
          </a:xfrm>
          <a:prstGeom prst="roundRect">
            <a:avLst>
              <a:gd name="adj" fmla="val 14286"/>
            </a:avLst>
          </a:prstGeom>
          <a:solidFill>
            <a:srgbClr val="EDF1FB"/>
          </a:solidFill>
          <a:ln/>
        </p:spPr>
      </p:sp>
      <p:sp>
        <p:nvSpPr>
          <p:cNvPr id="22" name="Text 17"/>
          <p:cNvSpPr/>
          <p:nvPr/>
        </p:nvSpPr>
        <p:spPr>
          <a:xfrm>
            <a:off x="11590020" y="9160904"/>
            <a:ext cx="5349240" cy="576072"/>
          </a:xfrm>
          <a:prstGeom prst="rect">
            <a:avLst/>
          </a:prstGeom>
          <a:noFill/>
          <a:ln/>
        </p:spPr>
        <p:txBody>
          <a:bodyPr wrap="square" lIns="0" tIns="0" rIns="0" bIns="0" rtlCol="0" anchor="ctr"/>
          <a:lstStyle/>
          <a:p>
            <a:r>
              <a:rPr lang="en-US" sz="1650" dirty="0">
                <a:solidFill>
                  <a:srgbClr val="1800AD"/>
                </a:solidFill>
                <a:latin typeface="Calibri" pitchFamily="34" charset="0"/>
                <a:ea typeface="Calibri" pitchFamily="34" charset="-122"/>
                <a:cs typeface="Calibri" pitchFamily="34" charset="-120"/>
              </a:rPr>
              <a:t>Model: CTM &amp; BERTopic terintegrasi</a:t>
            </a:r>
            <a:endParaRPr lang="en-US" sz="16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assets/logo.png"/>
          <p:cNvPicPr>
            <a:picLocks noChangeAspect="1"/>
          </p:cNvPicPr>
          <p:nvPr/>
        </p:nvPicPr>
        <p:blipFill>
          <a:blip r:embed="rId3"/>
          <a:stretch>
            <a:fillRect/>
          </a:stretch>
        </p:blipFill>
        <p:spPr>
          <a:xfrm>
            <a:off x="16664940" y="384048"/>
            <a:ext cx="987552" cy="960120"/>
          </a:xfrm>
          <a:prstGeom prst="rect">
            <a:avLst/>
          </a:prstGeom>
        </p:spPr>
      </p:pic>
      <p:sp>
        <p:nvSpPr>
          <p:cNvPr id="3" name="Text 0"/>
          <p:cNvSpPr/>
          <p:nvPr/>
        </p:nvSpPr>
        <p:spPr>
          <a:xfrm>
            <a:off x="754380" y="411480"/>
            <a:ext cx="14401800" cy="548640"/>
          </a:xfrm>
          <a:prstGeom prst="rect">
            <a:avLst/>
          </a:prstGeom>
          <a:noFill/>
          <a:ln/>
        </p:spPr>
        <p:txBody>
          <a:bodyPr wrap="square" lIns="0" tIns="0" rIns="0" bIns="0" rtlCol="0" anchor="ctr"/>
          <a:lstStyle/>
          <a:p>
            <a:r>
              <a:rPr lang="en-US" sz="2400" b="1" dirty="0">
                <a:solidFill>
                  <a:srgbClr val="FF751F"/>
                </a:solidFill>
                <a:latin typeface="Calibri" pitchFamily="34" charset="0"/>
                <a:ea typeface="Calibri" pitchFamily="34" charset="-122"/>
                <a:cs typeface="Calibri" pitchFamily="34" charset="-120"/>
              </a:rPr>
              <a:t>REKOMENDASI 05  |  Refleksi Ilmiah</a:t>
            </a:r>
            <a:endParaRPr lang="en-US" sz="2400" dirty="0"/>
          </a:p>
        </p:txBody>
      </p:sp>
      <p:sp>
        <p:nvSpPr>
          <p:cNvPr id="4" name="Text 1"/>
          <p:cNvSpPr/>
          <p:nvPr/>
        </p:nvSpPr>
        <p:spPr>
          <a:xfrm>
            <a:off x="754380" y="850392"/>
            <a:ext cx="15361920" cy="1028700"/>
          </a:xfrm>
          <a:prstGeom prst="rect">
            <a:avLst/>
          </a:prstGeom>
          <a:noFill/>
          <a:ln/>
        </p:spPr>
        <p:txBody>
          <a:bodyPr wrap="square" lIns="0" tIns="0" rIns="0" bIns="0" rtlCol="0" anchor="ctr"/>
          <a:lstStyle/>
          <a:p>
            <a:r>
              <a:rPr lang="en-US" sz="4200" b="1" dirty="0">
                <a:solidFill>
                  <a:srgbClr val="1800AD"/>
                </a:solidFill>
                <a:latin typeface="Calibri" pitchFamily="34" charset="0"/>
                <a:ea typeface="Calibri" pitchFamily="34" charset="-122"/>
                <a:cs typeface="Calibri" pitchFamily="34" charset="-120"/>
              </a:rPr>
              <a:t>Keterbatasan Penelitian</a:t>
            </a:r>
            <a:endParaRPr lang="en-US" sz="4200" dirty="0"/>
          </a:p>
        </p:txBody>
      </p:sp>
      <p:sp>
        <p:nvSpPr>
          <p:cNvPr id="5" name="Shape 2"/>
          <p:cNvSpPr/>
          <p:nvPr/>
        </p:nvSpPr>
        <p:spPr>
          <a:xfrm>
            <a:off x="754380" y="1947672"/>
            <a:ext cx="2331720" cy="82296"/>
          </a:xfrm>
          <a:prstGeom prst="rect">
            <a:avLst/>
          </a:prstGeom>
          <a:solidFill>
            <a:srgbClr val="FFDE59"/>
          </a:solidFill>
          <a:ln/>
        </p:spPr>
      </p:sp>
      <p:sp>
        <p:nvSpPr>
          <p:cNvPr id="6" name="Shape 3"/>
          <p:cNvSpPr/>
          <p:nvPr/>
        </p:nvSpPr>
        <p:spPr>
          <a:xfrm>
            <a:off x="3086100" y="1947672"/>
            <a:ext cx="14470380" cy="82296"/>
          </a:xfrm>
          <a:prstGeom prst="rect">
            <a:avLst/>
          </a:prstGeom>
          <a:solidFill>
            <a:srgbClr val="1800AD"/>
          </a:solidFill>
          <a:ln/>
        </p:spPr>
      </p:sp>
      <p:sp>
        <p:nvSpPr>
          <p:cNvPr id="7" name="Shape 4"/>
          <p:cNvSpPr/>
          <p:nvPr/>
        </p:nvSpPr>
        <p:spPr>
          <a:xfrm>
            <a:off x="0" y="9793224"/>
            <a:ext cx="14950440" cy="493776"/>
          </a:xfrm>
          <a:prstGeom prst="rect">
            <a:avLst/>
          </a:prstGeom>
          <a:solidFill>
            <a:srgbClr val="1800AD"/>
          </a:solidFill>
          <a:ln/>
        </p:spPr>
      </p:sp>
      <p:sp>
        <p:nvSpPr>
          <p:cNvPr id="8" name="Shape 5"/>
          <p:cNvSpPr/>
          <p:nvPr/>
        </p:nvSpPr>
        <p:spPr>
          <a:xfrm>
            <a:off x="14950441" y="9793224"/>
            <a:ext cx="3337103" cy="493776"/>
          </a:xfrm>
          <a:prstGeom prst="rect">
            <a:avLst/>
          </a:prstGeom>
          <a:solidFill>
            <a:srgbClr val="FFDE59"/>
          </a:solidFill>
          <a:ln/>
        </p:spPr>
      </p:sp>
      <p:sp>
        <p:nvSpPr>
          <p:cNvPr id="9" name="Text 6"/>
          <p:cNvSpPr/>
          <p:nvPr/>
        </p:nvSpPr>
        <p:spPr>
          <a:xfrm>
            <a:off x="14950440" y="9793224"/>
            <a:ext cx="3223260" cy="493776"/>
          </a:xfrm>
          <a:prstGeom prst="rect">
            <a:avLst/>
          </a:prstGeom>
          <a:noFill/>
          <a:ln/>
        </p:spPr>
        <p:txBody>
          <a:bodyPr wrap="square" lIns="0" tIns="0" rIns="0" bIns="0" rtlCol="0" anchor="ctr"/>
          <a:lstStyle/>
          <a:p>
            <a:pPr algn="ctr"/>
            <a:r>
              <a:rPr lang="en-US" sz="1350" b="1" dirty="0">
                <a:solidFill>
                  <a:srgbClr val="1800AD"/>
                </a:solidFill>
                <a:latin typeface="Calibri" pitchFamily="34" charset="0"/>
                <a:ea typeface="Calibri" pitchFamily="34" charset="-122"/>
                <a:cs typeface="Calibri" pitchFamily="34" charset="-120"/>
              </a:rPr>
              <a:t>UNIVERSITAS PAMULANG</a:t>
            </a:r>
            <a:endParaRPr lang="en-US" sz="1350" dirty="0"/>
          </a:p>
        </p:txBody>
      </p:sp>
      <p:sp>
        <p:nvSpPr>
          <p:cNvPr id="11" name="Shape 8"/>
          <p:cNvSpPr/>
          <p:nvPr/>
        </p:nvSpPr>
        <p:spPr>
          <a:xfrm>
            <a:off x="754380" y="3017520"/>
            <a:ext cx="850392" cy="850392"/>
          </a:xfrm>
          <a:prstGeom prst="ellipse">
            <a:avLst/>
          </a:prstGeom>
          <a:solidFill>
            <a:srgbClr val="1800AD"/>
          </a:solidFill>
          <a:ln/>
        </p:spPr>
      </p:sp>
      <p:sp>
        <p:nvSpPr>
          <p:cNvPr id="12" name="Text 9"/>
          <p:cNvSpPr/>
          <p:nvPr/>
        </p:nvSpPr>
        <p:spPr>
          <a:xfrm>
            <a:off x="754380" y="3017520"/>
            <a:ext cx="850392" cy="850392"/>
          </a:xfrm>
          <a:prstGeom prst="rect">
            <a:avLst/>
          </a:prstGeom>
          <a:noFill/>
          <a:ln/>
        </p:spPr>
        <p:txBody>
          <a:bodyPr wrap="square" lIns="0" tIns="0" rIns="0" bIns="0" rtlCol="0" anchor="ctr"/>
          <a:lstStyle/>
          <a:p>
            <a:pPr algn="ctr"/>
            <a:r>
              <a:rPr lang="en-US" sz="2400" b="1" dirty="0">
                <a:solidFill>
                  <a:srgbClr val="FFFFFF"/>
                </a:solidFill>
                <a:latin typeface="Calibri" pitchFamily="34" charset="0"/>
                <a:ea typeface="Calibri" pitchFamily="34" charset="-122"/>
                <a:cs typeface="Calibri" pitchFamily="34" charset="-120"/>
              </a:rPr>
              <a:t>01</a:t>
            </a:r>
            <a:endParaRPr lang="en-US" sz="2400" dirty="0"/>
          </a:p>
        </p:txBody>
      </p:sp>
      <p:sp>
        <p:nvSpPr>
          <p:cNvPr id="13" name="Shape 10"/>
          <p:cNvSpPr/>
          <p:nvPr/>
        </p:nvSpPr>
        <p:spPr>
          <a:xfrm>
            <a:off x="1851660" y="2907792"/>
            <a:ext cx="15636240" cy="1097280"/>
          </a:xfrm>
          <a:prstGeom prst="roundRect">
            <a:avLst>
              <a:gd name="adj" fmla="val 7500"/>
            </a:avLst>
          </a:prstGeom>
          <a:solidFill>
            <a:srgbClr val="F7F7F7"/>
          </a:solidFill>
          <a:ln/>
        </p:spPr>
      </p:sp>
      <p:sp>
        <p:nvSpPr>
          <p:cNvPr id="14" name="Text 11"/>
          <p:cNvSpPr/>
          <p:nvPr/>
        </p:nvSpPr>
        <p:spPr>
          <a:xfrm>
            <a:off x="2125980" y="2907792"/>
            <a:ext cx="15087600" cy="1097280"/>
          </a:xfrm>
          <a:prstGeom prst="rect">
            <a:avLst/>
          </a:prstGeom>
          <a:noFill/>
          <a:ln/>
        </p:spPr>
        <p:txBody>
          <a:bodyPr wrap="square" lIns="0" tIns="0" rIns="0" bIns="0" rtlCol="0" anchor="ctr"/>
          <a:lstStyle/>
          <a:p>
            <a:r>
              <a:rPr lang="en-US" sz="1950" dirty="0">
                <a:solidFill>
                  <a:srgbClr val="222222"/>
                </a:solidFill>
                <a:latin typeface="Calibri" pitchFamily="34" charset="0"/>
                <a:ea typeface="Calibri" pitchFamily="34" charset="-122"/>
                <a:cs typeface="Calibri" pitchFamily="34" charset="-120"/>
              </a:rPr>
              <a:t>Proporsi outlier BERTopic masih cukup besar (≈ sepertiga dokumen), akibat sifat ayat yang multitematik dan pendek.</a:t>
            </a:r>
            <a:endParaRPr lang="en-US" sz="1950" dirty="0"/>
          </a:p>
        </p:txBody>
      </p:sp>
      <p:sp>
        <p:nvSpPr>
          <p:cNvPr id="15" name="Shape 12"/>
          <p:cNvSpPr/>
          <p:nvPr/>
        </p:nvSpPr>
        <p:spPr>
          <a:xfrm>
            <a:off x="754380" y="4457700"/>
            <a:ext cx="850392" cy="850392"/>
          </a:xfrm>
          <a:prstGeom prst="ellipse">
            <a:avLst/>
          </a:prstGeom>
          <a:solidFill>
            <a:srgbClr val="1800AD"/>
          </a:solidFill>
          <a:ln/>
        </p:spPr>
      </p:sp>
      <p:sp>
        <p:nvSpPr>
          <p:cNvPr id="16" name="Text 13"/>
          <p:cNvSpPr/>
          <p:nvPr/>
        </p:nvSpPr>
        <p:spPr>
          <a:xfrm>
            <a:off x="754380" y="4457700"/>
            <a:ext cx="850392" cy="850392"/>
          </a:xfrm>
          <a:prstGeom prst="rect">
            <a:avLst/>
          </a:prstGeom>
          <a:noFill/>
          <a:ln/>
        </p:spPr>
        <p:txBody>
          <a:bodyPr wrap="square" lIns="0" tIns="0" rIns="0" bIns="0" rtlCol="0" anchor="ctr"/>
          <a:lstStyle/>
          <a:p>
            <a:pPr algn="ctr"/>
            <a:r>
              <a:rPr lang="en-US" sz="2400" b="1" dirty="0">
                <a:solidFill>
                  <a:srgbClr val="FFFFFF"/>
                </a:solidFill>
                <a:latin typeface="Calibri" pitchFamily="34" charset="0"/>
                <a:ea typeface="Calibri" pitchFamily="34" charset="-122"/>
                <a:cs typeface="Calibri" pitchFamily="34" charset="-120"/>
              </a:rPr>
              <a:t>02</a:t>
            </a:r>
            <a:endParaRPr lang="en-US" sz="2400" dirty="0"/>
          </a:p>
        </p:txBody>
      </p:sp>
      <p:sp>
        <p:nvSpPr>
          <p:cNvPr id="17" name="Shape 14"/>
          <p:cNvSpPr/>
          <p:nvPr/>
        </p:nvSpPr>
        <p:spPr>
          <a:xfrm>
            <a:off x="1851660" y="4347972"/>
            <a:ext cx="15636240" cy="1097280"/>
          </a:xfrm>
          <a:prstGeom prst="roundRect">
            <a:avLst>
              <a:gd name="adj" fmla="val 7500"/>
            </a:avLst>
          </a:prstGeom>
          <a:solidFill>
            <a:srgbClr val="F7F7F7"/>
          </a:solidFill>
          <a:ln/>
        </p:spPr>
      </p:sp>
      <p:sp>
        <p:nvSpPr>
          <p:cNvPr id="18" name="Text 15"/>
          <p:cNvSpPr/>
          <p:nvPr/>
        </p:nvSpPr>
        <p:spPr>
          <a:xfrm>
            <a:off x="2125980" y="4347972"/>
            <a:ext cx="15087600" cy="1097280"/>
          </a:xfrm>
          <a:prstGeom prst="rect">
            <a:avLst/>
          </a:prstGeom>
          <a:noFill/>
          <a:ln/>
        </p:spPr>
        <p:txBody>
          <a:bodyPr wrap="square" lIns="0" tIns="0" rIns="0" bIns="0" rtlCol="0" anchor="ctr"/>
          <a:lstStyle/>
          <a:p>
            <a:r>
              <a:rPr lang="en-US" sz="1950" dirty="0">
                <a:solidFill>
                  <a:srgbClr val="222222"/>
                </a:solidFill>
                <a:latin typeface="Calibri" pitchFamily="34" charset="0"/>
                <a:ea typeface="Calibri" pitchFamily="34" charset="-122"/>
                <a:cs typeface="Calibri" pitchFamily="34" charset="-120"/>
              </a:rPr>
              <a:t>Nilai koherensi CTM (C_v = 0,517) dan BERTopic (C_v = 0,5735) masih tergolong SEDANG, belum tinggi.</a:t>
            </a:r>
            <a:endParaRPr lang="en-US" sz="1950" dirty="0"/>
          </a:p>
        </p:txBody>
      </p:sp>
      <p:sp>
        <p:nvSpPr>
          <p:cNvPr id="19" name="Shape 16"/>
          <p:cNvSpPr/>
          <p:nvPr/>
        </p:nvSpPr>
        <p:spPr>
          <a:xfrm>
            <a:off x="754380" y="5897880"/>
            <a:ext cx="850392" cy="850392"/>
          </a:xfrm>
          <a:prstGeom prst="ellipse">
            <a:avLst/>
          </a:prstGeom>
          <a:solidFill>
            <a:srgbClr val="1800AD"/>
          </a:solidFill>
          <a:ln/>
        </p:spPr>
      </p:sp>
      <p:sp>
        <p:nvSpPr>
          <p:cNvPr id="20" name="Text 17"/>
          <p:cNvSpPr/>
          <p:nvPr/>
        </p:nvSpPr>
        <p:spPr>
          <a:xfrm>
            <a:off x="754380" y="5897880"/>
            <a:ext cx="850392" cy="850392"/>
          </a:xfrm>
          <a:prstGeom prst="rect">
            <a:avLst/>
          </a:prstGeom>
          <a:noFill/>
          <a:ln/>
        </p:spPr>
        <p:txBody>
          <a:bodyPr wrap="square" lIns="0" tIns="0" rIns="0" bIns="0" rtlCol="0" anchor="ctr"/>
          <a:lstStyle/>
          <a:p>
            <a:pPr algn="ctr"/>
            <a:r>
              <a:rPr lang="en-US" sz="2400" b="1" dirty="0">
                <a:solidFill>
                  <a:srgbClr val="FFFFFF"/>
                </a:solidFill>
                <a:latin typeface="Calibri" pitchFamily="34" charset="0"/>
                <a:ea typeface="Calibri" pitchFamily="34" charset="-122"/>
                <a:cs typeface="Calibri" pitchFamily="34" charset="-120"/>
              </a:rPr>
              <a:t>03</a:t>
            </a:r>
            <a:endParaRPr lang="en-US" sz="2400" dirty="0"/>
          </a:p>
        </p:txBody>
      </p:sp>
      <p:sp>
        <p:nvSpPr>
          <p:cNvPr id="21" name="Shape 18"/>
          <p:cNvSpPr/>
          <p:nvPr/>
        </p:nvSpPr>
        <p:spPr>
          <a:xfrm>
            <a:off x="1851660" y="5788152"/>
            <a:ext cx="15636240" cy="1097280"/>
          </a:xfrm>
          <a:prstGeom prst="roundRect">
            <a:avLst>
              <a:gd name="adj" fmla="val 7500"/>
            </a:avLst>
          </a:prstGeom>
          <a:solidFill>
            <a:srgbClr val="F7F7F7"/>
          </a:solidFill>
          <a:ln/>
        </p:spPr>
      </p:sp>
      <p:sp>
        <p:nvSpPr>
          <p:cNvPr id="22" name="Text 19"/>
          <p:cNvSpPr/>
          <p:nvPr/>
        </p:nvSpPr>
        <p:spPr>
          <a:xfrm>
            <a:off x="2125980" y="5788152"/>
            <a:ext cx="15087600" cy="1097280"/>
          </a:xfrm>
          <a:prstGeom prst="rect">
            <a:avLst/>
          </a:prstGeom>
          <a:noFill/>
          <a:ln/>
        </p:spPr>
        <p:txBody>
          <a:bodyPr wrap="square" lIns="0" tIns="0" rIns="0" bIns="0" rtlCol="0" anchor="ctr"/>
          <a:lstStyle/>
          <a:p>
            <a:r>
              <a:rPr lang="en-US" sz="1950" dirty="0">
                <a:solidFill>
                  <a:srgbClr val="222222"/>
                </a:solidFill>
                <a:latin typeface="Calibri" pitchFamily="34" charset="0"/>
                <a:ea typeface="Calibri" pitchFamily="34" charset="-122"/>
                <a:cs typeface="Calibri" pitchFamily="34" charset="-120"/>
              </a:rPr>
              <a:t>Penelitian terbatas pada teks terjemahan Bahasa Indonesia, belum menyentuh teks asli berbahasa Arab.</a:t>
            </a:r>
            <a:endParaRPr lang="en-US" sz="1950" dirty="0"/>
          </a:p>
        </p:txBody>
      </p:sp>
      <p:sp>
        <p:nvSpPr>
          <p:cNvPr id="23" name="Shape 20"/>
          <p:cNvSpPr/>
          <p:nvPr/>
        </p:nvSpPr>
        <p:spPr>
          <a:xfrm>
            <a:off x="754380" y="7338060"/>
            <a:ext cx="850392" cy="850392"/>
          </a:xfrm>
          <a:prstGeom prst="ellipse">
            <a:avLst/>
          </a:prstGeom>
          <a:solidFill>
            <a:srgbClr val="1800AD"/>
          </a:solidFill>
          <a:ln/>
        </p:spPr>
      </p:sp>
      <p:sp>
        <p:nvSpPr>
          <p:cNvPr id="24" name="Text 21"/>
          <p:cNvSpPr/>
          <p:nvPr/>
        </p:nvSpPr>
        <p:spPr>
          <a:xfrm>
            <a:off x="754380" y="7338060"/>
            <a:ext cx="850392" cy="850392"/>
          </a:xfrm>
          <a:prstGeom prst="rect">
            <a:avLst/>
          </a:prstGeom>
          <a:noFill/>
          <a:ln/>
        </p:spPr>
        <p:txBody>
          <a:bodyPr wrap="square" lIns="0" tIns="0" rIns="0" bIns="0" rtlCol="0" anchor="ctr"/>
          <a:lstStyle/>
          <a:p>
            <a:pPr algn="ctr"/>
            <a:r>
              <a:rPr lang="en-US" sz="2400" b="1" dirty="0">
                <a:solidFill>
                  <a:srgbClr val="FFFFFF"/>
                </a:solidFill>
                <a:latin typeface="Calibri" pitchFamily="34" charset="0"/>
                <a:ea typeface="Calibri" pitchFamily="34" charset="-122"/>
                <a:cs typeface="Calibri" pitchFamily="34" charset="-120"/>
              </a:rPr>
              <a:t>04</a:t>
            </a:r>
            <a:endParaRPr lang="en-US" sz="2400" dirty="0"/>
          </a:p>
        </p:txBody>
      </p:sp>
      <p:sp>
        <p:nvSpPr>
          <p:cNvPr id="25" name="Shape 22"/>
          <p:cNvSpPr/>
          <p:nvPr/>
        </p:nvSpPr>
        <p:spPr>
          <a:xfrm>
            <a:off x="1851660" y="7228332"/>
            <a:ext cx="15636240" cy="1097280"/>
          </a:xfrm>
          <a:prstGeom prst="roundRect">
            <a:avLst>
              <a:gd name="adj" fmla="val 7500"/>
            </a:avLst>
          </a:prstGeom>
          <a:solidFill>
            <a:srgbClr val="F7F7F7"/>
          </a:solidFill>
          <a:ln/>
        </p:spPr>
      </p:sp>
      <p:sp>
        <p:nvSpPr>
          <p:cNvPr id="26" name="Text 23"/>
          <p:cNvSpPr/>
          <p:nvPr/>
        </p:nvSpPr>
        <p:spPr>
          <a:xfrm>
            <a:off x="2125980" y="7228332"/>
            <a:ext cx="15087600" cy="1097280"/>
          </a:xfrm>
          <a:prstGeom prst="rect">
            <a:avLst/>
          </a:prstGeom>
          <a:noFill/>
          <a:ln/>
        </p:spPr>
        <p:txBody>
          <a:bodyPr wrap="square" lIns="0" tIns="0" rIns="0" bIns="0" rtlCol="0" anchor="ctr"/>
          <a:lstStyle/>
          <a:p>
            <a:r>
              <a:rPr lang="en-US" sz="1950" dirty="0">
                <a:solidFill>
                  <a:srgbClr val="222222"/>
                </a:solidFill>
                <a:latin typeface="Calibri" pitchFamily="34" charset="0"/>
                <a:ea typeface="Calibri" pitchFamily="34" charset="-122"/>
                <a:cs typeface="Calibri" pitchFamily="34" charset="-120"/>
              </a:rPr>
              <a:t>Interpretasi tema (Aqidah, Akhlak, dst.) masih melibatkan penilaian kualitatif oleh satu peneliti.</a:t>
            </a:r>
            <a:endParaRPr lang="en-US" sz="1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033559" flipV="1">
            <a:off x="-6899734" y="5748474"/>
            <a:ext cx="6313412" cy="11932565"/>
          </a:xfrm>
          <a:custGeom>
            <a:avLst/>
            <a:gdLst/>
            <a:ahLst/>
            <a:cxnLst/>
            <a:rect l="l" t="t" r="r" b="b"/>
            <a:pathLst>
              <a:path w="6313412" h="11932565">
                <a:moveTo>
                  <a:pt x="0" y="11932564"/>
                </a:moveTo>
                <a:lnTo>
                  <a:pt x="6313412" y="11932564"/>
                </a:lnTo>
                <a:lnTo>
                  <a:pt x="6313412" y="0"/>
                </a:lnTo>
                <a:lnTo>
                  <a:pt x="0" y="0"/>
                </a:lnTo>
                <a:lnTo>
                  <a:pt x="0" y="11932564"/>
                </a:lnTo>
                <a:close/>
              </a:path>
            </a:pathLst>
          </a:custGeom>
          <a:blipFill>
            <a:blip r:embed="rId3">
              <a:alphaModFix amt="7999"/>
              <a:extLst>
                <a:ext uri="{96DAC541-7B7A-43D3-8B79-37D633B846F1}">
                  <asvg:svgBlip xmlns:asvg="http://schemas.microsoft.com/office/drawing/2016/SVG/main" r:embed="rId4"/>
                </a:ext>
              </a:extLst>
            </a:blip>
            <a:stretch>
              <a:fillRect/>
            </a:stretch>
          </a:blipFill>
        </p:spPr>
      </p:sp>
      <p:grpSp>
        <p:nvGrpSpPr>
          <p:cNvPr id="3" name="Group 3"/>
          <p:cNvGrpSpPr/>
          <p:nvPr/>
        </p:nvGrpSpPr>
        <p:grpSpPr>
          <a:xfrm>
            <a:off x="0" y="9708804"/>
            <a:ext cx="9144000" cy="560871"/>
            <a:chOff x="0" y="0"/>
            <a:chExt cx="2408296" cy="147719"/>
          </a:xfrm>
        </p:grpSpPr>
        <p:sp>
          <p:nvSpPr>
            <p:cNvPr id="4" name="Freeform 4"/>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1800AD"/>
            </a:solidFill>
          </p:spPr>
        </p:sp>
        <p:sp>
          <p:nvSpPr>
            <p:cNvPr id="5" name="TextBox 5"/>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028700" y="2479309"/>
            <a:ext cx="8115300" cy="137058"/>
            <a:chOff x="0" y="0"/>
            <a:chExt cx="2137363" cy="36097"/>
          </a:xfrm>
        </p:grpSpPr>
        <p:sp>
          <p:nvSpPr>
            <p:cNvPr id="7" name="Freeform 7"/>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FFDE59"/>
            </a:solidFill>
          </p:spPr>
        </p:sp>
        <p:sp>
          <p:nvSpPr>
            <p:cNvPr id="8" name="TextBox 8"/>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9144000" y="2479309"/>
            <a:ext cx="8115300" cy="137058"/>
            <a:chOff x="0" y="0"/>
            <a:chExt cx="2137363" cy="36097"/>
          </a:xfrm>
        </p:grpSpPr>
        <p:sp>
          <p:nvSpPr>
            <p:cNvPr id="10" name="Freeform 10"/>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1800AD"/>
            </a:solidFill>
          </p:spPr>
        </p:sp>
        <p:sp>
          <p:nvSpPr>
            <p:cNvPr id="11" name="TextBox 11"/>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sp>
        <p:nvSpPr>
          <p:cNvPr id="12" name="Freeform 12"/>
          <p:cNvSpPr/>
          <p:nvPr/>
        </p:nvSpPr>
        <p:spPr>
          <a:xfrm>
            <a:off x="15487240" y="516545"/>
            <a:ext cx="1664226" cy="1616285"/>
          </a:xfrm>
          <a:custGeom>
            <a:avLst/>
            <a:gdLst/>
            <a:ahLst/>
            <a:cxnLst/>
            <a:rect l="l" t="t" r="r" b="b"/>
            <a:pathLst>
              <a:path w="1664226" h="1616285">
                <a:moveTo>
                  <a:pt x="0" y="0"/>
                </a:moveTo>
                <a:lnTo>
                  <a:pt x="1664226" y="0"/>
                </a:lnTo>
                <a:lnTo>
                  <a:pt x="1664226" y="1616285"/>
                </a:lnTo>
                <a:lnTo>
                  <a:pt x="0" y="1616285"/>
                </a:lnTo>
                <a:lnTo>
                  <a:pt x="0" y="0"/>
                </a:lnTo>
                <a:close/>
              </a:path>
            </a:pathLst>
          </a:custGeom>
          <a:blipFill>
            <a:blip r:embed="rId5"/>
            <a:stretch>
              <a:fillRect/>
            </a:stretch>
          </a:blipFill>
        </p:spPr>
      </p:sp>
      <p:grpSp>
        <p:nvGrpSpPr>
          <p:cNvPr id="13" name="Group 13"/>
          <p:cNvGrpSpPr/>
          <p:nvPr/>
        </p:nvGrpSpPr>
        <p:grpSpPr>
          <a:xfrm>
            <a:off x="9144000" y="9708804"/>
            <a:ext cx="9144000" cy="560871"/>
            <a:chOff x="0" y="0"/>
            <a:chExt cx="2408296" cy="147719"/>
          </a:xfrm>
        </p:grpSpPr>
        <p:sp>
          <p:nvSpPr>
            <p:cNvPr id="14" name="Freeform 14"/>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FFDE59"/>
            </a:solidFill>
          </p:spPr>
        </p:sp>
        <p:sp>
          <p:nvSpPr>
            <p:cNvPr id="15" name="TextBox 15"/>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sp>
        <p:nvSpPr>
          <p:cNvPr id="17" name="TextBox 17"/>
          <p:cNvSpPr txBox="1"/>
          <p:nvPr/>
        </p:nvSpPr>
        <p:spPr>
          <a:xfrm>
            <a:off x="1002433" y="1101335"/>
            <a:ext cx="10960228" cy="812886"/>
          </a:xfrm>
          <a:prstGeom prst="rect">
            <a:avLst/>
          </a:prstGeom>
        </p:spPr>
        <p:txBody>
          <a:bodyPr wrap="square" lIns="0" tIns="0" rIns="0" bIns="0" rtlCol="0" anchor="t">
            <a:spAutoFit/>
          </a:bodyPr>
          <a:lstStyle/>
          <a:p>
            <a:pPr algn="l">
              <a:lnSpc>
                <a:spcPts val="6645"/>
              </a:lnSpc>
              <a:spcBef>
                <a:spcPct val="0"/>
              </a:spcBef>
            </a:pPr>
            <a:r>
              <a:rPr lang="en-US" sz="4746" b="1" dirty="0">
                <a:solidFill>
                  <a:srgbClr val="FF751F"/>
                </a:solidFill>
                <a:latin typeface="Montserrat Bold"/>
                <a:ea typeface="Montserrat Bold"/>
                <a:cs typeface="Montserrat Bold"/>
                <a:sym typeface="Montserrat Bold"/>
              </a:rPr>
              <a:t>22 | Kesimpulan</a:t>
            </a:r>
          </a:p>
        </p:txBody>
      </p:sp>
      <p:sp>
        <p:nvSpPr>
          <p:cNvPr id="18" name="TextBox 18"/>
          <p:cNvSpPr txBox="1"/>
          <p:nvPr/>
        </p:nvSpPr>
        <p:spPr>
          <a:xfrm>
            <a:off x="1002433" y="3493247"/>
            <a:ext cx="16256867" cy="1289905"/>
          </a:xfrm>
          <a:prstGeom prst="rect">
            <a:avLst/>
          </a:prstGeom>
        </p:spPr>
        <p:txBody>
          <a:bodyPr lIns="0" tIns="0" rIns="0" bIns="0" rtlCol="0" anchor="t">
            <a:spAutoFit/>
          </a:bodyPr>
          <a:lstStyle/>
          <a:p>
            <a:pPr algn="ctr">
              <a:lnSpc>
                <a:spcPts val="3452"/>
              </a:lnSpc>
            </a:pPr>
            <a:r>
              <a:rPr lang="en-US" sz="2466" b="1">
                <a:solidFill>
                  <a:srgbClr val="000000"/>
                </a:solidFill>
                <a:latin typeface="Canva Sans Bold"/>
                <a:ea typeface="Canva Sans Bold"/>
                <a:cs typeface="Canva Sans Bold"/>
                <a:sym typeface="Canva Sans Bold"/>
              </a:rPr>
              <a:t>Secara keseluruhan model CTM mampu menghasilkan topik yang representatif meski dengan korelasi antar topik yang belum benar-benar optimal (berdasarkan nilai Cv = 0.517, NPMI= -0.226, Umass = -5.0661, UCI = -2.1370 dan Perplexity 1720.28)</a:t>
            </a:r>
          </a:p>
        </p:txBody>
      </p:sp>
      <p:sp>
        <p:nvSpPr>
          <p:cNvPr id="19" name="TextBox 19"/>
          <p:cNvSpPr txBox="1"/>
          <p:nvPr/>
        </p:nvSpPr>
        <p:spPr>
          <a:xfrm>
            <a:off x="1028700" y="5234272"/>
            <a:ext cx="16256867" cy="1325465"/>
          </a:xfrm>
          <a:prstGeom prst="rect">
            <a:avLst/>
          </a:prstGeom>
        </p:spPr>
        <p:txBody>
          <a:bodyPr lIns="0" tIns="0" rIns="0" bIns="0" rtlCol="0" anchor="t">
            <a:spAutoFit/>
          </a:bodyPr>
          <a:lstStyle/>
          <a:p>
            <a:pPr algn="ctr">
              <a:lnSpc>
                <a:spcPts val="3592"/>
              </a:lnSpc>
            </a:pPr>
            <a:r>
              <a:rPr lang="en-US" sz="2566" b="1">
                <a:solidFill>
                  <a:srgbClr val="000000"/>
                </a:solidFill>
                <a:latin typeface="Canva Sans Bold"/>
                <a:ea typeface="Canva Sans Bold"/>
                <a:cs typeface="Canva Sans Bold"/>
                <a:sym typeface="Canva Sans Bold"/>
              </a:rPr>
              <a:t>Model BERTopic mampu menghasilkan topik dengan koherensi semantik yang cukup baik dengan nilai 0.5735 (C_v &gt; 0,5), Nilai NPMI = 0.0530 yang bernilai positif menunjukkan bahwa terdapat asosiasi statistik yang bermakna antar kata dalam topik</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033559" flipV="1">
            <a:off x="3863225" y="-4766268"/>
            <a:ext cx="9848495" cy="18613993"/>
          </a:xfrm>
          <a:custGeom>
            <a:avLst/>
            <a:gdLst/>
            <a:ahLst/>
            <a:cxnLst/>
            <a:rect l="l" t="t" r="r" b="b"/>
            <a:pathLst>
              <a:path w="9848495" h="18613993">
                <a:moveTo>
                  <a:pt x="0" y="18613994"/>
                </a:moveTo>
                <a:lnTo>
                  <a:pt x="9848494" y="18613994"/>
                </a:lnTo>
                <a:lnTo>
                  <a:pt x="9848494" y="0"/>
                </a:lnTo>
                <a:lnTo>
                  <a:pt x="0" y="0"/>
                </a:lnTo>
                <a:lnTo>
                  <a:pt x="0" y="18613994"/>
                </a:lnTo>
                <a:close/>
              </a:path>
            </a:pathLst>
          </a:custGeom>
          <a:blipFill>
            <a:blip r:embed="rId2">
              <a:alphaModFix amt="6999"/>
              <a:extLst>
                <a:ext uri="{96DAC541-7B7A-43D3-8B79-37D633B846F1}">
                  <asvg:svgBlip xmlns:asvg="http://schemas.microsoft.com/office/drawing/2016/SVG/main" r:embed="rId3"/>
                </a:ext>
              </a:extLst>
            </a:blip>
            <a:stretch>
              <a:fillRect/>
            </a:stretch>
          </a:blipFill>
        </p:spPr>
      </p:sp>
      <p:sp>
        <p:nvSpPr>
          <p:cNvPr id="3" name="Freeform 3"/>
          <p:cNvSpPr/>
          <p:nvPr/>
        </p:nvSpPr>
        <p:spPr>
          <a:xfrm>
            <a:off x="2341902" y="516545"/>
            <a:ext cx="1313202" cy="434551"/>
          </a:xfrm>
          <a:custGeom>
            <a:avLst/>
            <a:gdLst/>
            <a:ahLst/>
            <a:cxnLst/>
            <a:rect l="l" t="t" r="r" b="b"/>
            <a:pathLst>
              <a:path w="1313202" h="434551">
                <a:moveTo>
                  <a:pt x="0" y="0"/>
                </a:moveTo>
                <a:lnTo>
                  <a:pt x="1313202" y="0"/>
                </a:lnTo>
                <a:lnTo>
                  <a:pt x="1313202" y="434550"/>
                </a:lnTo>
                <a:lnTo>
                  <a:pt x="0" y="43455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5946098" y="9371229"/>
            <a:ext cx="1313202" cy="434551"/>
          </a:xfrm>
          <a:custGeom>
            <a:avLst/>
            <a:gdLst/>
            <a:ahLst/>
            <a:cxnLst/>
            <a:rect l="l" t="t" r="r" b="b"/>
            <a:pathLst>
              <a:path w="1313202" h="434551">
                <a:moveTo>
                  <a:pt x="0" y="0"/>
                </a:moveTo>
                <a:lnTo>
                  <a:pt x="1313202" y="0"/>
                </a:lnTo>
                <a:lnTo>
                  <a:pt x="1313202" y="434550"/>
                </a:lnTo>
                <a:lnTo>
                  <a:pt x="0" y="43455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028700" y="516545"/>
            <a:ext cx="1313202" cy="434551"/>
          </a:xfrm>
          <a:custGeom>
            <a:avLst/>
            <a:gdLst/>
            <a:ahLst/>
            <a:cxnLst/>
            <a:rect l="l" t="t" r="r" b="b"/>
            <a:pathLst>
              <a:path w="1313202" h="434551">
                <a:moveTo>
                  <a:pt x="0" y="0"/>
                </a:moveTo>
                <a:lnTo>
                  <a:pt x="1313202" y="0"/>
                </a:lnTo>
                <a:lnTo>
                  <a:pt x="1313202" y="434550"/>
                </a:lnTo>
                <a:lnTo>
                  <a:pt x="0" y="43455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a:off x="14632896" y="9371229"/>
            <a:ext cx="1313202" cy="434551"/>
          </a:xfrm>
          <a:custGeom>
            <a:avLst/>
            <a:gdLst/>
            <a:ahLst/>
            <a:cxnLst/>
            <a:rect l="l" t="t" r="r" b="b"/>
            <a:pathLst>
              <a:path w="1313202" h="434551">
                <a:moveTo>
                  <a:pt x="0" y="0"/>
                </a:moveTo>
                <a:lnTo>
                  <a:pt x="1313202" y="0"/>
                </a:lnTo>
                <a:lnTo>
                  <a:pt x="1313202" y="434550"/>
                </a:lnTo>
                <a:lnTo>
                  <a:pt x="0" y="43455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7" name="Group 7"/>
          <p:cNvGrpSpPr/>
          <p:nvPr/>
        </p:nvGrpSpPr>
        <p:grpSpPr>
          <a:xfrm>
            <a:off x="1028700" y="3648296"/>
            <a:ext cx="16230600" cy="2625312"/>
            <a:chOff x="0" y="0"/>
            <a:chExt cx="4274726" cy="691440"/>
          </a:xfrm>
        </p:grpSpPr>
        <p:sp>
          <p:nvSpPr>
            <p:cNvPr id="8" name="Freeform 8"/>
            <p:cNvSpPr/>
            <p:nvPr/>
          </p:nvSpPr>
          <p:spPr>
            <a:xfrm>
              <a:off x="0" y="0"/>
              <a:ext cx="4274726" cy="691440"/>
            </a:xfrm>
            <a:custGeom>
              <a:avLst/>
              <a:gdLst/>
              <a:ahLst/>
              <a:cxnLst/>
              <a:rect l="l" t="t" r="r" b="b"/>
              <a:pathLst>
                <a:path w="4274726" h="691440">
                  <a:moveTo>
                    <a:pt x="0" y="0"/>
                  </a:moveTo>
                  <a:lnTo>
                    <a:pt x="4274726" y="0"/>
                  </a:lnTo>
                  <a:lnTo>
                    <a:pt x="4274726" y="691440"/>
                  </a:lnTo>
                  <a:lnTo>
                    <a:pt x="0" y="691440"/>
                  </a:lnTo>
                  <a:close/>
                </a:path>
              </a:pathLst>
            </a:custGeom>
            <a:solidFill>
              <a:srgbClr val="3C6295"/>
            </a:solidFill>
          </p:spPr>
        </p:sp>
        <p:sp>
          <p:nvSpPr>
            <p:cNvPr id="9" name="TextBox 9"/>
            <p:cNvSpPr txBox="1"/>
            <p:nvPr/>
          </p:nvSpPr>
          <p:spPr>
            <a:xfrm>
              <a:off x="0" y="-47625"/>
              <a:ext cx="4274726" cy="739065"/>
            </a:xfrm>
            <a:prstGeom prst="rect">
              <a:avLst/>
            </a:prstGeom>
          </p:spPr>
          <p:txBody>
            <a:bodyPr lIns="50800" tIns="50800" rIns="50800" bIns="50800" rtlCol="0" anchor="ctr"/>
            <a:lstStyle/>
            <a:p>
              <a:pPr algn="ctr">
                <a:lnSpc>
                  <a:spcPts val="2659"/>
                </a:lnSpc>
              </a:pPr>
              <a:endParaRPr>
                <a:highlight>
                  <a:srgbClr val="FFFF00"/>
                </a:highlight>
              </a:endParaRPr>
            </a:p>
          </p:txBody>
        </p:sp>
      </p:grpSp>
      <p:sp>
        <p:nvSpPr>
          <p:cNvPr id="16" name="TextBox 16"/>
          <p:cNvSpPr txBox="1"/>
          <p:nvPr/>
        </p:nvSpPr>
        <p:spPr>
          <a:xfrm>
            <a:off x="4604432" y="3391121"/>
            <a:ext cx="10413877" cy="2299217"/>
          </a:xfrm>
          <a:prstGeom prst="rect">
            <a:avLst/>
          </a:prstGeom>
        </p:spPr>
        <p:txBody>
          <a:bodyPr lIns="0" tIns="0" rIns="0" bIns="0" rtlCol="0" anchor="t">
            <a:spAutoFit/>
          </a:bodyPr>
          <a:lstStyle/>
          <a:p>
            <a:pPr algn="ctr">
              <a:lnSpc>
                <a:spcPts val="18878"/>
              </a:lnSpc>
              <a:spcBef>
                <a:spcPct val="0"/>
              </a:spcBef>
            </a:pPr>
            <a:r>
              <a:rPr lang="en-US" sz="13484" b="1" dirty="0" err="1">
                <a:solidFill>
                  <a:srgbClr val="FFFFFF"/>
                </a:solidFill>
                <a:latin typeface="Archivo Narrow Bold"/>
                <a:ea typeface="Archivo Narrow Bold"/>
                <a:cs typeface="Archivo Narrow Bold"/>
                <a:sym typeface="Archivo Narrow Bold"/>
              </a:rPr>
              <a:t>Terimakasih</a:t>
            </a:r>
            <a:endParaRPr lang="en-US" sz="13484" b="1" dirty="0">
              <a:solidFill>
                <a:srgbClr val="FFFFFF"/>
              </a:solidFill>
              <a:latin typeface="Archivo Narrow Bold"/>
              <a:ea typeface="Archivo Narrow Bold"/>
              <a:cs typeface="Archivo Narrow Bold"/>
              <a:sym typeface="Archivo Narrow Bold"/>
            </a:endParaRPr>
          </a:p>
        </p:txBody>
      </p:sp>
      <p:grpSp>
        <p:nvGrpSpPr>
          <p:cNvPr id="20" name="Group 9">
            <a:extLst>
              <a:ext uri="{FF2B5EF4-FFF2-40B4-BE49-F238E27FC236}">
                <a16:creationId xmlns:a16="http://schemas.microsoft.com/office/drawing/2014/main" id="{9836C6D6-414B-80BC-DBC0-44A0EEDDB8DC}"/>
              </a:ext>
            </a:extLst>
          </p:cNvPr>
          <p:cNvGrpSpPr/>
          <p:nvPr/>
        </p:nvGrpSpPr>
        <p:grpSpPr>
          <a:xfrm>
            <a:off x="9601200" y="1333500"/>
            <a:ext cx="8115300" cy="137058"/>
            <a:chOff x="0" y="0"/>
            <a:chExt cx="2137363" cy="36097"/>
          </a:xfrm>
        </p:grpSpPr>
        <p:sp>
          <p:nvSpPr>
            <p:cNvPr id="21" name="Freeform 10">
              <a:extLst>
                <a:ext uri="{FF2B5EF4-FFF2-40B4-BE49-F238E27FC236}">
                  <a16:creationId xmlns:a16="http://schemas.microsoft.com/office/drawing/2014/main" id="{0F83FDBB-916C-145C-DCE5-A15919895C0C}"/>
                </a:ext>
              </a:extLst>
            </p:cNvPr>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1800AD"/>
            </a:solidFill>
          </p:spPr>
        </p:sp>
        <p:sp>
          <p:nvSpPr>
            <p:cNvPr id="22" name="TextBox 11">
              <a:extLst>
                <a:ext uri="{FF2B5EF4-FFF2-40B4-BE49-F238E27FC236}">
                  <a16:creationId xmlns:a16="http://schemas.microsoft.com/office/drawing/2014/main" id="{C48EBB66-B018-E494-025F-737493D26662}"/>
                </a:ext>
              </a:extLst>
            </p:cNvPr>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grpSp>
        <p:nvGrpSpPr>
          <p:cNvPr id="23" name="Group 6">
            <a:extLst>
              <a:ext uri="{FF2B5EF4-FFF2-40B4-BE49-F238E27FC236}">
                <a16:creationId xmlns:a16="http://schemas.microsoft.com/office/drawing/2014/main" id="{4B9F312A-8671-864C-53DD-A75DB7EEEA73}"/>
              </a:ext>
            </a:extLst>
          </p:cNvPr>
          <p:cNvGrpSpPr/>
          <p:nvPr/>
        </p:nvGrpSpPr>
        <p:grpSpPr>
          <a:xfrm>
            <a:off x="1028700" y="1356361"/>
            <a:ext cx="8572501" cy="1260006"/>
            <a:chOff x="0" y="-295751"/>
            <a:chExt cx="2257778" cy="331848"/>
          </a:xfrm>
        </p:grpSpPr>
        <p:sp>
          <p:nvSpPr>
            <p:cNvPr id="24" name="Freeform 7">
              <a:extLst>
                <a:ext uri="{FF2B5EF4-FFF2-40B4-BE49-F238E27FC236}">
                  <a16:creationId xmlns:a16="http://schemas.microsoft.com/office/drawing/2014/main" id="{7F4AD406-32B5-B7C2-CCF6-9C5203AC05F3}"/>
                </a:ext>
              </a:extLst>
            </p:cNvPr>
            <p:cNvSpPr/>
            <p:nvPr/>
          </p:nvSpPr>
          <p:spPr>
            <a:xfrm>
              <a:off x="120415" y="-295751"/>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FFDE59"/>
            </a:solidFill>
          </p:spPr>
        </p:sp>
        <p:sp>
          <p:nvSpPr>
            <p:cNvPr id="25" name="TextBox 8">
              <a:extLst>
                <a:ext uri="{FF2B5EF4-FFF2-40B4-BE49-F238E27FC236}">
                  <a16:creationId xmlns:a16="http://schemas.microsoft.com/office/drawing/2014/main" id="{10475774-DB31-4BBC-17B0-D7C157CF3C2C}"/>
                </a:ext>
              </a:extLst>
            </p:cNvPr>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assets/logo.png"/>
          <p:cNvPicPr>
            <a:picLocks noChangeAspect="1"/>
          </p:cNvPicPr>
          <p:nvPr/>
        </p:nvPicPr>
        <p:blipFill>
          <a:blip r:embed="rId3"/>
          <a:stretch>
            <a:fillRect/>
          </a:stretch>
        </p:blipFill>
        <p:spPr>
          <a:xfrm>
            <a:off x="16664940" y="384048"/>
            <a:ext cx="987552" cy="960120"/>
          </a:xfrm>
          <a:prstGeom prst="rect">
            <a:avLst/>
          </a:prstGeom>
        </p:spPr>
      </p:pic>
      <p:sp>
        <p:nvSpPr>
          <p:cNvPr id="3" name="Text 0"/>
          <p:cNvSpPr/>
          <p:nvPr/>
        </p:nvSpPr>
        <p:spPr>
          <a:xfrm>
            <a:off x="754380" y="411480"/>
            <a:ext cx="14401800" cy="548640"/>
          </a:xfrm>
          <a:prstGeom prst="rect">
            <a:avLst/>
          </a:prstGeom>
          <a:noFill/>
          <a:ln/>
        </p:spPr>
        <p:txBody>
          <a:bodyPr wrap="square" lIns="0" tIns="0" rIns="0" bIns="0" rtlCol="0" anchor="ctr"/>
          <a:lstStyle/>
          <a:p>
            <a:r>
              <a:rPr lang="en-US" sz="2400" b="1" dirty="0">
                <a:solidFill>
                  <a:srgbClr val="FF751F"/>
                </a:solidFill>
                <a:latin typeface="Calibri" pitchFamily="34" charset="0"/>
                <a:ea typeface="Calibri" pitchFamily="34" charset="-122"/>
                <a:cs typeface="Calibri" pitchFamily="34" charset="-120"/>
              </a:rPr>
              <a:t>REKOMENDASI 08  |  Persiapan Tanya-Jawab</a:t>
            </a:r>
            <a:endParaRPr lang="en-US" sz="2400" dirty="0"/>
          </a:p>
        </p:txBody>
      </p:sp>
      <p:sp>
        <p:nvSpPr>
          <p:cNvPr id="4" name="Text 1"/>
          <p:cNvSpPr/>
          <p:nvPr/>
        </p:nvSpPr>
        <p:spPr>
          <a:xfrm>
            <a:off x="754380" y="850392"/>
            <a:ext cx="15361920" cy="1028700"/>
          </a:xfrm>
          <a:prstGeom prst="rect">
            <a:avLst/>
          </a:prstGeom>
          <a:noFill/>
          <a:ln/>
        </p:spPr>
        <p:txBody>
          <a:bodyPr wrap="square" lIns="0" tIns="0" rIns="0" bIns="0" rtlCol="0" anchor="ctr"/>
          <a:lstStyle/>
          <a:p>
            <a:r>
              <a:rPr lang="en-US" sz="4200" b="1" dirty="0">
                <a:solidFill>
                  <a:srgbClr val="1800AD"/>
                </a:solidFill>
                <a:latin typeface="Calibri" pitchFamily="34" charset="0"/>
                <a:ea typeface="Calibri" pitchFamily="34" charset="-122"/>
                <a:cs typeface="Calibri" pitchFamily="34" charset="-120"/>
              </a:rPr>
              <a:t>Ringkasan Angka Penting (Slide Cadangan)</a:t>
            </a:r>
            <a:endParaRPr lang="en-US" sz="4200" dirty="0"/>
          </a:p>
        </p:txBody>
      </p:sp>
      <p:sp>
        <p:nvSpPr>
          <p:cNvPr id="5" name="Shape 2"/>
          <p:cNvSpPr/>
          <p:nvPr/>
        </p:nvSpPr>
        <p:spPr>
          <a:xfrm>
            <a:off x="754380" y="1947672"/>
            <a:ext cx="2331720" cy="82296"/>
          </a:xfrm>
          <a:prstGeom prst="rect">
            <a:avLst/>
          </a:prstGeom>
          <a:solidFill>
            <a:srgbClr val="FFDE59"/>
          </a:solidFill>
          <a:ln/>
        </p:spPr>
      </p:sp>
      <p:sp>
        <p:nvSpPr>
          <p:cNvPr id="6" name="Shape 3"/>
          <p:cNvSpPr/>
          <p:nvPr/>
        </p:nvSpPr>
        <p:spPr>
          <a:xfrm>
            <a:off x="3086100" y="1947672"/>
            <a:ext cx="14470380" cy="82296"/>
          </a:xfrm>
          <a:prstGeom prst="rect">
            <a:avLst/>
          </a:prstGeom>
          <a:solidFill>
            <a:srgbClr val="1800AD"/>
          </a:solidFill>
          <a:ln/>
        </p:spPr>
      </p:sp>
      <p:sp>
        <p:nvSpPr>
          <p:cNvPr id="7" name="Shape 4"/>
          <p:cNvSpPr/>
          <p:nvPr/>
        </p:nvSpPr>
        <p:spPr>
          <a:xfrm>
            <a:off x="0" y="9793224"/>
            <a:ext cx="14950440" cy="493776"/>
          </a:xfrm>
          <a:prstGeom prst="rect">
            <a:avLst/>
          </a:prstGeom>
          <a:solidFill>
            <a:srgbClr val="1800AD"/>
          </a:solidFill>
          <a:ln/>
        </p:spPr>
      </p:sp>
      <p:sp>
        <p:nvSpPr>
          <p:cNvPr id="8" name="Shape 5"/>
          <p:cNvSpPr/>
          <p:nvPr/>
        </p:nvSpPr>
        <p:spPr>
          <a:xfrm>
            <a:off x="14950441" y="9793224"/>
            <a:ext cx="3337103" cy="493776"/>
          </a:xfrm>
          <a:prstGeom prst="rect">
            <a:avLst/>
          </a:prstGeom>
          <a:solidFill>
            <a:srgbClr val="FFDE59"/>
          </a:solidFill>
          <a:ln/>
        </p:spPr>
      </p:sp>
      <p:sp>
        <p:nvSpPr>
          <p:cNvPr id="9" name="Text 6"/>
          <p:cNvSpPr/>
          <p:nvPr/>
        </p:nvSpPr>
        <p:spPr>
          <a:xfrm>
            <a:off x="14950440" y="9793224"/>
            <a:ext cx="3223260" cy="493776"/>
          </a:xfrm>
          <a:prstGeom prst="rect">
            <a:avLst/>
          </a:prstGeom>
          <a:noFill/>
          <a:ln/>
        </p:spPr>
        <p:txBody>
          <a:bodyPr wrap="square" lIns="0" tIns="0" rIns="0" bIns="0" rtlCol="0" anchor="ctr"/>
          <a:lstStyle/>
          <a:p>
            <a:pPr algn="ctr"/>
            <a:r>
              <a:rPr lang="en-US" sz="1350" b="1" dirty="0">
                <a:solidFill>
                  <a:srgbClr val="1800AD"/>
                </a:solidFill>
                <a:latin typeface="Calibri" pitchFamily="34" charset="0"/>
                <a:ea typeface="Calibri" pitchFamily="34" charset="-122"/>
                <a:cs typeface="Calibri" pitchFamily="34" charset="-120"/>
              </a:rPr>
              <a:t>UNIVERSITAS PAMULANG</a:t>
            </a:r>
            <a:endParaRPr lang="en-US" sz="1350" dirty="0"/>
          </a:p>
        </p:txBody>
      </p:sp>
      <p:sp>
        <p:nvSpPr>
          <p:cNvPr id="10" name="Text 7"/>
          <p:cNvSpPr/>
          <p:nvPr/>
        </p:nvSpPr>
        <p:spPr>
          <a:xfrm>
            <a:off x="754380" y="2221992"/>
            <a:ext cx="16322040" cy="548640"/>
          </a:xfrm>
          <a:prstGeom prst="rect">
            <a:avLst/>
          </a:prstGeom>
          <a:noFill/>
          <a:ln/>
        </p:spPr>
        <p:txBody>
          <a:bodyPr wrap="square" lIns="0" tIns="0" rIns="0" bIns="0" rtlCol="0" anchor="ctr"/>
          <a:lstStyle/>
          <a:p>
            <a:r>
              <a:rPr lang="en-US" i="1" dirty="0">
                <a:solidFill>
                  <a:srgbClr val="666666"/>
                </a:solidFill>
                <a:latin typeface="Calibri" pitchFamily="34" charset="0"/>
                <a:ea typeface="Calibri" pitchFamily="34" charset="-122"/>
                <a:cs typeface="Calibri" pitchFamily="34" charset="-120"/>
              </a:rPr>
              <a:t>Ditaruh setelah “Terima Kasih”, TIDAK ditampilkan kecuali penguji meminta detail angka — buka cepat saat sesi tanya jawab.</a:t>
            </a:r>
            <a:endParaRPr lang="en-US" dirty="0"/>
          </a:p>
        </p:txBody>
      </p:sp>
      <p:graphicFrame>
        <p:nvGraphicFramePr>
          <p:cNvPr id="11" name="Table 0"/>
          <p:cNvGraphicFramePr>
            <a:graphicFrameLocks noGrp="1"/>
          </p:cNvGraphicFramePr>
          <p:nvPr/>
        </p:nvGraphicFramePr>
        <p:xfrm>
          <a:off x="754380" y="2948940"/>
          <a:ext cx="16733520" cy="5184648"/>
        </p:xfrm>
        <a:graphic>
          <a:graphicData uri="http://schemas.openxmlformats.org/drawingml/2006/table">
            <a:tbl>
              <a:tblPr/>
              <a:tblGrid>
                <a:gridCol w="4937760">
                  <a:extLst>
                    <a:ext uri="{9D8B030D-6E8A-4147-A177-3AD203B41FA5}">
                      <a16:colId xmlns:a16="http://schemas.microsoft.com/office/drawing/2014/main" val="20000"/>
                    </a:ext>
                  </a:extLst>
                </a:gridCol>
                <a:gridCol w="5897880">
                  <a:extLst>
                    <a:ext uri="{9D8B030D-6E8A-4147-A177-3AD203B41FA5}">
                      <a16:colId xmlns:a16="http://schemas.microsoft.com/office/drawing/2014/main" val="20001"/>
                    </a:ext>
                  </a:extLst>
                </a:gridCol>
                <a:gridCol w="5897880">
                  <a:extLst>
                    <a:ext uri="{9D8B030D-6E8A-4147-A177-3AD203B41FA5}">
                      <a16:colId xmlns:a16="http://schemas.microsoft.com/office/drawing/2014/main" val="20002"/>
                    </a:ext>
                  </a:extLst>
                </a:gridCol>
              </a:tblGrid>
              <a:tr h="576072">
                <a:tc>
                  <a:txBody>
                    <a:bodyPr/>
                    <a:lstStyle/>
                    <a:p>
                      <a:pPr marL="0" indent="0">
                        <a:buNone/>
                      </a:pPr>
                      <a:r>
                        <a:rPr lang="en-US" sz="1900" b="1" dirty="0">
                          <a:solidFill>
                            <a:srgbClr val="FFFFFF"/>
                          </a:solidFill>
                        </a:rPr>
                        <a:t>Metrik</a:t>
                      </a:r>
                      <a:endParaRPr lang="en-US" sz="1900" dirty="0"/>
                    </a:p>
                  </a:txBody>
                  <a:tcPr marL="137160" marR="137160" marT="68580" marB="6858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800AD"/>
                    </a:solidFill>
                  </a:tcPr>
                </a:tc>
                <a:tc>
                  <a:txBody>
                    <a:bodyPr/>
                    <a:lstStyle/>
                    <a:p>
                      <a:pPr marL="0" indent="0" algn="ctr">
                        <a:buNone/>
                      </a:pPr>
                      <a:r>
                        <a:rPr lang="en-US" sz="1900" b="1" dirty="0">
                          <a:solidFill>
                            <a:srgbClr val="FFFFFF"/>
                          </a:solidFill>
                        </a:rPr>
                        <a:t>CTM</a:t>
                      </a:r>
                      <a:endParaRPr lang="en-US" sz="1900" dirty="0"/>
                    </a:p>
                  </a:txBody>
                  <a:tcPr marL="137160" marR="137160" marT="68580" marB="6858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800AD"/>
                    </a:solidFill>
                  </a:tcPr>
                </a:tc>
                <a:tc>
                  <a:txBody>
                    <a:bodyPr/>
                    <a:lstStyle/>
                    <a:p>
                      <a:pPr marL="0" indent="0" algn="ctr">
                        <a:buNone/>
                      </a:pPr>
                      <a:r>
                        <a:rPr lang="en-US" sz="1900" b="1" dirty="0">
                          <a:solidFill>
                            <a:srgbClr val="FFFFFF"/>
                          </a:solidFill>
                        </a:rPr>
                        <a:t>BERTopic</a:t>
                      </a:r>
                      <a:endParaRPr lang="en-US" sz="1900" dirty="0"/>
                    </a:p>
                  </a:txBody>
                  <a:tcPr marL="137160" marR="137160" marT="68580" marB="6858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751F"/>
                    </a:solidFill>
                  </a:tcPr>
                </a:tc>
                <a:extLst>
                  <a:ext uri="{0D108BD9-81ED-4DB2-BD59-A6C34878D82A}">
                    <a16:rowId xmlns:a16="http://schemas.microsoft.com/office/drawing/2014/main" val="10000"/>
                  </a:ext>
                </a:extLst>
              </a:tr>
              <a:tr h="576072">
                <a:tc>
                  <a:txBody>
                    <a:bodyPr/>
                    <a:lstStyle/>
                    <a:p>
                      <a:pPr marL="0" indent="0">
                        <a:buNone/>
                      </a:pPr>
                      <a:r>
                        <a:rPr lang="en-US" sz="1700" b="1" dirty="0">
                          <a:solidFill>
                            <a:srgbClr val="222222"/>
                          </a:solidFill>
                        </a:rPr>
                        <a:t>Parameter optimal</a:t>
                      </a:r>
                      <a:endParaRPr lang="en-US" sz="1700" dirty="0"/>
                    </a:p>
                  </a:txBody>
                  <a:tcPr marL="137160" marR="137160" marT="68580" marB="6858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marL="0" indent="0">
                        <a:buNone/>
                      </a:pPr>
                      <a:r>
                        <a:rPr lang="en-US" sz="1700" dirty="0">
                          <a:solidFill>
                            <a:srgbClr val="222222"/>
                          </a:solidFill>
                        </a:rPr>
                        <a:t>K = 14</a:t>
                      </a:r>
                      <a:endParaRPr lang="en-US" sz="1700" dirty="0"/>
                    </a:p>
                  </a:txBody>
                  <a:tcPr marL="137160" marR="137160" marT="68580" marB="6858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700" dirty="0">
                          <a:solidFill>
                            <a:srgbClr val="222222"/>
                          </a:solidFill>
                        </a:rPr>
                        <a:t>min_topic_size = 25</a:t>
                      </a:r>
                      <a:endParaRPr lang="en-US" sz="1700" dirty="0"/>
                    </a:p>
                  </a:txBody>
                  <a:tcPr marL="137160" marR="137160" marT="68580" marB="6858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76072">
                <a:tc>
                  <a:txBody>
                    <a:bodyPr/>
                    <a:lstStyle/>
                    <a:p>
                      <a:pPr marL="0" indent="0">
                        <a:buNone/>
                      </a:pPr>
                      <a:r>
                        <a:rPr lang="en-US" sz="1700" b="1" dirty="0">
                          <a:solidFill>
                            <a:srgbClr val="222222"/>
                          </a:solidFill>
                        </a:rPr>
                        <a:t>C_v (Coherence)</a:t>
                      </a:r>
                      <a:endParaRPr lang="en-US" sz="1700" dirty="0"/>
                    </a:p>
                  </a:txBody>
                  <a:tcPr marL="137160" marR="137160" marT="68580" marB="6858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marL="0" indent="0">
                        <a:buNone/>
                      </a:pPr>
                      <a:r>
                        <a:rPr lang="en-US" sz="1700" dirty="0">
                          <a:solidFill>
                            <a:srgbClr val="222222"/>
                          </a:solidFill>
                        </a:rPr>
                        <a:t>0,517</a:t>
                      </a:r>
                      <a:endParaRPr lang="en-US" sz="1700" dirty="0"/>
                    </a:p>
                  </a:txBody>
                  <a:tcPr marL="137160" marR="137160" marT="68580" marB="6858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AFAFA"/>
                    </a:solidFill>
                  </a:tcPr>
                </a:tc>
                <a:tc>
                  <a:txBody>
                    <a:bodyPr/>
                    <a:lstStyle/>
                    <a:p>
                      <a:pPr marL="0" indent="0">
                        <a:buNone/>
                      </a:pPr>
                      <a:r>
                        <a:rPr lang="en-US" sz="1700" dirty="0">
                          <a:solidFill>
                            <a:srgbClr val="222222"/>
                          </a:solidFill>
                        </a:rPr>
                        <a:t>0,5735</a:t>
                      </a:r>
                      <a:endParaRPr lang="en-US" sz="1700" dirty="0"/>
                    </a:p>
                  </a:txBody>
                  <a:tcPr marL="137160" marR="137160" marT="68580" marB="6858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AFAFA"/>
                    </a:solidFill>
                  </a:tcPr>
                </a:tc>
                <a:extLst>
                  <a:ext uri="{0D108BD9-81ED-4DB2-BD59-A6C34878D82A}">
                    <a16:rowId xmlns:a16="http://schemas.microsoft.com/office/drawing/2014/main" val="10002"/>
                  </a:ext>
                </a:extLst>
              </a:tr>
              <a:tr h="576072">
                <a:tc>
                  <a:txBody>
                    <a:bodyPr/>
                    <a:lstStyle/>
                    <a:p>
                      <a:pPr marL="0" indent="0">
                        <a:buNone/>
                      </a:pPr>
                      <a:r>
                        <a:rPr lang="en-US" sz="1700" b="1" dirty="0">
                          <a:solidFill>
                            <a:srgbClr val="222222"/>
                          </a:solidFill>
                        </a:rPr>
                        <a:t>NPMI</a:t>
                      </a:r>
                      <a:endParaRPr lang="en-US" sz="1700" dirty="0"/>
                    </a:p>
                  </a:txBody>
                  <a:tcPr marL="137160" marR="137160" marT="68580" marB="6858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marL="0" indent="0">
                        <a:buNone/>
                      </a:pPr>
                      <a:r>
                        <a:rPr lang="en-US" sz="1700" dirty="0">
                          <a:solidFill>
                            <a:srgbClr val="222222"/>
                          </a:solidFill>
                        </a:rPr>
                        <a:t>-0,022 (-0,226 versi kesimpulan)</a:t>
                      </a:r>
                      <a:endParaRPr lang="en-US" sz="1700" dirty="0"/>
                    </a:p>
                  </a:txBody>
                  <a:tcPr marL="137160" marR="137160" marT="68580" marB="6858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700" dirty="0">
                          <a:solidFill>
                            <a:srgbClr val="222222"/>
                          </a:solidFill>
                        </a:rPr>
                        <a:t>0,0530</a:t>
                      </a:r>
                      <a:endParaRPr lang="en-US" sz="1700" dirty="0"/>
                    </a:p>
                  </a:txBody>
                  <a:tcPr marL="137160" marR="137160" marT="68580" marB="6858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76072">
                <a:tc>
                  <a:txBody>
                    <a:bodyPr/>
                    <a:lstStyle/>
                    <a:p>
                      <a:pPr marL="0" indent="0">
                        <a:buNone/>
                      </a:pPr>
                      <a:r>
                        <a:rPr lang="en-US" sz="1700" b="1" dirty="0">
                          <a:solidFill>
                            <a:srgbClr val="222222"/>
                          </a:solidFill>
                        </a:rPr>
                        <a:t>UMass</a:t>
                      </a:r>
                      <a:endParaRPr lang="en-US" sz="1700" dirty="0"/>
                    </a:p>
                  </a:txBody>
                  <a:tcPr marL="137160" marR="137160" marT="68580" marB="6858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marL="0" indent="0">
                        <a:buNone/>
                      </a:pPr>
                      <a:r>
                        <a:rPr lang="en-US" sz="1700" dirty="0">
                          <a:solidFill>
                            <a:srgbClr val="222222"/>
                          </a:solidFill>
                        </a:rPr>
                        <a:t>-5,066</a:t>
                      </a:r>
                      <a:endParaRPr lang="en-US" sz="1700" dirty="0"/>
                    </a:p>
                  </a:txBody>
                  <a:tcPr marL="137160" marR="137160" marT="68580" marB="6858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AFAFA"/>
                    </a:solidFill>
                  </a:tcPr>
                </a:tc>
                <a:tc>
                  <a:txBody>
                    <a:bodyPr/>
                    <a:lstStyle/>
                    <a:p>
                      <a:pPr marL="0" indent="0">
                        <a:buNone/>
                      </a:pPr>
                      <a:r>
                        <a:rPr lang="en-US" sz="1700" dirty="0">
                          <a:solidFill>
                            <a:srgbClr val="222222"/>
                          </a:solidFill>
                        </a:rPr>
                        <a:t>-5,3257</a:t>
                      </a:r>
                      <a:endParaRPr lang="en-US" sz="1700" dirty="0"/>
                    </a:p>
                  </a:txBody>
                  <a:tcPr marL="137160" marR="137160" marT="68580" marB="6858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AFAFA"/>
                    </a:solidFill>
                  </a:tcPr>
                </a:tc>
                <a:extLst>
                  <a:ext uri="{0D108BD9-81ED-4DB2-BD59-A6C34878D82A}">
                    <a16:rowId xmlns:a16="http://schemas.microsoft.com/office/drawing/2014/main" val="10004"/>
                  </a:ext>
                </a:extLst>
              </a:tr>
              <a:tr h="576072">
                <a:tc>
                  <a:txBody>
                    <a:bodyPr/>
                    <a:lstStyle/>
                    <a:p>
                      <a:pPr marL="0" indent="0">
                        <a:buNone/>
                      </a:pPr>
                      <a:r>
                        <a:rPr lang="en-US" sz="1700" b="1" dirty="0">
                          <a:solidFill>
                            <a:srgbClr val="222222"/>
                          </a:solidFill>
                        </a:rPr>
                        <a:t>UCI</a:t>
                      </a:r>
                      <a:endParaRPr lang="en-US" sz="1700" dirty="0"/>
                    </a:p>
                  </a:txBody>
                  <a:tcPr marL="137160" marR="137160" marT="68580" marB="6858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marL="0" indent="0">
                        <a:buNone/>
                      </a:pPr>
                      <a:r>
                        <a:rPr lang="en-US" sz="1700" dirty="0">
                          <a:solidFill>
                            <a:srgbClr val="222222"/>
                          </a:solidFill>
                        </a:rPr>
                        <a:t>-2,137</a:t>
                      </a:r>
                      <a:endParaRPr lang="en-US" sz="1700" dirty="0"/>
                    </a:p>
                  </a:txBody>
                  <a:tcPr marL="137160" marR="137160" marT="68580" marB="6858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700" dirty="0">
                          <a:solidFill>
                            <a:srgbClr val="222222"/>
                          </a:solidFill>
                        </a:rPr>
                        <a:t>–</a:t>
                      </a:r>
                      <a:endParaRPr lang="en-US" sz="1700" dirty="0"/>
                    </a:p>
                  </a:txBody>
                  <a:tcPr marL="137160" marR="137160" marT="68580" marB="6858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76072">
                <a:tc>
                  <a:txBody>
                    <a:bodyPr/>
                    <a:lstStyle/>
                    <a:p>
                      <a:pPr marL="0" indent="0">
                        <a:buNone/>
                      </a:pPr>
                      <a:r>
                        <a:rPr lang="en-US" sz="1700" b="1" dirty="0">
                          <a:solidFill>
                            <a:srgbClr val="222222"/>
                          </a:solidFill>
                        </a:rPr>
                        <a:t>Perplexity</a:t>
                      </a:r>
                      <a:endParaRPr lang="en-US" sz="1700" dirty="0"/>
                    </a:p>
                  </a:txBody>
                  <a:tcPr marL="137160" marR="137160" marT="68580" marB="6858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marL="0" indent="0">
                        <a:buNone/>
                      </a:pPr>
                      <a:r>
                        <a:rPr lang="en-US" sz="1700" dirty="0">
                          <a:solidFill>
                            <a:srgbClr val="222222"/>
                          </a:solidFill>
                        </a:rPr>
                        <a:t>1720,28</a:t>
                      </a:r>
                      <a:endParaRPr lang="en-US" sz="1700" dirty="0"/>
                    </a:p>
                  </a:txBody>
                  <a:tcPr marL="137160" marR="137160" marT="68580" marB="6858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AFAFA"/>
                    </a:solidFill>
                  </a:tcPr>
                </a:tc>
                <a:tc>
                  <a:txBody>
                    <a:bodyPr/>
                    <a:lstStyle/>
                    <a:p>
                      <a:pPr marL="0" indent="0">
                        <a:buNone/>
                      </a:pPr>
                      <a:r>
                        <a:rPr lang="en-US" sz="1700" dirty="0">
                          <a:solidFill>
                            <a:srgbClr val="222222"/>
                          </a:solidFill>
                        </a:rPr>
                        <a:t>–</a:t>
                      </a:r>
                      <a:endParaRPr lang="en-US" sz="1700" dirty="0"/>
                    </a:p>
                  </a:txBody>
                  <a:tcPr marL="137160" marR="137160" marT="68580" marB="6858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AFAFA"/>
                    </a:solidFill>
                  </a:tcPr>
                </a:tc>
                <a:extLst>
                  <a:ext uri="{0D108BD9-81ED-4DB2-BD59-A6C34878D82A}">
                    <a16:rowId xmlns:a16="http://schemas.microsoft.com/office/drawing/2014/main" val="10006"/>
                  </a:ext>
                </a:extLst>
              </a:tr>
              <a:tr h="576072">
                <a:tc>
                  <a:txBody>
                    <a:bodyPr/>
                    <a:lstStyle/>
                    <a:p>
                      <a:pPr marL="0" indent="0">
                        <a:buNone/>
                      </a:pPr>
                      <a:r>
                        <a:rPr lang="en-US" sz="1700" b="1" dirty="0">
                          <a:solidFill>
                            <a:srgbClr val="222222"/>
                          </a:solidFill>
                        </a:rPr>
                        <a:t>Final Score / Composite</a:t>
                      </a:r>
                      <a:endParaRPr lang="en-US" sz="1700" dirty="0"/>
                    </a:p>
                  </a:txBody>
                  <a:tcPr marL="137160" marR="137160" marT="68580" marB="6858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marL="0" indent="0">
                        <a:buNone/>
                      </a:pPr>
                      <a:r>
                        <a:rPr lang="en-US" sz="1700" dirty="0">
                          <a:solidFill>
                            <a:srgbClr val="222222"/>
                          </a:solidFill>
                        </a:rPr>
                        <a:t>0,64</a:t>
                      </a:r>
                      <a:endParaRPr lang="en-US" sz="1700" dirty="0"/>
                    </a:p>
                  </a:txBody>
                  <a:tcPr marL="137160" marR="137160" marT="68580" marB="6858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700" dirty="0">
                          <a:solidFill>
                            <a:srgbClr val="222222"/>
                          </a:solidFill>
                        </a:rPr>
                        <a:t>0,87</a:t>
                      </a:r>
                      <a:endParaRPr lang="en-US" sz="1700" dirty="0"/>
                    </a:p>
                  </a:txBody>
                  <a:tcPr marL="137160" marR="137160" marT="68580" marB="6858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576072">
                <a:tc>
                  <a:txBody>
                    <a:bodyPr/>
                    <a:lstStyle/>
                    <a:p>
                      <a:pPr marL="0" indent="0">
                        <a:buNone/>
                      </a:pPr>
                      <a:r>
                        <a:rPr lang="en-US" sz="1700" b="1" dirty="0">
                          <a:solidFill>
                            <a:srgbClr val="222222"/>
                          </a:solidFill>
                        </a:rPr>
                        <a:t>Jumlah topik terbentuk</a:t>
                      </a:r>
                      <a:endParaRPr lang="en-US" sz="1700" dirty="0"/>
                    </a:p>
                  </a:txBody>
                  <a:tcPr marL="137160" marR="137160" marT="68580" marB="6858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marL="0" indent="0">
                        <a:buNone/>
                      </a:pPr>
                      <a:r>
                        <a:rPr lang="en-US" sz="1700" dirty="0">
                          <a:solidFill>
                            <a:srgbClr val="222222"/>
                          </a:solidFill>
                        </a:rPr>
                        <a:t>14 topik</a:t>
                      </a:r>
                      <a:endParaRPr lang="en-US" sz="1700" dirty="0"/>
                    </a:p>
                  </a:txBody>
                  <a:tcPr marL="137160" marR="137160" marT="68580" marB="6858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AFAFA"/>
                    </a:solidFill>
                  </a:tcPr>
                </a:tc>
                <a:tc>
                  <a:txBody>
                    <a:bodyPr/>
                    <a:lstStyle/>
                    <a:p>
                      <a:pPr marL="0" indent="0">
                        <a:buNone/>
                      </a:pPr>
                      <a:r>
                        <a:rPr lang="en-US" sz="1700" dirty="0">
                          <a:solidFill>
                            <a:srgbClr val="222222"/>
                          </a:solidFill>
                        </a:rPr>
                        <a:t>39 / 47 / 50* (cek catatan)</a:t>
                      </a:r>
                      <a:endParaRPr lang="en-US" sz="1700" dirty="0"/>
                    </a:p>
                  </a:txBody>
                  <a:tcPr marL="137160" marR="137160" marT="68580" marB="6858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AFAFA"/>
                    </a:solidFill>
                  </a:tcPr>
                </a:tc>
                <a:extLst>
                  <a:ext uri="{0D108BD9-81ED-4DB2-BD59-A6C34878D82A}">
                    <a16:rowId xmlns:a16="http://schemas.microsoft.com/office/drawing/2014/main" val="10008"/>
                  </a:ext>
                </a:extLst>
              </a:tr>
            </a:tbl>
          </a:graphicData>
        </a:graphic>
      </p:graphicFrame>
      <p:sp>
        <p:nvSpPr>
          <p:cNvPr id="12" name="Shape 8"/>
          <p:cNvSpPr/>
          <p:nvPr/>
        </p:nvSpPr>
        <p:spPr>
          <a:xfrm>
            <a:off x="754380" y="8641080"/>
            <a:ext cx="16733520" cy="1028700"/>
          </a:xfrm>
          <a:prstGeom prst="roundRect">
            <a:avLst>
              <a:gd name="adj" fmla="val 8000"/>
            </a:avLst>
          </a:prstGeom>
          <a:solidFill>
            <a:srgbClr val="FFF4E5"/>
          </a:solidFill>
          <a:ln/>
        </p:spPr>
      </p:sp>
      <p:sp>
        <p:nvSpPr>
          <p:cNvPr id="13" name="Text 9"/>
          <p:cNvSpPr/>
          <p:nvPr/>
        </p:nvSpPr>
        <p:spPr>
          <a:xfrm>
            <a:off x="1028700" y="8641080"/>
            <a:ext cx="16184880" cy="1028700"/>
          </a:xfrm>
          <a:prstGeom prst="rect">
            <a:avLst/>
          </a:prstGeom>
          <a:noFill/>
          <a:ln/>
        </p:spPr>
        <p:txBody>
          <a:bodyPr wrap="square" lIns="0" tIns="0" rIns="0" bIns="0" rtlCol="0" anchor="ctr"/>
          <a:lstStyle/>
          <a:p>
            <a:r>
              <a:rPr lang="en-US" sz="1575" i="1" dirty="0">
                <a:solidFill>
                  <a:srgbClr val="8A5A00"/>
                </a:solidFill>
                <a:latin typeface="Calibri" pitchFamily="34" charset="0"/>
                <a:ea typeface="Calibri" pitchFamily="34" charset="-122"/>
                <a:cs typeface="Calibri" pitchFamily="34" charset="-120"/>
              </a:rPr>
              <a:t>* Perlu diklarifikasi sebelum sidang: (a) jumlah token pada slide metodologi tertulis 75.940, sedangkan naskah tesis menyebut 75.490; (b) jumlah topik final BERTopic disebut berbeda-beda (39/47/50) di beberapa bagian — siapkan penjelasan singkat jika ditanya.</a:t>
            </a:r>
            <a:endParaRPr lang="en-US" sz="157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731</TotalTime>
  <Words>4514</Words>
  <Application>Microsoft Office PowerPoint</Application>
  <PresentationFormat>Custom</PresentationFormat>
  <Paragraphs>507</Paragraphs>
  <Slides>29</Slides>
  <Notes>27</Notes>
  <HiddenSlides>1</HiddenSlides>
  <MMClips>0</MMClips>
  <ScaleCrop>false</ScaleCrop>
  <HeadingPairs>
    <vt:vector size="8" baseType="variant">
      <vt:variant>
        <vt:lpstr>Fonts Used</vt:lpstr>
      </vt:variant>
      <vt:variant>
        <vt:i4>12</vt:i4>
      </vt:variant>
      <vt:variant>
        <vt:lpstr>Theme</vt:lpstr>
      </vt:variant>
      <vt:variant>
        <vt:i4>1</vt:i4>
      </vt:variant>
      <vt:variant>
        <vt:lpstr>Embedded OLE Servers</vt:lpstr>
      </vt:variant>
      <vt:variant>
        <vt:i4>2</vt:i4>
      </vt:variant>
      <vt:variant>
        <vt:lpstr>Slide Titles</vt:lpstr>
      </vt:variant>
      <vt:variant>
        <vt:i4>29</vt:i4>
      </vt:variant>
    </vt:vector>
  </HeadingPairs>
  <TitlesOfParts>
    <vt:vector size="44" baseType="lpstr">
      <vt:lpstr>Canva Sans Bold</vt:lpstr>
      <vt:lpstr>Arimo Bold</vt:lpstr>
      <vt:lpstr>Calibri</vt:lpstr>
      <vt:lpstr>Canva Sans</vt:lpstr>
      <vt:lpstr>Montserrat Bold</vt:lpstr>
      <vt:lpstr>Montserrat</vt:lpstr>
      <vt:lpstr>Open Sauce Bold</vt:lpstr>
      <vt:lpstr>Antic</vt:lpstr>
      <vt:lpstr>Arial</vt:lpstr>
      <vt:lpstr>Antic Bold</vt:lpstr>
      <vt:lpstr>Archivo Narrow Bold</vt:lpstr>
      <vt:lpstr>Wingdings</vt:lpstr>
      <vt:lpstr>Office Theme</vt:lpstr>
      <vt:lpstr>Worksheet</vt:lpstr>
      <vt:lpstr>Microsoft Excel 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presentasi tesis</dc:title>
  <dc:creator>rido mr</dc:creator>
  <cp:lastModifiedBy>Asep Ridwan</cp:lastModifiedBy>
  <cp:revision>27</cp:revision>
  <dcterms:created xsi:type="dcterms:W3CDTF">2006-08-16T00:00:00Z</dcterms:created>
  <dcterms:modified xsi:type="dcterms:W3CDTF">2026-07-24T10:01:43Z</dcterms:modified>
  <dc:identifier>DAHLdvlc6Pk</dc:identifier>
</cp:coreProperties>
</file>