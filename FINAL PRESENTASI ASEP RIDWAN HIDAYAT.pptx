
<file path=[Content_Types].xml><?xml version="1.0" encoding="utf-8"?>
<Types xmlns="http://schemas.openxmlformats.org/package/2006/content-types">
  <Default Extension="bin" ContentType="application/vnd.openxmlformats-officedocument.oleObject"/>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8288000" cy="10287000"/>
  <p:notesSz cx="6858000" cy="9144000"/>
  <p:embeddedFontLst>
    <p:embeddedFont>
      <p:font typeface="Antic" panose="020B0604020202020204" charset="0"/>
      <p:regular r:id="rId27"/>
    </p:embeddedFont>
    <p:embeddedFont>
      <p:font typeface="Antic Bold" panose="020B0604020202020204" charset="0"/>
      <p:regular r:id="rId28"/>
    </p:embeddedFont>
    <p:embeddedFont>
      <p:font typeface="Archivo Narrow Bold" panose="020B0604020202020204" charset="0"/>
      <p:regular r:id="rId29"/>
    </p:embeddedFont>
    <p:embeddedFont>
      <p:font typeface="Arimo Bold" panose="020B0604020202020204" charset="0"/>
      <p:regular r:id="rId30"/>
    </p:embeddedFont>
    <p:embeddedFont>
      <p:font typeface="Canva Sans" panose="020B0604020202020204" charset="0"/>
      <p:regular r:id="rId31"/>
    </p:embeddedFont>
    <p:embeddedFont>
      <p:font typeface="Canva Sans Bold" panose="020B0604020202020204" charset="0"/>
      <p:regular r:id="rId32"/>
    </p:embeddedFont>
    <p:embeddedFont>
      <p:font typeface="Montserrat" panose="00000500000000000000" pitchFamily="2" charset="0"/>
      <p:regular r:id="rId33"/>
    </p:embeddedFont>
    <p:embeddedFont>
      <p:font typeface="Montserrat Bold" panose="020B0604020202020204" charset="0"/>
      <p:regular r:id="rId34"/>
    </p:embeddedFont>
    <p:embeddedFont>
      <p:font typeface="Open Sauce Bold" panose="020B0604020202020204" charset="0"/>
      <p:regular r:id="rId3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70419" autoAdjust="0"/>
  </p:normalViewPr>
  <p:slideViewPr>
    <p:cSldViewPr>
      <p:cViewPr varScale="1">
        <p:scale>
          <a:sx n="30" d="100"/>
          <a:sy n="30" d="100"/>
        </p:scale>
        <p:origin x="130" y="30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font" Target="fonts/font8.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7.fntdata"/><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6.fntdata"/><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2.fntdata"/><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font" Target="fonts/font9.fntdata"/><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73140C0-CB0F-428E-AF5D-5E591ED17214}" type="datetimeFigureOut">
              <a:rPr lang="en-US" smtClean="0"/>
              <a:t>7/15/2026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E4F9FF8-F730-48A2-A15C-4DAF3EEA9E4C}" type="slidenum">
              <a:rPr lang="en-US" smtClean="0"/>
              <a:t>‹#›</a:t>
            </a:fld>
            <a:endParaRPr lang="en-US"/>
          </a:p>
        </p:txBody>
      </p:sp>
    </p:spTree>
    <p:extLst>
      <p:ext uri="{BB962C8B-B14F-4D97-AF65-F5344CB8AC3E}">
        <p14:creationId xmlns:p14="http://schemas.microsoft.com/office/powerpoint/2010/main" val="39345027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E4F9FF8-F730-48A2-A15C-4DAF3EEA9E4C}" type="slidenum">
              <a:rPr lang="en-US" smtClean="0"/>
              <a:t>2</a:t>
            </a:fld>
            <a:endParaRPr lang="en-US"/>
          </a:p>
        </p:txBody>
      </p:sp>
    </p:spTree>
    <p:extLst>
      <p:ext uri="{BB962C8B-B14F-4D97-AF65-F5344CB8AC3E}">
        <p14:creationId xmlns:p14="http://schemas.microsoft.com/office/powerpoint/2010/main" val="37366164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7/15/2026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7/15/2026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7/15/2026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7/15/2026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svg"/></Relationships>
</file>

<file path=ppt/slides/_rels/slide2.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2.svg"/><Relationship Id="rId7"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7.png"/><Relationship Id="rId11" Type="http://schemas.openxmlformats.org/officeDocument/2006/relationships/image" Target="../media/image12.svg"/><Relationship Id="rId5" Type="http://schemas.openxmlformats.org/officeDocument/2006/relationships/image" Target="../media/image5.png"/><Relationship Id="rId10" Type="http://schemas.openxmlformats.org/officeDocument/2006/relationships/image" Target="../media/image11.svg"/><Relationship Id="rId4" Type="http://schemas.openxmlformats.org/officeDocument/2006/relationships/image" Target="../media/image6.jpeg"/><Relationship Id="rId9" Type="http://schemas.openxmlformats.org/officeDocument/2006/relationships/image" Target="../media/image10.sv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6" Type="http://schemas.openxmlformats.org/officeDocument/2006/relationships/image" Target="../media/image15.svg"/><Relationship Id="rId5" Type="http://schemas.openxmlformats.org/officeDocument/2006/relationships/image" Target="../media/image14.svg"/><Relationship Id="rId4" Type="http://schemas.openxmlformats.org/officeDocument/2006/relationships/image" Target="../media/image13.sv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s/_rels/slide5.xml.rels><?xml version="1.0" encoding="UTF-8" standalone="yes"?>
<Relationships xmlns="http://schemas.openxmlformats.org/package/2006/relationships"><Relationship Id="rId8" Type="http://schemas.openxmlformats.org/officeDocument/2006/relationships/image" Target="../media/image23.svg"/><Relationship Id="rId3" Type="http://schemas.openxmlformats.org/officeDocument/2006/relationships/image" Target="../media/image5.png"/><Relationship Id="rId7" Type="http://schemas.openxmlformats.org/officeDocument/2006/relationships/image" Target="../media/image22.svg"/><Relationship Id="rId12" Type="http://schemas.openxmlformats.org/officeDocument/2006/relationships/image" Target="../media/image27.png"/><Relationship Id="rId2" Type="http://schemas.openxmlformats.org/officeDocument/2006/relationships/image" Target="../media/image2.svg"/><Relationship Id="rId1" Type="http://schemas.openxmlformats.org/officeDocument/2006/relationships/slideLayout" Target="../slideLayouts/slideLayout7.xml"/><Relationship Id="rId6" Type="http://schemas.openxmlformats.org/officeDocument/2006/relationships/image" Target="../media/image21.svg"/><Relationship Id="rId11" Type="http://schemas.openxmlformats.org/officeDocument/2006/relationships/image" Target="../media/image26.png"/><Relationship Id="rId5" Type="http://schemas.openxmlformats.org/officeDocument/2006/relationships/image" Target="../media/image20.svg"/><Relationship Id="rId10" Type="http://schemas.openxmlformats.org/officeDocument/2006/relationships/image" Target="../media/image25.svg"/><Relationship Id="rId4" Type="http://schemas.openxmlformats.org/officeDocument/2006/relationships/image" Target="../media/image19.svg"/><Relationship Id="rId9" Type="http://schemas.openxmlformats.org/officeDocument/2006/relationships/image" Target="../media/image24.sv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4" Type="http://schemas.openxmlformats.org/officeDocument/2006/relationships/image" Target="../media/image28.jpe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4" Type="http://schemas.openxmlformats.org/officeDocument/2006/relationships/image" Target="../media/image29.sv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4" Type="http://schemas.openxmlformats.org/officeDocument/2006/relationships/image" Target="../media/image30.sv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0.svg"/><Relationship Id="rId2" Type="http://schemas.openxmlformats.org/officeDocument/2006/relationships/image" Target="../media/image2.svg"/><Relationship Id="rId1" Type="http://schemas.openxmlformats.org/officeDocument/2006/relationships/slideLayout" Target="../slideLayouts/slideLayout7.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oleObject" Target="../embeddings/oleObject1.bin"/></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0.svg"/><Relationship Id="rId2" Type="http://schemas.openxmlformats.org/officeDocument/2006/relationships/image" Target="../media/image2.svg"/><Relationship Id="rId1" Type="http://schemas.openxmlformats.org/officeDocument/2006/relationships/slideLayout" Target="../slideLayouts/slideLayout7.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oleObject" Target="../embeddings/oleObject2.bin"/></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7.png"/><Relationship Id="rId2" Type="http://schemas.openxmlformats.org/officeDocument/2006/relationships/image" Target="../media/image2.svg"/><Relationship Id="rId1" Type="http://schemas.openxmlformats.org/officeDocument/2006/relationships/slideLayout" Target="../slideLayouts/slideLayout7.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oleObject" Target="../embeddings/oleObject3.bin"/></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4" Type="http://schemas.openxmlformats.org/officeDocument/2006/relationships/image" Target="../media/image37.sv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5" Type="http://schemas.openxmlformats.org/officeDocument/2006/relationships/image" Target="../media/image39.png"/><Relationship Id="rId4" Type="http://schemas.openxmlformats.org/officeDocument/2006/relationships/oleObject" Target="../embeddings/oleObject4.bin"/></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5" Type="http://schemas.openxmlformats.org/officeDocument/2006/relationships/image" Target="../media/image41.png"/><Relationship Id="rId4" Type="http://schemas.openxmlformats.org/officeDocument/2006/relationships/image" Target="../media/image40.png"/></Relationships>
</file>

<file path=ppt/slides/_rels/slide1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44.png"/><Relationship Id="rId5" Type="http://schemas.openxmlformats.org/officeDocument/2006/relationships/oleObject" Target="../embeddings/oleObject6.bin"/><Relationship Id="rId4" Type="http://schemas.openxmlformats.org/officeDocument/2006/relationships/image" Target="../media/image43.png"/></Relationships>
</file>

<file path=ppt/slides/_rels/slide18.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46.png"/><Relationship Id="rId5" Type="http://schemas.openxmlformats.org/officeDocument/2006/relationships/oleObject" Target="../embeddings/oleObject8.bin"/><Relationship Id="rId4" Type="http://schemas.openxmlformats.org/officeDocument/2006/relationships/image" Target="../media/image45.png"/></Relationships>
</file>

<file path=ppt/slides/_rels/slide19.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47.png"/></Relationships>
</file>

<file path=ppt/slides/_rels/slide20.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5" Type="http://schemas.openxmlformats.org/officeDocument/2006/relationships/image" Target="../media/image49.png"/><Relationship Id="rId4" Type="http://schemas.openxmlformats.org/officeDocument/2006/relationships/package" Target="../embeddings/Microsoft_Excel_Worksheet.xlsx"/></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 Id="rId4" Type="http://schemas.openxmlformats.org/officeDocument/2006/relationships/image" Target="../media/image50.png"/></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sv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 Id="rId4" Type="http://schemas.openxmlformats.org/officeDocument/2006/relationships/image" Target="../media/image4.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784C0C2E-4926-26A3-4E1A-412B85A7E80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8518"/>
            <a:ext cx="18486234" cy="10404035"/>
          </a:xfrm>
          <a:prstGeom prst="rect">
            <a:avLst/>
          </a:prstGeom>
        </p:spPr>
      </p:pic>
      <p:sp>
        <p:nvSpPr>
          <p:cNvPr id="2" name="Freeform 2"/>
          <p:cNvSpPr/>
          <p:nvPr/>
        </p:nvSpPr>
        <p:spPr>
          <a:xfrm rot="5033559">
            <a:off x="3939424" y="-3611012"/>
            <a:ext cx="9848495" cy="18613993"/>
          </a:xfrm>
          <a:custGeom>
            <a:avLst/>
            <a:gdLst/>
            <a:ahLst/>
            <a:cxnLst/>
            <a:rect l="l" t="t" r="r" b="b"/>
            <a:pathLst>
              <a:path w="9848495" h="18613993">
                <a:moveTo>
                  <a:pt x="0" y="0"/>
                </a:moveTo>
                <a:lnTo>
                  <a:pt x="9848494" y="0"/>
                </a:lnTo>
                <a:lnTo>
                  <a:pt x="9848494" y="18613994"/>
                </a:lnTo>
                <a:lnTo>
                  <a:pt x="0" y="18613994"/>
                </a:lnTo>
                <a:lnTo>
                  <a:pt x="0" y="0"/>
                </a:lnTo>
                <a:close/>
              </a:path>
            </a:pathLst>
          </a:custGeom>
          <a:blipFill>
            <a:blip>
              <a:alphaModFix amt="15000"/>
              <a:extLst>
                <a:ext uri="{96DAC541-7B7A-43D3-8B79-37D633B846F1}">
                  <asvg:svgBlip xmlns:asvg="http://schemas.microsoft.com/office/drawing/2016/SVG/main" r:embed="rId3"/>
                </a:ext>
              </a:extLst>
            </a:blip>
            <a:stretch>
              <a:fillRect/>
            </a:stretch>
          </a:blipFill>
        </p:spPr>
        <p:txBody>
          <a:bodyPr/>
          <a:lstStyle/>
          <a:p>
            <a:endParaRPr lang="en-US" dirty="0"/>
          </a:p>
        </p:txBody>
      </p:sp>
      <p:sp>
        <p:nvSpPr>
          <p:cNvPr id="3" name="Freeform 3"/>
          <p:cNvSpPr/>
          <p:nvPr/>
        </p:nvSpPr>
        <p:spPr>
          <a:xfrm>
            <a:off x="15946098" y="9371229"/>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4" name="Freeform 4"/>
          <p:cNvSpPr/>
          <p:nvPr/>
        </p:nvSpPr>
        <p:spPr>
          <a:xfrm>
            <a:off x="14632896" y="9371229"/>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5"/>
                </a:ext>
              </a:extLst>
            </a:blip>
            <a:stretch>
              <a:fillRect/>
            </a:stretch>
          </a:blipFill>
        </p:spPr>
      </p:sp>
      <p:grpSp>
        <p:nvGrpSpPr>
          <p:cNvPr id="5" name="Group 5"/>
          <p:cNvGrpSpPr/>
          <p:nvPr/>
        </p:nvGrpSpPr>
        <p:grpSpPr>
          <a:xfrm>
            <a:off x="0" y="7124699"/>
            <a:ext cx="18486234" cy="1499857"/>
            <a:chOff x="0" y="0"/>
            <a:chExt cx="3657929" cy="509657"/>
          </a:xfrm>
        </p:grpSpPr>
        <p:sp>
          <p:nvSpPr>
            <p:cNvPr id="6" name="Freeform 6"/>
            <p:cNvSpPr/>
            <p:nvPr/>
          </p:nvSpPr>
          <p:spPr>
            <a:xfrm>
              <a:off x="0" y="0"/>
              <a:ext cx="3657929" cy="509657"/>
            </a:xfrm>
            <a:custGeom>
              <a:avLst/>
              <a:gdLst/>
              <a:ahLst/>
              <a:cxnLst/>
              <a:rect l="l" t="t" r="r" b="b"/>
              <a:pathLst>
                <a:path w="3657929" h="509657">
                  <a:moveTo>
                    <a:pt x="0" y="0"/>
                  </a:moveTo>
                  <a:lnTo>
                    <a:pt x="3657929" y="0"/>
                  </a:lnTo>
                  <a:lnTo>
                    <a:pt x="3657929" y="509657"/>
                  </a:lnTo>
                  <a:lnTo>
                    <a:pt x="0" y="509657"/>
                  </a:lnTo>
                  <a:close/>
                </a:path>
              </a:pathLst>
            </a:custGeom>
            <a:solidFill>
              <a:srgbClr val="FFDE59">
                <a:alpha val="27843"/>
              </a:srgbClr>
            </a:solidFill>
          </p:spPr>
        </p:sp>
        <p:sp>
          <p:nvSpPr>
            <p:cNvPr id="7" name="TextBox 7"/>
            <p:cNvSpPr txBox="1"/>
            <p:nvPr/>
          </p:nvSpPr>
          <p:spPr>
            <a:xfrm>
              <a:off x="0" y="-47625"/>
              <a:ext cx="3657929" cy="557282"/>
            </a:xfrm>
            <a:prstGeom prst="rect">
              <a:avLst/>
            </a:prstGeom>
          </p:spPr>
          <p:txBody>
            <a:bodyPr lIns="50800" tIns="50800" rIns="50800" bIns="50800" rtlCol="0" anchor="ctr"/>
            <a:lstStyle/>
            <a:p>
              <a:pPr algn="ctr">
                <a:lnSpc>
                  <a:spcPts val="2659"/>
                </a:lnSpc>
              </a:pPr>
              <a:endParaRPr/>
            </a:p>
          </p:txBody>
        </p:sp>
      </p:grpSp>
      <p:sp>
        <p:nvSpPr>
          <p:cNvPr id="8" name="TextBox 8"/>
          <p:cNvSpPr txBox="1"/>
          <p:nvPr/>
        </p:nvSpPr>
        <p:spPr>
          <a:xfrm>
            <a:off x="1975885" y="670534"/>
            <a:ext cx="16312115" cy="2062447"/>
          </a:xfrm>
          <a:prstGeom prst="rect">
            <a:avLst/>
          </a:prstGeom>
        </p:spPr>
        <p:txBody>
          <a:bodyPr lIns="0" tIns="0" rIns="0" bIns="0" rtlCol="0" anchor="t">
            <a:spAutoFit/>
          </a:bodyPr>
          <a:lstStyle/>
          <a:p>
            <a:pPr algn="ctr">
              <a:lnSpc>
                <a:spcPts val="5496"/>
              </a:lnSpc>
              <a:spcBef>
                <a:spcPct val="0"/>
              </a:spcBef>
            </a:pPr>
            <a:r>
              <a:rPr lang="en-US" sz="3926" b="1" dirty="0">
                <a:solidFill>
                  <a:srgbClr val="FF751F"/>
                </a:solidFill>
                <a:latin typeface="Archivo Narrow Bold"/>
                <a:ea typeface="Archivo Narrow Bold"/>
                <a:cs typeface="Archivo Narrow Bold"/>
                <a:sym typeface="Archivo Narrow Bold"/>
              </a:rPr>
              <a:t>ANALISIS PEMODELAN TOPIK PADA TEKS TERJEMAHAN AL-QUR’AN BERBAHASA INDONESIA DENGAN METODE </a:t>
            </a:r>
            <a:r>
              <a:rPr lang="en-US" sz="3926" b="1" i="1" dirty="0">
                <a:solidFill>
                  <a:srgbClr val="FF751F"/>
                </a:solidFill>
                <a:latin typeface="Archivo Narrow Bold"/>
                <a:ea typeface="Archivo Narrow Bold"/>
                <a:cs typeface="Archivo Narrow Bold"/>
                <a:sym typeface="Archivo Narrow Bold"/>
              </a:rPr>
              <a:t>CORRELATED TOPIC MODELING </a:t>
            </a:r>
            <a:r>
              <a:rPr lang="en-US" sz="3926" b="1" dirty="0">
                <a:solidFill>
                  <a:srgbClr val="FF751F"/>
                </a:solidFill>
                <a:latin typeface="Archivo Narrow Bold"/>
                <a:ea typeface="Archivo Narrow Bold"/>
                <a:cs typeface="Archivo Narrow Bold"/>
                <a:sym typeface="Archivo Narrow Bold"/>
              </a:rPr>
              <a:t>(CTM)  DAN BERTOPIC </a:t>
            </a:r>
          </a:p>
        </p:txBody>
      </p:sp>
      <p:sp>
        <p:nvSpPr>
          <p:cNvPr id="9" name="TextBox 9"/>
          <p:cNvSpPr txBox="1"/>
          <p:nvPr/>
        </p:nvSpPr>
        <p:spPr>
          <a:xfrm>
            <a:off x="6979557" y="7106621"/>
            <a:ext cx="5854846" cy="697929"/>
          </a:xfrm>
          <a:prstGeom prst="rect">
            <a:avLst/>
          </a:prstGeom>
        </p:spPr>
        <p:txBody>
          <a:bodyPr lIns="0" tIns="0" rIns="0" bIns="0" rtlCol="0" anchor="t">
            <a:spAutoFit/>
          </a:bodyPr>
          <a:lstStyle/>
          <a:p>
            <a:pPr algn="ctr">
              <a:lnSpc>
                <a:spcPts val="5659"/>
              </a:lnSpc>
              <a:spcBef>
                <a:spcPct val="0"/>
              </a:spcBef>
            </a:pPr>
            <a:r>
              <a:rPr lang="en-US" sz="4042" b="1" dirty="0">
                <a:solidFill>
                  <a:srgbClr val="3C6295"/>
                </a:solidFill>
                <a:latin typeface="Archivo Narrow Bold"/>
                <a:ea typeface="Archivo Narrow Bold"/>
                <a:cs typeface="Archivo Narrow Bold"/>
                <a:sym typeface="Archivo Narrow Bold"/>
              </a:rPr>
              <a:t>ASEP RIDWAN HIDAYAT</a:t>
            </a:r>
          </a:p>
        </p:txBody>
      </p:sp>
      <p:sp>
        <p:nvSpPr>
          <p:cNvPr id="10" name="Freeform 10"/>
          <p:cNvSpPr/>
          <p:nvPr/>
        </p:nvSpPr>
        <p:spPr>
          <a:xfrm>
            <a:off x="311659" y="167149"/>
            <a:ext cx="1465992" cy="1495296"/>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6"/>
            <a:stretch>
              <a:fillRect/>
            </a:stretch>
          </a:blipFill>
        </p:spPr>
      </p:sp>
      <p:sp>
        <p:nvSpPr>
          <p:cNvPr id="11" name="TextBox 11"/>
          <p:cNvSpPr txBox="1"/>
          <p:nvPr/>
        </p:nvSpPr>
        <p:spPr>
          <a:xfrm>
            <a:off x="6600263" y="4046273"/>
            <a:ext cx="7063357" cy="1624980"/>
          </a:xfrm>
          <a:prstGeom prst="rect">
            <a:avLst/>
          </a:prstGeom>
        </p:spPr>
        <p:txBody>
          <a:bodyPr lIns="0" tIns="0" rIns="0" bIns="0" rtlCol="0" anchor="t">
            <a:spAutoFit/>
          </a:bodyPr>
          <a:lstStyle/>
          <a:p>
            <a:pPr algn="ctr">
              <a:lnSpc>
                <a:spcPts val="3260"/>
              </a:lnSpc>
            </a:pPr>
            <a:r>
              <a:rPr lang="en-US" sz="2328" b="1" dirty="0">
                <a:solidFill>
                  <a:srgbClr val="3C6295"/>
                </a:solidFill>
                <a:latin typeface="Open Sauce Bold"/>
                <a:ea typeface="Open Sauce Bold"/>
                <a:cs typeface="Open Sauce Bold"/>
                <a:sym typeface="Open Sauce Bold"/>
              </a:rPr>
              <a:t>Dosen </a:t>
            </a:r>
            <a:r>
              <a:rPr lang="en-US" sz="2328" b="1" dirty="0" err="1">
                <a:solidFill>
                  <a:srgbClr val="3C6295"/>
                </a:solidFill>
                <a:latin typeface="Open Sauce Bold"/>
                <a:ea typeface="Open Sauce Bold"/>
                <a:cs typeface="Open Sauce Bold"/>
                <a:sym typeface="Open Sauce Bold"/>
              </a:rPr>
              <a:t>Pembimbing</a:t>
            </a:r>
            <a:r>
              <a:rPr lang="en-US" sz="2328" b="1" dirty="0">
                <a:solidFill>
                  <a:srgbClr val="3C6295"/>
                </a:solidFill>
                <a:latin typeface="Open Sauce Bold"/>
                <a:ea typeface="Open Sauce Bold"/>
                <a:cs typeface="Open Sauce Bold"/>
                <a:sym typeface="Open Sauce Bold"/>
              </a:rPr>
              <a:t> :</a:t>
            </a:r>
          </a:p>
          <a:p>
            <a:pPr algn="ctr">
              <a:lnSpc>
                <a:spcPts val="3260"/>
              </a:lnSpc>
            </a:pPr>
            <a:r>
              <a:rPr lang="en-US" sz="2328" b="1" dirty="0">
                <a:solidFill>
                  <a:srgbClr val="3C6295"/>
                </a:solidFill>
                <a:latin typeface="Open Sauce Bold"/>
                <a:ea typeface="Open Sauce Bold"/>
                <a:cs typeface="Open Sauce Bold"/>
                <a:sym typeface="Open Sauce Bold"/>
              </a:rPr>
              <a:t>Dr. </a:t>
            </a:r>
            <a:r>
              <a:rPr lang="en-US" sz="2328" b="1" dirty="0" err="1">
                <a:solidFill>
                  <a:srgbClr val="3C6295"/>
                </a:solidFill>
                <a:latin typeface="Open Sauce Bold"/>
                <a:ea typeface="Open Sauce Bold"/>
                <a:cs typeface="Open Sauce Bold"/>
                <a:sym typeface="Open Sauce Bold"/>
              </a:rPr>
              <a:t>Sajarwo</a:t>
            </a:r>
            <a:r>
              <a:rPr lang="en-US" sz="2328" b="1" dirty="0">
                <a:solidFill>
                  <a:srgbClr val="3C6295"/>
                </a:solidFill>
                <a:latin typeface="Open Sauce Bold"/>
                <a:ea typeface="Open Sauce Bold"/>
                <a:cs typeface="Open Sauce Bold"/>
                <a:sym typeface="Open Sauce Bold"/>
              </a:rPr>
              <a:t> </a:t>
            </a:r>
            <a:r>
              <a:rPr lang="en-US" sz="2328" b="1" dirty="0" err="1">
                <a:solidFill>
                  <a:srgbClr val="3C6295"/>
                </a:solidFill>
                <a:latin typeface="Open Sauce Bold"/>
                <a:ea typeface="Open Sauce Bold"/>
                <a:cs typeface="Open Sauce Bold"/>
                <a:sym typeface="Open Sauce Bold"/>
              </a:rPr>
              <a:t>Anggai</a:t>
            </a:r>
            <a:r>
              <a:rPr lang="en-US" sz="2328" b="1" dirty="0">
                <a:solidFill>
                  <a:srgbClr val="3C6295"/>
                </a:solidFill>
                <a:latin typeface="Open Sauce Bold"/>
                <a:ea typeface="Open Sauce Bold"/>
                <a:cs typeface="Open Sauce Bold"/>
                <a:sym typeface="Open Sauce Bold"/>
              </a:rPr>
              <a:t>, S.ST., M.T.</a:t>
            </a:r>
          </a:p>
          <a:p>
            <a:pPr algn="ctr">
              <a:lnSpc>
                <a:spcPts val="3260"/>
              </a:lnSpc>
            </a:pPr>
            <a:r>
              <a:rPr lang="en-US" sz="2328" b="1" dirty="0">
                <a:solidFill>
                  <a:srgbClr val="3C6295"/>
                </a:solidFill>
                <a:latin typeface="Open Sauce Bold"/>
                <a:ea typeface="Open Sauce Bold"/>
                <a:cs typeface="Open Sauce Bold"/>
                <a:sym typeface="Open Sauce Bold"/>
              </a:rPr>
              <a:t>Dr. Arya </a:t>
            </a:r>
            <a:r>
              <a:rPr lang="en-US" sz="2328" b="1" dirty="0" err="1">
                <a:solidFill>
                  <a:srgbClr val="3C6295"/>
                </a:solidFill>
                <a:latin typeface="Open Sauce Bold"/>
                <a:ea typeface="Open Sauce Bold"/>
                <a:cs typeface="Open Sauce Bold"/>
                <a:sym typeface="Open Sauce Bold"/>
              </a:rPr>
              <a:t>Adhyaksa</a:t>
            </a:r>
            <a:r>
              <a:rPr lang="en-US" sz="2328" b="1" dirty="0">
                <a:solidFill>
                  <a:srgbClr val="3C6295"/>
                </a:solidFill>
                <a:latin typeface="Open Sauce Bold"/>
                <a:ea typeface="Open Sauce Bold"/>
                <a:cs typeface="Open Sauce Bold"/>
                <a:sym typeface="Open Sauce Bold"/>
              </a:rPr>
              <a:t> </a:t>
            </a:r>
            <a:r>
              <a:rPr lang="en-US" sz="2328" b="1" dirty="0" err="1">
                <a:solidFill>
                  <a:srgbClr val="3C6295"/>
                </a:solidFill>
                <a:latin typeface="Open Sauce Bold"/>
                <a:ea typeface="Open Sauce Bold"/>
                <a:cs typeface="Open Sauce Bold"/>
                <a:sym typeface="Open Sauce Bold"/>
              </a:rPr>
              <a:t>Waskita</a:t>
            </a:r>
            <a:r>
              <a:rPr lang="en-US" sz="2328" b="1" dirty="0">
                <a:solidFill>
                  <a:srgbClr val="3C6295"/>
                </a:solidFill>
                <a:latin typeface="Open Sauce Bold"/>
                <a:ea typeface="Open Sauce Bold"/>
                <a:cs typeface="Open Sauce Bold"/>
                <a:sym typeface="Open Sauce Bold"/>
              </a:rPr>
              <a:t>, S.Si.,</a:t>
            </a:r>
            <a:r>
              <a:rPr lang="en-US" sz="2328" b="1" dirty="0" err="1">
                <a:solidFill>
                  <a:srgbClr val="3C6295"/>
                </a:solidFill>
                <a:latin typeface="Open Sauce Bold"/>
                <a:ea typeface="Open Sauce Bold"/>
                <a:cs typeface="Open Sauce Bold"/>
                <a:sym typeface="Open Sauce Bold"/>
              </a:rPr>
              <a:t>M.Si</a:t>
            </a:r>
            <a:endParaRPr lang="en-US" sz="2328" b="1" dirty="0">
              <a:solidFill>
                <a:srgbClr val="3C6295"/>
              </a:solidFill>
              <a:latin typeface="Open Sauce Bold"/>
              <a:ea typeface="Open Sauce Bold"/>
              <a:cs typeface="Open Sauce Bold"/>
              <a:sym typeface="Open Sauce Bold"/>
            </a:endParaRPr>
          </a:p>
          <a:p>
            <a:pPr algn="ctr">
              <a:lnSpc>
                <a:spcPts val="3260"/>
              </a:lnSpc>
              <a:spcBef>
                <a:spcPct val="0"/>
              </a:spcBef>
            </a:pPr>
            <a:endParaRPr lang="en-US" sz="2328" b="1" dirty="0">
              <a:solidFill>
                <a:srgbClr val="3C6295"/>
              </a:solidFill>
              <a:latin typeface="Open Sauce Bold"/>
              <a:ea typeface="Open Sauce Bold"/>
              <a:cs typeface="Open Sauce Bold"/>
              <a:sym typeface="Open Sauce Bold"/>
            </a:endParaRPr>
          </a:p>
        </p:txBody>
      </p:sp>
      <p:sp>
        <p:nvSpPr>
          <p:cNvPr id="12" name="TextBox 12"/>
          <p:cNvSpPr txBox="1"/>
          <p:nvPr/>
        </p:nvSpPr>
        <p:spPr>
          <a:xfrm>
            <a:off x="6964317" y="7671949"/>
            <a:ext cx="5854846" cy="697929"/>
          </a:xfrm>
          <a:prstGeom prst="rect">
            <a:avLst/>
          </a:prstGeom>
        </p:spPr>
        <p:txBody>
          <a:bodyPr lIns="0" tIns="0" rIns="0" bIns="0" rtlCol="0" anchor="t">
            <a:spAutoFit/>
          </a:bodyPr>
          <a:lstStyle/>
          <a:p>
            <a:pPr algn="ctr">
              <a:lnSpc>
                <a:spcPts val="5659"/>
              </a:lnSpc>
              <a:spcBef>
                <a:spcPct val="0"/>
              </a:spcBef>
            </a:pPr>
            <a:r>
              <a:rPr lang="en-US" sz="3600" b="1" dirty="0">
                <a:solidFill>
                  <a:srgbClr val="3C6295"/>
                </a:solidFill>
                <a:latin typeface="Archivo Narrow Bold"/>
                <a:ea typeface="Archivo Narrow Bold"/>
                <a:cs typeface="Archivo Narrow Bold"/>
                <a:sym typeface="Archivo Narrow Bold"/>
              </a:rPr>
              <a:t>231012050036</a:t>
            </a:r>
          </a:p>
        </p:txBody>
      </p:sp>
    </p:spTree>
  </p:cSld>
  <p:clrMapOvr>
    <a:masterClrMapping/>
  </p:clrMapOvr>
  <p:transition spd="slow">
    <p:randomBar dir="vert"/>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1617035" y="-4923805"/>
            <a:ext cx="9848495" cy="18613993"/>
          </a:xfrm>
          <a:custGeom>
            <a:avLst/>
            <a:gdLst/>
            <a:ahLst/>
            <a:cxnLst/>
            <a:rect l="l" t="t" r="r" b="b"/>
            <a:pathLst>
              <a:path w="9848495" h="18613993">
                <a:moveTo>
                  <a:pt x="0" y="18613994"/>
                </a:moveTo>
                <a:lnTo>
                  <a:pt x="9848495" y="18613994"/>
                </a:lnTo>
                <a:lnTo>
                  <a:pt x="9848495" y="0"/>
                </a:lnTo>
                <a:lnTo>
                  <a:pt x="0" y="0"/>
                </a:lnTo>
                <a:lnTo>
                  <a:pt x="0" y="18613994"/>
                </a:lnTo>
                <a:close/>
              </a:path>
            </a:pathLst>
          </a:custGeom>
          <a:blipFill>
            <a:blip>
              <a:alphaModFix amt="7999"/>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028700" y="2729780"/>
            <a:ext cx="7684248" cy="4064375"/>
          </a:xfrm>
          <a:custGeom>
            <a:avLst/>
            <a:gdLst/>
            <a:ahLst/>
            <a:cxnLst/>
            <a:rect l="l" t="t" r="r" b="b"/>
            <a:pathLst>
              <a:path w="7684248" h="4064375">
                <a:moveTo>
                  <a:pt x="0" y="0"/>
                </a:moveTo>
                <a:lnTo>
                  <a:pt x="7684248" y="0"/>
                </a:lnTo>
                <a:lnTo>
                  <a:pt x="7684248" y="4064375"/>
                </a:lnTo>
                <a:lnTo>
                  <a:pt x="0" y="4064375"/>
                </a:lnTo>
                <a:lnTo>
                  <a:pt x="0" y="0"/>
                </a:lnTo>
                <a:close/>
              </a:path>
            </a:pathLst>
          </a:custGeom>
          <a:blipFill>
            <a:blip r:embed="rId4"/>
            <a:stretch>
              <a:fillRect t="-17748" b="-8215"/>
            </a:stretch>
          </a:blipFill>
        </p:spPr>
      </p:sp>
      <p:sp>
        <p:nvSpPr>
          <p:cNvPr id="13" name="Freeform 13"/>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5"/>
            <a:stretch>
              <a:fillRect/>
            </a:stretch>
          </a:blipFill>
        </p:spPr>
      </p:sp>
      <p:grpSp>
        <p:nvGrpSpPr>
          <p:cNvPr id="14" name="Group 14"/>
          <p:cNvGrpSpPr/>
          <p:nvPr/>
        </p:nvGrpSpPr>
        <p:grpSpPr>
          <a:xfrm>
            <a:off x="10355839" y="4397077"/>
            <a:ext cx="6903461" cy="1228734"/>
            <a:chOff x="0" y="0"/>
            <a:chExt cx="2330355" cy="414776"/>
          </a:xfrm>
        </p:grpSpPr>
        <p:sp>
          <p:nvSpPr>
            <p:cNvPr id="15" name="Freeform 15"/>
            <p:cNvSpPr/>
            <p:nvPr/>
          </p:nvSpPr>
          <p:spPr>
            <a:xfrm>
              <a:off x="0" y="0"/>
              <a:ext cx="2330355" cy="414776"/>
            </a:xfrm>
            <a:custGeom>
              <a:avLst/>
              <a:gdLst/>
              <a:ahLst/>
              <a:cxnLst/>
              <a:rect l="l" t="t" r="r" b="b"/>
              <a:pathLst>
                <a:path w="2330355" h="414776">
                  <a:moveTo>
                    <a:pt x="45980" y="0"/>
                  </a:moveTo>
                  <a:lnTo>
                    <a:pt x="2284376" y="0"/>
                  </a:lnTo>
                  <a:cubicBezTo>
                    <a:pt x="2296570" y="0"/>
                    <a:pt x="2308266" y="4844"/>
                    <a:pt x="2316888" y="13467"/>
                  </a:cubicBezTo>
                  <a:cubicBezTo>
                    <a:pt x="2325511" y="22090"/>
                    <a:pt x="2330355" y="33785"/>
                    <a:pt x="2330355" y="45980"/>
                  </a:cubicBezTo>
                  <a:lnTo>
                    <a:pt x="2330355" y="368796"/>
                  </a:lnTo>
                  <a:cubicBezTo>
                    <a:pt x="2330355" y="380991"/>
                    <a:pt x="2325511" y="392686"/>
                    <a:pt x="2316888" y="401309"/>
                  </a:cubicBezTo>
                  <a:cubicBezTo>
                    <a:pt x="2308266" y="409931"/>
                    <a:pt x="2296570" y="414776"/>
                    <a:pt x="2284376" y="414776"/>
                  </a:cubicBezTo>
                  <a:lnTo>
                    <a:pt x="45980" y="414776"/>
                  </a:lnTo>
                  <a:cubicBezTo>
                    <a:pt x="20586" y="414776"/>
                    <a:pt x="0" y="394190"/>
                    <a:pt x="0" y="368796"/>
                  </a:cubicBezTo>
                  <a:lnTo>
                    <a:pt x="0" y="45980"/>
                  </a:lnTo>
                  <a:cubicBezTo>
                    <a:pt x="0" y="33785"/>
                    <a:pt x="4844" y="22090"/>
                    <a:pt x="13467" y="13467"/>
                  </a:cubicBezTo>
                  <a:cubicBezTo>
                    <a:pt x="22090" y="4844"/>
                    <a:pt x="33785" y="0"/>
                    <a:pt x="45980" y="0"/>
                  </a:cubicBezTo>
                  <a:close/>
                </a:path>
              </a:pathLst>
            </a:custGeom>
            <a:gradFill rotWithShape="1">
              <a:gsLst>
                <a:gs pos="0">
                  <a:srgbClr val="000000">
                    <a:alpha val="100000"/>
                  </a:srgbClr>
                </a:gs>
                <a:gs pos="100000">
                  <a:srgbClr val="3533CD">
                    <a:alpha val="100000"/>
                  </a:srgbClr>
                </a:gs>
              </a:gsLst>
              <a:lin ang="0"/>
            </a:gradFill>
          </p:spPr>
        </p:sp>
        <p:sp>
          <p:nvSpPr>
            <p:cNvPr id="16" name="TextBox 16"/>
            <p:cNvSpPr txBox="1"/>
            <p:nvPr/>
          </p:nvSpPr>
          <p:spPr>
            <a:xfrm>
              <a:off x="0" y="-47625"/>
              <a:ext cx="2330355" cy="462401"/>
            </a:xfrm>
            <a:prstGeom prst="rect">
              <a:avLst/>
            </a:prstGeom>
          </p:spPr>
          <p:txBody>
            <a:bodyPr lIns="50800" tIns="50800" rIns="50800" bIns="50800" rtlCol="0" anchor="ctr"/>
            <a:lstStyle/>
            <a:p>
              <a:pPr algn="ctr">
                <a:lnSpc>
                  <a:spcPts val="2659"/>
                </a:lnSpc>
              </a:pPr>
              <a:endParaRPr/>
            </a:p>
          </p:txBody>
        </p:sp>
      </p:grpSp>
      <p:grpSp>
        <p:nvGrpSpPr>
          <p:cNvPr id="17" name="Group 17"/>
          <p:cNvGrpSpPr/>
          <p:nvPr/>
        </p:nvGrpSpPr>
        <p:grpSpPr>
          <a:xfrm>
            <a:off x="10355839" y="2664890"/>
            <a:ext cx="6903461" cy="1513113"/>
            <a:chOff x="0" y="0"/>
            <a:chExt cx="2336122" cy="512035"/>
          </a:xfrm>
        </p:grpSpPr>
        <p:sp>
          <p:nvSpPr>
            <p:cNvPr id="18" name="Freeform 18"/>
            <p:cNvSpPr/>
            <p:nvPr/>
          </p:nvSpPr>
          <p:spPr>
            <a:xfrm>
              <a:off x="0" y="0"/>
              <a:ext cx="2336122" cy="512035"/>
            </a:xfrm>
            <a:custGeom>
              <a:avLst/>
              <a:gdLst/>
              <a:ahLst/>
              <a:cxnLst/>
              <a:rect l="l" t="t" r="r" b="b"/>
              <a:pathLst>
                <a:path w="2336122" h="512035">
                  <a:moveTo>
                    <a:pt x="45980" y="0"/>
                  </a:moveTo>
                  <a:lnTo>
                    <a:pt x="2290142" y="0"/>
                  </a:lnTo>
                  <a:cubicBezTo>
                    <a:pt x="2302337" y="0"/>
                    <a:pt x="2314032" y="4844"/>
                    <a:pt x="2322655" y="13467"/>
                  </a:cubicBezTo>
                  <a:cubicBezTo>
                    <a:pt x="2331278" y="22090"/>
                    <a:pt x="2336122" y="33785"/>
                    <a:pt x="2336122" y="45980"/>
                  </a:cubicBezTo>
                  <a:lnTo>
                    <a:pt x="2336122" y="466056"/>
                  </a:lnTo>
                  <a:cubicBezTo>
                    <a:pt x="2336122" y="491450"/>
                    <a:pt x="2315536" y="512035"/>
                    <a:pt x="2290142" y="512035"/>
                  </a:cubicBezTo>
                  <a:lnTo>
                    <a:pt x="45980" y="512035"/>
                  </a:lnTo>
                  <a:cubicBezTo>
                    <a:pt x="33785" y="512035"/>
                    <a:pt x="22090" y="507191"/>
                    <a:pt x="13467" y="498568"/>
                  </a:cubicBezTo>
                  <a:cubicBezTo>
                    <a:pt x="4844" y="489945"/>
                    <a:pt x="0" y="478250"/>
                    <a:pt x="0" y="466056"/>
                  </a:cubicBezTo>
                  <a:lnTo>
                    <a:pt x="0" y="45980"/>
                  </a:lnTo>
                  <a:cubicBezTo>
                    <a:pt x="0" y="33785"/>
                    <a:pt x="4844" y="22090"/>
                    <a:pt x="13467" y="13467"/>
                  </a:cubicBezTo>
                  <a:cubicBezTo>
                    <a:pt x="22090" y="4844"/>
                    <a:pt x="33785" y="0"/>
                    <a:pt x="45980" y="0"/>
                  </a:cubicBezTo>
                  <a:close/>
                </a:path>
              </a:pathLst>
            </a:custGeom>
            <a:gradFill rotWithShape="1">
              <a:gsLst>
                <a:gs pos="0">
                  <a:srgbClr val="000000">
                    <a:alpha val="100000"/>
                  </a:srgbClr>
                </a:gs>
                <a:gs pos="100000">
                  <a:srgbClr val="3432C7">
                    <a:alpha val="100000"/>
                  </a:srgbClr>
                </a:gs>
              </a:gsLst>
              <a:lin ang="16200000"/>
            </a:gradFill>
          </p:spPr>
        </p:sp>
        <p:sp>
          <p:nvSpPr>
            <p:cNvPr id="19" name="TextBox 19"/>
            <p:cNvSpPr txBox="1"/>
            <p:nvPr/>
          </p:nvSpPr>
          <p:spPr>
            <a:xfrm>
              <a:off x="0" y="-47625"/>
              <a:ext cx="2336122" cy="559660"/>
            </a:xfrm>
            <a:prstGeom prst="rect">
              <a:avLst/>
            </a:prstGeom>
          </p:spPr>
          <p:txBody>
            <a:bodyPr lIns="50800" tIns="50800" rIns="50800" bIns="50800" rtlCol="0" anchor="ctr"/>
            <a:lstStyle/>
            <a:p>
              <a:pPr algn="ctr">
                <a:lnSpc>
                  <a:spcPts val="2659"/>
                </a:lnSpc>
              </a:pPr>
              <a:endParaRPr/>
            </a:p>
          </p:txBody>
        </p:sp>
      </p:grpSp>
      <p:grpSp>
        <p:nvGrpSpPr>
          <p:cNvPr id="20" name="Group 20"/>
          <p:cNvGrpSpPr/>
          <p:nvPr/>
        </p:nvGrpSpPr>
        <p:grpSpPr>
          <a:xfrm>
            <a:off x="10355839" y="7520733"/>
            <a:ext cx="6903461" cy="1415475"/>
            <a:chOff x="0" y="0"/>
            <a:chExt cx="2075061" cy="425467"/>
          </a:xfrm>
        </p:grpSpPr>
        <p:sp>
          <p:nvSpPr>
            <p:cNvPr id="21" name="Freeform 21"/>
            <p:cNvSpPr/>
            <p:nvPr/>
          </p:nvSpPr>
          <p:spPr>
            <a:xfrm>
              <a:off x="0" y="0"/>
              <a:ext cx="2075061" cy="425467"/>
            </a:xfrm>
            <a:custGeom>
              <a:avLst/>
              <a:gdLst/>
              <a:ahLst/>
              <a:cxnLst/>
              <a:rect l="l" t="t" r="r" b="b"/>
              <a:pathLst>
                <a:path w="2075061" h="425467">
                  <a:moveTo>
                    <a:pt x="45980" y="0"/>
                  </a:moveTo>
                  <a:lnTo>
                    <a:pt x="2029081" y="0"/>
                  </a:lnTo>
                  <a:cubicBezTo>
                    <a:pt x="2041276" y="0"/>
                    <a:pt x="2052971" y="4844"/>
                    <a:pt x="2061594" y="13467"/>
                  </a:cubicBezTo>
                  <a:cubicBezTo>
                    <a:pt x="2070216" y="22090"/>
                    <a:pt x="2075061" y="33785"/>
                    <a:pt x="2075061" y="45980"/>
                  </a:cubicBezTo>
                  <a:lnTo>
                    <a:pt x="2075061" y="379488"/>
                  </a:lnTo>
                  <a:cubicBezTo>
                    <a:pt x="2075061" y="391682"/>
                    <a:pt x="2070216" y="403377"/>
                    <a:pt x="2061594" y="412000"/>
                  </a:cubicBezTo>
                  <a:cubicBezTo>
                    <a:pt x="2052971" y="420623"/>
                    <a:pt x="2041276" y="425467"/>
                    <a:pt x="2029081" y="425467"/>
                  </a:cubicBezTo>
                  <a:lnTo>
                    <a:pt x="45980" y="425467"/>
                  </a:lnTo>
                  <a:cubicBezTo>
                    <a:pt x="20586" y="425467"/>
                    <a:pt x="0" y="404882"/>
                    <a:pt x="0" y="379488"/>
                  </a:cubicBezTo>
                  <a:lnTo>
                    <a:pt x="0" y="45980"/>
                  </a:lnTo>
                  <a:cubicBezTo>
                    <a:pt x="0" y="33785"/>
                    <a:pt x="4844" y="22090"/>
                    <a:pt x="13467" y="13467"/>
                  </a:cubicBezTo>
                  <a:cubicBezTo>
                    <a:pt x="22090" y="4844"/>
                    <a:pt x="33785" y="0"/>
                    <a:pt x="45980" y="0"/>
                  </a:cubicBezTo>
                  <a:close/>
                </a:path>
              </a:pathLst>
            </a:custGeom>
            <a:gradFill rotWithShape="1">
              <a:gsLst>
                <a:gs pos="0">
                  <a:srgbClr val="000000">
                    <a:alpha val="100000"/>
                  </a:srgbClr>
                </a:gs>
                <a:gs pos="100000">
                  <a:srgbClr val="3533CD">
                    <a:alpha val="100000"/>
                  </a:srgbClr>
                </a:gs>
              </a:gsLst>
              <a:lin ang="0"/>
            </a:gradFill>
            <a:ln w="38100" cap="rnd">
              <a:solidFill>
                <a:srgbClr val="FFDE59"/>
              </a:solidFill>
              <a:prstDash val="solid"/>
              <a:round/>
            </a:ln>
          </p:spPr>
        </p:sp>
        <p:sp>
          <p:nvSpPr>
            <p:cNvPr id="22" name="TextBox 22"/>
            <p:cNvSpPr txBox="1"/>
            <p:nvPr/>
          </p:nvSpPr>
          <p:spPr>
            <a:xfrm>
              <a:off x="0" y="-47625"/>
              <a:ext cx="2075061" cy="473092"/>
            </a:xfrm>
            <a:prstGeom prst="rect">
              <a:avLst/>
            </a:prstGeom>
          </p:spPr>
          <p:txBody>
            <a:bodyPr lIns="50800" tIns="50800" rIns="50800" bIns="50800" rtlCol="0" anchor="ctr"/>
            <a:lstStyle/>
            <a:p>
              <a:pPr algn="ctr">
                <a:lnSpc>
                  <a:spcPts val="2659"/>
                </a:lnSpc>
              </a:pPr>
              <a:endParaRPr/>
            </a:p>
          </p:txBody>
        </p:sp>
      </p:grpSp>
      <p:grpSp>
        <p:nvGrpSpPr>
          <p:cNvPr id="23" name="Group 23"/>
          <p:cNvGrpSpPr/>
          <p:nvPr/>
        </p:nvGrpSpPr>
        <p:grpSpPr>
          <a:xfrm>
            <a:off x="10355839" y="6016337"/>
            <a:ext cx="6903461" cy="1228171"/>
            <a:chOff x="0" y="0"/>
            <a:chExt cx="2391521" cy="425467"/>
          </a:xfrm>
        </p:grpSpPr>
        <p:sp>
          <p:nvSpPr>
            <p:cNvPr id="24" name="Freeform 24"/>
            <p:cNvSpPr/>
            <p:nvPr/>
          </p:nvSpPr>
          <p:spPr>
            <a:xfrm>
              <a:off x="0" y="0"/>
              <a:ext cx="2391520" cy="425467"/>
            </a:xfrm>
            <a:custGeom>
              <a:avLst/>
              <a:gdLst/>
              <a:ahLst/>
              <a:cxnLst/>
              <a:rect l="l" t="t" r="r" b="b"/>
              <a:pathLst>
                <a:path w="2391520" h="425467">
                  <a:moveTo>
                    <a:pt x="45980" y="0"/>
                  </a:moveTo>
                  <a:lnTo>
                    <a:pt x="2345541" y="0"/>
                  </a:lnTo>
                  <a:cubicBezTo>
                    <a:pt x="2370935" y="0"/>
                    <a:pt x="2391520" y="20586"/>
                    <a:pt x="2391520" y="45980"/>
                  </a:cubicBezTo>
                  <a:lnTo>
                    <a:pt x="2391520" y="379488"/>
                  </a:lnTo>
                  <a:cubicBezTo>
                    <a:pt x="2391520" y="391682"/>
                    <a:pt x="2386676" y="403377"/>
                    <a:pt x="2378053" y="412000"/>
                  </a:cubicBezTo>
                  <a:cubicBezTo>
                    <a:pt x="2369431" y="420623"/>
                    <a:pt x="2357735" y="425467"/>
                    <a:pt x="2345541" y="425467"/>
                  </a:cubicBezTo>
                  <a:lnTo>
                    <a:pt x="45980" y="425467"/>
                  </a:lnTo>
                  <a:cubicBezTo>
                    <a:pt x="20586" y="425467"/>
                    <a:pt x="0" y="404882"/>
                    <a:pt x="0" y="379488"/>
                  </a:cubicBezTo>
                  <a:lnTo>
                    <a:pt x="0" y="45980"/>
                  </a:lnTo>
                  <a:cubicBezTo>
                    <a:pt x="0" y="33785"/>
                    <a:pt x="4844" y="22090"/>
                    <a:pt x="13467" y="13467"/>
                  </a:cubicBezTo>
                  <a:cubicBezTo>
                    <a:pt x="22090" y="4844"/>
                    <a:pt x="33785" y="0"/>
                    <a:pt x="45980" y="0"/>
                  </a:cubicBezTo>
                  <a:close/>
                </a:path>
              </a:pathLst>
            </a:custGeom>
            <a:gradFill rotWithShape="1">
              <a:gsLst>
                <a:gs pos="0">
                  <a:srgbClr val="000000">
                    <a:alpha val="100000"/>
                  </a:srgbClr>
                </a:gs>
                <a:gs pos="100000">
                  <a:srgbClr val="3533CD">
                    <a:alpha val="100000"/>
                  </a:srgbClr>
                </a:gs>
              </a:gsLst>
              <a:lin ang="0"/>
            </a:gradFill>
          </p:spPr>
        </p:sp>
        <p:sp>
          <p:nvSpPr>
            <p:cNvPr id="25" name="TextBox 25"/>
            <p:cNvSpPr txBox="1"/>
            <p:nvPr/>
          </p:nvSpPr>
          <p:spPr>
            <a:xfrm>
              <a:off x="0" y="-47625"/>
              <a:ext cx="2391521" cy="473092"/>
            </a:xfrm>
            <a:prstGeom prst="rect">
              <a:avLst/>
            </a:prstGeom>
          </p:spPr>
          <p:txBody>
            <a:bodyPr lIns="50800" tIns="50800" rIns="50800" bIns="50800" rtlCol="0" anchor="ctr"/>
            <a:lstStyle/>
            <a:p>
              <a:pPr algn="ctr">
                <a:lnSpc>
                  <a:spcPts val="2659"/>
                </a:lnSpc>
              </a:pPr>
              <a:endParaRPr/>
            </a:p>
          </p:txBody>
        </p:sp>
      </p:grpSp>
      <p:sp>
        <p:nvSpPr>
          <p:cNvPr id="26" name="Freeform 26"/>
          <p:cNvSpPr/>
          <p:nvPr/>
        </p:nvSpPr>
        <p:spPr>
          <a:xfrm>
            <a:off x="1028700" y="6832255"/>
            <a:ext cx="3700572" cy="1543092"/>
          </a:xfrm>
          <a:custGeom>
            <a:avLst/>
            <a:gdLst/>
            <a:ahLst/>
            <a:cxnLst/>
            <a:rect l="l" t="t" r="r" b="b"/>
            <a:pathLst>
              <a:path w="3700572" h="1543092">
                <a:moveTo>
                  <a:pt x="0" y="0"/>
                </a:moveTo>
                <a:lnTo>
                  <a:pt x="3700572" y="0"/>
                </a:lnTo>
                <a:lnTo>
                  <a:pt x="3700572" y="1543092"/>
                </a:lnTo>
                <a:lnTo>
                  <a:pt x="0" y="1543092"/>
                </a:lnTo>
                <a:lnTo>
                  <a:pt x="0" y="0"/>
                </a:lnTo>
                <a:close/>
              </a:path>
            </a:pathLst>
          </a:custGeom>
          <a:blipFill>
            <a:blip r:embed="rId6"/>
            <a:stretch>
              <a:fillRect r="-29648"/>
            </a:stretch>
          </a:blipFill>
        </p:spPr>
      </p:sp>
      <p:sp>
        <p:nvSpPr>
          <p:cNvPr id="27" name="Freeform 27"/>
          <p:cNvSpPr/>
          <p:nvPr/>
        </p:nvSpPr>
        <p:spPr>
          <a:xfrm>
            <a:off x="5080191" y="6832255"/>
            <a:ext cx="3632756" cy="1554408"/>
          </a:xfrm>
          <a:custGeom>
            <a:avLst/>
            <a:gdLst/>
            <a:ahLst/>
            <a:cxnLst/>
            <a:rect l="l" t="t" r="r" b="b"/>
            <a:pathLst>
              <a:path w="3632756" h="1554408">
                <a:moveTo>
                  <a:pt x="0" y="0"/>
                </a:moveTo>
                <a:lnTo>
                  <a:pt x="3632757" y="0"/>
                </a:lnTo>
                <a:lnTo>
                  <a:pt x="3632757" y="1554407"/>
                </a:lnTo>
                <a:lnTo>
                  <a:pt x="0" y="1554407"/>
                </a:lnTo>
                <a:lnTo>
                  <a:pt x="0" y="0"/>
                </a:lnTo>
                <a:close/>
              </a:path>
            </a:pathLst>
          </a:custGeom>
          <a:blipFill>
            <a:blip r:embed="rId7"/>
            <a:stretch>
              <a:fillRect l="-16518" r="-16518"/>
            </a:stretch>
          </a:blipFill>
        </p:spPr>
      </p:sp>
      <p:grpSp>
        <p:nvGrpSpPr>
          <p:cNvPr id="28" name="Group 28"/>
          <p:cNvGrpSpPr/>
          <p:nvPr/>
        </p:nvGrpSpPr>
        <p:grpSpPr>
          <a:xfrm>
            <a:off x="9144000" y="9708804"/>
            <a:ext cx="9144000" cy="560871"/>
            <a:chOff x="0" y="0"/>
            <a:chExt cx="2408296" cy="147719"/>
          </a:xfrm>
        </p:grpSpPr>
        <p:sp>
          <p:nvSpPr>
            <p:cNvPr id="29" name="Freeform 29"/>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30" name="TextBox 30"/>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31" name="Freeform 31"/>
          <p:cNvSpPr/>
          <p:nvPr/>
        </p:nvSpPr>
        <p:spPr>
          <a:xfrm>
            <a:off x="9144000" y="5984215"/>
            <a:ext cx="1138016" cy="1138016"/>
          </a:xfrm>
          <a:custGeom>
            <a:avLst/>
            <a:gdLst/>
            <a:ahLst/>
            <a:cxnLst/>
            <a:rect l="l" t="t" r="r" b="b"/>
            <a:pathLst>
              <a:path w="1138016" h="1138016">
                <a:moveTo>
                  <a:pt x="0" y="0"/>
                </a:moveTo>
                <a:lnTo>
                  <a:pt x="1138016" y="0"/>
                </a:lnTo>
                <a:lnTo>
                  <a:pt x="1138016" y="1138016"/>
                </a:lnTo>
                <a:lnTo>
                  <a:pt x="0" y="1138016"/>
                </a:lnTo>
                <a:lnTo>
                  <a:pt x="0" y="0"/>
                </a:lnTo>
                <a:close/>
              </a:path>
            </a:pathLst>
          </a:custGeom>
          <a:blipFill>
            <a:blip>
              <a:extLst>
                <a:ext uri="{96DAC541-7B7A-43D3-8B79-37D633B846F1}">
                  <asvg:svgBlip xmlns:asvg="http://schemas.microsoft.com/office/drawing/2016/SVG/main" r:embed="rId8"/>
                </a:ext>
              </a:extLst>
            </a:blip>
            <a:stretch>
              <a:fillRect/>
            </a:stretch>
          </a:blipFill>
        </p:spPr>
      </p:sp>
      <p:sp>
        <p:nvSpPr>
          <p:cNvPr id="32" name="Freeform 32"/>
          <p:cNvSpPr/>
          <p:nvPr/>
        </p:nvSpPr>
        <p:spPr>
          <a:xfrm>
            <a:off x="9137362" y="7708747"/>
            <a:ext cx="1029460" cy="1103709"/>
          </a:xfrm>
          <a:custGeom>
            <a:avLst/>
            <a:gdLst/>
            <a:ahLst/>
            <a:cxnLst/>
            <a:rect l="l" t="t" r="r" b="b"/>
            <a:pathLst>
              <a:path w="1029460" h="1103709">
                <a:moveTo>
                  <a:pt x="0" y="0"/>
                </a:moveTo>
                <a:lnTo>
                  <a:pt x="1029459" y="0"/>
                </a:lnTo>
                <a:lnTo>
                  <a:pt x="1029459" y="1103709"/>
                </a:lnTo>
                <a:lnTo>
                  <a:pt x="0" y="1103709"/>
                </a:lnTo>
                <a:lnTo>
                  <a:pt x="0" y="0"/>
                </a:lnTo>
                <a:close/>
              </a:path>
            </a:pathLst>
          </a:custGeom>
          <a:blipFill>
            <a:blip>
              <a:extLst>
                <a:ext uri="{96DAC541-7B7A-43D3-8B79-37D633B846F1}">
                  <asvg:svgBlip xmlns:asvg="http://schemas.microsoft.com/office/drawing/2016/SVG/main" r:embed="rId9"/>
                </a:ext>
              </a:extLst>
            </a:blip>
            <a:stretch>
              <a:fillRect/>
            </a:stretch>
          </a:blipFill>
        </p:spPr>
      </p:sp>
      <p:sp>
        <p:nvSpPr>
          <p:cNvPr id="33" name="Freeform 33"/>
          <p:cNvSpPr/>
          <p:nvPr/>
        </p:nvSpPr>
        <p:spPr>
          <a:xfrm>
            <a:off x="9144000" y="2823729"/>
            <a:ext cx="1038944" cy="1021943"/>
          </a:xfrm>
          <a:custGeom>
            <a:avLst/>
            <a:gdLst/>
            <a:ahLst/>
            <a:cxnLst/>
            <a:rect l="l" t="t" r="r" b="b"/>
            <a:pathLst>
              <a:path w="1038944" h="1021943">
                <a:moveTo>
                  <a:pt x="0" y="0"/>
                </a:moveTo>
                <a:lnTo>
                  <a:pt x="1038944" y="0"/>
                </a:lnTo>
                <a:lnTo>
                  <a:pt x="1038944" y="1021943"/>
                </a:lnTo>
                <a:lnTo>
                  <a:pt x="0" y="1021943"/>
                </a:lnTo>
                <a:lnTo>
                  <a:pt x="0" y="0"/>
                </a:lnTo>
                <a:close/>
              </a:path>
            </a:pathLst>
          </a:custGeom>
          <a:blipFill>
            <a:blip>
              <a:extLst>
                <a:ext uri="{96DAC541-7B7A-43D3-8B79-37D633B846F1}">
                  <asvg:svgBlip xmlns:asvg="http://schemas.microsoft.com/office/drawing/2016/SVG/main" r:embed="rId10"/>
                </a:ext>
              </a:extLst>
            </a:blip>
            <a:stretch>
              <a:fillRect/>
            </a:stretch>
          </a:blipFill>
        </p:spPr>
      </p:sp>
      <p:sp>
        <p:nvSpPr>
          <p:cNvPr id="34" name="Freeform 34"/>
          <p:cNvSpPr/>
          <p:nvPr/>
        </p:nvSpPr>
        <p:spPr>
          <a:xfrm>
            <a:off x="9160123" y="4432187"/>
            <a:ext cx="1000060" cy="965513"/>
          </a:xfrm>
          <a:custGeom>
            <a:avLst/>
            <a:gdLst/>
            <a:ahLst/>
            <a:cxnLst/>
            <a:rect l="l" t="t" r="r" b="b"/>
            <a:pathLst>
              <a:path w="1000060" h="965513">
                <a:moveTo>
                  <a:pt x="0" y="0"/>
                </a:moveTo>
                <a:lnTo>
                  <a:pt x="1000060" y="0"/>
                </a:lnTo>
                <a:lnTo>
                  <a:pt x="1000060" y="965513"/>
                </a:lnTo>
                <a:lnTo>
                  <a:pt x="0" y="965513"/>
                </a:lnTo>
                <a:lnTo>
                  <a:pt x="0" y="0"/>
                </a:lnTo>
                <a:close/>
              </a:path>
            </a:pathLst>
          </a:custGeom>
          <a:blipFill>
            <a:blip>
              <a:extLst>
                <a:ext uri="{96DAC541-7B7A-43D3-8B79-37D633B846F1}">
                  <asvg:svgBlip xmlns:asvg="http://schemas.microsoft.com/office/drawing/2016/SVG/main" r:embed="rId11"/>
                </a:ext>
              </a:extLst>
            </a:blip>
            <a:stretch>
              <a:fillRect/>
            </a:stretch>
          </a:blipFill>
        </p:spPr>
      </p:sp>
      <p:sp>
        <p:nvSpPr>
          <p:cNvPr id="35" name="TextBox 35"/>
          <p:cNvSpPr txBox="1"/>
          <p:nvPr/>
        </p:nvSpPr>
        <p:spPr>
          <a:xfrm>
            <a:off x="1028700" y="215814"/>
            <a:ext cx="636007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01 | Latar Belakang</a:t>
            </a:r>
          </a:p>
        </p:txBody>
      </p:sp>
      <p:sp>
        <p:nvSpPr>
          <p:cNvPr id="36" name="TextBox 36"/>
          <p:cNvSpPr txBox="1"/>
          <p:nvPr/>
        </p:nvSpPr>
        <p:spPr>
          <a:xfrm>
            <a:off x="11985570" y="4611073"/>
            <a:ext cx="3654391" cy="962343"/>
          </a:xfrm>
          <a:prstGeom prst="rect">
            <a:avLst/>
          </a:prstGeom>
        </p:spPr>
        <p:txBody>
          <a:bodyPr lIns="0" tIns="0" rIns="0" bIns="0" rtlCol="0" anchor="t">
            <a:spAutoFit/>
          </a:bodyPr>
          <a:lstStyle/>
          <a:p>
            <a:pPr algn="ctr">
              <a:lnSpc>
                <a:spcPts val="2607"/>
              </a:lnSpc>
            </a:pPr>
            <a:r>
              <a:rPr lang="en-US" sz="1862" b="1">
                <a:solidFill>
                  <a:srgbClr val="FF751F"/>
                </a:solidFill>
                <a:latin typeface="Canva Sans Bold"/>
                <a:ea typeface="Canva Sans Bold"/>
                <a:cs typeface="Canva Sans Bold"/>
                <a:sym typeface="Canva Sans Bold"/>
              </a:rPr>
              <a:t>Teks Al-Qur’an kompleks dan kontekstual</a:t>
            </a:r>
          </a:p>
          <a:p>
            <a:pPr algn="ctr">
              <a:lnSpc>
                <a:spcPts val="2607"/>
              </a:lnSpc>
            </a:pPr>
            <a:endParaRPr lang="en-US" sz="1862" b="1">
              <a:solidFill>
                <a:srgbClr val="FF751F"/>
              </a:solidFill>
              <a:latin typeface="Canva Sans Bold"/>
              <a:ea typeface="Canva Sans Bold"/>
              <a:cs typeface="Canva Sans Bold"/>
              <a:sym typeface="Canva Sans Bold"/>
            </a:endParaRPr>
          </a:p>
        </p:txBody>
      </p:sp>
      <p:sp>
        <p:nvSpPr>
          <p:cNvPr id="37" name="TextBox 37"/>
          <p:cNvSpPr txBox="1"/>
          <p:nvPr/>
        </p:nvSpPr>
        <p:spPr>
          <a:xfrm>
            <a:off x="10586074" y="2805388"/>
            <a:ext cx="6453382" cy="1203541"/>
          </a:xfrm>
          <a:prstGeom prst="rect">
            <a:avLst/>
          </a:prstGeom>
        </p:spPr>
        <p:txBody>
          <a:bodyPr lIns="0" tIns="0" rIns="0" bIns="0" rtlCol="0" anchor="t">
            <a:spAutoFit/>
          </a:bodyPr>
          <a:lstStyle/>
          <a:p>
            <a:pPr algn="ctr">
              <a:lnSpc>
                <a:spcPts val="2438"/>
              </a:lnSpc>
            </a:pPr>
            <a:r>
              <a:rPr lang="en-US" sz="1741" b="1">
                <a:solidFill>
                  <a:srgbClr val="FF751F"/>
                </a:solidFill>
                <a:latin typeface="Canva Sans Bold"/>
                <a:ea typeface="Canva Sans Bold"/>
                <a:cs typeface="Canva Sans Bold"/>
                <a:sym typeface="Canva Sans Bold"/>
              </a:rPr>
              <a:t>Pemodelan topik merupakan pendekatan penting dalam analisis teks untuk menemukan tema tersembunyi dalam kumpulan dokumen besar secara otomatis (Blei et al., 2003a).</a:t>
            </a:r>
          </a:p>
        </p:txBody>
      </p:sp>
      <p:sp>
        <p:nvSpPr>
          <p:cNvPr id="38" name="TextBox 38"/>
          <p:cNvSpPr txBox="1"/>
          <p:nvPr/>
        </p:nvSpPr>
        <p:spPr>
          <a:xfrm>
            <a:off x="10737164" y="7749333"/>
            <a:ext cx="6302292" cy="1055934"/>
          </a:xfrm>
          <a:prstGeom prst="rect">
            <a:avLst/>
          </a:prstGeom>
        </p:spPr>
        <p:txBody>
          <a:bodyPr lIns="0" tIns="0" rIns="0" bIns="0" rtlCol="0" anchor="t">
            <a:spAutoFit/>
          </a:bodyPr>
          <a:lstStyle/>
          <a:p>
            <a:pPr algn="ctr">
              <a:lnSpc>
                <a:spcPts val="2173"/>
              </a:lnSpc>
            </a:pPr>
            <a:r>
              <a:rPr lang="en-US" sz="1552" b="1">
                <a:solidFill>
                  <a:srgbClr val="FF751F"/>
                </a:solidFill>
                <a:latin typeface="Canva Sans Bold"/>
                <a:ea typeface="Canva Sans Bold"/>
                <a:cs typeface="Canva Sans Bold"/>
                <a:sym typeface="Canva Sans Bold"/>
              </a:rPr>
              <a:t>penerapan kedua metode ini pada korpus teks religius terutama teks terjemahan Al-Qur’an dalam bahasa Indonesia belum banyak digunakan</a:t>
            </a:r>
          </a:p>
          <a:p>
            <a:pPr algn="ctr">
              <a:lnSpc>
                <a:spcPts val="2173"/>
              </a:lnSpc>
            </a:pPr>
            <a:endParaRPr lang="en-US" sz="1552" b="1">
              <a:solidFill>
                <a:srgbClr val="FF751F"/>
              </a:solidFill>
              <a:latin typeface="Canva Sans Bold"/>
              <a:ea typeface="Canva Sans Bold"/>
              <a:cs typeface="Canva Sans Bold"/>
              <a:sym typeface="Canva Sans Bold"/>
            </a:endParaRPr>
          </a:p>
        </p:txBody>
      </p:sp>
      <p:sp>
        <p:nvSpPr>
          <p:cNvPr id="39" name="TextBox 39"/>
          <p:cNvSpPr txBox="1"/>
          <p:nvPr/>
        </p:nvSpPr>
        <p:spPr>
          <a:xfrm>
            <a:off x="10586074" y="6235412"/>
            <a:ext cx="6453382" cy="558743"/>
          </a:xfrm>
          <a:prstGeom prst="rect">
            <a:avLst/>
          </a:prstGeom>
        </p:spPr>
        <p:txBody>
          <a:bodyPr lIns="0" tIns="0" rIns="0" bIns="0" rtlCol="0" anchor="t">
            <a:spAutoFit/>
          </a:bodyPr>
          <a:lstStyle/>
          <a:p>
            <a:pPr algn="ctr">
              <a:lnSpc>
                <a:spcPts val="2278"/>
              </a:lnSpc>
            </a:pPr>
            <a:r>
              <a:rPr lang="en-US" sz="1627" b="1">
                <a:solidFill>
                  <a:srgbClr val="FF751F"/>
                </a:solidFill>
                <a:latin typeface="Canva Sans Bold"/>
                <a:ea typeface="Canva Sans Bold"/>
                <a:cs typeface="Canva Sans Bold"/>
                <a:sym typeface="Canva Sans Bold"/>
              </a:rPr>
              <a:t>CTM &amp; BERTopic sebagai solusi alternatif terbaruan dalam menganalisis Teks Al-Qur’an</a:t>
            </a:r>
          </a:p>
        </p:txBody>
      </p:sp>
      <p:sp>
        <p:nvSpPr>
          <p:cNvPr id="40" name="TextBox 40"/>
          <p:cNvSpPr txBox="1"/>
          <p:nvPr/>
        </p:nvSpPr>
        <p:spPr>
          <a:xfrm>
            <a:off x="2121610" y="6839530"/>
            <a:ext cx="1832790" cy="764271"/>
          </a:xfrm>
          <a:prstGeom prst="rect">
            <a:avLst/>
          </a:prstGeom>
        </p:spPr>
        <p:txBody>
          <a:bodyPr wrap="square" lIns="0" tIns="0" rIns="0" bIns="0" rtlCol="0" anchor="t">
            <a:spAutoFit/>
          </a:bodyPr>
          <a:lstStyle/>
          <a:p>
            <a:pPr algn="ctr">
              <a:lnSpc>
                <a:spcPts val="6150"/>
              </a:lnSpc>
            </a:pPr>
            <a:r>
              <a:rPr lang="en-US" sz="4393" b="1" dirty="0">
                <a:solidFill>
                  <a:srgbClr val="FF751F"/>
                </a:solidFill>
                <a:latin typeface="Canva Sans Bold"/>
                <a:ea typeface="Canva Sans Bold"/>
                <a:cs typeface="Canva Sans Bold"/>
                <a:sym typeface="Canva Sans Bold"/>
              </a:rPr>
              <a:t>6.236</a:t>
            </a:r>
          </a:p>
        </p:txBody>
      </p:sp>
      <p:sp>
        <p:nvSpPr>
          <p:cNvPr id="41" name="TextBox 41"/>
          <p:cNvSpPr txBox="1"/>
          <p:nvPr/>
        </p:nvSpPr>
        <p:spPr>
          <a:xfrm>
            <a:off x="1238068" y="7557159"/>
            <a:ext cx="3632756" cy="481330"/>
          </a:xfrm>
          <a:prstGeom prst="rect">
            <a:avLst/>
          </a:prstGeom>
        </p:spPr>
        <p:txBody>
          <a:bodyPr lIns="0" tIns="0" rIns="0" bIns="0" rtlCol="0" anchor="t">
            <a:spAutoFit/>
          </a:bodyPr>
          <a:lstStyle/>
          <a:p>
            <a:pPr algn="ctr">
              <a:lnSpc>
                <a:spcPts val="3920"/>
              </a:lnSpc>
            </a:pPr>
            <a:r>
              <a:rPr lang="en-US" sz="2800">
                <a:solidFill>
                  <a:srgbClr val="5CE1E6"/>
                </a:solidFill>
                <a:latin typeface="Canva Sans"/>
                <a:ea typeface="Canva Sans"/>
                <a:cs typeface="Canva Sans"/>
                <a:sym typeface="Canva Sans"/>
              </a:rPr>
              <a:t>Ayat Al-Qur’an</a:t>
            </a:r>
          </a:p>
        </p:txBody>
      </p:sp>
      <p:sp>
        <p:nvSpPr>
          <p:cNvPr id="42" name="TextBox 42"/>
          <p:cNvSpPr txBox="1"/>
          <p:nvPr/>
        </p:nvSpPr>
        <p:spPr>
          <a:xfrm>
            <a:off x="6426910" y="6856492"/>
            <a:ext cx="1232995" cy="757817"/>
          </a:xfrm>
          <a:prstGeom prst="rect">
            <a:avLst/>
          </a:prstGeom>
        </p:spPr>
        <p:txBody>
          <a:bodyPr wrap="square" lIns="0" tIns="0" rIns="0" bIns="0" rtlCol="0" anchor="t">
            <a:spAutoFit/>
          </a:bodyPr>
          <a:lstStyle/>
          <a:p>
            <a:pPr algn="ctr">
              <a:lnSpc>
                <a:spcPts val="6179"/>
              </a:lnSpc>
            </a:pPr>
            <a:r>
              <a:rPr lang="en-US" sz="4413" b="1" dirty="0">
                <a:solidFill>
                  <a:srgbClr val="5CE1E6"/>
                </a:solidFill>
                <a:latin typeface="Canva Sans Bold"/>
                <a:ea typeface="Canva Sans Bold"/>
                <a:cs typeface="Canva Sans Bold"/>
                <a:sym typeface="Canva Sans Bold"/>
              </a:rPr>
              <a:t>114</a:t>
            </a:r>
          </a:p>
        </p:txBody>
      </p:sp>
      <p:sp>
        <p:nvSpPr>
          <p:cNvPr id="43" name="TextBox 43"/>
          <p:cNvSpPr txBox="1"/>
          <p:nvPr/>
        </p:nvSpPr>
        <p:spPr>
          <a:xfrm>
            <a:off x="5080191" y="7541960"/>
            <a:ext cx="3632756" cy="481330"/>
          </a:xfrm>
          <a:prstGeom prst="rect">
            <a:avLst/>
          </a:prstGeom>
        </p:spPr>
        <p:txBody>
          <a:bodyPr lIns="0" tIns="0" rIns="0" bIns="0" rtlCol="0" anchor="t">
            <a:spAutoFit/>
          </a:bodyPr>
          <a:lstStyle/>
          <a:p>
            <a:pPr algn="ctr">
              <a:lnSpc>
                <a:spcPts val="3920"/>
              </a:lnSpc>
            </a:pPr>
            <a:r>
              <a:rPr lang="en-US" sz="2800">
                <a:solidFill>
                  <a:srgbClr val="FF751F"/>
                </a:solidFill>
                <a:latin typeface="Canva Sans"/>
                <a:ea typeface="Canva Sans"/>
                <a:cs typeface="Canva Sans"/>
                <a:sym typeface="Canva Sans"/>
              </a:rPr>
              <a:t>Surat</a:t>
            </a:r>
          </a:p>
        </p:txBody>
      </p:sp>
      <p:sp>
        <p:nvSpPr>
          <p:cNvPr id="44" name="TextBox 44"/>
          <p:cNvSpPr txBox="1"/>
          <p:nvPr/>
        </p:nvSpPr>
        <p:spPr>
          <a:xfrm>
            <a:off x="1028700" y="1129213"/>
            <a:ext cx="10183956" cy="1072602"/>
          </a:xfrm>
          <a:prstGeom prst="rect">
            <a:avLst/>
          </a:prstGeom>
        </p:spPr>
        <p:txBody>
          <a:bodyPr lIns="0" tIns="0" rIns="0" bIns="0" rtlCol="0" anchor="t">
            <a:spAutoFit/>
          </a:bodyPr>
          <a:lstStyle/>
          <a:p>
            <a:pPr algn="l">
              <a:lnSpc>
                <a:spcPts val="8605"/>
              </a:lnSpc>
              <a:spcBef>
                <a:spcPct val="0"/>
              </a:spcBef>
            </a:pPr>
            <a:r>
              <a:rPr lang="en-US" sz="6146" b="1">
                <a:solidFill>
                  <a:srgbClr val="1800AD"/>
                </a:solidFill>
                <a:latin typeface="Archivo Narrow Bold"/>
                <a:ea typeface="Archivo Narrow Bold"/>
                <a:cs typeface="Archivo Narrow Bold"/>
                <a:sym typeface="Archivo Narrow Bold"/>
              </a:rPr>
              <a:t>Mengapa Peneletian Ini Penting?</a:t>
            </a:r>
          </a:p>
        </p:txBody>
      </p:sp>
      <p:sp>
        <p:nvSpPr>
          <p:cNvPr id="45" name="TextBox 45"/>
          <p:cNvSpPr txBox="1"/>
          <p:nvPr/>
        </p:nvSpPr>
        <p:spPr>
          <a:xfrm>
            <a:off x="14532285" y="9745882"/>
            <a:ext cx="3574137" cy="439092"/>
          </a:xfrm>
          <a:prstGeom prst="rect">
            <a:avLst/>
          </a:prstGeom>
        </p:spPr>
        <p:txBody>
          <a:bodyPr lIns="0" tIns="0" rIns="0" bIns="0" rtlCol="0" anchor="t">
            <a:spAutoFit/>
          </a:bodyPr>
          <a:lstStyle/>
          <a:p>
            <a:pPr algn="ctr">
              <a:lnSpc>
                <a:spcPts val="3623"/>
              </a:lnSpc>
            </a:pPr>
            <a:r>
              <a:rPr lang="en-US" sz="2587">
                <a:solidFill>
                  <a:srgbClr val="000000"/>
                </a:solidFill>
                <a:latin typeface="Montserrat"/>
                <a:ea typeface="Montserrat"/>
                <a:cs typeface="Montserrat"/>
                <a:sym typeface="Montserrat"/>
              </a:rPr>
              <a:t>universitas pamulang</a:t>
            </a:r>
          </a:p>
        </p:txBody>
      </p:sp>
      <p:sp>
        <p:nvSpPr>
          <p:cNvPr id="46" name="Freeform 46"/>
          <p:cNvSpPr/>
          <p:nvPr/>
        </p:nvSpPr>
        <p:spPr>
          <a:xfrm>
            <a:off x="2949762" y="8228471"/>
            <a:ext cx="3700572" cy="1543092"/>
          </a:xfrm>
          <a:custGeom>
            <a:avLst/>
            <a:gdLst/>
            <a:ahLst/>
            <a:cxnLst/>
            <a:rect l="l" t="t" r="r" b="b"/>
            <a:pathLst>
              <a:path w="3700572" h="1543092">
                <a:moveTo>
                  <a:pt x="0" y="0"/>
                </a:moveTo>
                <a:lnTo>
                  <a:pt x="3700572" y="0"/>
                </a:lnTo>
                <a:lnTo>
                  <a:pt x="3700572" y="1543092"/>
                </a:lnTo>
                <a:lnTo>
                  <a:pt x="0" y="1543092"/>
                </a:lnTo>
                <a:lnTo>
                  <a:pt x="0" y="0"/>
                </a:lnTo>
                <a:close/>
              </a:path>
            </a:pathLst>
          </a:custGeom>
          <a:blipFill>
            <a:blip r:embed="rId6"/>
            <a:stretch>
              <a:fillRect r="-29648"/>
            </a:stretch>
          </a:blipFill>
        </p:spPr>
      </p:sp>
      <p:sp>
        <p:nvSpPr>
          <p:cNvPr id="47" name="TextBox 47"/>
          <p:cNvSpPr txBox="1"/>
          <p:nvPr/>
        </p:nvSpPr>
        <p:spPr>
          <a:xfrm>
            <a:off x="3954400" y="8235746"/>
            <a:ext cx="1836800" cy="1544884"/>
          </a:xfrm>
          <a:prstGeom prst="rect">
            <a:avLst/>
          </a:prstGeom>
        </p:spPr>
        <p:txBody>
          <a:bodyPr wrap="square" lIns="0" tIns="0" rIns="0" bIns="0" rtlCol="0" anchor="t">
            <a:spAutoFit/>
          </a:bodyPr>
          <a:lstStyle/>
          <a:p>
            <a:pPr algn="ctr">
              <a:lnSpc>
                <a:spcPts val="6150"/>
              </a:lnSpc>
            </a:pPr>
            <a:r>
              <a:rPr lang="en-US" sz="4393" b="1" dirty="0">
                <a:solidFill>
                  <a:srgbClr val="FF751F"/>
                </a:solidFill>
                <a:latin typeface="Canva Sans Bold"/>
                <a:ea typeface="Canva Sans Bold"/>
                <a:cs typeface="Canva Sans Bold"/>
                <a:sym typeface="Canva Sans Bold"/>
              </a:rPr>
              <a:t>77.439</a:t>
            </a:r>
          </a:p>
          <a:p>
            <a:pPr algn="ctr">
              <a:lnSpc>
                <a:spcPts val="6150"/>
              </a:lnSpc>
            </a:pPr>
            <a:endParaRPr lang="en-US" sz="4393" b="1" dirty="0">
              <a:solidFill>
                <a:srgbClr val="FF751F"/>
              </a:solidFill>
              <a:latin typeface="Canva Sans Bold"/>
              <a:ea typeface="Canva Sans Bold"/>
              <a:cs typeface="Canva Sans Bold"/>
              <a:sym typeface="Canva Sans Bold"/>
            </a:endParaRPr>
          </a:p>
        </p:txBody>
      </p:sp>
      <p:sp>
        <p:nvSpPr>
          <p:cNvPr id="48" name="TextBox 48"/>
          <p:cNvSpPr txBox="1"/>
          <p:nvPr/>
        </p:nvSpPr>
        <p:spPr>
          <a:xfrm>
            <a:off x="3159129" y="8953375"/>
            <a:ext cx="3632756" cy="481330"/>
          </a:xfrm>
          <a:prstGeom prst="rect">
            <a:avLst/>
          </a:prstGeom>
        </p:spPr>
        <p:txBody>
          <a:bodyPr lIns="0" tIns="0" rIns="0" bIns="0" rtlCol="0" anchor="t">
            <a:spAutoFit/>
          </a:bodyPr>
          <a:lstStyle/>
          <a:p>
            <a:pPr algn="ctr">
              <a:lnSpc>
                <a:spcPts val="3920"/>
              </a:lnSpc>
            </a:pPr>
            <a:r>
              <a:rPr lang="en-US" sz="2800">
                <a:solidFill>
                  <a:srgbClr val="5CE1E6"/>
                </a:solidFill>
                <a:latin typeface="Canva Sans"/>
                <a:ea typeface="Canva Sans"/>
                <a:cs typeface="Canva Sans"/>
                <a:sym typeface="Canva Sans"/>
              </a:rPr>
              <a:t>Kata Terjemah</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1617035" y="-4923805"/>
            <a:ext cx="9848495" cy="18613993"/>
          </a:xfrm>
          <a:custGeom>
            <a:avLst/>
            <a:gdLst/>
            <a:ahLst/>
            <a:cxnLst/>
            <a:rect l="l" t="t" r="r" b="b"/>
            <a:pathLst>
              <a:path w="9848495" h="18613993">
                <a:moveTo>
                  <a:pt x="0" y="18613994"/>
                </a:moveTo>
                <a:lnTo>
                  <a:pt x="9848495" y="18613994"/>
                </a:lnTo>
                <a:lnTo>
                  <a:pt x="9848495" y="0"/>
                </a:lnTo>
                <a:lnTo>
                  <a:pt x="0" y="0"/>
                </a:lnTo>
                <a:lnTo>
                  <a:pt x="0" y="1861399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965541" y="3421446"/>
            <a:ext cx="8337260" cy="1670231"/>
            <a:chOff x="0" y="0"/>
            <a:chExt cx="2195822" cy="439896"/>
          </a:xfrm>
        </p:grpSpPr>
        <p:sp>
          <p:nvSpPr>
            <p:cNvPr id="17" name="Freeform 17"/>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FF751F"/>
              </a:solidFill>
              <a:prstDash val="solid"/>
              <a:miter/>
            </a:ln>
          </p:spPr>
        </p:sp>
        <p:sp>
          <p:nvSpPr>
            <p:cNvPr id="18" name="TextBox 18"/>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grpSp>
        <p:nvGrpSpPr>
          <p:cNvPr id="19" name="Group 19"/>
          <p:cNvGrpSpPr/>
          <p:nvPr/>
        </p:nvGrpSpPr>
        <p:grpSpPr>
          <a:xfrm>
            <a:off x="962221" y="5327470"/>
            <a:ext cx="8337260" cy="1670231"/>
            <a:chOff x="0" y="0"/>
            <a:chExt cx="2195822" cy="439896"/>
          </a:xfrm>
        </p:grpSpPr>
        <p:sp>
          <p:nvSpPr>
            <p:cNvPr id="20" name="Freeform 20"/>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FFDE59"/>
              </a:solidFill>
              <a:prstDash val="solid"/>
              <a:miter/>
            </a:ln>
          </p:spPr>
        </p:sp>
        <p:sp>
          <p:nvSpPr>
            <p:cNvPr id="21" name="TextBox 21"/>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grpSp>
        <p:nvGrpSpPr>
          <p:cNvPr id="22" name="Group 22"/>
          <p:cNvGrpSpPr/>
          <p:nvPr/>
        </p:nvGrpSpPr>
        <p:grpSpPr>
          <a:xfrm>
            <a:off x="965541" y="7283014"/>
            <a:ext cx="8337260" cy="1670231"/>
            <a:chOff x="0" y="0"/>
            <a:chExt cx="2195822" cy="439896"/>
          </a:xfrm>
        </p:grpSpPr>
        <p:sp>
          <p:nvSpPr>
            <p:cNvPr id="23" name="Freeform 23"/>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00BF63"/>
              </a:solidFill>
              <a:prstDash val="solid"/>
              <a:miter/>
            </a:ln>
          </p:spPr>
        </p:sp>
        <p:sp>
          <p:nvSpPr>
            <p:cNvPr id="24" name="TextBox 24"/>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sp>
        <p:nvSpPr>
          <p:cNvPr id="25" name="Freeform 25"/>
          <p:cNvSpPr/>
          <p:nvPr/>
        </p:nvSpPr>
        <p:spPr>
          <a:xfrm>
            <a:off x="1102579" y="3752539"/>
            <a:ext cx="1008045" cy="1008045"/>
          </a:xfrm>
          <a:custGeom>
            <a:avLst/>
            <a:gdLst/>
            <a:ahLst/>
            <a:cxnLst/>
            <a:rect l="l" t="t" r="r" b="b"/>
            <a:pathLst>
              <a:path w="1008045" h="1008045">
                <a:moveTo>
                  <a:pt x="0" y="0"/>
                </a:moveTo>
                <a:lnTo>
                  <a:pt x="1008045" y="0"/>
                </a:lnTo>
                <a:lnTo>
                  <a:pt x="1008045" y="1008045"/>
                </a:lnTo>
                <a:lnTo>
                  <a:pt x="0" y="1008045"/>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26" name="Freeform 26"/>
          <p:cNvSpPr/>
          <p:nvPr/>
        </p:nvSpPr>
        <p:spPr>
          <a:xfrm>
            <a:off x="1123797" y="5715447"/>
            <a:ext cx="965608" cy="1038437"/>
          </a:xfrm>
          <a:custGeom>
            <a:avLst/>
            <a:gdLst/>
            <a:ahLst/>
            <a:cxnLst/>
            <a:rect l="l" t="t" r="r" b="b"/>
            <a:pathLst>
              <a:path w="965608" h="1038437">
                <a:moveTo>
                  <a:pt x="0" y="0"/>
                </a:moveTo>
                <a:lnTo>
                  <a:pt x="965608" y="0"/>
                </a:lnTo>
                <a:lnTo>
                  <a:pt x="965608" y="1038437"/>
                </a:lnTo>
                <a:lnTo>
                  <a:pt x="0" y="1038437"/>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27" name="Freeform 27"/>
          <p:cNvSpPr/>
          <p:nvPr/>
        </p:nvSpPr>
        <p:spPr>
          <a:xfrm>
            <a:off x="1102579" y="7708747"/>
            <a:ext cx="1008045" cy="649147"/>
          </a:xfrm>
          <a:custGeom>
            <a:avLst/>
            <a:gdLst/>
            <a:ahLst/>
            <a:cxnLst/>
            <a:rect l="l" t="t" r="r" b="b"/>
            <a:pathLst>
              <a:path w="1008045" h="649147">
                <a:moveTo>
                  <a:pt x="0" y="0"/>
                </a:moveTo>
                <a:lnTo>
                  <a:pt x="1008045" y="0"/>
                </a:lnTo>
                <a:lnTo>
                  <a:pt x="1008045" y="649147"/>
                </a:lnTo>
                <a:lnTo>
                  <a:pt x="0" y="649147"/>
                </a:lnTo>
                <a:lnTo>
                  <a:pt x="0" y="0"/>
                </a:lnTo>
                <a:close/>
              </a:path>
            </a:pathLst>
          </a:custGeom>
          <a:blipFill>
            <a:blip>
              <a:extLst>
                <a:ext uri="{96DAC541-7B7A-43D3-8B79-37D633B846F1}">
                  <asvg:svgBlip xmlns:asvg="http://schemas.microsoft.com/office/drawing/2016/SVG/main" r:embed="rId6"/>
                </a:ext>
              </a:extLst>
            </a:blip>
            <a:stretch>
              <a:fillRect/>
            </a:stretch>
          </a:blipFill>
        </p:spPr>
      </p:sp>
      <p:grpSp>
        <p:nvGrpSpPr>
          <p:cNvPr id="28" name="Group 28"/>
          <p:cNvGrpSpPr/>
          <p:nvPr/>
        </p:nvGrpSpPr>
        <p:grpSpPr>
          <a:xfrm>
            <a:off x="9553792" y="3394681"/>
            <a:ext cx="8337260" cy="1372624"/>
            <a:chOff x="0" y="0"/>
            <a:chExt cx="2195822" cy="361514"/>
          </a:xfrm>
        </p:grpSpPr>
        <p:sp>
          <p:nvSpPr>
            <p:cNvPr id="29" name="Freeform 29"/>
            <p:cNvSpPr/>
            <p:nvPr/>
          </p:nvSpPr>
          <p:spPr>
            <a:xfrm>
              <a:off x="0" y="0"/>
              <a:ext cx="2195822" cy="361514"/>
            </a:xfrm>
            <a:custGeom>
              <a:avLst/>
              <a:gdLst/>
              <a:ahLst/>
              <a:cxnLst/>
              <a:rect l="l" t="t" r="r" b="b"/>
              <a:pathLst>
                <a:path w="2195822" h="361514">
                  <a:moveTo>
                    <a:pt x="0" y="0"/>
                  </a:moveTo>
                  <a:lnTo>
                    <a:pt x="2195822" y="0"/>
                  </a:lnTo>
                  <a:lnTo>
                    <a:pt x="2195822" y="361514"/>
                  </a:lnTo>
                  <a:lnTo>
                    <a:pt x="0" y="361514"/>
                  </a:lnTo>
                  <a:close/>
                </a:path>
              </a:pathLst>
            </a:custGeom>
            <a:solidFill>
              <a:srgbClr val="1800AD"/>
            </a:solidFill>
            <a:ln w="38100" cap="sq">
              <a:solidFill>
                <a:srgbClr val="FF751F"/>
              </a:solidFill>
              <a:prstDash val="solid"/>
              <a:miter/>
            </a:ln>
          </p:spPr>
        </p:sp>
        <p:sp>
          <p:nvSpPr>
            <p:cNvPr id="30" name="TextBox 30"/>
            <p:cNvSpPr txBox="1"/>
            <p:nvPr/>
          </p:nvSpPr>
          <p:spPr>
            <a:xfrm>
              <a:off x="0" y="-47625"/>
              <a:ext cx="2195822" cy="409139"/>
            </a:xfrm>
            <a:prstGeom prst="rect">
              <a:avLst/>
            </a:prstGeom>
          </p:spPr>
          <p:txBody>
            <a:bodyPr lIns="50800" tIns="50800" rIns="50800" bIns="50800" rtlCol="0" anchor="ctr"/>
            <a:lstStyle/>
            <a:p>
              <a:pPr algn="ctr">
                <a:lnSpc>
                  <a:spcPts val="2659"/>
                </a:lnSpc>
              </a:pPr>
              <a:endParaRPr/>
            </a:p>
          </p:txBody>
        </p:sp>
      </p:grpSp>
      <p:grpSp>
        <p:nvGrpSpPr>
          <p:cNvPr id="31" name="Group 31"/>
          <p:cNvGrpSpPr/>
          <p:nvPr/>
        </p:nvGrpSpPr>
        <p:grpSpPr>
          <a:xfrm>
            <a:off x="9547370" y="4957805"/>
            <a:ext cx="8337260" cy="1222119"/>
            <a:chOff x="0" y="0"/>
            <a:chExt cx="2195822" cy="321875"/>
          </a:xfrm>
        </p:grpSpPr>
        <p:sp>
          <p:nvSpPr>
            <p:cNvPr id="32" name="Freeform 32"/>
            <p:cNvSpPr/>
            <p:nvPr/>
          </p:nvSpPr>
          <p:spPr>
            <a:xfrm>
              <a:off x="0" y="0"/>
              <a:ext cx="2195822" cy="321875"/>
            </a:xfrm>
            <a:custGeom>
              <a:avLst/>
              <a:gdLst/>
              <a:ahLst/>
              <a:cxnLst/>
              <a:rect l="l" t="t" r="r" b="b"/>
              <a:pathLst>
                <a:path w="2195822" h="321875">
                  <a:moveTo>
                    <a:pt x="0" y="0"/>
                  </a:moveTo>
                  <a:lnTo>
                    <a:pt x="2195822" y="0"/>
                  </a:lnTo>
                  <a:lnTo>
                    <a:pt x="2195822" y="321875"/>
                  </a:lnTo>
                  <a:lnTo>
                    <a:pt x="0" y="321875"/>
                  </a:lnTo>
                  <a:close/>
                </a:path>
              </a:pathLst>
            </a:custGeom>
            <a:solidFill>
              <a:srgbClr val="1800AD"/>
            </a:solidFill>
            <a:ln w="38100" cap="sq">
              <a:solidFill>
                <a:srgbClr val="FFDE59"/>
              </a:solidFill>
              <a:prstDash val="solid"/>
              <a:miter/>
            </a:ln>
          </p:spPr>
        </p:sp>
        <p:sp>
          <p:nvSpPr>
            <p:cNvPr id="33" name="TextBox 33"/>
            <p:cNvSpPr txBox="1"/>
            <p:nvPr/>
          </p:nvSpPr>
          <p:spPr>
            <a:xfrm>
              <a:off x="0" y="-47625"/>
              <a:ext cx="2195822" cy="369500"/>
            </a:xfrm>
            <a:prstGeom prst="rect">
              <a:avLst/>
            </a:prstGeom>
          </p:spPr>
          <p:txBody>
            <a:bodyPr lIns="50800" tIns="50800" rIns="50800" bIns="50800" rtlCol="0" anchor="ctr"/>
            <a:lstStyle/>
            <a:p>
              <a:pPr algn="ctr">
                <a:lnSpc>
                  <a:spcPts val="2659"/>
                </a:lnSpc>
              </a:pPr>
              <a:endParaRPr/>
            </a:p>
          </p:txBody>
        </p:sp>
      </p:grpSp>
      <p:grpSp>
        <p:nvGrpSpPr>
          <p:cNvPr id="34" name="Group 34"/>
          <p:cNvGrpSpPr/>
          <p:nvPr/>
        </p:nvGrpSpPr>
        <p:grpSpPr>
          <a:xfrm>
            <a:off x="9553792" y="6370424"/>
            <a:ext cx="8337260" cy="1167838"/>
            <a:chOff x="0" y="0"/>
            <a:chExt cx="2195822" cy="307579"/>
          </a:xfrm>
        </p:grpSpPr>
        <p:sp>
          <p:nvSpPr>
            <p:cNvPr id="35" name="Freeform 35"/>
            <p:cNvSpPr/>
            <p:nvPr/>
          </p:nvSpPr>
          <p:spPr>
            <a:xfrm>
              <a:off x="0" y="0"/>
              <a:ext cx="2195822" cy="307579"/>
            </a:xfrm>
            <a:custGeom>
              <a:avLst/>
              <a:gdLst/>
              <a:ahLst/>
              <a:cxnLst/>
              <a:rect l="l" t="t" r="r" b="b"/>
              <a:pathLst>
                <a:path w="2195822" h="307579">
                  <a:moveTo>
                    <a:pt x="0" y="0"/>
                  </a:moveTo>
                  <a:lnTo>
                    <a:pt x="2195822" y="0"/>
                  </a:lnTo>
                  <a:lnTo>
                    <a:pt x="2195822" y="307579"/>
                  </a:lnTo>
                  <a:lnTo>
                    <a:pt x="0" y="307579"/>
                  </a:lnTo>
                  <a:close/>
                </a:path>
              </a:pathLst>
            </a:custGeom>
            <a:solidFill>
              <a:srgbClr val="1800AD"/>
            </a:solidFill>
            <a:ln w="38100" cap="sq">
              <a:solidFill>
                <a:srgbClr val="00BF63"/>
              </a:solidFill>
              <a:prstDash val="solid"/>
              <a:miter/>
            </a:ln>
          </p:spPr>
        </p:sp>
        <p:sp>
          <p:nvSpPr>
            <p:cNvPr id="36" name="TextBox 36"/>
            <p:cNvSpPr txBox="1"/>
            <p:nvPr/>
          </p:nvSpPr>
          <p:spPr>
            <a:xfrm>
              <a:off x="0" y="-47625"/>
              <a:ext cx="2195822" cy="355204"/>
            </a:xfrm>
            <a:prstGeom prst="rect">
              <a:avLst/>
            </a:prstGeom>
          </p:spPr>
          <p:txBody>
            <a:bodyPr lIns="50800" tIns="50800" rIns="50800" bIns="50800" rtlCol="0" anchor="ctr"/>
            <a:lstStyle/>
            <a:p>
              <a:pPr algn="ctr">
                <a:lnSpc>
                  <a:spcPts val="2659"/>
                </a:lnSpc>
              </a:pPr>
              <a:endParaRPr/>
            </a:p>
          </p:txBody>
        </p:sp>
      </p:grpSp>
      <p:sp>
        <p:nvSpPr>
          <p:cNvPr id="37" name="TextBox 37"/>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02 | Rumusan Masalah</a:t>
            </a:r>
          </a:p>
        </p:txBody>
      </p:sp>
      <p:sp>
        <p:nvSpPr>
          <p:cNvPr id="38" name="TextBox 38"/>
          <p:cNvSpPr txBox="1"/>
          <p:nvPr/>
        </p:nvSpPr>
        <p:spPr>
          <a:xfrm>
            <a:off x="1028700" y="1129213"/>
            <a:ext cx="10183956" cy="1072602"/>
          </a:xfrm>
          <a:prstGeom prst="rect">
            <a:avLst/>
          </a:prstGeom>
        </p:spPr>
        <p:txBody>
          <a:bodyPr lIns="0" tIns="0" rIns="0" bIns="0" rtlCol="0" anchor="t">
            <a:spAutoFit/>
          </a:bodyPr>
          <a:lstStyle/>
          <a:p>
            <a:pPr algn="l">
              <a:lnSpc>
                <a:spcPts val="8605"/>
              </a:lnSpc>
              <a:spcBef>
                <a:spcPct val="0"/>
              </a:spcBef>
            </a:pPr>
            <a:r>
              <a:rPr lang="en-US" sz="6146" b="1">
                <a:solidFill>
                  <a:srgbClr val="1800AD"/>
                </a:solidFill>
                <a:latin typeface="Archivo Narrow Bold"/>
                <a:ea typeface="Archivo Narrow Bold"/>
                <a:cs typeface="Archivo Narrow Bold"/>
                <a:sym typeface="Archivo Narrow Bold"/>
              </a:rPr>
              <a:t>Permasalahan Penelitian</a:t>
            </a:r>
          </a:p>
        </p:txBody>
      </p:sp>
      <p:sp>
        <p:nvSpPr>
          <p:cNvPr id="39" name="TextBox 39"/>
          <p:cNvSpPr txBox="1"/>
          <p:nvPr/>
        </p:nvSpPr>
        <p:spPr>
          <a:xfrm>
            <a:off x="952696" y="2709612"/>
            <a:ext cx="7715250" cy="521334"/>
          </a:xfrm>
          <a:prstGeom prst="rect">
            <a:avLst/>
          </a:prstGeom>
        </p:spPr>
        <p:txBody>
          <a:bodyPr lIns="0" tIns="0" rIns="0" bIns="0" rtlCol="0" anchor="t">
            <a:spAutoFit/>
          </a:bodyPr>
          <a:lstStyle/>
          <a:p>
            <a:pPr algn="l">
              <a:lnSpc>
                <a:spcPts val="4340"/>
              </a:lnSpc>
            </a:pPr>
            <a:r>
              <a:rPr lang="en-US" sz="3100" b="1">
                <a:solidFill>
                  <a:srgbClr val="FF751F"/>
                </a:solidFill>
                <a:latin typeface="Canva Sans Bold"/>
                <a:ea typeface="Canva Sans Bold"/>
                <a:cs typeface="Canva Sans Bold"/>
                <a:sym typeface="Canva Sans Bold"/>
              </a:rPr>
              <a:t>Identifikasi Masalah</a:t>
            </a:r>
          </a:p>
        </p:txBody>
      </p:sp>
      <p:sp>
        <p:nvSpPr>
          <p:cNvPr id="40" name="TextBox 40"/>
          <p:cNvSpPr txBox="1"/>
          <p:nvPr/>
        </p:nvSpPr>
        <p:spPr>
          <a:xfrm>
            <a:off x="2276322" y="3566911"/>
            <a:ext cx="6830081" cy="1355723"/>
          </a:xfrm>
          <a:prstGeom prst="rect">
            <a:avLst/>
          </a:prstGeom>
        </p:spPr>
        <p:txBody>
          <a:bodyPr lIns="0" tIns="0" rIns="0" bIns="0" rtlCol="0" anchor="t">
            <a:spAutoFit/>
          </a:bodyPr>
          <a:lstStyle/>
          <a:p>
            <a:pPr algn="just">
              <a:lnSpc>
                <a:spcPts val="2940"/>
              </a:lnSpc>
            </a:pPr>
            <a:r>
              <a:rPr lang="en-US" sz="2100" b="1">
                <a:solidFill>
                  <a:srgbClr val="FFFFFF"/>
                </a:solidFill>
                <a:latin typeface="Canva Sans Bold"/>
                <a:ea typeface="Canva Sans Bold"/>
                <a:cs typeface="Canva Sans Bold"/>
                <a:sym typeface="Canva Sans Bold"/>
              </a:rPr>
              <a:t>Teks terjemahan Al-Qur'an memiliki kompleksitas linguistik tinggi yang menyulitkan pemodelan semantik</a:t>
            </a:r>
          </a:p>
          <a:p>
            <a:pPr algn="just">
              <a:lnSpc>
                <a:spcPts val="1960"/>
              </a:lnSpc>
            </a:pPr>
            <a:endParaRPr lang="en-US" sz="2100" b="1">
              <a:solidFill>
                <a:srgbClr val="FFFFFF"/>
              </a:solidFill>
              <a:latin typeface="Canva Sans Bold"/>
              <a:ea typeface="Canva Sans Bold"/>
              <a:cs typeface="Canva Sans Bold"/>
              <a:sym typeface="Canva Sans Bold"/>
            </a:endParaRPr>
          </a:p>
        </p:txBody>
      </p:sp>
      <p:sp>
        <p:nvSpPr>
          <p:cNvPr id="41" name="TextBox 41"/>
          <p:cNvSpPr txBox="1"/>
          <p:nvPr/>
        </p:nvSpPr>
        <p:spPr>
          <a:xfrm>
            <a:off x="2304897" y="5651412"/>
            <a:ext cx="6830081" cy="984248"/>
          </a:xfrm>
          <a:prstGeom prst="rect">
            <a:avLst/>
          </a:prstGeom>
        </p:spPr>
        <p:txBody>
          <a:bodyPr lIns="0" tIns="0" rIns="0" bIns="0" rtlCol="0" anchor="t">
            <a:spAutoFit/>
          </a:bodyPr>
          <a:lstStyle/>
          <a:p>
            <a:pPr algn="just">
              <a:lnSpc>
                <a:spcPts val="2940"/>
              </a:lnSpc>
            </a:pPr>
            <a:r>
              <a:rPr lang="en-US" sz="2100" b="1">
                <a:solidFill>
                  <a:srgbClr val="FFFFFF"/>
                </a:solidFill>
                <a:latin typeface="Canva Sans Bold"/>
                <a:ea typeface="Canva Sans Bold"/>
                <a:cs typeface="Canva Sans Bold"/>
                <a:sym typeface="Canva Sans Bold"/>
              </a:rPr>
              <a:t>CTM &amp; BERTopic memiliki keterbatasan berbeda: performa, komputasi, dan interpretabilitas</a:t>
            </a:r>
          </a:p>
          <a:p>
            <a:pPr algn="just">
              <a:lnSpc>
                <a:spcPts val="1960"/>
              </a:lnSpc>
            </a:pPr>
            <a:endParaRPr lang="en-US" sz="2100" b="1">
              <a:solidFill>
                <a:srgbClr val="FFFFFF"/>
              </a:solidFill>
              <a:latin typeface="Canva Sans Bold"/>
              <a:ea typeface="Canva Sans Bold"/>
              <a:cs typeface="Canva Sans Bold"/>
              <a:sym typeface="Canva Sans Bold"/>
            </a:endParaRPr>
          </a:p>
        </p:txBody>
      </p:sp>
      <p:sp>
        <p:nvSpPr>
          <p:cNvPr id="42" name="TextBox 42"/>
          <p:cNvSpPr txBox="1"/>
          <p:nvPr/>
        </p:nvSpPr>
        <p:spPr>
          <a:xfrm>
            <a:off x="2247747" y="7670647"/>
            <a:ext cx="6830081" cy="984248"/>
          </a:xfrm>
          <a:prstGeom prst="rect">
            <a:avLst/>
          </a:prstGeom>
        </p:spPr>
        <p:txBody>
          <a:bodyPr lIns="0" tIns="0" rIns="0" bIns="0" rtlCol="0" anchor="t">
            <a:spAutoFit/>
          </a:bodyPr>
          <a:lstStyle/>
          <a:p>
            <a:pPr algn="just">
              <a:lnSpc>
                <a:spcPts val="2940"/>
              </a:lnSpc>
            </a:pPr>
            <a:r>
              <a:rPr lang="en-US" sz="2100" b="1">
                <a:solidFill>
                  <a:srgbClr val="FFFFFF"/>
                </a:solidFill>
                <a:latin typeface="Canva Sans Bold"/>
                <a:ea typeface="Canva Sans Bold"/>
                <a:cs typeface="Canva Sans Bold"/>
                <a:sym typeface="Canva Sans Bold"/>
              </a:rPr>
              <a:t>Belum ada perbandingan komprehensif kedua metode pada korpus teks religius bahasa Indonesia</a:t>
            </a:r>
          </a:p>
          <a:p>
            <a:pPr algn="just">
              <a:lnSpc>
                <a:spcPts val="1960"/>
              </a:lnSpc>
            </a:pPr>
            <a:endParaRPr lang="en-US" sz="2100" b="1">
              <a:solidFill>
                <a:srgbClr val="FFFFFF"/>
              </a:solidFill>
              <a:latin typeface="Canva Sans Bold"/>
              <a:ea typeface="Canva Sans Bold"/>
              <a:cs typeface="Canva Sans Bold"/>
              <a:sym typeface="Canva Sans Bold"/>
            </a:endParaRPr>
          </a:p>
        </p:txBody>
      </p:sp>
      <p:sp>
        <p:nvSpPr>
          <p:cNvPr id="43" name="TextBox 43"/>
          <p:cNvSpPr txBox="1"/>
          <p:nvPr/>
        </p:nvSpPr>
        <p:spPr>
          <a:xfrm>
            <a:off x="9540947" y="2682847"/>
            <a:ext cx="7715250" cy="521334"/>
          </a:xfrm>
          <a:prstGeom prst="rect">
            <a:avLst/>
          </a:prstGeom>
        </p:spPr>
        <p:txBody>
          <a:bodyPr lIns="0" tIns="0" rIns="0" bIns="0" rtlCol="0" anchor="t">
            <a:spAutoFit/>
          </a:bodyPr>
          <a:lstStyle/>
          <a:p>
            <a:pPr algn="l">
              <a:lnSpc>
                <a:spcPts val="4340"/>
              </a:lnSpc>
            </a:pPr>
            <a:r>
              <a:rPr lang="en-US" sz="3100" b="1">
                <a:solidFill>
                  <a:srgbClr val="FF751F"/>
                </a:solidFill>
                <a:latin typeface="Canva Sans Bold"/>
                <a:ea typeface="Canva Sans Bold"/>
                <a:cs typeface="Canva Sans Bold"/>
                <a:sym typeface="Canva Sans Bold"/>
              </a:rPr>
              <a:t>Rumusan Masalah</a:t>
            </a:r>
          </a:p>
        </p:txBody>
      </p:sp>
      <p:sp>
        <p:nvSpPr>
          <p:cNvPr id="44" name="TextBox 44"/>
          <p:cNvSpPr txBox="1"/>
          <p:nvPr/>
        </p:nvSpPr>
        <p:spPr>
          <a:xfrm>
            <a:off x="10893148" y="3709006"/>
            <a:ext cx="6830081" cy="984248"/>
          </a:xfrm>
          <a:prstGeom prst="rect">
            <a:avLst/>
          </a:prstGeom>
        </p:spPr>
        <p:txBody>
          <a:bodyPr lIns="0" tIns="0" rIns="0" bIns="0" rtlCol="0" anchor="t">
            <a:spAutoFit/>
          </a:bodyPr>
          <a:lstStyle/>
          <a:p>
            <a:pPr algn="just">
              <a:lnSpc>
                <a:spcPts val="2940"/>
              </a:lnSpc>
            </a:pPr>
            <a:r>
              <a:rPr lang="en-US" sz="2100" b="1">
                <a:solidFill>
                  <a:srgbClr val="FFFFFF"/>
                </a:solidFill>
                <a:latin typeface="Canva Sans Bold"/>
                <a:ea typeface="Canva Sans Bold"/>
                <a:cs typeface="Canva Sans Bold"/>
                <a:sym typeface="Canva Sans Bold"/>
              </a:rPr>
              <a:t>Bagaimana membangun model CTM &amp; BERTopic untuk teks terjemahan Al-Qur'an?</a:t>
            </a:r>
          </a:p>
          <a:p>
            <a:pPr algn="just">
              <a:lnSpc>
                <a:spcPts val="1960"/>
              </a:lnSpc>
            </a:pPr>
            <a:endParaRPr lang="en-US" sz="2100" b="1">
              <a:solidFill>
                <a:srgbClr val="FFFFFF"/>
              </a:solidFill>
              <a:latin typeface="Canva Sans Bold"/>
              <a:ea typeface="Canva Sans Bold"/>
              <a:cs typeface="Canva Sans Bold"/>
              <a:sym typeface="Canva Sans Bold"/>
            </a:endParaRPr>
          </a:p>
        </p:txBody>
      </p:sp>
      <p:sp>
        <p:nvSpPr>
          <p:cNvPr id="45" name="TextBox 45"/>
          <p:cNvSpPr txBox="1"/>
          <p:nvPr/>
        </p:nvSpPr>
        <p:spPr>
          <a:xfrm>
            <a:off x="10835998" y="5122195"/>
            <a:ext cx="6830081" cy="984248"/>
          </a:xfrm>
          <a:prstGeom prst="rect">
            <a:avLst/>
          </a:prstGeom>
        </p:spPr>
        <p:txBody>
          <a:bodyPr lIns="0" tIns="0" rIns="0" bIns="0" rtlCol="0" anchor="t">
            <a:spAutoFit/>
          </a:bodyPr>
          <a:lstStyle/>
          <a:p>
            <a:pPr algn="just">
              <a:lnSpc>
                <a:spcPts val="2940"/>
              </a:lnSpc>
            </a:pPr>
            <a:r>
              <a:rPr lang="en-US" sz="2100" b="1">
                <a:solidFill>
                  <a:srgbClr val="FFFFFF"/>
                </a:solidFill>
                <a:latin typeface="Canva Sans Bold"/>
                <a:ea typeface="Canva Sans Bold"/>
                <a:cs typeface="Canva Sans Bold"/>
                <a:sym typeface="Canva Sans Bold"/>
              </a:rPr>
              <a:t>Bagaimana mengukur kualitas topik berdasarkan metrik koherensi (C_V, UMass, NPMI)?</a:t>
            </a:r>
          </a:p>
          <a:p>
            <a:pPr algn="just">
              <a:lnSpc>
                <a:spcPts val="1960"/>
              </a:lnSpc>
            </a:pPr>
            <a:endParaRPr lang="en-US" sz="2100" b="1">
              <a:solidFill>
                <a:srgbClr val="FFFFFF"/>
              </a:solidFill>
              <a:latin typeface="Canva Sans Bold"/>
              <a:ea typeface="Canva Sans Bold"/>
              <a:cs typeface="Canva Sans Bold"/>
              <a:sym typeface="Canva Sans Bold"/>
            </a:endParaRPr>
          </a:p>
        </p:txBody>
      </p:sp>
      <p:sp>
        <p:nvSpPr>
          <p:cNvPr id="46" name="TextBox 46"/>
          <p:cNvSpPr txBox="1"/>
          <p:nvPr/>
        </p:nvSpPr>
        <p:spPr>
          <a:xfrm>
            <a:off x="10835998" y="6418049"/>
            <a:ext cx="6830081" cy="984248"/>
          </a:xfrm>
          <a:prstGeom prst="rect">
            <a:avLst/>
          </a:prstGeom>
        </p:spPr>
        <p:txBody>
          <a:bodyPr lIns="0" tIns="0" rIns="0" bIns="0" rtlCol="0" anchor="t">
            <a:spAutoFit/>
          </a:bodyPr>
          <a:lstStyle/>
          <a:p>
            <a:pPr algn="just">
              <a:lnSpc>
                <a:spcPts val="2940"/>
              </a:lnSpc>
            </a:pPr>
            <a:r>
              <a:rPr lang="en-US" sz="2100" b="1">
                <a:solidFill>
                  <a:srgbClr val="FFFFFF"/>
                </a:solidFill>
                <a:latin typeface="Canva Sans Bold"/>
                <a:ea typeface="Canva Sans Bold"/>
                <a:cs typeface="Canva Sans Bold"/>
                <a:sym typeface="Canva Sans Bold"/>
              </a:rPr>
              <a:t>Bagaimana menginterpretasikan &amp; mengelompokkan tema dari kedua metode?</a:t>
            </a:r>
          </a:p>
          <a:p>
            <a:pPr algn="just">
              <a:lnSpc>
                <a:spcPts val="1960"/>
              </a:lnSpc>
            </a:pPr>
            <a:endParaRPr lang="en-US" sz="2100" b="1">
              <a:solidFill>
                <a:srgbClr val="FFFFFF"/>
              </a:solidFill>
              <a:latin typeface="Canva Sans Bold"/>
              <a:ea typeface="Canva Sans Bold"/>
              <a:cs typeface="Canva Sans Bold"/>
              <a:sym typeface="Canva Sans Bold"/>
            </a:endParaRPr>
          </a:p>
        </p:txBody>
      </p:sp>
      <p:sp>
        <p:nvSpPr>
          <p:cNvPr id="47" name="TextBox 47"/>
          <p:cNvSpPr txBox="1"/>
          <p:nvPr/>
        </p:nvSpPr>
        <p:spPr>
          <a:xfrm>
            <a:off x="9970938" y="3481186"/>
            <a:ext cx="447829" cy="1138591"/>
          </a:xfrm>
          <a:prstGeom prst="rect">
            <a:avLst/>
          </a:prstGeom>
        </p:spPr>
        <p:txBody>
          <a:bodyPr lIns="0" tIns="0" rIns="0" bIns="0" rtlCol="0" anchor="t">
            <a:spAutoFit/>
          </a:bodyPr>
          <a:lstStyle/>
          <a:p>
            <a:pPr algn="ctr">
              <a:lnSpc>
                <a:spcPts val="9368"/>
              </a:lnSpc>
            </a:pPr>
            <a:r>
              <a:rPr lang="en-US" sz="6691" b="1">
                <a:solidFill>
                  <a:srgbClr val="FF751F"/>
                </a:solidFill>
                <a:latin typeface="Canva Sans Bold"/>
                <a:ea typeface="Canva Sans Bold"/>
                <a:cs typeface="Canva Sans Bold"/>
                <a:sym typeface="Canva Sans Bold"/>
              </a:rPr>
              <a:t>1</a:t>
            </a:r>
          </a:p>
        </p:txBody>
      </p:sp>
      <p:sp>
        <p:nvSpPr>
          <p:cNvPr id="48" name="TextBox 48"/>
          <p:cNvSpPr txBox="1"/>
          <p:nvPr/>
        </p:nvSpPr>
        <p:spPr>
          <a:xfrm>
            <a:off x="9945217" y="4833980"/>
            <a:ext cx="473550" cy="1138591"/>
          </a:xfrm>
          <a:prstGeom prst="rect">
            <a:avLst/>
          </a:prstGeom>
        </p:spPr>
        <p:txBody>
          <a:bodyPr lIns="0" tIns="0" rIns="0" bIns="0" rtlCol="0" anchor="t">
            <a:spAutoFit/>
          </a:bodyPr>
          <a:lstStyle/>
          <a:p>
            <a:pPr algn="ctr">
              <a:lnSpc>
                <a:spcPts val="9368"/>
              </a:lnSpc>
            </a:pPr>
            <a:r>
              <a:rPr lang="en-US" sz="6691" b="1">
                <a:solidFill>
                  <a:srgbClr val="FF751F"/>
                </a:solidFill>
                <a:latin typeface="Canva Sans Bold"/>
                <a:ea typeface="Canva Sans Bold"/>
                <a:cs typeface="Canva Sans Bold"/>
                <a:sym typeface="Canva Sans Bold"/>
              </a:rPr>
              <a:t>2</a:t>
            </a:r>
          </a:p>
        </p:txBody>
      </p:sp>
      <p:sp>
        <p:nvSpPr>
          <p:cNvPr id="49" name="TextBox 49"/>
          <p:cNvSpPr txBox="1"/>
          <p:nvPr/>
        </p:nvSpPr>
        <p:spPr>
          <a:xfrm>
            <a:off x="9956649" y="6246599"/>
            <a:ext cx="502129" cy="1138591"/>
          </a:xfrm>
          <a:prstGeom prst="rect">
            <a:avLst/>
          </a:prstGeom>
        </p:spPr>
        <p:txBody>
          <a:bodyPr lIns="0" tIns="0" rIns="0" bIns="0" rtlCol="0" anchor="t">
            <a:spAutoFit/>
          </a:bodyPr>
          <a:lstStyle/>
          <a:p>
            <a:pPr algn="ctr">
              <a:lnSpc>
                <a:spcPts val="9368"/>
              </a:lnSpc>
            </a:pPr>
            <a:r>
              <a:rPr lang="en-US" sz="6691" b="1">
                <a:solidFill>
                  <a:srgbClr val="FF751F"/>
                </a:solidFill>
                <a:latin typeface="Canva Sans Bold"/>
                <a:ea typeface="Canva Sans Bold"/>
                <a:cs typeface="Canva Sans Bold"/>
                <a:sym typeface="Canva Sans Bold"/>
              </a:rPr>
              <a:t>3</a:t>
            </a:r>
          </a:p>
        </p:txBody>
      </p:sp>
      <p:grpSp>
        <p:nvGrpSpPr>
          <p:cNvPr id="50" name="Group 50"/>
          <p:cNvGrpSpPr/>
          <p:nvPr/>
        </p:nvGrpSpPr>
        <p:grpSpPr>
          <a:xfrm>
            <a:off x="9553792" y="7662087"/>
            <a:ext cx="8337260" cy="1167838"/>
            <a:chOff x="0" y="0"/>
            <a:chExt cx="2195822" cy="307579"/>
          </a:xfrm>
        </p:grpSpPr>
        <p:sp>
          <p:nvSpPr>
            <p:cNvPr id="51" name="Freeform 51"/>
            <p:cNvSpPr/>
            <p:nvPr/>
          </p:nvSpPr>
          <p:spPr>
            <a:xfrm>
              <a:off x="0" y="0"/>
              <a:ext cx="2195822" cy="307579"/>
            </a:xfrm>
            <a:custGeom>
              <a:avLst/>
              <a:gdLst/>
              <a:ahLst/>
              <a:cxnLst/>
              <a:rect l="l" t="t" r="r" b="b"/>
              <a:pathLst>
                <a:path w="2195822" h="307579">
                  <a:moveTo>
                    <a:pt x="0" y="0"/>
                  </a:moveTo>
                  <a:lnTo>
                    <a:pt x="2195822" y="0"/>
                  </a:lnTo>
                  <a:lnTo>
                    <a:pt x="2195822" y="307579"/>
                  </a:lnTo>
                  <a:lnTo>
                    <a:pt x="0" y="307579"/>
                  </a:lnTo>
                  <a:close/>
                </a:path>
              </a:pathLst>
            </a:custGeom>
            <a:solidFill>
              <a:srgbClr val="1800AD"/>
            </a:solidFill>
            <a:ln w="38100" cap="sq">
              <a:solidFill>
                <a:srgbClr val="CF4119"/>
              </a:solidFill>
              <a:prstDash val="solid"/>
              <a:miter/>
            </a:ln>
          </p:spPr>
        </p:sp>
        <p:sp>
          <p:nvSpPr>
            <p:cNvPr id="52" name="TextBox 52"/>
            <p:cNvSpPr txBox="1"/>
            <p:nvPr/>
          </p:nvSpPr>
          <p:spPr>
            <a:xfrm>
              <a:off x="0" y="-47625"/>
              <a:ext cx="2195822" cy="355204"/>
            </a:xfrm>
            <a:prstGeom prst="rect">
              <a:avLst/>
            </a:prstGeom>
          </p:spPr>
          <p:txBody>
            <a:bodyPr lIns="50800" tIns="50800" rIns="50800" bIns="50800" rtlCol="0" anchor="ctr"/>
            <a:lstStyle/>
            <a:p>
              <a:pPr algn="ctr">
                <a:lnSpc>
                  <a:spcPts val="2659"/>
                </a:lnSpc>
              </a:pPr>
              <a:endParaRPr/>
            </a:p>
          </p:txBody>
        </p:sp>
      </p:grpSp>
      <p:sp>
        <p:nvSpPr>
          <p:cNvPr id="53" name="TextBox 53"/>
          <p:cNvSpPr txBox="1"/>
          <p:nvPr/>
        </p:nvSpPr>
        <p:spPr>
          <a:xfrm>
            <a:off x="9903344" y="7584922"/>
            <a:ext cx="528717" cy="1138591"/>
          </a:xfrm>
          <a:prstGeom prst="rect">
            <a:avLst/>
          </a:prstGeom>
        </p:spPr>
        <p:txBody>
          <a:bodyPr lIns="0" tIns="0" rIns="0" bIns="0" rtlCol="0" anchor="t">
            <a:spAutoFit/>
          </a:bodyPr>
          <a:lstStyle/>
          <a:p>
            <a:pPr algn="ctr">
              <a:lnSpc>
                <a:spcPts val="9368"/>
              </a:lnSpc>
            </a:pPr>
            <a:r>
              <a:rPr lang="en-US" sz="6691" b="1">
                <a:solidFill>
                  <a:srgbClr val="FF751F"/>
                </a:solidFill>
                <a:latin typeface="Canva Sans Bold"/>
                <a:ea typeface="Canva Sans Bold"/>
                <a:cs typeface="Canva Sans Bold"/>
                <a:sym typeface="Canva Sans Bold"/>
              </a:rPr>
              <a:t>4</a:t>
            </a:r>
          </a:p>
        </p:txBody>
      </p:sp>
      <p:sp>
        <p:nvSpPr>
          <p:cNvPr id="54" name="TextBox 54"/>
          <p:cNvSpPr txBox="1"/>
          <p:nvPr/>
        </p:nvSpPr>
        <p:spPr>
          <a:xfrm>
            <a:off x="10835998" y="7766862"/>
            <a:ext cx="6830081" cy="984248"/>
          </a:xfrm>
          <a:prstGeom prst="rect">
            <a:avLst/>
          </a:prstGeom>
        </p:spPr>
        <p:txBody>
          <a:bodyPr lIns="0" tIns="0" rIns="0" bIns="0" rtlCol="0" anchor="t">
            <a:spAutoFit/>
          </a:bodyPr>
          <a:lstStyle/>
          <a:p>
            <a:pPr algn="just">
              <a:lnSpc>
                <a:spcPts val="2940"/>
              </a:lnSpc>
            </a:pPr>
            <a:r>
              <a:rPr lang="en-US" sz="2100" b="1">
                <a:solidFill>
                  <a:srgbClr val="FFFFFF"/>
                </a:solidFill>
                <a:latin typeface="Canva Sans Bold"/>
                <a:ea typeface="Canva Sans Bold"/>
                <a:cs typeface="Canva Sans Bold"/>
                <a:sym typeface="Canva Sans Bold"/>
              </a:rPr>
              <a:t>Apa tema utama yang terbentuk dari hasil kedua model pada terjemahan Al-Qur'an?</a:t>
            </a:r>
          </a:p>
          <a:p>
            <a:pPr algn="just">
              <a:lnSpc>
                <a:spcPts val="1960"/>
              </a:lnSpc>
            </a:pPr>
            <a:endParaRPr lang="en-US" sz="2100" b="1">
              <a:solidFill>
                <a:srgbClr val="FFFFFF"/>
              </a:solidFill>
              <a:latin typeface="Canva Sans Bold"/>
              <a:ea typeface="Canva Sans Bold"/>
              <a:cs typeface="Canva Sans Bold"/>
              <a:sym typeface="Canva Sans Bo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9553792" y="5920701"/>
            <a:ext cx="8337260" cy="1077000"/>
            <a:chOff x="0" y="0"/>
            <a:chExt cx="2195822" cy="283654"/>
          </a:xfrm>
        </p:grpSpPr>
        <p:sp>
          <p:nvSpPr>
            <p:cNvPr id="3" name="Freeform 3"/>
            <p:cNvSpPr/>
            <p:nvPr/>
          </p:nvSpPr>
          <p:spPr>
            <a:xfrm>
              <a:off x="0" y="0"/>
              <a:ext cx="2195822" cy="283654"/>
            </a:xfrm>
            <a:custGeom>
              <a:avLst/>
              <a:gdLst/>
              <a:ahLst/>
              <a:cxnLst/>
              <a:rect l="l" t="t" r="r" b="b"/>
              <a:pathLst>
                <a:path w="2195822" h="283654">
                  <a:moveTo>
                    <a:pt x="0" y="0"/>
                  </a:moveTo>
                  <a:lnTo>
                    <a:pt x="2195822" y="0"/>
                  </a:lnTo>
                  <a:lnTo>
                    <a:pt x="2195822" y="283654"/>
                  </a:lnTo>
                  <a:lnTo>
                    <a:pt x="0" y="283654"/>
                  </a:lnTo>
                  <a:close/>
                </a:path>
              </a:pathLst>
            </a:custGeom>
            <a:solidFill>
              <a:srgbClr val="081F8C"/>
            </a:solidFill>
            <a:ln w="38100" cap="sq">
              <a:solidFill>
                <a:srgbClr val="FF751F"/>
              </a:solidFill>
              <a:prstDash val="solid"/>
              <a:miter/>
            </a:ln>
          </p:spPr>
        </p:sp>
        <p:sp>
          <p:nvSpPr>
            <p:cNvPr id="4" name="TextBox 4"/>
            <p:cNvSpPr txBox="1"/>
            <p:nvPr/>
          </p:nvSpPr>
          <p:spPr>
            <a:xfrm>
              <a:off x="0" y="-47625"/>
              <a:ext cx="2195822" cy="331279"/>
            </a:xfrm>
            <a:prstGeom prst="rect">
              <a:avLst/>
            </a:prstGeom>
          </p:spPr>
          <p:txBody>
            <a:bodyPr lIns="50800" tIns="50800" rIns="50800" bIns="50800" rtlCol="0" anchor="ctr"/>
            <a:lstStyle/>
            <a:p>
              <a:pPr algn="ctr">
                <a:lnSpc>
                  <a:spcPts val="2659"/>
                </a:lnSpc>
              </a:pPr>
              <a:endParaRPr/>
            </a:p>
          </p:txBody>
        </p:sp>
      </p:grpSp>
      <p:sp>
        <p:nvSpPr>
          <p:cNvPr id="5" name="Freeform 5"/>
          <p:cNvSpPr/>
          <p:nvPr/>
        </p:nvSpPr>
        <p:spPr>
          <a:xfrm rot="5033559" flipV="1">
            <a:off x="3743699" y="-3979526"/>
            <a:ext cx="9848495" cy="18613993"/>
          </a:xfrm>
          <a:custGeom>
            <a:avLst/>
            <a:gdLst/>
            <a:ahLst/>
            <a:cxnLst/>
            <a:rect l="l" t="t" r="r" b="b"/>
            <a:pathLst>
              <a:path w="9848495" h="18613993">
                <a:moveTo>
                  <a:pt x="0" y="18613993"/>
                </a:moveTo>
                <a:lnTo>
                  <a:pt x="9848495" y="18613993"/>
                </a:lnTo>
                <a:lnTo>
                  <a:pt x="9848495" y="0"/>
                </a:lnTo>
                <a:lnTo>
                  <a:pt x="0" y="0"/>
                </a:lnTo>
                <a:lnTo>
                  <a:pt x="0" y="18613993"/>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6" name="Group 6"/>
          <p:cNvGrpSpPr/>
          <p:nvPr/>
        </p:nvGrpSpPr>
        <p:grpSpPr>
          <a:xfrm>
            <a:off x="0" y="9708804"/>
            <a:ext cx="9144000" cy="560871"/>
            <a:chOff x="0" y="0"/>
            <a:chExt cx="2408296" cy="147719"/>
          </a:xfrm>
        </p:grpSpPr>
        <p:sp>
          <p:nvSpPr>
            <p:cNvPr id="7" name="Freeform 7"/>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8" name="TextBox 8"/>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10287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12" name="Group 12"/>
          <p:cNvGrpSpPr/>
          <p:nvPr/>
        </p:nvGrpSpPr>
        <p:grpSpPr>
          <a:xfrm>
            <a:off x="9144000" y="2479309"/>
            <a:ext cx="8115300" cy="137058"/>
            <a:chOff x="0" y="0"/>
            <a:chExt cx="2137363" cy="36097"/>
          </a:xfrm>
        </p:grpSpPr>
        <p:sp>
          <p:nvSpPr>
            <p:cNvPr id="13" name="Freeform 13"/>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4" name="TextBox 14"/>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5" name="Freeform 15"/>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6" name="Group 16"/>
          <p:cNvGrpSpPr/>
          <p:nvPr/>
        </p:nvGrpSpPr>
        <p:grpSpPr>
          <a:xfrm>
            <a:off x="9144000" y="9708804"/>
            <a:ext cx="9144000" cy="560871"/>
            <a:chOff x="0" y="0"/>
            <a:chExt cx="2408296" cy="147719"/>
          </a:xfrm>
        </p:grpSpPr>
        <p:sp>
          <p:nvSpPr>
            <p:cNvPr id="17" name="Freeform 17"/>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8" name="TextBox 18"/>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9" name="Group 19"/>
          <p:cNvGrpSpPr/>
          <p:nvPr/>
        </p:nvGrpSpPr>
        <p:grpSpPr>
          <a:xfrm>
            <a:off x="965541" y="3421446"/>
            <a:ext cx="8337260" cy="1670231"/>
            <a:chOff x="0" y="0"/>
            <a:chExt cx="2195822" cy="439896"/>
          </a:xfrm>
        </p:grpSpPr>
        <p:sp>
          <p:nvSpPr>
            <p:cNvPr id="20" name="Freeform 20"/>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FF751F"/>
              </a:solidFill>
              <a:prstDash val="solid"/>
              <a:miter/>
            </a:ln>
          </p:spPr>
        </p:sp>
        <p:sp>
          <p:nvSpPr>
            <p:cNvPr id="21" name="TextBox 21"/>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grpSp>
        <p:nvGrpSpPr>
          <p:cNvPr id="22" name="Group 22"/>
          <p:cNvGrpSpPr/>
          <p:nvPr/>
        </p:nvGrpSpPr>
        <p:grpSpPr>
          <a:xfrm>
            <a:off x="962221" y="5327470"/>
            <a:ext cx="8337260" cy="1670231"/>
            <a:chOff x="0" y="0"/>
            <a:chExt cx="2195822" cy="439896"/>
          </a:xfrm>
        </p:grpSpPr>
        <p:sp>
          <p:nvSpPr>
            <p:cNvPr id="23" name="Freeform 23"/>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FFDE59"/>
              </a:solidFill>
              <a:prstDash val="solid"/>
              <a:miter/>
            </a:ln>
          </p:spPr>
        </p:sp>
        <p:sp>
          <p:nvSpPr>
            <p:cNvPr id="24" name="TextBox 24"/>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grpSp>
        <p:nvGrpSpPr>
          <p:cNvPr id="25" name="Group 25"/>
          <p:cNvGrpSpPr/>
          <p:nvPr/>
        </p:nvGrpSpPr>
        <p:grpSpPr>
          <a:xfrm>
            <a:off x="1028700" y="7292919"/>
            <a:ext cx="8337260" cy="1670231"/>
            <a:chOff x="0" y="0"/>
            <a:chExt cx="2195822" cy="439896"/>
          </a:xfrm>
        </p:grpSpPr>
        <p:sp>
          <p:nvSpPr>
            <p:cNvPr id="26" name="Freeform 26"/>
            <p:cNvSpPr/>
            <p:nvPr/>
          </p:nvSpPr>
          <p:spPr>
            <a:xfrm>
              <a:off x="0" y="0"/>
              <a:ext cx="2195822" cy="439896"/>
            </a:xfrm>
            <a:custGeom>
              <a:avLst/>
              <a:gdLst/>
              <a:ahLst/>
              <a:cxnLst/>
              <a:rect l="l" t="t" r="r" b="b"/>
              <a:pathLst>
                <a:path w="2195822" h="439896">
                  <a:moveTo>
                    <a:pt x="0" y="0"/>
                  </a:moveTo>
                  <a:lnTo>
                    <a:pt x="2195822" y="0"/>
                  </a:lnTo>
                  <a:lnTo>
                    <a:pt x="2195822" y="439896"/>
                  </a:lnTo>
                  <a:lnTo>
                    <a:pt x="0" y="439896"/>
                  </a:lnTo>
                  <a:close/>
                </a:path>
              </a:pathLst>
            </a:custGeom>
            <a:solidFill>
              <a:srgbClr val="1800AD"/>
            </a:solidFill>
            <a:ln w="38100" cap="sq">
              <a:solidFill>
                <a:srgbClr val="00BF63"/>
              </a:solidFill>
              <a:prstDash val="solid"/>
              <a:miter/>
            </a:ln>
          </p:spPr>
        </p:sp>
        <p:sp>
          <p:nvSpPr>
            <p:cNvPr id="27" name="TextBox 27"/>
            <p:cNvSpPr txBox="1"/>
            <p:nvPr/>
          </p:nvSpPr>
          <p:spPr>
            <a:xfrm>
              <a:off x="0" y="-47625"/>
              <a:ext cx="2195822" cy="487521"/>
            </a:xfrm>
            <a:prstGeom prst="rect">
              <a:avLst/>
            </a:prstGeom>
          </p:spPr>
          <p:txBody>
            <a:bodyPr lIns="50800" tIns="50800" rIns="50800" bIns="50800" rtlCol="0" anchor="ctr"/>
            <a:lstStyle/>
            <a:p>
              <a:pPr algn="ctr">
                <a:lnSpc>
                  <a:spcPts val="2659"/>
                </a:lnSpc>
              </a:pPr>
              <a:endParaRPr/>
            </a:p>
          </p:txBody>
        </p:sp>
      </p:grpSp>
      <p:grpSp>
        <p:nvGrpSpPr>
          <p:cNvPr id="28" name="Group 28"/>
          <p:cNvGrpSpPr/>
          <p:nvPr/>
        </p:nvGrpSpPr>
        <p:grpSpPr>
          <a:xfrm>
            <a:off x="9553792" y="3394681"/>
            <a:ext cx="8337260" cy="601099"/>
            <a:chOff x="0" y="0"/>
            <a:chExt cx="2195822" cy="158314"/>
          </a:xfrm>
        </p:grpSpPr>
        <p:sp>
          <p:nvSpPr>
            <p:cNvPr id="29" name="Freeform 29"/>
            <p:cNvSpPr/>
            <p:nvPr/>
          </p:nvSpPr>
          <p:spPr>
            <a:xfrm>
              <a:off x="0" y="0"/>
              <a:ext cx="2195822" cy="158314"/>
            </a:xfrm>
            <a:custGeom>
              <a:avLst/>
              <a:gdLst/>
              <a:ahLst/>
              <a:cxnLst/>
              <a:rect l="l" t="t" r="r" b="b"/>
              <a:pathLst>
                <a:path w="2195822" h="158314">
                  <a:moveTo>
                    <a:pt x="0" y="0"/>
                  </a:moveTo>
                  <a:lnTo>
                    <a:pt x="2195822" y="0"/>
                  </a:lnTo>
                  <a:lnTo>
                    <a:pt x="2195822" y="158314"/>
                  </a:lnTo>
                  <a:lnTo>
                    <a:pt x="0" y="158314"/>
                  </a:lnTo>
                  <a:close/>
                </a:path>
              </a:pathLst>
            </a:custGeom>
            <a:solidFill>
              <a:srgbClr val="1800AD"/>
            </a:solidFill>
            <a:ln w="38100" cap="sq">
              <a:solidFill>
                <a:srgbClr val="FF751F"/>
              </a:solidFill>
              <a:prstDash val="solid"/>
              <a:miter/>
            </a:ln>
          </p:spPr>
        </p:sp>
        <p:sp>
          <p:nvSpPr>
            <p:cNvPr id="30" name="TextBox 30"/>
            <p:cNvSpPr txBox="1"/>
            <p:nvPr/>
          </p:nvSpPr>
          <p:spPr>
            <a:xfrm>
              <a:off x="0" y="-47625"/>
              <a:ext cx="2195822" cy="205939"/>
            </a:xfrm>
            <a:prstGeom prst="rect">
              <a:avLst/>
            </a:prstGeom>
          </p:spPr>
          <p:txBody>
            <a:bodyPr lIns="50800" tIns="50800" rIns="50800" bIns="50800" rtlCol="0" anchor="ctr"/>
            <a:lstStyle/>
            <a:p>
              <a:pPr algn="ctr">
                <a:lnSpc>
                  <a:spcPts val="2659"/>
                </a:lnSpc>
              </a:pPr>
              <a:endParaRPr/>
            </a:p>
          </p:txBody>
        </p:sp>
      </p:grpSp>
      <p:sp>
        <p:nvSpPr>
          <p:cNvPr id="31" name="Freeform 31"/>
          <p:cNvSpPr/>
          <p:nvPr/>
        </p:nvSpPr>
        <p:spPr>
          <a:xfrm>
            <a:off x="1123797" y="3669196"/>
            <a:ext cx="905799" cy="905799"/>
          </a:xfrm>
          <a:custGeom>
            <a:avLst/>
            <a:gdLst/>
            <a:ahLst/>
            <a:cxnLst/>
            <a:rect l="l" t="t" r="r" b="b"/>
            <a:pathLst>
              <a:path w="905799" h="905799">
                <a:moveTo>
                  <a:pt x="0" y="0"/>
                </a:moveTo>
                <a:lnTo>
                  <a:pt x="905800" y="0"/>
                </a:lnTo>
                <a:lnTo>
                  <a:pt x="905800" y="905799"/>
                </a:lnTo>
                <a:lnTo>
                  <a:pt x="0" y="905799"/>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32" name="Freeform 32"/>
          <p:cNvSpPr/>
          <p:nvPr/>
        </p:nvSpPr>
        <p:spPr>
          <a:xfrm>
            <a:off x="1117793" y="5440219"/>
            <a:ext cx="911804" cy="1107047"/>
          </a:xfrm>
          <a:custGeom>
            <a:avLst/>
            <a:gdLst/>
            <a:ahLst/>
            <a:cxnLst/>
            <a:rect l="l" t="t" r="r" b="b"/>
            <a:pathLst>
              <a:path w="911804" h="1107047">
                <a:moveTo>
                  <a:pt x="0" y="0"/>
                </a:moveTo>
                <a:lnTo>
                  <a:pt x="911804" y="0"/>
                </a:lnTo>
                <a:lnTo>
                  <a:pt x="911804" y="1107046"/>
                </a:lnTo>
                <a:lnTo>
                  <a:pt x="0" y="1107046"/>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33" name="Freeform 33"/>
          <p:cNvSpPr/>
          <p:nvPr/>
        </p:nvSpPr>
        <p:spPr>
          <a:xfrm>
            <a:off x="1238008" y="7538262"/>
            <a:ext cx="803616" cy="803616"/>
          </a:xfrm>
          <a:custGeom>
            <a:avLst/>
            <a:gdLst/>
            <a:ahLst/>
            <a:cxnLst/>
            <a:rect l="l" t="t" r="r" b="b"/>
            <a:pathLst>
              <a:path w="803616" h="803616">
                <a:moveTo>
                  <a:pt x="0" y="0"/>
                </a:moveTo>
                <a:lnTo>
                  <a:pt x="803616" y="0"/>
                </a:lnTo>
                <a:lnTo>
                  <a:pt x="803616" y="803616"/>
                </a:lnTo>
                <a:lnTo>
                  <a:pt x="0" y="803616"/>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34" name="TextBox 34"/>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03 | Tujuan dan Manfaat</a:t>
            </a:r>
          </a:p>
        </p:txBody>
      </p:sp>
      <p:sp>
        <p:nvSpPr>
          <p:cNvPr id="35" name="TextBox 35"/>
          <p:cNvSpPr txBox="1"/>
          <p:nvPr/>
        </p:nvSpPr>
        <p:spPr>
          <a:xfrm>
            <a:off x="1028700" y="1129213"/>
            <a:ext cx="10183956" cy="2158452"/>
          </a:xfrm>
          <a:prstGeom prst="rect">
            <a:avLst/>
          </a:prstGeom>
        </p:spPr>
        <p:txBody>
          <a:bodyPr lIns="0" tIns="0" rIns="0" bIns="0" rtlCol="0" anchor="t">
            <a:spAutoFit/>
          </a:bodyPr>
          <a:lstStyle/>
          <a:p>
            <a:pPr algn="l">
              <a:lnSpc>
                <a:spcPts val="8605"/>
              </a:lnSpc>
            </a:pPr>
            <a:r>
              <a:rPr lang="en-US" sz="6146" b="1">
                <a:solidFill>
                  <a:srgbClr val="1800AD"/>
                </a:solidFill>
                <a:latin typeface="Archivo Narrow Bold"/>
                <a:ea typeface="Archivo Narrow Bold"/>
                <a:cs typeface="Archivo Narrow Bold"/>
                <a:sym typeface="Archivo Narrow Bold"/>
              </a:rPr>
              <a:t>Research Goals &amp; Kontribusi</a:t>
            </a:r>
          </a:p>
          <a:p>
            <a:pPr algn="l">
              <a:lnSpc>
                <a:spcPts val="8605"/>
              </a:lnSpc>
              <a:spcBef>
                <a:spcPct val="0"/>
              </a:spcBef>
            </a:pPr>
            <a:endParaRPr lang="en-US" sz="6146" b="1">
              <a:solidFill>
                <a:srgbClr val="1800AD"/>
              </a:solidFill>
              <a:latin typeface="Archivo Narrow Bold"/>
              <a:ea typeface="Archivo Narrow Bold"/>
              <a:cs typeface="Archivo Narrow Bold"/>
              <a:sym typeface="Archivo Narrow Bold"/>
            </a:endParaRPr>
          </a:p>
        </p:txBody>
      </p:sp>
      <p:sp>
        <p:nvSpPr>
          <p:cNvPr id="36" name="TextBox 36"/>
          <p:cNvSpPr txBox="1"/>
          <p:nvPr/>
        </p:nvSpPr>
        <p:spPr>
          <a:xfrm>
            <a:off x="952696" y="2709612"/>
            <a:ext cx="7715250" cy="521334"/>
          </a:xfrm>
          <a:prstGeom prst="rect">
            <a:avLst/>
          </a:prstGeom>
        </p:spPr>
        <p:txBody>
          <a:bodyPr lIns="0" tIns="0" rIns="0" bIns="0" rtlCol="0" anchor="t">
            <a:spAutoFit/>
          </a:bodyPr>
          <a:lstStyle/>
          <a:p>
            <a:pPr algn="l">
              <a:lnSpc>
                <a:spcPts val="4340"/>
              </a:lnSpc>
            </a:pPr>
            <a:r>
              <a:rPr lang="en-US" sz="3100" b="1">
                <a:solidFill>
                  <a:srgbClr val="FF751F"/>
                </a:solidFill>
                <a:latin typeface="Canva Sans Bold"/>
                <a:ea typeface="Canva Sans Bold"/>
                <a:cs typeface="Canva Sans Bold"/>
                <a:sym typeface="Canva Sans Bold"/>
              </a:rPr>
              <a:t>Tujuan Penelitian</a:t>
            </a:r>
          </a:p>
        </p:txBody>
      </p:sp>
      <p:sp>
        <p:nvSpPr>
          <p:cNvPr id="37" name="TextBox 37"/>
          <p:cNvSpPr txBox="1"/>
          <p:nvPr/>
        </p:nvSpPr>
        <p:spPr>
          <a:xfrm>
            <a:off x="2276322" y="3519286"/>
            <a:ext cx="6830081" cy="790573"/>
          </a:xfrm>
          <a:prstGeom prst="rect">
            <a:avLst/>
          </a:prstGeom>
        </p:spPr>
        <p:txBody>
          <a:bodyPr lIns="0" tIns="0" rIns="0" bIns="0" rtlCol="0" anchor="t">
            <a:spAutoFit/>
          </a:bodyPr>
          <a:lstStyle/>
          <a:p>
            <a:pPr algn="just">
              <a:lnSpc>
                <a:spcPts val="3640"/>
              </a:lnSpc>
            </a:pPr>
            <a:r>
              <a:rPr lang="en-US" sz="2600" b="1">
                <a:solidFill>
                  <a:srgbClr val="FFFFFF"/>
                </a:solidFill>
                <a:latin typeface="Canva Sans Bold"/>
                <a:ea typeface="Canva Sans Bold"/>
                <a:cs typeface="Canva Sans Bold"/>
                <a:sym typeface="Canva Sans Bold"/>
              </a:rPr>
              <a:t>Analisis Efektivitas</a:t>
            </a:r>
          </a:p>
          <a:p>
            <a:pPr algn="just">
              <a:lnSpc>
                <a:spcPts val="2660"/>
              </a:lnSpc>
            </a:pPr>
            <a:endParaRPr lang="en-US" sz="2600" b="1">
              <a:solidFill>
                <a:srgbClr val="FFFFFF"/>
              </a:solidFill>
              <a:latin typeface="Canva Sans Bold"/>
              <a:ea typeface="Canva Sans Bold"/>
              <a:cs typeface="Canva Sans Bold"/>
              <a:sym typeface="Canva Sans Bold"/>
            </a:endParaRPr>
          </a:p>
        </p:txBody>
      </p:sp>
      <p:sp>
        <p:nvSpPr>
          <p:cNvPr id="38" name="TextBox 38"/>
          <p:cNvSpPr txBox="1"/>
          <p:nvPr/>
        </p:nvSpPr>
        <p:spPr>
          <a:xfrm>
            <a:off x="9540947" y="2682847"/>
            <a:ext cx="7715250" cy="521334"/>
          </a:xfrm>
          <a:prstGeom prst="rect">
            <a:avLst/>
          </a:prstGeom>
        </p:spPr>
        <p:txBody>
          <a:bodyPr lIns="0" tIns="0" rIns="0" bIns="0" rtlCol="0" anchor="t">
            <a:spAutoFit/>
          </a:bodyPr>
          <a:lstStyle/>
          <a:p>
            <a:pPr algn="l">
              <a:lnSpc>
                <a:spcPts val="4340"/>
              </a:lnSpc>
            </a:pPr>
            <a:r>
              <a:rPr lang="en-US" sz="3100" b="1">
                <a:solidFill>
                  <a:srgbClr val="FF751F"/>
                </a:solidFill>
                <a:latin typeface="Canva Sans Bold"/>
                <a:ea typeface="Canva Sans Bold"/>
                <a:cs typeface="Canva Sans Bold"/>
                <a:sym typeface="Canva Sans Bold"/>
              </a:rPr>
              <a:t>Manfaat Peneletian</a:t>
            </a:r>
          </a:p>
        </p:txBody>
      </p:sp>
      <p:sp>
        <p:nvSpPr>
          <p:cNvPr id="39" name="TextBox 39"/>
          <p:cNvSpPr txBox="1"/>
          <p:nvPr/>
        </p:nvSpPr>
        <p:spPr>
          <a:xfrm>
            <a:off x="2276322" y="4093521"/>
            <a:ext cx="6720162" cy="791844"/>
          </a:xfrm>
          <a:prstGeom prst="rect">
            <a:avLst/>
          </a:prstGeom>
        </p:spPr>
        <p:txBody>
          <a:bodyPr lIns="0" tIns="0" rIns="0" bIns="0" rtlCol="0" anchor="t">
            <a:spAutoFit/>
          </a:bodyPr>
          <a:lstStyle/>
          <a:p>
            <a:pPr algn="l">
              <a:lnSpc>
                <a:spcPts val="2380"/>
              </a:lnSpc>
            </a:pPr>
            <a:r>
              <a:rPr lang="en-US" sz="1700">
                <a:solidFill>
                  <a:srgbClr val="5CE1E6"/>
                </a:solidFill>
                <a:latin typeface="Canva Sans"/>
                <a:ea typeface="Canva Sans"/>
                <a:cs typeface="Canva Sans"/>
                <a:sym typeface="Canva Sans"/>
              </a:rPr>
              <a:t>Menganalisis efektivitas CTM &amp; BERTopic dalam pemodelan topik teks terjemahan Al-Qur'an</a:t>
            </a:r>
          </a:p>
          <a:p>
            <a:pPr algn="l">
              <a:lnSpc>
                <a:spcPts val="1680"/>
              </a:lnSpc>
            </a:pPr>
            <a:endParaRPr lang="en-US" sz="1700">
              <a:solidFill>
                <a:srgbClr val="5CE1E6"/>
              </a:solidFill>
              <a:latin typeface="Canva Sans"/>
              <a:ea typeface="Canva Sans"/>
              <a:cs typeface="Canva Sans"/>
              <a:sym typeface="Canva Sans"/>
            </a:endParaRPr>
          </a:p>
        </p:txBody>
      </p:sp>
      <p:sp>
        <p:nvSpPr>
          <p:cNvPr id="40" name="TextBox 40"/>
          <p:cNvSpPr txBox="1"/>
          <p:nvPr/>
        </p:nvSpPr>
        <p:spPr>
          <a:xfrm>
            <a:off x="2336288" y="5408038"/>
            <a:ext cx="6830081" cy="448308"/>
          </a:xfrm>
          <a:prstGeom prst="rect">
            <a:avLst/>
          </a:prstGeom>
        </p:spPr>
        <p:txBody>
          <a:bodyPr lIns="0" tIns="0" rIns="0" bIns="0" rtlCol="0" anchor="t">
            <a:spAutoFit/>
          </a:bodyPr>
          <a:lstStyle/>
          <a:p>
            <a:pPr algn="just">
              <a:lnSpc>
                <a:spcPts val="3640"/>
              </a:lnSpc>
            </a:pPr>
            <a:r>
              <a:rPr lang="en-US" sz="2600" b="1">
                <a:solidFill>
                  <a:srgbClr val="FFFFFF"/>
                </a:solidFill>
                <a:latin typeface="Canva Sans Bold"/>
                <a:ea typeface="Canva Sans Bold"/>
                <a:cs typeface="Canva Sans Bold"/>
                <a:sym typeface="Canva Sans Bold"/>
              </a:rPr>
              <a:t>Identifikasi Kemampuan</a:t>
            </a:r>
          </a:p>
        </p:txBody>
      </p:sp>
      <p:sp>
        <p:nvSpPr>
          <p:cNvPr id="41" name="TextBox 41"/>
          <p:cNvSpPr txBox="1"/>
          <p:nvPr/>
        </p:nvSpPr>
        <p:spPr>
          <a:xfrm>
            <a:off x="2336288" y="5961186"/>
            <a:ext cx="6720162" cy="791844"/>
          </a:xfrm>
          <a:prstGeom prst="rect">
            <a:avLst/>
          </a:prstGeom>
        </p:spPr>
        <p:txBody>
          <a:bodyPr lIns="0" tIns="0" rIns="0" bIns="0" rtlCol="0" anchor="t">
            <a:spAutoFit/>
          </a:bodyPr>
          <a:lstStyle/>
          <a:p>
            <a:pPr algn="l">
              <a:lnSpc>
                <a:spcPts val="2380"/>
              </a:lnSpc>
            </a:pPr>
            <a:r>
              <a:rPr lang="en-US" sz="1700">
                <a:solidFill>
                  <a:srgbClr val="5CE1E6"/>
                </a:solidFill>
                <a:latin typeface="Canva Sans"/>
                <a:ea typeface="Canva Sans"/>
                <a:cs typeface="Canva Sans"/>
                <a:sym typeface="Canva Sans"/>
              </a:rPr>
              <a:t>Mengidentifikasi kemampuan kedua metode dalam menangkap konteks &amp; tema utama Al-Qur'an</a:t>
            </a:r>
          </a:p>
          <a:p>
            <a:pPr algn="l">
              <a:lnSpc>
                <a:spcPts val="1680"/>
              </a:lnSpc>
            </a:pPr>
            <a:endParaRPr lang="en-US" sz="1700">
              <a:solidFill>
                <a:srgbClr val="5CE1E6"/>
              </a:solidFill>
              <a:latin typeface="Canva Sans"/>
              <a:ea typeface="Canva Sans"/>
              <a:cs typeface="Canva Sans"/>
              <a:sym typeface="Canva Sans"/>
            </a:endParaRPr>
          </a:p>
        </p:txBody>
      </p:sp>
      <p:sp>
        <p:nvSpPr>
          <p:cNvPr id="42" name="TextBox 42"/>
          <p:cNvSpPr txBox="1"/>
          <p:nvPr/>
        </p:nvSpPr>
        <p:spPr>
          <a:xfrm>
            <a:off x="2336288" y="7386009"/>
            <a:ext cx="6830081" cy="448308"/>
          </a:xfrm>
          <a:prstGeom prst="rect">
            <a:avLst/>
          </a:prstGeom>
        </p:spPr>
        <p:txBody>
          <a:bodyPr lIns="0" tIns="0" rIns="0" bIns="0" rtlCol="0" anchor="t">
            <a:spAutoFit/>
          </a:bodyPr>
          <a:lstStyle/>
          <a:p>
            <a:pPr algn="just">
              <a:lnSpc>
                <a:spcPts val="3640"/>
              </a:lnSpc>
            </a:pPr>
            <a:r>
              <a:rPr lang="en-US" sz="2600" b="1">
                <a:solidFill>
                  <a:srgbClr val="FFFFFF"/>
                </a:solidFill>
                <a:latin typeface="Canva Sans Bold"/>
                <a:ea typeface="Canva Sans Bold"/>
                <a:cs typeface="Canva Sans Bold"/>
                <a:sym typeface="Canva Sans Bold"/>
              </a:rPr>
              <a:t>Metode Evaluasi</a:t>
            </a:r>
          </a:p>
        </p:txBody>
      </p:sp>
      <p:sp>
        <p:nvSpPr>
          <p:cNvPr id="43" name="TextBox 43"/>
          <p:cNvSpPr txBox="1"/>
          <p:nvPr/>
        </p:nvSpPr>
        <p:spPr>
          <a:xfrm>
            <a:off x="2336288" y="7931669"/>
            <a:ext cx="6720162" cy="791844"/>
          </a:xfrm>
          <a:prstGeom prst="rect">
            <a:avLst/>
          </a:prstGeom>
        </p:spPr>
        <p:txBody>
          <a:bodyPr lIns="0" tIns="0" rIns="0" bIns="0" rtlCol="0" anchor="t">
            <a:spAutoFit/>
          </a:bodyPr>
          <a:lstStyle/>
          <a:p>
            <a:pPr algn="l">
              <a:lnSpc>
                <a:spcPts val="2380"/>
              </a:lnSpc>
            </a:pPr>
            <a:r>
              <a:rPr lang="en-US" sz="1700">
                <a:solidFill>
                  <a:srgbClr val="5CE1E6"/>
                </a:solidFill>
                <a:latin typeface="Canva Sans"/>
                <a:ea typeface="Canva Sans"/>
                <a:cs typeface="Canva Sans"/>
                <a:sym typeface="Canva Sans"/>
              </a:rPr>
              <a:t>Merumuskan metode evaluasi yang tepat untuk menilai kualitas topik dalam konteks kajian Al-Qur'an</a:t>
            </a:r>
          </a:p>
          <a:p>
            <a:pPr algn="l">
              <a:lnSpc>
                <a:spcPts val="1680"/>
              </a:lnSpc>
            </a:pPr>
            <a:endParaRPr lang="en-US" sz="1700">
              <a:solidFill>
                <a:srgbClr val="5CE1E6"/>
              </a:solidFill>
              <a:latin typeface="Canva Sans"/>
              <a:ea typeface="Canva Sans"/>
              <a:cs typeface="Canva Sans"/>
              <a:sym typeface="Canva Sans"/>
            </a:endParaRPr>
          </a:p>
        </p:txBody>
      </p:sp>
      <p:sp>
        <p:nvSpPr>
          <p:cNvPr id="44" name="TextBox 44"/>
          <p:cNvSpPr txBox="1"/>
          <p:nvPr/>
        </p:nvSpPr>
        <p:spPr>
          <a:xfrm>
            <a:off x="10048345" y="3442501"/>
            <a:ext cx="7836286" cy="448308"/>
          </a:xfrm>
          <a:prstGeom prst="rect">
            <a:avLst/>
          </a:prstGeom>
        </p:spPr>
        <p:txBody>
          <a:bodyPr lIns="0" tIns="0" rIns="0" bIns="0" rtlCol="0" anchor="t">
            <a:spAutoFit/>
          </a:bodyPr>
          <a:lstStyle/>
          <a:p>
            <a:pPr algn="l">
              <a:lnSpc>
                <a:spcPts val="3640"/>
              </a:lnSpc>
            </a:pPr>
            <a:r>
              <a:rPr lang="en-US" sz="2600" b="1">
                <a:solidFill>
                  <a:srgbClr val="FFFFFF"/>
                </a:solidFill>
                <a:latin typeface="Canva Sans Bold"/>
                <a:ea typeface="Canva Sans Bold"/>
                <a:cs typeface="Canva Sans Bold"/>
                <a:sym typeface="Canva Sans Bold"/>
              </a:rPr>
              <a:t>Akademik</a:t>
            </a:r>
          </a:p>
        </p:txBody>
      </p:sp>
      <p:grpSp>
        <p:nvGrpSpPr>
          <p:cNvPr id="45" name="Group 45"/>
          <p:cNvGrpSpPr/>
          <p:nvPr/>
        </p:nvGrpSpPr>
        <p:grpSpPr>
          <a:xfrm>
            <a:off x="9553792" y="3973896"/>
            <a:ext cx="8337260" cy="1107776"/>
            <a:chOff x="0" y="0"/>
            <a:chExt cx="2195822" cy="291760"/>
          </a:xfrm>
        </p:grpSpPr>
        <p:sp>
          <p:nvSpPr>
            <p:cNvPr id="46" name="Freeform 46"/>
            <p:cNvSpPr/>
            <p:nvPr/>
          </p:nvSpPr>
          <p:spPr>
            <a:xfrm>
              <a:off x="0" y="0"/>
              <a:ext cx="2195822" cy="291760"/>
            </a:xfrm>
            <a:custGeom>
              <a:avLst/>
              <a:gdLst/>
              <a:ahLst/>
              <a:cxnLst/>
              <a:rect l="l" t="t" r="r" b="b"/>
              <a:pathLst>
                <a:path w="2195822" h="291760">
                  <a:moveTo>
                    <a:pt x="0" y="0"/>
                  </a:moveTo>
                  <a:lnTo>
                    <a:pt x="2195822" y="0"/>
                  </a:lnTo>
                  <a:lnTo>
                    <a:pt x="2195822" y="291760"/>
                  </a:lnTo>
                  <a:lnTo>
                    <a:pt x="0" y="291760"/>
                  </a:lnTo>
                  <a:close/>
                </a:path>
              </a:pathLst>
            </a:custGeom>
            <a:solidFill>
              <a:srgbClr val="081F8C"/>
            </a:solidFill>
            <a:ln w="38100" cap="sq">
              <a:solidFill>
                <a:srgbClr val="FF751F"/>
              </a:solidFill>
              <a:prstDash val="solid"/>
              <a:miter/>
            </a:ln>
          </p:spPr>
        </p:sp>
        <p:sp>
          <p:nvSpPr>
            <p:cNvPr id="47" name="TextBox 47"/>
            <p:cNvSpPr txBox="1"/>
            <p:nvPr/>
          </p:nvSpPr>
          <p:spPr>
            <a:xfrm>
              <a:off x="0" y="-47625"/>
              <a:ext cx="2195822" cy="339385"/>
            </a:xfrm>
            <a:prstGeom prst="rect">
              <a:avLst/>
            </a:prstGeom>
          </p:spPr>
          <p:txBody>
            <a:bodyPr lIns="50800" tIns="50800" rIns="50800" bIns="50800" rtlCol="0" anchor="ctr"/>
            <a:lstStyle/>
            <a:p>
              <a:pPr algn="ctr">
                <a:lnSpc>
                  <a:spcPts val="2659"/>
                </a:lnSpc>
              </a:pPr>
              <a:endParaRPr/>
            </a:p>
          </p:txBody>
        </p:sp>
      </p:grpSp>
      <p:sp>
        <p:nvSpPr>
          <p:cNvPr id="48" name="TextBox 48"/>
          <p:cNvSpPr txBox="1"/>
          <p:nvPr/>
        </p:nvSpPr>
        <p:spPr>
          <a:xfrm>
            <a:off x="10048345" y="4139877"/>
            <a:ext cx="5375495" cy="320914"/>
          </a:xfrm>
          <a:prstGeom prst="rect">
            <a:avLst/>
          </a:prstGeom>
        </p:spPr>
        <p:txBody>
          <a:bodyPr lIns="0" tIns="0" rIns="0" bIns="0" rtlCol="0" anchor="t">
            <a:spAutoFit/>
          </a:bodyPr>
          <a:lstStyle/>
          <a:p>
            <a:pPr algn="ctr">
              <a:lnSpc>
                <a:spcPts val="1680"/>
              </a:lnSpc>
            </a:pPr>
            <a:r>
              <a:rPr lang="en-US" sz="1200">
                <a:solidFill>
                  <a:srgbClr val="FFFFFF"/>
                </a:solidFill>
                <a:latin typeface="Canva Sans"/>
                <a:ea typeface="Canva Sans"/>
                <a:cs typeface="Canva Sans"/>
                <a:sym typeface="Canva Sans"/>
              </a:rPr>
              <a:t>Kontribusi ilmiah pemodelan topik berbasis konteks pada teks keagamaan</a:t>
            </a:r>
          </a:p>
          <a:p>
            <a:pPr algn="ctr">
              <a:lnSpc>
                <a:spcPts val="980"/>
              </a:lnSpc>
            </a:pPr>
            <a:endParaRPr lang="en-US" sz="1200">
              <a:solidFill>
                <a:srgbClr val="FFFFFF"/>
              </a:solidFill>
              <a:latin typeface="Canva Sans"/>
              <a:ea typeface="Canva Sans"/>
              <a:cs typeface="Canva Sans"/>
              <a:sym typeface="Canva Sans"/>
            </a:endParaRPr>
          </a:p>
        </p:txBody>
      </p:sp>
      <p:sp>
        <p:nvSpPr>
          <p:cNvPr id="49" name="TextBox 49"/>
          <p:cNvSpPr txBox="1"/>
          <p:nvPr/>
        </p:nvSpPr>
        <p:spPr>
          <a:xfrm>
            <a:off x="10048345" y="4508734"/>
            <a:ext cx="4056325" cy="320914"/>
          </a:xfrm>
          <a:prstGeom prst="rect">
            <a:avLst/>
          </a:prstGeom>
        </p:spPr>
        <p:txBody>
          <a:bodyPr lIns="0" tIns="0" rIns="0" bIns="0" rtlCol="0" anchor="t">
            <a:spAutoFit/>
          </a:bodyPr>
          <a:lstStyle/>
          <a:p>
            <a:pPr algn="l">
              <a:lnSpc>
                <a:spcPts val="1680"/>
              </a:lnSpc>
            </a:pPr>
            <a:r>
              <a:rPr lang="en-US" sz="1200">
                <a:solidFill>
                  <a:srgbClr val="FFFFFF"/>
                </a:solidFill>
                <a:latin typeface="Canva Sans"/>
                <a:ea typeface="Canva Sans"/>
                <a:cs typeface="Canva Sans"/>
                <a:sym typeface="Canva Sans"/>
              </a:rPr>
              <a:t>Referensi penelitian NLP pada korpus bahasa Indonesia</a:t>
            </a:r>
          </a:p>
          <a:p>
            <a:pPr algn="l">
              <a:lnSpc>
                <a:spcPts val="980"/>
              </a:lnSpc>
            </a:pPr>
            <a:endParaRPr lang="en-US" sz="1200">
              <a:solidFill>
                <a:srgbClr val="FFFFFF"/>
              </a:solidFill>
              <a:latin typeface="Canva Sans"/>
              <a:ea typeface="Canva Sans"/>
              <a:cs typeface="Canva Sans"/>
              <a:sym typeface="Canva Sans"/>
            </a:endParaRPr>
          </a:p>
        </p:txBody>
      </p:sp>
      <p:grpSp>
        <p:nvGrpSpPr>
          <p:cNvPr id="50" name="Group 50"/>
          <p:cNvGrpSpPr/>
          <p:nvPr/>
        </p:nvGrpSpPr>
        <p:grpSpPr>
          <a:xfrm>
            <a:off x="9553792" y="5338847"/>
            <a:ext cx="8337260" cy="601099"/>
            <a:chOff x="0" y="0"/>
            <a:chExt cx="2195822" cy="158314"/>
          </a:xfrm>
        </p:grpSpPr>
        <p:sp>
          <p:nvSpPr>
            <p:cNvPr id="51" name="Freeform 51"/>
            <p:cNvSpPr/>
            <p:nvPr/>
          </p:nvSpPr>
          <p:spPr>
            <a:xfrm>
              <a:off x="0" y="0"/>
              <a:ext cx="2195822" cy="158314"/>
            </a:xfrm>
            <a:custGeom>
              <a:avLst/>
              <a:gdLst/>
              <a:ahLst/>
              <a:cxnLst/>
              <a:rect l="l" t="t" r="r" b="b"/>
              <a:pathLst>
                <a:path w="2195822" h="158314">
                  <a:moveTo>
                    <a:pt x="0" y="0"/>
                  </a:moveTo>
                  <a:lnTo>
                    <a:pt x="2195822" y="0"/>
                  </a:lnTo>
                  <a:lnTo>
                    <a:pt x="2195822" y="158314"/>
                  </a:lnTo>
                  <a:lnTo>
                    <a:pt x="0" y="158314"/>
                  </a:lnTo>
                  <a:close/>
                </a:path>
              </a:pathLst>
            </a:custGeom>
            <a:solidFill>
              <a:srgbClr val="1800AD"/>
            </a:solidFill>
            <a:ln w="38100" cap="sq">
              <a:solidFill>
                <a:srgbClr val="FF751F"/>
              </a:solidFill>
              <a:prstDash val="solid"/>
              <a:miter/>
            </a:ln>
          </p:spPr>
        </p:sp>
        <p:sp>
          <p:nvSpPr>
            <p:cNvPr id="52" name="TextBox 52"/>
            <p:cNvSpPr txBox="1"/>
            <p:nvPr/>
          </p:nvSpPr>
          <p:spPr>
            <a:xfrm>
              <a:off x="0" y="-47625"/>
              <a:ext cx="2195822" cy="205939"/>
            </a:xfrm>
            <a:prstGeom prst="rect">
              <a:avLst/>
            </a:prstGeom>
          </p:spPr>
          <p:txBody>
            <a:bodyPr lIns="50800" tIns="50800" rIns="50800" bIns="50800" rtlCol="0" anchor="ctr"/>
            <a:lstStyle/>
            <a:p>
              <a:pPr algn="ctr">
                <a:lnSpc>
                  <a:spcPts val="2659"/>
                </a:lnSpc>
              </a:pPr>
              <a:endParaRPr/>
            </a:p>
          </p:txBody>
        </p:sp>
      </p:grpSp>
      <p:sp>
        <p:nvSpPr>
          <p:cNvPr id="53" name="TextBox 53"/>
          <p:cNvSpPr txBox="1"/>
          <p:nvPr/>
        </p:nvSpPr>
        <p:spPr>
          <a:xfrm>
            <a:off x="10048345" y="5386668"/>
            <a:ext cx="7836286" cy="448308"/>
          </a:xfrm>
          <a:prstGeom prst="rect">
            <a:avLst/>
          </a:prstGeom>
        </p:spPr>
        <p:txBody>
          <a:bodyPr lIns="0" tIns="0" rIns="0" bIns="0" rtlCol="0" anchor="t">
            <a:spAutoFit/>
          </a:bodyPr>
          <a:lstStyle/>
          <a:p>
            <a:pPr algn="l">
              <a:lnSpc>
                <a:spcPts val="3640"/>
              </a:lnSpc>
            </a:pPr>
            <a:r>
              <a:rPr lang="en-US" sz="2600" b="1">
                <a:solidFill>
                  <a:srgbClr val="FFFFFF"/>
                </a:solidFill>
                <a:latin typeface="Canva Sans Bold"/>
                <a:ea typeface="Canva Sans Bold"/>
                <a:cs typeface="Canva Sans Bold"/>
                <a:sym typeface="Canva Sans Bold"/>
              </a:rPr>
              <a:t>Praktis</a:t>
            </a:r>
          </a:p>
        </p:txBody>
      </p:sp>
      <p:sp>
        <p:nvSpPr>
          <p:cNvPr id="54" name="TextBox 54"/>
          <p:cNvSpPr txBox="1"/>
          <p:nvPr/>
        </p:nvSpPr>
        <p:spPr>
          <a:xfrm>
            <a:off x="10048345" y="6082821"/>
            <a:ext cx="5326225" cy="320914"/>
          </a:xfrm>
          <a:prstGeom prst="rect">
            <a:avLst/>
          </a:prstGeom>
        </p:spPr>
        <p:txBody>
          <a:bodyPr lIns="0" tIns="0" rIns="0" bIns="0" rtlCol="0" anchor="t">
            <a:spAutoFit/>
          </a:bodyPr>
          <a:lstStyle/>
          <a:p>
            <a:pPr algn="ctr">
              <a:lnSpc>
                <a:spcPts val="1680"/>
              </a:lnSpc>
            </a:pPr>
            <a:r>
              <a:rPr lang="en-US" sz="1200">
                <a:solidFill>
                  <a:srgbClr val="FFFFFF"/>
                </a:solidFill>
                <a:latin typeface="Canva Sans"/>
                <a:ea typeface="Canva Sans"/>
                <a:cs typeface="Canva Sans"/>
                <a:sym typeface="Canva Sans"/>
              </a:rPr>
              <a:t>Mempermudah pemahaman struktur tematik Al-Qur'an secara sistematis</a:t>
            </a:r>
          </a:p>
          <a:p>
            <a:pPr algn="ctr">
              <a:lnSpc>
                <a:spcPts val="980"/>
              </a:lnSpc>
            </a:pPr>
            <a:endParaRPr lang="en-US" sz="1200">
              <a:solidFill>
                <a:srgbClr val="FFFFFF"/>
              </a:solidFill>
              <a:latin typeface="Canva Sans"/>
              <a:ea typeface="Canva Sans"/>
              <a:cs typeface="Canva Sans"/>
              <a:sym typeface="Canva Sans"/>
            </a:endParaRPr>
          </a:p>
        </p:txBody>
      </p:sp>
      <p:sp>
        <p:nvSpPr>
          <p:cNvPr id="55" name="TextBox 55"/>
          <p:cNvSpPr txBox="1"/>
          <p:nvPr/>
        </p:nvSpPr>
        <p:spPr>
          <a:xfrm>
            <a:off x="10048345" y="6518035"/>
            <a:ext cx="5283438" cy="320914"/>
          </a:xfrm>
          <a:prstGeom prst="rect">
            <a:avLst/>
          </a:prstGeom>
        </p:spPr>
        <p:txBody>
          <a:bodyPr lIns="0" tIns="0" rIns="0" bIns="0" rtlCol="0" anchor="t">
            <a:spAutoFit/>
          </a:bodyPr>
          <a:lstStyle/>
          <a:p>
            <a:pPr algn="ctr">
              <a:lnSpc>
                <a:spcPts val="1680"/>
              </a:lnSpc>
            </a:pPr>
            <a:r>
              <a:rPr lang="en-US" sz="1200">
                <a:solidFill>
                  <a:srgbClr val="FFFFFF"/>
                </a:solidFill>
                <a:latin typeface="Canva Sans"/>
                <a:ea typeface="Canva Sans"/>
                <a:cs typeface="Canva Sans"/>
                <a:sym typeface="Canva Sans"/>
              </a:rPr>
              <a:t>Mendukung kajian tafsir dengan pendekatan teknologi informasi modern</a:t>
            </a:r>
          </a:p>
          <a:p>
            <a:pPr algn="ctr">
              <a:lnSpc>
                <a:spcPts val="980"/>
              </a:lnSpc>
            </a:pPr>
            <a:endParaRPr lang="en-US" sz="1200">
              <a:solidFill>
                <a:srgbClr val="FFFFFF"/>
              </a:solidFill>
              <a:latin typeface="Canva Sans"/>
              <a:ea typeface="Canva Sans"/>
              <a:cs typeface="Canva Sans"/>
              <a:sym typeface="Canva Sans"/>
            </a:endParaRPr>
          </a:p>
        </p:txBody>
      </p:sp>
      <p:grpSp>
        <p:nvGrpSpPr>
          <p:cNvPr id="56" name="Group 56"/>
          <p:cNvGrpSpPr/>
          <p:nvPr/>
        </p:nvGrpSpPr>
        <p:grpSpPr>
          <a:xfrm>
            <a:off x="9598076" y="7862229"/>
            <a:ext cx="8337260" cy="1091016"/>
            <a:chOff x="0" y="0"/>
            <a:chExt cx="2195822" cy="287346"/>
          </a:xfrm>
        </p:grpSpPr>
        <p:sp>
          <p:nvSpPr>
            <p:cNvPr id="57" name="Freeform 57"/>
            <p:cNvSpPr/>
            <p:nvPr/>
          </p:nvSpPr>
          <p:spPr>
            <a:xfrm>
              <a:off x="0" y="0"/>
              <a:ext cx="2195822" cy="287346"/>
            </a:xfrm>
            <a:custGeom>
              <a:avLst/>
              <a:gdLst/>
              <a:ahLst/>
              <a:cxnLst/>
              <a:rect l="l" t="t" r="r" b="b"/>
              <a:pathLst>
                <a:path w="2195822" h="287346">
                  <a:moveTo>
                    <a:pt x="0" y="0"/>
                  </a:moveTo>
                  <a:lnTo>
                    <a:pt x="2195822" y="0"/>
                  </a:lnTo>
                  <a:lnTo>
                    <a:pt x="2195822" y="287346"/>
                  </a:lnTo>
                  <a:lnTo>
                    <a:pt x="0" y="287346"/>
                  </a:lnTo>
                  <a:close/>
                </a:path>
              </a:pathLst>
            </a:custGeom>
            <a:solidFill>
              <a:srgbClr val="081F8C"/>
            </a:solidFill>
            <a:ln w="38100" cap="sq">
              <a:solidFill>
                <a:srgbClr val="FF751F"/>
              </a:solidFill>
              <a:prstDash val="solid"/>
              <a:miter/>
            </a:ln>
          </p:spPr>
        </p:sp>
        <p:sp>
          <p:nvSpPr>
            <p:cNvPr id="58" name="TextBox 58"/>
            <p:cNvSpPr txBox="1"/>
            <p:nvPr/>
          </p:nvSpPr>
          <p:spPr>
            <a:xfrm>
              <a:off x="0" y="-47625"/>
              <a:ext cx="2195822" cy="334971"/>
            </a:xfrm>
            <a:prstGeom prst="rect">
              <a:avLst/>
            </a:prstGeom>
          </p:spPr>
          <p:txBody>
            <a:bodyPr lIns="50800" tIns="50800" rIns="50800" bIns="50800" rtlCol="0" anchor="ctr"/>
            <a:lstStyle/>
            <a:p>
              <a:pPr algn="ctr">
                <a:lnSpc>
                  <a:spcPts val="2659"/>
                </a:lnSpc>
              </a:pPr>
              <a:endParaRPr/>
            </a:p>
          </p:txBody>
        </p:sp>
      </p:grpSp>
      <p:grpSp>
        <p:nvGrpSpPr>
          <p:cNvPr id="59" name="Group 59"/>
          <p:cNvGrpSpPr/>
          <p:nvPr/>
        </p:nvGrpSpPr>
        <p:grpSpPr>
          <a:xfrm>
            <a:off x="9598076" y="7283014"/>
            <a:ext cx="8337260" cy="601099"/>
            <a:chOff x="0" y="0"/>
            <a:chExt cx="2195822" cy="158314"/>
          </a:xfrm>
        </p:grpSpPr>
        <p:sp>
          <p:nvSpPr>
            <p:cNvPr id="60" name="Freeform 60"/>
            <p:cNvSpPr/>
            <p:nvPr/>
          </p:nvSpPr>
          <p:spPr>
            <a:xfrm>
              <a:off x="0" y="0"/>
              <a:ext cx="2195822" cy="158314"/>
            </a:xfrm>
            <a:custGeom>
              <a:avLst/>
              <a:gdLst/>
              <a:ahLst/>
              <a:cxnLst/>
              <a:rect l="l" t="t" r="r" b="b"/>
              <a:pathLst>
                <a:path w="2195822" h="158314">
                  <a:moveTo>
                    <a:pt x="0" y="0"/>
                  </a:moveTo>
                  <a:lnTo>
                    <a:pt x="2195822" y="0"/>
                  </a:lnTo>
                  <a:lnTo>
                    <a:pt x="2195822" y="158314"/>
                  </a:lnTo>
                  <a:lnTo>
                    <a:pt x="0" y="158314"/>
                  </a:lnTo>
                  <a:close/>
                </a:path>
              </a:pathLst>
            </a:custGeom>
            <a:solidFill>
              <a:srgbClr val="1800AD"/>
            </a:solidFill>
            <a:ln w="38100" cap="sq">
              <a:solidFill>
                <a:srgbClr val="FF751F"/>
              </a:solidFill>
              <a:prstDash val="solid"/>
              <a:miter/>
            </a:ln>
          </p:spPr>
        </p:sp>
        <p:sp>
          <p:nvSpPr>
            <p:cNvPr id="61" name="TextBox 61"/>
            <p:cNvSpPr txBox="1"/>
            <p:nvPr/>
          </p:nvSpPr>
          <p:spPr>
            <a:xfrm>
              <a:off x="0" y="-47625"/>
              <a:ext cx="2195822" cy="205939"/>
            </a:xfrm>
            <a:prstGeom prst="rect">
              <a:avLst/>
            </a:prstGeom>
          </p:spPr>
          <p:txBody>
            <a:bodyPr lIns="50800" tIns="50800" rIns="50800" bIns="50800" rtlCol="0" anchor="ctr"/>
            <a:lstStyle/>
            <a:p>
              <a:pPr algn="ctr">
                <a:lnSpc>
                  <a:spcPts val="2659"/>
                </a:lnSpc>
              </a:pPr>
              <a:endParaRPr/>
            </a:p>
          </p:txBody>
        </p:sp>
      </p:grpSp>
      <p:sp>
        <p:nvSpPr>
          <p:cNvPr id="62" name="TextBox 62"/>
          <p:cNvSpPr txBox="1"/>
          <p:nvPr/>
        </p:nvSpPr>
        <p:spPr>
          <a:xfrm>
            <a:off x="10048345" y="7330834"/>
            <a:ext cx="7880570" cy="448308"/>
          </a:xfrm>
          <a:prstGeom prst="rect">
            <a:avLst/>
          </a:prstGeom>
        </p:spPr>
        <p:txBody>
          <a:bodyPr lIns="0" tIns="0" rIns="0" bIns="0" rtlCol="0" anchor="t">
            <a:spAutoFit/>
          </a:bodyPr>
          <a:lstStyle/>
          <a:p>
            <a:pPr algn="l">
              <a:lnSpc>
                <a:spcPts val="3640"/>
              </a:lnSpc>
            </a:pPr>
            <a:r>
              <a:rPr lang="en-US" sz="2600" b="1">
                <a:solidFill>
                  <a:srgbClr val="FFFFFF"/>
                </a:solidFill>
                <a:latin typeface="Canva Sans Bold"/>
                <a:ea typeface="Canva Sans Bold"/>
                <a:cs typeface="Canva Sans Bold"/>
                <a:sym typeface="Canva Sans Bold"/>
              </a:rPr>
              <a:t>Teknologi</a:t>
            </a:r>
          </a:p>
        </p:txBody>
      </p:sp>
      <p:sp>
        <p:nvSpPr>
          <p:cNvPr id="63" name="TextBox 63"/>
          <p:cNvSpPr txBox="1"/>
          <p:nvPr/>
        </p:nvSpPr>
        <p:spPr>
          <a:xfrm>
            <a:off x="10048345" y="7998413"/>
            <a:ext cx="4636727" cy="320914"/>
          </a:xfrm>
          <a:prstGeom prst="rect">
            <a:avLst/>
          </a:prstGeom>
        </p:spPr>
        <p:txBody>
          <a:bodyPr lIns="0" tIns="0" rIns="0" bIns="0" rtlCol="0" anchor="t">
            <a:spAutoFit/>
          </a:bodyPr>
          <a:lstStyle/>
          <a:p>
            <a:pPr algn="ctr">
              <a:lnSpc>
                <a:spcPts val="1680"/>
              </a:lnSpc>
            </a:pPr>
            <a:r>
              <a:rPr lang="en-US" sz="1200">
                <a:solidFill>
                  <a:srgbClr val="FFFFFF"/>
                </a:solidFill>
                <a:latin typeface="Canva Sans"/>
                <a:ea typeface="Canva Sans"/>
                <a:cs typeface="Canva Sans"/>
                <a:sym typeface="Canva Sans"/>
              </a:rPr>
              <a:t>Referensi pengembangan aplikasi pencarian ayat berbasis tema</a:t>
            </a:r>
          </a:p>
          <a:p>
            <a:pPr algn="ctr">
              <a:lnSpc>
                <a:spcPts val="980"/>
              </a:lnSpc>
            </a:pPr>
            <a:endParaRPr lang="en-US" sz="1200">
              <a:solidFill>
                <a:srgbClr val="FFFFFF"/>
              </a:solidFill>
              <a:latin typeface="Canva Sans"/>
              <a:ea typeface="Canva Sans"/>
              <a:cs typeface="Canva Sans"/>
              <a:sym typeface="Canva Sans"/>
            </a:endParaRPr>
          </a:p>
        </p:txBody>
      </p:sp>
      <p:sp>
        <p:nvSpPr>
          <p:cNvPr id="64" name="TextBox 64"/>
          <p:cNvSpPr txBox="1"/>
          <p:nvPr/>
        </p:nvSpPr>
        <p:spPr>
          <a:xfrm>
            <a:off x="10048345" y="8386002"/>
            <a:ext cx="3509635" cy="320914"/>
          </a:xfrm>
          <a:prstGeom prst="rect">
            <a:avLst/>
          </a:prstGeom>
        </p:spPr>
        <p:txBody>
          <a:bodyPr lIns="0" tIns="0" rIns="0" bIns="0" rtlCol="0" anchor="t">
            <a:spAutoFit/>
          </a:bodyPr>
          <a:lstStyle/>
          <a:p>
            <a:pPr algn="ctr">
              <a:lnSpc>
                <a:spcPts val="1680"/>
              </a:lnSpc>
            </a:pPr>
            <a:r>
              <a:rPr lang="en-US" sz="1200">
                <a:solidFill>
                  <a:srgbClr val="FFFFFF"/>
                </a:solidFill>
                <a:latin typeface="Canva Sans"/>
                <a:ea typeface="Canva Sans"/>
                <a:cs typeface="Canva Sans"/>
                <a:sym typeface="Canva Sans"/>
              </a:rPr>
              <a:t>Dasar sistem analisis tematik teks religius digital</a:t>
            </a:r>
          </a:p>
          <a:p>
            <a:pPr algn="ctr">
              <a:lnSpc>
                <a:spcPts val="980"/>
              </a:lnSpc>
            </a:pPr>
            <a:endParaRPr lang="en-US" sz="1200">
              <a:solidFill>
                <a:srgbClr val="FFFFFF"/>
              </a:solidFill>
              <a:latin typeface="Canva Sans"/>
              <a:ea typeface="Canva Sans"/>
              <a:cs typeface="Canva Sans"/>
              <a:sym typeface="Canva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7724579" y="3061834"/>
            <a:ext cx="6313412" cy="11932565"/>
          </a:xfrm>
          <a:custGeom>
            <a:avLst/>
            <a:gdLst/>
            <a:ahLst/>
            <a:cxnLst/>
            <a:rect l="l" t="t" r="r" b="b"/>
            <a:pathLst>
              <a:path w="6313412" h="11932565">
                <a:moveTo>
                  <a:pt x="0" y="11932565"/>
                </a:moveTo>
                <a:lnTo>
                  <a:pt x="6313412" y="11932565"/>
                </a:lnTo>
                <a:lnTo>
                  <a:pt x="6313412" y="0"/>
                </a:lnTo>
                <a:lnTo>
                  <a:pt x="0" y="0"/>
                </a:lnTo>
                <a:lnTo>
                  <a:pt x="0" y="11932565"/>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1091389" y="3611822"/>
            <a:ext cx="16167911" cy="2545516"/>
            <a:chOff x="0" y="0"/>
            <a:chExt cx="21557214" cy="3394022"/>
          </a:xfrm>
        </p:grpSpPr>
        <p:grpSp>
          <p:nvGrpSpPr>
            <p:cNvPr id="17" name="Group 17"/>
            <p:cNvGrpSpPr/>
            <p:nvPr/>
          </p:nvGrpSpPr>
          <p:grpSpPr>
            <a:xfrm>
              <a:off x="0" y="77004"/>
              <a:ext cx="2471350" cy="3163011"/>
              <a:chOff x="0" y="0"/>
              <a:chExt cx="713513" cy="913205"/>
            </a:xfrm>
          </p:grpSpPr>
          <p:sp>
            <p:nvSpPr>
              <p:cNvPr id="18" name="Freeform 18"/>
              <p:cNvSpPr/>
              <p:nvPr/>
            </p:nvSpPr>
            <p:spPr>
              <a:xfrm>
                <a:off x="0" y="0"/>
                <a:ext cx="713513" cy="913205"/>
              </a:xfrm>
              <a:custGeom>
                <a:avLst/>
                <a:gdLst/>
                <a:ahLst/>
                <a:cxnLst/>
                <a:rect l="l" t="t" r="r" b="b"/>
                <a:pathLst>
                  <a:path w="713513" h="913205">
                    <a:moveTo>
                      <a:pt x="108599" y="0"/>
                    </a:moveTo>
                    <a:lnTo>
                      <a:pt x="604914" y="0"/>
                    </a:lnTo>
                    <a:cubicBezTo>
                      <a:pt x="633716" y="0"/>
                      <a:pt x="661339" y="11442"/>
                      <a:pt x="681705" y="31808"/>
                    </a:cubicBezTo>
                    <a:cubicBezTo>
                      <a:pt x="702071" y="52174"/>
                      <a:pt x="713513" y="79797"/>
                      <a:pt x="713513" y="108599"/>
                    </a:cubicBezTo>
                    <a:lnTo>
                      <a:pt x="713513" y="804606"/>
                    </a:lnTo>
                    <a:cubicBezTo>
                      <a:pt x="713513" y="864584"/>
                      <a:pt x="664892" y="913205"/>
                      <a:pt x="604914" y="913205"/>
                    </a:cubicBezTo>
                    <a:lnTo>
                      <a:pt x="108599" y="913205"/>
                    </a:lnTo>
                    <a:cubicBezTo>
                      <a:pt x="48622" y="913205"/>
                      <a:pt x="0" y="864584"/>
                      <a:pt x="0" y="804606"/>
                    </a:cubicBezTo>
                    <a:lnTo>
                      <a:pt x="0" y="108599"/>
                    </a:lnTo>
                    <a:cubicBezTo>
                      <a:pt x="0" y="48622"/>
                      <a:pt x="48622" y="0"/>
                      <a:pt x="108599" y="0"/>
                    </a:cubicBezTo>
                    <a:close/>
                  </a:path>
                </a:pathLst>
              </a:custGeom>
              <a:solidFill>
                <a:srgbClr val="FFFFFF"/>
              </a:solidFill>
              <a:ln w="38100" cap="rnd">
                <a:solidFill>
                  <a:srgbClr val="FFDE59"/>
                </a:solidFill>
                <a:prstDash val="solid"/>
                <a:round/>
              </a:ln>
            </p:spPr>
          </p:sp>
          <p:sp>
            <p:nvSpPr>
              <p:cNvPr id="19" name="TextBox 19"/>
              <p:cNvSpPr txBox="1"/>
              <p:nvPr/>
            </p:nvSpPr>
            <p:spPr>
              <a:xfrm>
                <a:off x="0" y="-47625"/>
                <a:ext cx="713513" cy="960830"/>
              </a:xfrm>
              <a:prstGeom prst="rect">
                <a:avLst/>
              </a:prstGeom>
            </p:spPr>
            <p:txBody>
              <a:bodyPr lIns="34756" tIns="34756" rIns="34756" bIns="34756" rtlCol="0" anchor="ctr"/>
              <a:lstStyle/>
              <a:p>
                <a:pPr algn="ctr">
                  <a:lnSpc>
                    <a:spcPts val="2659"/>
                  </a:lnSpc>
                </a:pPr>
                <a:endParaRPr/>
              </a:p>
            </p:txBody>
          </p:sp>
        </p:grpSp>
        <p:sp>
          <p:nvSpPr>
            <p:cNvPr id="20" name="Freeform 20"/>
            <p:cNvSpPr/>
            <p:nvPr/>
          </p:nvSpPr>
          <p:spPr>
            <a:xfrm>
              <a:off x="660492" y="911760"/>
              <a:ext cx="1150367" cy="1274077"/>
            </a:xfrm>
            <a:custGeom>
              <a:avLst/>
              <a:gdLst/>
              <a:ahLst/>
              <a:cxnLst/>
              <a:rect l="l" t="t" r="r" b="b"/>
              <a:pathLst>
                <a:path w="1150367" h="1274077">
                  <a:moveTo>
                    <a:pt x="0" y="0"/>
                  </a:moveTo>
                  <a:lnTo>
                    <a:pt x="1150366" y="0"/>
                  </a:lnTo>
                  <a:lnTo>
                    <a:pt x="1150366" y="1274078"/>
                  </a:lnTo>
                  <a:lnTo>
                    <a:pt x="0" y="1274078"/>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21" name="TextBox 21"/>
            <p:cNvSpPr txBox="1"/>
            <p:nvPr/>
          </p:nvSpPr>
          <p:spPr>
            <a:xfrm>
              <a:off x="274438" y="2352787"/>
              <a:ext cx="1922474" cy="730255"/>
            </a:xfrm>
            <a:prstGeom prst="rect">
              <a:avLst/>
            </a:prstGeom>
          </p:spPr>
          <p:txBody>
            <a:bodyPr lIns="0" tIns="0" rIns="0" bIns="0" rtlCol="0" anchor="t">
              <a:spAutoFit/>
            </a:bodyPr>
            <a:lstStyle/>
            <a:p>
              <a:pPr algn="ctr">
                <a:lnSpc>
                  <a:spcPts val="1490"/>
                </a:lnSpc>
              </a:pPr>
              <a:r>
                <a:rPr lang="en-US" sz="1064" b="1">
                  <a:solidFill>
                    <a:srgbClr val="1800AD"/>
                  </a:solidFill>
                  <a:latin typeface="Canva Sans Bold"/>
                  <a:ea typeface="Canva Sans Bold"/>
                  <a:cs typeface="Canva Sans Bold"/>
                  <a:sym typeface="Canva Sans Bold"/>
                </a:rPr>
                <a:t>Terjemahan Al-Qur’an</a:t>
              </a:r>
            </a:p>
            <a:p>
              <a:pPr algn="ctr">
                <a:lnSpc>
                  <a:spcPts val="1490"/>
                </a:lnSpc>
              </a:pPr>
              <a:r>
                <a:rPr lang="en-US" sz="1064" b="1">
                  <a:solidFill>
                    <a:srgbClr val="1800AD"/>
                  </a:solidFill>
                  <a:latin typeface="Canva Sans Bold"/>
                  <a:ea typeface="Canva Sans Bold"/>
                  <a:cs typeface="Canva Sans Bold"/>
                  <a:sym typeface="Canva Sans Bold"/>
                </a:rPr>
                <a:t>Bahasa Indonesia</a:t>
              </a:r>
            </a:p>
            <a:p>
              <a:pPr algn="ctr">
                <a:lnSpc>
                  <a:spcPts val="1490"/>
                </a:lnSpc>
              </a:pPr>
              <a:r>
                <a:rPr lang="en-US" sz="1064" b="1">
                  <a:solidFill>
                    <a:srgbClr val="1800AD"/>
                  </a:solidFill>
                  <a:latin typeface="Canva Sans Bold"/>
                  <a:ea typeface="Canva Sans Bold"/>
                  <a:cs typeface="Canva Sans Bold"/>
                  <a:sym typeface="Canva Sans Bold"/>
                </a:rPr>
                <a:t>(114 Surat)</a:t>
              </a:r>
            </a:p>
          </p:txBody>
        </p:sp>
        <p:sp>
          <p:nvSpPr>
            <p:cNvPr id="22" name="TextBox 22"/>
            <p:cNvSpPr txBox="1"/>
            <p:nvPr/>
          </p:nvSpPr>
          <p:spPr>
            <a:xfrm>
              <a:off x="242437" y="347303"/>
              <a:ext cx="1922474" cy="343879"/>
            </a:xfrm>
            <a:prstGeom prst="rect">
              <a:avLst/>
            </a:prstGeom>
          </p:spPr>
          <p:txBody>
            <a:bodyPr lIns="0" tIns="0" rIns="0" bIns="0" rtlCol="0" anchor="t">
              <a:spAutoFit/>
            </a:bodyPr>
            <a:lstStyle/>
            <a:p>
              <a:pPr algn="ctr">
                <a:lnSpc>
                  <a:spcPts val="2190"/>
                </a:lnSpc>
              </a:pPr>
              <a:r>
                <a:rPr lang="en-US" sz="1564" b="1">
                  <a:solidFill>
                    <a:srgbClr val="1800AD"/>
                  </a:solidFill>
                  <a:latin typeface="Canva Sans Bold"/>
                  <a:ea typeface="Canva Sans Bold"/>
                  <a:cs typeface="Canva Sans Bold"/>
                  <a:sym typeface="Canva Sans Bold"/>
                </a:rPr>
                <a:t>DATASET</a:t>
              </a:r>
            </a:p>
          </p:txBody>
        </p:sp>
        <p:grpSp>
          <p:nvGrpSpPr>
            <p:cNvPr id="23" name="Group 23"/>
            <p:cNvGrpSpPr/>
            <p:nvPr/>
          </p:nvGrpSpPr>
          <p:grpSpPr>
            <a:xfrm>
              <a:off x="3227743" y="154007"/>
              <a:ext cx="2471350" cy="3163011"/>
              <a:chOff x="0" y="0"/>
              <a:chExt cx="713513" cy="913205"/>
            </a:xfrm>
          </p:grpSpPr>
          <p:sp>
            <p:nvSpPr>
              <p:cNvPr id="24" name="Freeform 24"/>
              <p:cNvSpPr/>
              <p:nvPr/>
            </p:nvSpPr>
            <p:spPr>
              <a:xfrm>
                <a:off x="0" y="0"/>
                <a:ext cx="713513" cy="913205"/>
              </a:xfrm>
              <a:custGeom>
                <a:avLst/>
                <a:gdLst/>
                <a:ahLst/>
                <a:cxnLst/>
                <a:rect l="l" t="t" r="r" b="b"/>
                <a:pathLst>
                  <a:path w="713513" h="913205">
                    <a:moveTo>
                      <a:pt x="108599" y="0"/>
                    </a:moveTo>
                    <a:lnTo>
                      <a:pt x="604914" y="0"/>
                    </a:lnTo>
                    <a:cubicBezTo>
                      <a:pt x="633716" y="0"/>
                      <a:pt x="661339" y="11442"/>
                      <a:pt x="681705" y="31808"/>
                    </a:cubicBezTo>
                    <a:cubicBezTo>
                      <a:pt x="702071" y="52174"/>
                      <a:pt x="713513" y="79797"/>
                      <a:pt x="713513" y="108599"/>
                    </a:cubicBezTo>
                    <a:lnTo>
                      <a:pt x="713513" y="804606"/>
                    </a:lnTo>
                    <a:cubicBezTo>
                      <a:pt x="713513" y="864584"/>
                      <a:pt x="664892" y="913205"/>
                      <a:pt x="604914" y="913205"/>
                    </a:cubicBezTo>
                    <a:lnTo>
                      <a:pt x="108599" y="913205"/>
                    </a:lnTo>
                    <a:cubicBezTo>
                      <a:pt x="48622" y="913205"/>
                      <a:pt x="0" y="864584"/>
                      <a:pt x="0" y="804606"/>
                    </a:cubicBezTo>
                    <a:lnTo>
                      <a:pt x="0" y="108599"/>
                    </a:lnTo>
                    <a:cubicBezTo>
                      <a:pt x="0" y="48622"/>
                      <a:pt x="48622" y="0"/>
                      <a:pt x="108599" y="0"/>
                    </a:cubicBezTo>
                    <a:close/>
                  </a:path>
                </a:pathLst>
              </a:custGeom>
              <a:solidFill>
                <a:srgbClr val="FFFFFF"/>
              </a:solidFill>
              <a:ln w="38100" cap="rnd">
                <a:solidFill>
                  <a:srgbClr val="00BF63"/>
                </a:solidFill>
                <a:prstDash val="solid"/>
                <a:round/>
              </a:ln>
            </p:spPr>
          </p:sp>
          <p:sp>
            <p:nvSpPr>
              <p:cNvPr id="25" name="TextBox 25"/>
              <p:cNvSpPr txBox="1"/>
              <p:nvPr/>
            </p:nvSpPr>
            <p:spPr>
              <a:xfrm>
                <a:off x="0" y="-47625"/>
                <a:ext cx="713513" cy="960830"/>
              </a:xfrm>
              <a:prstGeom prst="rect">
                <a:avLst/>
              </a:prstGeom>
            </p:spPr>
            <p:txBody>
              <a:bodyPr lIns="34756" tIns="34756" rIns="34756" bIns="34756" rtlCol="0" anchor="ctr"/>
              <a:lstStyle/>
              <a:p>
                <a:pPr algn="ctr">
                  <a:lnSpc>
                    <a:spcPts val="2659"/>
                  </a:lnSpc>
                </a:pPr>
                <a:endParaRPr/>
              </a:p>
            </p:txBody>
          </p:sp>
        </p:grpSp>
        <p:sp>
          <p:nvSpPr>
            <p:cNvPr id="26" name="Freeform 26"/>
            <p:cNvSpPr/>
            <p:nvPr/>
          </p:nvSpPr>
          <p:spPr>
            <a:xfrm>
              <a:off x="3482379" y="867796"/>
              <a:ext cx="240167" cy="311737"/>
            </a:xfrm>
            <a:custGeom>
              <a:avLst/>
              <a:gdLst/>
              <a:ahLst/>
              <a:cxnLst/>
              <a:rect l="l" t="t" r="r" b="b"/>
              <a:pathLst>
                <a:path w="240167" h="311737">
                  <a:moveTo>
                    <a:pt x="0" y="0"/>
                  </a:moveTo>
                  <a:lnTo>
                    <a:pt x="240168" y="0"/>
                  </a:lnTo>
                  <a:lnTo>
                    <a:pt x="240168" y="311737"/>
                  </a:lnTo>
                  <a:lnTo>
                    <a:pt x="0" y="311737"/>
                  </a:lnTo>
                  <a:lnTo>
                    <a:pt x="0" y="0"/>
                  </a:lnTo>
                  <a:close/>
                </a:path>
              </a:pathLst>
            </a:custGeom>
            <a:blipFill>
              <a:blip>
                <a:extLst>
                  <a:ext uri="{96DAC541-7B7A-43D3-8B79-37D633B846F1}">
                    <asvg:svgBlip xmlns:asvg="http://schemas.microsoft.com/office/drawing/2016/SVG/main" r:embed="rId5"/>
                  </a:ext>
                </a:extLst>
              </a:blip>
              <a:stretch>
                <a:fillRect/>
              </a:stretch>
            </a:blipFill>
          </p:spPr>
        </p:sp>
        <p:sp>
          <p:nvSpPr>
            <p:cNvPr id="27" name="Freeform 27"/>
            <p:cNvSpPr/>
            <p:nvPr/>
          </p:nvSpPr>
          <p:spPr>
            <a:xfrm>
              <a:off x="3444279" y="1312313"/>
              <a:ext cx="278267" cy="320581"/>
            </a:xfrm>
            <a:custGeom>
              <a:avLst/>
              <a:gdLst/>
              <a:ahLst/>
              <a:cxnLst/>
              <a:rect l="l" t="t" r="r" b="b"/>
              <a:pathLst>
                <a:path w="278267" h="320581">
                  <a:moveTo>
                    <a:pt x="0" y="0"/>
                  </a:moveTo>
                  <a:lnTo>
                    <a:pt x="278268" y="0"/>
                  </a:lnTo>
                  <a:lnTo>
                    <a:pt x="278268" y="320581"/>
                  </a:lnTo>
                  <a:lnTo>
                    <a:pt x="0" y="320581"/>
                  </a:lnTo>
                  <a:lnTo>
                    <a:pt x="0" y="0"/>
                  </a:lnTo>
                  <a:close/>
                </a:path>
              </a:pathLst>
            </a:custGeom>
            <a:blipFill>
              <a:blip>
                <a:extLst>
                  <a:ext uri="{96DAC541-7B7A-43D3-8B79-37D633B846F1}">
                    <asvg:svgBlip xmlns:asvg="http://schemas.microsoft.com/office/drawing/2016/SVG/main" r:embed="rId6"/>
                  </a:ext>
                </a:extLst>
              </a:blip>
              <a:stretch>
                <a:fillRect/>
              </a:stretch>
            </a:blipFill>
          </p:spPr>
        </p:sp>
        <p:sp>
          <p:nvSpPr>
            <p:cNvPr id="28" name="Freeform 28"/>
            <p:cNvSpPr/>
            <p:nvPr/>
          </p:nvSpPr>
          <p:spPr>
            <a:xfrm>
              <a:off x="3444279" y="1735513"/>
              <a:ext cx="278267" cy="354275"/>
            </a:xfrm>
            <a:custGeom>
              <a:avLst/>
              <a:gdLst/>
              <a:ahLst/>
              <a:cxnLst/>
              <a:rect l="l" t="t" r="r" b="b"/>
              <a:pathLst>
                <a:path w="278267" h="354275">
                  <a:moveTo>
                    <a:pt x="0" y="0"/>
                  </a:moveTo>
                  <a:lnTo>
                    <a:pt x="278268" y="0"/>
                  </a:lnTo>
                  <a:lnTo>
                    <a:pt x="278268" y="354275"/>
                  </a:lnTo>
                  <a:lnTo>
                    <a:pt x="0" y="354275"/>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29" name="Freeform 29"/>
            <p:cNvSpPr/>
            <p:nvPr/>
          </p:nvSpPr>
          <p:spPr>
            <a:xfrm>
              <a:off x="3444279" y="2191388"/>
              <a:ext cx="278267" cy="372377"/>
            </a:xfrm>
            <a:custGeom>
              <a:avLst/>
              <a:gdLst/>
              <a:ahLst/>
              <a:cxnLst/>
              <a:rect l="l" t="t" r="r" b="b"/>
              <a:pathLst>
                <a:path w="278267" h="372377">
                  <a:moveTo>
                    <a:pt x="0" y="0"/>
                  </a:moveTo>
                  <a:lnTo>
                    <a:pt x="278268" y="0"/>
                  </a:lnTo>
                  <a:lnTo>
                    <a:pt x="278268" y="372377"/>
                  </a:lnTo>
                  <a:lnTo>
                    <a:pt x="0" y="372377"/>
                  </a:lnTo>
                  <a:lnTo>
                    <a:pt x="0" y="0"/>
                  </a:lnTo>
                  <a:close/>
                </a:path>
              </a:pathLst>
            </a:custGeom>
            <a:blipFill>
              <a:blip>
                <a:extLst>
                  <a:ext uri="{96DAC541-7B7A-43D3-8B79-37D633B846F1}">
                    <asvg:svgBlip xmlns:asvg="http://schemas.microsoft.com/office/drawing/2016/SVG/main" r:embed="rId8"/>
                  </a:ext>
                </a:extLst>
              </a:blip>
              <a:stretch>
                <a:fillRect/>
              </a:stretch>
            </a:blipFill>
          </p:spPr>
        </p:sp>
        <p:sp>
          <p:nvSpPr>
            <p:cNvPr id="30" name="TextBox 30"/>
            <p:cNvSpPr txBox="1"/>
            <p:nvPr/>
          </p:nvSpPr>
          <p:spPr>
            <a:xfrm>
              <a:off x="3273396" y="409514"/>
              <a:ext cx="2380045" cy="343879"/>
            </a:xfrm>
            <a:prstGeom prst="rect">
              <a:avLst/>
            </a:prstGeom>
          </p:spPr>
          <p:txBody>
            <a:bodyPr lIns="0" tIns="0" rIns="0" bIns="0" rtlCol="0" anchor="t">
              <a:spAutoFit/>
            </a:bodyPr>
            <a:lstStyle/>
            <a:p>
              <a:pPr algn="ctr">
                <a:lnSpc>
                  <a:spcPts val="2190"/>
                </a:lnSpc>
              </a:pPr>
              <a:r>
                <a:rPr lang="en-US" sz="1564" b="1">
                  <a:solidFill>
                    <a:srgbClr val="1800AD"/>
                  </a:solidFill>
                  <a:latin typeface="Canva Sans Bold"/>
                  <a:ea typeface="Canva Sans Bold"/>
                  <a:cs typeface="Canva Sans Bold"/>
                  <a:sym typeface="Canva Sans Bold"/>
                </a:rPr>
                <a:t>PREPROCESSING</a:t>
              </a:r>
            </a:p>
          </p:txBody>
        </p:sp>
        <p:sp>
          <p:nvSpPr>
            <p:cNvPr id="31" name="TextBox 31"/>
            <p:cNvSpPr txBox="1"/>
            <p:nvPr/>
          </p:nvSpPr>
          <p:spPr>
            <a:xfrm>
              <a:off x="3808121" y="940749"/>
              <a:ext cx="1162732" cy="156307"/>
            </a:xfrm>
            <a:prstGeom prst="rect">
              <a:avLst/>
            </a:prstGeom>
          </p:spPr>
          <p:txBody>
            <a:bodyPr lIns="0" tIns="0" rIns="0" bIns="0" rtlCol="0" anchor="t">
              <a:spAutoFit/>
            </a:bodyPr>
            <a:lstStyle/>
            <a:p>
              <a:pPr algn="l">
                <a:lnSpc>
                  <a:spcPts val="1070"/>
                </a:lnSpc>
              </a:pPr>
              <a:r>
                <a:rPr lang="en-US" sz="764" b="1">
                  <a:solidFill>
                    <a:srgbClr val="1800AD"/>
                  </a:solidFill>
                  <a:latin typeface="Canva Sans Bold"/>
                  <a:ea typeface="Canva Sans Bold"/>
                  <a:cs typeface="Canva Sans Bold"/>
                  <a:sym typeface="Canva Sans Bold"/>
                </a:rPr>
                <a:t>Case Folding</a:t>
              </a:r>
            </a:p>
          </p:txBody>
        </p:sp>
        <p:sp>
          <p:nvSpPr>
            <p:cNvPr id="32" name="TextBox 32"/>
            <p:cNvSpPr txBox="1"/>
            <p:nvPr/>
          </p:nvSpPr>
          <p:spPr>
            <a:xfrm>
              <a:off x="3808121" y="1360459"/>
              <a:ext cx="1350206" cy="156308"/>
            </a:xfrm>
            <a:prstGeom prst="rect">
              <a:avLst/>
            </a:prstGeom>
          </p:spPr>
          <p:txBody>
            <a:bodyPr lIns="0" tIns="0" rIns="0" bIns="0" rtlCol="0" anchor="t">
              <a:spAutoFit/>
            </a:bodyPr>
            <a:lstStyle/>
            <a:p>
              <a:pPr algn="l">
                <a:lnSpc>
                  <a:spcPts val="1070"/>
                </a:lnSpc>
              </a:pPr>
              <a:r>
                <a:rPr lang="en-US" sz="764" b="1">
                  <a:solidFill>
                    <a:srgbClr val="1800AD"/>
                  </a:solidFill>
                  <a:latin typeface="Canva Sans Bold"/>
                  <a:ea typeface="Canva Sans Bold"/>
                  <a:cs typeface="Canva Sans Bold"/>
                  <a:sym typeface="Canva Sans Bold"/>
                </a:rPr>
                <a:t>Tokenezation</a:t>
              </a:r>
            </a:p>
          </p:txBody>
        </p:sp>
        <p:sp>
          <p:nvSpPr>
            <p:cNvPr id="33" name="TextBox 33"/>
            <p:cNvSpPr txBox="1"/>
            <p:nvPr/>
          </p:nvSpPr>
          <p:spPr>
            <a:xfrm>
              <a:off x="3808121" y="1829734"/>
              <a:ext cx="1350206" cy="156308"/>
            </a:xfrm>
            <a:prstGeom prst="rect">
              <a:avLst/>
            </a:prstGeom>
          </p:spPr>
          <p:txBody>
            <a:bodyPr lIns="0" tIns="0" rIns="0" bIns="0" rtlCol="0" anchor="t">
              <a:spAutoFit/>
            </a:bodyPr>
            <a:lstStyle/>
            <a:p>
              <a:pPr algn="l">
                <a:lnSpc>
                  <a:spcPts val="1070"/>
                </a:lnSpc>
              </a:pPr>
              <a:r>
                <a:rPr lang="en-US" sz="764" b="1">
                  <a:solidFill>
                    <a:srgbClr val="1800AD"/>
                  </a:solidFill>
                  <a:latin typeface="Canva Sans Bold"/>
                  <a:ea typeface="Canva Sans Bold"/>
                  <a:cs typeface="Canva Sans Bold"/>
                  <a:sym typeface="Canva Sans Bold"/>
                </a:rPr>
                <a:t>Stopword Removal</a:t>
              </a:r>
            </a:p>
          </p:txBody>
        </p:sp>
        <p:sp>
          <p:nvSpPr>
            <p:cNvPr id="34" name="TextBox 34"/>
            <p:cNvSpPr txBox="1"/>
            <p:nvPr/>
          </p:nvSpPr>
          <p:spPr>
            <a:xfrm>
              <a:off x="3770021" y="2306717"/>
              <a:ext cx="1723743" cy="156308"/>
            </a:xfrm>
            <a:prstGeom prst="rect">
              <a:avLst/>
            </a:prstGeom>
          </p:spPr>
          <p:txBody>
            <a:bodyPr lIns="0" tIns="0" rIns="0" bIns="0" rtlCol="0" anchor="t">
              <a:spAutoFit/>
            </a:bodyPr>
            <a:lstStyle/>
            <a:p>
              <a:pPr algn="l">
                <a:lnSpc>
                  <a:spcPts val="1070"/>
                </a:lnSpc>
              </a:pPr>
              <a:r>
                <a:rPr lang="en-US" sz="764" b="1">
                  <a:solidFill>
                    <a:srgbClr val="1800AD"/>
                  </a:solidFill>
                  <a:latin typeface="Canva Sans Bold"/>
                  <a:ea typeface="Canva Sans Bold"/>
                  <a:cs typeface="Canva Sans Bold"/>
                  <a:sym typeface="Canva Sans Bold"/>
                </a:rPr>
                <a:t>Stemming/Lemmatization</a:t>
              </a:r>
            </a:p>
          </p:txBody>
        </p:sp>
        <p:sp>
          <p:nvSpPr>
            <p:cNvPr id="35" name="TextBox 35"/>
            <p:cNvSpPr txBox="1"/>
            <p:nvPr/>
          </p:nvSpPr>
          <p:spPr>
            <a:xfrm>
              <a:off x="3510478" y="2671715"/>
              <a:ext cx="1905881" cy="452945"/>
            </a:xfrm>
            <a:prstGeom prst="rect">
              <a:avLst/>
            </a:prstGeom>
          </p:spPr>
          <p:txBody>
            <a:bodyPr lIns="0" tIns="0" rIns="0" bIns="0" rtlCol="0" anchor="t">
              <a:spAutoFit/>
            </a:bodyPr>
            <a:lstStyle/>
            <a:p>
              <a:pPr marL="145583" lvl="1" indent="-72792" algn="l">
                <a:lnSpc>
                  <a:spcPts val="944"/>
                </a:lnSpc>
                <a:buFont typeface="Arial"/>
                <a:buChar char="•"/>
              </a:pPr>
              <a:r>
                <a:rPr lang="en-US" sz="674" b="1">
                  <a:solidFill>
                    <a:srgbClr val="1800AD"/>
                  </a:solidFill>
                  <a:latin typeface="Canva Sans Bold"/>
                  <a:ea typeface="Canva Sans Bold"/>
                  <a:cs typeface="Canva Sans Bold"/>
                  <a:sym typeface="Canva Sans Bold"/>
                </a:rPr>
                <a:t>Preprocessing Basic</a:t>
              </a:r>
            </a:p>
            <a:p>
              <a:pPr marL="145583" lvl="1" indent="-72792" algn="l">
                <a:lnSpc>
                  <a:spcPts val="944"/>
                </a:lnSpc>
                <a:buFont typeface="Arial"/>
                <a:buChar char="•"/>
              </a:pPr>
              <a:r>
                <a:rPr lang="en-US" sz="674" b="1">
                  <a:solidFill>
                    <a:srgbClr val="1800AD"/>
                  </a:solidFill>
                  <a:latin typeface="Canva Sans Bold"/>
                  <a:ea typeface="Canva Sans Bold"/>
                  <a:cs typeface="Canva Sans Bold"/>
                  <a:sym typeface="Canva Sans Bold"/>
                </a:rPr>
                <a:t>Preprocessing No Steam</a:t>
              </a:r>
            </a:p>
            <a:p>
              <a:pPr marL="145583" lvl="1" indent="-72792" algn="l">
                <a:lnSpc>
                  <a:spcPts val="944"/>
                </a:lnSpc>
                <a:buFont typeface="Arial"/>
                <a:buChar char="•"/>
              </a:pPr>
              <a:r>
                <a:rPr lang="en-US" sz="674" b="1">
                  <a:solidFill>
                    <a:srgbClr val="1800AD"/>
                  </a:solidFill>
                  <a:latin typeface="Canva Sans Bold"/>
                  <a:ea typeface="Canva Sans Bold"/>
                  <a:cs typeface="Canva Sans Bold"/>
                  <a:sym typeface="Canva Sans Bold"/>
                </a:rPr>
                <a:t>Preprocessing Advances</a:t>
              </a:r>
            </a:p>
          </p:txBody>
        </p:sp>
        <p:grpSp>
          <p:nvGrpSpPr>
            <p:cNvPr id="36" name="Group 36"/>
            <p:cNvGrpSpPr/>
            <p:nvPr/>
          </p:nvGrpSpPr>
          <p:grpSpPr>
            <a:xfrm>
              <a:off x="6461093" y="154007"/>
              <a:ext cx="5118401" cy="3163011"/>
              <a:chOff x="0" y="0"/>
              <a:chExt cx="1477754" cy="913205"/>
            </a:xfrm>
          </p:grpSpPr>
          <p:sp>
            <p:nvSpPr>
              <p:cNvPr id="37" name="Freeform 37"/>
              <p:cNvSpPr/>
              <p:nvPr/>
            </p:nvSpPr>
            <p:spPr>
              <a:xfrm>
                <a:off x="0" y="0"/>
                <a:ext cx="1477754" cy="913205"/>
              </a:xfrm>
              <a:custGeom>
                <a:avLst/>
                <a:gdLst/>
                <a:ahLst/>
                <a:cxnLst/>
                <a:rect l="l" t="t" r="r" b="b"/>
                <a:pathLst>
                  <a:path w="1477754" h="913205">
                    <a:moveTo>
                      <a:pt x="52436" y="0"/>
                    </a:moveTo>
                    <a:lnTo>
                      <a:pt x="1425318" y="0"/>
                    </a:lnTo>
                    <a:cubicBezTo>
                      <a:pt x="1454278" y="0"/>
                      <a:pt x="1477754" y="23476"/>
                      <a:pt x="1477754" y="52436"/>
                    </a:cubicBezTo>
                    <a:lnTo>
                      <a:pt x="1477754" y="860769"/>
                    </a:lnTo>
                    <a:cubicBezTo>
                      <a:pt x="1477754" y="889729"/>
                      <a:pt x="1454278" y="913205"/>
                      <a:pt x="1425318" y="913205"/>
                    </a:cubicBezTo>
                    <a:lnTo>
                      <a:pt x="52436" y="913205"/>
                    </a:lnTo>
                    <a:cubicBezTo>
                      <a:pt x="23476" y="913205"/>
                      <a:pt x="0" y="889729"/>
                      <a:pt x="0" y="860769"/>
                    </a:cubicBezTo>
                    <a:lnTo>
                      <a:pt x="0" y="52436"/>
                    </a:lnTo>
                    <a:cubicBezTo>
                      <a:pt x="0" y="23476"/>
                      <a:pt x="23476" y="0"/>
                      <a:pt x="52436" y="0"/>
                    </a:cubicBezTo>
                    <a:close/>
                  </a:path>
                </a:pathLst>
              </a:custGeom>
              <a:solidFill>
                <a:srgbClr val="FFFFFF"/>
              </a:solidFill>
              <a:ln w="38100" cap="rnd">
                <a:solidFill>
                  <a:srgbClr val="FF751F"/>
                </a:solidFill>
                <a:prstDash val="solid"/>
                <a:round/>
              </a:ln>
            </p:spPr>
          </p:sp>
          <p:sp>
            <p:nvSpPr>
              <p:cNvPr id="38" name="TextBox 38"/>
              <p:cNvSpPr txBox="1"/>
              <p:nvPr/>
            </p:nvSpPr>
            <p:spPr>
              <a:xfrm>
                <a:off x="0" y="-47625"/>
                <a:ext cx="1477754" cy="960830"/>
              </a:xfrm>
              <a:prstGeom prst="rect">
                <a:avLst/>
              </a:prstGeom>
            </p:spPr>
            <p:txBody>
              <a:bodyPr lIns="34756" tIns="34756" rIns="34756" bIns="34756" rtlCol="0" anchor="ctr"/>
              <a:lstStyle/>
              <a:p>
                <a:pPr algn="ctr">
                  <a:lnSpc>
                    <a:spcPts val="2659"/>
                  </a:lnSpc>
                </a:pPr>
                <a:endParaRPr/>
              </a:p>
            </p:txBody>
          </p:sp>
        </p:grpSp>
        <p:sp>
          <p:nvSpPr>
            <p:cNvPr id="39" name="Freeform 39"/>
            <p:cNvSpPr/>
            <p:nvPr/>
          </p:nvSpPr>
          <p:spPr>
            <a:xfrm>
              <a:off x="7224593" y="1229167"/>
              <a:ext cx="902216" cy="1012691"/>
            </a:xfrm>
            <a:custGeom>
              <a:avLst/>
              <a:gdLst/>
              <a:ahLst/>
              <a:cxnLst/>
              <a:rect l="l" t="t" r="r" b="b"/>
              <a:pathLst>
                <a:path w="902216" h="1012691">
                  <a:moveTo>
                    <a:pt x="0" y="0"/>
                  </a:moveTo>
                  <a:lnTo>
                    <a:pt x="902216" y="0"/>
                  </a:lnTo>
                  <a:lnTo>
                    <a:pt x="902216" y="1012691"/>
                  </a:lnTo>
                  <a:lnTo>
                    <a:pt x="0" y="1012691"/>
                  </a:lnTo>
                  <a:lnTo>
                    <a:pt x="0" y="0"/>
                  </a:lnTo>
                  <a:close/>
                </a:path>
              </a:pathLst>
            </a:custGeom>
            <a:blipFill>
              <a:blip>
                <a:extLst>
                  <a:ext uri="{96DAC541-7B7A-43D3-8B79-37D633B846F1}">
                    <asvg:svgBlip xmlns:asvg="http://schemas.microsoft.com/office/drawing/2016/SVG/main" r:embed="rId9"/>
                  </a:ext>
                </a:extLst>
              </a:blip>
              <a:stretch>
                <a:fillRect/>
              </a:stretch>
            </a:blipFill>
          </p:spPr>
        </p:sp>
        <p:sp>
          <p:nvSpPr>
            <p:cNvPr id="40" name="TextBox 40"/>
            <p:cNvSpPr txBox="1"/>
            <p:nvPr/>
          </p:nvSpPr>
          <p:spPr>
            <a:xfrm>
              <a:off x="7830271" y="276194"/>
              <a:ext cx="2380045" cy="343879"/>
            </a:xfrm>
            <a:prstGeom prst="rect">
              <a:avLst/>
            </a:prstGeom>
          </p:spPr>
          <p:txBody>
            <a:bodyPr lIns="0" tIns="0" rIns="0" bIns="0" rtlCol="0" anchor="t">
              <a:spAutoFit/>
            </a:bodyPr>
            <a:lstStyle/>
            <a:p>
              <a:pPr algn="ctr">
                <a:lnSpc>
                  <a:spcPts val="2190"/>
                </a:lnSpc>
              </a:pPr>
              <a:r>
                <a:rPr lang="en-US" sz="1564" b="1">
                  <a:solidFill>
                    <a:srgbClr val="1800AD"/>
                  </a:solidFill>
                  <a:latin typeface="Canva Sans Bold"/>
                  <a:ea typeface="Canva Sans Bold"/>
                  <a:cs typeface="Canva Sans Bold"/>
                  <a:sym typeface="Canva Sans Bold"/>
                </a:rPr>
                <a:t>TOPIC MODELING</a:t>
              </a:r>
            </a:p>
          </p:txBody>
        </p:sp>
        <p:sp>
          <p:nvSpPr>
            <p:cNvPr id="41" name="TextBox 41"/>
            <p:cNvSpPr txBox="1"/>
            <p:nvPr/>
          </p:nvSpPr>
          <p:spPr>
            <a:xfrm>
              <a:off x="6803689" y="2384733"/>
              <a:ext cx="2216605" cy="691224"/>
            </a:xfrm>
            <a:prstGeom prst="rect">
              <a:avLst/>
            </a:prstGeom>
          </p:spPr>
          <p:txBody>
            <a:bodyPr lIns="0" tIns="0" rIns="0" bIns="0" rtlCol="0" anchor="t">
              <a:spAutoFit/>
            </a:bodyPr>
            <a:lstStyle/>
            <a:p>
              <a:pPr marL="169318" lvl="1" indent="-84659" algn="l">
                <a:lnSpc>
                  <a:spcPts val="1097"/>
                </a:lnSpc>
                <a:buFont typeface="Arial"/>
                <a:buChar char="•"/>
              </a:pPr>
              <a:r>
                <a:rPr lang="en-US" sz="784" b="1">
                  <a:solidFill>
                    <a:srgbClr val="1800AD"/>
                  </a:solidFill>
                  <a:latin typeface="Canva Sans Bold"/>
                  <a:ea typeface="Canva Sans Bold"/>
                  <a:cs typeface="Canva Sans Bold"/>
                  <a:sym typeface="Canva Sans Bold"/>
                </a:rPr>
                <a:t>Optimasi Jumlah Topik (K)</a:t>
              </a:r>
            </a:p>
            <a:p>
              <a:pPr marL="169318" lvl="1" indent="-84659" algn="l">
                <a:lnSpc>
                  <a:spcPts val="1097"/>
                </a:lnSpc>
                <a:buFont typeface="Arial"/>
                <a:buChar char="•"/>
              </a:pPr>
              <a:r>
                <a:rPr lang="en-US" sz="784" b="1">
                  <a:solidFill>
                    <a:srgbClr val="1800AD"/>
                  </a:solidFill>
                  <a:latin typeface="Canva Sans Bold"/>
                  <a:ea typeface="Canva Sans Bold"/>
                  <a:cs typeface="Canva Sans Bold"/>
                  <a:sym typeface="Canva Sans Bold"/>
                </a:rPr>
                <a:t>Varitional Inference</a:t>
              </a:r>
            </a:p>
            <a:p>
              <a:pPr marL="169318" lvl="1" indent="-84659" algn="l">
                <a:lnSpc>
                  <a:spcPts val="1097"/>
                </a:lnSpc>
                <a:buFont typeface="Arial"/>
                <a:buChar char="•"/>
              </a:pPr>
              <a:r>
                <a:rPr lang="en-US" sz="784" b="1">
                  <a:solidFill>
                    <a:srgbClr val="1800AD"/>
                  </a:solidFill>
                  <a:latin typeface="Canva Sans Bold"/>
                  <a:ea typeface="Canva Sans Bold"/>
                  <a:cs typeface="Canva Sans Bold"/>
                  <a:sym typeface="Canva Sans Bold"/>
                </a:rPr>
                <a:t>Logistic Normal Distribution</a:t>
              </a:r>
            </a:p>
            <a:p>
              <a:pPr marL="169318" lvl="1" indent="-84659" algn="l">
                <a:lnSpc>
                  <a:spcPts val="1097"/>
                </a:lnSpc>
                <a:buFont typeface="Arial"/>
                <a:buChar char="•"/>
              </a:pPr>
              <a:r>
                <a:rPr lang="en-US" sz="784" b="1">
                  <a:solidFill>
                    <a:srgbClr val="1800AD"/>
                  </a:solidFill>
                  <a:latin typeface="Canva Sans Bold"/>
                  <a:ea typeface="Canva Sans Bold"/>
                  <a:cs typeface="Canva Sans Bold"/>
                  <a:sym typeface="Canva Sans Bold"/>
                </a:rPr>
                <a:t>Topic Correlation</a:t>
              </a:r>
            </a:p>
          </p:txBody>
        </p:sp>
        <p:sp>
          <p:nvSpPr>
            <p:cNvPr id="42" name="TextBox 42"/>
            <p:cNvSpPr txBox="1"/>
            <p:nvPr/>
          </p:nvSpPr>
          <p:spPr>
            <a:xfrm>
              <a:off x="6714464" y="738393"/>
              <a:ext cx="1922474" cy="343879"/>
            </a:xfrm>
            <a:prstGeom prst="rect">
              <a:avLst/>
            </a:prstGeom>
          </p:spPr>
          <p:txBody>
            <a:bodyPr lIns="0" tIns="0" rIns="0" bIns="0" rtlCol="0" anchor="t">
              <a:spAutoFit/>
            </a:bodyPr>
            <a:lstStyle/>
            <a:p>
              <a:pPr algn="ctr">
                <a:lnSpc>
                  <a:spcPts val="2190"/>
                </a:lnSpc>
              </a:pPr>
              <a:r>
                <a:rPr lang="en-US" sz="1564" b="1">
                  <a:solidFill>
                    <a:srgbClr val="CF4119"/>
                  </a:solidFill>
                  <a:latin typeface="Canva Sans Bold"/>
                  <a:ea typeface="Canva Sans Bold"/>
                  <a:cs typeface="Canva Sans Bold"/>
                  <a:sym typeface="Canva Sans Bold"/>
                </a:rPr>
                <a:t>CTM</a:t>
              </a:r>
            </a:p>
          </p:txBody>
        </p:sp>
        <p:sp>
          <p:nvSpPr>
            <p:cNvPr id="43" name="TextBox 43"/>
            <p:cNvSpPr txBox="1"/>
            <p:nvPr/>
          </p:nvSpPr>
          <p:spPr>
            <a:xfrm>
              <a:off x="9106838" y="738393"/>
              <a:ext cx="1922474" cy="343879"/>
            </a:xfrm>
            <a:prstGeom prst="rect">
              <a:avLst/>
            </a:prstGeom>
          </p:spPr>
          <p:txBody>
            <a:bodyPr lIns="0" tIns="0" rIns="0" bIns="0" rtlCol="0" anchor="t">
              <a:spAutoFit/>
            </a:bodyPr>
            <a:lstStyle/>
            <a:p>
              <a:pPr algn="ctr">
                <a:lnSpc>
                  <a:spcPts val="2190"/>
                </a:lnSpc>
              </a:pPr>
              <a:r>
                <a:rPr lang="en-US" sz="1564" b="1">
                  <a:solidFill>
                    <a:srgbClr val="FF751F"/>
                  </a:solidFill>
                  <a:latin typeface="Canva Sans Bold"/>
                  <a:ea typeface="Canva Sans Bold"/>
                  <a:cs typeface="Canva Sans Bold"/>
                  <a:sym typeface="Canva Sans Bold"/>
                </a:rPr>
                <a:t>BERTopic</a:t>
              </a:r>
            </a:p>
          </p:txBody>
        </p:sp>
        <p:sp>
          <p:nvSpPr>
            <p:cNvPr id="44" name="Freeform 44"/>
            <p:cNvSpPr/>
            <p:nvPr/>
          </p:nvSpPr>
          <p:spPr>
            <a:xfrm>
              <a:off x="9572770" y="1134517"/>
              <a:ext cx="450045" cy="505152"/>
            </a:xfrm>
            <a:custGeom>
              <a:avLst/>
              <a:gdLst/>
              <a:ahLst/>
              <a:cxnLst/>
              <a:rect l="l" t="t" r="r" b="b"/>
              <a:pathLst>
                <a:path w="450045" h="505152">
                  <a:moveTo>
                    <a:pt x="0" y="0"/>
                  </a:moveTo>
                  <a:lnTo>
                    <a:pt x="450044" y="0"/>
                  </a:lnTo>
                  <a:lnTo>
                    <a:pt x="450044" y="505152"/>
                  </a:lnTo>
                  <a:lnTo>
                    <a:pt x="0" y="505152"/>
                  </a:lnTo>
                  <a:lnTo>
                    <a:pt x="0" y="0"/>
                  </a:lnTo>
                  <a:close/>
                </a:path>
              </a:pathLst>
            </a:custGeom>
            <a:blipFill>
              <a:blip>
                <a:extLst>
                  <a:ext uri="{96DAC541-7B7A-43D3-8B79-37D633B846F1}">
                    <asvg:svgBlip xmlns:asvg="http://schemas.microsoft.com/office/drawing/2016/SVG/main" r:embed="rId9"/>
                  </a:ext>
                </a:extLst>
              </a:blip>
              <a:stretch>
                <a:fillRect/>
              </a:stretch>
            </a:blipFill>
          </p:spPr>
        </p:sp>
        <p:sp>
          <p:nvSpPr>
            <p:cNvPr id="45" name="Freeform 45"/>
            <p:cNvSpPr/>
            <p:nvPr/>
          </p:nvSpPr>
          <p:spPr>
            <a:xfrm>
              <a:off x="10138736" y="1134517"/>
              <a:ext cx="450045" cy="505152"/>
            </a:xfrm>
            <a:custGeom>
              <a:avLst/>
              <a:gdLst/>
              <a:ahLst/>
              <a:cxnLst/>
              <a:rect l="l" t="t" r="r" b="b"/>
              <a:pathLst>
                <a:path w="450045" h="505152">
                  <a:moveTo>
                    <a:pt x="0" y="0"/>
                  </a:moveTo>
                  <a:lnTo>
                    <a:pt x="450045" y="0"/>
                  </a:lnTo>
                  <a:lnTo>
                    <a:pt x="450045" y="505152"/>
                  </a:lnTo>
                  <a:lnTo>
                    <a:pt x="0" y="505152"/>
                  </a:lnTo>
                  <a:lnTo>
                    <a:pt x="0" y="0"/>
                  </a:lnTo>
                  <a:close/>
                </a:path>
              </a:pathLst>
            </a:custGeom>
            <a:blipFill>
              <a:blip>
                <a:extLst>
                  <a:ext uri="{96DAC541-7B7A-43D3-8B79-37D633B846F1}">
                    <asvg:svgBlip xmlns:asvg="http://schemas.microsoft.com/office/drawing/2016/SVG/main" r:embed="rId9"/>
                  </a:ext>
                </a:extLst>
              </a:blip>
              <a:stretch>
                <a:fillRect/>
              </a:stretch>
            </a:blipFill>
          </p:spPr>
        </p:sp>
        <p:sp>
          <p:nvSpPr>
            <p:cNvPr id="46" name="Freeform 46"/>
            <p:cNvSpPr/>
            <p:nvPr/>
          </p:nvSpPr>
          <p:spPr>
            <a:xfrm>
              <a:off x="9797792" y="1535181"/>
              <a:ext cx="450045" cy="505152"/>
            </a:xfrm>
            <a:custGeom>
              <a:avLst/>
              <a:gdLst/>
              <a:ahLst/>
              <a:cxnLst/>
              <a:rect l="l" t="t" r="r" b="b"/>
              <a:pathLst>
                <a:path w="450045" h="505152">
                  <a:moveTo>
                    <a:pt x="0" y="0"/>
                  </a:moveTo>
                  <a:lnTo>
                    <a:pt x="450045" y="0"/>
                  </a:lnTo>
                  <a:lnTo>
                    <a:pt x="450045" y="505152"/>
                  </a:lnTo>
                  <a:lnTo>
                    <a:pt x="0" y="505152"/>
                  </a:lnTo>
                  <a:lnTo>
                    <a:pt x="0" y="0"/>
                  </a:lnTo>
                  <a:close/>
                </a:path>
              </a:pathLst>
            </a:custGeom>
            <a:blipFill>
              <a:blip>
                <a:extLst>
                  <a:ext uri="{96DAC541-7B7A-43D3-8B79-37D633B846F1}">
                    <asvg:svgBlip xmlns:asvg="http://schemas.microsoft.com/office/drawing/2016/SVG/main" r:embed="rId9"/>
                  </a:ext>
                </a:extLst>
              </a:blip>
              <a:stretch>
                <a:fillRect/>
              </a:stretch>
            </a:blipFill>
          </p:spPr>
        </p:sp>
        <p:sp>
          <p:nvSpPr>
            <p:cNvPr id="47" name="TextBox 47"/>
            <p:cNvSpPr txBox="1"/>
            <p:nvPr/>
          </p:nvSpPr>
          <p:spPr>
            <a:xfrm>
              <a:off x="9020294" y="2384733"/>
              <a:ext cx="2549061" cy="691224"/>
            </a:xfrm>
            <a:prstGeom prst="rect">
              <a:avLst/>
            </a:prstGeom>
          </p:spPr>
          <p:txBody>
            <a:bodyPr lIns="0" tIns="0" rIns="0" bIns="0" rtlCol="0" anchor="t">
              <a:spAutoFit/>
            </a:bodyPr>
            <a:lstStyle/>
            <a:p>
              <a:pPr marL="169318" lvl="1" indent="-84659" algn="l">
                <a:lnSpc>
                  <a:spcPts val="1097"/>
                </a:lnSpc>
                <a:buFont typeface="Arial"/>
                <a:buChar char="•"/>
              </a:pPr>
              <a:r>
                <a:rPr lang="en-US" sz="784" b="1">
                  <a:solidFill>
                    <a:srgbClr val="00BF63"/>
                  </a:solidFill>
                  <a:latin typeface="Canva Sans Bold"/>
                  <a:ea typeface="Canva Sans Bold"/>
                  <a:cs typeface="Canva Sans Bold"/>
                  <a:sym typeface="Canva Sans Bold"/>
                </a:rPr>
                <a:t>UMAP (Dimensionality Reduction)</a:t>
              </a:r>
            </a:p>
            <a:p>
              <a:pPr marL="169318" lvl="1" indent="-84659" algn="l">
                <a:lnSpc>
                  <a:spcPts val="1097"/>
                </a:lnSpc>
                <a:buFont typeface="Arial"/>
                <a:buChar char="•"/>
              </a:pPr>
              <a:r>
                <a:rPr lang="en-US" sz="784" b="1">
                  <a:solidFill>
                    <a:srgbClr val="00BF63"/>
                  </a:solidFill>
                  <a:latin typeface="Canva Sans Bold"/>
                  <a:ea typeface="Canva Sans Bold"/>
                  <a:cs typeface="Canva Sans Bold"/>
                  <a:sym typeface="Canva Sans Bold"/>
                </a:rPr>
                <a:t>HDBSCAN (Clustering)</a:t>
              </a:r>
            </a:p>
            <a:p>
              <a:pPr marL="169318" lvl="1" indent="-84659" algn="l">
                <a:lnSpc>
                  <a:spcPts val="1097"/>
                </a:lnSpc>
                <a:buFont typeface="Arial"/>
                <a:buChar char="•"/>
              </a:pPr>
              <a:r>
                <a:rPr lang="en-US" sz="784" b="1">
                  <a:solidFill>
                    <a:srgbClr val="00BF63"/>
                  </a:solidFill>
                  <a:latin typeface="Canva Sans Bold"/>
                  <a:ea typeface="Canva Sans Bold"/>
                  <a:cs typeface="Canva Sans Bold"/>
                  <a:sym typeface="Canva Sans Bold"/>
                </a:rPr>
                <a:t>C-TF-IDF (Topic Representation</a:t>
              </a:r>
            </a:p>
            <a:p>
              <a:pPr marL="169318" lvl="1" indent="-84659" algn="l">
                <a:lnSpc>
                  <a:spcPts val="1097"/>
                </a:lnSpc>
                <a:buFont typeface="Arial"/>
                <a:buChar char="•"/>
              </a:pPr>
              <a:r>
                <a:rPr lang="en-US" sz="784" b="1">
                  <a:solidFill>
                    <a:srgbClr val="00BF63"/>
                  </a:solidFill>
                  <a:latin typeface="Canva Sans Bold"/>
                  <a:ea typeface="Canva Sans Bold"/>
                  <a:cs typeface="Canva Sans Bold"/>
                  <a:sym typeface="Canva Sans Bold"/>
                </a:rPr>
                <a:t>Topic Extraction</a:t>
              </a:r>
            </a:p>
          </p:txBody>
        </p:sp>
        <p:sp>
          <p:nvSpPr>
            <p:cNvPr id="48" name="AutoShape 48"/>
            <p:cNvSpPr/>
            <p:nvPr/>
          </p:nvSpPr>
          <p:spPr>
            <a:xfrm flipV="1">
              <a:off x="8982194" y="937320"/>
              <a:ext cx="0" cy="2107625"/>
            </a:xfrm>
            <a:prstGeom prst="line">
              <a:avLst/>
            </a:prstGeom>
            <a:ln w="12700" cap="flat">
              <a:solidFill>
                <a:srgbClr val="658DEF"/>
              </a:solidFill>
              <a:prstDash val="solid"/>
              <a:headEnd type="none" w="sm" len="sm"/>
              <a:tailEnd type="none" w="sm" len="sm"/>
            </a:ln>
          </p:spPr>
        </p:sp>
        <p:grpSp>
          <p:nvGrpSpPr>
            <p:cNvPr id="49" name="Group 49"/>
            <p:cNvGrpSpPr/>
            <p:nvPr/>
          </p:nvGrpSpPr>
          <p:grpSpPr>
            <a:xfrm>
              <a:off x="12341495" y="231011"/>
              <a:ext cx="2471350" cy="3163011"/>
              <a:chOff x="0" y="0"/>
              <a:chExt cx="713513" cy="913205"/>
            </a:xfrm>
          </p:grpSpPr>
          <p:sp>
            <p:nvSpPr>
              <p:cNvPr id="50" name="Freeform 50"/>
              <p:cNvSpPr/>
              <p:nvPr/>
            </p:nvSpPr>
            <p:spPr>
              <a:xfrm>
                <a:off x="0" y="0"/>
                <a:ext cx="713513" cy="913205"/>
              </a:xfrm>
              <a:custGeom>
                <a:avLst/>
                <a:gdLst/>
                <a:ahLst/>
                <a:cxnLst/>
                <a:rect l="l" t="t" r="r" b="b"/>
                <a:pathLst>
                  <a:path w="713513" h="913205">
                    <a:moveTo>
                      <a:pt x="108599" y="0"/>
                    </a:moveTo>
                    <a:lnTo>
                      <a:pt x="604914" y="0"/>
                    </a:lnTo>
                    <a:cubicBezTo>
                      <a:pt x="633716" y="0"/>
                      <a:pt x="661339" y="11442"/>
                      <a:pt x="681705" y="31808"/>
                    </a:cubicBezTo>
                    <a:cubicBezTo>
                      <a:pt x="702071" y="52174"/>
                      <a:pt x="713513" y="79797"/>
                      <a:pt x="713513" y="108599"/>
                    </a:cubicBezTo>
                    <a:lnTo>
                      <a:pt x="713513" y="804606"/>
                    </a:lnTo>
                    <a:cubicBezTo>
                      <a:pt x="713513" y="864584"/>
                      <a:pt x="664892" y="913205"/>
                      <a:pt x="604914" y="913205"/>
                    </a:cubicBezTo>
                    <a:lnTo>
                      <a:pt x="108599" y="913205"/>
                    </a:lnTo>
                    <a:cubicBezTo>
                      <a:pt x="48622" y="913205"/>
                      <a:pt x="0" y="864584"/>
                      <a:pt x="0" y="804606"/>
                    </a:cubicBezTo>
                    <a:lnTo>
                      <a:pt x="0" y="108599"/>
                    </a:lnTo>
                    <a:cubicBezTo>
                      <a:pt x="0" y="48622"/>
                      <a:pt x="48622" y="0"/>
                      <a:pt x="108599" y="0"/>
                    </a:cubicBezTo>
                    <a:close/>
                  </a:path>
                </a:pathLst>
              </a:custGeom>
              <a:solidFill>
                <a:srgbClr val="FFFFFF"/>
              </a:solidFill>
              <a:ln w="38100" cap="rnd">
                <a:solidFill>
                  <a:srgbClr val="00BF63"/>
                </a:solidFill>
                <a:prstDash val="solid"/>
                <a:round/>
              </a:ln>
            </p:spPr>
          </p:sp>
          <p:sp>
            <p:nvSpPr>
              <p:cNvPr id="51" name="TextBox 51"/>
              <p:cNvSpPr txBox="1"/>
              <p:nvPr/>
            </p:nvSpPr>
            <p:spPr>
              <a:xfrm>
                <a:off x="0" y="-47625"/>
                <a:ext cx="713513" cy="960830"/>
              </a:xfrm>
              <a:prstGeom prst="rect">
                <a:avLst/>
              </a:prstGeom>
            </p:spPr>
            <p:txBody>
              <a:bodyPr lIns="34756" tIns="34756" rIns="34756" bIns="34756" rtlCol="0" anchor="ctr"/>
              <a:lstStyle/>
              <a:p>
                <a:pPr algn="ctr">
                  <a:lnSpc>
                    <a:spcPts val="2659"/>
                  </a:lnSpc>
                </a:pPr>
                <a:endParaRPr/>
              </a:p>
            </p:txBody>
          </p:sp>
        </p:grpSp>
        <p:sp>
          <p:nvSpPr>
            <p:cNvPr id="52" name="Freeform 52"/>
            <p:cNvSpPr/>
            <p:nvPr/>
          </p:nvSpPr>
          <p:spPr>
            <a:xfrm>
              <a:off x="12798362" y="892287"/>
              <a:ext cx="1486810" cy="1059690"/>
            </a:xfrm>
            <a:custGeom>
              <a:avLst/>
              <a:gdLst/>
              <a:ahLst/>
              <a:cxnLst/>
              <a:rect l="l" t="t" r="r" b="b"/>
              <a:pathLst>
                <a:path w="1486810" h="1059690">
                  <a:moveTo>
                    <a:pt x="0" y="0"/>
                  </a:moveTo>
                  <a:lnTo>
                    <a:pt x="1486810" y="0"/>
                  </a:lnTo>
                  <a:lnTo>
                    <a:pt x="1486810" y="1059690"/>
                  </a:lnTo>
                  <a:lnTo>
                    <a:pt x="0" y="1059690"/>
                  </a:lnTo>
                  <a:lnTo>
                    <a:pt x="0" y="0"/>
                  </a:lnTo>
                  <a:close/>
                </a:path>
              </a:pathLst>
            </a:custGeom>
            <a:blipFill>
              <a:blip>
                <a:extLst>
                  <a:ext uri="{96DAC541-7B7A-43D3-8B79-37D633B846F1}">
                    <asvg:svgBlip xmlns:asvg="http://schemas.microsoft.com/office/drawing/2016/SVG/main" r:embed="rId10"/>
                  </a:ext>
                </a:extLst>
              </a:blip>
              <a:stretch>
                <a:fillRect/>
              </a:stretch>
            </a:blipFill>
          </p:spPr>
        </p:sp>
        <p:sp>
          <p:nvSpPr>
            <p:cNvPr id="53" name="TextBox 53"/>
            <p:cNvSpPr txBox="1"/>
            <p:nvPr/>
          </p:nvSpPr>
          <p:spPr>
            <a:xfrm>
              <a:off x="12432799" y="441690"/>
              <a:ext cx="2380045" cy="343879"/>
            </a:xfrm>
            <a:prstGeom prst="rect">
              <a:avLst/>
            </a:prstGeom>
          </p:spPr>
          <p:txBody>
            <a:bodyPr lIns="0" tIns="0" rIns="0" bIns="0" rtlCol="0" anchor="t">
              <a:spAutoFit/>
            </a:bodyPr>
            <a:lstStyle/>
            <a:p>
              <a:pPr algn="ctr">
                <a:lnSpc>
                  <a:spcPts val="2190"/>
                </a:lnSpc>
              </a:pPr>
              <a:r>
                <a:rPr lang="en-US" sz="1564" b="1">
                  <a:solidFill>
                    <a:srgbClr val="1800AD"/>
                  </a:solidFill>
                  <a:latin typeface="Canva Sans Bold"/>
                  <a:ea typeface="Canva Sans Bold"/>
                  <a:cs typeface="Canva Sans Bold"/>
                  <a:sym typeface="Canva Sans Bold"/>
                </a:rPr>
                <a:t>EVALUATION</a:t>
              </a:r>
            </a:p>
          </p:txBody>
        </p:sp>
        <p:sp>
          <p:nvSpPr>
            <p:cNvPr id="54" name="TextBox 54"/>
            <p:cNvSpPr txBox="1"/>
            <p:nvPr/>
          </p:nvSpPr>
          <p:spPr>
            <a:xfrm>
              <a:off x="12615932" y="2159596"/>
              <a:ext cx="1922474" cy="596964"/>
            </a:xfrm>
            <a:prstGeom prst="rect">
              <a:avLst/>
            </a:prstGeom>
          </p:spPr>
          <p:txBody>
            <a:bodyPr lIns="0" tIns="0" rIns="0" bIns="0" rtlCol="0" anchor="t">
              <a:spAutoFit/>
            </a:bodyPr>
            <a:lstStyle/>
            <a:p>
              <a:pPr algn="ctr">
                <a:lnSpc>
                  <a:spcPts val="930"/>
                </a:lnSpc>
              </a:pPr>
              <a:r>
                <a:rPr lang="en-US" sz="664" b="1">
                  <a:solidFill>
                    <a:srgbClr val="1800AD"/>
                  </a:solidFill>
                  <a:latin typeface="Canva Sans Bold"/>
                  <a:ea typeface="Canva Sans Bold"/>
                  <a:cs typeface="Canva Sans Bold"/>
                  <a:sym typeface="Canva Sans Bold"/>
                </a:rPr>
                <a:t>Coherence Score</a:t>
              </a:r>
            </a:p>
            <a:p>
              <a:pPr algn="ctr">
                <a:lnSpc>
                  <a:spcPts val="930"/>
                </a:lnSpc>
              </a:pPr>
              <a:r>
                <a:rPr lang="en-US" sz="664" b="1">
                  <a:solidFill>
                    <a:srgbClr val="1800AD"/>
                  </a:solidFill>
                  <a:latin typeface="Canva Sans Bold"/>
                  <a:ea typeface="Canva Sans Bold"/>
                  <a:cs typeface="Canva Sans Bold"/>
                  <a:sym typeface="Canva Sans Bold"/>
                </a:rPr>
                <a:t>Diversity Score</a:t>
              </a:r>
            </a:p>
            <a:p>
              <a:pPr algn="ctr">
                <a:lnSpc>
                  <a:spcPts val="930"/>
                </a:lnSpc>
              </a:pPr>
              <a:r>
                <a:rPr lang="en-US" sz="664" b="1">
                  <a:solidFill>
                    <a:srgbClr val="1800AD"/>
                  </a:solidFill>
                  <a:latin typeface="Canva Sans Bold"/>
                  <a:ea typeface="Canva Sans Bold"/>
                  <a:cs typeface="Canva Sans Bold"/>
                  <a:sym typeface="Canva Sans Bold"/>
                </a:rPr>
                <a:t>NPMI</a:t>
              </a:r>
            </a:p>
            <a:p>
              <a:pPr algn="ctr">
                <a:lnSpc>
                  <a:spcPts val="930"/>
                </a:lnSpc>
              </a:pPr>
              <a:r>
                <a:rPr lang="en-US" sz="664" b="1">
                  <a:solidFill>
                    <a:srgbClr val="1800AD"/>
                  </a:solidFill>
                  <a:latin typeface="Canva Sans Bold"/>
                  <a:ea typeface="Canva Sans Bold"/>
                  <a:cs typeface="Canva Sans Bold"/>
                  <a:sym typeface="Canva Sans Bold"/>
                </a:rPr>
                <a:t>UMass</a:t>
              </a:r>
            </a:p>
          </p:txBody>
        </p:sp>
        <p:sp>
          <p:nvSpPr>
            <p:cNvPr id="55" name="TextBox 55"/>
            <p:cNvSpPr txBox="1"/>
            <p:nvPr/>
          </p:nvSpPr>
          <p:spPr>
            <a:xfrm>
              <a:off x="12615932" y="2833250"/>
              <a:ext cx="1922474" cy="296749"/>
            </a:xfrm>
            <a:prstGeom prst="rect">
              <a:avLst/>
            </a:prstGeom>
          </p:spPr>
          <p:txBody>
            <a:bodyPr lIns="0" tIns="0" rIns="0" bIns="0" rtlCol="0" anchor="t">
              <a:spAutoFit/>
            </a:bodyPr>
            <a:lstStyle/>
            <a:p>
              <a:pPr algn="ctr">
                <a:lnSpc>
                  <a:spcPts val="930"/>
                </a:lnSpc>
              </a:pPr>
              <a:r>
                <a:rPr lang="en-US" sz="664" b="1">
                  <a:solidFill>
                    <a:srgbClr val="00BF63"/>
                  </a:solidFill>
                  <a:latin typeface="Canva Sans Bold"/>
                  <a:ea typeface="Canva Sans Bold"/>
                  <a:cs typeface="Canva Sans Bold"/>
                  <a:sym typeface="Canva Sans Bold"/>
                </a:rPr>
                <a:t>Menilai Kualitas dan Keragaman Topik dari Kedua Model</a:t>
              </a:r>
            </a:p>
          </p:txBody>
        </p:sp>
        <p:grpSp>
          <p:nvGrpSpPr>
            <p:cNvPr id="56" name="Group 56"/>
            <p:cNvGrpSpPr/>
            <p:nvPr/>
          </p:nvGrpSpPr>
          <p:grpSpPr>
            <a:xfrm>
              <a:off x="15574845" y="77004"/>
              <a:ext cx="2610185" cy="3317018"/>
              <a:chOff x="0" y="0"/>
              <a:chExt cx="825973" cy="1049645"/>
            </a:xfrm>
          </p:grpSpPr>
          <p:sp>
            <p:nvSpPr>
              <p:cNvPr id="57" name="Freeform 57"/>
              <p:cNvSpPr/>
              <p:nvPr/>
            </p:nvSpPr>
            <p:spPr>
              <a:xfrm>
                <a:off x="0" y="0"/>
                <a:ext cx="825973" cy="1049645"/>
              </a:xfrm>
              <a:custGeom>
                <a:avLst/>
                <a:gdLst/>
                <a:ahLst/>
                <a:cxnLst/>
                <a:rect l="l" t="t" r="r" b="b"/>
                <a:pathLst>
                  <a:path w="825973" h="1049645">
                    <a:moveTo>
                      <a:pt x="102823" y="0"/>
                    </a:moveTo>
                    <a:lnTo>
                      <a:pt x="723150" y="0"/>
                    </a:lnTo>
                    <a:cubicBezTo>
                      <a:pt x="750420" y="0"/>
                      <a:pt x="776574" y="10833"/>
                      <a:pt x="795857" y="30116"/>
                    </a:cubicBezTo>
                    <a:cubicBezTo>
                      <a:pt x="815140" y="49399"/>
                      <a:pt x="825973" y="75553"/>
                      <a:pt x="825973" y="102823"/>
                    </a:cubicBezTo>
                    <a:lnTo>
                      <a:pt x="825973" y="946822"/>
                    </a:lnTo>
                    <a:cubicBezTo>
                      <a:pt x="825973" y="974092"/>
                      <a:pt x="815140" y="1000246"/>
                      <a:pt x="795857" y="1019529"/>
                    </a:cubicBezTo>
                    <a:cubicBezTo>
                      <a:pt x="776574" y="1038812"/>
                      <a:pt x="750420" y="1049645"/>
                      <a:pt x="723150" y="1049645"/>
                    </a:cubicBezTo>
                    <a:lnTo>
                      <a:pt x="102823" y="1049645"/>
                    </a:lnTo>
                    <a:cubicBezTo>
                      <a:pt x="75553" y="1049645"/>
                      <a:pt x="49399" y="1038812"/>
                      <a:pt x="30116" y="1019529"/>
                    </a:cubicBezTo>
                    <a:cubicBezTo>
                      <a:pt x="10833" y="1000246"/>
                      <a:pt x="0" y="974092"/>
                      <a:pt x="0" y="946822"/>
                    </a:cubicBezTo>
                    <a:lnTo>
                      <a:pt x="0" y="102823"/>
                    </a:lnTo>
                    <a:cubicBezTo>
                      <a:pt x="0" y="75553"/>
                      <a:pt x="10833" y="49399"/>
                      <a:pt x="30116" y="30116"/>
                    </a:cubicBezTo>
                    <a:cubicBezTo>
                      <a:pt x="49399" y="10833"/>
                      <a:pt x="75553" y="0"/>
                      <a:pt x="102823" y="0"/>
                    </a:cubicBezTo>
                    <a:close/>
                  </a:path>
                </a:pathLst>
              </a:custGeom>
              <a:solidFill>
                <a:srgbClr val="FFFFFF"/>
              </a:solidFill>
              <a:ln w="38100" cap="rnd">
                <a:solidFill>
                  <a:srgbClr val="CF4119"/>
                </a:solidFill>
                <a:prstDash val="solid"/>
                <a:round/>
              </a:ln>
            </p:spPr>
          </p:sp>
          <p:sp>
            <p:nvSpPr>
              <p:cNvPr id="58" name="TextBox 58"/>
              <p:cNvSpPr txBox="1"/>
              <p:nvPr/>
            </p:nvSpPr>
            <p:spPr>
              <a:xfrm>
                <a:off x="0" y="-47625"/>
                <a:ext cx="825973" cy="1097270"/>
              </a:xfrm>
              <a:prstGeom prst="rect">
                <a:avLst/>
              </a:prstGeom>
            </p:spPr>
            <p:txBody>
              <a:bodyPr lIns="31711" tIns="31711" rIns="31711" bIns="31711" rtlCol="0" anchor="ctr"/>
              <a:lstStyle/>
              <a:p>
                <a:pPr algn="ctr">
                  <a:lnSpc>
                    <a:spcPts val="2659"/>
                  </a:lnSpc>
                </a:pPr>
                <a:endParaRPr/>
              </a:p>
            </p:txBody>
          </p:sp>
        </p:grpSp>
        <p:sp>
          <p:nvSpPr>
            <p:cNvPr id="59" name="Freeform 59"/>
            <p:cNvSpPr/>
            <p:nvPr/>
          </p:nvSpPr>
          <p:spPr>
            <a:xfrm>
              <a:off x="16187225" y="1042801"/>
              <a:ext cx="1385424" cy="1385424"/>
            </a:xfrm>
            <a:custGeom>
              <a:avLst/>
              <a:gdLst/>
              <a:ahLst/>
              <a:cxnLst/>
              <a:rect l="l" t="t" r="r" b="b"/>
              <a:pathLst>
                <a:path w="1385424" h="1385424">
                  <a:moveTo>
                    <a:pt x="0" y="0"/>
                  </a:moveTo>
                  <a:lnTo>
                    <a:pt x="1385424" y="0"/>
                  </a:lnTo>
                  <a:lnTo>
                    <a:pt x="1385424" y="1385424"/>
                  </a:lnTo>
                  <a:lnTo>
                    <a:pt x="0" y="1385424"/>
                  </a:lnTo>
                  <a:lnTo>
                    <a:pt x="0" y="0"/>
                  </a:lnTo>
                  <a:close/>
                </a:path>
              </a:pathLst>
            </a:custGeom>
            <a:blipFill>
              <a:blip r:embed="rId11"/>
              <a:stretch>
                <a:fillRect/>
              </a:stretch>
            </a:blipFill>
          </p:spPr>
        </p:sp>
        <p:sp>
          <p:nvSpPr>
            <p:cNvPr id="60" name="TextBox 60"/>
            <p:cNvSpPr txBox="1"/>
            <p:nvPr/>
          </p:nvSpPr>
          <p:spPr>
            <a:xfrm>
              <a:off x="15629757" y="363313"/>
              <a:ext cx="2500360" cy="343879"/>
            </a:xfrm>
            <a:prstGeom prst="rect">
              <a:avLst/>
            </a:prstGeom>
          </p:spPr>
          <p:txBody>
            <a:bodyPr lIns="0" tIns="0" rIns="0" bIns="0" rtlCol="0" anchor="t">
              <a:spAutoFit/>
            </a:bodyPr>
            <a:lstStyle/>
            <a:p>
              <a:pPr algn="ctr">
                <a:lnSpc>
                  <a:spcPts val="2190"/>
                </a:lnSpc>
              </a:pPr>
              <a:r>
                <a:rPr lang="en-US" sz="1564" b="1">
                  <a:solidFill>
                    <a:srgbClr val="1800AD"/>
                  </a:solidFill>
                  <a:latin typeface="Canva Sans Bold"/>
                  <a:ea typeface="Canva Sans Bold"/>
                  <a:cs typeface="Canva Sans Bold"/>
                  <a:sym typeface="Canva Sans Bold"/>
                </a:rPr>
                <a:t> GABUNGAN</a:t>
              </a:r>
            </a:p>
          </p:txBody>
        </p:sp>
        <p:sp>
          <p:nvSpPr>
            <p:cNvPr id="61" name="TextBox 61"/>
            <p:cNvSpPr txBox="1"/>
            <p:nvPr/>
          </p:nvSpPr>
          <p:spPr>
            <a:xfrm>
              <a:off x="16054649" y="2293779"/>
              <a:ext cx="1922474" cy="446856"/>
            </a:xfrm>
            <a:prstGeom prst="rect">
              <a:avLst/>
            </a:prstGeom>
          </p:spPr>
          <p:txBody>
            <a:bodyPr lIns="0" tIns="0" rIns="0" bIns="0" rtlCol="0" anchor="t">
              <a:spAutoFit/>
            </a:bodyPr>
            <a:lstStyle/>
            <a:p>
              <a:pPr algn="ctr">
                <a:lnSpc>
                  <a:spcPts val="930"/>
                </a:lnSpc>
              </a:pPr>
              <a:r>
                <a:rPr lang="en-US" sz="664" b="1">
                  <a:solidFill>
                    <a:srgbClr val="1800AD"/>
                  </a:solidFill>
                  <a:latin typeface="Canva Sans Bold"/>
                  <a:ea typeface="Canva Sans Bold"/>
                  <a:cs typeface="Canva Sans Bold"/>
                  <a:sym typeface="Canva Sans Bold"/>
                </a:rPr>
                <a:t>Menggabungkan hasil topik CTM dan BERTopic dengan model Jaccard Similiarity</a:t>
              </a:r>
            </a:p>
          </p:txBody>
        </p:sp>
        <p:grpSp>
          <p:nvGrpSpPr>
            <p:cNvPr id="62" name="Group 62"/>
            <p:cNvGrpSpPr/>
            <p:nvPr/>
          </p:nvGrpSpPr>
          <p:grpSpPr>
            <a:xfrm>
              <a:off x="18947029" y="0"/>
              <a:ext cx="2610185" cy="3317018"/>
              <a:chOff x="0" y="0"/>
              <a:chExt cx="825973" cy="1049645"/>
            </a:xfrm>
          </p:grpSpPr>
          <p:sp>
            <p:nvSpPr>
              <p:cNvPr id="63" name="Freeform 63"/>
              <p:cNvSpPr/>
              <p:nvPr/>
            </p:nvSpPr>
            <p:spPr>
              <a:xfrm>
                <a:off x="0" y="0"/>
                <a:ext cx="825973" cy="1049645"/>
              </a:xfrm>
              <a:custGeom>
                <a:avLst/>
                <a:gdLst/>
                <a:ahLst/>
                <a:cxnLst/>
                <a:rect l="l" t="t" r="r" b="b"/>
                <a:pathLst>
                  <a:path w="825973" h="1049645">
                    <a:moveTo>
                      <a:pt x="102823" y="0"/>
                    </a:moveTo>
                    <a:lnTo>
                      <a:pt x="723150" y="0"/>
                    </a:lnTo>
                    <a:cubicBezTo>
                      <a:pt x="750420" y="0"/>
                      <a:pt x="776574" y="10833"/>
                      <a:pt x="795857" y="30116"/>
                    </a:cubicBezTo>
                    <a:cubicBezTo>
                      <a:pt x="815140" y="49399"/>
                      <a:pt x="825973" y="75553"/>
                      <a:pt x="825973" y="102823"/>
                    </a:cubicBezTo>
                    <a:lnTo>
                      <a:pt x="825973" y="946822"/>
                    </a:lnTo>
                    <a:cubicBezTo>
                      <a:pt x="825973" y="974092"/>
                      <a:pt x="815140" y="1000246"/>
                      <a:pt x="795857" y="1019529"/>
                    </a:cubicBezTo>
                    <a:cubicBezTo>
                      <a:pt x="776574" y="1038812"/>
                      <a:pt x="750420" y="1049645"/>
                      <a:pt x="723150" y="1049645"/>
                    </a:cubicBezTo>
                    <a:lnTo>
                      <a:pt x="102823" y="1049645"/>
                    </a:lnTo>
                    <a:cubicBezTo>
                      <a:pt x="75553" y="1049645"/>
                      <a:pt x="49399" y="1038812"/>
                      <a:pt x="30116" y="1019529"/>
                    </a:cubicBezTo>
                    <a:cubicBezTo>
                      <a:pt x="10833" y="1000246"/>
                      <a:pt x="0" y="974092"/>
                      <a:pt x="0" y="946822"/>
                    </a:cubicBezTo>
                    <a:lnTo>
                      <a:pt x="0" y="102823"/>
                    </a:lnTo>
                    <a:cubicBezTo>
                      <a:pt x="0" y="75553"/>
                      <a:pt x="10833" y="49399"/>
                      <a:pt x="30116" y="30116"/>
                    </a:cubicBezTo>
                    <a:cubicBezTo>
                      <a:pt x="49399" y="10833"/>
                      <a:pt x="75553" y="0"/>
                      <a:pt x="102823" y="0"/>
                    </a:cubicBezTo>
                    <a:close/>
                  </a:path>
                </a:pathLst>
              </a:custGeom>
              <a:solidFill>
                <a:srgbClr val="FFFFFF"/>
              </a:solidFill>
              <a:ln w="38100" cap="rnd">
                <a:solidFill>
                  <a:srgbClr val="CF4119"/>
                </a:solidFill>
                <a:prstDash val="solid"/>
                <a:round/>
              </a:ln>
            </p:spPr>
          </p:sp>
          <p:sp>
            <p:nvSpPr>
              <p:cNvPr id="64" name="TextBox 64"/>
              <p:cNvSpPr txBox="1"/>
              <p:nvPr/>
            </p:nvSpPr>
            <p:spPr>
              <a:xfrm>
                <a:off x="0" y="-47625"/>
                <a:ext cx="825973" cy="1097270"/>
              </a:xfrm>
              <a:prstGeom prst="rect">
                <a:avLst/>
              </a:prstGeom>
            </p:spPr>
            <p:txBody>
              <a:bodyPr lIns="31711" tIns="31711" rIns="31711" bIns="31711" rtlCol="0" anchor="ctr"/>
              <a:lstStyle/>
              <a:p>
                <a:pPr algn="ctr">
                  <a:lnSpc>
                    <a:spcPts val="2659"/>
                  </a:lnSpc>
                </a:pPr>
                <a:endParaRPr/>
              </a:p>
            </p:txBody>
          </p:sp>
        </p:grpSp>
        <p:sp>
          <p:nvSpPr>
            <p:cNvPr id="65" name="Freeform 65"/>
            <p:cNvSpPr/>
            <p:nvPr/>
          </p:nvSpPr>
          <p:spPr>
            <a:xfrm>
              <a:off x="19626004" y="871515"/>
              <a:ext cx="1187609" cy="1187609"/>
            </a:xfrm>
            <a:custGeom>
              <a:avLst/>
              <a:gdLst/>
              <a:ahLst/>
              <a:cxnLst/>
              <a:rect l="l" t="t" r="r" b="b"/>
              <a:pathLst>
                <a:path w="1187609" h="1187609">
                  <a:moveTo>
                    <a:pt x="0" y="0"/>
                  </a:moveTo>
                  <a:lnTo>
                    <a:pt x="1187609" y="0"/>
                  </a:lnTo>
                  <a:lnTo>
                    <a:pt x="1187609" y="1187610"/>
                  </a:lnTo>
                  <a:lnTo>
                    <a:pt x="0" y="1187610"/>
                  </a:lnTo>
                  <a:lnTo>
                    <a:pt x="0" y="0"/>
                  </a:lnTo>
                  <a:close/>
                </a:path>
              </a:pathLst>
            </a:custGeom>
            <a:blipFill>
              <a:blip r:embed="rId12"/>
              <a:stretch>
                <a:fillRect/>
              </a:stretch>
            </a:blipFill>
          </p:spPr>
        </p:sp>
        <p:sp>
          <p:nvSpPr>
            <p:cNvPr id="66" name="TextBox 66"/>
            <p:cNvSpPr txBox="1"/>
            <p:nvPr/>
          </p:nvSpPr>
          <p:spPr>
            <a:xfrm>
              <a:off x="19001942" y="286309"/>
              <a:ext cx="2500360" cy="343879"/>
            </a:xfrm>
            <a:prstGeom prst="rect">
              <a:avLst/>
            </a:prstGeom>
          </p:spPr>
          <p:txBody>
            <a:bodyPr lIns="0" tIns="0" rIns="0" bIns="0" rtlCol="0" anchor="t">
              <a:spAutoFit/>
            </a:bodyPr>
            <a:lstStyle/>
            <a:p>
              <a:pPr algn="ctr">
                <a:lnSpc>
                  <a:spcPts val="2190"/>
                </a:lnSpc>
              </a:pPr>
              <a:r>
                <a:rPr lang="en-US" sz="1564" b="1">
                  <a:solidFill>
                    <a:srgbClr val="1800AD"/>
                  </a:solidFill>
                  <a:latin typeface="Canva Sans Bold"/>
                  <a:ea typeface="Canva Sans Bold"/>
                  <a:cs typeface="Canva Sans Bold"/>
                  <a:sym typeface="Canva Sans Bold"/>
                </a:rPr>
                <a:t>INTEPPRETASI</a:t>
              </a:r>
            </a:p>
          </p:txBody>
        </p:sp>
        <p:sp>
          <p:nvSpPr>
            <p:cNvPr id="67" name="TextBox 67"/>
            <p:cNvSpPr txBox="1"/>
            <p:nvPr/>
          </p:nvSpPr>
          <p:spPr>
            <a:xfrm>
              <a:off x="19426834" y="2216775"/>
              <a:ext cx="1922474" cy="446856"/>
            </a:xfrm>
            <a:prstGeom prst="rect">
              <a:avLst/>
            </a:prstGeom>
          </p:spPr>
          <p:txBody>
            <a:bodyPr lIns="0" tIns="0" rIns="0" bIns="0" rtlCol="0" anchor="t">
              <a:spAutoFit/>
            </a:bodyPr>
            <a:lstStyle/>
            <a:p>
              <a:pPr algn="ctr">
                <a:lnSpc>
                  <a:spcPts val="930"/>
                </a:lnSpc>
              </a:pPr>
              <a:r>
                <a:rPr lang="en-US" sz="664" b="1">
                  <a:solidFill>
                    <a:srgbClr val="1800AD"/>
                  </a:solidFill>
                  <a:latin typeface="Canva Sans Bold"/>
                  <a:ea typeface="Canva Sans Bold"/>
                  <a:cs typeface="Canva Sans Bold"/>
                  <a:sym typeface="Canva Sans Bold"/>
                </a:rPr>
                <a:t>Menginterpretasikan Kata kunci yang terbentuk sesuai dengan tema </a:t>
              </a:r>
            </a:p>
          </p:txBody>
        </p:sp>
      </p:grpSp>
      <p:sp>
        <p:nvSpPr>
          <p:cNvPr id="68" name="TextBox 68"/>
          <p:cNvSpPr txBox="1"/>
          <p:nvPr/>
        </p:nvSpPr>
        <p:spPr>
          <a:xfrm>
            <a:off x="1028700" y="1200862"/>
            <a:ext cx="11742081" cy="2068060"/>
          </a:xfrm>
          <a:prstGeom prst="rect">
            <a:avLst/>
          </a:prstGeom>
        </p:spPr>
        <p:txBody>
          <a:bodyPr lIns="0" tIns="0" rIns="0" bIns="0" rtlCol="0" anchor="t">
            <a:spAutoFit/>
          </a:bodyPr>
          <a:lstStyle/>
          <a:p>
            <a:pPr algn="l">
              <a:lnSpc>
                <a:spcPts val="8300"/>
              </a:lnSpc>
            </a:pPr>
            <a:r>
              <a:rPr lang="en-US" sz="5929" b="1">
                <a:solidFill>
                  <a:srgbClr val="1800AD"/>
                </a:solidFill>
                <a:latin typeface="Archivo Narrow Bold"/>
                <a:ea typeface="Archivo Narrow Bold"/>
                <a:cs typeface="Archivo Narrow Bold"/>
                <a:sym typeface="Archivo Narrow Bold"/>
              </a:rPr>
              <a:t>Research Pipeline</a:t>
            </a:r>
          </a:p>
          <a:p>
            <a:pPr algn="l">
              <a:lnSpc>
                <a:spcPts val="8300"/>
              </a:lnSpc>
              <a:spcBef>
                <a:spcPct val="0"/>
              </a:spcBef>
            </a:pPr>
            <a:endParaRPr lang="en-US" sz="5929" b="1">
              <a:solidFill>
                <a:srgbClr val="1800AD"/>
              </a:solidFill>
              <a:latin typeface="Archivo Narrow Bold"/>
              <a:ea typeface="Archivo Narrow Bold"/>
              <a:cs typeface="Archivo Narrow Bold"/>
              <a:sym typeface="Archivo Narrow Bold"/>
            </a:endParaRPr>
          </a:p>
        </p:txBody>
      </p:sp>
      <p:sp>
        <p:nvSpPr>
          <p:cNvPr id="69" name="TextBox 69"/>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04 | Metodelogi</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7724579" y="3061834"/>
            <a:ext cx="6313412" cy="11932565"/>
          </a:xfrm>
          <a:custGeom>
            <a:avLst/>
            <a:gdLst/>
            <a:ahLst/>
            <a:cxnLst/>
            <a:rect l="l" t="t" r="r" b="b"/>
            <a:pathLst>
              <a:path w="6313412" h="11932565">
                <a:moveTo>
                  <a:pt x="0" y="11932565"/>
                </a:moveTo>
                <a:lnTo>
                  <a:pt x="6313412" y="11932565"/>
                </a:lnTo>
                <a:lnTo>
                  <a:pt x="6313412" y="0"/>
                </a:lnTo>
                <a:lnTo>
                  <a:pt x="0" y="0"/>
                </a:lnTo>
                <a:lnTo>
                  <a:pt x="0" y="11932565"/>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6" name="Freeform 16"/>
          <p:cNvSpPr/>
          <p:nvPr/>
        </p:nvSpPr>
        <p:spPr>
          <a:xfrm>
            <a:off x="3421339" y="2796810"/>
            <a:ext cx="11203811" cy="6731551"/>
          </a:xfrm>
          <a:custGeom>
            <a:avLst/>
            <a:gdLst/>
            <a:ahLst/>
            <a:cxnLst/>
            <a:rect l="l" t="t" r="r" b="b"/>
            <a:pathLst>
              <a:path w="11203811" h="6731551">
                <a:moveTo>
                  <a:pt x="0" y="0"/>
                </a:moveTo>
                <a:lnTo>
                  <a:pt x="11203811" y="0"/>
                </a:lnTo>
                <a:lnTo>
                  <a:pt x="11203811" y="6731551"/>
                </a:lnTo>
                <a:lnTo>
                  <a:pt x="0" y="6731551"/>
                </a:lnTo>
                <a:lnTo>
                  <a:pt x="0" y="0"/>
                </a:lnTo>
                <a:close/>
              </a:path>
            </a:pathLst>
          </a:custGeom>
          <a:blipFill>
            <a:blip r:embed="rId4"/>
            <a:stretch>
              <a:fillRect t="-8902" b="-1985"/>
            </a:stretch>
          </a:blipFill>
        </p:spPr>
      </p:sp>
      <p:sp>
        <p:nvSpPr>
          <p:cNvPr id="17" name="TextBox 17"/>
          <p:cNvSpPr txBox="1"/>
          <p:nvPr/>
        </p:nvSpPr>
        <p:spPr>
          <a:xfrm>
            <a:off x="1028700" y="1200862"/>
            <a:ext cx="11742081" cy="2068060"/>
          </a:xfrm>
          <a:prstGeom prst="rect">
            <a:avLst/>
          </a:prstGeom>
        </p:spPr>
        <p:txBody>
          <a:bodyPr lIns="0" tIns="0" rIns="0" bIns="0" rtlCol="0" anchor="t">
            <a:spAutoFit/>
          </a:bodyPr>
          <a:lstStyle/>
          <a:p>
            <a:pPr algn="l">
              <a:lnSpc>
                <a:spcPts val="8300"/>
              </a:lnSpc>
            </a:pPr>
            <a:r>
              <a:rPr lang="en-US" sz="5929" b="1">
                <a:solidFill>
                  <a:srgbClr val="1800AD"/>
                </a:solidFill>
                <a:latin typeface="Archivo Narrow Bold"/>
                <a:ea typeface="Archivo Narrow Bold"/>
                <a:cs typeface="Archivo Narrow Bold"/>
                <a:sym typeface="Archivo Narrow Bold"/>
              </a:rPr>
              <a:t>Research Pipeline</a:t>
            </a:r>
          </a:p>
          <a:p>
            <a:pPr algn="l">
              <a:lnSpc>
                <a:spcPts val="8300"/>
              </a:lnSpc>
              <a:spcBef>
                <a:spcPct val="0"/>
              </a:spcBef>
            </a:pPr>
            <a:endParaRPr lang="en-US" sz="5929" b="1">
              <a:solidFill>
                <a:srgbClr val="1800AD"/>
              </a:solidFill>
              <a:latin typeface="Archivo Narrow Bold"/>
              <a:ea typeface="Archivo Narrow Bold"/>
              <a:cs typeface="Archivo Narrow Bold"/>
              <a:sym typeface="Archivo Narrow Bold"/>
            </a:endParaRPr>
          </a:p>
        </p:txBody>
      </p:sp>
      <p:sp>
        <p:nvSpPr>
          <p:cNvPr id="18" name="TextBox 18"/>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04 | Metodelogi</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7724579" y="3061834"/>
            <a:ext cx="6313412" cy="11932565"/>
          </a:xfrm>
          <a:custGeom>
            <a:avLst/>
            <a:gdLst/>
            <a:ahLst/>
            <a:cxnLst/>
            <a:rect l="l" t="t" r="r" b="b"/>
            <a:pathLst>
              <a:path w="6313412" h="11932565">
                <a:moveTo>
                  <a:pt x="0" y="11932565"/>
                </a:moveTo>
                <a:lnTo>
                  <a:pt x="6313412" y="11932565"/>
                </a:lnTo>
                <a:lnTo>
                  <a:pt x="6313412" y="0"/>
                </a:lnTo>
                <a:lnTo>
                  <a:pt x="0" y="0"/>
                </a:lnTo>
                <a:lnTo>
                  <a:pt x="0" y="11932565"/>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1028700" y="2866368"/>
            <a:ext cx="7204666" cy="801526"/>
            <a:chOff x="0" y="0"/>
            <a:chExt cx="2773450" cy="308549"/>
          </a:xfrm>
        </p:grpSpPr>
        <p:sp>
          <p:nvSpPr>
            <p:cNvPr id="17" name="Freeform 17"/>
            <p:cNvSpPr/>
            <p:nvPr/>
          </p:nvSpPr>
          <p:spPr>
            <a:xfrm>
              <a:off x="0" y="0"/>
              <a:ext cx="2773450" cy="308549"/>
            </a:xfrm>
            <a:custGeom>
              <a:avLst/>
              <a:gdLst/>
              <a:ahLst/>
              <a:cxnLst/>
              <a:rect l="l" t="t" r="r" b="b"/>
              <a:pathLst>
                <a:path w="2773450" h="308549">
                  <a:moveTo>
                    <a:pt x="27939" y="0"/>
                  </a:moveTo>
                  <a:lnTo>
                    <a:pt x="2745511" y="0"/>
                  </a:lnTo>
                  <a:cubicBezTo>
                    <a:pt x="2760941" y="0"/>
                    <a:pt x="2773450" y="12509"/>
                    <a:pt x="2773450" y="27939"/>
                  </a:cubicBezTo>
                  <a:lnTo>
                    <a:pt x="2773450" y="280610"/>
                  </a:lnTo>
                  <a:cubicBezTo>
                    <a:pt x="2773450" y="288020"/>
                    <a:pt x="2770506" y="295126"/>
                    <a:pt x="2765267" y="300366"/>
                  </a:cubicBezTo>
                  <a:cubicBezTo>
                    <a:pt x="2760027" y="305605"/>
                    <a:pt x="2752921" y="308549"/>
                    <a:pt x="2745511" y="308549"/>
                  </a:cubicBezTo>
                  <a:lnTo>
                    <a:pt x="27939" y="308549"/>
                  </a:lnTo>
                  <a:cubicBezTo>
                    <a:pt x="20529" y="308549"/>
                    <a:pt x="13423" y="305605"/>
                    <a:pt x="8183" y="300366"/>
                  </a:cubicBezTo>
                  <a:cubicBezTo>
                    <a:pt x="2944" y="295126"/>
                    <a:pt x="0" y="288020"/>
                    <a:pt x="0" y="280610"/>
                  </a:cubicBezTo>
                  <a:lnTo>
                    <a:pt x="0" y="27939"/>
                  </a:lnTo>
                  <a:cubicBezTo>
                    <a:pt x="0" y="20529"/>
                    <a:pt x="2944" y="13423"/>
                    <a:pt x="8183" y="8183"/>
                  </a:cubicBezTo>
                  <a:cubicBezTo>
                    <a:pt x="13423" y="2944"/>
                    <a:pt x="20529" y="0"/>
                    <a:pt x="27939" y="0"/>
                  </a:cubicBezTo>
                  <a:close/>
                </a:path>
              </a:pathLst>
            </a:custGeom>
            <a:solidFill>
              <a:srgbClr val="FFFFFF"/>
            </a:solidFill>
            <a:ln w="38100" cap="rnd">
              <a:solidFill>
                <a:srgbClr val="00BF63"/>
              </a:solidFill>
              <a:prstDash val="solid"/>
              <a:round/>
            </a:ln>
          </p:spPr>
        </p:sp>
        <p:sp>
          <p:nvSpPr>
            <p:cNvPr id="18" name="TextBox 18"/>
            <p:cNvSpPr txBox="1"/>
            <p:nvPr/>
          </p:nvSpPr>
          <p:spPr>
            <a:xfrm>
              <a:off x="0" y="-47625"/>
              <a:ext cx="2773450" cy="356174"/>
            </a:xfrm>
            <a:prstGeom prst="rect">
              <a:avLst/>
            </a:prstGeom>
          </p:spPr>
          <p:txBody>
            <a:bodyPr lIns="34756" tIns="34756" rIns="34756" bIns="34756" rtlCol="0" anchor="ctr"/>
            <a:lstStyle/>
            <a:p>
              <a:pPr algn="ctr">
                <a:lnSpc>
                  <a:spcPts val="2659"/>
                </a:lnSpc>
              </a:pPr>
              <a:endParaRPr/>
            </a:p>
          </p:txBody>
        </p:sp>
      </p:grpSp>
      <p:sp>
        <p:nvSpPr>
          <p:cNvPr id="19" name="Freeform 19"/>
          <p:cNvSpPr/>
          <p:nvPr/>
        </p:nvSpPr>
        <p:spPr>
          <a:xfrm>
            <a:off x="1156363" y="2946551"/>
            <a:ext cx="671693" cy="641162"/>
          </a:xfrm>
          <a:custGeom>
            <a:avLst/>
            <a:gdLst/>
            <a:ahLst/>
            <a:cxnLst/>
            <a:rect l="l" t="t" r="r" b="b"/>
            <a:pathLst>
              <a:path w="671693" h="641162">
                <a:moveTo>
                  <a:pt x="0" y="0"/>
                </a:moveTo>
                <a:lnTo>
                  <a:pt x="671693" y="0"/>
                </a:lnTo>
                <a:lnTo>
                  <a:pt x="671693" y="641161"/>
                </a:lnTo>
                <a:lnTo>
                  <a:pt x="0" y="641161"/>
                </a:lnTo>
                <a:lnTo>
                  <a:pt x="0" y="0"/>
                </a:lnTo>
                <a:close/>
              </a:path>
            </a:pathLst>
          </a:custGeom>
          <a:blipFill>
            <a:blip>
              <a:extLst>
                <a:ext uri="{96DAC541-7B7A-43D3-8B79-37D633B846F1}">
                  <asvg:svgBlip xmlns:asvg="http://schemas.microsoft.com/office/drawing/2016/SVG/main" r:embed="rId4"/>
                </a:ext>
              </a:extLst>
            </a:blip>
            <a:stretch>
              <a:fillRect/>
            </a:stretch>
          </a:blipFill>
        </p:spPr>
      </p:sp>
      <p:grpSp>
        <p:nvGrpSpPr>
          <p:cNvPr id="20" name="Group 20"/>
          <p:cNvGrpSpPr/>
          <p:nvPr/>
        </p:nvGrpSpPr>
        <p:grpSpPr>
          <a:xfrm>
            <a:off x="9144000" y="2866368"/>
            <a:ext cx="8115300" cy="801526"/>
            <a:chOff x="0" y="0"/>
            <a:chExt cx="3124000" cy="308549"/>
          </a:xfrm>
        </p:grpSpPr>
        <p:sp>
          <p:nvSpPr>
            <p:cNvPr id="21" name="Freeform 21"/>
            <p:cNvSpPr/>
            <p:nvPr/>
          </p:nvSpPr>
          <p:spPr>
            <a:xfrm>
              <a:off x="0" y="0"/>
              <a:ext cx="3124000" cy="308549"/>
            </a:xfrm>
            <a:custGeom>
              <a:avLst/>
              <a:gdLst/>
              <a:ahLst/>
              <a:cxnLst/>
              <a:rect l="l" t="t" r="r" b="b"/>
              <a:pathLst>
                <a:path w="3124000" h="308549">
                  <a:moveTo>
                    <a:pt x="24804" y="0"/>
                  </a:moveTo>
                  <a:lnTo>
                    <a:pt x="3099196" y="0"/>
                  </a:lnTo>
                  <a:cubicBezTo>
                    <a:pt x="3105775" y="0"/>
                    <a:pt x="3112083" y="2613"/>
                    <a:pt x="3116735" y="7265"/>
                  </a:cubicBezTo>
                  <a:cubicBezTo>
                    <a:pt x="3121387" y="11916"/>
                    <a:pt x="3124000" y="18225"/>
                    <a:pt x="3124000" y="24804"/>
                  </a:cubicBezTo>
                  <a:lnTo>
                    <a:pt x="3124000" y="283745"/>
                  </a:lnTo>
                  <a:cubicBezTo>
                    <a:pt x="3124000" y="290324"/>
                    <a:pt x="3121387" y="296633"/>
                    <a:pt x="3116735" y="301284"/>
                  </a:cubicBezTo>
                  <a:cubicBezTo>
                    <a:pt x="3112083" y="305936"/>
                    <a:pt x="3105775" y="308549"/>
                    <a:pt x="3099196" y="308549"/>
                  </a:cubicBezTo>
                  <a:lnTo>
                    <a:pt x="24804" y="308549"/>
                  </a:lnTo>
                  <a:cubicBezTo>
                    <a:pt x="18225" y="308549"/>
                    <a:pt x="11916" y="305936"/>
                    <a:pt x="7265" y="301284"/>
                  </a:cubicBezTo>
                  <a:cubicBezTo>
                    <a:pt x="2613" y="296633"/>
                    <a:pt x="0" y="290324"/>
                    <a:pt x="0" y="283745"/>
                  </a:cubicBezTo>
                  <a:lnTo>
                    <a:pt x="0" y="24804"/>
                  </a:lnTo>
                  <a:cubicBezTo>
                    <a:pt x="0" y="18225"/>
                    <a:pt x="2613" y="11916"/>
                    <a:pt x="7265" y="7265"/>
                  </a:cubicBezTo>
                  <a:cubicBezTo>
                    <a:pt x="11916" y="2613"/>
                    <a:pt x="18225" y="0"/>
                    <a:pt x="24804" y="0"/>
                  </a:cubicBezTo>
                  <a:close/>
                </a:path>
              </a:pathLst>
            </a:custGeom>
            <a:solidFill>
              <a:srgbClr val="FFFFFF"/>
            </a:solidFill>
            <a:ln w="38100" cap="rnd">
              <a:solidFill>
                <a:srgbClr val="00BF63"/>
              </a:solidFill>
              <a:prstDash val="solid"/>
              <a:round/>
            </a:ln>
          </p:spPr>
        </p:sp>
        <p:sp>
          <p:nvSpPr>
            <p:cNvPr id="22" name="TextBox 22"/>
            <p:cNvSpPr txBox="1"/>
            <p:nvPr/>
          </p:nvSpPr>
          <p:spPr>
            <a:xfrm>
              <a:off x="0" y="-47625"/>
              <a:ext cx="3124000" cy="356174"/>
            </a:xfrm>
            <a:prstGeom prst="rect">
              <a:avLst/>
            </a:prstGeom>
          </p:spPr>
          <p:txBody>
            <a:bodyPr lIns="34756" tIns="34756" rIns="34756" bIns="34756" rtlCol="0" anchor="ctr"/>
            <a:lstStyle/>
            <a:p>
              <a:pPr algn="ctr">
                <a:lnSpc>
                  <a:spcPts val="2659"/>
                </a:lnSpc>
              </a:pPr>
              <a:endParaRPr/>
            </a:p>
          </p:txBody>
        </p:sp>
      </p:grpSp>
      <p:sp>
        <p:nvSpPr>
          <p:cNvPr id="23" name="Freeform 23"/>
          <p:cNvSpPr/>
          <p:nvPr/>
        </p:nvSpPr>
        <p:spPr>
          <a:xfrm>
            <a:off x="9415186" y="2946551"/>
            <a:ext cx="671693" cy="641162"/>
          </a:xfrm>
          <a:custGeom>
            <a:avLst/>
            <a:gdLst/>
            <a:ahLst/>
            <a:cxnLst/>
            <a:rect l="l" t="t" r="r" b="b"/>
            <a:pathLst>
              <a:path w="671693" h="641162">
                <a:moveTo>
                  <a:pt x="0" y="0"/>
                </a:moveTo>
                <a:lnTo>
                  <a:pt x="671693" y="0"/>
                </a:lnTo>
                <a:lnTo>
                  <a:pt x="671693" y="641161"/>
                </a:lnTo>
                <a:lnTo>
                  <a:pt x="0" y="641161"/>
                </a:lnTo>
                <a:lnTo>
                  <a:pt x="0" y="0"/>
                </a:lnTo>
                <a:close/>
              </a:path>
            </a:pathLst>
          </a:custGeom>
          <a:blipFill>
            <a:blip>
              <a:extLst>
                <a:ext uri="{96DAC541-7B7A-43D3-8B79-37D633B846F1}">
                  <asvg:svgBlip xmlns:asvg="http://schemas.microsoft.com/office/drawing/2016/SVG/main" r:embed="rId4"/>
                </a:ext>
              </a:extLst>
            </a:blip>
            <a:stretch>
              <a:fillRect/>
            </a:stretch>
          </a:blipFill>
        </p:spPr>
      </p:sp>
      <p:grpSp>
        <p:nvGrpSpPr>
          <p:cNvPr id="24" name="Group 24"/>
          <p:cNvGrpSpPr/>
          <p:nvPr/>
        </p:nvGrpSpPr>
        <p:grpSpPr>
          <a:xfrm>
            <a:off x="8447614" y="3091555"/>
            <a:ext cx="482138" cy="482138"/>
            <a:chOff x="0" y="0"/>
            <a:chExt cx="812800" cy="812800"/>
          </a:xfrm>
        </p:grpSpPr>
        <p:sp>
          <p:nvSpPr>
            <p:cNvPr id="25" name="Freeform 25"/>
            <p:cNvSpPr/>
            <p:nvPr/>
          </p:nvSpPr>
          <p:spPr>
            <a:xfrm>
              <a:off x="0" y="0"/>
              <a:ext cx="812800" cy="812800"/>
            </a:xfrm>
            <a:custGeom>
              <a:avLst/>
              <a:gdLst/>
              <a:ahLst/>
              <a:cxnLst/>
              <a:rect l="l" t="t" r="r" b="b"/>
              <a:pathLst>
                <a:path w="812800" h="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FFFFFF"/>
            </a:solidFill>
            <a:ln w="38100" cap="sq">
              <a:solidFill>
                <a:srgbClr val="00BF63"/>
              </a:solidFill>
              <a:prstDash val="solid"/>
              <a:miter/>
            </a:ln>
          </p:spPr>
        </p:sp>
        <p:sp>
          <p:nvSpPr>
            <p:cNvPr id="26" name="TextBox 26"/>
            <p:cNvSpPr txBox="1"/>
            <p:nvPr/>
          </p:nvSpPr>
          <p:spPr>
            <a:xfrm>
              <a:off x="0" y="155575"/>
              <a:ext cx="711200" cy="454025"/>
            </a:xfrm>
            <a:prstGeom prst="rect">
              <a:avLst/>
            </a:prstGeom>
          </p:spPr>
          <p:txBody>
            <a:bodyPr lIns="50800" tIns="50800" rIns="50800" bIns="50800" rtlCol="0" anchor="ctr"/>
            <a:lstStyle/>
            <a:p>
              <a:pPr algn="ctr">
                <a:lnSpc>
                  <a:spcPts val="2659"/>
                </a:lnSpc>
              </a:pPr>
              <a:endParaRPr/>
            </a:p>
          </p:txBody>
        </p:sp>
      </p:grpSp>
      <p:grpSp>
        <p:nvGrpSpPr>
          <p:cNvPr id="27" name="Group 27"/>
          <p:cNvGrpSpPr/>
          <p:nvPr/>
        </p:nvGrpSpPr>
        <p:grpSpPr>
          <a:xfrm>
            <a:off x="1156363" y="3906020"/>
            <a:ext cx="4065711" cy="1980318"/>
            <a:chOff x="0" y="0"/>
            <a:chExt cx="1565103" cy="762327"/>
          </a:xfrm>
        </p:grpSpPr>
        <p:sp>
          <p:nvSpPr>
            <p:cNvPr id="28" name="Freeform 28"/>
            <p:cNvSpPr/>
            <p:nvPr/>
          </p:nvSpPr>
          <p:spPr>
            <a:xfrm>
              <a:off x="0" y="0"/>
              <a:ext cx="1565103" cy="762327"/>
            </a:xfrm>
            <a:custGeom>
              <a:avLst/>
              <a:gdLst/>
              <a:ahLst/>
              <a:cxnLst/>
              <a:rect l="l" t="t" r="r" b="b"/>
              <a:pathLst>
                <a:path w="1565103" h="762327">
                  <a:moveTo>
                    <a:pt x="49509" y="0"/>
                  </a:moveTo>
                  <a:lnTo>
                    <a:pt x="1515594" y="0"/>
                  </a:lnTo>
                  <a:cubicBezTo>
                    <a:pt x="1542937" y="0"/>
                    <a:pt x="1565103" y="22166"/>
                    <a:pt x="1565103" y="49509"/>
                  </a:cubicBezTo>
                  <a:lnTo>
                    <a:pt x="1565103" y="712818"/>
                  </a:lnTo>
                  <a:cubicBezTo>
                    <a:pt x="1565103" y="740161"/>
                    <a:pt x="1542937" y="762327"/>
                    <a:pt x="1515594" y="762327"/>
                  </a:cubicBezTo>
                  <a:lnTo>
                    <a:pt x="49509" y="762327"/>
                  </a:lnTo>
                  <a:cubicBezTo>
                    <a:pt x="22166" y="762327"/>
                    <a:pt x="0" y="740161"/>
                    <a:pt x="0" y="712818"/>
                  </a:cubicBezTo>
                  <a:lnTo>
                    <a:pt x="0" y="49509"/>
                  </a:lnTo>
                  <a:cubicBezTo>
                    <a:pt x="0" y="22166"/>
                    <a:pt x="22166" y="0"/>
                    <a:pt x="49509" y="0"/>
                  </a:cubicBezTo>
                  <a:close/>
                </a:path>
              </a:pathLst>
            </a:custGeom>
            <a:solidFill>
              <a:srgbClr val="FFFFFF"/>
            </a:solidFill>
            <a:ln w="38100" cap="rnd">
              <a:solidFill>
                <a:srgbClr val="00BF63"/>
              </a:solidFill>
              <a:prstDash val="solid"/>
              <a:round/>
            </a:ln>
          </p:spPr>
        </p:sp>
        <p:sp>
          <p:nvSpPr>
            <p:cNvPr id="29" name="TextBox 29"/>
            <p:cNvSpPr txBox="1"/>
            <p:nvPr/>
          </p:nvSpPr>
          <p:spPr>
            <a:xfrm>
              <a:off x="0" y="-47625"/>
              <a:ext cx="1565103" cy="809952"/>
            </a:xfrm>
            <a:prstGeom prst="rect">
              <a:avLst/>
            </a:prstGeom>
          </p:spPr>
          <p:txBody>
            <a:bodyPr lIns="34756" tIns="34756" rIns="34756" bIns="34756" rtlCol="0" anchor="ctr"/>
            <a:lstStyle/>
            <a:p>
              <a:pPr algn="ctr">
                <a:lnSpc>
                  <a:spcPts val="2659"/>
                </a:lnSpc>
              </a:pPr>
              <a:endParaRPr/>
            </a:p>
          </p:txBody>
        </p:sp>
      </p:grpSp>
      <p:grpSp>
        <p:nvGrpSpPr>
          <p:cNvPr id="30" name="Group 30"/>
          <p:cNvGrpSpPr/>
          <p:nvPr/>
        </p:nvGrpSpPr>
        <p:grpSpPr>
          <a:xfrm>
            <a:off x="5501523" y="3906020"/>
            <a:ext cx="4065711" cy="1980318"/>
            <a:chOff x="0" y="0"/>
            <a:chExt cx="1565103" cy="762327"/>
          </a:xfrm>
        </p:grpSpPr>
        <p:sp>
          <p:nvSpPr>
            <p:cNvPr id="31" name="Freeform 31"/>
            <p:cNvSpPr/>
            <p:nvPr/>
          </p:nvSpPr>
          <p:spPr>
            <a:xfrm>
              <a:off x="0" y="0"/>
              <a:ext cx="1565103" cy="762327"/>
            </a:xfrm>
            <a:custGeom>
              <a:avLst/>
              <a:gdLst/>
              <a:ahLst/>
              <a:cxnLst/>
              <a:rect l="l" t="t" r="r" b="b"/>
              <a:pathLst>
                <a:path w="1565103" h="762327">
                  <a:moveTo>
                    <a:pt x="49509" y="0"/>
                  </a:moveTo>
                  <a:lnTo>
                    <a:pt x="1515594" y="0"/>
                  </a:lnTo>
                  <a:cubicBezTo>
                    <a:pt x="1542937" y="0"/>
                    <a:pt x="1565103" y="22166"/>
                    <a:pt x="1565103" y="49509"/>
                  </a:cubicBezTo>
                  <a:lnTo>
                    <a:pt x="1565103" y="712818"/>
                  </a:lnTo>
                  <a:cubicBezTo>
                    <a:pt x="1565103" y="740161"/>
                    <a:pt x="1542937" y="762327"/>
                    <a:pt x="1515594" y="762327"/>
                  </a:cubicBezTo>
                  <a:lnTo>
                    <a:pt x="49509" y="762327"/>
                  </a:lnTo>
                  <a:cubicBezTo>
                    <a:pt x="22166" y="762327"/>
                    <a:pt x="0" y="740161"/>
                    <a:pt x="0" y="712818"/>
                  </a:cubicBezTo>
                  <a:lnTo>
                    <a:pt x="0" y="49509"/>
                  </a:lnTo>
                  <a:cubicBezTo>
                    <a:pt x="0" y="22166"/>
                    <a:pt x="22166" y="0"/>
                    <a:pt x="49509" y="0"/>
                  </a:cubicBezTo>
                  <a:close/>
                </a:path>
              </a:pathLst>
            </a:custGeom>
            <a:solidFill>
              <a:srgbClr val="FFFFFF"/>
            </a:solidFill>
            <a:ln w="38100" cap="rnd">
              <a:solidFill>
                <a:srgbClr val="00BF63"/>
              </a:solidFill>
              <a:prstDash val="solid"/>
              <a:round/>
            </a:ln>
          </p:spPr>
        </p:sp>
        <p:sp>
          <p:nvSpPr>
            <p:cNvPr id="32" name="TextBox 32"/>
            <p:cNvSpPr txBox="1"/>
            <p:nvPr/>
          </p:nvSpPr>
          <p:spPr>
            <a:xfrm>
              <a:off x="0" y="-47625"/>
              <a:ext cx="1565103" cy="809952"/>
            </a:xfrm>
            <a:prstGeom prst="rect">
              <a:avLst/>
            </a:prstGeom>
          </p:spPr>
          <p:txBody>
            <a:bodyPr lIns="34756" tIns="34756" rIns="34756" bIns="34756" rtlCol="0" anchor="ctr"/>
            <a:lstStyle/>
            <a:p>
              <a:pPr algn="ctr">
                <a:lnSpc>
                  <a:spcPts val="2659"/>
                </a:lnSpc>
              </a:pPr>
              <a:endParaRPr/>
            </a:p>
          </p:txBody>
        </p:sp>
      </p:grpSp>
      <p:grpSp>
        <p:nvGrpSpPr>
          <p:cNvPr id="33" name="Group 33"/>
          <p:cNvGrpSpPr/>
          <p:nvPr/>
        </p:nvGrpSpPr>
        <p:grpSpPr>
          <a:xfrm>
            <a:off x="9586604" y="3906020"/>
            <a:ext cx="4065711" cy="1980318"/>
            <a:chOff x="0" y="0"/>
            <a:chExt cx="1565103" cy="762327"/>
          </a:xfrm>
        </p:grpSpPr>
        <p:sp>
          <p:nvSpPr>
            <p:cNvPr id="34" name="Freeform 34"/>
            <p:cNvSpPr/>
            <p:nvPr/>
          </p:nvSpPr>
          <p:spPr>
            <a:xfrm>
              <a:off x="0" y="0"/>
              <a:ext cx="1565103" cy="762327"/>
            </a:xfrm>
            <a:custGeom>
              <a:avLst/>
              <a:gdLst/>
              <a:ahLst/>
              <a:cxnLst/>
              <a:rect l="l" t="t" r="r" b="b"/>
              <a:pathLst>
                <a:path w="1565103" h="762327">
                  <a:moveTo>
                    <a:pt x="49509" y="0"/>
                  </a:moveTo>
                  <a:lnTo>
                    <a:pt x="1515594" y="0"/>
                  </a:lnTo>
                  <a:cubicBezTo>
                    <a:pt x="1542937" y="0"/>
                    <a:pt x="1565103" y="22166"/>
                    <a:pt x="1565103" y="49509"/>
                  </a:cubicBezTo>
                  <a:lnTo>
                    <a:pt x="1565103" y="712818"/>
                  </a:lnTo>
                  <a:cubicBezTo>
                    <a:pt x="1565103" y="740161"/>
                    <a:pt x="1542937" y="762327"/>
                    <a:pt x="1515594" y="762327"/>
                  </a:cubicBezTo>
                  <a:lnTo>
                    <a:pt x="49509" y="762327"/>
                  </a:lnTo>
                  <a:cubicBezTo>
                    <a:pt x="22166" y="762327"/>
                    <a:pt x="0" y="740161"/>
                    <a:pt x="0" y="712818"/>
                  </a:cubicBezTo>
                  <a:lnTo>
                    <a:pt x="0" y="49509"/>
                  </a:lnTo>
                  <a:cubicBezTo>
                    <a:pt x="0" y="22166"/>
                    <a:pt x="22166" y="0"/>
                    <a:pt x="49509" y="0"/>
                  </a:cubicBezTo>
                  <a:close/>
                </a:path>
              </a:pathLst>
            </a:custGeom>
            <a:solidFill>
              <a:srgbClr val="FFFFFF"/>
            </a:solidFill>
            <a:ln w="38100" cap="rnd">
              <a:solidFill>
                <a:srgbClr val="00BF63"/>
              </a:solidFill>
              <a:prstDash val="solid"/>
              <a:round/>
            </a:ln>
          </p:spPr>
        </p:sp>
        <p:sp>
          <p:nvSpPr>
            <p:cNvPr id="35" name="TextBox 35"/>
            <p:cNvSpPr txBox="1"/>
            <p:nvPr/>
          </p:nvSpPr>
          <p:spPr>
            <a:xfrm>
              <a:off x="0" y="-47625"/>
              <a:ext cx="1565103" cy="809952"/>
            </a:xfrm>
            <a:prstGeom prst="rect">
              <a:avLst/>
            </a:prstGeom>
          </p:spPr>
          <p:txBody>
            <a:bodyPr lIns="34756" tIns="34756" rIns="34756" bIns="34756" rtlCol="0" anchor="ctr"/>
            <a:lstStyle/>
            <a:p>
              <a:pPr algn="ctr">
                <a:lnSpc>
                  <a:spcPts val="2659"/>
                </a:lnSpc>
              </a:pPr>
              <a:endParaRPr/>
            </a:p>
          </p:txBody>
        </p:sp>
      </p:grpSp>
      <p:grpSp>
        <p:nvGrpSpPr>
          <p:cNvPr id="36" name="Group 36"/>
          <p:cNvGrpSpPr/>
          <p:nvPr/>
        </p:nvGrpSpPr>
        <p:grpSpPr>
          <a:xfrm>
            <a:off x="13801725" y="3906020"/>
            <a:ext cx="3457575" cy="1980318"/>
            <a:chOff x="0" y="0"/>
            <a:chExt cx="1331000" cy="762327"/>
          </a:xfrm>
        </p:grpSpPr>
        <p:sp>
          <p:nvSpPr>
            <p:cNvPr id="37" name="Freeform 37"/>
            <p:cNvSpPr/>
            <p:nvPr/>
          </p:nvSpPr>
          <p:spPr>
            <a:xfrm>
              <a:off x="0" y="0"/>
              <a:ext cx="1331000" cy="762327"/>
            </a:xfrm>
            <a:custGeom>
              <a:avLst/>
              <a:gdLst/>
              <a:ahLst/>
              <a:cxnLst/>
              <a:rect l="l" t="t" r="r" b="b"/>
              <a:pathLst>
                <a:path w="1331000" h="762327">
                  <a:moveTo>
                    <a:pt x="58217" y="0"/>
                  </a:moveTo>
                  <a:lnTo>
                    <a:pt x="1272783" y="0"/>
                  </a:lnTo>
                  <a:cubicBezTo>
                    <a:pt x="1304935" y="0"/>
                    <a:pt x="1331000" y="26065"/>
                    <a:pt x="1331000" y="58217"/>
                  </a:cubicBezTo>
                  <a:lnTo>
                    <a:pt x="1331000" y="704110"/>
                  </a:lnTo>
                  <a:cubicBezTo>
                    <a:pt x="1331000" y="719550"/>
                    <a:pt x="1324867" y="734358"/>
                    <a:pt x="1313949" y="745276"/>
                  </a:cubicBezTo>
                  <a:cubicBezTo>
                    <a:pt x="1303031" y="756194"/>
                    <a:pt x="1288223" y="762327"/>
                    <a:pt x="1272783" y="762327"/>
                  </a:cubicBezTo>
                  <a:lnTo>
                    <a:pt x="58217" y="762327"/>
                  </a:lnTo>
                  <a:cubicBezTo>
                    <a:pt x="26065" y="762327"/>
                    <a:pt x="0" y="736263"/>
                    <a:pt x="0" y="704110"/>
                  </a:cubicBezTo>
                  <a:lnTo>
                    <a:pt x="0" y="58217"/>
                  </a:lnTo>
                  <a:cubicBezTo>
                    <a:pt x="0" y="26065"/>
                    <a:pt x="26065" y="0"/>
                    <a:pt x="58217" y="0"/>
                  </a:cubicBezTo>
                  <a:close/>
                </a:path>
              </a:pathLst>
            </a:custGeom>
            <a:solidFill>
              <a:srgbClr val="FFFFFF"/>
            </a:solidFill>
            <a:ln w="38100" cap="rnd">
              <a:solidFill>
                <a:srgbClr val="00BF63"/>
              </a:solidFill>
              <a:prstDash val="solid"/>
              <a:round/>
            </a:ln>
          </p:spPr>
        </p:sp>
        <p:sp>
          <p:nvSpPr>
            <p:cNvPr id="38" name="TextBox 38"/>
            <p:cNvSpPr txBox="1"/>
            <p:nvPr/>
          </p:nvSpPr>
          <p:spPr>
            <a:xfrm>
              <a:off x="0" y="-47625"/>
              <a:ext cx="1331000" cy="809952"/>
            </a:xfrm>
            <a:prstGeom prst="rect">
              <a:avLst/>
            </a:prstGeom>
          </p:spPr>
          <p:txBody>
            <a:bodyPr lIns="34756" tIns="34756" rIns="34756" bIns="34756" rtlCol="0" anchor="ctr"/>
            <a:lstStyle/>
            <a:p>
              <a:pPr algn="ctr">
                <a:lnSpc>
                  <a:spcPts val="2659"/>
                </a:lnSpc>
              </a:pPr>
              <a:endParaRPr/>
            </a:p>
          </p:txBody>
        </p:sp>
      </p:grpSp>
      <p:graphicFrame>
        <p:nvGraphicFramePr>
          <p:cNvPr id="39" name="Table 39"/>
          <p:cNvGraphicFramePr>
            <a:graphicFrameLocks noGrp="1"/>
          </p:cNvGraphicFramePr>
          <p:nvPr/>
        </p:nvGraphicFramePr>
        <p:xfrm>
          <a:off x="3189219" y="6298576"/>
          <a:ext cx="11077473" cy="3124200"/>
        </p:xfrm>
        <a:graphic>
          <a:graphicData uri="http://schemas.openxmlformats.org/drawingml/2006/table">
            <a:tbl>
              <a:tblPr/>
              <a:tblGrid>
                <a:gridCol w="2075514">
                  <a:extLst>
                    <a:ext uri="{9D8B030D-6E8A-4147-A177-3AD203B41FA5}">
                      <a16:colId xmlns:a16="http://schemas.microsoft.com/office/drawing/2014/main" val="20000"/>
                    </a:ext>
                  </a:extLst>
                </a:gridCol>
                <a:gridCol w="2075514">
                  <a:extLst>
                    <a:ext uri="{9D8B030D-6E8A-4147-A177-3AD203B41FA5}">
                      <a16:colId xmlns:a16="http://schemas.microsoft.com/office/drawing/2014/main" val="20001"/>
                    </a:ext>
                  </a:extLst>
                </a:gridCol>
                <a:gridCol w="6926445">
                  <a:extLst>
                    <a:ext uri="{9D8B030D-6E8A-4147-A177-3AD203B41FA5}">
                      <a16:colId xmlns:a16="http://schemas.microsoft.com/office/drawing/2014/main" val="20002"/>
                    </a:ext>
                  </a:extLst>
                </a:gridCol>
              </a:tblGrid>
              <a:tr h="781050">
                <a:tc>
                  <a:txBody>
                    <a:bodyPr/>
                    <a:lstStyle/>
                    <a:p>
                      <a:pPr algn="ctr">
                        <a:lnSpc>
                          <a:spcPts val="2659"/>
                        </a:lnSpc>
                        <a:defRPr/>
                      </a:pPr>
                      <a:r>
                        <a:rPr lang="en-US" sz="1899">
                          <a:solidFill>
                            <a:srgbClr val="000000"/>
                          </a:solidFill>
                          <a:latin typeface="Antic Bold"/>
                          <a:ea typeface="Antic Bold"/>
                          <a:cs typeface="Antic Bold"/>
                          <a:sym typeface="Antic Bold"/>
                        </a:rPr>
                        <a:t>Kolom</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7ED957"/>
                    </a:solidFill>
                  </a:tcPr>
                </a:tc>
                <a:tc>
                  <a:txBody>
                    <a:bodyPr/>
                    <a:lstStyle/>
                    <a:p>
                      <a:pPr algn="ctr">
                        <a:lnSpc>
                          <a:spcPts val="2659"/>
                        </a:lnSpc>
                        <a:defRPr/>
                      </a:pPr>
                      <a:r>
                        <a:rPr lang="en-US" sz="1899">
                          <a:solidFill>
                            <a:srgbClr val="000000"/>
                          </a:solidFill>
                          <a:latin typeface="Antic Bold"/>
                          <a:ea typeface="Antic Bold"/>
                          <a:cs typeface="Antic Bold"/>
                          <a:sym typeface="Antic Bold"/>
                        </a:rPr>
                        <a:t>Tipe</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7ED957"/>
                    </a:solidFill>
                  </a:tcPr>
                </a:tc>
                <a:tc>
                  <a:txBody>
                    <a:bodyPr/>
                    <a:lstStyle/>
                    <a:p>
                      <a:pPr algn="ctr">
                        <a:lnSpc>
                          <a:spcPts val="2659"/>
                        </a:lnSpc>
                        <a:defRPr/>
                      </a:pPr>
                      <a:r>
                        <a:rPr lang="en-US" sz="1899">
                          <a:solidFill>
                            <a:srgbClr val="000000"/>
                          </a:solidFill>
                          <a:latin typeface="Antic Bold"/>
                          <a:ea typeface="Antic Bold"/>
                          <a:cs typeface="Antic Bold"/>
                          <a:sym typeface="Antic Bold"/>
                        </a:rPr>
                        <a:t>Deskripsi</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solidFill>
                      <a:srgbClr val="7ED957"/>
                    </a:solidFill>
                  </a:tcPr>
                </a:tc>
                <a:extLst>
                  <a:ext uri="{0D108BD9-81ED-4DB2-BD59-A6C34878D82A}">
                    <a16:rowId xmlns:a16="http://schemas.microsoft.com/office/drawing/2014/main" val="10000"/>
                  </a:ext>
                </a:extLst>
              </a:tr>
              <a:tr h="781050">
                <a:tc>
                  <a:txBody>
                    <a:bodyPr/>
                    <a:lstStyle/>
                    <a:p>
                      <a:pPr algn="ctr">
                        <a:lnSpc>
                          <a:spcPts val="2659"/>
                        </a:lnSpc>
                        <a:defRPr/>
                      </a:pPr>
                      <a:r>
                        <a:rPr lang="en-US" sz="1899">
                          <a:solidFill>
                            <a:srgbClr val="000000"/>
                          </a:solidFill>
                          <a:latin typeface="Antic"/>
                          <a:ea typeface="Antic"/>
                          <a:cs typeface="Antic"/>
                          <a:sym typeface="Antic"/>
                        </a:rPr>
                        <a:t>Surat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INT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Nomor surat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1"/>
                  </a:ext>
                </a:extLst>
              </a:tr>
              <a:tr h="781050">
                <a:tc>
                  <a:txBody>
                    <a:bodyPr/>
                    <a:lstStyle/>
                    <a:p>
                      <a:pPr algn="ctr">
                        <a:lnSpc>
                          <a:spcPts val="2659"/>
                        </a:lnSpc>
                        <a:defRPr/>
                      </a:pPr>
                      <a:r>
                        <a:rPr lang="en-US" sz="1899">
                          <a:solidFill>
                            <a:srgbClr val="000000"/>
                          </a:solidFill>
                          <a:latin typeface="Antic"/>
                          <a:ea typeface="Antic"/>
                          <a:cs typeface="Antic"/>
                          <a:sym typeface="Antic"/>
                        </a:rPr>
                        <a:t>Ayat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INT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Nomor Ayat</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2"/>
                  </a:ext>
                </a:extLst>
              </a:tr>
              <a:tr h="781050">
                <a:tc>
                  <a:txBody>
                    <a:bodyPr/>
                    <a:lstStyle/>
                    <a:p>
                      <a:pPr algn="ctr">
                        <a:lnSpc>
                          <a:spcPts val="2659"/>
                        </a:lnSpc>
                        <a:defRPr/>
                      </a:pPr>
                      <a:r>
                        <a:rPr lang="en-US" sz="1899">
                          <a:solidFill>
                            <a:srgbClr val="000000"/>
                          </a:solidFill>
                          <a:latin typeface="Antic"/>
                          <a:ea typeface="Antic"/>
                          <a:cs typeface="Antic"/>
                          <a:sym typeface="Antic"/>
                        </a:rPr>
                        <a:t>Teks</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TEKS</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tc>
                  <a:txBody>
                    <a:bodyPr/>
                    <a:lstStyle/>
                    <a:p>
                      <a:pPr algn="ctr">
                        <a:lnSpc>
                          <a:spcPts val="2659"/>
                        </a:lnSpc>
                        <a:defRPr/>
                      </a:pPr>
                      <a:r>
                        <a:rPr lang="en-US" sz="1899">
                          <a:solidFill>
                            <a:srgbClr val="000000"/>
                          </a:solidFill>
                          <a:latin typeface="Antic"/>
                          <a:ea typeface="Antic"/>
                          <a:cs typeface="Antic"/>
                          <a:sym typeface="Antic"/>
                        </a:rPr>
                        <a:t>Teks Terjemahan </a:t>
                      </a:r>
                      <a:endParaRPr lang="en-US" sz="1100"/>
                    </a:p>
                  </a:txBody>
                  <a:tcPr marL="190500" marR="190500" marT="190500" marB="190500" anchor="ctr">
                    <a:lnL w="38100" cap="flat" cmpd="sng" algn="ctr">
                      <a:solidFill>
                        <a:srgbClr val="FFD699"/>
                      </a:solidFill>
                      <a:prstDash val="solid"/>
                      <a:round/>
                      <a:headEnd type="none" w="med" len="med"/>
                      <a:tailEnd type="none" w="med" len="med"/>
                    </a:lnL>
                    <a:lnR w="38100" cap="flat" cmpd="sng" algn="ctr">
                      <a:solidFill>
                        <a:srgbClr val="FFD699"/>
                      </a:solidFill>
                      <a:prstDash val="solid"/>
                      <a:round/>
                      <a:headEnd type="none" w="med" len="med"/>
                      <a:tailEnd type="none" w="med" len="med"/>
                    </a:lnR>
                    <a:lnT w="38100" cap="flat" cmpd="sng" algn="ctr">
                      <a:solidFill>
                        <a:srgbClr val="FFD699"/>
                      </a:solidFill>
                      <a:prstDash val="solid"/>
                      <a:round/>
                      <a:headEnd type="none" w="med" len="med"/>
                      <a:tailEnd type="none" w="med" len="med"/>
                    </a:lnT>
                    <a:lnB w="38100" cap="flat" cmpd="sng" algn="ctr">
                      <a:solidFill>
                        <a:srgbClr val="FFD699"/>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40" name="TextBox 40"/>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Terjemahan Al-Quran Bahasa Indonesia</a:t>
            </a:r>
          </a:p>
        </p:txBody>
      </p:sp>
      <p:sp>
        <p:nvSpPr>
          <p:cNvPr id="41" name="TextBox 41"/>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05 | Dataset</a:t>
            </a:r>
          </a:p>
        </p:txBody>
      </p:sp>
      <p:sp>
        <p:nvSpPr>
          <p:cNvPr id="42" name="TextBox 42"/>
          <p:cNvSpPr txBox="1"/>
          <p:nvPr/>
        </p:nvSpPr>
        <p:spPr>
          <a:xfrm>
            <a:off x="2026168" y="2951854"/>
            <a:ext cx="6056920" cy="563879"/>
          </a:xfrm>
          <a:prstGeom prst="rect">
            <a:avLst/>
          </a:prstGeom>
        </p:spPr>
        <p:txBody>
          <a:bodyPr lIns="0" tIns="0" rIns="0" bIns="0" rtlCol="0" anchor="t">
            <a:spAutoFit/>
          </a:bodyPr>
          <a:lstStyle/>
          <a:p>
            <a:pPr algn="l">
              <a:lnSpc>
                <a:spcPts val="4620"/>
              </a:lnSpc>
            </a:pPr>
            <a:r>
              <a:rPr lang="en-US" sz="3300" b="1">
                <a:solidFill>
                  <a:srgbClr val="000000"/>
                </a:solidFill>
                <a:latin typeface="Canva Sans Bold"/>
                <a:ea typeface="Canva Sans Bold"/>
                <a:cs typeface="Canva Sans Bold"/>
                <a:sym typeface="Canva Sans Bold"/>
              </a:rPr>
              <a:t>https ://quran.kemenag.go.id</a:t>
            </a:r>
          </a:p>
        </p:txBody>
      </p:sp>
      <p:sp>
        <p:nvSpPr>
          <p:cNvPr id="43" name="TextBox 43"/>
          <p:cNvSpPr txBox="1"/>
          <p:nvPr/>
        </p:nvSpPr>
        <p:spPr>
          <a:xfrm>
            <a:off x="10364147" y="3034405"/>
            <a:ext cx="6556966" cy="454548"/>
          </a:xfrm>
          <a:prstGeom prst="rect">
            <a:avLst/>
          </a:prstGeom>
        </p:spPr>
        <p:txBody>
          <a:bodyPr lIns="0" tIns="0" rIns="0" bIns="0" rtlCol="0" anchor="t">
            <a:spAutoFit/>
          </a:bodyPr>
          <a:lstStyle/>
          <a:p>
            <a:pPr algn="l">
              <a:lnSpc>
                <a:spcPts val="3920"/>
              </a:lnSpc>
            </a:pPr>
            <a:r>
              <a:rPr lang="en-US" sz="2400" b="1" dirty="0">
                <a:solidFill>
                  <a:srgbClr val="000000"/>
                </a:solidFill>
                <a:latin typeface="Canva Sans Bold"/>
                <a:ea typeface="Canva Sans Bold"/>
                <a:cs typeface="Canva Sans Bold"/>
                <a:sym typeface="Canva Sans Bold"/>
              </a:rPr>
              <a:t>https ://pustakalajnah.kemenag.go.id/</a:t>
            </a:r>
          </a:p>
        </p:txBody>
      </p:sp>
      <p:sp>
        <p:nvSpPr>
          <p:cNvPr id="44" name="TextBox 44"/>
          <p:cNvSpPr txBox="1"/>
          <p:nvPr/>
        </p:nvSpPr>
        <p:spPr>
          <a:xfrm>
            <a:off x="1700394" y="3890840"/>
            <a:ext cx="2695598" cy="1203313"/>
          </a:xfrm>
          <a:prstGeom prst="rect">
            <a:avLst/>
          </a:prstGeom>
        </p:spPr>
        <p:txBody>
          <a:bodyPr wrap="square" lIns="0" tIns="0" rIns="0" bIns="0" rtlCol="0" anchor="t">
            <a:spAutoFit/>
          </a:bodyPr>
          <a:lstStyle/>
          <a:p>
            <a:pPr algn="ctr">
              <a:lnSpc>
                <a:spcPts val="9800"/>
              </a:lnSpc>
            </a:pPr>
            <a:r>
              <a:rPr lang="en-US" sz="7000" b="1" dirty="0">
                <a:solidFill>
                  <a:srgbClr val="000000"/>
                </a:solidFill>
                <a:latin typeface="Canva Sans Bold"/>
                <a:ea typeface="Canva Sans Bold"/>
                <a:cs typeface="Canva Sans Bold"/>
                <a:sym typeface="Canva Sans Bold"/>
              </a:rPr>
              <a:t>6.236</a:t>
            </a:r>
          </a:p>
        </p:txBody>
      </p:sp>
      <p:sp>
        <p:nvSpPr>
          <p:cNvPr id="45" name="TextBox 45"/>
          <p:cNvSpPr txBox="1"/>
          <p:nvPr/>
        </p:nvSpPr>
        <p:spPr>
          <a:xfrm>
            <a:off x="6658467" y="3991309"/>
            <a:ext cx="2028333" cy="1243318"/>
          </a:xfrm>
          <a:prstGeom prst="rect">
            <a:avLst/>
          </a:prstGeom>
        </p:spPr>
        <p:txBody>
          <a:bodyPr wrap="square" lIns="0" tIns="0" rIns="0" bIns="0" rtlCol="0" anchor="t">
            <a:spAutoFit/>
          </a:bodyPr>
          <a:lstStyle/>
          <a:p>
            <a:pPr algn="ctr">
              <a:lnSpc>
                <a:spcPts val="10220"/>
              </a:lnSpc>
            </a:pPr>
            <a:r>
              <a:rPr lang="en-US" sz="7300" b="1" dirty="0">
                <a:solidFill>
                  <a:srgbClr val="000000"/>
                </a:solidFill>
                <a:latin typeface="Canva Sans Bold"/>
                <a:ea typeface="Canva Sans Bold"/>
                <a:cs typeface="Canva Sans Bold"/>
                <a:sym typeface="Canva Sans Bold"/>
              </a:rPr>
              <a:t>114</a:t>
            </a:r>
          </a:p>
        </p:txBody>
      </p:sp>
      <p:sp>
        <p:nvSpPr>
          <p:cNvPr id="46" name="TextBox 46"/>
          <p:cNvSpPr txBox="1"/>
          <p:nvPr/>
        </p:nvSpPr>
        <p:spPr>
          <a:xfrm>
            <a:off x="10269054" y="4016893"/>
            <a:ext cx="2989746" cy="1203313"/>
          </a:xfrm>
          <a:prstGeom prst="rect">
            <a:avLst/>
          </a:prstGeom>
        </p:spPr>
        <p:txBody>
          <a:bodyPr wrap="square" lIns="0" tIns="0" rIns="0" bIns="0" rtlCol="0" anchor="t">
            <a:spAutoFit/>
          </a:bodyPr>
          <a:lstStyle/>
          <a:p>
            <a:pPr algn="ctr">
              <a:lnSpc>
                <a:spcPts val="9800"/>
              </a:lnSpc>
            </a:pPr>
            <a:r>
              <a:rPr lang="en-US" sz="7000" b="1" dirty="0">
                <a:solidFill>
                  <a:srgbClr val="000000"/>
                </a:solidFill>
                <a:latin typeface="Canva Sans Bold"/>
                <a:ea typeface="Canva Sans Bold"/>
                <a:cs typeface="Canva Sans Bold"/>
                <a:sym typeface="Canva Sans Bold"/>
              </a:rPr>
              <a:t>77.439</a:t>
            </a:r>
          </a:p>
        </p:txBody>
      </p:sp>
      <p:sp>
        <p:nvSpPr>
          <p:cNvPr id="47" name="TextBox 47"/>
          <p:cNvSpPr txBox="1"/>
          <p:nvPr/>
        </p:nvSpPr>
        <p:spPr>
          <a:xfrm>
            <a:off x="14179227" y="4016893"/>
            <a:ext cx="2952409" cy="1203313"/>
          </a:xfrm>
          <a:prstGeom prst="rect">
            <a:avLst/>
          </a:prstGeom>
        </p:spPr>
        <p:txBody>
          <a:bodyPr wrap="square" lIns="0" tIns="0" rIns="0" bIns="0" rtlCol="0" anchor="t">
            <a:spAutoFit/>
          </a:bodyPr>
          <a:lstStyle/>
          <a:p>
            <a:pPr algn="ctr">
              <a:lnSpc>
                <a:spcPts val="9800"/>
              </a:lnSpc>
            </a:pPr>
            <a:r>
              <a:rPr lang="en-US" sz="7000" b="1" dirty="0">
                <a:solidFill>
                  <a:srgbClr val="000000"/>
                </a:solidFill>
                <a:latin typeface="Canva Sans Bold"/>
                <a:ea typeface="Canva Sans Bold"/>
                <a:cs typeface="Canva Sans Bold"/>
                <a:sym typeface="Canva Sans Bold"/>
              </a:rPr>
              <a:t>18.742</a:t>
            </a:r>
          </a:p>
        </p:txBody>
      </p:sp>
      <p:sp>
        <p:nvSpPr>
          <p:cNvPr id="48" name="TextBox 48"/>
          <p:cNvSpPr txBox="1"/>
          <p:nvPr/>
        </p:nvSpPr>
        <p:spPr>
          <a:xfrm>
            <a:off x="1156363" y="5200973"/>
            <a:ext cx="4065711" cy="563879"/>
          </a:xfrm>
          <a:prstGeom prst="rect">
            <a:avLst/>
          </a:prstGeom>
        </p:spPr>
        <p:txBody>
          <a:bodyPr lIns="0" tIns="0" rIns="0" bIns="0" rtlCol="0" anchor="t">
            <a:spAutoFit/>
          </a:bodyPr>
          <a:lstStyle/>
          <a:p>
            <a:pPr algn="ctr">
              <a:lnSpc>
                <a:spcPts val="4620"/>
              </a:lnSpc>
            </a:pPr>
            <a:r>
              <a:rPr lang="en-US" sz="3300" b="1">
                <a:solidFill>
                  <a:srgbClr val="000000"/>
                </a:solidFill>
                <a:latin typeface="Canva Sans Bold"/>
                <a:ea typeface="Canva Sans Bold"/>
                <a:cs typeface="Canva Sans Bold"/>
                <a:sym typeface="Canva Sans Bold"/>
              </a:rPr>
              <a:t>Total Ayat</a:t>
            </a:r>
          </a:p>
        </p:txBody>
      </p:sp>
      <p:sp>
        <p:nvSpPr>
          <p:cNvPr id="49" name="TextBox 49"/>
          <p:cNvSpPr txBox="1"/>
          <p:nvPr/>
        </p:nvSpPr>
        <p:spPr>
          <a:xfrm>
            <a:off x="5402420" y="5200973"/>
            <a:ext cx="4065711" cy="563879"/>
          </a:xfrm>
          <a:prstGeom prst="rect">
            <a:avLst/>
          </a:prstGeom>
        </p:spPr>
        <p:txBody>
          <a:bodyPr lIns="0" tIns="0" rIns="0" bIns="0" rtlCol="0" anchor="t">
            <a:spAutoFit/>
          </a:bodyPr>
          <a:lstStyle/>
          <a:p>
            <a:pPr algn="ctr">
              <a:lnSpc>
                <a:spcPts val="4620"/>
              </a:lnSpc>
            </a:pPr>
            <a:r>
              <a:rPr lang="en-US" sz="3300" b="1">
                <a:solidFill>
                  <a:srgbClr val="000000"/>
                </a:solidFill>
                <a:latin typeface="Canva Sans Bold"/>
                <a:ea typeface="Canva Sans Bold"/>
                <a:cs typeface="Canva Sans Bold"/>
                <a:sym typeface="Canva Sans Bold"/>
              </a:rPr>
              <a:t>Total Surat</a:t>
            </a:r>
          </a:p>
        </p:txBody>
      </p:sp>
      <p:sp>
        <p:nvSpPr>
          <p:cNvPr id="50" name="TextBox 50"/>
          <p:cNvSpPr txBox="1"/>
          <p:nvPr/>
        </p:nvSpPr>
        <p:spPr>
          <a:xfrm>
            <a:off x="9576919" y="5200973"/>
            <a:ext cx="4065711" cy="563879"/>
          </a:xfrm>
          <a:prstGeom prst="rect">
            <a:avLst/>
          </a:prstGeom>
        </p:spPr>
        <p:txBody>
          <a:bodyPr lIns="0" tIns="0" rIns="0" bIns="0" rtlCol="0" anchor="t">
            <a:spAutoFit/>
          </a:bodyPr>
          <a:lstStyle/>
          <a:p>
            <a:pPr algn="ctr">
              <a:lnSpc>
                <a:spcPts val="4620"/>
              </a:lnSpc>
            </a:pPr>
            <a:r>
              <a:rPr lang="en-US" sz="3300" b="1">
                <a:solidFill>
                  <a:srgbClr val="000000"/>
                </a:solidFill>
                <a:latin typeface="Canva Sans Bold"/>
                <a:ea typeface="Canva Sans Bold"/>
                <a:cs typeface="Canva Sans Bold"/>
                <a:sym typeface="Canva Sans Bold"/>
              </a:rPr>
              <a:t>Total Kata</a:t>
            </a:r>
          </a:p>
        </p:txBody>
      </p:sp>
      <p:sp>
        <p:nvSpPr>
          <p:cNvPr id="51" name="TextBox 51"/>
          <p:cNvSpPr txBox="1"/>
          <p:nvPr/>
        </p:nvSpPr>
        <p:spPr>
          <a:xfrm>
            <a:off x="13801725" y="5200973"/>
            <a:ext cx="3457575" cy="563879"/>
          </a:xfrm>
          <a:prstGeom prst="rect">
            <a:avLst/>
          </a:prstGeom>
        </p:spPr>
        <p:txBody>
          <a:bodyPr lIns="0" tIns="0" rIns="0" bIns="0" rtlCol="0" anchor="t">
            <a:spAutoFit/>
          </a:bodyPr>
          <a:lstStyle/>
          <a:p>
            <a:pPr algn="ctr">
              <a:lnSpc>
                <a:spcPts val="4620"/>
              </a:lnSpc>
            </a:pPr>
            <a:r>
              <a:rPr lang="en-US" sz="3300" b="1">
                <a:solidFill>
                  <a:srgbClr val="000000"/>
                </a:solidFill>
                <a:latin typeface="Canva Sans Bold"/>
                <a:ea typeface="Canva Sans Bold"/>
                <a:cs typeface="Canva Sans Bold"/>
                <a:sym typeface="Canva Sans Bold"/>
              </a:rPr>
              <a:t>Kosakata Unik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1665705" y="2735430"/>
            <a:ext cx="2527223" cy="3192650"/>
            <a:chOff x="0" y="0"/>
            <a:chExt cx="3369631" cy="4256867"/>
          </a:xfrm>
        </p:grpSpPr>
        <p:grpSp>
          <p:nvGrpSpPr>
            <p:cNvPr id="17" name="Group 17"/>
            <p:cNvGrpSpPr/>
            <p:nvPr/>
          </p:nvGrpSpPr>
          <p:grpSpPr>
            <a:xfrm>
              <a:off x="0" y="0"/>
              <a:ext cx="3369631" cy="4256867"/>
              <a:chOff x="0" y="0"/>
              <a:chExt cx="972859" cy="1229017"/>
            </a:xfrm>
          </p:grpSpPr>
          <p:sp>
            <p:nvSpPr>
              <p:cNvPr id="18" name="Freeform 18"/>
              <p:cNvSpPr/>
              <p:nvPr/>
            </p:nvSpPr>
            <p:spPr>
              <a:xfrm>
                <a:off x="0" y="0"/>
                <a:ext cx="972859" cy="1229017"/>
              </a:xfrm>
              <a:custGeom>
                <a:avLst/>
                <a:gdLst/>
                <a:ahLst/>
                <a:cxnLst/>
                <a:rect l="l" t="t" r="r" b="b"/>
                <a:pathLst>
                  <a:path w="972859" h="1229017">
                    <a:moveTo>
                      <a:pt x="79649" y="0"/>
                    </a:moveTo>
                    <a:lnTo>
                      <a:pt x="893211" y="0"/>
                    </a:lnTo>
                    <a:cubicBezTo>
                      <a:pt x="914335" y="0"/>
                      <a:pt x="934594" y="8392"/>
                      <a:pt x="949531" y="23329"/>
                    </a:cubicBezTo>
                    <a:cubicBezTo>
                      <a:pt x="964468" y="38266"/>
                      <a:pt x="972859" y="58525"/>
                      <a:pt x="972859" y="79649"/>
                    </a:cubicBezTo>
                    <a:lnTo>
                      <a:pt x="972859" y="1149368"/>
                    </a:lnTo>
                    <a:cubicBezTo>
                      <a:pt x="972859" y="1170492"/>
                      <a:pt x="964468" y="1190751"/>
                      <a:pt x="949531" y="1205688"/>
                    </a:cubicBezTo>
                    <a:cubicBezTo>
                      <a:pt x="934594" y="1220625"/>
                      <a:pt x="914335" y="1229017"/>
                      <a:pt x="893211" y="1229017"/>
                    </a:cubicBezTo>
                    <a:lnTo>
                      <a:pt x="79649" y="1229017"/>
                    </a:lnTo>
                    <a:cubicBezTo>
                      <a:pt x="35660" y="1229017"/>
                      <a:pt x="0" y="1193357"/>
                      <a:pt x="0" y="1149368"/>
                    </a:cubicBezTo>
                    <a:lnTo>
                      <a:pt x="0" y="79649"/>
                    </a:lnTo>
                    <a:cubicBezTo>
                      <a:pt x="0" y="58525"/>
                      <a:pt x="8392" y="38266"/>
                      <a:pt x="23329" y="23329"/>
                    </a:cubicBezTo>
                    <a:cubicBezTo>
                      <a:pt x="38266" y="8392"/>
                      <a:pt x="58525" y="0"/>
                      <a:pt x="79649" y="0"/>
                    </a:cubicBezTo>
                    <a:close/>
                  </a:path>
                </a:pathLst>
              </a:custGeom>
              <a:solidFill>
                <a:srgbClr val="FFFFFF"/>
              </a:solidFill>
              <a:ln w="38100" cap="rnd">
                <a:solidFill>
                  <a:srgbClr val="00BF63"/>
                </a:solidFill>
                <a:prstDash val="solid"/>
                <a:round/>
              </a:ln>
            </p:spPr>
          </p:sp>
          <p:sp>
            <p:nvSpPr>
              <p:cNvPr id="19" name="TextBox 19"/>
              <p:cNvSpPr txBox="1"/>
              <p:nvPr/>
            </p:nvSpPr>
            <p:spPr>
              <a:xfrm>
                <a:off x="0" y="-47625"/>
                <a:ext cx="972859" cy="1276642"/>
              </a:xfrm>
              <a:prstGeom prst="rect">
                <a:avLst/>
              </a:prstGeom>
            </p:spPr>
            <p:txBody>
              <a:bodyPr lIns="34756" tIns="34756" rIns="34756" bIns="34756" rtlCol="0" anchor="ctr"/>
              <a:lstStyle/>
              <a:p>
                <a:pPr algn="ctr">
                  <a:lnSpc>
                    <a:spcPts val="2659"/>
                  </a:lnSpc>
                </a:pPr>
                <a:endParaRPr/>
              </a:p>
            </p:txBody>
          </p:sp>
        </p:grpSp>
        <p:grpSp>
          <p:nvGrpSpPr>
            <p:cNvPr id="20" name="Group 20"/>
            <p:cNvGrpSpPr/>
            <p:nvPr/>
          </p:nvGrpSpPr>
          <p:grpSpPr>
            <a:xfrm>
              <a:off x="133238" y="2501322"/>
              <a:ext cx="3143320" cy="1551800"/>
              <a:chOff x="0" y="0"/>
              <a:chExt cx="907520" cy="448026"/>
            </a:xfrm>
          </p:grpSpPr>
          <p:sp>
            <p:nvSpPr>
              <p:cNvPr id="21" name="Freeform 21"/>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00BF63"/>
              </a:solidFill>
              <a:ln w="38100" cap="sq">
                <a:solidFill>
                  <a:srgbClr val="00BF63"/>
                </a:solidFill>
                <a:prstDash val="solid"/>
                <a:miter/>
              </a:ln>
            </p:spPr>
          </p:sp>
          <p:sp>
            <p:nvSpPr>
              <p:cNvPr id="22" name="TextBox 22"/>
              <p:cNvSpPr txBox="1"/>
              <p:nvPr/>
            </p:nvSpPr>
            <p:spPr>
              <a:xfrm>
                <a:off x="0" y="-47625"/>
                <a:ext cx="907520" cy="495651"/>
              </a:xfrm>
              <a:prstGeom prst="rect">
                <a:avLst/>
              </a:prstGeom>
            </p:spPr>
            <p:txBody>
              <a:bodyPr lIns="34756" tIns="34756" rIns="34756" bIns="34756" rtlCol="0" anchor="ctr"/>
              <a:lstStyle/>
              <a:p>
                <a:pPr algn="ctr">
                  <a:lnSpc>
                    <a:spcPts val="2659"/>
                  </a:lnSpc>
                </a:pPr>
                <a:endParaRPr/>
              </a:p>
            </p:txBody>
          </p:sp>
        </p:grpSp>
        <p:grpSp>
          <p:nvGrpSpPr>
            <p:cNvPr id="23" name="Group 23"/>
            <p:cNvGrpSpPr/>
            <p:nvPr/>
          </p:nvGrpSpPr>
          <p:grpSpPr>
            <a:xfrm>
              <a:off x="1305083" y="126975"/>
              <a:ext cx="925422" cy="923447"/>
              <a:chOff x="0" y="0"/>
              <a:chExt cx="551635" cy="550458"/>
            </a:xfrm>
          </p:grpSpPr>
          <p:sp>
            <p:nvSpPr>
              <p:cNvPr id="24" name="Freeform 24"/>
              <p:cNvSpPr/>
              <p:nvPr/>
            </p:nvSpPr>
            <p:spPr>
              <a:xfrm>
                <a:off x="0" y="0"/>
                <a:ext cx="551635" cy="550458"/>
              </a:xfrm>
              <a:custGeom>
                <a:avLst/>
                <a:gdLst/>
                <a:ahLst/>
                <a:cxnLst/>
                <a:rect l="l" t="t" r="r" b="b"/>
                <a:pathLst>
                  <a:path w="551635" h="550458">
                    <a:moveTo>
                      <a:pt x="275818" y="0"/>
                    </a:moveTo>
                    <a:cubicBezTo>
                      <a:pt x="123488" y="0"/>
                      <a:pt x="0" y="123224"/>
                      <a:pt x="0" y="275229"/>
                    </a:cubicBezTo>
                    <a:cubicBezTo>
                      <a:pt x="0" y="427234"/>
                      <a:pt x="123488" y="550458"/>
                      <a:pt x="275818" y="550458"/>
                    </a:cubicBezTo>
                    <a:cubicBezTo>
                      <a:pt x="428147" y="550458"/>
                      <a:pt x="551635" y="427234"/>
                      <a:pt x="551635" y="275229"/>
                    </a:cubicBezTo>
                    <a:cubicBezTo>
                      <a:pt x="551635" y="123224"/>
                      <a:pt x="428147" y="0"/>
                      <a:pt x="275818" y="0"/>
                    </a:cubicBezTo>
                    <a:close/>
                  </a:path>
                </a:pathLst>
              </a:custGeom>
              <a:solidFill>
                <a:srgbClr val="FFFFFF"/>
              </a:solidFill>
              <a:ln w="38100" cap="sq">
                <a:solidFill>
                  <a:srgbClr val="5CE1E6"/>
                </a:solidFill>
                <a:prstDash val="solid"/>
                <a:miter/>
              </a:ln>
            </p:spPr>
          </p:sp>
          <p:sp>
            <p:nvSpPr>
              <p:cNvPr id="25" name="TextBox 25"/>
              <p:cNvSpPr txBox="1"/>
              <p:nvPr/>
            </p:nvSpPr>
            <p:spPr>
              <a:xfrm>
                <a:off x="51716" y="13505"/>
                <a:ext cx="448204" cy="485347"/>
              </a:xfrm>
              <a:prstGeom prst="rect">
                <a:avLst/>
              </a:prstGeom>
            </p:spPr>
            <p:txBody>
              <a:bodyPr lIns="50800" tIns="50800" rIns="50800" bIns="50800" rtlCol="0" anchor="ctr"/>
              <a:lstStyle/>
              <a:p>
                <a:pPr algn="ctr">
                  <a:lnSpc>
                    <a:spcPts val="2799"/>
                  </a:lnSpc>
                </a:pPr>
                <a:r>
                  <a:rPr lang="en-US" sz="1999">
                    <a:solidFill>
                      <a:srgbClr val="000000"/>
                    </a:solidFill>
                    <a:latin typeface="Antic"/>
                    <a:ea typeface="Antic"/>
                    <a:cs typeface="Antic"/>
                    <a:sym typeface="Antic"/>
                  </a:rPr>
                  <a:t>1</a:t>
                </a:r>
              </a:p>
            </p:txBody>
          </p:sp>
        </p:grpSp>
        <p:grpSp>
          <p:nvGrpSpPr>
            <p:cNvPr id="26" name="Group 26"/>
            <p:cNvGrpSpPr/>
            <p:nvPr/>
          </p:nvGrpSpPr>
          <p:grpSpPr>
            <a:xfrm>
              <a:off x="1517182" y="3094338"/>
              <a:ext cx="263312" cy="263312"/>
              <a:chOff x="0" y="0"/>
              <a:chExt cx="812800" cy="812800"/>
            </a:xfrm>
          </p:grpSpPr>
          <p:sp>
            <p:nvSpPr>
              <p:cNvPr id="27" name="Freeform 27"/>
              <p:cNvSpPr/>
              <p:nvPr/>
            </p:nvSpPr>
            <p:spPr>
              <a:xfrm>
                <a:off x="0" y="0"/>
                <a:ext cx="812800" cy="812800"/>
              </a:xfrm>
              <a:custGeom>
                <a:avLst/>
                <a:gdLst/>
                <a:ahLst/>
                <a:cxnLst/>
                <a:rect l="l" t="t" r="r" b="b"/>
                <a:pathLst>
                  <a:path w="812800" h="812800">
                    <a:moveTo>
                      <a:pt x="406400" y="812800"/>
                    </a:moveTo>
                    <a:lnTo>
                      <a:pt x="0" y="406400"/>
                    </a:lnTo>
                    <a:lnTo>
                      <a:pt x="203200" y="406400"/>
                    </a:lnTo>
                    <a:lnTo>
                      <a:pt x="203200" y="0"/>
                    </a:lnTo>
                    <a:lnTo>
                      <a:pt x="609600" y="0"/>
                    </a:lnTo>
                    <a:lnTo>
                      <a:pt x="609600" y="406400"/>
                    </a:lnTo>
                    <a:lnTo>
                      <a:pt x="812800" y="406400"/>
                    </a:lnTo>
                    <a:lnTo>
                      <a:pt x="406400" y="812800"/>
                    </a:lnTo>
                    <a:close/>
                  </a:path>
                </a:pathLst>
              </a:custGeom>
              <a:solidFill>
                <a:srgbClr val="FFFFFF"/>
              </a:solidFill>
              <a:ln w="9525" cap="sq">
                <a:solidFill>
                  <a:srgbClr val="FFFFFF"/>
                </a:solidFill>
                <a:prstDash val="solid"/>
                <a:miter/>
              </a:ln>
            </p:spPr>
          </p:sp>
          <p:sp>
            <p:nvSpPr>
              <p:cNvPr id="28" name="TextBox 28"/>
              <p:cNvSpPr txBox="1"/>
              <p:nvPr/>
            </p:nvSpPr>
            <p:spPr>
              <a:xfrm>
                <a:off x="203200" y="-47625"/>
                <a:ext cx="406400" cy="758825"/>
              </a:xfrm>
              <a:prstGeom prst="rect">
                <a:avLst/>
              </a:prstGeom>
            </p:spPr>
            <p:txBody>
              <a:bodyPr lIns="50800" tIns="50800" rIns="50800" bIns="50800" rtlCol="0" anchor="ctr"/>
              <a:lstStyle/>
              <a:p>
                <a:pPr algn="ctr">
                  <a:lnSpc>
                    <a:spcPts val="2659"/>
                  </a:lnSpc>
                </a:pPr>
                <a:endParaRPr/>
              </a:p>
            </p:txBody>
          </p:sp>
        </p:grpSp>
        <p:sp>
          <p:nvSpPr>
            <p:cNvPr id="29" name="TextBox 29"/>
            <p:cNvSpPr txBox="1"/>
            <p:nvPr/>
          </p:nvSpPr>
          <p:spPr>
            <a:xfrm>
              <a:off x="255227" y="1170351"/>
              <a:ext cx="2965627" cy="386027"/>
            </a:xfrm>
            <a:prstGeom prst="rect">
              <a:avLst/>
            </a:prstGeom>
          </p:spPr>
          <p:txBody>
            <a:bodyPr lIns="0" tIns="0" rIns="0" bIns="0" rtlCol="0" anchor="t">
              <a:spAutoFit/>
            </a:bodyPr>
            <a:lstStyle/>
            <a:p>
              <a:pPr algn="ctr">
                <a:lnSpc>
                  <a:spcPts val="2548"/>
                </a:lnSpc>
              </a:pPr>
              <a:r>
                <a:rPr lang="en-US" sz="1820" b="1">
                  <a:solidFill>
                    <a:srgbClr val="1800AD"/>
                  </a:solidFill>
                  <a:latin typeface="Canva Sans Bold"/>
                  <a:ea typeface="Canva Sans Bold"/>
                  <a:cs typeface="Canva Sans Bold"/>
                  <a:sym typeface="Canva Sans Bold"/>
                </a:rPr>
                <a:t>Case Folding</a:t>
              </a:r>
            </a:p>
          </p:txBody>
        </p:sp>
        <p:sp>
          <p:nvSpPr>
            <p:cNvPr id="30" name="TextBox 30"/>
            <p:cNvSpPr txBox="1"/>
            <p:nvPr/>
          </p:nvSpPr>
          <p:spPr>
            <a:xfrm>
              <a:off x="531654" y="2517550"/>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Segala puji bagi Allah, Tuhan semesta alam</a:t>
              </a:r>
            </a:p>
          </p:txBody>
        </p:sp>
        <p:sp>
          <p:nvSpPr>
            <p:cNvPr id="31" name="TextBox 31"/>
            <p:cNvSpPr txBox="1"/>
            <p:nvPr/>
          </p:nvSpPr>
          <p:spPr>
            <a:xfrm>
              <a:off x="501901" y="3402100"/>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segala puji bagi allah, tuhan semesta alam</a:t>
              </a:r>
            </a:p>
          </p:txBody>
        </p:sp>
      </p:grpSp>
      <p:grpSp>
        <p:nvGrpSpPr>
          <p:cNvPr id="32" name="Group 32"/>
          <p:cNvGrpSpPr/>
          <p:nvPr/>
        </p:nvGrpSpPr>
        <p:grpSpPr>
          <a:xfrm>
            <a:off x="7560145" y="2735430"/>
            <a:ext cx="2527223" cy="3192650"/>
            <a:chOff x="0" y="0"/>
            <a:chExt cx="3369631" cy="4256867"/>
          </a:xfrm>
        </p:grpSpPr>
        <p:grpSp>
          <p:nvGrpSpPr>
            <p:cNvPr id="33" name="Group 33"/>
            <p:cNvGrpSpPr/>
            <p:nvPr/>
          </p:nvGrpSpPr>
          <p:grpSpPr>
            <a:xfrm>
              <a:off x="0" y="0"/>
              <a:ext cx="3369631" cy="4256867"/>
              <a:chOff x="0" y="0"/>
              <a:chExt cx="972859" cy="1229017"/>
            </a:xfrm>
          </p:grpSpPr>
          <p:sp>
            <p:nvSpPr>
              <p:cNvPr id="34" name="Freeform 34"/>
              <p:cNvSpPr/>
              <p:nvPr/>
            </p:nvSpPr>
            <p:spPr>
              <a:xfrm>
                <a:off x="0" y="0"/>
                <a:ext cx="972859" cy="1229017"/>
              </a:xfrm>
              <a:custGeom>
                <a:avLst/>
                <a:gdLst/>
                <a:ahLst/>
                <a:cxnLst/>
                <a:rect l="l" t="t" r="r" b="b"/>
                <a:pathLst>
                  <a:path w="972859" h="1229017">
                    <a:moveTo>
                      <a:pt x="79649" y="0"/>
                    </a:moveTo>
                    <a:lnTo>
                      <a:pt x="893211" y="0"/>
                    </a:lnTo>
                    <a:cubicBezTo>
                      <a:pt x="914335" y="0"/>
                      <a:pt x="934594" y="8392"/>
                      <a:pt x="949531" y="23329"/>
                    </a:cubicBezTo>
                    <a:cubicBezTo>
                      <a:pt x="964468" y="38266"/>
                      <a:pt x="972859" y="58525"/>
                      <a:pt x="972859" y="79649"/>
                    </a:cubicBezTo>
                    <a:lnTo>
                      <a:pt x="972859" y="1149368"/>
                    </a:lnTo>
                    <a:cubicBezTo>
                      <a:pt x="972859" y="1170492"/>
                      <a:pt x="964468" y="1190751"/>
                      <a:pt x="949531" y="1205688"/>
                    </a:cubicBezTo>
                    <a:cubicBezTo>
                      <a:pt x="934594" y="1220625"/>
                      <a:pt x="914335" y="1229017"/>
                      <a:pt x="893211" y="1229017"/>
                    </a:cubicBezTo>
                    <a:lnTo>
                      <a:pt x="79649" y="1229017"/>
                    </a:lnTo>
                    <a:cubicBezTo>
                      <a:pt x="35660" y="1229017"/>
                      <a:pt x="0" y="1193357"/>
                      <a:pt x="0" y="1149368"/>
                    </a:cubicBezTo>
                    <a:lnTo>
                      <a:pt x="0" y="79649"/>
                    </a:lnTo>
                    <a:cubicBezTo>
                      <a:pt x="0" y="58525"/>
                      <a:pt x="8392" y="38266"/>
                      <a:pt x="23329" y="23329"/>
                    </a:cubicBezTo>
                    <a:cubicBezTo>
                      <a:pt x="38266" y="8392"/>
                      <a:pt x="58525" y="0"/>
                      <a:pt x="79649" y="0"/>
                    </a:cubicBezTo>
                    <a:close/>
                  </a:path>
                </a:pathLst>
              </a:custGeom>
              <a:solidFill>
                <a:srgbClr val="FFFFFF"/>
              </a:solidFill>
              <a:ln w="38100" cap="rnd">
                <a:solidFill>
                  <a:srgbClr val="00BF63"/>
                </a:solidFill>
                <a:prstDash val="solid"/>
                <a:round/>
              </a:ln>
            </p:spPr>
          </p:sp>
          <p:sp>
            <p:nvSpPr>
              <p:cNvPr id="35" name="TextBox 35"/>
              <p:cNvSpPr txBox="1"/>
              <p:nvPr/>
            </p:nvSpPr>
            <p:spPr>
              <a:xfrm>
                <a:off x="0" y="-47625"/>
                <a:ext cx="972859" cy="1276642"/>
              </a:xfrm>
              <a:prstGeom prst="rect">
                <a:avLst/>
              </a:prstGeom>
            </p:spPr>
            <p:txBody>
              <a:bodyPr lIns="34756" tIns="34756" rIns="34756" bIns="34756" rtlCol="0" anchor="ctr"/>
              <a:lstStyle/>
              <a:p>
                <a:pPr algn="ctr">
                  <a:lnSpc>
                    <a:spcPts val="2659"/>
                  </a:lnSpc>
                </a:pPr>
                <a:endParaRPr/>
              </a:p>
            </p:txBody>
          </p:sp>
        </p:grpSp>
        <p:grpSp>
          <p:nvGrpSpPr>
            <p:cNvPr id="36" name="Group 36"/>
            <p:cNvGrpSpPr/>
            <p:nvPr/>
          </p:nvGrpSpPr>
          <p:grpSpPr>
            <a:xfrm>
              <a:off x="133238" y="2490587"/>
              <a:ext cx="3143320" cy="1551800"/>
              <a:chOff x="0" y="0"/>
              <a:chExt cx="907520" cy="448026"/>
            </a:xfrm>
          </p:grpSpPr>
          <p:sp>
            <p:nvSpPr>
              <p:cNvPr id="37" name="Freeform 37"/>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00BF63"/>
              </a:solidFill>
              <a:ln w="38100" cap="sq">
                <a:solidFill>
                  <a:srgbClr val="00BF63"/>
                </a:solidFill>
                <a:prstDash val="solid"/>
                <a:miter/>
              </a:ln>
            </p:spPr>
          </p:sp>
          <p:sp>
            <p:nvSpPr>
              <p:cNvPr id="38" name="TextBox 38"/>
              <p:cNvSpPr txBox="1"/>
              <p:nvPr/>
            </p:nvSpPr>
            <p:spPr>
              <a:xfrm>
                <a:off x="0" y="-47625"/>
                <a:ext cx="907520" cy="495651"/>
              </a:xfrm>
              <a:prstGeom prst="rect">
                <a:avLst/>
              </a:prstGeom>
            </p:spPr>
            <p:txBody>
              <a:bodyPr lIns="34756" tIns="34756" rIns="34756" bIns="34756" rtlCol="0" anchor="ctr"/>
              <a:lstStyle/>
              <a:p>
                <a:pPr algn="ctr">
                  <a:lnSpc>
                    <a:spcPts val="2659"/>
                  </a:lnSpc>
                </a:pPr>
                <a:endParaRPr/>
              </a:p>
            </p:txBody>
          </p:sp>
        </p:grpSp>
        <p:grpSp>
          <p:nvGrpSpPr>
            <p:cNvPr id="39" name="Group 39"/>
            <p:cNvGrpSpPr/>
            <p:nvPr/>
          </p:nvGrpSpPr>
          <p:grpSpPr>
            <a:xfrm>
              <a:off x="1305083" y="126975"/>
              <a:ext cx="925422" cy="923447"/>
              <a:chOff x="0" y="0"/>
              <a:chExt cx="551635" cy="550458"/>
            </a:xfrm>
          </p:grpSpPr>
          <p:sp>
            <p:nvSpPr>
              <p:cNvPr id="40" name="Freeform 40"/>
              <p:cNvSpPr/>
              <p:nvPr/>
            </p:nvSpPr>
            <p:spPr>
              <a:xfrm>
                <a:off x="0" y="0"/>
                <a:ext cx="551635" cy="550458"/>
              </a:xfrm>
              <a:custGeom>
                <a:avLst/>
                <a:gdLst/>
                <a:ahLst/>
                <a:cxnLst/>
                <a:rect l="l" t="t" r="r" b="b"/>
                <a:pathLst>
                  <a:path w="551635" h="550458">
                    <a:moveTo>
                      <a:pt x="275818" y="0"/>
                    </a:moveTo>
                    <a:cubicBezTo>
                      <a:pt x="123488" y="0"/>
                      <a:pt x="0" y="123224"/>
                      <a:pt x="0" y="275229"/>
                    </a:cubicBezTo>
                    <a:cubicBezTo>
                      <a:pt x="0" y="427234"/>
                      <a:pt x="123488" y="550458"/>
                      <a:pt x="275818" y="550458"/>
                    </a:cubicBezTo>
                    <a:cubicBezTo>
                      <a:pt x="428147" y="550458"/>
                      <a:pt x="551635" y="427234"/>
                      <a:pt x="551635" y="275229"/>
                    </a:cubicBezTo>
                    <a:cubicBezTo>
                      <a:pt x="551635" y="123224"/>
                      <a:pt x="428147" y="0"/>
                      <a:pt x="275818" y="0"/>
                    </a:cubicBezTo>
                    <a:close/>
                  </a:path>
                </a:pathLst>
              </a:custGeom>
              <a:solidFill>
                <a:srgbClr val="FFFFFF"/>
              </a:solidFill>
              <a:ln w="38100" cap="sq">
                <a:solidFill>
                  <a:srgbClr val="5CE1E6"/>
                </a:solidFill>
                <a:prstDash val="solid"/>
                <a:miter/>
              </a:ln>
            </p:spPr>
          </p:sp>
          <p:sp>
            <p:nvSpPr>
              <p:cNvPr id="41" name="TextBox 41"/>
              <p:cNvSpPr txBox="1"/>
              <p:nvPr/>
            </p:nvSpPr>
            <p:spPr>
              <a:xfrm>
                <a:off x="51716" y="13505"/>
                <a:ext cx="448204" cy="485347"/>
              </a:xfrm>
              <a:prstGeom prst="rect">
                <a:avLst/>
              </a:prstGeom>
            </p:spPr>
            <p:txBody>
              <a:bodyPr lIns="50800" tIns="50800" rIns="50800" bIns="50800" rtlCol="0" anchor="ctr"/>
              <a:lstStyle/>
              <a:p>
                <a:pPr algn="ctr">
                  <a:lnSpc>
                    <a:spcPts val="2799"/>
                  </a:lnSpc>
                </a:pPr>
                <a:r>
                  <a:rPr lang="en-US" sz="1999">
                    <a:solidFill>
                      <a:srgbClr val="000000"/>
                    </a:solidFill>
                    <a:latin typeface="Antic"/>
                    <a:ea typeface="Antic"/>
                    <a:cs typeface="Antic"/>
                    <a:sym typeface="Antic"/>
                  </a:rPr>
                  <a:t>3</a:t>
                </a:r>
              </a:p>
            </p:txBody>
          </p:sp>
        </p:grpSp>
        <p:grpSp>
          <p:nvGrpSpPr>
            <p:cNvPr id="42" name="Group 42"/>
            <p:cNvGrpSpPr/>
            <p:nvPr/>
          </p:nvGrpSpPr>
          <p:grpSpPr>
            <a:xfrm>
              <a:off x="1517182" y="3107038"/>
              <a:ext cx="263312" cy="263312"/>
              <a:chOff x="0" y="0"/>
              <a:chExt cx="812800" cy="812800"/>
            </a:xfrm>
          </p:grpSpPr>
          <p:sp>
            <p:nvSpPr>
              <p:cNvPr id="43" name="Freeform 43"/>
              <p:cNvSpPr/>
              <p:nvPr/>
            </p:nvSpPr>
            <p:spPr>
              <a:xfrm>
                <a:off x="0" y="0"/>
                <a:ext cx="812800" cy="812800"/>
              </a:xfrm>
              <a:custGeom>
                <a:avLst/>
                <a:gdLst/>
                <a:ahLst/>
                <a:cxnLst/>
                <a:rect l="l" t="t" r="r" b="b"/>
                <a:pathLst>
                  <a:path w="812800" h="812800">
                    <a:moveTo>
                      <a:pt x="406400" y="812800"/>
                    </a:moveTo>
                    <a:lnTo>
                      <a:pt x="0" y="406400"/>
                    </a:lnTo>
                    <a:lnTo>
                      <a:pt x="203200" y="406400"/>
                    </a:lnTo>
                    <a:lnTo>
                      <a:pt x="203200" y="0"/>
                    </a:lnTo>
                    <a:lnTo>
                      <a:pt x="609600" y="0"/>
                    </a:lnTo>
                    <a:lnTo>
                      <a:pt x="609600" y="406400"/>
                    </a:lnTo>
                    <a:lnTo>
                      <a:pt x="812800" y="406400"/>
                    </a:lnTo>
                    <a:lnTo>
                      <a:pt x="406400" y="812800"/>
                    </a:lnTo>
                    <a:close/>
                  </a:path>
                </a:pathLst>
              </a:custGeom>
              <a:solidFill>
                <a:srgbClr val="FFFFFF"/>
              </a:solidFill>
              <a:ln w="9525" cap="sq">
                <a:solidFill>
                  <a:srgbClr val="FFFFFF"/>
                </a:solidFill>
                <a:prstDash val="solid"/>
                <a:miter/>
              </a:ln>
            </p:spPr>
          </p:sp>
          <p:sp>
            <p:nvSpPr>
              <p:cNvPr id="44" name="TextBox 44"/>
              <p:cNvSpPr txBox="1"/>
              <p:nvPr/>
            </p:nvSpPr>
            <p:spPr>
              <a:xfrm>
                <a:off x="203200" y="-47625"/>
                <a:ext cx="406400" cy="758825"/>
              </a:xfrm>
              <a:prstGeom prst="rect">
                <a:avLst/>
              </a:prstGeom>
            </p:spPr>
            <p:txBody>
              <a:bodyPr lIns="50800" tIns="50800" rIns="50800" bIns="50800" rtlCol="0" anchor="ctr"/>
              <a:lstStyle/>
              <a:p>
                <a:pPr algn="ctr">
                  <a:lnSpc>
                    <a:spcPts val="2659"/>
                  </a:lnSpc>
                </a:pPr>
                <a:endParaRPr/>
              </a:p>
            </p:txBody>
          </p:sp>
        </p:grpSp>
        <p:sp>
          <p:nvSpPr>
            <p:cNvPr id="45" name="TextBox 45"/>
            <p:cNvSpPr txBox="1"/>
            <p:nvPr/>
          </p:nvSpPr>
          <p:spPr>
            <a:xfrm>
              <a:off x="310931" y="1170351"/>
              <a:ext cx="2965627" cy="386027"/>
            </a:xfrm>
            <a:prstGeom prst="rect">
              <a:avLst/>
            </a:prstGeom>
          </p:spPr>
          <p:txBody>
            <a:bodyPr lIns="0" tIns="0" rIns="0" bIns="0" rtlCol="0" anchor="t">
              <a:spAutoFit/>
            </a:bodyPr>
            <a:lstStyle/>
            <a:p>
              <a:pPr algn="ctr">
                <a:lnSpc>
                  <a:spcPts val="2548"/>
                </a:lnSpc>
              </a:pPr>
              <a:r>
                <a:rPr lang="en-US" sz="1820" b="1">
                  <a:solidFill>
                    <a:srgbClr val="1800AD"/>
                  </a:solidFill>
                  <a:latin typeface="Canva Sans Bold"/>
                  <a:ea typeface="Canva Sans Bold"/>
                  <a:cs typeface="Canva Sans Bold"/>
                  <a:sym typeface="Canva Sans Bold"/>
                </a:rPr>
                <a:t>Tokenization</a:t>
              </a:r>
            </a:p>
          </p:txBody>
        </p:sp>
        <p:sp>
          <p:nvSpPr>
            <p:cNvPr id="46" name="TextBox 46"/>
            <p:cNvSpPr txBox="1"/>
            <p:nvPr/>
          </p:nvSpPr>
          <p:spPr>
            <a:xfrm>
              <a:off x="531654" y="2530250"/>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Segala puji bagi Allah, Tuhan semesta alam</a:t>
              </a:r>
            </a:p>
          </p:txBody>
        </p:sp>
        <p:sp>
          <p:nvSpPr>
            <p:cNvPr id="47" name="TextBox 47"/>
            <p:cNvSpPr txBox="1"/>
            <p:nvPr/>
          </p:nvSpPr>
          <p:spPr>
            <a:xfrm>
              <a:off x="501901" y="3414800"/>
              <a:ext cx="2472279" cy="513288"/>
            </a:xfrm>
            <a:prstGeom prst="rect">
              <a:avLst/>
            </a:prstGeom>
          </p:spPr>
          <p:txBody>
            <a:bodyPr lIns="0" tIns="0" rIns="0" bIns="0" rtlCol="0" anchor="t">
              <a:spAutoFit/>
            </a:bodyPr>
            <a:lstStyle/>
            <a:p>
              <a:pPr algn="just">
                <a:lnSpc>
                  <a:spcPts val="1618"/>
                </a:lnSpc>
              </a:pPr>
              <a:r>
                <a:rPr lang="en-US" sz="1156">
                  <a:solidFill>
                    <a:srgbClr val="FFFFFF"/>
                  </a:solidFill>
                  <a:latin typeface="Canva Sans"/>
                  <a:ea typeface="Canva Sans"/>
                  <a:cs typeface="Canva Sans"/>
                  <a:sym typeface="Canva Sans"/>
                </a:rPr>
                <a:t>[puji, allah, tuhan, semesta, alam]                         </a:t>
              </a:r>
            </a:p>
          </p:txBody>
        </p:sp>
      </p:grpSp>
      <p:grpSp>
        <p:nvGrpSpPr>
          <p:cNvPr id="48" name="Group 48"/>
          <p:cNvGrpSpPr/>
          <p:nvPr/>
        </p:nvGrpSpPr>
        <p:grpSpPr>
          <a:xfrm>
            <a:off x="4555854" y="2735430"/>
            <a:ext cx="2527223" cy="3192650"/>
            <a:chOff x="0" y="0"/>
            <a:chExt cx="3369631" cy="4256867"/>
          </a:xfrm>
        </p:grpSpPr>
        <p:grpSp>
          <p:nvGrpSpPr>
            <p:cNvPr id="49" name="Group 49"/>
            <p:cNvGrpSpPr/>
            <p:nvPr/>
          </p:nvGrpSpPr>
          <p:grpSpPr>
            <a:xfrm>
              <a:off x="0" y="0"/>
              <a:ext cx="3369631" cy="4256867"/>
              <a:chOff x="0" y="0"/>
              <a:chExt cx="972859" cy="1229017"/>
            </a:xfrm>
          </p:grpSpPr>
          <p:sp>
            <p:nvSpPr>
              <p:cNvPr id="50" name="Freeform 50"/>
              <p:cNvSpPr/>
              <p:nvPr/>
            </p:nvSpPr>
            <p:spPr>
              <a:xfrm>
                <a:off x="0" y="0"/>
                <a:ext cx="972859" cy="1229017"/>
              </a:xfrm>
              <a:custGeom>
                <a:avLst/>
                <a:gdLst/>
                <a:ahLst/>
                <a:cxnLst/>
                <a:rect l="l" t="t" r="r" b="b"/>
                <a:pathLst>
                  <a:path w="972859" h="1229017">
                    <a:moveTo>
                      <a:pt x="79649" y="0"/>
                    </a:moveTo>
                    <a:lnTo>
                      <a:pt x="893211" y="0"/>
                    </a:lnTo>
                    <a:cubicBezTo>
                      <a:pt x="914335" y="0"/>
                      <a:pt x="934594" y="8392"/>
                      <a:pt x="949531" y="23329"/>
                    </a:cubicBezTo>
                    <a:cubicBezTo>
                      <a:pt x="964468" y="38266"/>
                      <a:pt x="972859" y="58525"/>
                      <a:pt x="972859" y="79649"/>
                    </a:cubicBezTo>
                    <a:lnTo>
                      <a:pt x="972859" y="1149368"/>
                    </a:lnTo>
                    <a:cubicBezTo>
                      <a:pt x="972859" y="1170492"/>
                      <a:pt x="964468" y="1190751"/>
                      <a:pt x="949531" y="1205688"/>
                    </a:cubicBezTo>
                    <a:cubicBezTo>
                      <a:pt x="934594" y="1220625"/>
                      <a:pt x="914335" y="1229017"/>
                      <a:pt x="893211" y="1229017"/>
                    </a:cubicBezTo>
                    <a:lnTo>
                      <a:pt x="79649" y="1229017"/>
                    </a:lnTo>
                    <a:cubicBezTo>
                      <a:pt x="35660" y="1229017"/>
                      <a:pt x="0" y="1193357"/>
                      <a:pt x="0" y="1149368"/>
                    </a:cubicBezTo>
                    <a:lnTo>
                      <a:pt x="0" y="79649"/>
                    </a:lnTo>
                    <a:cubicBezTo>
                      <a:pt x="0" y="58525"/>
                      <a:pt x="8392" y="38266"/>
                      <a:pt x="23329" y="23329"/>
                    </a:cubicBezTo>
                    <a:cubicBezTo>
                      <a:pt x="38266" y="8392"/>
                      <a:pt x="58525" y="0"/>
                      <a:pt x="79649" y="0"/>
                    </a:cubicBezTo>
                    <a:close/>
                  </a:path>
                </a:pathLst>
              </a:custGeom>
              <a:solidFill>
                <a:srgbClr val="FFFFFF"/>
              </a:solidFill>
              <a:ln w="38100" cap="rnd">
                <a:solidFill>
                  <a:srgbClr val="00BF63"/>
                </a:solidFill>
                <a:prstDash val="solid"/>
                <a:round/>
              </a:ln>
            </p:spPr>
          </p:sp>
          <p:sp>
            <p:nvSpPr>
              <p:cNvPr id="51" name="TextBox 51"/>
              <p:cNvSpPr txBox="1"/>
              <p:nvPr/>
            </p:nvSpPr>
            <p:spPr>
              <a:xfrm>
                <a:off x="0" y="-47625"/>
                <a:ext cx="972859" cy="1276642"/>
              </a:xfrm>
              <a:prstGeom prst="rect">
                <a:avLst/>
              </a:prstGeom>
            </p:spPr>
            <p:txBody>
              <a:bodyPr lIns="34756" tIns="34756" rIns="34756" bIns="34756" rtlCol="0" anchor="ctr"/>
              <a:lstStyle/>
              <a:p>
                <a:pPr algn="ctr">
                  <a:lnSpc>
                    <a:spcPts val="2659"/>
                  </a:lnSpc>
                </a:pPr>
                <a:endParaRPr/>
              </a:p>
            </p:txBody>
          </p:sp>
        </p:grpSp>
        <p:grpSp>
          <p:nvGrpSpPr>
            <p:cNvPr id="52" name="Group 52"/>
            <p:cNvGrpSpPr/>
            <p:nvPr/>
          </p:nvGrpSpPr>
          <p:grpSpPr>
            <a:xfrm>
              <a:off x="133238" y="2537885"/>
              <a:ext cx="3143320" cy="1551800"/>
              <a:chOff x="0" y="0"/>
              <a:chExt cx="907520" cy="448026"/>
            </a:xfrm>
          </p:grpSpPr>
          <p:sp>
            <p:nvSpPr>
              <p:cNvPr id="53" name="Freeform 53"/>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00BF63"/>
              </a:solidFill>
              <a:ln w="38100" cap="sq">
                <a:solidFill>
                  <a:srgbClr val="00BF63"/>
                </a:solidFill>
                <a:prstDash val="solid"/>
                <a:miter/>
              </a:ln>
            </p:spPr>
          </p:sp>
          <p:sp>
            <p:nvSpPr>
              <p:cNvPr id="54" name="TextBox 54"/>
              <p:cNvSpPr txBox="1"/>
              <p:nvPr/>
            </p:nvSpPr>
            <p:spPr>
              <a:xfrm>
                <a:off x="0" y="-47625"/>
                <a:ext cx="907520" cy="495651"/>
              </a:xfrm>
              <a:prstGeom prst="rect">
                <a:avLst/>
              </a:prstGeom>
            </p:spPr>
            <p:txBody>
              <a:bodyPr lIns="34756" tIns="34756" rIns="34756" bIns="34756" rtlCol="0" anchor="ctr"/>
              <a:lstStyle/>
              <a:p>
                <a:pPr algn="ctr">
                  <a:lnSpc>
                    <a:spcPts val="2659"/>
                  </a:lnSpc>
                </a:pPr>
                <a:endParaRPr/>
              </a:p>
            </p:txBody>
          </p:sp>
        </p:grpSp>
        <p:grpSp>
          <p:nvGrpSpPr>
            <p:cNvPr id="55" name="Group 55"/>
            <p:cNvGrpSpPr/>
            <p:nvPr/>
          </p:nvGrpSpPr>
          <p:grpSpPr>
            <a:xfrm>
              <a:off x="1305083" y="126975"/>
              <a:ext cx="925422" cy="923447"/>
              <a:chOff x="0" y="0"/>
              <a:chExt cx="551635" cy="550458"/>
            </a:xfrm>
          </p:grpSpPr>
          <p:sp>
            <p:nvSpPr>
              <p:cNvPr id="56" name="Freeform 56"/>
              <p:cNvSpPr/>
              <p:nvPr/>
            </p:nvSpPr>
            <p:spPr>
              <a:xfrm>
                <a:off x="0" y="0"/>
                <a:ext cx="551635" cy="550458"/>
              </a:xfrm>
              <a:custGeom>
                <a:avLst/>
                <a:gdLst/>
                <a:ahLst/>
                <a:cxnLst/>
                <a:rect l="l" t="t" r="r" b="b"/>
                <a:pathLst>
                  <a:path w="551635" h="550458">
                    <a:moveTo>
                      <a:pt x="275818" y="0"/>
                    </a:moveTo>
                    <a:cubicBezTo>
                      <a:pt x="123488" y="0"/>
                      <a:pt x="0" y="123224"/>
                      <a:pt x="0" y="275229"/>
                    </a:cubicBezTo>
                    <a:cubicBezTo>
                      <a:pt x="0" y="427234"/>
                      <a:pt x="123488" y="550458"/>
                      <a:pt x="275818" y="550458"/>
                    </a:cubicBezTo>
                    <a:cubicBezTo>
                      <a:pt x="428147" y="550458"/>
                      <a:pt x="551635" y="427234"/>
                      <a:pt x="551635" y="275229"/>
                    </a:cubicBezTo>
                    <a:cubicBezTo>
                      <a:pt x="551635" y="123224"/>
                      <a:pt x="428147" y="0"/>
                      <a:pt x="275818" y="0"/>
                    </a:cubicBezTo>
                    <a:close/>
                  </a:path>
                </a:pathLst>
              </a:custGeom>
              <a:solidFill>
                <a:srgbClr val="FFFFFF"/>
              </a:solidFill>
              <a:ln w="38100" cap="sq">
                <a:solidFill>
                  <a:srgbClr val="5CE1E6"/>
                </a:solidFill>
                <a:prstDash val="solid"/>
                <a:miter/>
              </a:ln>
            </p:spPr>
          </p:sp>
          <p:sp>
            <p:nvSpPr>
              <p:cNvPr id="57" name="TextBox 57"/>
              <p:cNvSpPr txBox="1"/>
              <p:nvPr/>
            </p:nvSpPr>
            <p:spPr>
              <a:xfrm>
                <a:off x="51716" y="13505"/>
                <a:ext cx="448204" cy="485347"/>
              </a:xfrm>
              <a:prstGeom prst="rect">
                <a:avLst/>
              </a:prstGeom>
            </p:spPr>
            <p:txBody>
              <a:bodyPr lIns="50800" tIns="50800" rIns="50800" bIns="50800" rtlCol="0" anchor="ctr"/>
              <a:lstStyle/>
              <a:p>
                <a:pPr algn="ctr">
                  <a:lnSpc>
                    <a:spcPts val="2799"/>
                  </a:lnSpc>
                </a:pPr>
                <a:r>
                  <a:rPr lang="en-US" sz="1999">
                    <a:solidFill>
                      <a:srgbClr val="000000"/>
                    </a:solidFill>
                    <a:latin typeface="Antic"/>
                    <a:ea typeface="Antic"/>
                    <a:cs typeface="Antic"/>
                    <a:sym typeface="Antic"/>
                  </a:rPr>
                  <a:t>2</a:t>
                </a:r>
              </a:p>
            </p:txBody>
          </p:sp>
        </p:grpSp>
        <p:grpSp>
          <p:nvGrpSpPr>
            <p:cNvPr id="58" name="Group 58"/>
            <p:cNvGrpSpPr/>
            <p:nvPr/>
          </p:nvGrpSpPr>
          <p:grpSpPr>
            <a:xfrm>
              <a:off x="1517182" y="3154336"/>
              <a:ext cx="263312" cy="263312"/>
              <a:chOff x="0" y="0"/>
              <a:chExt cx="812800" cy="812800"/>
            </a:xfrm>
          </p:grpSpPr>
          <p:sp>
            <p:nvSpPr>
              <p:cNvPr id="59" name="Freeform 59"/>
              <p:cNvSpPr/>
              <p:nvPr/>
            </p:nvSpPr>
            <p:spPr>
              <a:xfrm>
                <a:off x="0" y="0"/>
                <a:ext cx="812800" cy="812800"/>
              </a:xfrm>
              <a:custGeom>
                <a:avLst/>
                <a:gdLst/>
                <a:ahLst/>
                <a:cxnLst/>
                <a:rect l="l" t="t" r="r" b="b"/>
                <a:pathLst>
                  <a:path w="812800" h="812800">
                    <a:moveTo>
                      <a:pt x="406400" y="812800"/>
                    </a:moveTo>
                    <a:lnTo>
                      <a:pt x="0" y="406400"/>
                    </a:lnTo>
                    <a:lnTo>
                      <a:pt x="203200" y="406400"/>
                    </a:lnTo>
                    <a:lnTo>
                      <a:pt x="203200" y="0"/>
                    </a:lnTo>
                    <a:lnTo>
                      <a:pt x="609600" y="0"/>
                    </a:lnTo>
                    <a:lnTo>
                      <a:pt x="609600" y="406400"/>
                    </a:lnTo>
                    <a:lnTo>
                      <a:pt x="812800" y="406400"/>
                    </a:lnTo>
                    <a:lnTo>
                      <a:pt x="406400" y="812800"/>
                    </a:lnTo>
                    <a:close/>
                  </a:path>
                </a:pathLst>
              </a:custGeom>
              <a:solidFill>
                <a:srgbClr val="FFFFFF"/>
              </a:solidFill>
              <a:ln w="9525" cap="sq">
                <a:solidFill>
                  <a:srgbClr val="FFFFFF"/>
                </a:solidFill>
                <a:prstDash val="solid"/>
                <a:miter/>
              </a:ln>
            </p:spPr>
          </p:sp>
          <p:sp>
            <p:nvSpPr>
              <p:cNvPr id="60" name="TextBox 60"/>
              <p:cNvSpPr txBox="1"/>
              <p:nvPr/>
            </p:nvSpPr>
            <p:spPr>
              <a:xfrm>
                <a:off x="203200" y="-47625"/>
                <a:ext cx="406400" cy="758825"/>
              </a:xfrm>
              <a:prstGeom prst="rect">
                <a:avLst/>
              </a:prstGeom>
            </p:spPr>
            <p:txBody>
              <a:bodyPr lIns="50800" tIns="50800" rIns="50800" bIns="50800" rtlCol="0" anchor="ctr"/>
              <a:lstStyle/>
              <a:p>
                <a:pPr algn="ctr">
                  <a:lnSpc>
                    <a:spcPts val="2659"/>
                  </a:lnSpc>
                </a:pPr>
                <a:endParaRPr/>
              </a:p>
            </p:txBody>
          </p:sp>
        </p:grpSp>
        <p:sp>
          <p:nvSpPr>
            <p:cNvPr id="61" name="TextBox 61"/>
            <p:cNvSpPr txBox="1"/>
            <p:nvPr/>
          </p:nvSpPr>
          <p:spPr>
            <a:xfrm>
              <a:off x="133238" y="1170351"/>
              <a:ext cx="3143320" cy="386027"/>
            </a:xfrm>
            <a:prstGeom prst="rect">
              <a:avLst/>
            </a:prstGeom>
          </p:spPr>
          <p:txBody>
            <a:bodyPr lIns="0" tIns="0" rIns="0" bIns="0" rtlCol="0" anchor="t">
              <a:spAutoFit/>
            </a:bodyPr>
            <a:lstStyle/>
            <a:p>
              <a:pPr algn="ctr">
                <a:lnSpc>
                  <a:spcPts val="2548"/>
                </a:lnSpc>
              </a:pPr>
              <a:r>
                <a:rPr lang="en-US" sz="1820" b="1">
                  <a:solidFill>
                    <a:srgbClr val="1800AD"/>
                  </a:solidFill>
                  <a:latin typeface="Canva Sans Bold"/>
                  <a:ea typeface="Canva Sans Bold"/>
                  <a:cs typeface="Canva Sans Bold"/>
                  <a:sym typeface="Canva Sans Bold"/>
                </a:rPr>
                <a:t>Stopwords Removal</a:t>
              </a:r>
            </a:p>
          </p:txBody>
        </p:sp>
        <p:sp>
          <p:nvSpPr>
            <p:cNvPr id="62" name="TextBox 62"/>
            <p:cNvSpPr txBox="1"/>
            <p:nvPr/>
          </p:nvSpPr>
          <p:spPr>
            <a:xfrm>
              <a:off x="531654" y="2577548"/>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Segala puji bagi Allah, Tuhan semesta alam</a:t>
              </a:r>
            </a:p>
          </p:txBody>
        </p:sp>
        <p:sp>
          <p:nvSpPr>
            <p:cNvPr id="63" name="TextBox 63"/>
            <p:cNvSpPr txBox="1"/>
            <p:nvPr/>
          </p:nvSpPr>
          <p:spPr>
            <a:xfrm>
              <a:off x="501901" y="3462098"/>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puji allah tuhan semesta alam                       </a:t>
              </a:r>
            </a:p>
          </p:txBody>
        </p:sp>
      </p:grpSp>
      <p:grpSp>
        <p:nvGrpSpPr>
          <p:cNvPr id="64" name="Group 64"/>
          <p:cNvGrpSpPr/>
          <p:nvPr/>
        </p:nvGrpSpPr>
        <p:grpSpPr>
          <a:xfrm>
            <a:off x="10449318" y="2735430"/>
            <a:ext cx="2527223" cy="3192650"/>
            <a:chOff x="0" y="0"/>
            <a:chExt cx="3369631" cy="4256867"/>
          </a:xfrm>
        </p:grpSpPr>
        <p:grpSp>
          <p:nvGrpSpPr>
            <p:cNvPr id="65" name="Group 65"/>
            <p:cNvGrpSpPr/>
            <p:nvPr/>
          </p:nvGrpSpPr>
          <p:grpSpPr>
            <a:xfrm>
              <a:off x="0" y="0"/>
              <a:ext cx="3369631" cy="4256867"/>
              <a:chOff x="0" y="0"/>
              <a:chExt cx="972859" cy="1229017"/>
            </a:xfrm>
          </p:grpSpPr>
          <p:sp>
            <p:nvSpPr>
              <p:cNvPr id="66" name="Freeform 66"/>
              <p:cNvSpPr/>
              <p:nvPr/>
            </p:nvSpPr>
            <p:spPr>
              <a:xfrm>
                <a:off x="0" y="0"/>
                <a:ext cx="972859" cy="1229017"/>
              </a:xfrm>
              <a:custGeom>
                <a:avLst/>
                <a:gdLst/>
                <a:ahLst/>
                <a:cxnLst/>
                <a:rect l="l" t="t" r="r" b="b"/>
                <a:pathLst>
                  <a:path w="972859" h="1229017">
                    <a:moveTo>
                      <a:pt x="79649" y="0"/>
                    </a:moveTo>
                    <a:lnTo>
                      <a:pt x="893211" y="0"/>
                    </a:lnTo>
                    <a:cubicBezTo>
                      <a:pt x="914335" y="0"/>
                      <a:pt x="934594" y="8392"/>
                      <a:pt x="949531" y="23329"/>
                    </a:cubicBezTo>
                    <a:cubicBezTo>
                      <a:pt x="964468" y="38266"/>
                      <a:pt x="972859" y="58525"/>
                      <a:pt x="972859" y="79649"/>
                    </a:cubicBezTo>
                    <a:lnTo>
                      <a:pt x="972859" y="1149368"/>
                    </a:lnTo>
                    <a:cubicBezTo>
                      <a:pt x="972859" y="1170492"/>
                      <a:pt x="964468" y="1190751"/>
                      <a:pt x="949531" y="1205688"/>
                    </a:cubicBezTo>
                    <a:cubicBezTo>
                      <a:pt x="934594" y="1220625"/>
                      <a:pt x="914335" y="1229017"/>
                      <a:pt x="893211" y="1229017"/>
                    </a:cubicBezTo>
                    <a:lnTo>
                      <a:pt x="79649" y="1229017"/>
                    </a:lnTo>
                    <a:cubicBezTo>
                      <a:pt x="35660" y="1229017"/>
                      <a:pt x="0" y="1193357"/>
                      <a:pt x="0" y="1149368"/>
                    </a:cubicBezTo>
                    <a:lnTo>
                      <a:pt x="0" y="79649"/>
                    </a:lnTo>
                    <a:cubicBezTo>
                      <a:pt x="0" y="58525"/>
                      <a:pt x="8392" y="38266"/>
                      <a:pt x="23329" y="23329"/>
                    </a:cubicBezTo>
                    <a:cubicBezTo>
                      <a:pt x="38266" y="8392"/>
                      <a:pt x="58525" y="0"/>
                      <a:pt x="79649" y="0"/>
                    </a:cubicBezTo>
                    <a:close/>
                  </a:path>
                </a:pathLst>
              </a:custGeom>
              <a:solidFill>
                <a:srgbClr val="FFFFFF"/>
              </a:solidFill>
              <a:ln w="38100" cap="rnd">
                <a:solidFill>
                  <a:srgbClr val="00BF63"/>
                </a:solidFill>
                <a:prstDash val="solid"/>
                <a:round/>
              </a:ln>
            </p:spPr>
          </p:sp>
          <p:sp>
            <p:nvSpPr>
              <p:cNvPr id="67" name="TextBox 67"/>
              <p:cNvSpPr txBox="1"/>
              <p:nvPr/>
            </p:nvSpPr>
            <p:spPr>
              <a:xfrm>
                <a:off x="0" y="-47625"/>
                <a:ext cx="972859" cy="1276642"/>
              </a:xfrm>
              <a:prstGeom prst="rect">
                <a:avLst/>
              </a:prstGeom>
            </p:spPr>
            <p:txBody>
              <a:bodyPr lIns="34756" tIns="34756" rIns="34756" bIns="34756" rtlCol="0" anchor="ctr"/>
              <a:lstStyle/>
              <a:p>
                <a:pPr algn="ctr">
                  <a:lnSpc>
                    <a:spcPts val="2659"/>
                  </a:lnSpc>
                </a:pPr>
                <a:endParaRPr/>
              </a:p>
            </p:txBody>
          </p:sp>
        </p:grpSp>
        <p:grpSp>
          <p:nvGrpSpPr>
            <p:cNvPr id="68" name="Group 68"/>
            <p:cNvGrpSpPr/>
            <p:nvPr/>
          </p:nvGrpSpPr>
          <p:grpSpPr>
            <a:xfrm>
              <a:off x="133238" y="2471613"/>
              <a:ext cx="3143320" cy="1551800"/>
              <a:chOff x="0" y="0"/>
              <a:chExt cx="907520" cy="448026"/>
            </a:xfrm>
          </p:grpSpPr>
          <p:sp>
            <p:nvSpPr>
              <p:cNvPr id="69" name="Freeform 69"/>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00BF63"/>
              </a:solidFill>
              <a:ln w="38100" cap="sq">
                <a:solidFill>
                  <a:srgbClr val="00BF63"/>
                </a:solidFill>
                <a:prstDash val="solid"/>
                <a:miter/>
              </a:ln>
            </p:spPr>
          </p:sp>
          <p:sp>
            <p:nvSpPr>
              <p:cNvPr id="70" name="TextBox 70"/>
              <p:cNvSpPr txBox="1"/>
              <p:nvPr/>
            </p:nvSpPr>
            <p:spPr>
              <a:xfrm>
                <a:off x="0" y="-47625"/>
                <a:ext cx="907520" cy="495651"/>
              </a:xfrm>
              <a:prstGeom prst="rect">
                <a:avLst/>
              </a:prstGeom>
            </p:spPr>
            <p:txBody>
              <a:bodyPr lIns="34756" tIns="34756" rIns="34756" bIns="34756" rtlCol="0" anchor="ctr"/>
              <a:lstStyle/>
              <a:p>
                <a:pPr algn="ctr">
                  <a:lnSpc>
                    <a:spcPts val="2659"/>
                  </a:lnSpc>
                </a:pPr>
                <a:endParaRPr/>
              </a:p>
            </p:txBody>
          </p:sp>
        </p:grpSp>
        <p:grpSp>
          <p:nvGrpSpPr>
            <p:cNvPr id="71" name="Group 71"/>
            <p:cNvGrpSpPr/>
            <p:nvPr/>
          </p:nvGrpSpPr>
          <p:grpSpPr>
            <a:xfrm>
              <a:off x="1335285" y="126975"/>
              <a:ext cx="890418" cy="888518"/>
              <a:chOff x="0" y="0"/>
              <a:chExt cx="551635" cy="550458"/>
            </a:xfrm>
          </p:grpSpPr>
          <p:sp>
            <p:nvSpPr>
              <p:cNvPr id="72" name="Freeform 72"/>
              <p:cNvSpPr/>
              <p:nvPr/>
            </p:nvSpPr>
            <p:spPr>
              <a:xfrm>
                <a:off x="0" y="0"/>
                <a:ext cx="551635" cy="550458"/>
              </a:xfrm>
              <a:custGeom>
                <a:avLst/>
                <a:gdLst/>
                <a:ahLst/>
                <a:cxnLst/>
                <a:rect l="l" t="t" r="r" b="b"/>
                <a:pathLst>
                  <a:path w="551635" h="550458">
                    <a:moveTo>
                      <a:pt x="275818" y="0"/>
                    </a:moveTo>
                    <a:cubicBezTo>
                      <a:pt x="123488" y="0"/>
                      <a:pt x="0" y="123224"/>
                      <a:pt x="0" y="275229"/>
                    </a:cubicBezTo>
                    <a:cubicBezTo>
                      <a:pt x="0" y="427234"/>
                      <a:pt x="123488" y="550458"/>
                      <a:pt x="275818" y="550458"/>
                    </a:cubicBezTo>
                    <a:cubicBezTo>
                      <a:pt x="428147" y="550458"/>
                      <a:pt x="551635" y="427234"/>
                      <a:pt x="551635" y="275229"/>
                    </a:cubicBezTo>
                    <a:cubicBezTo>
                      <a:pt x="551635" y="123224"/>
                      <a:pt x="428147" y="0"/>
                      <a:pt x="275818" y="0"/>
                    </a:cubicBezTo>
                    <a:close/>
                  </a:path>
                </a:pathLst>
              </a:custGeom>
              <a:solidFill>
                <a:srgbClr val="FFFFFF"/>
              </a:solidFill>
              <a:ln w="38100" cap="sq">
                <a:solidFill>
                  <a:srgbClr val="5CE1E6"/>
                </a:solidFill>
                <a:prstDash val="solid"/>
                <a:miter/>
              </a:ln>
            </p:spPr>
          </p:sp>
          <p:sp>
            <p:nvSpPr>
              <p:cNvPr id="73" name="TextBox 73"/>
              <p:cNvSpPr txBox="1"/>
              <p:nvPr/>
            </p:nvSpPr>
            <p:spPr>
              <a:xfrm>
                <a:off x="51716" y="13505"/>
                <a:ext cx="448204" cy="485347"/>
              </a:xfrm>
              <a:prstGeom prst="rect">
                <a:avLst/>
              </a:prstGeom>
            </p:spPr>
            <p:txBody>
              <a:bodyPr lIns="50800" tIns="50800" rIns="50800" bIns="50800" rtlCol="0" anchor="ctr"/>
              <a:lstStyle/>
              <a:p>
                <a:pPr algn="ctr">
                  <a:lnSpc>
                    <a:spcPts val="2799"/>
                  </a:lnSpc>
                </a:pPr>
                <a:r>
                  <a:rPr lang="en-US" sz="1999">
                    <a:solidFill>
                      <a:srgbClr val="000000"/>
                    </a:solidFill>
                    <a:latin typeface="Antic"/>
                    <a:ea typeface="Antic"/>
                    <a:cs typeface="Antic"/>
                    <a:sym typeface="Antic"/>
                  </a:rPr>
                  <a:t>4</a:t>
                </a:r>
              </a:p>
            </p:txBody>
          </p:sp>
        </p:grpSp>
        <p:grpSp>
          <p:nvGrpSpPr>
            <p:cNvPr id="74" name="Group 74"/>
            <p:cNvGrpSpPr/>
            <p:nvPr/>
          </p:nvGrpSpPr>
          <p:grpSpPr>
            <a:xfrm>
              <a:off x="1517182" y="3088064"/>
              <a:ext cx="263312" cy="263312"/>
              <a:chOff x="0" y="0"/>
              <a:chExt cx="812800" cy="812800"/>
            </a:xfrm>
          </p:grpSpPr>
          <p:sp>
            <p:nvSpPr>
              <p:cNvPr id="75" name="Freeform 75"/>
              <p:cNvSpPr/>
              <p:nvPr/>
            </p:nvSpPr>
            <p:spPr>
              <a:xfrm>
                <a:off x="0" y="0"/>
                <a:ext cx="812800" cy="812800"/>
              </a:xfrm>
              <a:custGeom>
                <a:avLst/>
                <a:gdLst/>
                <a:ahLst/>
                <a:cxnLst/>
                <a:rect l="l" t="t" r="r" b="b"/>
                <a:pathLst>
                  <a:path w="812800" h="812800">
                    <a:moveTo>
                      <a:pt x="406400" y="812800"/>
                    </a:moveTo>
                    <a:lnTo>
                      <a:pt x="0" y="406400"/>
                    </a:lnTo>
                    <a:lnTo>
                      <a:pt x="203200" y="406400"/>
                    </a:lnTo>
                    <a:lnTo>
                      <a:pt x="203200" y="0"/>
                    </a:lnTo>
                    <a:lnTo>
                      <a:pt x="609600" y="0"/>
                    </a:lnTo>
                    <a:lnTo>
                      <a:pt x="609600" y="406400"/>
                    </a:lnTo>
                    <a:lnTo>
                      <a:pt x="812800" y="406400"/>
                    </a:lnTo>
                    <a:lnTo>
                      <a:pt x="406400" y="812800"/>
                    </a:lnTo>
                    <a:close/>
                  </a:path>
                </a:pathLst>
              </a:custGeom>
              <a:solidFill>
                <a:srgbClr val="FFFFFF"/>
              </a:solidFill>
              <a:ln w="9525" cap="sq">
                <a:solidFill>
                  <a:srgbClr val="FFFFFF"/>
                </a:solidFill>
                <a:prstDash val="solid"/>
                <a:miter/>
              </a:ln>
            </p:spPr>
          </p:sp>
          <p:sp>
            <p:nvSpPr>
              <p:cNvPr id="76" name="TextBox 76"/>
              <p:cNvSpPr txBox="1"/>
              <p:nvPr/>
            </p:nvSpPr>
            <p:spPr>
              <a:xfrm>
                <a:off x="203200" y="-47625"/>
                <a:ext cx="406400" cy="758825"/>
              </a:xfrm>
              <a:prstGeom prst="rect">
                <a:avLst/>
              </a:prstGeom>
            </p:spPr>
            <p:txBody>
              <a:bodyPr lIns="50800" tIns="50800" rIns="50800" bIns="50800" rtlCol="0" anchor="ctr"/>
              <a:lstStyle/>
              <a:p>
                <a:pPr algn="ctr">
                  <a:lnSpc>
                    <a:spcPts val="2659"/>
                  </a:lnSpc>
                </a:pPr>
                <a:endParaRPr/>
              </a:p>
            </p:txBody>
          </p:sp>
        </p:grpSp>
        <p:sp>
          <p:nvSpPr>
            <p:cNvPr id="77" name="TextBox 77"/>
            <p:cNvSpPr txBox="1"/>
            <p:nvPr/>
          </p:nvSpPr>
          <p:spPr>
            <a:xfrm>
              <a:off x="310931" y="1170351"/>
              <a:ext cx="2965627" cy="386027"/>
            </a:xfrm>
            <a:prstGeom prst="rect">
              <a:avLst/>
            </a:prstGeom>
          </p:spPr>
          <p:txBody>
            <a:bodyPr lIns="0" tIns="0" rIns="0" bIns="0" rtlCol="0" anchor="t">
              <a:spAutoFit/>
            </a:bodyPr>
            <a:lstStyle/>
            <a:p>
              <a:pPr algn="ctr">
                <a:lnSpc>
                  <a:spcPts val="2548"/>
                </a:lnSpc>
              </a:pPr>
              <a:r>
                <a:rPr lang="en-US" sz="1820" b="1">
                  <a:solidFill>
                    <a:srgbClr val="1800AD"/>
                  </a:solidFill>
                  <a:latin typeface="Canva Sans Bold"/>
                  <a:ea typeface="Canva Sans Bold"/>
                  <a:cs typeface="Canva Sans Bold"/>
                  <a:sym typeface="Canva Sans Bold"/>
                </a:rPr>
                <a:t>Stemming</a:t>
              </a:r>
            </a:p>
          </p:txBody>
        </p:sp>
        <p:sp>
          <p:nvSpPr>
            <p:cNvPr id="78" name="TextBox 78"/>
            <p:cNvSpPr txBox="1"/>
            <p:nvPr/>
          </p:nvSpPr>
          <p:spPr>
            <a:xfrm>
              <a:off x="531654" y="2511276"/>
              <a:ext cx="2472279" cy="5132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Segala puji bagi Allah, Tuhan semesta alam</a:t>
              </a:r>
            </a:p>
          </p:txBody>
        </p:sp>
        <p:sp>
          <p:nvSpPr>
            <p:cNvPr id="79" name="TextBox 79"/>
            <p:cNvSpPr txBox="1"/>
            <p:nvPr/>
          </p:nvSpPr>
          <p:spPr>
            <a:xfrm>
              <a:off x="501901" y="3395826"/>
              <a:ext cx="2472279" cy="513288"/>
            </a:xfrm>
            <a:prstGeom prst="rect">
              <a:avLst/>
            </a:prstGeom>
          </p:spPr>
          <p:txBody>
            <a:bodyPr lIns="0" tIns="0" rIns="0" bIns="0" rtlCol="0" anchor="t">
              <a:spAutoFit/>
            </a:bodyPr>
            <a:lstStyle/>
            <a:p>
              <a:pPr algn="just">
                <a:lnSpc>
                  <a:spcPts val="1618"/>
                </a:lnSpc>
              </a:pPr>
              <a:r>
                <a:rPr lang="en-US" sz="1156">
                  <a:solidFill>
                    <a:srgbClr val="FFFFFF"/>
                  </a:solidFill>
                  <a:latin typeface="Canva Sans"/>
                  <a:ea typeface="Canva Sans"/>
                  <a:cs typeface="Canva Sans"/>
                  <a:sym typeface="Canva Sans"/>
                </a:rPr>
                <a:t>puji allah tuhan semesta alam                                      </a:t>
              </a:r>
            </a:p>
          </p:txBody>
        </p:sp>
      </p:grpSp>
      <p:grpSp>
        <p:nvGrpSpPr>
          <p:cNvPr id="80" name="Group 80"/>
          <p:cNvGrpSpPr/>
          <p:nvPr/>
        </p:nvGrpSpPr>
        <p:grpSpPr>
          <a:xfrm>
            <a:off x="13452791" y="2735430"/>
            <a:ext cx="2591203" cy="3192650"/>
            <a:chOff x="0" y="0"/>
            <a:chExt cx="3454938" cy="4256867"/>
          </a:xfrm>
        </p:grpSpPr>
        <p:grpSp>
          <p:nvGrpSpPr>
            <p:cNvPr id="81" name="Group 81"/>
            <p:cNvGrpSpPr/>
            <p:nvPr/>
          </p:nvGrpSpPr>
          <p:grpSpPr>
            <a:xfrm>
              <a:off x="0" y="0"/>
              <a:ext cx="3454938" cy="4256867"/>
              <a:chOff x="0" y="0"/>
              <a:chExt cx="972859" cy="1198671"/>
            </a:xfrm>
          </p:grpSpPr>
          <p:sp>
            <p:nvSpPr>
              <p:cNvPr id="82" name="Freeform 82"/>
              <p:cNvSpPr/>
              <p:nvPr/>
            </p:nvSpPr>
            <p:spPr>
              <a:xfrm>
                <a:off x="0" y="0"/>
                <a:ext cx="972859" cy="1198671"/>
              </a:xfrm>
              <a:custGeom>
                <a:avLst/>
                <a:gdLst/>
                <a:ahLst/>
                <a:cxnLst/>
                <a:rect l="l" t="t" r="r" b="b"/>
                <a:pathLst>
                  <a:path w="972859" h="1198671">
                    <a:moveTo>
                      <a:pt x="77682" y="0"/>
                    </a:moveTo>
                    <a:lnTo>
                      <a:pt x="895177" y="0"/>
                    </a:lnTo>
                    <a:cubicBezTo>
                      <a:pt x="938080" y="0"/>
                      <a:pt x="972859" y="34779"/>
                      <a:pt x="972859" y="77682"/>
                    </a:cubicBezTo>
                    <a:lnTo>
                      <a:pt x="972859" y="1120989"/>
                    </a:lnTo>
                    <a:cubicBezTo>
                      <a:pt x="972859" y="1163891"/>
                      <a:pt x="938080" y="1198671"/>
                      <a:pt x="895177" y="1198671"/>
                    </a:cubicBezTo>
                    <a:lnTo>
                      <a:pt x="77682" y="1198671"/>
                    </a:lnTo>
                    <a:cubicBezTo>
                      <a:pt x="34779" y="1198671"/>
                      <a:pt x="0" y="1163891"/>
                      <a:pt x="0" y="1120989"/>
                    </a:cubicBezTo>
                    <a:lnTo>
                      <a:pt x="0" y="77682"/>
                    </a:lnTo>
                    <a:cubicBezTo>
                      <a:pt x="0" y="34779"/>
                      <a:pt x="34779" y="0"/>
                      <a:pt x="77682" y="0"/>
                    </a:cubicBezTo>
                    <a:close/>
                  </a:path>
                </a:pathLst>
              </a:custGeom>
              <a:solidFill>
                <a:srgbClr val="FFFFFF"/>
              </a:solidFill>
              <a:ln w="38100" cap="rnd">
                <a:solidFill>
                  <a:srgbClr val="00BF63"/>
                </a:solidFill>
                <a:prstDash val="solid"/>
                <a:round/>
              </a:ln>
            </p:spPr>
          </p:sp>
          <p:sp>
            <p:nvSpPr>
              <p:cNvPr id="83" name="TextBox 83"/>
              <p:cNvSpPr txBox="1"/>
              <p:nvPr/>
            </p:nvSpPr>
            <p:spPr>
              <a:xfrm>
                <a:off x="0" y="-47625"/>
                <a:ext cx="972859" cy="1246296"/>
              </a:xfrm>
              <a:prstGeom prst="rect">
                <a:avLst/>
              </a:prstGeom>
            </p:spPr>
            <p:txBody>
              <a:bodyPr lIns="35636" tIns="35636" rIns="35636" bIns="35636" rtlCol="0" anchor="ctr"/>
              <a:lstStyle/>
              <a:p>
                <a:pPr algn="ctr">
                  <a:lnSpc>
                    <a:spcPts val="2659"/>
                  </a:lnSpc>
                </a:pPr>
                <a:endParaRPr/>
              </a:p>
            </p:txBody>
          </p:sp>
        </p:grpSp>
        <p:grpSp>
          <p:nvGrpSpPr>
            <p:cNvPr id="84" name="Group 84"/>
            <p:cNvGrpSpPr/>
            <p:nvPr/>
          </p:nvGrpSpPr>
          <p:grpSpPr>
            <a:xfrm>
              <a:off x="136611" y="2432327"/>
              <a:ext cx="3222897" cy="1591086"/>
              <a:chOff x="0" y="0"/>
              <a:chExt cx="907520" cy="448026"/>
            </a:xfrm>
          </p:grpSpPr>
          <p:sp>
            <p:nvSpPr>
              <p:cNvPr id="85" name="Freeform 85"/>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00BF63"/>
              </a:solidFill>
              <a:ln w="38100" cap="sq">
                <a:solidFill>
                  <a:srgbClr val="00BF63"/>
                </a:solidFill>
                <a:prstDash val="solid"/>
                <a:miter/>
              </a:ln>
            </p:spPr>
          </p:sp>
          <p:sp>
            <p:nvSpPr>
              <p:cNvPr id="86" name="TextBox 86"/>
              <p:cNvSpPr txBox="1"/>
              <p:nvPr/>
            </p:nvSpPr>
            <p:spPr>
              <a:xfrm>
                <a:off x="0" y="-47625"/>
                <a:ext cx="907520" cy="495651"/>
              </a:xfrm>
              <a:prstGeom prst="rect">
                <a:avLst/>
              </a:prstGeom>
            </p:spPr>
            <p:txBody>
              <a:bodyPr lIns="35636" tIns="35636" rIns="35636" bIns="35636" rtlCol="0" anchor="ctr"/>
              <a:lstStyle/>
              <a:p>
                <a:pPr algn="ctr">
                  <a:lnSpc>
                    <a:spcPts val="2659"/>
                  </a:lnSpc>
                </a:pPr>
                <a:endParaRPr/>
              </a:p>
            </p:txBody>
          </p:sp>
        </p:grpSp>
        <p:grpSp>
          <p:nvGrpSpPr>
            <p:cNvPr id="87" name="Group 87"/>
            <p:cNvGrpSpPr/>
            <p:nvPr/>
          </p:nvGrpSpPr>
          <p:grpSpPr>
            <a:xfrm>
              <a:off x="1369090" y="130190"/>
              <a:ext cx="912960" cy="911012"/>
              <a:chOff x="0" y="0"/>
              <a:chExt cx="551635" cy="550458"/>
            </a:xfrm>
          </p:grpSpPr>
          <p:sp>
            <p:nvSpPr>
              <p:cNvPr id="88" name="Freeform 88"/>
              <p:cNvSpPr/>
              <p:nvPr/>
            </p:nvSpPr>
            <p:spPr>
              <a:xfrm>
                <a:off x="0" y="0"/>
                <a:ext cx="551635" cy="550458"/>
              </a:xfrm>
              <a:custGeom>
                <a:avLst/>
                <a:gdLst/>
                <a:ahLst/>
                <a:cxnLst/>
                <a:rect l="l" t="t" r="r" b="b"/>
                <a:pathLst>
                  <a:path w="551635" h="550458">
                    <a:moveTo>
                      <a:pt x="275818" y="0"/>
                    </a:moveTo>
                    <a:cubicBezTo>
                      <a:pt x="123488" y="0"/>
                      <a:pt x="0" y="123224"/>
                      <a:pt x="0" y="275229"/>
                    </a:cubicBezTo>
                    <a:cubicBezTo>
                      <a:pt x="0" y="427234"/>
                      <a:pt x="123488" y="550458"/>
                      <a:pt x="275818" y="550458"/>
                    </a:cubicBezTo>
                    <a:cubicBezTo>
                      <a:pt x="428147" y="550458"/>
                      <a:pt x="551635" y="427234"/>
                      <a:pt x="551635" y="275229"/>
                    </a:cubicBezTo>
                    <a:cubicBezTo>
                      <a:pt x="551635" y="123224"/>
                      <a:pt x="428147" y="0"/>
                      <a:pt x="275818" y="0"/>
                    </a:cubicBezTo>
                    <a:close/>
                  </a:path>
                </a:pathLst>
              </a:custGeom>
              <a:solidFill>
                <a:srgbClr val="FFFFFF"/>
              </a:solidFill>
              <a:ln w="38100" cap="sq">
                <a:solidFill>
                  <a:srgbClr val="5CE1E6"/>
                </a:solidFill>
                <a:prstDash val="solid"/>
                <a:miter/>
              </a:ln>
            </p:spPr>
          </p:sp>
          <p:sp>
            <p:nvSpPr>
              <p:cNvPr id="89" name="TextBox 89"/>
              <p:cNvSpPr txBox="1"/>
              <p:nvPr/>
            </p:nvSpPr>
            <p:spPr>
              <a:xfrm>
                <a:off x="51716" y="13505"/>
                <a:ext cx="448204" cy="485347"/>
              </a:xfrm>
              <a:prstGeom prst="rect">
                <a:avLst/>
              </a:prstGeom>
            </p:spPr>
            <p:txBody>
              <a:bodyPr lIns="52086" tIns="52086" rIns="52086" bIns="52086" rtlCol="0" anchor="ctr"/>
              <a:lstStyle/>
              <a:p>
                <a:pPr algn="ctr">
                  <a:lnSpc>
                    <a:spcPts val="2799"/>
                  </a:lnSpc>
                </a:pPr>
                <a:r>
                  <a:rPr lang="en-US" sz="1999">
                    <a:solidFill>
                      <a:srgbClr val="000000"/>
                    </a:solidFill>
                    <a:latin typeface="Antic"/>
                    <a:ea typeface="Antic"/>
                    <a:cs typeface="Antic"/>
                    <a:sym typeface="Antic"/>
                  </a:rPr>
                  <a:t>5</a:t>
                </a:r>
              </a:p>
            </p:txBody>
          </p:sp>
        </p:grpSp>
        <p:grpSp>
          <p:nvGrpSpPr>
            <p:cNvPr id="90" name="Group 90"/>
            <p:cNvGrpSpPr/>
            <p:nvPr/>
          </p:nvGrpSpPr>
          <p:grpSpPr>
            <a:xfrm>
              <a:off x="1555592" y="3064384"/>
              <a:ext cx="269978" cy="269978"/>
              <a:chOff x="0" y="0"/>
              <a:chExt cx="812800" cy="812800"/>
            </a:xfrm>
          </p:grpSpPr>
          <p:sp>
            <p:nvSpPr>
              <p:cNvPr id="91" name="Freeform 91"/>
              <p:cNvSpPr/>
              <p:nvPr/>
            </p:nvSpPr>
            <p:spPr>
              <a:xfrm>
                <a:off x="0" y="0"/>
                <a:ext cx="812800" cy="812800"/>
              </a:xfrm>
              <a:custGeom>
                <a:avLst/>
                <a:gdLst/>
                <a:ahLst/>
                <a:cxnLst/>
                <a:rect l="l" t="t" r="r" b="b"/>
                <a:pathLst>
                  <a:path w="812800" h="812800">
                    <a:moveTo>
                      <a:pt x="406400" y="812800"/>
                    </a:moveTo>
                    <a:lnTo>
                      <a:pt x="0" y="406400"/>
                    </a:lnTo>
                    <a:lnTo>
                      <a:pt x="203200" y="406400"/>
                    </a:lnTo>
                    <a:lnTo>
                      <a:pt x="203200" y="0"/>
                    </a:lnTo>
                    <a:lnTo>
                      <a:pt x="609600" y="0"/>
                    </a:lnTo>
                    <a:lnTo>
                      <a:pt x="609600" y="406400"/>
                    </a:lnTo>
                    <a:lnTo>
                      <a:pt x="812800" y="406400"/>
                    </a:lnTo>
                    <a:lnTo>
                      <a:pt x="406400" y="812800"/>
                    </a:lnTo>
                    <a:close/>
                  </a:path>
                </a:pathLst>
              </a:custGeom>
              <a:solidFill>
                <a:srgbClr val="FFFFFF"/>
              </a:solidFill>
              <a:ln w="9525" cap="sq">
                <a:solidFill>
                  <a:srgbClr val="FFFFFF"/>
                </a:solidFill>
                <a:prstDash val="solid"/>
                <a:miter/>
              </a:ln>
            </p:spPr>
          </p:sp>
          <p:sp>
            <p:nvSpPr>
              <p:cNvPr id="92" name="TextBox 92"/>
              <p:cNvSpPr txBox="1"/>
              <p:nvPr/>
            </p:nvSpPr>
            <p:spPr>
              <a:xfrm>
                <a:off x="203200" y="-47625"/>
                <a:ext cx="406400" cy="758825"/>
              </a:xfrm>
              <a:prstGeom prst="rect">
                <a:avLst/>
              </a:prstGeom>
            </p:spPr>
            <p:txBody>
              <a:bodyPr lIns="52086" tIns="52086" rIns="52086" bIns="52086" rtlCol="0" anchor="ctr"/>
              <a:lstStyle/>
              <a:p>
                <a:pPr algn="ctr">
                  <a:lnSpc>
                    <a:spcPts val="2659"/>
                  </a:lnSpc>
                </a:pPr>
                <a:endParaRPr/>
              </a:p>
            </p:txBody>
          </p:sp>
        </p:grpSp>
        <p:sp>
          <p:nvSpPr>
            <p:cNvPr id="93" name="TextBox 93"/>
            <p:cNvSpPr txBox="1"/>
            <p:nvPr/>
          </p:nvSpPr>
          <p:spPr>
            <a:xfrm>
              <a:off x="318802" y="1160826"/>
              <a:ext cx="3040706" cy="418962"/>
            </a:xfrm>
            <a:prstGeom prst="rect">
              <a:avLst/>
            </a:prstGeom>
          </p:spPr>
          <p:txBody>
            <a:bodyPr lIns="0" tIns="0" rIns="0" bIns="0" rtlCol="0" anchor="t">
              <a:spAutoFit/>
            </a:bodyPr>
            <a:lstStyle/>
            <a:p>
              <a:pPr algn="ctr">
                <a:lnSpc>
                  <a:spcPts val="2630"/>
                </a:lnSpc>
              </a:pPr>
              <a:r>
                <a:rPr lang="en-US" sz="1879" b="1">
                  <a:solidFill>
                    <a:srgbClr val="1800AD"/>
                  </a:solidFill>
                  <a:latin typeface="Canva Sans Bold"/>
                  <a:ea typeface="Canva Sans Bold"/>
                  <a:cs typeface="Canva Sans Bold"/>
                  <a:sym typeface="Canva Sans Bold"/>
                </a:rPr>
                <a:t>Lemmatization</a:t>
              </a:r>
            </a:p>
          </p:txBody>
        </p:sp>
        <p:sp>
          <p:nvSpPr>
            <p:cNvPr id="94" name="TextBox 94"/>
            <p:cNvSpPr txBox="1"/>
            <p:nvPr/>
          </p:nvSpPr>
          <p:spPr>
            <a:xfrm>
              <a:off x="545114" y="2473477"/>
              <a:ext cx="2534869" cy="525800"/>
            </a:xfrm>
            <a:prstGeom prst="rect">
              <a:avLst/>
            </a:prstGeom>
          </p:spPr>
          <p:txBody>
            <a:bodyPr lIns="0" tIns="0" rIns="0" bIns="0" rtlCol="0" anchor="t">
              <a:spAutoFit/>
            </a:bodyPr>
            <a:lstStyle/>
            <a:p>
              <a:pPr algn="ctr">
                <a:lnSpc>
                  <a:spcPts val="1659"/>
                </a:lnSpc>
              </a:pPr>
              <a:r>
                <a:rPr lang="en-US" sz="1185">
                  <a:solidFill>
                    <a:srgbClr val="FFFFFF"/>
                  </a:solidFill>
                  <a:latin typeface="Canva Sans"/>
                  <a:ea typeface="Canva Sans"/>
                  <a:cs typeface="Canva Sans"/>
                  <a:sym typeface="Canva Sans"/>
                </a:rPr>
                <a:t>Segala puji bagi Allah, Tuhan semesta alam</a:t>
              </a:r>
            </a:p>
          </p:txBody>
        </p:sp>
        <p:sp>
          <p:nvSpPr>
            <p:cNvPr id="95" name="TextBox 95"/>
            <p:cNvSpPr txBox="1"/>
            <p:nvPr/>
          </p:nvSpPr>
          <p:spPr>
            <a:xfrm>
              <a:off x="514607" y="3380420"/>
              <a:ext cx="2534869" cy="525800"/>
            </a:xfrm>
            <a:prstGeom prst="rect">
              <a:avLst/>
            </a:prstGeom>
          </p:spPr>
          <p:txBody>
            <a:bodyPr lIns="0" tIns="0" rIns="0" bIns="0" rtlCol="0" anchor="t">
              <a:spAutoFit/>
            </a:bodyPr>
            <a:lstStyle/>
            <a:p>
              <a:pPr algn="just">
                <a:lnSpc>
                  <a:spcPts val="1659"/>
                </a:lnSpc>
              </a:pPr>
              <a:r>
                <a:rPr lang="en-US" sz="1185">
                  <a:solidFill>
                    <a:srgbClr val="FFFFFF"/>
                  </a:solidFill>
                  <a:latin typeface="Canva Sans"/>
                  <a:ea typeface="Canva Sans"/>
                  <a:cs typeface="Canva Sans"/>
                  <a:sym typeface="Canva Sans"/>
                </a:rPr>
                <a:t>puji allah tuhan semesta alam                                      </a:t>
              </a:r>
            </a:p>
          </p:txBody>
        </p:sp>
      </p:grpSp>
      <p:graphicFrame>
        <p:nvGraphicFramePr>
          <p:cNvPr id="96" name="Table 96"/>
          <p:cNvGraphicFramePr>
            <a:graphicFrameLocks noGrp="1"/>
          </p:cNvGraphicFramePr>
          <p:nvPr>
            <p:extLst>
              <p:ext uri="{D42A27DB-BD31-4B8C-83A1-F6EECF244321}">
                <p14:modId xmlns:p14="http://schemas.microsoft.com/office/powerpoint/2010/main" val="2434727855"/>
              </p:ext>
            </p:extLst>
          </p:nvPr>
        </p:nvGraphicFramePr>
        <p:xfrm>
          <a:off x="1665705" y="6101585"/>
          <a:ext cx="10539337" cy="3433714"/>
        </p:xfrm>
        <a:graphic>
          <a:graphicData uri="http://schemas.openxmlformats.org/drawingml/2006/table">
            <a:tbl>
              <a:tblPr/>
              <a:tblGrid>
                <a:gridCol w="3674517">
                  <a:extLst>
                    <a:ext uri="{9D8B030D-6E8A-4147-A177-3AD203B41FA5}">
                      <a16:colId xmlns:a16="http://schemas.microsoft.com/office/drawing/2014/main" val="20000"/>
                    </a:ext>
                  </a:extLst>
                </a:gridCol>
                <a:gridCol w="2405683">
                  <a:extLst>
                    <a:ext uri="{9D8B030D-6E8A-4147-A177-3AD203B41FA5}">
                      <a16:colId xmlns:a16="http://schemas.microsoft.com/office/drawing/2014/main" val="20001"/>
                    </a:ext>
                  </a:extLst>
                </a:gridCol>
                <a:gridCol w="2228991">
                  <a:extLst>
                    <a:ext uri="{9D8B030D-6E8A-4147-A177-3AD203B41FA5}">
                      <a16:colId xmlns:a16="http://schemas.microsoft.com/office/drawing/2014/main" val="20002"/>
                    </a:ext>
                  </a:extLst>
                </a:gridCol>
                <a:gridCol w="2230146">
                  <a:extLst>
                    <a:ext uri="{9D8B030D-6E8A-4147-A177-3AD203B41FA5}">
                      <a16:colId xmlns:a16="http://schemas.microsoft.com/office/drawing/2014/main" val="20003"/>
                    </a:ext>
                  </a:extLst>
                </a:gridCol>
              </a:tblGrid>
              <a:tr h="965512">
                <a:tc>
                  <a:txBody>
                    <a:bodyPr/>
                    <a:lstStyle/>
                    <a:p>
                      <a:pPr algn="ctr">
                        <a:lnSpc>
                          <a:spcPts val="1618"/>
                        </a:lnSpc>
                        <a:defRPr/>
                      </a:pPr>
                      <a:r>
                        <a:rPr lang="en-US" sz="1156" b="1">
                          <a:solidFill>
                            <a:srgbClr val="000000"/>
                          </a:solidFill>
                          <a:latin typeface="Canva Sans Bold"/>
                          <a:ea typeface="Canva Sans Bold"/>
                          <a:cs typeface="Canva Sans Bold"/>
                          <a:sym typeface="Canva Sans Bold"/>
                        </a:rPr>
                        <a:t>Variasi Preprocessing</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00BF63"/>
                    </a:solidFill>
                  </a:tcPr>
                </a:tc>
                <a:tc>
                  <a:txBody>
                    <a:bodyPr/>
                    <a:lstStyle/>
                    <a:p>
                      <a:pPr algn="ctr">
                        <a:lnSpc>
                          <a:spcPts val="1618"/>
                        </a:lnSpc>
                        <a:defRPr/>
                      </a:pPr>
                      <a:r>
                        <a:rPr lang="en-US" sz="1156" b="1">
                          <a:solidFill>
                            <a:srgbClr val="000000"/>
                          </a:solidFill>
                          <a:latin typeface="Canva Sans Bold"/>
                          <a:ea typeface="Canva Sans Bold"/>
                          <a:cs typeface="Canva Sans Bold"/>
                          <a:sym typeface="Canva Sans Bold"/>
                        </a:rPr>
                        <a:t>Reduksi Token (%)</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00BF63"/>
                    </a:solidFill>
                  </a:tcPr>
                </a:tc>
                <a:tc>
                  <a:txBody>
                    <a:bodyPr/>
                    <a:lstStyle/>
                    <a:p>
                      <a:pPr algn="ctr">
                        <a:lnSpc>
                          <a:spcPts val="1618"/>
                        </a:lnSpc>
                        <a:defRPr/>
                      </a:pPr>
                      <a:r>
                        <a:rPr lang="en-US" sz="1156" b="1">
                          <a:solidFill>
                            <a:srgbClr val="000000"/>
                          </a:solidFill>
                          <a:latin typeface="Canva Sans Bold"/>
                          <a:ea typeface="Canva Sans Bold"/>
                          <a:cs typeface="Canva Sans Bold"/>
                          <a:sym typeface="Canva Sans Bold"/>
                        </a:rPr>
                        <a:t>Reduksi Kosatakata (%)</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00BF63"/>
                    </a:solidFill>
                  </a:tcPr>
                </a:tc>
                <a:tc>
                  <a:txBody>
                    <a:bodyPr/>
                    <a:lstStyle/>
                    <a:p>
                      <a:pPr algn="ctr">
                        <a:lnSpc>
                          <a:spcPts val="1618"/>
                        </a:lnSpc>
                        <a:defRPr/>
                      </a:pPr>
                      <a:r>
                        <a:rPr lang="en-US" sz="1156" b="1">
                          <a:solidFill>
                            <a:srgbClr val="000000"/>
                          </a:solidFill>
                          <a:latin typeface="Canva Sans Bold"/>
                          <a:ea typeface="Canva Sans Bold"/>
                          <a:cs typeface="Canva Sans Bold"/>
                          <a:sym typeface="Canva Sans Bold"/>
                        </a:rPr>
                        <a:t>Preservasi Makna (%)</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00BF63"/>
                    </a:solidFill>
                  </a:tcPr>
                </a:tc>
                <a:extLst>
                  <a:ext uri="{0D108BD9-81ED-4DB2-BD59-A6C34878D82A}">
                    <a16:rowId xmlns:a16="http://schemas.microsoft.com/office/drawing/2014/main" val="10000"/>
                  </a:ext>
                </a:extLst>
              </a:tr>
              <a:tr h="1005564">
                <a:tc>
                  <a:txBody>
                    <a:bodyPr/>
                    <a:lstStyle/>
                    <a:p>
                      <a:pPr algn="l">
                        <a:lnSpc>
                          <a:spcPts val="1679"/>
                        </a:lnSpc>
                        <a:defRPr/>
                      </a:pPr>
                      <a:r>
                        <a:rPr lang="en-US" sz="1200" b="1">
                          <a:solidFill>
                            <a:srgbClr val="000000"/>
                          </a:solidFill>
                          <a:latin typeface="Arimo Bold"/>
                          <a:ea typeface="Arimo Bold"/>
                          <a:cs typeface="Arimo Bold"/>
                          <a:sym typeface="Arimo Bold"/>
                        </a:rPr>
                        <a:t>preprocessed Basic (tanpa Stopword, dan steming)</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CDCD"/>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6.81</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58.43</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68.61</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extLst>
                  <a:ext uri="{0D108BD9-81ED-4DB2-BD59-A6C34878D82A}">
                    <a16:rowId xmlns:a16="http://schemas.microsoft.com/office/drawing/2014/main" val="10001"/>
                  </a:ext>
                </a:extLst>
              </a:tr>
              <a:tr h="731319">
                <a:tc>
                  <a:txBody>
                    <a:bodyPr/>
                    <a:lstStyle/>
                    <a:p>
                      <a:pPr algn="l">
                        <a:lnSpc>
                          <a:spcPts val="1618"/>
                        </a:lnSpc>
                        <a:defRPr/>
                      </a:pPr>
                      <a:r>
                        <a:rPr lang="en-US" sz="1156" b="1">
                          <a:solidFill>
                            <a:srgbClr val="000000"/>
                          </a:solidFill>
                          <a:latin typeface="Canva Sans Bold"/>
                          <a:ea typeface="Canva Sans Bold"/>
                          <a:cs typeface="Canva Sans Bold"/>
                          <a:sym typeface="Canva Sans Bold"/>
                        </a:rPr>
                        <a:t>preprocessed no steam (tanpa stemming)</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CDCD"/>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55.7</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59.31</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74.45</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extLst>
                  <a:ext uri="{0D108BD9-81ED-4DB2-BD59-A6C34878D82A}">
                    <a16:rowId xmlns:a16="http://schemas.microsoft.com/office/drawing/2014/main" val="10002"/>
                  </a:ext>
                </a:extLst>
              </a:tr>
              <a:tr h="731319">
                <a:tc>
                  <a:txBody>
                    <a:bodyPr/>
                    <a:lstStyle/>
                    <a:p>
                      <a:pPr algn="l">
                        <a:lnSpc>
                          <a:spcPts val="1618"/>
                        </a:lnSpc>
                        <a:defRPr/>
                      </a:pPr>
                      <a:r>
                        <a:rPr lang="en-US" sz="1156" b="1">
                          <a:solidFill>
                            <a:srgbClr val="000000"/>
                          </a:solidFill>
                          <a:latin typeface="Canva Sans Bold"/>
                          <a:ea typeface="Canva Sans Bold"/>
                          <a:cs typeface="Canva Sans Bold"/>
                          <a:sym typeface="Canva Sans Bold"/>
                        </a:rPr>
                        <a:t>preprocessed advance</a:t>
                      </a:r>
                      <a:endParaRPr lang="en-US" sz="110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CDCD"/>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55.6</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83.75</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tc>
                  <a:txBody>
                    <a:bodyPr/>
                    <a:lstStyle/>
                    <a:p>
                      <a:pPr algn="ctr">
                        <a:lnSpc>
                          <a:spcPts val="1618"/>
                        </a:lnSpc>
                        <a:defRPr/>
                      </a:pPr>
                      <a:r>
                        <a:rPr lang="en-US" sz="1400" dirty="0">
                          <a:solidFill>
                            <a:srgbClr val="000000"/>
                          </a:solidFill>
                          <a:latin typeface="Canva Sans"/>
                          <a:ea typeface="Canva Sans"/>
                          <a:cs typeface="Canva Sans"/>
                          <a:sym typeface="Canva Sans"/>
                        </a:rPr>
                        <a:t>73.20</a:t>
                      </a:r>
                      <a:endParaRPr lang="en-US" sz="1400" dirty="0"/>
                    </a:p>
                  </a:txBody>
                  <a:tcPr marL="190500" marR="190500" marT="190500" marB="190500" anchor="ctr">
                    <a:lnL w="0" cap="flat" cmpd="sng" algn="ctr">
                      <a:solidFill>
                        <a:srgbClr val="FF9999"/>
                      </a:solidFill>
                      <a:prstDash val="solid"/>
                      <a:round/>
                      <a:headEnd type="none" w="med" len="med"/>
                      <a:tailEnd type="none" w="med" len="med"/>
                    </a:lnL>
                    <a:lnR w="0" cap="flat" cmpd="sng" algn="ctr">
                      <a:solidFill>
                        <a:srgbClr val="FF9999"/>
                      </a:solidFill>
                      <a:prstDash val="solid"/>
                      <a:round/>
                      <a:headEnd type="none" w="med" len="med"/>
                      <a:tailEnd type="none" w="med" len="med"/>
                    </a:lnR>
                    <a:lnT w="0" cap="flat" cmpd="sng" algn="ctr">
                      <a:solidFill>
                        <a:srgbClr val="FF9999"/>
                      </a:solidFill>
                      <a:prstDash val="solid"/>
                      <a:round/>
                      <a:headEnd type="none" w="med" len="med"/>
                      <a:tailEnd type="none" w="med" len="med"/>
                    </a:lnT>
                    <a:lnB w="0" cap="flat" cmpd="sng" algn="ctr">
                      <a:solidFill>
                        <a:srgbClr val="FF9999"/>
                      </a:solidFill>
                      <a:prstDash val="solid"/>
                      <a:round/>
                      <a:headEnd type="none" w="med" len="med"/>
                      <a:tailEnd type="none" w="med" len="med"/>
                    </a:lnB>
                    <a:solidFill>
                      <a:srgbClr val="FFE3E3"/>
                    </a:solidFill>
                  </a:tcPr>
                </a:tc>
                <a:extLst>
                  <a:ext uri="{0D108BD9-81ED-4DB2-BD59-A6C34878D82A}">
                    <a16:rowId xmlns:a16="http://schemas.microsoft.com/office/drawing/2014/main" val="10003"/>
                  </a:ext>
                </a:extLst>
              </a:tr>
            </a:tbl>
          </a:graphicData>
        </a:graphic>
      </p:graphicFrame>
      <p:sp>
        <p:nvSpPr>
          <p:cNvPr id="97" name="TextBox 9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Tahapan Text Preprocessing</a:t>
            </a:r>
          </a:p>
        </p:txBody>
      </p:sp>
      <p:sp>
        <p:nvSpPr>
          <p:cNvPr id="98" name="TextBox 98"/>
          <p:cNvSpPr txBox="1"/>
          <p:nvPr/>
        </p:nvSpPr>
        <p:spPr>
          <a:xfrm>
            <a:off x="1028700" y="215814"/>
            <a:ext cx="8131423"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06 | Preprocessing Teks</a:t>
            </a:r>
          </a:p>
        </p:txBody>
      </p:sp>
      <p:grpSp>
        <p:nvGrpSpPr>
          <p:cNvPr id="99" name="Group 99"/>
          <p:cNvGrpSpPr/>
          <p:nvPr/>
        </p:nvGrpSpPr>
        <p:grpSpPr>
          <a:xfrm>
            <a:off x="13516772" y="6270980"/>
            <a:ext cx="2527223" cy="3192650"/>
            <a:chOff x="0" y="0"/>
            <a:chExt cx="3369631" cy="4256867"/>
          </a:xfrm>
        </p:grpSpPr>
        <p:grpSp>
          <p:nvGrpSpPr>
            <p:cNvPr id="100" name="Group 100"/>
            <p:cNvGrpSpPr/>
            <p:nvPr/>
          </p:nvGrpSpPr>
          <p:grpSpPr>
            <a:xfrm>
              <a:off x="0" y="0"/>
              <a:ext cx="3369631" cy="4256867"/>
              <a:chOff x="0" y="0"/>
              <a:chExt cx="972859" cy="1229017"/>
            </a:xfrm>
          </p:grpSpPr>
          <p:sp>
            <p:nvSpPr>
              <p:cNvPr id="101" name="Freeform 101"/>
              <p:cNvSpPr/>
              <p:nvPr/>
            </p:nvSpPr>
            <p:spPr>
              <a:xfrm>
                <a:off x="0" y="0"/>
                <a:ext cx="972859" cy="1229017"/>
              </a:xfrm>
              <a:custGeom>
                <a:avLst/>
                <a:gdLst/>
                <a:ahLst/>
                <a:cxnLst/>
                <a:rect l="l" t="t" r="r" b="b"/>
                <a:pathLst>
                  <a:path w="972859" h="1229017">
                    <a:moveTo>
                      <a:pt x="79649" y="0"/>
                    </a:moveTo>
                    <a:lnTo>
                      <a:pt x="893211" y="0"/>
                    </a:lnTo>
                    <a:cubicBezTo>
                      <a:pt x="914335" y="0"/>
                      <a:pt x="934594" y="8392"/>
                      <a:pt x="949531" y="23329"/>
                    </a:cubicBezTo>
                    <a:cubicBezTo>
                      <a:pt x="964468" y="38266"/>
                      <a:pt x="972859" y="58525"/>
                      <a:pt x="972859" y="79649"/>
                    </a:cubicBezTo>
                    <a:lnTo>
                      <a:pt x="972859" y="1149368"/>
                    </a:lnTo>
                    <a:cubicBezTo>
                      <a:pt x="972859" y="1170492"/>
                      <a:pt x="964468" y="1190751"/>
                      <a:pt x="949531" y="1205688"/>
                    </a:cubicBezTo>
                    <a:cubicBezTo>
                      <a:pt x="934594" y="1220625"/>
                      <a:pt x="914335" y="1229017"/>
                      <a:pt x="893211" y="1229017"/>
                    </a:cubicBezTo>
                    <a:lnTo>
                      <a:pt x="79649" y="1229017"/>
                    </a:lnTo>
                    <a:cubicBezTo>
                      <a:pt x="35660" y="1229017"/>
                      <a:pt x="0" y="1193357"/>
                      <a:pt x="0" y="1149368"/>
                    </a:cubicBezTo>
                    <a:lnTo>
                      <a:pt x="0" y="79649"/>
                    </a:lnTo>
                    <a:cubicBezTo>
                      <a:pt x="0" y="58525"/>
                      <a:pt x="8392" y="38266"/>
                      <a:pt x="23329" y="23329"/>
                    </a:cubicBezTo>
                    <a:cubicBezTo>
                      <a:pt x="38266" y="8392"/>
                      <a:pt x="58525" y="0"/>
                      <a:pt x="79649" y="0"/>
                    </a:cubicBezTo>
                    <a:close/>
                  </a:path>
                </a:pathLst>
              </a:custGeom>
              <a:solidFill>
                <a:srgbClr val="FFFFFF"/>
              </a:solidFill>
              <a:ln w="38100" cap="rnd">
                <a:solidFill>
                  <a:srgbClr val="FF751F"/>
                </a:solidFill>
                <a:prstDash val="solid"/>
                <a:round/>
              </a:ln>
            </p:spPr>
          </p:sp>
          <p:sp>
            <p:nvSpPr>
              <p:cNvPr id="102" name="TextBox 102"/>
              <p:cNvSpPr txBox="1"/>
              <p:nvPr/>
            </p:nvSpPr>
            <p:spPr>
              <a:xfrm>
                <a:off x="0" y="-47625"/>
                <a:ext cx="972859" cy="1276642"/>
              </a:xfrm>
              <a:prstGeom prst="rect">
                <a:avLst/>
              </a:prstGeom>
            </p:spPr>
            <p:txBody>
              <a:bodyPr lIns="34756" tIns="34756" rIns="34756" bIns="34756" rtlCol="0" anchor="ctr"/>
              <a:lstStyle/>
              <a:p>
                <a:pPr algn="ctr">
                  <a:lnSpc>
                    <a:spcPts val="2659"/>
                  </a:lnSpc>
                </a:pPr>
                <a:endParaRPr/>
              </a:p>
            </p:txBody>
          </p:sp>
        </p:grpSp>
        <p:grpSp>
          <p:nvGrpSpPr>
            <p:cNvPr id="103" name="Group 103"/>
            <p:cNvGrpSpPr/>
            <p:nvPr/>
          </p:nvGrpSpPr>
          <p:grpSpPr>
            <a:xfrm>
              <a:off x="133238" y="2501322"/>
              <a:ext cx="3143320" cy="1551800"/>
              <a:chOff x="0" y="0"/>
              <a:chExt cx="907520" cy="448026"/>
            </a:xfrm>
          </p:grpSpPr>
          <p:sp>
            <p:nvSpPr>
              <p:cNvPr id="104" name="Freeform 104"/>
              <p:cNvSpPr/>
              <p:nvPr/>
            </p:nvSpPr>
            <p:spPr>
              <a:xfrm>
                <a:off x="0" y="0"/>
                <a:ext cx="907520" cy="448026"/>
              </a:xfrm>
              <a:custGeom>
                <a:avLst/>
                <a:gdLst/>
                <a:ahLst/>
                <a:cxnLst/>
                <a:rect l="l" t="t" r="r" b="b"/>
                <a:pathLst>
                  <a:path w="907520" h="448026">
                    <a:moveTo>
                      <a:pt x="0" y="0"/>
                    </a:moveTo>
                    <a:lnTo>
                      <a:pt x="907520" y="0"/>
                    </a:lnTo>
                    <a:lnTo>
                      <a:pt x="907520" y="448026"/>
                    </a:lnTo>
                    <a:lnTo>
                      <a:pt x="0" y="448026"/>
                    </a:lnTo>
                    <a:close/>
                  </a:path>
                </a:pathLst>
              </a:custGeom>
              <a:solidFill>
                <a:srgbClr val="FF751F"/>
              </a:solidFill>
              <a:ln w="38100" cap="sq">
                <a:solidFill>
                  <a:srgbClr val="FF751F"/>
                </a:solidFill>
                <a:prstDash val="solid"/>
                <a:miter/>
              </a:ln>
            </p:spPr>
          </p:sp>
          <p:sp>
            <p:nvSpPr>
              <p:cNvPr id="105" name="TextBox 105"/>
              <p:cNvSpPr txBox="1"/>
              <p:nvPr/>
            </p:nvSpPr>
            <p:spPr>
              <a:xfrm>
                <a:off x="0" y="-47625"/>
                <a:ext cx="907520" cy="495651"/>
              </a:xfrm>
              <a:prstGeom prst="rect">
                <a:avLst/>
              </a:prstGeom>
            </p:spPr>
            <p:txBody>
              <a:bodyPr lIns="34756" tIns="34756" rIns="34756" bIns="34756" rtlCol="0" anchor="ctr"/>
              <a:lstStyle/>
              <a:p>
                <a:pPr algn="ctr">
                  <a:lnSpc>
                    <a:spcPts val="2659"/>
                  </a:lnSpc>
                </a:pPr>
                <a:endParaRPr/>
              </a:p>
            </p:txBody>
          </p:sp>
        </p:grpSp>
        <p:sp>
          <p:nvSpPr>
            <p:cNvPr id="106" name="Freeform 106"/>
            <p:cNvSpPr/>
            <p:nvPr/>
          </p:nvSpPr>
          <p:spPr>
            <a:xfrm>
              <a:off x="1173878" y="241584"/>
              <a:ext cx="957342" cy="957342"/>
            </a:xfrm>
            <a:custGeom>
              <a:avLst/>
              <a:gdLst/>
              <a:ahLst/>
              <a:cxnLst/>
              <a:rect l="l" t="t" r="r" b="b"/>
              <a:pathLst>
                <a:path w="957342" h="957342">
                  <a:moveTo>
                    <a:pt x="0" y="0"/>
                  </a:moveTo>
                  <a:lnTo>
                    <a:pt x="957341" y="0"/>
                  </a:lnTo>
                  <a:lnTo>
                    <a:pt x="957341" y="957342"/>
                  </a:lnTo>
                  <a:lnTo>
                    <a:pt x="0" y="957342"/>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107" name="TextBox 107"/>
            <p:cNvSpPr txBox="1"/>
            <p:nvPr/>
          </p:nvSpPr>
          <p:spPr>
            <a:xfrm>
              <a:off x="202002" y="1338348"/>
              <a:ext cx="2965627" cy="1224227"/>
            </a:xfrm>
            <a:prstGeom prst="rect">
              <a:avLst/>
            </a:prstGeom>
          </p:spPr>
          <p:txBody>
            <a:bodyPr lIns="0" tIns="0" rIns="0" bIns="0" rtlCol="0" anchor="t">
              <a:spAutoFit/>
            </a:bodyPr>
            <a:lstStyle/>
            <a:p>
              <a:pPr algn="ctr">
                <a:lnSpc>
                  <a:spcPts val="2548"/>
                </a:lnSpc>
              </a:pPr>
              <a:r>
                <a:rPr lang="en-US" sz="1820" b="1">
                  <a:solidFill>
                    <a:srgbClr val="1800AD"/>
                  </a:solidFill>
                  <a:latin typeface="Canva Sans Bold"/>
                  <a:ea typeface="Canva Sans Bold"/>
                  <a:cs typeface="Canva Sans Bold"/>
                  <a:sym typeface="Canva Sans Bold"/>
                </a:rPr>
                <a:t>Preprocessed Advanced</a:t>
              </a:r>
            </a:p>
            <a:p>
              <a:pPr algn="ctr">
                <a:lnSpc>
                  <a:spcPts val="2548"/>
                </a:lnSpc>
              </a:pPr>
              <a:endParaRPr lang="en-US" sz="1820" b="1">
                <a:solidFill>
                  <a:srgbClr val="1800AD"/>
                </a:solidFill>
                <a:latin typeface="Canva Sans Bold"/>
                <a:ea typeface="Canva Sans Bold"/>
                <a:cs typeface="Canva Sans Bold"/>
                <a:sym typeface="Canva Sans Bold"/>
              </a:endParaRPr>
            </a:p>
          </p:txBody>
        </p:sp>
        <p:sp>
          <p:nvSpPr>
            <p:cNvPr id="108" name="TextBox 108"/>
            <p:cNvSpPr txBox="1"/>
            <p:nvPr/>
          </p:nvSpPr>
          <p:spPr>
            <a:xfrm>
              <a:off x="531654" y="2739735"/>
              <a:ext cx="2472279" cy="1313388"/>
            </a:xfrm>
            <a:prstGeom prst="rect">
              <a:avLst/>
            </a:prstGeom>
          </p:spPr>
          <p:txBody>
            <a:bodyPr lIns="0" tIns="0" rIns="0" bIns="0" rtlCol="0" anchor="t">
              <a:spAutoFit/>
            </a:bodyPr>
            <a:lstStyle/>
            <a:p>
              <a:pPr algn="ctr">
                <a:lnSpc>
                  <a:spcPts val="1618"/>
                </a:lnSpc>
              </a:pPr>
              <a:r>
                <a:rPr lang="en-US" sz="1156">
                  <a:solidFill>
                    <a:srgbClr val="FFFFFF"/>
                  </a:solidFill>
                  <a:latin typeface="Canva Sans"/>
                  <a:ea typeface="Canva Sans"/>
                  <a:cs typeface="Canva Sans"/>
                  <a:sym typeface="Canva Sans"/>
                </a:rPr>
                <a:t>Keseimbangan terbaik antara reduksi noise dan preservasi makna semantik teks Al-Qur'an</a:t>
              </a:r>
            </a:p>
            <a:p>
              <a:pPr algn="ctr">
                <a:lnSpc>
                  <a:spcPts val="1618"/>
                </a:lnSpc>
              </a:pPr>
              <a:endParaRPr lang="en-US" sz="1156">
                <a:solidFill>
                  <a:srgbClr val="FFFFFF"/>
                </a:solidFill>
                <a:latin typeface="Canva Sans"/>
                <a:ea typeface="Canva Sans"/>
                <a:cs typeface="Canva Sans"/>
                <a:sym typeface="Canva Sans"/>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1028700" y="2854732"/>
            <a:ext cx="4423258" cy="793726"/>
            <a:chOff x="0" y="0"/>
            <a:chExt cx="5897677" cy="1058301"/>
          </a:xfrm>
        </p:grpSpPr>
        <p:grpSp>
          <p:nvGrpSpPr>
            <p:cNvPr id="17" name="Group 17"/>
            <p:cNvGrpSpPr/>
            <p:nvPr/>
          </p:nvGrpSpPr>
          <p:grpSpPr>
            <a:xfrm>
              <a:off x="0" y="0"/>
              <a:ext cx="5897677" cy="1058301"/>
              <a:chOff x="0" y="0"/>
              <a:chExt cx="2496752" cy="448026"/>
            </a:xfrm>
          </p:grpSpPr>
          <p:sp>
            <p:nvSpPr>
              <p:cNvPr id="18" name="Freeform 18"/>
              <p:cNvSpPr/>
              <p:nvPr/>
            </p:nvSpPr>
            <p:spPr>
              <a:xfrm>
                <a:off x="0" y="0"/>
                <a:ext cx="2496752" cy="448026"/>
              </a:xfrm>
              <a:custGeom>
                <a:avLst/>
                <a:gdLst/>
                <a:ahLst/>
                <a:cxnLst/>
                <a:rect l="l" t="t" r="r" b="b"/>
                <a:pathLst>
                  <a:path w="2496752" h="448026">
                    <a:moveTo>
                      <a:pt x="0" y="0"/>
                    </a:moveTo>
                    <a:lnTo>
                      <a:pt x="2496752" y="0"/>
                    </a:lnTo>
                    <a:lnTo>
                      <a:pt x="2496752" y="448026"/>
                    </a:lnTo>
                    <a:lnTo>
                      <a:pt x="0" y="448026"/>
                    </a:lnTo>
                    <a:close/>
                  </a:path>
                </a:pathLst>
              </a:custGeom>
              <a:solidFill>
                <a:srgbClr val="FEFCFB"/>
              </a:solidFill>
              <a:ln w="38100" cap="sq">
                <a:solidFill>
                  <a:srgbClr val="FF751F"/>
                </a:solidFill>
                <a:prstDash val="solid"/>
                <a:miter/>
              </a:ln>
            </p:spPr>
          </p:sp>
          <p:sp>
            <p:nvSpPr>
              <p:cNvPr id="19" name="TextBox 19"/>
              <p:cNvSpPr txBox="1"/>
              <p:nvPr/>
            </p:nvSpPr>
            <p:spPr>
              <a:xfrm>
                <a:off x="0" y="-47625"/>
                <a:ext cx="2496752" cy="495651"/>
              </a:xfrm>
              <a:prstGeom prst="rect">
                <a:avLst/>
              </a:prstGeom>
            </p:spPr>
            <p:txBody>
              <a:bodyPr lIns="34756" tIns="34756" rIns="34756" bIns="34756" rtlCol="0" anchor="ctr"/>
              <a:lstStyle/>
              <a:p>
                <a:pPr algn="ctr">
                  <a:lnSpc>
                    <a:spcPts val="2659"/>
                  </a:lnSpc>
                </a:pPr>
                <a:endParaRPr/>
              </a:p>
            </p:txBody>
          </p:sp>
        </p:grpSp>
        <p:sp>
          <p:nvSpPr>
            <p:cNvPr id="20" name="TextBox 20"/>
            <p:cNvSpPr txBox="1"/>
            <p:nvPr/>
          </p:nvSpPr>
          <p:spPr>
            <a:xfrm>
              <a:off x="613466" y="245303"/>
              <a:ext cx="4340416" cy="548645"/>
            </a:xfrm>
            <a:prstGeom prst="rect">
              <a:avLst/>
            </a:prstGeom>
          </p:spPr>
          <p:txBody>
            <a:bodyPr lIns="0" tIns="0" rIns="0" bIns="0" rtlCol="0" anchor="t">
              <a:spAutoFit/>
            </a:bodyPr>
            <a:lstStyle/>
            <a:p>
              <a:pPr algn="ctr">
                <a:lnSpc>
                  <a:spcPts val="1738"/>
                </a:lnSpc>
              </a:pPr>
              <a:r>
                <a:rPr lang="en-US" sz="1241" b="1">
                  <a:solidFill>
                    <a:srgbClr val="CF4119"/>
                  </a:solidFill>
                  <a:latin typeface="Canva Sans Bold"/>
                  <a:ea typeface="Canva Sans Bold"/>
                  <a:cs typeface="Canva Sans Bold"/>
                  <a:sym typeface="Canva Sans Bold"/>
                </a:rPr>
                <a:t>Optimasi parameter jumlah topik (K)</a:t>
              </a:r>
            </a:p>
            <a:p>
              <a:pPr algn="ctr">
                <a:lnSpc>
                  <a:spcPts val="1738"/>
                </a:lnSpc>
              </a:pPr>
              <a:r>
                <a:rPr lang="en-US" sz="1241" b="1">
                  <a:solidFill>
                    <a:srgbClr val="CF4119"/>
                  </a:solidFill>
                  <a:latin typeface="Canva Sans Bold"/>
                  <a:ea typeface="Canva Sans Bold"/>
                  <a:cs typeface="Canva Sans Bold"/>
                  <a:sym typeface="Canva Sans Bold"/>
                </a:rPr>
                <a:t>K = 8 sampai K=19</a:t>
              </a:r>
            </a:p>
          </p:txBody>
        </p:sp>
      </p:grpSp>
      <p:grpSp>
        <p:nvGrpSpPr>
          <p:cNvPr id="21" name="Group 21"/>
          <p:cNvGrpSpPr/>
          <p:nvPr/>
        </p:nvGrpSpPr>
        <p:grpSpPr>
          <a:xfrm>
            <a:off x="5661322" y="2800148"/>
            <a:ext cx="6608985" cy="947517"/>
            <a:chOff x="0" y="0"/>
            <a:chExt cx="8811980" cy="1263356"/>
          </a:xfrm>
        </p:grpSpPr>
        <p:grpSp>
          <p:nvGrpSpPr>
            <p:cNvPr id="22" name="Group 22"/>
            <p:cNvGrpSpPr/>
            <p:nvPr/>
          </p:nvGrpSpPr>
          <p:grpSpPr>
            <a:xfrm>
              <a:off x="0" y="0"/>
              <a:ext cx="8811980" cy="1263356"/>
              <a:chOff x="0" y="0"/>
              <a:chExt cx="3165274" cy="453799"/>
            </a:xfrm>
          </p:grpSpPr>
          <p:sp>
            <p:nvSpPr>
              <p:cNvPr id="23" name="Freeform 23"/>
              <p:cNvSpPr/>
              <p:nvPr/>
            </p:nvSpPr>
            <p:spPr>
              <a:xfrm>
                <a:off x="0" y="0"/>
                <a:ext cx="3165274" cy="453799"/>
              </a:xfrm>
              <a:custGeom>
                <a:avLst/>
                <a:gdLst/>
                <a:ahLst/>
                <a:cxnLst/>
                <a:rect l="l" t="t" r="r" b="b"/>
                <a:pathLst>
                  <a:path w="3165274" h="453799">
                    <a:moveTo>
                      <a:pt x="0" y="0"/>
                    </a:moveTo>
                    <a:lnTo>
                      <a:pt x="3165274" y="0"/>
                    </a:lnTo>
                    <a:lnTo>
                      <a:pt x="3165274" y="453799"/>
                    </a:lnTo>
                    <a:lnTo>
                      <a:pt x="0" y="453799"/>
                    </a:lnTo>
                    <a:close/>
                  </a:path>
                </a:pathLst>
              </a:custGeom>
              <a:solidFill>
                <a:srgbClr val="FFFFFF"/>
              </a:solidFill>
              <a:ln w="38100" cap="sq">
                <a:solidFill>
                  <a:srgbClr val="FF751F"/>
                </a:solidFill>
                <a:prstDash val="solid"/>
                <a:miter/>
              </a:ln>
            </p:spPr>
          </p:sp>
          <p:sp>
            <p:nvSpPr>
              <p:cNvPr id="24" name="TextBox 24"/>
              <p:cNvSpPr txBox="1"/>
              <p:nvPr/>
            </p:nvSpPr>
            <p:spPr>
              <a:xfrm>
                <a:off x="0" y="-38100"/>
                <a:ext cx="3165274" cy="491899"/>
              </a:xfrm>
              <a:prstGeom prst="rect">
                <a:avLst/>
              </a:prstGeom>
            </p:spPr>
            <p:txBody>
              <a:bodyPr lIns="36010" tIns="36010" rIns="36010" bIns="36010" rtlCol="0" anchor="ctr"/>
              <a:lstStyle/>
              <a:p>
                <a:pPr algn="ctr">
                  <a:lnSpc>
                    <a:spcPts val="2799"/>
                  </a:lnSpc>
                </a:pPr>
                <a:endParaRPr/>
              </a:p>
            </p:txBody>
          </p:sp>
        </p:grpSp>
        <p:sp>
          <p:nvSpPr>
            <p:cNvPr id="25" name="TextBox 25"/>
            <p:cNvSpPr txBox="1"/>
            <p:nvPr/>
          </p:nvSpPr>
          <p:spPr>
            <a:xfrm>
              <a:off x="348122" y="261272"/>
              <a:ext cx="8115737" cy="712237"/>
            </a:xfrm>
            <a:prstGeom prst="rect">
              <a:avLst/>
            </a:prstGeom>
          </p:spPr>
          <p:txBody>
            <a:bodyPr lIns="0" tIns="0" rIns="0" bIns="0" rtlCol="0" anchor="t">
              <a:spAutoFit/>
            </a:bodyPr>
            <a:lstStyle/>
            <a:p>
              <a:pPr algn="ctr">
                <a:lnSpc>
                  <a:spcPts val="2188"/>
                </a:lnSpc>
              </a:pPr>
              <a:r>
                <a:rPr lang="en-US" sz="1563" b="1">
                  <a:solidFill>
                    <a:srgbClr val="FF751F"/>
                  </a:solidFill>
                  <a:latin typeface="Canva Sans Bold"/>
                  <a:ea typeface="Canva Sans Bold"/>
                  <a:cs typeface="Canva Sans Bold"/>
                  <a:sym typeface="Canva Sans Bold"/>
                </a:rPr>
                <a:t>114 Dokumen</a:t>
              </a:r>
            </a:p>
            <a:p>
              <a:pPr algn="ctr">
                <a:lnSpc>
                  <a:spcPts val="2188"/>
                </a:lnSpc>
              </a:pPr>
              <a:r>
                <a:rPr lang="en-US" sz="1563" b="1">
                  <a:solidFill>
                    <a:srgbClr val="FF751F"/>
                  </a:solidFill>
                  <a:latin typeface="Canva Sans Bold"/>
                  <a:ea typeface="Canva Sans Bold"/>
                  <a:cs typeface="Canva Sans Bold"/>
                  <a:sym typeface="Canva Sans Bold"/>
                </a:rPr>
                <a:t> 75.940 token</a:t>
              </a:r>
            </a:p>
          </p:txBody>
        </p:sp>
      </p:grpSp>
      <p:graphicFrame>
        <p:nvGraphicFramePr>
          <p:cNvPr id="26" name="Object 26"/>
          <p:cNvGraphicFramePr/>
          <p:nvPr/>
        </p:nvGraphicFramePr>
        <p:xfrm>
          <a:off x="1028700" y="3833520"/>
          <a:ext cx="11315700" cy="8172450"/>
        </p:xfrm>
        <a:graphic>
          <a:graphicData uri="http://schemas.openxmlformats.org/presentationml/2006/ole">
            <mc:AlternateContent xmlns:mc="http://schemas.openxmlformats.org/markup-compatibility/2006">
              <mc:Choice xmlns:v="urn:schemas-microsoft-com:vml" Requires="v">
                <p:oleObj name="Worksheet" r:id="rId4" imgW="13576300" imgH="10439400" progId="Excel.Sheet.12">
                  <p:embed/>
                </p:oleObj>
              </mc:Choice>
              <mc:Fallback>
                <p:oleObj name="Worksheet" r:id="rId4" imgW="13576300" imgH="10439400" progId="Excel.Sheet.12">
                  <p:embed/>
                  <p:pic>
                    <p:nvPicPr>
                      <p:cNvPr id="0" name=""/>
                      <p:cNvPicPr/>
                      <p:nvPr/>
                    </p:nvPicPr>
                    <p:blipFill>
                      <a:blip r:embed="rId5"/>
                      <a:stretch>
                        <a:fillRect/>
                      </a:stretch>
                    </p:blipFill>
                    <p:spPr>
                      <a:xfrm>
                        <a:off x="1028700" y="3833520"/>
                        <a:ext cx="11315700" cy="8172450"/>
                      </a:xfrm>
                      <a:prstGeom prst="rect">
                        <a:avLst/>
                      </a:prstGeom>
                    </p:spPr>
                  </p:pic>
                </p:oleObj>
              </mc:Fallback>
            </mc:AlternateContent>
          </a:graphicData>
        </a:graphic>
      </p:graphicFrame>
      <p:sp>
        <p:nvSpPr>
          <p:cNvPr id="27" name="Freeform 27"/>
          <p:cNvSpPr/>
          <p:nvPr/>
        </p:nvSpPr>
        <p:spPr>
          <a:xfrm>
            <a:off x="12479857" y="3563830"/>
            <a:ext cx="5356464" cy="3720450"/>
          </a:xfrm>
          <a:custGeom>
            <a:avLst/>
            <a:gdLst/>
            <a:ahLst/>
            <a:cxnLst/>
            <a:rect l="l" t="t" r="r" b="b"/>
            <a:pathLst>
              <a:path w="5356464" h="3720450">
                <a:moveTo>
                  <a:pt x="0" y="0"/>
                </a:moveTo>
                <a:lnTo>
                  <a:pt x="5356463" y="0"/>
                </a:lnTo>
                <a:lnTo>
                  <a:pt x="5356463" y="3720449"/>
                </a:lnTo>
                <a:lnTo>
                  <a:pt x="0" y="3720449"/>
                </a:lnTo>
                <a:lnTo>
                  <a:pt x="0" y="0"/>
                </a:lnTo>
                <a:close/>
              </a:path>
            </a:pathLst>
          </a:custGeom>
          <a:blipFill>
            <a:blip r:embed="rId6"/>
            <a:stretch>
              <a:fillRect l="-233" r="-233"/>
            </a:stretch>
          </a:blipFill>
        </p:spPr>
      </p:sp>
      <p:sp>
        <p:nvSpPr>
          <p:cNvPr id="28" name="TextBox 28"/>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Optimasi Parameter K</a:t>
            </a:r>
          </a:p>
        </p:txBody>
      </p:sp>
      <p:sp>
        <p:nvSpPr>
          <p:cNvPr id="29" name="TextBox 29"/>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07 | Correlated Topic Model</a:t>
            </a:r>
          </a:p>
        </p:txBody>
      </p:sp>
      <p:grpSp>
        <p:nvGrpSpPr>
          <p:cNvPr id="30" name="Group 30"/>
          <p:cNvGrpSpPr/>
          <p:nvPr/>
        </p:nvGrpSpPr>
        <p:grpSpPr>
          <a:xfrm>
            <a:off x="12658490" y="7324461"/>
            <a:ext cx="5177830" cy="1814562"/>
            <a:chOff x="0" y="0"/>
            <a:chExt cx="6903774" cy="2419417"/>
          </a:xfrm>
        </p:grpSpPr>
        <p:grpSp>
          <p:nvGrpSpPr>
            <p:cNvPr id="31" name="Group 31"/>
            <p:cNvGrpSpPr/>
            <p:nvPr/>
          </p:nvGrpSpPr>
          <p:grpSpPr>
            <a:xfrm>
              <a:off x="0" y="0"/>
              <a:ext cx="6903774" cy="2419417"/>
              <a:chOff x="0" y="0"/>
              <a:chExt cx="3506983" cy="1229017"/>
            </a:xfrm>
          </p:grpSpPr>
          <p:sp>
            <p:nvSpPr>
              <p:cNvPr id="32" name="Freeform 32"/>
              <p:cNvSpPr/>
              <p:nvPr/>
            </p:nvSpPr>
            <p:spPr>
              <a:xfrm>
                <a:off x="0" y="0"/>
                <a:ext cx="3506983" cy="1229017"/>
              </a:xfrm>
              <a:custGeom>
                <a:avLst/>
                <a:gdLst/>
                <a:ahLst/>
                <a:cxnLst/>
                <a:rect l="l" t="t" r="r" b="b"/>
                <a:pathLst>
                  <a:path w="3506983" h="1229017">
                    <a:moveTo>
                      <a:pt x="38875" y="0"/>
                    </a:moveTo>
                    <a:lnTo>
                      <a:pt x="3468108" y="0"/>
                    </a:lnTo>
                    <a:cubicBezTo>
                      <a:pt x="3478418" y="0"/>
                      <a:pt x="3488306" y="4096"/>
                      <a:pt x="3495597" y="11386"/>
                    </a:cubicBezTo>
                    <a:cubicBezTo>
                      <a:pt x="3502887" y="18677"/>
                      <a:pt x="3506983" y="28565"/>
                      <a:pt x="3506983" y="38875"/>
                    </a:cubicBezTo>
                    <a:lnTo>
                      <a:pt x="3506983" y="1190141"/>
                    </a:lnTo>
                    <a:cubicBezTo>
                      <a:pt x="3506983" y="1200452"/>
                      <a:pt x="3502887" y="1210340"/>
                      <a:pt x="3495597" y="1217630"/>
                    </a:cubicBezTo>
                    <a:cubicBezTo>
                      <a:pt x="3488306" y="1224921"/>
                      <a:pt x="3478418" y="1229017"/>
                      <a:pt x="3468108" y="1229017"/>
                    </a:cubicBezTo>
                    <a:lnTo>
                      <a:pt x="38875" y="1229017"/>
                    </a:lnTo>
                    <a:cubicBezTo>
                      <a:pt x="17405" y="1229017"/>
                      <a:pt x="0" y="1211612"/>
                      <a:pt x="0" y="1190141"/>
                    </a:cubicBezTo>
                    <a:lnTo>
                      <a:pt x="0" y="38875"/>
                    </a:lnTo>
                    <a:cubicBezTo>
                      <a:pt x="0" y="28565"/>
                      <a:pt x="4096" y="18677"/>
                      <a:pt x="11386" y="11386"/>
                    </a:cubicBezTo>
                    <a:cubicBezTo>
                      <a:pt x="18677" y="4096"/>
                      <a:pt x="28565" y="0"/>
                      <a:pt x="38875" y="0"/>
                    </a:cubicBezTo>
                    <a:close/>
                  </a:path>
                </a:pathLst>
              </a:custGeom>
              <a:solidFill>
                <a:srgbClr val="FFFFFF"/>
              </a:solidFill>
              <a:ln w="38100" cap="rnd">
                <a:solidFill>
                  <a:srgbClr val="FF751F"/>
                </a:solidFill>
                <a:prstDash val="solid"/>
                <a:round/>
              </a:ln>
            </p:spPr>
          </p:sp>
          <p:sp>
            <p:nvSpPr>
              <p:cNvPr id="33" name="TextBox 33"/>
              <p:cNvSpPr txBox="1"/>
              <p:nvPr/>
            </p:nvSpPr>
            <p:spPr>
              <a:xfrm>
                <a:off x="0" y="-47625"/>
                <a:ext cx="3506983" cy="1276642"/>
              </a:xfrm>
              <a:prstGeom prst="rect">
                <a:avLst/>
              </a:prstGeom>
            </p:spPr>
            <p:txBody>
              <a:bodyPr lIns="19754" tIns="19754" rIns="19754" bIns="19754" rtlCol="0" anchor="ctr"/>
              <a:lstStyle/>
              <a:p>
                <a:pPr algn="ctr">
                  <a:lnSpc>
                    <a:spcPts val="2659"/>
                  </a:lnSpc>
                </a:pPr>
                <a:endParaRPr/>
              </a:p>
            </p:txBody>
          </p:sp>
        </p:grpSp>
        <p:grpSp>
          <p:nvGrpSpPr>
            <p:cNvPr id="34" name="Group 34"/>
            <p:cNvGrpSpPr/>
            <p:nvPr/>
          </p:nvGrpSpPr>
          <p:grpSpPr>
            <a:xfrm>
              <a:off x="1756112" y="1057861"/>
              <a:ext cx="4560625" cy="1128792"/>
              <a:chOff x="0" y="0"/>
              <a:chExt cx="2316709" cy="573404"/>
            </a:xfrm>
          </p:grpSpPr>
          <p:sp>
            <p:nvSpPr>
              <p:cNvPr id="35" name="Freeform 35"/>
              <p:cNvSpPr/>
              <p:nvPr/>
            </p:nvSpPr>
            <p:spPr>
              <a:xfrm>
                <a:off x="0" y="0"/>
                <a:ext cx="2316709" cy="573404"/>
              </a:xfrm>
              <a:custGeom>
                <a:avLst/>
                <a:gdLst/>
                <a:ahLst/>
                <a:cxnLst/>
                <a:rect l="l" t="t" r="r" b="b"/>
                <a:pathLst>
                  <a:path w="2316709" h="573404">
                    <a:moveTo>
                      <a:pt x="0" y="0"/>
                    </a:moveTo>
                    <a:lnTo>
                      <a:pt x="2316709" y="0"/>
                    </a:lnTo>
                    <a:lnTo>
                      <a:pt x="2316709" y="573404"/>
                    </a:lnTo>
                    <a:lnTo>
                      <a:pt x="0" y="573404"/>
                    </a:lnTo>
                    <a:close/>
                  </a:path>
                </a:pathLst>
              </a:custGeom>
              <a:solidFill>
                <a:srgbClr val="FF751F"/>
              </a:solidFill>
              <a:ln w="38100" cap="sq">
                <a:solidFill>
                  <a:srgbClr val="FF751F"/>
                </a:solidFill>
                <a:prstDash val="solid"/>
                <a:miter/>
              </a:ln>
            </p:spPr>
          </p:sp>
          <p:sp>
            <p:nvSpPr>
              <p:cNvPr id="36" name="TextBox 36"/>
              <p:cNvSpPr txBox="1"/>
              <p:nvPr/>
            </p:nvSpPr>
            <p:spPr>
              <a:xfrm>
                <a:off x="0" y="-47625"/>
                <a:ext cx="2316709" cy="621029"/>
              </a:xfrm>
              <a:prstGeom prst="rect">
                <a:avLst/>
              </a:prstGeom>
            </p:spPr>
            <p:txBody>
              <a:bodyPr lIns="19754" tIns="19754" rIns="19754" bIns="19754" rtlCol="0" anchor="ctr"/>
              <a:lstStyle/>
              <a:p>
                <a:pPr algn="ctr">
                  <a:lnSpc>
                    <a:spcPts val="2659"/>
                  </a:lnSpc>
                </a:pPr>
                <a:endParaRPr/>
              </a:p>
            </p:txBody>
          </p:sp>
        </p:grpSp>
        <p:sp>
          <p:nvSpPr>
            <p:cNvPr id="37" name="Freeform 37"/>
            <p:cNvSpPr/>
            <p:nvPr/>
          </p:nvSpPr>
          <p:spPr>
            <a:xfrm>
              <a:off x="335610" y="822326"/>
              <a:ext cx="1176319" cy="1176319"/>
            </a:xfrm>
            <a:custGeom>
              <a:avLst/>
              <a:gdLst/>
              <a:ahLst/>
              <a:cxnLst/>
              <a:rect l="l" t="t" r="r" b="b"/>
              <a:pathLst>
                <a:path w="1176319" h="1176319">
                  <a:moveTo>
                    <a:pt x="0" y="0"/>
                  </a:moveTo>
                  <a:lnTo>
                    <a:pt x="1176318" y="0"/>
                  </a:lnTo>
                  <a:lnTo>
                    <a:pt x="1176318" y="1176319"/>
                  </a:lnTo>
                  <a:lnTo>
                    <a:pt x="0" y="1176319"/>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38" name="TextBox 38"/>
            <p:cNvSpPr txBox="1"/>
            <p:nvPr/>
          </p:nvSpPr>
          <p:spPr>
            <a:xfrm>
              <a:off x="2680509" y="90698"/>
              <a:ext cx="2182316" cy="848037"/>
            </a:xfrm>
            <a:prstGeom prst="rect">
              <a:avLst/>
            </a:prstGeom>
          </p:spPr>
          <p:txBody>
            <a:bodyPr lIns="0" tIns="0" rIns="0" bIns="0" rtlCol="0" anchor="t">
              <a:spAutoFit/>
            </a:bodyPr>
            <a:lstStyle/>
            <a:p>
              <a:pPr algn="ctr">
                <a:lnSpc>
                  <a:spcPts val="5368"/>
                </a:lnSpc>
              </a:pPr>
              <a:r>
                <a:rPr lang="en-US" sz="3834" b="1">
                  <a:solidFill>
                    <a:srgbClr val="1800AD"/>
                  </a:solidFill>
                  <a:latin typeface="Canva Sans Bold"/>
                  <a:ea typeface="Canva Sans Bold"/>
                  <a:cs typeface="Canva Sans Bold"/>
                  <a:sym typeface="Canva Sans Bold"/>
                </a:rPr>
                <a:t>K = 14</a:t>
              </a:r>
            </a:p>
          </p:txBody>
        </p:sp>
        <p:sp>
          <p:nvSpPr>
            <p:cNvPr id="39" name="TextBox 39"/>
            <p:cNvSpPr txBox="1"/>
            <p:nvPr/>
          </p:nvSpPr>
          <p:spPr>
            <a:xfrm>
              <a:off x="1894811" y="1222752"/>
              <a:ext cx="4283227" cy="779959"/>
            </a:xfrm>
            <a:prstGeom prst="rect">
              <a:avLst/>
            </a:prstGeom>
          </p:spPr>
          <p:txBody>
            <a:bodyPr lIns="0" tIns="0" rIns="0" bIns="0" rtlCol="0" anchor="t">
              <a:spAutoFit/>
            </a:bodyPr>
            <a:lstStyle/>
            <a:p>
              <a:pPr algn="ctr">
                <a:lnSpc>
                  <a:spcPts val="1620"/>
                </a:lnSpc>
              </a:pPr>
              <a:r>
                <a:rPr lang="en-US" sz="1157" b="1">
                  <a:solidFill>
                    <a:srgbClr val="FFFFFF"/>
                  </a:solidFill>
                  <a:latin typeface="Canva Sans Bold"/>
                  <a:ea typeface="Canva Sans Bold"/>
                  <a:cs typeface="Canva Sans Bold"/>
                  <a:sym typeface="Canva Sans Bold"/>
                </a:rPr>
                <a:t>hampir seluruh metrik berada pada posisi yang relatif tinggi dan seimbang dibandingkan jumlah topik lainnya</a:t>
              </a: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6" name="Object 16"/>
          <p:cNvGraphicFramePr/>
          <p:nvPr/>
        </p:nvGraphicFramePr>
        <p:xfrm>
          <a:off x="1314450" y="4423935"/>
          <a:ext cx="3771900" cy="3771900"/>
        </p:xfrm>
        <a:graphic>
          <a:graphicData uri="http://schemas.openxmlformats.org/presentationml/2006/ole">
            <mc:AlternateContent xmlns:mc="http://schemas.openxmlformats.org/markup-compatibility/2006">
              <mc:Choice xmlns:v="urn:schemas-microsoft-com:vml" Requires="v">
                <p:oleObj name="Worksheet" r:id="rId4" imgW="4521200" imgH="4521200" progId="Excel.Sheet.12">
                  <p:embed/>
                </p:oleObj>
              </mc:Choice>
              <mc:Fallback>
                <p:oleObj name="Worksheet" r:id="rId4" imgW="4521200" imgH="4521200" progId="Excel.Sheet.12">
                  <p:embed/>
                  <p:pic>
                    <p:nvPicPr>
                      <p:cNvPr id="0" name=""/>
                      <p:cNvPicPr/>
                      <p:nvPr/>
                    </p:nvPicPr>
                    <p:blipFill>
                      <a:blip r:embed="rId5"/>
                      <a:stretch>
                        <a:fillRect/>
                      </a:stretch>
                    </p:blipFill>
                    <p:spPr>
                      <a:xfrm>
                        <a:off x="1314450" y="4423935"/>
                        <a:ext cx="3771900" cy="3771900"/>
                      </a:xfrm>
                      <a:prstGeom prst="rect">
                        <a:avLst/>
                      </a:prstGeom>
                    </p:spPr>
                  </p:pic>
                </p:oleObj>
              </mc:Fallback>
            </mc:AlternateContent>
          </a:graphicData>
        </a:graphic>
      </p:graphicFrame>
      <p:grpSp>
        <p:nvGrpSpPr>
          <p:cNvPr id="17" name="Group 17"/>
          <p:cNvGrpSpPr/>
          <p:nvPr/>
        </p:nvGrpSpPr>
        <p:grpSpPr>
          <a:xfrm>
            <a:off x="5657782" y="3229788"/>
            <a:ext cx="6331146" cy="6160194"/>
            <a:chOff x="0" y="0"/>
            <a:chExt cx="1667462" cy="1622438"/>
          </a:xfrm>
        </p:grpSpPr>
        <p:sp>
          <p:nvSpPr>
            <p:cNvPr id="18" name="Freeform 18"/>
            <p:cNvSpPr/>
            <p:nvPr/>
          </p:nvSpPr>
          <p:spPr>
            <a:xfrm>
              <a:off x="0" y="0"/>
              <a:ext cx="1667462" cy="1622438"/>
            </a:xfrm>
            <a:custGeom>
              <a:avLst/>
              <a:gdLst/>
              <a:ahLst/>
              <a:cxnLst/>
              <a:rect l="l" t="t" r="r" b="b"/>
              <a:pathLst>
                <a:path w="1667462" h="1622438">
                  <a:moveTo>
                    <a:pt x="0" y="0"/>
                  </a:moveTo>
                  <a:lnTo>
                    <a:pt x="1667462" y="0"/>
                  </a:lnTo>
                  <a:lnTo>
                    <a:pt x="1667462" y="1622438"/>
                  </a:lnTo>
                  <a:lnTo>
                    <a:pt x="0" y="1622438"/>
                  </a:lnTo>
                  <a:close/>
                </a:path>
              </a:pathLst>
            </a:custGeom>
            <a:solidFill>
              <a:srgbClr val="FFFFFF"/>
            </a:solidFill>
            <a:ln w="38100" cap="sq">
              <a:solidFill>
                <a:srgbClr val="FF751F"/>
              </a:solidFill>
              <a:prstDash val="solid"/>
              <a:miter/>
            </a:ln>
          </p:spPr>
        </p:sp>
        <p:sp>
          <p:nvSpPr>
            <p:cNvPr id="19" name="TextBox 19"/>
            <p:cNvSpPr txBox="1"/>
            <p:nvPr/>
          </p:nvSpPr>
          <p:spPr>
            <a:xfrm>
              <a:off x="0" y="-47625"/>
              <a:ext cx="1667462" cy="1670063"/>
            </a:xfrm>
            <a:prstGeom prst="rect">
              <a:avLst/>
            </a:prstGeom>
          </p:spPr>
          <p:txBody>
            <a:bodyPr lIns="50800" tIns="50800" rIns="50800" bIns="50800" rtlCol="0" anchor="ctr"/>
            <a:lstStyle/>
            <a:p>
              <a:pPr algn="ctr">
                <a:lnSpc>
                  <a:spcPts val="2659"/>
                </a:lnSpc>
              </a:pPr>
              <a:endParaRPr/>
            </a:p>
          </p:txBody>
        </p:sp>
      </p:grpSp>
      <p:pic>
        <p:nvPicPr>
          <p:cNvPr id="20" name="Picture 20"/>
          <p:cNvPicPr>
            <a:picLocks noChangeAspect="1"/>
          </p:cNvPicPr>
          <p:nvPr/>
        </p:nvPicPr>
        <p:blipFill>
          <a:blip r:embed="rId6"/>
          <a:stretch>
            <a:fillRect/>
          </a:stretch>
        </p:blipFill>
        <p:spPr>
          <a:xfrm>
            <a:off x="5264555" y="2779207"/>
            <a:ext cx="7117601" cy="7061358"/>
          </a:xfrm>
          <a:prstGeom prst="rect">
            <a:avLst/>
          </a:prstGeom>
        </p:spPr>
      </p:pic>
      <p:sp>
        <p:nvSpPr>
          <p:cNvPr id="21" name="TextBox 21"/>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Optimasi Parameter K</a:t>
            </a:r>
          </a:p>
        </p:txBody>
      </p:sp>
      <p:sp>
        <p:nvSpPr>
          <p:cNvPr id="22" name="TextBox 22"/>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08 | Correlated Topic Model</a:t>
            </a:r>
          </a:p>
        </p:txBody>
      </p:sp>
      <p:grpSp>
        <p:nvGrpSpPr>
          <p:cNvPr id="23" name="Group 23"/>
          <p:cNvGrpSpPr/>
          <p:nvPr/>
        </p:nvGrpSpPr>
        <p:grpSpPr>
          <a:xfrm>
            <a:off x="12309225" y="4486816"/>
            <a:ext cx="4388356" cy="2915042"/>
            <a:chOff x="0" y="0"/>
            <a:chExt cx="2972266" cy="1974380"/>
          </a:xfrm>
        </p:grpSpPr>
        <p:sp>
          <p:nvSpPr>
            <p:cNvPr id="24" name="Freeform 24"/>
            <p:cNvSpPr/>
            <p:nvPr/>
          </p:nvSpPr>
          <p:spPr>
            <a:xfrm>
              <a:off x="0" y="0"/>
              <a:ext cx="2972266" cy="1974380"/>
            </a:xfrm>
            <a:custGeom>
              <a:avLst/>
              <a:gdLst/>
              <a:ahLst/>
              <a:cxnLst/>
              <a:rect l="l" t="t" r="r" b="b"/>
              <a:pathLst>
                <a:path w="2972266" h="1974380">
                  <a:moveTo>
                    <a:pt x="45869" y="0"/>
                  </a:moveTo>
                  <a:lnTo>
                    <a:pt x="2926397" y="0"/>
                  </a:lnTo>
                  <a:cubicBezTo>
                    <a:pt x="2938562" y="0"/>
                    <a:pt x="2950229" y="4833"/>
                    <a:pt x="2958831" y="13435"/>
                  </a:cubicBezTo>
                  <a:cubicBezTo>
                    <a:pt x="2967433" y="22037"/>
                    <a:pt x="2972266" y="33704"/>
                    <a:pt x="2972266" y="45869"/>
                  </a:cubicBezTo>
                  <a:lnTo>
                    <a:pt x="2972266" y="1928511"/>
                  </a:lnTo>
                  <a:cubicBezTo>
                    <a:pt x="2972266" y="1953844"/>
                    <a:pt x="2951730" y="1974380"/>
                    <a:pt x="2926397" y="1974380"/>
                  </a:cubicBezTo>
                  <a:lnTo>
                    <a:pt x="45869" y="1974380"/>
                  </a:lnTo>
                  <a:cubicBezTo>
                    <a:pt x="20536" y="1974380"/>
                    <a:pt x="0" y="1953844"/>
                    <a:pt x="0" y="1928511"/>
                  </a:cubicBezTo>
                  <a:lnTo>
                    <a:pt x="0" y="45869"/>
                  </a:lnTo>
                  <a:cubicBezTo>
                    <a:pt x="0" y="20536"/>
                    <a:pt x="20536" y="0"/>
                    <a:pt x="45869" y="0"/>
                  </a:cubicBezTo>
                  <a:close/>
                </a:path>
              </a:pathLst>
            </a:custGeom>
            <a:solidFill>
              <a:srgbClr val="FFFFFF"/>
            </a:solidFill>
            <a:ln w="38100" cap="rnd">
              <a:solidFill>
                <a:srgbClr val="FF751F"/>
              </a:solidFill>
              <a:prstDash val="solid"/>
              <a:round/>
            </a:ln>
          </p:spPr>
        </p:sp>
        <p:sp>
          <p:nvSpPr>
            <p:cNvPr id="25" name="TextBox 25"/>
            <p:cNvSpPr txBox="1"/>
            <p:nvPr/>
          </p:nvSpPr>
          <p:spPr>
            <a:xfrm>
              <a:off x="0" y="-47625"/>
              <a:ext cx="2972266" cy="2022005"/>
            </a:xfrm>
            <a:prstGeom prst="rect">
              <a:avLst/>
            </a:prstGeom>
          </p:spPr>
          <p:txBody>
            <a:bodyPr lIns="19754" tIns="19754" rIns="19754" bIns="19754" rtlCol="0" anchor="ctr"/>
            <a:lstStyle/>
            <a:p>
              <a:pPr algn="ctr">
                <a:lnSpc>
                  <a:spcPts val="2659"/>
                </a:lnSpc>
              </a:pPr>
              <a:endParaRPr/>
            </a:p>
          </p:txBody>
        </p:sp>
      </p:grpSp>
      <p:grpSp>
        <p:nvGrpSpPr>
          <p:cNvPr id="26" name="Group 26"/>
          <p:cNvGrpSpPr/>
          <p:nvPr/>
        </p:nvGrpSpPr>
        <p:grpSpPr>
          <a:xfrm>
            <a:off x="12824091" y="4729972"/>
            <a:ext cx="3420469" cy="2434764"/>
            <a:chOff x="0" y="0"/>
            <a:chExt cx="2316709" cy="1649084"/>
          </a:xfrm>
        </p:grpSpPr>
        <p:sp>
          <p:nvSpPr>
            <p:cNvPr id="27" name="Freeform 27"/>
            <p:cNvSpPr/>
            <p:nvPr/>
          </p:nvSpPr>
          <p:spPr>
            <a:xfrm>
              <a:off x="0" y="0"/>
              <a:ext cx="2316709" cy="1649084"/>
            </a:xfrm>
            <a:custGeom>
              <a:avLst/>
              <a:gdLst/>
              <a:ahLst/>
              <a:cxnLst/>
              <a:rect l="l" t="t" r="r" b="b"/>
              <a:pathLst>
                <a:path w="2316709" h="1649084">
                  <a:moveTo>
                    <a:pt x="0" y="0"/>
                  </a:moveTo>
                  <a:lnTo>
                    <a:pt x="2316709" y="0"/>
                  </a:lnTo>
                  <a:lnTo>
                    <a:pt x="2316709" y="1649084"/>
                  </a:lnTo>
                  <a:lnTo>
                    <a:pt x="0" y="1649084"/>
                  </a:lnTo>
                  <a:close/>
                </a:path>
              </a:pathLst>
            </a:custGeom>
            <a:solidFill>
              <a:srgbClr val="FF751F"/>
            </a:solidFill>
            <a:ln w="38100" cap="sq">
              <a:solidFill>
                <a:srgbClr val="FF751F"/>
              </a:solidFill>
              <a:prstDash val="solid"/>
              <a:miter/>
            </a:ln>
          </p:spPr>
        </p:sp>
        <p:sp>
          <p:nvSpPr>
            <p:cNvPr id="28" name="TextBox 28"/>
            <p:cNvSpPr txBox="1"/>
            <p:nvPr/>
          </p:nvSpPr>
          <p:spPr>
            <a:xfrm>
              <a:off x="0" y="-47625"/>
              <a:ext cx="2316709" cy="1696709"/>
            </a:xfrm>
            <a:prstGeom prst="rect">
              <a:avLst/>
            </a:prstGeom>
          </p:spPr>
          <p:txBody>
            <a:bodyPr lIns="19754" tIns="19754" rIns="19754" bIns="19754" rtlCol="0" anchor="ctr"/>
            <a:lstStyle/>
            <a:p>
              <a:pPr algn="ctr">
                <a:lnSpc>
                  <a:spcPts val="2659"/>
                </a:lnSpc>
              </a:pPr>
              <a:endParaRPr/>
            </a:p>
          </p:txBody>
        </p:sp>
      </p:grpSp>
      <p:sp>
        <p:nvSpPr>
          <p:cNvPr id="29" name="Freeform 29"/>
          <p:cNvSpPr/>
          <p:nvPr/>
        </p:nvSpPr>
        <p:spPr>
          <a:xfrm>
            <a:off x="13716000" y="3438814"/>
            <a:ext cx="882239" cy="882239"/>
          </a:xfrm>
          <a:custGeom>
            <a:avLst/>
            <a:gdLst/>
            <a:ahLst/>
            <a:cxnLst/>
            <a:rect l="l" t="t" r="r" b="b"/>
            <a:pathLst>
              <a:path w="882239" h="882239">
                <a:moveTo>
                  <a:pt x="0" y="0"/>
                </a:moveTo>
                <a:lnTo>
                  <a:pt x="882239" y="0"/>
                </a:lnTo>
                <a:lnTo>
                  <a:pt x="882239" y="882239"/>
                </a:lnTo>
                <a:lnTo>
                  <a:pt x="0" y="882239"/>
                </a:lnTo>
                <a:lnTo>
                  <a:pt x="0" y="0"/>
                </a:lnTo>
                <a:close/>
              </a:path>
            </a:pathLst>
          </a:custGeom>
          <a:blipFill>
            <a:blip>
              <a:extLst>
                <a:ext uri="{96DAC541-7B7A-43D3-8B79-37D633B846F1}">
                  <asvg:svgBlip xmlns:asvg="http://schemas.microsoft.com/office/drawing/2016/SVG/main" r:embed="rId7"/>
                </a:ext>
              </a:extLst>
            </a:blip>
            <a:stretch>
              <a:fillRect/>
            </a:stretch>
          </a:blipFill>
        </p:spPr>
      </p:sp>
      <p:sp>
        <p:nvSpPr>
          <p:cNvPr id="30" name="TextBox 30"/>
          <p:cNvSpPr txBox="1"/>
          <p:nvPr/>
        </p:nvSpPr>
        <p:spPr>
          <a:xfrm>
            <a:off x="12928115" y="5105400"/>
            <a:ext cx="3212420" cy="1888307"/>
          </a:xfrm>
          <a:prstGeom prst="rect">
            <a:avLst/>
          </a:prstGeom>
        </p:spPr>
        <p:txBody>
          <a:bodyPr lIns="0" tIns="0" rIns="0" bIns="0" rtlCol="0" anchor="t">
            <a:spAutoFit/>
          </a:bodyPr>
          <a:lstStyle/>
          <a:p>
            <a:pPr algn="ctr">
              <a:lnSpc>
                <a:spcPts val="3020"/>
              </a:lnSpc>
            </a:pPr>
            <a:r>
              <a:rPr lang="en-US" sz="2157" b="1">
                <a:solidFill>
                  <a:srgbClr val="FFFFFF"/>
                </a:solidFill>
                <a:latin typeface="Canva Sans Bold"/>
                <a:ea typeface="Canva Sans Bold"/>
                <a:cs typeface="Canva Sans Bold"/>
                <a:sym typeface="Canva Sans Bold"/>
              </a:rPr>
              <a:t>model telah mencapai kondisi konvergensi (menuju satu titik pemusatan) pada iterasi ke-100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6" name="Object 16"/>
          <p:cNvGraphicFramePr/>
          <p:nvPr/>
        </p:nvGraphicFramePr>
        <p:xfrm>
          <a:off x="1028700" y="3205137"/>
          <a:ext cx="3291840" cy="8229600"/>
        </p:xfrm>
        <a:graphic>
          <a:graphicData uri="http://schemas.openxmlformats.org/presentationml/2006/ole">
            <mc:AlternateContent xmlns:mc="http://schemas.openxmlformats.org/markup-compatibility/2006">
              <mc:Choice xmlns:v="urn:schemas-microsoft-com:vml" Requires="v">
                <p:oleObj name="Worksheet" r:id="rId4" imgW="4927600" imgH="9867900" progId="Excel.Sheet.12">
                  <p:embed/>
                </p:oleObj>
              </mc:Choice>
              <mc:Fallback>
                <p:oleObj name="Worksheet" r:id="rId4" imgW="4927600" imgH="9867900" progId="Excel.Sheet.12">
                  <p:embed/>
                  <p:pic>
                    <p:nvPicPr>
                      <p:cNvPr id="0" name=""/>
                      <p:cNvPicPr/>
                      <p:nvPr/>
                    </p:nvPicPr>
                    <p:blipFill>
                      <a:blip r:embed="rId5"/>
                      <a:stretch>
                        <a:fillRect/>
                      </a:stretch>
                    </p:blipFill>
                    <p:spPr>
                      <a:xfrm>
                        <a:off x="1028700" y="3205137"/>
                        <a:ext cx="3291840" cy="8229600"/>
                      </a:xfrm>
                      <a:prstGeom prst="rect">
                        <a:avLst/>
                      </a:prstGeom>
                    </p:spPr>
                  </p:pic>
                </p:oleObj>
              </mc:Fallback>
            </mc:AlternateContent>
          </a:graphicData>
        </a:graphic>
      </p:graphicFrame>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Hasil Topik CTM</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09 | Correlated Topic Model</a:t>
            </a:r>
          </a:p>
        </p:txBody>
      </p:sp>
      <p:sp>
        <p:nvSpPr>
          <p:cNvPr id="19" name="Freeform 19"/>
          <p:cNvSpPr/>
          <p:nvPr/>
        </p:nvSpPr>
        <p:spPr>
          <a:xfrm>
            <a:off x="6800542" y="3151433"/>
            <a:ext cx="6448822" cy="5844904"/>
          </a:xfrm>
          <a:custGeom>
            <a:avLst/>
            <a:gdLst/>
            <a:ahLst/>
            <a:cxnLst/>
            <a:rect l="l" t="t" r="r" b="b"/>
            <a:pathLst>
              <a:path w="6448822" h="5844904">
                <a:moveTo>
                  <a:pt x="0" y="0"/>
                </a:moveTo>
                <a:lnTo>
                  <a:pt x="6448822" y="0"/>
                </a:lnTo>
                <a:lnTo>
                  <a:pt x="6448822" y="5844904"/>
                </a:lnTo>
                <a:lnTo>
                  <a:pt x="0" y="5844904"/>
                </a:lnTo>
                <a:lnTo>
                  <a:pt x="0" y="0"/>
                </a:lnTo>
                <a:close/>
              </a:path>
            </a:pathLst>
          </a:custGeom>
          <a:blipFill>
            <a:blip r:embed="rId6"/>
            <a:stretch>
              <a:fillRect b="-918"/>
            </a:stretch>
          </a:blipFill>
        </p:spPr>
      </p:sp>
      <p:grpSp>
        <p:nvGrpSpPr>
          <p:cNvPr id="20" name="Group 20"/>
          <p:cNvGrpSpPr/>
          <p:nvPr/>
        </p:nvGrpSpPr>
        <p:grpSpPr>
          <a:xfrm>
            <a:off x="13354734" y="3572398"/>
            <a:ext cx="4270876" cy="5423939"/>
            <a:chOff x="0" y="0"/>
            <a:chExt cx="2892696" cy="3673674"/>
          </a:xfrm>
        </p:grpSpPr>
        <p:sp>
          <p:nvSpPr>
            <p:cNvPr id="21" name="Freeform 21"/>
            <p:cNvSpPr/>
            <p:nvPr/>
          </p:nvSpPr>
          <p:spPr>
            <a:xfrm>
              <a:off x="0" y="0"/>
              <a:ext cx="2892696" cy="3673674"/>
            </a:xfrm>
            <a:custGeom>
              <a:avLst/>
              <a:gdLst/>
              <a:ahLst/>
              <a:cxnLst/>
              <a:rect l="l" t="t" r="r" b="b"/>
              <a:pathLst>
                <a:path w="2892696" h="3673674">
                  <a:moveTo>
                    <a:pt x="47131" y="0"/>
                  </a:moveTo>
                  <a:lnTo>
                    <a:pt x="2845565" y="0"/>
                  </a:lnTo>
                  <a:cubicBezTo>
                    <a:pt x="2858065" y="0"/>
                    <a:pt x="2870053" y="4966"/>
                    <a:pt x="2878892" y="13804"/>
                  </a:cubicBezTo>
                  <a:cubicBezTo>
                    <a:pt x="2887730" y="22643"/>
                    <a:pt x="2892696" y="34631"/>
                    <a:pt x="2892696" y="47131"/>
                  </a:cubicBezTo>
                  <a:lnTo>
                    <a:pt x="2892696" y="3626543"/>
                  </a:lnTo>
                  <a:cubicBezTo>
                    <a:pt x="2892696" y="3639043"/>
                    <a:pt x="2887730" y="3651031"/>
                    <a:pt x="2878892" y="3659870"/>
                  </a:cubicBezTo>
                  <a:cubicBezTo>
                    <a:pt x="2870053" y="3668709"/>
                    <a:pt x="2858065" y="3673674"/>
                    <a:pt x="2845565" y="3673674"/>
                  </a:cubicBezTo>
                  <a:lnTo>
                    <a:pt x="47131" y="3673674"/>
                  </a:lnTo>
                  <a:cubicBezTo>
                    <a:pt x="34631" y="3673674"/>
                    <a:pt x="22643" y="3668709"/>
                    <a:pt x="13804" y="3659870"/>
                  </a:cubicBezTo>
                  <a:cubicBezTo>
                    <a:pt x="4966" y="3651031"/>
                    <a:pt x="0" y="3639043"/>
                    <a:pt x="0" y="3626543"/>
                  </a:cubicBezTo>
                  <a:lnTo>
                    <a:pt x="0" y="47131"/>
                  </a:lnTo>
                  <a:cubicBezTo>
                    <a:pt x="0" y="34631"/>
                    <a:pt x="4966" y="22643"/>
                    <a:pt x="13804" y="13804"/>
                  </a:cubicBezTo>
                  <a:cubicBezTo>
                    <a:pt x="22643" y="4966"/>
                    <a:pt x="34631" y="0"/>
                    <a:pt x="47131" y="0"/>
                  </a:cubicBezTo>
                  <a:close/>
                </a:path>
              </a:pathLst>
            </a:custGeom>
            <a:solidFill>
              <a:srgbClr val="FFFFFF"/>
            </a:solidFill>
            <a:ln w="38100" cap="rnd">
              <a:solidFill>
                <a:srgbClr val="FF751F"/>
              </a:solidFill>
              <a:prstDash val="solid"/>
              <a:round/>
            </a:ln>
          </p:spPr>
        </p:sp>
        <p:sp>
          <p:nvSpPr>
            <p:cNvPr id="22" name="TextBox 22"/>
            <p:cNvSpPr txBox="1"/>
            <p:nvPr/>
          </p:nvSpPr>
          <p:spPr>
            <a:xfrm>
              <a:off x="0" y="-47625"/>
              <a:ext cx="2892696" cy="3721299"/>
            </a:xfrm>
            <a:prstGeom prst="rect">
              <a:avLst/>
            </a:prstGeom>
          </p:spPr>
          <p:txBody>
            <a:bodyPr lIns="19754" tIns="19754" rIns="19754" bIns="19754" rtlCol="0" anchor="ctr"/>
            <a:lstStyle/>
            <a:p>
              <a:pPr algn="ctr">
                <a:lnSpc>
                  <a:spcPts val="2659"/>
                </a:lnSpc>
              </a:pPr>
              <a:endParaRPr/>
            </a:p>
          </p:txBody>
        </p:sp>
      </p:grpSp>
      <p:sp>
        <p:nvSpPr>
          <p:cNvPr id="23" name="TextBox 23"/>
          <p:cNvSpPr txBox="1"/>
          <p:nvPr/>
        </p:nvSpPr>
        <p:spPr>
          <a:xfrm>
            <a:off x="13487489" y="3839331"/>
            <a:ext cx="2098358" cy="248697"/>
          </a:xfrm>
          <a:prstGeom prst="rect">
            <a:avLst/>
          </a:prstGeom>
        </p:spPr>
        <p:txBody>
          <a:bodyPr lIns="0" tIns="0" rIns="0" bIns="0" rtlCol="0" anchor="t">
            <a:spAutoFit/>
          </a:bodyPr>
          <a:lstStyle/>
          <a:p>
            <a:pPr algn="ctr">
              <a:lnSpc>
                <a:spcPts val="2042"/>
              </a:lnSpc>
            </a:pPr>
            <a:r>
              <a:rPr lang="en-US" sz="1458" b="1">
                <a:solidFill>
                  <a:srgbClr val="000000"/>
                </a:solidFill>
                <a:latin typeface="Canva Sans Bold"/>
                <a:ea typeface="Canva Sans Bold"/>
                <a:cs typeface="Canva Sans Bold"/>
                <a:sym typeface="Canva Sans Bold"/>
              </a:rPr>
              <a:t> Topic 1 ↔ Topic 2 = 0.12</a:t>
            </a:r>
          </a:p>
        </p:txBody>
      </p:sp>
      <p:sp>
        <p:nvSpPr>
          <p:cNvPr id="24" name="TextBox 24"/>
          <p:cNvSpPr txBox="1"/>
          <p:nvPr/>
        </p:nvSpPr>
        <p:spPr>
          <a:xfrm>
            <a:off x="13665479" y="5732351"/>
            <a:ext cx="2103358" cy="248697"/>
          </a:xfrm>
          <a:prstGeom prst="rect">
            <a:avLst/>
          </a:prstGeom>
        </p:spPr>
        <p:txBody>
          <a:bodyPr lIns="0" tIns="0" rIns="0" bIns="0" rtlCol="0" anchor="t">
            <a:spAutoFit/>
          </a:bodyPr>
          <a:lstStyle/>
          <a:p>
            <a:pPr algn="ctr">
              <a:lnSpc>
                <a:spcPts val="2042"/>
              </a:lnSpc>
            </a:pPr>
            <a:r>
              <a:rPr lang="en-US" sz="1458" b="1">
                <a:solidFill>
                  <a:srgbClr val="000000"/>
                </a:solidFill>
                <a:latin typeface="Canva Sans Bold"/>
                <a:ea typeface="Canva Sans Bold"/>
                <a:cs typeface="Canva Sans Bold"/>
                <a:sym typeface="Canva Sans Bold"/>
              </a:rPr>
              <a:t>Topic 0 ↔ Topic 1 = 0.10</a:t>
            </a:r>
          </a:p>
        </p:txBody>
      </p:sp>
      <p:sp>
        <p:nvSpPr>
          <p:cNvPr id="25" name="TextBox 25"/>
          <p:cNvSpPr txBox="1"/>
          <p:nvPr/>
        </p:nvSpPr>
        <p:spPr>
          <a:xfrm>
            <a:off x="13606656" y="4187264"/>
            <a:ext cx="4018953" cy="789717"/>
          </a:xfrm>
          <a:prstGeom prst="rect">
            <a:avLst/>
          </a:prstGeom>
        </p:spPr>
        <p:txBody>
          <a:bodyPr lIns="0" tIns="0" rIns="0" bIns="0" rtlCol="0" anchor="t">
            <a:spAutoFit/>
          </a:bodyPr>
          <a:lstStyle/>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Kebenaran - Rosul</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Janji Allah - Bukti Kerasulan</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Setan - Pendusta</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Ajaran - Datang Pembuktian</a:t>
            </a:r>
          </a:p>
        </p:txBody>
      </p:sp>
      <p:sp>
        <p:nvSpPr>
          <p:cNvPr id="26" name="Freeform 26"/>
          <p:cNvSpPr/>
          <p:nvPr/>
        </p:nvSpPr>
        <p:spPr>
          <a:xfrm>
            <a:off x="13354734" y="2903515"/>
            <a:ext cx="621491" cy="621491"/>
          </a:xfrm>
          <a:custGeom>
            <a:avLst/>
            <a:gdLst/>
            <a:ahLst/>
            <a:cxnLst/>
            <a:rect l="l" t="t" r="r" b="b"/>
            <a:pathLst>
              <a:path w="621491" h="621491">
                <a:moveTo>
                  <a:pt x="0" y="0"/>
                </a:moveTo>
                <a:lnTo>
                  <a:pt x="621490" y="0"/>
                </a:lnTo>
                <a:lnTo>
                  <a:pt x="621490" y="621491"/>
                </a:lnTo>
                <a:lnTo>
                  <a:pt x="0" y="621491"/>
                </a:lnTo>
                <a:lnTo>
                  <a:pt x="0" y="0"/>
                </a:lnTo>
                <a:close/>
              </a:path>
            </a:pathLst>
          </a:custGeom>
          <a:blipFill>
            <a:blip r:embed="rId7"/>
            <a:stretch>
              <a:fillRect/>
            </a:stretch>
          </a:blipFill>
        </p:spPr>
      </p:sp>
      <p:sp>
        <p:nvSpPr>
          <p:cNvPr id="27" name="TextBox 27"/>
          <p:cNvSpPr txBox="1"/>
          <p:nvPr/>
        </p:nvSpPr>
        <p:spPr>
          <a:xfrm>
            <a:off x="14080999" y="3008373"/>
            <a:ext cx="2934799" cy="345902"/>
          </a:xfrm>
          <a:prstGeom prst="rect">
            <a:avLst/>
          </a:prstGeom>
        </p:spPr>
        <p:txBody>
          <a:bodyPr lIns="0" tIns="0" rIns="0" bIns="0" rtlCol="0" anchor="t">
            <a:spAutoFit/>
          </a:bodyPr>
          <a:lstStyle/>
          <a:p>
            <a:pPr algn="ctr">
              <a:lnSpc>
                <a:spcPts val="2742"/>
              </a:lnSpc>
            </a:pPr>
            <a:r>
              <a:rPr lang="en-US" sz="1958" b="1">
                <a:solidFill>
                  <a:srgbClr val="CF4119"/>
                </a:solidFill>
                <a:latin typeface="Canva Sans Bold"/>
                <a:ea typeface="Canva Sans Bold"/>
                <a:cs typeface="Canva Sans Bold"/>
                <a:sym typeface="Canva Sans Bold"/>
              </a:rPr>
              <a:t>CONTOH INTERPRETASI</a:t>
            </a:r>
          </a:p>
        </p:txBody>
      </p:sp>
      <p:sp>
        <p:nvSpPr>
          <p:cNvPr id="28" name="TextBox 28"/>
          <p:cNvSpPr txBox="1"/>
          <p:nvPr/>
        </p:nvSpPr>
        <p:spPr>
          <a:xfrm>
            <a:off x="13606656" y="6004692"/>
            <a:ext cx="4018953" cy="789717"/>
          </a:xfrm>
          <a:prstGeom prst="rect">
            <a:avLst/>
          </a:prstGeom>
        </p:spPr>
        <p:txBody>
          <a:bodyPr lIns="0" tIns="0" rIns="0" bIns="0" rtlCol="0" anchor="t">
            <a:spAutoFit/>
          </a:bodyPr>
          <a:lstStyle/>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Ayat - Kebenaran</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Setan - Perbuatan Dosa</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Ingat -  Ajaran Allah</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Baca dan Dengan - Ambil dari kebenaran </a:t>
            </a:r>
          </a:p>
        </p:txBody>
      </p:sp>
      <p:sp>
        <p:nvSpPr>
          <p:cNvPr id="29" name="TextBox 29"/>
          <p:cNvSpPr txBox="1"/>
          <p:nvPr/>
        </p:nvSpPr>
        <p:spPr>
          <a:xfrm>
            <a:off x="13785606" y="5021374"/>
            <a:ext cx="3661053" cy="653827"/>
          </a:xfrm>
          <a:prstGeom prst="rect">
            <a:avLst/>
          </a:prstGeom>
        </p:spPr>
        <p:txBody>
          <a:bodyPr lIns="0" tIns="0" rIns="0" bIns="0" rtlCol="0" anchor="t">
            <a:spAutoFit/>
          </a:bodyPr>
          <a:lstStyle/>
          <a:p>
            <a:pPr algn="l">
              <a:lnSpc>
                <a:spcPts val="1762"/>
              </a:lnSpc>
            </a:pPr>
            <a:r>
              <a:rPr lang="en-US" sz="1258" b="1">
                <a:solidFill>
                  <a:srgbClr val="CF4119"/>
                </a:solidFill>
                <a:latin typeface="Canva Sans Bold"/>
                <a:ea typeface="Canva Sans Bold"/>
                <a:cs typeface="Canva Sans Bold"/>
                <a:sym typeface="Canva Sans Bold"/>
              </a:rPr>
              <a:t>Ketika Al-Quran  Membahas Rosul sering juga </a:t>
            </a:r>
          </a:p>
          <a:p>
            <a:pPr algn="l">
              <a:lnSpc>
                <a:spcPts val="1762"/>
              </a:lnSpc>
            </a:pPr>
            <a:r>
              <a:rPr lang="en-US" sz="1258" b="1">
                <a:solidFill>
                  <a:srgbClr val="CF4119"/>
                </a:solidFill>
                <a:latin typeface="Canva Sans Bold"/>
                <a:ea typeface="Canva Sans Bold"/>
                <a:cs typeface="Canva Sans Bold"/>
                <a:sym typeface="Canva Sans Bold"/>
              </a:rPr>
              <a:t> dibahas Pembenaran Ajaran, Gangguan Setan, </a:t>
            </a:r>
          </a:p>
          <a:p>
            <a:pPr algn="l">
              <a:lnSpc>
                <a:spcPts val="1762"/>
              </a:lnSpc>
            </a:pPr>
            <a:r>
              <a:rPr lang="en-US" sz="1258" b="1">
                <a:solidFill>
                  <a:srgbClr val="CF4119"/>
                </a:solidFill>
                <a:latin typeface="Canva Sans Bold"/>
                <a:ea typeface="Canva Sans Bold"/>
                <a:cs typeface="Canva Sans Bold"/>
                <a:sym typeface="Canva Sans Bold"/>
              </a:rPr>
              <a:t>Pendustaan orang-orang kafi </a:t>
            </a:r>
          </a:p>
        </p:txBody>
      </p:sp>
      <p:sp>
        <p:nvSpPr>
          <p:cNvPr id="30" name="TextBox 30"/>
          <p:cNvSpPr txBox="1"/>
          <p:nvPr/>
        </p:nvSpPr>
        <p:spPr>
          <a:xfrm>
            <a:off x="13785606" y="6803934"/>
            <a:ext cx="3661053" cy="653827"/>
          </a:xfrm>
          <a:prstGeom prst="rect">
            <a:avLst/>
          </a:prstGeom>
        </p:spPr>
        <p:txBody>
          <a:bodyPr lIns="0" tIns="0" rIns="0" bIns="0" rtlCol="0" anchor="t">
            <a:spAutoFit/>
          </a:bodyPr>
          <a:lstStyle/>
          <a:p>
            <a:pPr algn="l">
              <a:lnSpc>
                <a:spcPts val="1762"/>
              </a:lnSpc>
            </a:pPr>
            <a:r>
              <a:rPr lang="en-US" sz="1258" b="1">
                <a:solidFill>
                  <a:srgbClr val="CF4119"/>
                </a:solidFill>
                <a:latin typeface="Canva Sans Bold"/>
                <a:ea typeface="Canva Sans Bold"/>
                <a:cs typeface="Canva Sans Bold"/>
                <a:sym typeface="Canva Sans Bold"/>
              </a:rPr>
              <a:t>Ayat-ayat Allah  merupakan kebenaran yang harus </a:t>
            </a:r>
          </a:p>
          <a:p>
            <a:pPr algn="l">
              <a:lnSpc>
                <a:spcPts val="1762"/>
              </a:lnSpc>
            </a:pPr>
            <a:r>
              <a:rPr lang="en-US" sz="1258" b="1">
                <a:solidFill>
                  <a:srgbClr val="CF4119"/>
                </a:solidFill>
                <a:latin typeface="Canva Sans Bold"/>
                <a:ea typeface="Canva Sans Bold"/>
                <a:cs typeface="Canva Sans Bold"/>
                <a:sym typeface="Canva Sans Bold"/>
              </a:rPr>
              <a:t>dibaca </a:t>
            </a:r>
          </a:p>
        </p:txBody>
      </p:sp>
      <p:sp>
        <p:nvSpPr>
          <p:cNvPr id="31" name="TextBox 31"/>
          <p:cNvSpPr txBox="1"/>
          <p:nvPr/>
        </p:nvSpPr>
        <p:spPr>
          <a:xfrm>
            <a:off x="13515811" y="7448235"/>
            <a:ext cx="2097286" cy="248697"/>
          </a:xfrm>
          <a:prstGeom prst="rect">
            <a:avLst/>
          </a:prstGeom>
        </p:spPr>
        <p:txBody>
          <a:bodyPr lIns="0" tIns="0" rIns="0" bIns="0" rtlCol="0" anchor="t">
            <a:spAutoFit/>
          </a:bodyPr>
          <a:lstStyle/>
          <a:p>
            <a:pPr algn="ctr">
              <a:lnSpc>
                <a:spcPts val="2042"/>
              </a:lnSpc>
            </a:pPr>
            <a:r>
              <a:rPr lang="en-US" sz="1458" b="1">
                <a:solidFill>
                  <a:srgbClr val="000000"/>
                </a:solidFill>
                <a:latin typeface="Canva Sans Bold"/>
                <a:ea typeface="Canva Sans Bold"/>
                <a:cs typeface="Canva Sans Bold"/>
                <a:sym typeface="Canva Sans Bold"/>
              </a:rPr>
              <a:t>Topic 5 ↔ Topic 3 = 0.10</a:t>
            </a:r>
          </a:p>
        </p:txBody>
      </p:sp>
      <p:sp>
        <p:nvSpPr>
          <p:cNvPr id="32" name="TextBox 32"/>
          <p:cNvSpPr txBox="1"/>
          <p:nvPr/>
        </p:nvSpPr>
        <p:spPr>
          <a:xfrm>
            <a:off x="13665479" y="7754082"/>
            <a:ext cx="4018953" cy="1189767"/>
          </a:xfrm>
          <a:prstGeom prst="rect">
            <a:avLst/>
          </a:prstGeom>
        </p:spPr>
        <p:txBody>
          <a:bodyPr lIns="0" tIns="0" rIns="0" bIns="0" rtlCol="0" anchor="t">
            <a:spAutoFit/>
          </a:bodyPr>
          <a:lstStyle/>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bumi - langit</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Hidup - mati, waktu</a:t>
            </a:r>
          </a:p>
          <a:p>
            <a:pPr marL="250182" lvl="1" indent="-125091" algn="l">
              <a:lnSpc>
                <a:spcPts val="1622"/>
              </a:lnSpc>
              <a:buFont typeface="Arial"/>
              <a:buChar char="•"/>
            </a:pPr>
            <a:r>
              <a:rPr lang="en-US" sz="1158" b="1">
                <a:solidFill>
                  <a:srgbClr val="000000"/>
                </a:solidFill>
                <a:latin typeface="Canva Sans Bold"/>
                <a:ea typeface="Canva Sans Bold"/>
                <a:cs typeface="Canva Sans Bold"/>
                <a:sym typeface="Canva Sans Bold"/>
              </a:rPr>
              <a:t>tanda kekuasaan Allah</a:t>
            </a:r>
          </a:p>
          <a:p>
            <a:pPr algn="l">
              <a:lnSpc>
                <a:spcPts val="1622"/>
              </a:lnSpc>
            </a:pPr>
            <a:r>
              <a:rPr lang="en-US" sz="1158" b="1">
                <a:solidFill>
                  <a:srgbClr val="CF4119"/>
                </a:solidFill>
                <a:latin typeface="Canva Sans Bold"/>
                <a:ea typeface="Canva Sans Bold"/>
                <a:cs typeface="Canva Sans Bold"/>
                <a:sym typeface="Canva Sans Bold"/>
              </a:rPr>
              <a:t>Menbahas Penciptaan Alam Dan kekuasaan Allah</a:t>
            </a:r>
          </a:p>
          <a:p>
            <a:pPr algn="l">
              <a:lnSpc>
                <a:spcPts val="1622"/>
              </a:lnSpc>
            </a:pPr>
            <a:endParaRPr lang="en-US" sz="1158" b="1">
              <a:solidFill>
                <a:srgbClr val="CF4119"/>
              </a:solidFill>
              <a:latin typeface="Canva Sans Bold"/>
              <a:ea typeface="Canva Sans Bold"/>
              <a:cs typeface="Canva Sans Bold"/>
              <a:sym typeface="Canva Sans Bold"/>
            </a:endParaRPr>
          </a:p>
          <a:p>
            <a:pPr algn="l">
              <a:lnSpc>
                <a:spcPts val="1622"/>
              </a:lnSpc>
            </a:pPr>
            <a:endParaRPr lang="en-US" sz="1158" b="1">
              <a:solidFill>
                <a:srgbClr val="CF4119"/>
              </a:solidFill>
              <a:latin typeface="Canva Sans Bold"/>
              <a:ea typeface="Canva Sans Bold"/>
              <a:cs typeface="Canva Sans Bold"/>
              <a:sym typeface="Canva Sans Bold"/>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6" name="Freeform 16"/>
          <p:cNvSpPr/>
          <p:nvPr/>
        </p:nvSpPr>
        <p:spPr>
          <a:xfrm>
            <a:off x="1456467" y="4000466"/>
            <a:ext cx="318524" cy="318524"/>
          </a:xfrm>
          <a:custGeom>
            <a:avLst/>
            <a:gdLst/>
            <a:ahLst/>
            <a:cxnLst/>
            <a:rect l="l" t="t" r="r" b="b"/>
            <a:pathLst>
              <a:path w="318524" h="318524">
                <a:moveTo>
                  <a:pt x="0" y="0"/>
                </a:moveTo>
                <a:lnTo>
                  <a:pt x="318525" y="0"/>
                </a:lnTo>
                <a:lnTo>
                  <a:pt x="318525" y="318524"/>
                </a:lnTo>
                <a:lnTo>
                  <a:pt x="0" y="318524"/>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Evaluasi Model</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11 | Correlated Topic Model</a:t>
            </a:r>
          </a:p>
        </p:txBody>
      </p:sp>
      <p:grpSp>
        <p:nvGrpSpPr>
          <p:cNvPr id="19" name="Group 19"/>
          <p:cNvGrpSpPr/>
          <p:nvPr/>
        </p:nvGrpSpPr>
        <p:grpSpPr>
          <a:xfrm>
            <a:off x="930705" y="2760342"/>
            <a:ext cx="3044503" cy="1643868"/>
            <a:chOff x="0" y="0"/>
            <a:chExt cx="4059338" cy="2191824"/>
          </a:xfrm>
        </p:grpSpPr>
        <p:grpSp>
          <p:nvGrpSpPr>
            <p:cNvPr id="20" name="Group 20"/>
            <p:cNvGrpSpPr/>
            <p:nvPr/>
          </p:nvGrpSpPr>
          <p:grpSpPr>
            <a:xfrm>
              <a:off x="0" y="1387472"/>
              <a:ext cx="4059338" cy="804352"/>
              <a:chOff x="0" y="0"/>
              <a:chExt cx="2062065" cy="408595"/>
            </a:xfrm>
          </p:grpSpPr>
          <p:sp>
            <p:nvSpPr>
              <p:cNvPr id="21" name="Freeform 21"/>
              <p:cNvSpPr/>
              <p:nvPr/>
            </p:nvSpPr>
            <p:spPr>
              <a:xfrm>
                <a:off x="0" y="0"/>
                <a:ext cx="2062065" cy="408595"/>
              </a:xfrm>
              <a:custGeom>
                <a:avLst/>
                <a:gdLst/>
                <a:ahLst/>
                <a:cxnLst/>
                <a:rect l="l" t="t" r="r" b="b"/>
                <a:pathLst>
                  <a:path w="2062065" h="408595">
                    <a:moveTo>
                      <a:pt x="20946" y="0"/>
                    </a:moveTo>
                    <a:lnTo>
                      <a:pt x="2041119" y="0"/>
                    </a:lnTo>
                    <a:cubicBezTo>
                      <a:pt x="2046674" y="0"/>
                      <a:pt x="2052002" y="2207"/>
                      <a:pt x="2055930" y="6135"/>
                    </a:cubicBezTo>
                    <a:cubicBezTo>
                      <a:pt x="2059858" y="10063"/>
                      <a:pt x="2062065" y="15390"/>
                      <a:pt x="2062065" y="20946"/>
                    </a:cubicBezTo>
                    <a:lnTo>
                      <a:pt x="2062065" y="387650"/>
                    </a:lnTo>
                    <a:cubicBezTo>
                      <a:pt x="2062065" y="393205"/>
                      <a:pt x="2059858" y="398532"/>
                      <a:pt x="2055930" y="402460"/>
                    </a:cubicBezTo>
                    <a:cubicBezTo>
                      <a:pt x="2052002" y="406388"/>
                      <a:pt x="2046674" y="408595"/>
                      <a:pt x="2041119" y="408595"/>
                    </a:cubicBezTo>
                    <a:lnTo>
                      <a:pt x="20946" y="408595"/>
                    </a:lnTo>
                    <a:cubicBezTo>
                      <a:pt x="9378" y="408595"/>
                      <a:pt x="0" y="399218"/>
                      <a:pt x="0" y="387650"/>
                    </a:cubicBezTo>
                    <a:lnTo>
                      <a:pt x="0" y="20946"/>
                    </a:lnTo>
                    <a:cubicBezTo>
                      <a:pt x="0" y="15390"/>
                      <a:pt x="2207" y="10063"/>
                      <a:pt x="6135" y="6135"/>
                    </a:cubicBezTo>
                    <a:cubicBezTo>
                      <a:pt x="10063" y="2207"/>
                      <a:pt x="15390" y="0"/>
                      <a:pt x="20946" y="0"/>
                    </a:cubicBezTo>
                    <a:close/>
                  </a:path>
                </a:pathLst>
              </a:custGeom>
              <a:solidFill>
                <a:srgbClr val="FFFFFF"/>
              </a:solidFill>
              <a:ln w="38100" cap="sq">
                <a:solidFill>
                  <a:srgbClr val="FF751F"/>
                </a:solidFill>
                <a:prstDash val="solid"/>
                <a:miter/>
              </a:ln>
            </p:spPr>
          </p:sp>
          <p:sp>
            <p:nvSpPr>
              <p:cNvPr id="22" name="TextBox 22"/>
              <p:cNvSpPr txBox="1"/>
              <p:nvPr/>
            </p:nvSpPr>
            <p:spPr>
              <a:xfrm>
                <a:off x="0" y="-47625"/>
                <a:ext cx="2062065" cy="456220"/>
              </a:xfrm>
              <a:prstGeom prst="rect">
                <a:avLst/>
              </a:prstGeom>
            </p:spPr>
            <p:txBody>
              <a:bodyPr lIns="21584" tIns="21584" rIns="21584" bIns="21584" rtlCol="0" anchor="ctr"/>
              <a:lstStyle/>
              <a:p>
                <a:pPr algn="ctr">
                  <a:lnSpc>
                    <a:spcPts val="2659"/>
                  </a:lnSpc>
                </a:pPr>
                <a:endParaRPr/>
              </a:p>
            </p:txBody>
          </p:sp>
        </p:grpSp>
        <p:grpSp>
          <p:nvGrpSpPr>
            <p:cNvPr id="23" name="Group 23"/>
            <p:cNvGrpSpPr/>
            <p:nvPr/>
          </p:nvGrpSpPr>
          <p:grpSpPr>
            <a:xfrm>
              <a:off x="0" y="0"/>
              <a:ext cx="4059338" cy="1591018"/>
              <a:chOff x="0" y="0"/>
              <a:chExt cx="2253126" cy="883091"/>
            </a:xfrm>
          </p:grpSpPr>
          <p:sp>
            <p:nvSpPr>
              <p:cNvPr id="24" name="Freeform 24"/>
              <p:cNvSpPr/>
              <p:nvPr/>
            </p:nvSpPr>
            <p:spPr>
              <a:xfrm>
                <a:off x="0" y="0"/>
                <a:ext cx="2253126" cy="883091"/>
              </a:xfrm>
              <a:custGeom>
                <a:avLst/>
                <a:gdLst/>
                <a:ahLst/>
                <a:cxnLst/>
                <a:rect l="l" t="t" r="r" b="b"/>
                <a:pathLst>
                  <a:path w="2253126" h="883091">
                    <a:moveTo>
                      <a:pt x="20946" y="0"/>
                    </a:moveTo>
                    <a:lnTo>
                      <a:pt x="2232180" y="0"/>
                    </a:lnTo>
                    <a:cubicBezTo>
                      <a:pt x="2237735" y="0"/>
                      <a:pt x="2243063" y="2207"/>
                      <a:pt x="2246991" y="6135"/>
                    </a:cubicBezTo>
                    <a:cubicBezTo>
                      <a:pt x="2250919" y="10063"/>
                      <a:pt x="2253126" y="15390"/>
                      <a:pt x="2253126" y="20946"/>
                    </a:cubicBezTo>
                    <a:lnTo>
                      <a:pt x="2253126" y="862145"/>
                    </a:lnTo>
                    <a:cubicBezTo>
                      <a:pt x="2253126" y="867700"/>
                      <a:pt x="2250919" y="873028"/>
                      <a:pt x="2246991" y="876956"/>
                    </a:cubicBezTo>
                    <a:cubicBezTo>
                      <a:pt x="2243063" y="880884"/>
                      <a:pt x="2237735" y="883091"/>
                      <a:pt x="2232180" y="883091"/>
                    </a:cubicBezTo>
                    <a:lnTo>
                      <a:pt x="20946" y="883091"/>
                    </a:lnTo>
                    <a:cubicBezTo>
                      <a:pt x="15390" y="883091"/>
                      <a:pt x="10063" y="880884"/>
                      <a:pt x="6135" y="876956"/>
                    </a:cubicBezTo>
                    <a:cubicBezTo>
                      <a:pt x="2207" y="873028"/>
                      <a:pt x="0" y="867700"/>
                      <a:pt x="0" y="862145"/>
                    </a:cubicBezTo>
                    <a:lnTo>
                      <a:pt x="0" y="20946"/>
                    </a:lnTo>
                    <a:cubicBezTo>
                      <a:pt x="0" y="15390"/>
                      <a:pt x="2207" y="10063"/>
                      <a:pt x="6135" y="6135"/>
                    </a:cubicBezTo>
                    <a:cubicBezTo>
                      <a:pt x="10063" y="2207"/>
                      <a:pt x="15390" y="0"/>
                      <a:pt x="20946" y="0"/>
                    </a:cubicBezTo>
                    <a:close/>
                  </a:path>
                </a:pathLst>
              </a:custGeom>
              <a:solidFill>
                <a:srgbClr val="FF751F"/>
              </a:solidFill>
              <a:ln w="38100" cap="sq">
                <a:solidFill>
                  <a:srgbClr val="FF751F"/>
                </a:solidFill>
                <a:prstDash val="solid"/>
                <a:miter/>
              </a:ln>
            </p:spPr>
          </p:sp>
          <p:sp>
            <p:nvSpPr>
              <p:cNvPr id="25" name="TextBox 25"/>
              <p:cNvSpPr txBox="1"/>
              <p:nvPr/>
            </p:nvSpPr>
            <p:spPr>
              <a:xfrm>
                <a:off x="0" y="-47625"/>
                <a:ext cx="2253126" cy="930716"/>
              </a:xfrm>
              <a:prstGeom prst="rect">
                <a:avLst/>
              </a:prstGeom>
            </p:spPr>
            <p:txBody>
              <a:bodyPr lIns="19754" tIns="19754" rIns="19754" bIns="19754" rtlCol="0" anchor="ctr"/>
              <a:lstStyle/>
              <a:p>
                <a:pPr algn="ctr">
                  <a:lnSpc>
                    <a:spcPts val="2659"/>
                  </a:lnSpc>
                </a:pPr>
                <a:endParaRPr/>
              </a:p>
            </p:txBody>
          </p:sp>
        </p:grpSp>
        <p:sp>
          <p:nvSpPr>
            <p:cNvPr id="26" name="TextBox 26"/>
            <p:cNvSpPr txBox="1"/>
            <p:nvPr/>
          </p:nvSpPr>
          <p:spPr>
            <a:xfrm>
              <a:off x="776403" y="599310"/>
              <a:ext cx="2506531" cy="782205"/>
            </a:xfrm>
            <a:prstGeom prst="rect">
              <a:avLst/>
            </a:prstGeom>
          </p:spPr>
          <p:txBody>
            <a:bodyPr lIns="0" tIns="0" rIns="0" bIns="0" rtlCol="0" anchor="t">
              <a:spAutoFit/>
            </a:bodyPr>
            <a:lstStyle/>
            <a:p>
              <a:pPr algn="ctr">
                <a:lnSpc>
                  <a:spcPts val="4954"/>
                </a:lnSpc>
              </a:pPr>
              <a:r>
                <a:rPr lang="en-US" sz="3538" b="1">
                  <a:solidFill>
                    <a:srgbClr val="1800AD"/>
                  </a:solidFill>
                  <a:latin typeface="Canva Sans Bold"/>
                  <a:ea typeface="Canva Sans Bold"/>
                  <a:cs typeface="Canva Sans Bold"/>
                  <a:sym typeface="Canva Sans Bold"/>
                </a:rPr>
                <a:t>0.517</a:t>
              </a:r>
            </a:p>
          </p:txBody>
        </p:sp>
        <p:sp>
          <p:nvSpPr>
            <p:cNvPr id="27" name="TextBox 27"/>
            <p:cNvSpPr txBox="1"/>
            <p:nvPr/>
          </p:nvSpPr>
          <p:spPr>
            <a:xfrm>
              <a:off x="1461971" y="-38100"/>
              <a:ext cx="1135396" cy="529739"/>
            </a:xfrm>
            <a:prstGeom prst="rect">
              <a:avLst/>
            </a:prstGeom>
          </p:spPr>
          <p:txBody>
            <a:bodyPr lIns="0" tIns="0" rIns="0" bIns="0" rtlCol="0" anchor="t">
              <a:spAutoFit/>
            </a:bodyPr>
            <a:lstStyle/>
            <a:p>
              <a:pPr algn="ctr">
                <a:lnSpc>
                  <a:spcPts val="3389"/>
                </a:lnSpc>
              </a:pPr>
              <a:r>
                <a:rPr lang="en-US" sz="2421" b="1">
                  <a:solidFill>
                    <a:srgbClr val="FFFFFF"/>
                  </a:solidFill>
                  <a:latin typeface="Canva Sans Bold"/>
                  <a:ea typeface="Canva Sans Bold"/>
                  <a:cs typeface="Canva Sans Bold"/>
                  <a:sym typeface="Canva Sans Bold"/>
                </a:rPr>
                <a:t>C_v</a:t>
              </a:r>
            </a:p>
          </p:txBody>
        </p:sp>
      </p:grpSp>
      <p:grpSp>
        <p:nvGrpSpPr>
          <p:cNvPr id="28" name="Group 28"/>
          <p:cNvGrpSpPr/>
          <p:nvPr/>
        </p:nvGrpSpPr>
        <p:grpSpPr>
          <a:xfrm>
            <a:off x="4343362" y="3800946"/>
            <a:ext cx="3044503" cy="603264"/>
            <a:chOff x="0" y="0"/>
            <a:chExt cx="2062065" cy="408595"/>
          </a:xfrm>
        </p:grpSpPr>
        <p:sp>
          <p:nvSpPr>
            <p:cNvPr id="29" name="Freeform 29"/>
            <p:cNvSpPr/>
            <p:nvPr/>
          </p:nvSpPr>
          <p:spPr>
            <a:xfrm>
              <a:off x="0" y="0"/>
              <a:ext cx="2062065" cy="408595"/>
            </a:xfrm>
            <a:custGeom>
              <a:avLst/>
              <a:gdLst/>
              <a:ahLst/>
              <a:cxnLst/>
              <a:rect l="l" t="t" r="r" b="b"/>
              <a:pathLst>
                <a:path w="2062065" h="408595">
                  <a:moveTo>
                    <a:pt x="22886" y="0"/>
                  </a:moveTo>
                  <a:lnTo>
                    <a:pt x="2039179" y="0"/>
                  </a:lnTo>
                  <a:cubicBezTo>
                    <a:pt x="2051818" y="0"/>
                    <a:pt x="2062065" y="10247"/>
                    <a:pt x="2062065" y="22886"/>
                  </a:cubicBezTo>
                  <a:lnTo>
                    <a:pt x="2062065" y="385709"/>
                  </a:lnTo>
                  <a:cubicBezTo>
                    <a:pt x="2062065" y="391779"/>
                    <a:pt x="2059654" y="397600"/>
                    <a:pt x="2055362" y="401892"/>
                  </a:cubicBezTo>
                  <a:cubicBezTo>
                    <a:pt x="2051070" y="406184"/>
                    <a:pt x="2045248" y="408595"/>
                    <a:pt x="2039179" y="408595"/>
                  </a:cubicBezTo>
                  <a:lnTo>
                    <a:pt x="22886" y="408595"/>
                  </a:lnTo>
                  <a:cubicBezTo>
                    <a:pt x="10247" y="408595"/>
                    <a:pt x="0" y="398349"/>
                    <a:pt x="0" y="385709"/>
                  </a:cubicBezTo>
                  <a:lnTo>
                    <a:pt x="0" y="22886"/>
                  </a:lnTo>
                  <a:cubicBezTo>
                    <a:pt x="0" y="10247"/>
                    <a:pt x="10247" y="0"/>
                    <a:pt x="22886" y="0"/>
                  </a:cubicBezTo>
                  <a:close/>
                </a:path>
              </a:pathLst>
            </a:custGeom>
            <a:solidFill>
              <a:srgbClr val="FFFFFF"/>
            </a:solidFill>
            <a:ln w="38100" cap="sq">
              <a:solidFill>
                <a:srgbClr val="FF751F"/>
              </a:solidFill>
              <a:prstDash val="solid"/>
              <a:miter/>
            </a:ln>
          </p:spPr>
        </p:sp>
        <p:sp>
          <p:nvSpPr>
            <p:cNvPr id="30" name="TextBox 30"/>
            <p:cNvSpPr txBox="1"/>
            <p:nvPr/>
          </p:nvSpPr>
          <p:spPr>
            <a:xfrm>
              <a:off x="0" y="-47625"/>
              <a:ext cx="2062065" cy="456220"/>
            </a:xfrm>
            <a:prstGeom prst="rect">
              <a:avLst/>
            </a:prstGeom>
          </p:spPr>
          <p:txBody>
            <a:bodyPr lIns="19754" tIns="19754" rIns="19754" bIns="19754" rtlCol="0" anchor="ctr"/>
            <a:lstStyle/>
            <a:p>
              <a:pPr algn="ctr">
                <a:lnSpc>
                  <a:spcPts val="2659"/>
                </a:lnSpc>
              </a:pPr>
              <a:endParaRPr/>
            </a:p>
          </p:txBody>
        </p:sp>
      </p:grpSp>
      <p:grpSp>
        <p:nvGrpSpPr>
          <p:cNvPr id="31" name="Group 31"/>
          <p:cNvGrpSpPr/>
          <p:nvPr/>
        </p:nvGrpSpPr>
        <p:grpSpPr>
          <a:xfrm>
            <a:off x="4343362" y="2760342"/>
            <a:ext cx="3044503" cy="1240124"/>
            <a:chOff x="0" y="0"/>
            <a:chExt cx="2253126" cy="917770"/>
          </a:xfrm>
        </p:grpSpPr>
        <p:sp>
          <p:nvSpPr>
            <p:cNvPr id="32" name="Freeform 32"/>
            <p:cNvSpPr/>
            <p:nvPr/>
          </p:nvSpPr>
          <p:spPr>
            <a:xfrm>
              <a:off x="0" y="0"/>
              <a:ext cx="2253126" cy="917770"/>
            </a:xfrm>
            <a:custGeom>
              <a:avLst/>
              <a:gdLst/>
              <a:ahLst/>
              <a:cxnLst/>
              <a:rect l="l" t="t" r="r" b="b"/>
              <a:pathLst>
                <a:path w="2253126" h="917770">
                  <a:moveTo>
                    <a:pt x="22886" y="0"/>
                  </a:moveTo>
                  <a:lnTo>
                    <a:pt x="2230239" y="0"/>
                  </a:lnTo>
                  <a:cubicBezTo>
                    <a:pt x="2236309" y="0"/>
                    <a:pt x="2242130" y="2411"/>
                    <a:pt x="2246422" y="6703"/>
                  </a:cubicBezTo>
                  <a:cubicBezTo>
                    <a:pt x="2250714" y="10995"/>
                    <a:pt x="2253126" y="16816"/>
                    <a:pt x="2253126" y="22886"/>
                  </a:cubicBezTo>
                  <a:lnTo>
                    <a:pt x="2253126" y="894884"/>
                  </a:lnTo>
                  <a:cubicBezTo>
                    <a:pt x="2253126" y="907524"/>
                    <a:pt x="2242879" y="917770"/>
                    <a:pt x="2230239" y="917770"/>
                  </a:cubicBezTo>
                  <a:lnTo>
                    <a:pt x="22886" y="917770"/>
                  </a:lnTo>
                  <a:cubicBezTo>
                    <a:pt x="10247" y="917770"/>
                    <a:pt x="0" y="907524"/>
                    <a:pt x="0" y="894884"/>
                  </a:cubicBezTo>
                  <a:lnTo>
                    <a:pt x="0" y="22886"/>
                  </a:lnTo>
                  <a:cubicBezTo>
                    <a:pt x="0" y="10247"/>
                    <a:pt x="10247" y="0"/>
                    <a:pt x="22886" y="0"/>
                  </a:cubicBezTo>
                  <a:close/>
                </a:path>
              </a:pathLst>
            </a:custGeom>
            <a:solidFill>
              <a:srgbClr val="FF751F"/>
            </a:solidFill>
            <a:ln w="38100" cap="sq">
              <a:solidFill>
                <a:srgbClr val="FF751F"/>
              </a:solidFill>
              <a:prstDash val="solid"/>
              <a:miter/>
            </a:ln>
          </p:spPr>
        </p:sp>
        <p:sp>
          <p:nvSpPr>
            <p:cNvPr id="33" name="TextBox 33"/>
            <p:cNvSpPr txBox="1"/>
            <p:nvPr/>
          </p:nvSpPr>
          <p:spPr>
            <a:xfrm>
              <a:off x="0" y="-47625"/>
              <a:ext cx="2253126" cy="965395"/>
            </a:xfrm>
            <a:prstGeom prst="rect">
              <a:avLst/>
            </a:prstGeom>
          </p:spPr>
          <p:txBody>
            <a:bodyPr lIns="18079" tIns="18079" rIns="18079" bIns="18079" rtlCol="0" anchor="ctr"/>
            <a:lstStyle/>
            <a:p>
              <a:pPr algn="ctr">
                <a:lnSpc>
                  <a:spcPts val="2659"/>
                </a:lnSpc>
              </a:pPr>
              <a:endParaRPr/>
            </a:p>
          </p:txBody>
        </p:sp>
      </p:grpSp>
      <p:sp>
        <p:nvSpPr>
          <p:cNvPr id="34" name="TextBox 34"/>
          <p:cNvSpPr txBox="1"/>
          <p:nvPr/>
        </p:nvSpPr>
        <p:spPr>
          <a:xfrm>
            <a:off x="5152244" y="3224029"/>
            <a:ext cx="1426740" cy="576917"/>
          </a:xfrm>
          <a:prstGeom prst="rect">
            <a:avLst/>
          </a:prstGeom>
        </p:spPr>
        <p:txBody>
          <a:bodyPr lIns="0" tIns="0" rIns="0" bIns="0" rtlCol="0" anchor="t">
            <a:spAutoFit/>
          </a:bodyPr>
          <a:lstStyle/>
          <a:p>
            <a:pPr algn="ctr">
              <a:lnSpc>
                <a:spcPts val="4798"/>
              </a:lnSpc>
            </a:pPr>
            <a:r>
              <a:rPr lang="en-US" sz="3427" b="1">
                <a:solidFill>
                  <a:srgbClr val="1800AD"/>
                </a:solidFill>
                <a:latin typeface="Canva Sans Bold"/>
                <a:ea typeface="Canva Sans Bold"/>
                <a:cs typeface="Canva Sans Bold"/>
                <a:sym typeface="Canva Sans Bold"/>
              </a:rPr>
              <a:t>-0.022</a:t>
            </a:r>
          </a:p>
        </p:txBody>
      </p:sp>
      <p:sp>
        <p:nvSpPr>
          <p:cNvPr id="35" name="TextBox 35"/>
          <p:cNvSpPr txBox="1"/>
          <p:nvPr/>
        </p:nvSpPr>
        <p:spPr>
          <a:xfrm>
            <a:off x="5330129" y="2854492"/>
            <a:ext cx="1070971" cy="388092"/>
          </a:xfrm>
          <a:prstGeom prst="rect">
            <a:avLst/>
          </a:prstGeom>
        </p:spPr>
        <p:txBody>
          <a:bodyPr lIns="0" tIns="0" rIns="0" bIns="0" rtlCol="0" anchor="t">
            <a:spAutoFit/>
          </a:bodyPr>
          <a:lstStyle/>
          <a:p>
            <a:pPr algn="ctr">
              <a:lnSpc>
                <a:spcPts val="3284"/>
              </a:lnSpc>
            </a:pPr>
            <a:r>
              <a:rPr lang="en-US" sz="2345" b="1">
                <a:solidFill>
                  <a:srgbClr val="FFFFFF"/>
                </a:solidFill>
                <a:latin typeface="Canva Sans Bold"/>
                <a:ea typeface="Canva Sans Bold"/>
                <a:cs typeface="Canva Sans Bold"/>
                <a:sym typeface="Canva Sans Bold"/>
              </a:rPr>
              <a:t>NPMI</a:t>
            </a:r>
          </a:p>
        </p:txBody>
      </p:sp>
      <p:grpSp>
        <p:nvGrpSpPr>
          <p:cNvPr id="36" name="Group 36"/>
          <p:cNvGrpSpPr/>
          <p:nvPr/>
        </p:nvGrpSpPr>
        <p:grpSpPr>
          <a:xfrm>
            <a:off x="7750718" y="2760342"/>
            <a:ext cx="3044503" cy="1240124"/>
            <a:chOff x="0" y="0"/>
            <a:chExt cx="2253126" cy="917770"/>
          </a:xfrm>
        </p:grpSpPr>
        <p:sp>
          <p:nvSpPr>
            <p:cNvPr id="37" name="Freeform 37"/>
            <p:cNvSpPr/>
            <p:nvPr/>
          </p:nvSpPr>
          <p:spPr>
            <a:xfrm>
              <a:off x="0" y="0"/>
              <a:ext cx="2253126" cy="917770"/>
            </a:xfrm>
            <a:custGeom>
              <a:avLst/>
              <a:gdLst/>
              <a:ahLst/>
              <a:cxnLst/>
              <a:rect l="l" t="t" r="r" b="b"/>
              <a:pathLst>
                <a:path w="2253126" h="917770">
                  <a:moveTo>
                    <a:pt x="22886" y="0"/>
                  </a:moveTo>
                  <a:lnTo>
                    <a:pt x="2230239" y="0"/>
                  </a:lnTo>
                  <a:cubicBezTo>
                    <a:pt x="2236309" y="0"/>
                    <a:pt x="2242130" y="2411"/>
                    <a:pt x="2246422" y="6703"/>
                  </a:cubicBezTo>
                  <a:cubicBezTo>
                    <a:pt x="2250714" y="10995"/>
                    <a:pt x="2253126" y="16816"/>
                    <a:pt x="2253126" y="22886"/>
                  </a:cubicBezTo>
                  <a:lnTo>
                    <a:pt x="2253126" y="894884"/>
                  </a:lnTo>
                  <a:cubicBezTo>
                    <a:pt x="2253126" y="907524"/>
                    <a:pt x="2242879" y="917770"/>
                    <a:pt x="2230239" y="917770"/>
                  </a:cubicBezTo>
                  <a:lnTo>
                    <a:pt x="22886" y="917770"/>
                  </a:lnTo>
                  <a:cubicBezTo>
                    <a:pt x="10247" y="917770"/>
                    <a:pt x="0" y="907524"/>
                    <a:pt x="0" y="894884"/>
                  </a:cubicBezTo>
                  <a:lnTo>
                    <a:pt x="0" y="22886"/>
                  </a:lnTo>
                  <a:cubicBezTo>
                    <a:pt x="0" y="10247"/>
                    <a:pt x="10247" y="0"/>
                    <a:pt x="22886" y="0"/>
                  </a:cubicBezTo>
                  <a:close/>
                </a:path>
              </a:pathLst>
            </a:custGeom>
            <a:solidFill>
              <a:srgbClr val="FF751F"/>
            </a:solidFill>
            <a:ln w="38100" cap="sq">
              <a:solidFill>
                <a:srgbClr val="FF751F"/>
              </a:solidFill>
              <a:prstDash val="solid"/>
              <a:miter/>
            </a:ln>
          </p:spPr>
        </p:sp>
        <p:sp>
          <p:nvSpPr>
            <p:cNvPr id="38" name="TextBox 38"/>
            <p:cNvSpPr txBox="1"/>
            <p:nvPr/>
          </p:nvSpPr>
          <p:spPr>
            <a:xfrm>
              <a:off x="0" y="-47625"/>
              <a:ext cx="2253126" cy="965395"/>
            </a:xfrm>
            <a:prstGeom prst="rect">
              <a:avLst/>
            </a:prstGeom>
          </p:spPr>
          <p:txBody>
            <a:bodyPr lIns="18079" tIns="18079" rIns="18079" bIns="18079" rtlCol="0" anchor="ctr"/>
            <a:lstStyle/>
            <a:p>
              <a:pPr algn="ctr">
                <a:lnSpc>
                  <a:spcPts val="2659"/>
                </a:lnSpc>
              </a:pPr>
              <a:endParaRPr/>
            </a:p>
          </p:txBody>
        </p:sp>
      </p:grpSp>
      <p:sp>
        <p:nvSpPr>
          <p:cNvPr id="39" name="TextBox 39"/>
          <p:cNvSpPr txBox="1"/>
          <p:nvPr/>
        </p:nvSpPr>
        <p:spPr>
          <a:xfrm>
            <a:off x="8568966" y="3185434"/>
            <a:ext cx="1426740" cy="576917"/>
          </a:xfrm>
          <a:prstGeom prst="rect">
            <a:avLst/>
          </a:prstGeom>
        </p:spPr>
        <p:txBody>
          <a:bodyPr lIns="0" tIns="0" rIns="0" bIns="0" rtlCol="0" anchor="t">
            <a:spAutoFit/>
          </a:bodyPr>
          <a:lstStyle/>
          <a:p>
            <a:pPr algn="ctr">
              <a:lnSpc>
                <a:spcPts val="4798"/>
              </a:lnSpc>
            </a:pPr>
            <a:r>
              <a:rPr lang="en-US" sz="3427" b="1">
                <a:solidFill>
                  <a:srgbClr val="1800AD"/>
                </a:solidFill>
                <a:latin typeface="Canva Sans Bold"/>
                <a:ea typeface="Canva Sans Bold"/>
                <a:cs typeface="Canva Sans Bold"/>
                <a:sym typeface="Canva Sans Bold"/>
              </a:rPr>
              <a:t>-5.066</a:t>
            </a:r>
          </a:p>
        </p:txBody>
      </p:sp>
      <p:sp>
        <p:nvSpPr>
          <p:cNvPr id="40" name="TextBox 40"/>
          <p:cNvSpPr txBox="1"/>
          <p:nvPr/>
        </p:nvSpPr>
        <p:spPr>
          <a:xfrm>
            <a:off x="1989779" y="3982945"/>
            <a:ext cx="911709" cy="336045"/>
          </a:xfrm>
          <a:prstGeom prst="rect">
            <a:avLst/>
          </a:prstGeom>
        </p:spPr>
        <p:txBody>
          <a:bodyPr lIns="0" tIns="0" rIns="0" bIns="0" rtlCol="0" anchor="t">
            <a:spAutoFit/>
          </a:bodyPr>
          <a:lstStyle/>
          <a:p>
            <a:pPr algn="ctr">
              <a:lnSpc>
                <a:spcPts val="2795"/>
              </a:lnSpc>
            </a:pPr>
            <a:r>
              <a:rPr lang="en-US" sz="1996" b="1">
                <a:solidFill>
                  <a:srgbClr val="000000"/>
                </a:solidFill>
                <a:latin typeface="Canva Sans Bold"/>
                <a:ea typeface="Canva Sans Bold"/>
                <a:cs typeface="Canva Sans Bold"/>
                <a:sym typeface="Canva Sans Bold"/>
              </a:rPr>
              <a:t>&gt; 0.5</a:t>
            </a:r>
          </a:p>
        </p:txBody>
      </p:sp>
      <p:grpSp>
        <p:nvGrpSpPr>
          <p:cNvPr id="41" name="Group 41"/>
          <p:cNvGrpSpPr/>
          <p:nvPr/>
        </p:nvGrpSpPr>
        <p:grpSpPr>
          <a:xfrm>
            <a:off x="930705" y="4546868"/>
            <a:ext cx="3105810" cy="1358020"/>
            <a:chOff x="0" y="0"/>
            <a:chExt cx="2103588" cy="919797"/>
          </a:xfrm>
        </p:grpSpPr>
        <p:sp>
          <p:nvSpPr>
            <p:cNvPr id="42" name="Freeform 42"/>
            <p:cNvSpPr/>
            <p:nvPr/>
          </p:nvSpPr>
          <p:spPr>
            <a:xfrm>
              <a:off x="0" y="0"/>
              <a:ext cx="2103588" cy="919797"/>
            </a:xfrm>
            <a:custGeom>
              <a:avLst/>
              <a:gdLst/>
              <a:ahLst/>
              <a:cxnLst/>
              <a:rect l="l" t="t" r="r" b="b"/>
              <a:pathLst>
                <a:path w="2103588" h="919797">
                  <a:moveTo>
                    <a:pt x="22434" y="0"/>
                  </a:moveTo>
                  <a:lnTo>
                    <a:pt x="2081154" y="0"/>
                  </a:lnTo>
                  <a:cubicBezTo>
                    <a:pt x="2093544" y="0"/>
                    <a:pt x="2103588" y="10044"/>
                    <a:pt x="2103588" y="22434"/>
                  </a:cubicBezTo>
                  <a:lnTo>
                    <a:pt x="2103588" y="897363"/>
                  </a:lnTo>
                  <a:cubicBezTo>
                    <a:pt x="2103588" y="909753"/>
                    <a:pt x="2093544" y="919797"/>
                    <a:pt x="2081154" y="919797"/>
                  </a:cubicBezTo>
                  <a:lnTo>
                    <a:pt x="22434" y="919797"/>
                  </a:lnTo>
                  <a:cubicBezTo>
                    <a:pt x="10044" y="919797"/>
                    <a:pt x="0" y="909753"/>
                    <a:pt x="0" y="897363"/>
                  </a:cubicBezTo>
                  <a:lnTo>
                    <a:pt x="0" y="22434"/>
                  </a:lnTo>
                  <a:cubicBezTo>
                    <a:pt x="0" y="10044"/>
                    <a:pt x="10044" y="0"/>
                    <a:pt x="22434" y="0"/>
                  </a:cubicBezTo>
                  <a:close/>
                </a:path>
              </a:pathLst>
            </a:custGeom>
            <a:solidFill>
              <a:srgbClr val="081F8C"/>
            </a:solidFill>
            <a:ln w="38100" cap="sq">
              <a:solidFill>
                <a:srgbClr val="FF751F"/>
              </a:solidFill>
              <a:prstDash val="solid"/>
              <a:miter/>
            </a:ln>
          </p:spPr>
        </p:sp>
        <p:sp>
          <p:nvSpPr>
            <p:cNvPr id="43" name="TextBox 43"/>
            <p:cNvSpPr txBox="1"/>
            <p:nvPr/>
          </p:nvSpPr>
          <p:spPr>
            <a:xfrm>
              <a:off x="0" y="-47625"/>
              <a:ext cx="2103588" cy="967422"/>
            </a:xfrm>
            <a:prstGeom prst="rect">
              <a:avLst/>
            </a:prstGeom>
          </p:spPr>
          <p:txBody>
            <a:bodyPr lIns="19754" tIns="19754" rIns="19754" bIns="19754" rtlCol="0" anchor="ctr"/>
            <a:lstStyle/>
            <a:p>
              <a:pPr algn="ctr">
                <a:lnSpc>
                  <a:spcPts val="2659"/>
                </a:lnSpc>
              </a:pPr>
              <a:endParaRPr/>
            </a:p>
          </p:txBody>
        </p:sp>
      </p:grpSp>
      <p:sp>
        <p:nvSpPr>
          <p:cNvPr id="44" name="TextBox 44"/>
          <p:cNvSpPr txBox="1"/>
          <p:nvPr/>
        </p:nvSpPr>
        <p:spPr>
          <a:xfrm>
            <a:off x="1028700" y="4703812"/>
            <a:ext cx="2689206" cy="1036320"/>
          </a:xfrm>
          <a:prstGeom prst="rect">
            <a:avLst/>
          </a:prstGeom>
        </p:spPr>
        <p:txBody>
          <a:bodyPr lIns="0" tIns="0" rIns="0" bIns="0" rtlCol="0" anchor="t">
            <a:spAutoFit/>
          </a:bodyPr>
          <a:lstStyle/>
          <a:p>
            <a:pPr algn="ctr">
              <a:lnSpc>
                <a:spcPts val="1680"/>
              </a:lnSpc>
            </a:pPr>
            <a:r>
              <a:rPr lang="en-US" sz="1200" b="1">
                <a:solidFill>
                  <a:srgbClr val="FFFFFF"/>
                </a:solidFill>
                <a:latin typeface="Canva Sans Bold"/>
                <a:ea typeface="Canva Sans Bold"/>
                <a:cs typeface="Canva Sans Bold"/>
                <a:sym typeface="Canva Sans Bold"/>
              </a:rPr>
              <a:t>koherensi topik  kategori sedang ( artinya kata-kata dalam setiap topik sudah cukup saling berkaitan secara semantik dan dapat diinterpretasikan dengan baik)</a:t>
            </a:r>
          </a:p>
        </p:txBody>
      </p:sp>
      <p:grpSp>
        <p:nvGrpSpPr>
          <p:cNvPr id="45" name="Group 45"/>
          <p:cNvGrpSpPr/>
          <p:nvPr/>
        </p:nvGrpSpPr>
        <p:grpSpPr>
          <a:xfrm>
            <a:off x="4343362" y="4546868"/>
            <a:ext cx="3105810" cy="1358020"/>
            <a:chOff x="0" y="0"/>
            <a:chExt cx="2103588" cy="919797"/>
          </a:xfrm>
        </p:grpSpPr>
        <p:sp>
          <p:nvSpPr>
            <p:cNvPr id="46" name="Freeform 46"/>
            <p:cNvSpPr/>
            <p:nvPr/>
          </p:nvSpPr>
          <p:spPr>
            <a:xfrm>
              <a:off x="0" y="0"/>
              <a:ext cx="2103588" cy="919797"/>
            </a:xfrm>
            <a:custGeom>
              <a:avLst/>
              <a:gdLst/>
              <a:ahLst/>
              <a:cxnLst/>
              <a:rect l="l" t="t" r="r" b="b"/>
              <a:pathLst>
                <a:path w="2103588" h="919797">
                  <a:moveTo>
                    <a:pt x="22434" y="0"/>
                  </a:moveTo>
                  <a:lnTo>
                    <a:pt x="2081154" y="0"/>
                  </a:lnTo>
                  <a:cubicBezTo>
                    <a:pt x="2093544" y="0"/>
                    <a:pt x="2103588" y="10044"/>
                    <a:pt x="2103588" y="22434"/>
                  </a:cubicBezTo>
                  <a:lnTo>
                    <a:pt x="2103588" y="897363"/>
                  </a:lnTo>
                  <a:cubicBezTo>
                    <a:pt x="2103588" y="909753"/>
                    <a:pt x="2093544" y="919797"/>
                    <a:pt x="2081154" y="919797"/>
                  </a:cubicBezTo>
                  <a:lnTo>
                    <a:pt x="22434" y="919797"/>
                  </a:lnTo>
                  <a:cubicBezTo>
                    <a:pt x="10044" y="919797"/>
                    <a:pt x="0" y="909753"/>
                    <a:pt x="0" y="897363"/>
                  </a:cubicBezTo>
                  <a:lnTo>
                    <a:pt x="0" y="22434"/>
                  </a:lnTo>
                  <a:cubicBezTo>
                    <a:pt x="0" y="10044"/>
                    <a:pt x="10044" y="0"/>
                    <a:pt x="22434" y="0"/>
                  </a:cubicBezTo>
                  <a:close/>
                </a:path>
              </a:pathLst>
            </a:custGeom>
            <a:solidFill>
              <a:srgbClr val="081F8C"/>
            </a:solidFill>
            <a:ln w="38100" cap="sq">
              <a:solidFill>
                <a:srgbClr val="FF751F"/>
              </a:solidFill>
              <a:prstDash val="solid"/>
              <a:miter/>
            </a:ln>
          </p:spPr>
        </p:sp>
        <p:sp>
          <p:nvSpPr>
            <p:cNvPr id="47" name="TextBox 47"/>
            <p:cNvSpPr txBox="1"/>
            <p:nvPr/>
          </p:nvSpPr>
          <p:spPr>
            <a:xfrm>
              <a:off x="0" y="-47625"/>
              <a:ext cx="2103588" cy="967422"/>
            </a:xfrm>
            <a:prstGeom prst="rect">
              <a:avLst/>
            </a:prstGeom>
          </p:spPr>
          <p:txBody>
            <a:bodyPr lIns="19754" tIns="19754" rIns="19754" bIns="19754" rtlCol="0" anchor="ctr"/>
            <a:lstStyle/>
            <a:p>
              <a:pPr algn="ctr">
                <a:lnSpc>
                  <a:spcPts val="2659"/>
                </a:lnSpc>
              </a:pPr>
              <a:endParaRPr/>
            </a:p>
          </p:txBody>
        </p:sp>
      </p:grpSp>
      <p:sp>
        <p:nvSpPr>
          <p:cNvPr id="48" name="TextBox 48"/>
          <p:cNvSpPr txBox="1"/>
          <p:nvPr/>
        </p:nvSpPr>
        <p:spPr>
          <a:xfrm>
            <a:off x="4572000" y="4703812"/>
            <a:ext cx="2689206" cy="617220"/>
          </a:xfrm>
          <a:prstGeom prst="rect">
            <a:avLst/>
          </a:prstGeom>
        </p:spPr>
        <p:txBody>
          <a:bodyPr lIns="0" tIns="0" rIns="0" bIns="0" rtlCol="0" anchor="t">
            <a:spAutoFit/>
          </a:bodyPr>
          <a:lstStyle/>
          <a:p>
            <a:pPr algn="ctr">
              <a:lnSpc>
                <a:spcPts val="1680"/>
              </a:lnSpc>
            </a:pPr>
            <a:r>
              <a:rPr lang="en-US" sz="1200" b="1">
                <a:solidFill>
                  <a:srgbClr val="FFFFFF"/>
                </a:solidFill>
                <a:latin typeface="Canva Sans Bold"/>
                <a:ea typeface="Canva Sans Bold"/>
                <a:cs typeface="Canva Sans Bold"/>
                <a:sym typeface="Canva Sans Bold"/>
              </a:rPr>
              <a:t>mendekati nol dengan nilai  negatif menunjukkan bahwa keterkaitan antar kata dalam topik relatif lemah</a:t>
            </a:r>
          </a:p>
        </p:txBody>
      </p:sp>
      <p:grpSp>
        <p:nvGrpSpPr>
          <p:cNvPr id="49" name="Group 49"/>
          <p:cNvGrpSpPr/>
          <p:nvPr/>
        </p:nvGrpSpPr>
        <p:grpSpPr>
          <a:xfrm>
            <a:off x="7750718" y="3800946"/>
            <a:ext cx="3044503" cy="603264"/>
            <a:chOff x="0" y="0"/>
            <a:chExt cx="2062065" cy="408595"/>
          </a:xfrm>
        </p:grpSpPr>
        <p:sp>
          <p:nvSpPr>
            <p:cNvPr id="50" name="Freeform 50"/>
            <p:cNvSpPr/>
            <p:nvPr/>
          </p:nvSpPr>
          <p:spPr>
            <a:xfrm>
              <a:off x="0" y="0"/>
              <a:ext cx="2062065" cy="408595"/>
            </a:xfrm>
            <a:custGeom>
              <a:avLst/>
              <a:gdLst/>
              <a:ahLst/>
              <a:cxnLst/>
              <a:rect l="l" t="t" r="r" b="b"/>
              <a:pathLst>
                <a:path w="2062065" h="408595">
                  <a:moveTo>
                    <a:pt x="22886" y="0"/>
                  </a:moveTo>
                  <a:lnTo>
                    <a:pt x="2039179" y="0"/>
                  </a:lnTo>
                  <a:cubicBezTo>
                    <a:pt x="2051818" y="0"/>
                    <a:pt x="2062065" y="10247"/>
                    <a:pt x="2062065" y="22886"/>
                  </a:cubicBezTo>
                  <a:lnTo>
                    <a:pt x="2062065" y="385709"/>
                  </a:lnTo>
                  <a:cubicBezTo>
                    <a:pt x="2062065" y="391779"/>
                    <a:pt x="2059654" y="397600"/>
                    <a:pt x="2055362" y="401892"/>
                  </a:cubicBezTo>
                  <a:cubicBezTo>
                    <a:pt x="2051070" y="406184"/>
                    <a:pt x="2045248" y="408595"/>
                    <a:pt x="2039179" y="408595"/>
                  </a:cubicBezTo>
                  <a:lnTo>
                    <a:pt x="22886" y="408595"/>
                  </a:lnTo>
                  <a:cubicBezTo>
                    <a:pt x="10247" y="408595"/>
                    <a:pt x="0" y="398349"/>
                    <a:pt x="0" y="385709"/>
                  </a:cubicBezTo>
                  <a:lnTo>
                    <a:pt x="0" y="22886"/>
                  </a:lnTo>
                  <a:cubicBezTo>
                    <a:pt x="0" y="10247"/>
                    <a:pt x="10247" y="0"/>
                    <a:pt x="22886" y="0"/>
                  </a:cubicBezTo>
                  <a:close/>
                </a:path>
              </a:pathLst>
            </a:custGeom>
            <a:solidFill>
              <a:srgbClr val="FFFFFF"/>
            </a:solidFill>
            <a:ln w="38100" cap="sq">
              <a:solidFill>
                <a:srgbClr val="FF751F"/>
              </a:solidFill>
              <a:prstDash val="solid"/>
              <a:miter/>
            </a:ln>
          </p:spPr>
        </p:sp>
        <p:sp>
          <p:nvSpPr>
            <p:cNvPr id="51" name="TextBox 51"/>
            <p:cNvSpPr txBox="1"/>
            <p:nvPr/>
          </p:nvSpPr>
          <p:spPr>
            <a:xfrm>
              <a:off x="0" y="-47625"/>
              <a:ext cx="2062065" cy="456220"/>
            </a:xfrm>
            <a:prstGeom prst="rect">
              <a:avLst/>
            </a:prstGeom>
          </p:spPr>
          <p:txBody>
            <a:bodyPr lIns="19754" tIns="19754" rIns="19754" bIns="19754" rtlCol="0" anchor="ctr"/>
            <a:lstStyle/>
            <a:p>
              <a:pPr algn="ctr">
                <a:lnSpc>
                  <a:spcPts val="2659"/>
                </a:lnSpc>
              </a:pPr>
              <a:endParaRPr/>
            </a:p>
          </p:txBody>
        </p:sp>
      </p:grpSp>
      <p:sp>
        <p:nvSpPr>
          <p:cNvPr id="52" name="TextBox 52"/>
          <p:cNvSpPr txBox="1"/>
          <p:nvPr/>
        </p:nvSpPr>
        <p:spPr>
          <a:xfrm>
            <a:off x="8740416" y="2854492"/>
            <a:ext cx="1245923" cy="388092"/>
          </a:xfrm>
          <a:prstGeom prst="rect">
            <a:avLst/>
          </a:prstGeom>
        </p:spPr>
        <p:txBody>
          <a:bodyPr lIns="0" tIns="0" rIns="0" bIns="0" rtlCol="0" anchor="t">
            <a:spAutoFit/>
          </a:bodyPr>
          <a:lstStyle/>
          <a:p>
            <a:pPr algn="ctr">
              <a:lnSpc>
                <a:spcPts val="3284"/>
              </a:lnSpc>
            </a:pPr>
            <a:r>
              <a:rPr lang="en-US" sz="2345" b="1">
                <a:solidFill>
                  <a:srgbClr val="FFFFFF"/>
                </a:solidFill>
                <a:latin typeface="Canva Sans Bold"/>
                <a:ea typeface="Canva Sans Bold"/>
                <a:cs typeface="Canva Sans Bold"/>
                <a:sym typeface="Canva Sans Bold"/>
              </a:rPr>
              <a:t>UMASS</a:t>
            </a:r>
          </a:p>
        </p:txBody>
      </p:sp>
      <p:grpSp>
        <p:nvGrpSpPr>
          <p:cNvPr id="53" name="Group 53"/>
          <p:cNvGrpSpPr/>
          <p:nvPr/>
        </p:nvGrpSpPr>
        <p:grpSpPr>
          <a:xfrm>
            <a:off x="11050132" y="2760342"/>
            <a:ext cx="3044503" cy="1240124"/>
            <a:chOff x="0" y="0"/>
            <a:chExt cx="2253126" cy="917770"/>
          </a:xfrm>
        </p:grpSpPr>
        <p:sp>
          <p:nvSpPr>
            <p:cNvPr id="54" name="Freeform 54"/>
            <p:cNvSpPr/>
            <p:nvPr/>
          </p:nvSpPr>
          <p:spPr>
            <a:xfrm>
              <a:off x="0" y="0"/>
              <a:ext cx="2253126" cy="917770"/>
            </a:xfrm>
            <a:custGeom>
              <a:avLst/>
              <a:gdLst/>
              <a:ahLst/>
              <a:cxnLst/>
              <a:rect l="l" t="t" r="r" b="b"/>
              <a:pathLst>
                <a:path w="2253126" h="917770">
                  <a:moveTo>
                    <a:pt x="22886" y="0"/>
                  </a:moveTo>
                  <a:lnTo>
                    <a:pt x="2230239" y="0"/>
                  </a:lnTo>
                  <a:cubicBezTo>
                    <a:pt x="2236309" y="0"/>
                    <a:pt x="2242130" y="2411"/>
                    <a:pt x="2246422" y="6703"/>
                  </a:cubicBezTo>
                  <a:cubicBezTo>
                    <a:pt x="2250714" y="10995"/>
                    <a:pt x="2253126" y="16816"/>
                    <a:pt x="2253126" y="22886"/>
                  </a:cubicBezTo>
                  <a:lnTo>
                    <a:pt x="2253126" y="894884"/>
                  </a:lnTo>
                  <a:cubicBezTo>
                    <a:pt x="2253126" y="907524"/>
                    <a:pt x="2242879" y="917770"/>
                    <a:pt x="2230239" y="917770"/>
                  </a:cubicBezTo>
                  <a:lnTo>
                    <a:pt x="22886" y="917770"/>
                  </a:lnTo>
                  <a:cubicBezTo>
                    <a:pt x="10247" y="917770"/>
                    <a:pt x="0" y="907524"/>
                    <a:pt x="0" y="894884"/>
                  </a:cubicBezTo>
                  <a:lnTo>
                    <a:pt x="0" y="22886"/>
                  </a:lnTo>
                  <a:cubicBezTo>
                    <a:pt x="0" y="10247"/>
                    <a:pt x="10247" y="0"/>
                    <a:pt x="22886" y="0"/>
                  </a:cubicBezTo>
                  <a:close/>
                </a:path>
              </a:pathLst>
            </a:custGeom>
            <a:solidFill>
              <a:srgbClr val="FF751F"/>
            </a:solidFill>
            <a:ln w="38100" cap="sq">
              <a:solidFill>
                <a:srgbClr val="FF751F"/>
              </a:solidFill>
              <a:prstDash val="solid"/>
              <a:miter/>
            </a:ln>
          </p:spPr>
        </p:sp>
        <p:sp>
          <p:nvSpPr>
            <p:cNvPr id="55" name="TextBox 55"/>
            <p:cNvSpPr txBox="1"/>
            <p:nvPr/>
          </p:nvSpPr>
          <p:spPr>
            <a:xfrm>
              <a:off x="0" y="-47625"/>
              <a:ext cx="2253126" cy="965395"/>
            </a:xfrm>
            <a:prstGeom prst="rect">
              <a:avLst/>
            </a:prstGeom>
          </p:spPr>
          <p:txBody>
            <a:bodyPr lIns="18079" tIns="18079" rIns="18079" bIns="18079" rtlCol="0" anchor="ctr"/>
            <a:lstStyle/>
            <a:p>
              <a:pPr algn="ctr">
                <a:lnSpc>
                  <a:spcPts val="2659"/>
                </a:lnSpc>
              </a:pPr>
              <a:endParaRPr/>
            </a:p>
          </p:txBody>
        </p:sp>
      </p:grpSp>
      <p:grpSp>
        <p:nvGrpSpPr>
          <p:cNvPr id="56" name="Group 56"/>
          <p:cNvGrpSpPr/>
          <p:nvPr/>
        </p:nvGrpSpPr>
        <p:grpSpPr>
          <a:xfrm>
            <a:off x="11050132" y="3800946"/>
            <a:ext cx="3044503" cy="603264"/>
            <a:chOff x="0" y="0"/>
            <a:chExt cx="2062065" cy="408595"/>
          </a:xfrm>
        </p:grpSpPr>
        <p:sp>
          <p:nvSpPr>
            <p:cNvPr id="57" name="Freeform 57"/>
            <p:cNvSpPr/>
            <p:nvPr/>
          </p:nvSpPr>
          <p:spPr>
            <a:xfrm>
              <a:off x="0" y="0"/>
              <a:ext cx="2062065" cy="408595"/>
            </a:xfrm>
            <a:custGeom>
              <a:avLst/>
              <a:gdLst/>
              <a:ahLst/>
              <a:cxnLst/>
              <a:rect l="l" t="t" r="r" b="b"/>
              <a:pathLst>
                <a:path w="2062065" h="408595">
                  <a:moveTo>
                    <a:pt x="22886" y="0"/>
                  </a:moveTo>
                  <a:lnTo>
                    <a:pt x="2039179" y="0"/>
                  </a:lnTo>
                  <a:cubicBezTo>
                    <a:pt x="2051818" y="0"/>
                    <a:pt x="2062065" y="10247"/>
                    <a:pt x="2062065" y="22886"/>
                  </a:cubicBezTo>
                  <a:lnTo>
                    <a:pt x="2062065" y="385709"/>
                  </a:lnTo>
                  <a:cubicBezTo>
                    <a:pt x="2062065" y="391779"/>
                    <a:pt x="2059654" y="397600"/>
                    <a:pt x="2055362" y="401892"/>
                  </a:cubicBezTo>
                  <a:cubicBezTo>
                    <a:pt x="2051070" y="406184"/>
                    <a:pt x="2045248" y="408595"/>
                    <a:pt x="2039179" y="408595"/>
                  </a:cubicBezTo>
                  <a:lnTo>
                    <a:pt x="22886" y="408595"/>
                  </a:lnTo>
                  <a:cubicBezTo>
                    <a:pt x="10247" y="408595"/>
                    <a:pt x="0" y="398349"/>
                    <a:pt x="0" y="385709"/>
                  </a:cubicBezTo>
                  <a:lnTo>
                    <a:pt x="0" y="22886"/>
                  </a:lnTo>
                  <a:cubicBezTo>
                    <a:pt x="0" y="10247"/>
                    <a:pt x="10247" y="0"/>
                    <a:pt x="22886" y="0"/>
                  </a:cubicBezTo>
                  <a:close/>
                </a:path>
              </a:pathLst>
            </a:custGeom>
            <a:solidFill>
              <a:srgbClr val="FFFFFF"/>
            </a:solidFill>
            <a:ln w="38100" cap="sq">
              <a:solidFill>
                <a:srgbClr val="FF751F"/>
              </a:solidFill>
              <a:prstDash val="solid"/>
              <a:miter/>
            </a:ln>
          </p:spPr>
        </p:sp>
        <p:sp>
          <p:nvSpPr>
            <p:cNvPr id="58" name="TextBox 58"/>
            <p:cNvSpPr txBox="1"/>
            <p:nvPr/>
          </p:nvSpPr>
          <p:spPr>
            <a:xfrm>
              <a:off x="0" y="-47625"/>
              <a:ext cx="2062065" cy="456220"/>
            </a:xfrm>
            <a:prstGeom prst="rect">
              <a:avLst/>
            </a:prstGeom>
          </p:spPr>
          <p:txBody>
            <a:bodyPr lIns="19754" tIns="19754" rIns="19754" bIns="19754" rtlCol="0" anchor="ctr"/>
            <a:lstStyle/>
            <a:p>
              <a:pPr algn="ctr">
                <a:lnSpc>
                  <a:spcPts val="2659"/>
                </a:lnSpc>
              </a:pPr>
              <a:endParaRPr/>
            </a:p>
          </p:txBody>
        </p:sp>
      </p:grpSp>
      <p:sp>
        <p:nvSpPr>
          <p:cNvPr id="59" name="TextBox 59"/>
          <p:cNvSpPr txBox="1"/>
          <p:nvPr/>
        </p:nvSpPr>
        <p:spPr>
          <a:xfrm>
            <a:off x="12039830" y="2854492"/>
            <a:ext cx="1245923" cy="388092"/>
          </a:xfrm>
          <a:prstGeom prst="rect">
            <a:avLst/>
          </a:prstGeom>
        </p:spPr>
        <p:txBody>
          <a:bodyPr lIns="0" tIns="0" rIns="0" bIns="0" rtlCol="0" anchor="t">
            <a:spAutoFit/>
          </a:bodyPr>
          <a:lstStyle/>
          <a:p>
            <a:pPr algn="ctr">
              <a:lnSpc>
                <a:spcPts val="3284"/>
              </a:lnSpc>
            </a:pPr>
            <a:r>
              <a:rPr lang="en-US" sz="2345" b="1">
                <a:solidFill>
                  <a:srgbClr val="FFFFFF"/>
                </a:solidFill>
                <a:latin typeface="Canva Sans Bold"/>
                <a:ea typeface="Canva Sans Bold"/>
                <a:cs typeface="Canva Sans Bold"/>
                <a:sym typeface="Canva Sans Bold"/>
              </a:rPr>
              <a:t>UCl</a:t>
            </a:r>
          </a:p>
        </p:txBody>
      </p:sp>
      <p:sp>
        <p:nvSpPr>
          <p:cNvPr id="60" name="TextBox 60"/>
          <p:cNvSpPr txBox="1"/>
          <p:nvPr/>
        </p:nvSpPr>
        <p:spPr>
          <a:xfrm>
            <a:off x="11774910" y="3204731"/>
            <a:ext cx="1426740" cy="576917"/>
          </a:xfrm>
          <a:prstGeom prst="rect">
            <a:avLst/>
          </a:prstGeom>
        </p:spPr>
        <p:txBody>
          <a:bodyPr lIns="0" tIns="0" rIns="0" bIns="0" rtlCol="0" anchor="t">
            <a:spAutoFit/>
          </a:bodyPr>
          <a:lstStyle/>
          <a:p>
            <a:pPr algn="ctr">
              <a:lnSpc>
                <a:spcPts val="4798"/>
              </a:lnSpc>
            </a:pPr>
            <a:r>
              <a:rPr lang="en-US" sz="3427" b="1">
                <a:solidFill>
                  <a:srgbClr val="1800AD"/>
                </a:solidFill>
                <a:latin typeface="Canva Sans Bold"/>
                <a:ea typeface="Canva Sans Bold"/>
                <a:cs typeface="Canva Sans Bold"/>
                <a:sym typeface="Canva Sans Bold"/>
              </a:rPr>
              <a:t>-2.137</a:t>
            </a:r>
          </a:p>
        </p:txBody>
      </p:sp>
      <p:grpSp>
        <p:nvGrpSpPr>
          <p:cNvPr id="61" name="Group 61"/>
          <p:cNvGrpSpPr/>
          <p:nvPr/>
        </p:nvGrpSpPr>
        <p:grpSpPr>
          <a:xfrm>
            <a:off x="14252600" y="2760342"/>
            <a:ext cx="3044503" cy="1240124"/>
            <a:chOff x="0" y="0"/>
            <a:chExt cx="2253126" cy="917770"/>
          </a:xfrm>
        </p:grpSpPr>
        <p:sp>
          <p:nvSpPr>
            <p:cNvPr id="62" name="Freeform 62"/>
            <p:cNvSpPr/>
            <p:nvPr/>
          </p:nvSpPr>
          <p:spPr>
            <a:xfrm>
              <a:off x="0" y="0"/>
              <a:ext cx="2253126" cy="917770"/>
            </a:xfrm>
            <a:custGeom>
              <a:avLst/>
              <a:gdLst/>
              <a:ahLst/>
              <a:cxnLst/>
              <a:rect l="l" t="t" r="r" b="b"/>
              <a:pathLst>
                <a:path w="2253126" h="917770">
                  <a:moveTo>
                    <a:pt x="22886" y="0"/>
                  </a:moveTo>
                  <a:lnTo>
                    <a:pt x="2230239" y="0"/>
                  </a:lnTo>
                  <a:cubicBezTo>
                    <a:pt x="2236309" y="0"/>
                    <a:pt x="2242130" y="2411"/>
                    <a:pt x="2246422" y="6703"/>
                  </a:cubicBezTo>
                  <a:cubicBezTo>
                    <a:pt x="2250714" y="10995"/>
                    <a:pt x="2253126" y="16816"/>
                    <a:pt x="2253126" y="22886"/>
                  </a:cubicBezTo>
                  <a:lnTo>
                    <a:pt x="2253126" y="894884"/>
                  </a:lnTo>
                  <a:cubicBezTo>
                    <a:pt x="2253126" y="907524"/>
                    <a:pt x="2242879" y="917770"/>
                    <a:pt x="2230239" y="917770"/>
                  </a:cubicBezTo>
                  <a:lnTo>
                    <a:pt x="22886" y="917770"/>
                  </a:lnTo>
                  <a:cubicBezTo>
                    <a:pt x="10247" y="917770"/>
                    <a:pt x="0" y="907524"/>
                    <a:pt x="0" y="894884"/>
                  </a:cubicBezTo>
                  <a:lnTo>
                    <a:pt x="0" y="22886"/>
                  </a:lnTo>
                  <a:cubicBezTo>
                    <a:pt x="0" y="10247"/>
                    <a:pt x="10247" y="0"/>
                    <a:pt x="22886" y="0"/>
                  </a:cubicBezTo>
                  <a:close/>
                </a:path>
              </a:pathLst>
            </a:custGeom>
            <a:solidFill>
              <a:srgbClr val="FF751F"/>
            </a:solidFill>
            <a:ln w="38100" cap="sq">
              <a:solidFill>
                <a:srgbClr val="FF751F"/>
              </a:solidFill>
              <a:prstDash val="solid"/>
              <a:miter/>
            </a:ln>
          </p:spPr>
        </p:sp>
        <p:sp>
          <p:nvSpPr>
            <p:cNvPr id="63" name="TextBox 63"/>
            <p:cNvSpPr txBox="1"/>
            <p:nvPr/>
          </p:nvSpPr>
          <p:spPr>
            <a:xfrm>
              <a:off x="0" y="-47625"/>
              <a:ext cx="2253126" cy="965395"/>
            </a:xfrm>
            <a:prstGeom prst="rect">
              <a:avLst/>
            </a:prstGeom>
          </p:spPr>
          <p:txBody>
            <a:bodyPr lIns="18079" tIns="18079" rIns="18079" bIns="18079" rtlCol="0" anchor="ctr"/>
            <a:lstStyle/>
            <a:p>
              <a:pPr algn="ctr">
                <a:lnSpc>
                  <a:spcPts val="2659"/>
                </a:lnSpc>
              </a:pPr>
              <a:endParaRPr/>
            </a:p>
          </p:txBody>
        </p:sp>
      </p:grpSp>
      <p:grpSp>
        <p:nvGrpSpPr>
          <p:cNvPr id="64" name="Group 64"/>
          <p:cNvGrpSpPr/>
          <p:nvPr/>
        </p:nvGrpSpPr>
        <p:grpSpPr>
          <a:xfrm>
            <a:off x="14252600" y="3800946"/>
            <a:ext cx="3044503" cy="603264"/>
            <a:chOff x="0" y="0"/>
            <a:chExt cx="2062065" cy="408595"/>
          </a:xfrm>
        </p:grpSpPr>
        <p:sp>
          <p:nvSpPr>
            <p:cNvPr id="65" name="Freeform 65"/>
            <p:cNvSpPr/>
            <p:nvPr/>
          </p:nvSpPr>
          <p:spPr>
            <a:xfrm>
              <a:off x="0" y="0"/>
              <a:ext cx="2062065" cy="408595"/>
            </a:xfrm>
            <a:custGeom>
              <a:avLst/>
              <a:gdLst/>
              <a:ahLst/>
              <a:cxnLst/>
              <a:rect l="l" t="t" r="r" b="b"/>
              <a:pathLst>
                <a:path w="2062065" h="408595">
                  <a:moveTo>
                    <a:pt x="22886" y="0"/>
                  </a:moveTo>
                  <a:lnTo>
                    <a:pt x="2039179" y="0"/>
                  </a:lnTo>
                  <a:cubicBezTo>
                    <a:pt x="2051818" y="0"/>
                    <a:pt x="2062065" y="10247"/>
                    <a:pt x="2062065" y="22886"/>
                  </a:cubicBezTo>
                  <a:lnTo>
                    <a:pt x="2062065" y="385709"/>
                  </a:lnTo>
                  <a:cubicBezTo>
                    <a:pt x="2062065" y="391779"/>
                    <a:pt x="2059654" y="397600"/>
                    <a:pt x="2055362" y="401892"/>
                  </a:cubicBezTo>
                  <a:cubicBezTo>
                    <a:pt x="2051070" y="406184"/>
                    <a:pt x="2045248" y="408595"/>
                    <a:pt x="2039179" y="408595"/>
                  </a:cubicBezTo>
                  <a:lnTo>
                    <a:pt x="22886" y="408595"/>
                  </a:lnTo>
                  <a:cubicBezTo>
                    <a:pt x="10247" y="408595"/>
                    <a:pt x="0" y="398349"/>
                    <a:pt x="0" y="385709"/>
                  </a:cubicBezTo>
                  <a:lnTo>
                    <a:pt x="0" y="22886"/>
                  </a:lnTo>
                  <a:cubicBezTo>
                    <a:pt x="0" y="10247"/>
                    <a:pt x="10247" y="0"/>
                    <a:pt x="22886" y="0"/>
                  </a:cubicBezTo>
                  <a:close/>
                </a:path>
              </a:pathLst>
            </a:custGeom>
            <a:solidFill>
              <a:srgbClr val="FFFFFF"/>
            </a:solidFill>
            <a:ln w="38100" cap="sq">
              <a:solidFill>
                <a:srgbClr val="FF751F"/>
              </a:solidFill>
              <a:prstDash val="solid"/>
              <a:miter/>
            </a:ln>
          </p:spPr>
        </p:sp>
        <p:sp>
          <p:nvSpPr>
            <p:cNvPr id="66" name="TextBox 66"/>
            <p:cNvSpPr txBox="1"/>
            <p:nvPr/>
          </p:nvSpPr>
          <p:spPr>
            <a:xfrm>
              <a:off x="0" y="-47625"/>
              <a:ext cx="2062065" cy="456220"/>
            </a:xfrm>
            <a:prstGeom prst="rect">
              <a:avLst/>
            </a:prstGeom>
          </p:spPr>
          <p:txBody>
            <a:bodyPr lIns="19754" tIns="19754" rIns="19754" bIns="19754" rtlCol="0" anchor="ctr"/>
            <a:lstStyle/>
            <a:p>
              <a:pPr algn="ctr">
                <a:lnSpc>
                  <a:spcPts val="2659"/>
                </a:lnSpc>
              </a:pPr>
              <a:endParaRPr/>
            </a:p>
          </p:txBody>
        </p:sp>
      </p:grpSp>
      <p:sp>
        <p:nvSpPr>
          <p:cNvPr id="67" name="TextBox 67"/>
          <p:cNvSpPr txBox="1"/>
          <p:nvPr/>
        </p:nvSpPr>
        <p:spPr>
          <a:xfrm>
            <a:off x="15001084" y="2853989"/>
            <a:ext cx="1909168" cy="388092"/>
          </a:xfrm>
          <a:prstGeom prst="rect">
            <a:avLst/>
          </a:prstGeom>
        </p:spPr>
        <p:txBody>
          <a:bodyPr lIns="0" tIns="0" rIns="0" bIns="0" rtlCol="0" anchor="t">
            <a:spAutoFit/>
          </a:bodyPr>
          <a:lstStyle/>
          <a:p>
            <a:pPr algn="ctr">
              <a:lnSpc>
                <a:spcPts val="3284"/>
              </a:lnSpc>
            </a:pPr>
            <a:r>
              <a:rPr lang="en-US" sz="2345" b="1">
                <a:solidFill>
                  <a:srgbClr val="FFFFFF"/>
                </a:solidFill>
                <a:latin typeface="Canva Sans Bold"/>
                <a:ea typeface="Canva Sans Bold"/>
                <a:cs typeface="Canva Sans Bold"/>
                <a:sym typeface="Canva Sans Bold"/>
              </a:rPr>
              <a:t>Perplexity</a:t>
            </a:r>
          </a:p>
        </p:txBody>
      </p:sp>
      <p:sp>
        <p:nvSpPr>
          <p:cNvPr id="68" name="TextBox 68"/>
          <p:cNvSpPr txBox="1"/>
          <p:nvPr/>
        </p:nvSpPr>
        <p:spPr>
          <a:xfrm>
            <a:off x="15242298" y="3261131"/>
            <a:ext cx="1426740" cy="464118"/>
          </a:xfrm>
          <a:prstGeom prst="rect">
            <a:avLst/>
          </a:prstGeom>
        </p:spPr>
        <p:txBody>
          <a:bodyPr lIns="0" tIns="0" rIns="0" bIns="0" rtlCol="0" anchor="t">
            <a:spAutoFit/>
          </a:bodyPr>
          <a:lstStyle/>
          <a:p>
            <a:pPr algn="ctr">
              <a:lnSpc>
                <a:spcPts val="3818"/>
              </a:lnSpc>
            </a:pPr>
            <a:r>
              <a:rPr lang="en-US" sz="2727" b="1">
                <a:solidFill>
                  <a:srgbClr val="1800AD"/>
                </a:solidFill>
                <a:latin typeface="Canva Sans Bold"/>
                <a:ea typeface="Canva Sans Bold"/>
                <a:cs typeface="Canva Sans Bold"/>
                <a:sym typeface="Canva Sans Bold"/>
              </a:rPr>
              <a:t>1720.28</a:t>
            </a:r>
          </a:p>
        </p:txBody>
      </p:sp>
      <p:grpSp>
        <p:nvGrpSpPr>
          <p:cNvPr id="69" name="Group 69"/>
          <p:cNvGrpSpPr/>
          <p:nvPr/>
        </p:nvGrpSpPr>
        <p:grpSpPr>
          <a:xfrm>
            <a:off x="7810473" y="4546868"/>
            <a:ext cx="6284162" cy="1358020"/>
            <a:chOff x="0" y="0"/>
            <a:chExt cx="4256310" cy="919797"/>
          </a:xfrm>
        </p:grpSpPr>
        <p:sp>
          <p:nvSpPr>
            <p:cNvPr id="70" name="Freeform 70"/>
            <p:cNvSpPr/>
            <p:nvPr/>
          </p:nvSpPr>
          <p:spPr>
            <a:xfrm>
              <a:off x="0" y="0"/>
              <a:ext cx="4256310" cy="919797"/>
            </a:xfrm>
            <a:custGeom>
              <a:avLst/>
              <a:gdLst/>
              <a:ahLst/>
              <a:cxnLst/>
              <a:rect l="l" t="t" r="r" b="b"/>
              <a:pathLst>
                <a:path w="4256310" h="919797">
                  <a:moveTo>
                    <a:pt x="11088" y="0"/>
                  </a:moveTo>
                  <a:lnTo>
                    <a:pt x="4245222" y="0"/>
                  </a:lnTo>
                  <a:cubicBezTo>
                    <a:pt x="4248163" y="0"/>
                    <a:pt x="4250983" y="1168"/>
                    <a:pt x="4253062" y="3248"/>
                  </a:cubicBezTo>
                  <a:cubicBezTo>
                    <a:pt x="4255142" y="5327"/>
                    <a:pt x="4256310" y="8147"/>
                    <a:pt x="4256310" y="11088"/>
                  </a:cubicBezTo>
                  <a:lnTo>
                    <a:pt x="4256310" y="908709"/>
                  </a:lnTo>
                  <a:cubicBezTo>
                    <a:pt x="4256310" y="914833"/>
                    <a:pt x="4251346" y="919797"/>
                    <a:pt x="4245222" y="919797"/>
                  </a:cubicBezTo>
                  <a:lnTo>
                    <a:pt x="11088" y="919797"/>
                  </a:lnTo>
                  <a:cubicBezTo>
                    <a:pt x="8147" y="919797"/>
                    <a:pt x="5327" y="918629"/>
                    <a:pt x="3248" y="916550"/>
                  </a:cubicBezTo>
                  <a:cubicBezTo>
                    <a:pt x="1168" y="914470"/>
                    <a:pt x="0" y="911650"/>
                    <a:pt x="0" y="908709"/>
                  </a:cubicBezTo>
                  <a:lnTo>
                    <a:pt x="0" y="11088"/>
                  </a:lnTo>
                  <a:cubicBezTo>
                    <a:pt x="0" y="8147"/>
                    <a:pt x="1168" y="5327"/>
                    <a:pt x="3248" y="3248"/>
                  </a:cubicBezTo>
                  <a:cubicBezTo>
                    <a:pt x="5327" y="1168"/>
                    <a:pt x="8147" y="0"/>
                    <a:pt x="11088" y="0"/>
                  </a:cubicBezTo>
                  <a:close/>
                </a:path>
              </a:pathLst>
            </a:custGeom>
            <a:solidFill>
              <a:srgbClr val="081F8C"/>
            </a:solidFill>
            <a:ln w="38100" cap="sq">
              <a:solidFill>
                <a:srgbClr val="FF751F"/>
              </a:solidFill>
              <a:prstDash val="solid"/>
              <a:miter/>
            </a:ln>
          </p:spPr>
        </p:sp>
        <p:sp>
          <p:nvSpPr>
            <p:cNvPr id="71" name="TextBox 71"/>
            <p:cNvSpPr txBox="1"/>
            <p:nvPr/>
          </p:nvSpPr>
          <p:spPr>
            <a:xfrm>
              <a:off x="0" y="-47625"/>
              <a:ext cx="4256310" cy="967422"/>
            </a:xfrm>
            <a:prstGeom prst="rect">
              <a:avLst/>
            </a:prstGeom>
          </p:spPr>
          <p:txBody>
            <a:bodyPr lIns="19754" tIns="19754" rIns="19754" bIns="19754" rtlCol="0" anchor="ctr"/>
            <a:lstStyle/>
            <a:p>
              <a:pPr algn="ctr">
                <a:lnSpc>
                  <a:spcPts val="2659"/>
                </a:lnSpc>
              </a:pPr>
              <a:endParaRPr/>
            </a:p>
          </p:txBody>
        </p:sp>
      </p:grpSp>
      <p:sp>
        <p:nvSpPr>
          <p:cNvPr id="72" name="TextBox 72"/>
          <p:cNvSpPr txBox="1"/>
          <p:nvPr/>
        </p:nvSpPr>
        <p:spPr>
          <a:xfrm>
            <a:off x="7982572" y="4703812"/>
            <a:ext cx="5881378" cy="826770"/>
          </a:xfrm>
          <a:prstGeom prst="rect">
            <a:avLst/>
          </a:prstGeom>
        </p:spPr>
        <p:txBody>
          <a:bodyPr lIns="0" tIns="0" rIns="0" bIns="0" rtlCol="0" anchor="t">
            <a:spAutoFit/>
          </a:bodyPr>
          <a:lstStyle/>
          <a:p>
            <a:pPr algn="ctr">
              <a:lnSpc>
                <a:spcPts val="1680"/>
              </a:lnSpc>
            </a:pPr>
            <a:r>
              <a:rPr lang="en-US" sz="1200" b="1">
                <a:solidFill>
                  <a:srgbClr val="FFFFFF"/>
                </a:solidFill>
                <a:latin typeface="Canva Sans Bold"/>
                <a:ea typeface="Canva Sans Bold"/>
                <a:cs typeface="Canva Sans Bold"/>
                <a:sym typeface="Canva Sans Bold"/>
              </a:rPr>
              <a:t>UMass  dan UCI  keduanya bernilai negatif dan mengindikasikan bahwa dari perspektif probabilistik berbasis corpus, hubungan antar kata dalam topik masih kurang kuat atau kurang konsisten muncul bersama dalam dokumen yang sama</a:t>
            </a:r>
          </a:p>
        </p:txBody>
      </p:sp>
      <p:grpSp>
        <p:nvGrpSpPr>
          <p:cNvPr id="73" name="Group 73"/>
          <p:cNvGrpSpPr/>
          <p:nvPr/>
        </p:nvGrpSpPr>
        <p:grpSpPr>
          <a:xfrm>
            <a:off x="14252600" y="4546868"/>
            <a:ext cx="3105810" cy="1358020"/>
            <a:chOff x="0" y="0"/>
            <a:chExt cx="2103588" cy="919797"/>
          </a:xfrm>
        </p:grpSpPr>
        <p:sp>
          <p:nvSpPr>
            <p:cNvPr id="74" name="Freeform 74"/>
            <p:cNvSpPr/>
            <p:nvPr/>
          </p:nvSpPr>
          <p:spPr>
            <a:xfrm>
              <a:off x="0" y="0"/>
              <a:ext cx="2103588" cy="919797"/>
            </a:xfrm>
            <a:custGeom>
              <a:avLst/>
              <a:gdLst/>
              <a:ahLst/>
              <a:cxnLst/>
              <a:rect l="l" t="t" r="r" b="b"/>
              <a:pathLst>
                <a:path w="2103588" h="919797">
                  <a:moveTo>
                    <a:pt x="22434" y="0"/>
                  </a:moveTo>
                  <a:lnTo>
                    <a:pt x="2081154" y="0"/>
                  </a:lnTo>
                  <a:cubicBezTo>
                    <a:pt x="2093544" y="0"/>
                    <a:pt x="2103588" y="10044"/>
                    <a:pt x="2103588" y="22434"/>
                  </a:cubicBezTo>
                  <a:lnTo>
                    <a:pt x="2103588" y="897363"/>
                  </a:lnTo>
                  <a:cubicBezTo>
                    <a:pt x="2103588" y="909753"/>
                    <a:pt x="2093544" y="919797"/>
                    <a:pt x="2081154" y="919797"/>
                  </a:cubicBezTo>
                  <a:lnTo>
                    <a:pt x="22434" y="919797"/>
                  </a:lnTo>
                  <a:cubicBezTo>
                    <a:pt x="10044" y="919797"/>
                    <a:pt x="0" y="909753"/>
                    <a:pt x="0" y="897363"/>
                  </a:cubicBezTo>
                  <a:lnTo>
                    <a:pt x="0" y="22434"/>
                  </a:lnTo>
                  <a:cubicBezTo>
                    <a:pt x="0" y="10044"/>
                    <a:pt x="10044" y="0"/>
                    <a:pt x="22434" y="0"/>
                  </a:cubicBezTo>
                  <a:close/>
                </a:path>
              </a:pathLst>
            </a:custGeom>
            <a:solidFill>
              <a:srgbClr val="081F8C"/>
            </a:solidFill>
            <a:ln w="38100" cap="sq">
              <a:solidFill>
                <a:srgbClr val="FF751F"/>
              </a:solidFill>
              <a:prstDash val="solid"/>
              <a:miter/>
            </a:ln>
          </p:spPr>
        </p:sp>
        <p:sp>
          <p:nvSpPr>
            <p:cNvPr id="75" name="TextBox 75"/>
            <p:cNvSpPr txBox="1"/>
            <p:nvPr/>
          </p:nvSpPr>
          <p:spPr>
            <a:xfrm>
              <a:off x="0" y="-47625"/>
              <a:ext cx="2103588" cy="967422"/>
            </a:xfrm>
            <a:prstGeom prst="rect">
              <a:avLst/>
            </a:prstGeom>
          </p:spPr>
          <p:txBody>
            <a:bodyPr lIns="19754" tIns="19754" rIns="19754" bIns="19754" rtlCol="0" anchor="ctr"/>
            <a:lstStyle/>
            <a:p>
              <a:pPr algn="ctr">
                <a:lnSpc>
                  <a:spcPts val="2659"/>
                </a:lnSpc>
              </a:pPr>
              <a:endParaRPr/>
            </a:p>
          </p:txBody>
        </p:sp>
      </p:grpSp>
      <p:sp>
        <p:nvSpPr>
          <p:cNvPr id="76" name="TextBox 76"/>
          <p:cNvSpPr txBox="1"/>
          <p:nvPr/>
        </p:nvSpPr>
        <p:spPr>
          <a:xfrm>
            <a:off x="14460902" y="4703812"/>
            <a:ext cx="2689206" cy="826770"/>
          </a:xfrm>
          <a:prstGeom prst="rect">
            <a:avLst/>
          </a:prstGeom>
        </p:spPr>
        <p:txBody>
          <a:bodyPr lIns="0" tIns="0" rIns="0" bIns="0" rtlCol="0" anchor="t">
            <a:spAutoFit/>
          </a:bodyPr>
          <a:lstStyle/>
          <a:p>
            <a:pPr algn="ctr">
              <a:lnSpc>
                <a:spcPts val="1680"/>
              </a:lnSpc>
            </a:pPr>
            <a:r>
              <a:rPr lang="en-US" sz="1200" b="1">
                <a:solidFill>
                  <a:srgbClr val="FFFFFF"/>
                </a:solidFill>
                <a:latin typeface="Canva Sans Bold"/>
                <a:ea typeface="Canva Sans Bold"/>
                <a:cs typeface="Canva Sans Bold"/>
                <a:sym typeface="Canva Sans Bold"/>
              </a:rPr>
              <a:t>menunjukkan yang digunakan masih belum optimal dalam menangkap struktur distribusi kata pada dataset</a:t>
            </a:r>
          </a:p>
        </p:txBody>
      </p:sp>
      <p:sp>
        <p:nvSpPr>
          <p:cNvPr id="77" name="TextBox 77"/>
          <p:cNvSpPr txBox="1"/>
          <p:nvPr/>
        </p:nvSpPr>
        <p:spPr>
          <a:xfrm>
            <a:off x="4781256" y="4023611"/>
            <a:ext cx="2163414" cy="264237"/>
          </a:xfrm>
          <a:prstGeom prst="rect">
            <a:avLst/>
          </a:prstGeom>
        </p:spPr>
        <p:txBody>
          <a:bodyPr lIns="0" tIns="0" rIns="0" bIns="0" rtlCol="0" anchor="t">
            <a:spAutoFit/>
          </a:bodyPr>
          <a:lstStyle/>
          <a:p>
            <a:pPr algn="ctr">
              <a:lnSpc>
                <a:spcPts val="2235"/>
              </a:lnSpc>
            </a:pPr>
            <a:r>
              <a:rPr lang="en-US" sz="1596" b="1">
                <a:solidFill>
                  <a:srgbClr val="000000"/>
                </a:solidFill>
                <a:latin typeface="Canva Sans Bold"/>
                <a:ea typeface="Canva Sans Bold"/>
                <a:cs typeface="Canva Sans Bold"/>
                <a:sym typeface="Canva Sans Bold"/>
              </a:rPr>
              <a:t>&lt; 0 = hubungan lemah</a:t>
            </a:r>
          </a:p>
        </p:txBody>
      </p:sp>
      <p:sp>
        <p:nvSpPr>
          <p:cNvPr id="78" name="TextBox 78"/>
          <p:cNvSpPr txBox="1"/>
          <p:nvPr/>
        </p:nvSpPr>
        <p:spPr>
          <a:xfrm>
            <a:off x="8281670" y="3956172"/>
            <a:ext cx="2163414" cy="264237"/>
          </a:xfrm>
          <a:prstGeom prst="rect">
            <a:avLst/>
          </a:prstGeom>
        </p:spPr>
        <p:txBody>
          <a:bodyPr lIns="0" tIns="0" rIns="0" bIns="0" rtlCol="0" anchor="t">
            <a:spAutoFit/>
          </a:bodyPr>
          <a:lstStyle/>
          <a:p>
            <a:pPr algn="ctr">
              <a:lnSpc>
                <a:spcPts val="2235"/>
              </a:lnSpc>
            </a:pPr>
            <a:r>
              <a:rPr lang="en-US" sz="1596" b="1">
                <a:solidFill>
                  <a:srgbClr val="000000"/>
                </a:solidFill>
                <a:latin typeface="Canva Sans Bold"/>
                <a:ea typeface="Canva Sans Bold"/>
                <a:cs typeface="Canva Sans Bold"/>
                <a:sym typeface="Canva Sans Bold"/>
              </a:rPr>
              <a:t>-4 s/d -6 (sedang)</a:t>
            </a:r>
          </a:p>
        </p:txBody>
      </p:sp>
      <p:sp>
        <p:nvSpPr>
          <p:cNvPr id="79" name="TextBox 79"/>
          <p:cNvSpPr txBox="1"/>
          <p:nvPr/>
        </p:nvSpPr>
        <p:spPr>
          <a:xfrm>
            <a:off x="930705" y="6581163"/>
            <a:ext cx="16427705" cy="1190310"/>
          </a:xfrm>
          <a:prstGeom prst="rect">
            <a:avLst/>
          </a:prstGeom>
        </p:spPr>
        <p:txBody>
          <a:bodyPr lIns="0" tIns="0" rIns="0" bIns="0" rtlCol="0" anchor="t">
            <a:spAutoFit/>
          </a:bodyPr>
          <a:lstStyle/>
          <a:p>
            <a:pPr algn="ctr">
              <a:lnSpc>
                <a:spcPts val="3209"/>
              </a:lnSpc>
            </a:pPr>
            <a:r>
              <a:rPr lang="en-US" sz="2292" b="1">
                <a:solidFill>
                  <a:srgbClr val="000000"/>
                </a:solidFill>
                <a:latin typeface="Canva Sans Bold"/>
                <a:ea typeface="Canva Sans Bold"/>
                <a:cs typeface="Canva Sans Bold"/>
                <a:sym typeface="Canva Sans Bold"/>
              </a:rPr>
              <a:t>model Correlated Topic Model (CTM) menghasilkan kualitas topik yang cukup baik dan dapat diinterpretasikan, Nilai NPMI mendekati nol menunjukkan adanya hubungan semantik antar kata dalam topik meskipun belum terlalu kuat,nilai UMass dan UCl  mengindikasikan bahwa koherensi topik masih berada pada tingkat sedang</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6" name="Freeform 16"/>
          <p:cNvSpPr/>
          <p:nvPr/>
        </p:nvSpPr>
        <p:spPr>
          <a:xfrm>
            <a:off x="884998" y="3004234"/>
            <a:ext cx="8259002" cy="5906689"/>
          </a:xfrm>
          <a:custGeom>
            <a:avLst/>
            <a:gdLst/>
            <a:ahLst/>
            <a:cxnLst/>
            <a:rect l="l" t="t" r="r" b="b"/>
            <a:pathLst>
              <a:path w="8259002" h="5906689">
                <a:moveTo>
                  <a:pt x="0" y="0"/>
                </a:moveTo>
                <a:lnTo>
                  <a:pt x="8259002" y="0"/>
                </a:lnTo>
                <a:lnTo>
                  <a:pt x="8259002" y="5906689"/>
                </a:lnTo>
                <a:lnTo>
                  <a:pt x="0" y="5906689"/>
                </a:lnTo>
                <a:lnTo>
                  <a:pt x="0" y="0"/>
                </a:lnTo>
                <a:close/>
              </a:path>
            </a:pathLst>
          </a:custGeom>
          <a:blipFill>
            <a:blip r:embed="rId4"/>
            <a:stretch>
              <a:fillRect/>
            </a:stretch>
          </a:blipFill>
        </p:spPr>
      </p:sp>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Distribusi Topik Pada 20 Surat Pertama</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12 | Correlated Topic Model</a:t>
            </a:r>
          </a:p>
        </p:txBody>
      </p:sp>
      <p:sp>
        <p:nvSpPr>
          <p:cNvPr id="19" name="TextBox 19"/>
          <p:cNvSpPr txBox="1"/>
          <p:nvPr/>
        </p:nvSpPr>
        <p:spPr>
          <a:xfrm>
            <a:off x="9299426" y="3326131"/>
            <a:ext cx="7852040" cy="4563110"/>
          </a:xfrm>
          <a:prstGeom prst="rect">
            <a:avLst/>
          </a:prstGeom>
        </p:spPr>
        <p:txBody>
          <a:bodyPr lIns="0" tIns="0" rIns="0" bIns="0" rtlCol="0" anchor="t">
            <a:spAutoFit/>
          </a:bodyPr>
          <a:lstStyle/>
          <a:p>
            <a:pPr algn="just">
              <a:lnSpc>
                <a:spcPts val="3639"/>
              </a:lnSpc>
            </a:pPr>
            <a:r>
              <a:rPr lang="en-US" sz="2599" b="1">
                <a:solidFill>
                  <a:srgbClr val="000000"/>
                </a:solidFill>
                <a:latin typeface="Canva Sans Bold"/>
                <a:ea typeface="Canva Sans Bold"/>
                <a:cs typeface="Canva Sans Bold"/>
                <a:sym typeface="Canva Sans Bold"/>
              </a:rPr>
              <a:t>Secara umum, distribusi topik terlihat tidak merata, yang mengindikasikan bahwa setiap surat memiliki kecenderungan kuat terhadap topik tertentu. </a:t>
            </a:r>
          </a:p>
          <a:p>
            <a:pPr algn="just">
              <a:lnSpc>
                <a:spcPts val="3639"/>
              </a:lnSpc>
            </a:pPr>
            <a:endParaRPr lang="en-US" sz="2599" b="1">
              <a:solidFill>
                <a:srgbClr val="000000"/>
              </a:solidFill>
              <a:latin typeface="Canva Sans Bold"/>
              <a:ea typeface="Canva Sans Bold"/>
              <a:cs typeface="Canva Sans Bold"/>
              <a:sym typeface="Canva Sans Bold"/>
            </a:endParaRPr>
          </a:p>
          <a:p>
            <a:pPr algn="just">
              <a:lnSpc>
                <a:spcPts val="3639"/>
              </a:lnSpc>
            </a:pPr>
            <a:r>
              <a:rPr lang="en-US" sz="2599" b="1">
                <a:solidFill>
                  <a:srgbClr val="000000"/>
                </a:solidFill>
                <a:latin typeface="Canva Sans Bold"/>
                <a:ea typeface="Canva Sans Bold"/>
                <a:cs typeface="Canva Sans Bold"/>
                <a:sym typeface="Canva Sans Bold"/>
              </a:rPr>
              <a:t>Beberapa topik seperti Topik 12 dan 13 tampak memiliki nilai yang relatif tinggi dan konsisten di banyak surat (misalnya mencapai kisaran 0.15–0.26), sehingga dapat diasumsikan sebagai topik dominan global dalam korpus 20 surat pertama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6" name="Object 16"/>
          <p:cNvGraphicFramePr/>
          <p:nvPr/>
        </p:nvGraphicFramePr>
        <p:xfrm>
          <a:off x="5715617" y="3097965"/>
          <a:ext cx="16230600" cy="4360949"/>
        </p:xfrm>
        <a:graphic>
          <a:graphicData uri="http://schemas.openxmlformats.org/presentationml/2006/ole">
            <mc:AlternateContent xmlns:mc="http://schemas.openxmlformats.org/markup-compatibility/2006">
              <mc:Choice xmlns:v="urn:schemas-microsoft-com:vml" Requires="v">
                <p:oleObj name="Worksheet" r:id="rId4" imgW="19469100" imgH="7607300" progId="Excel.Sheet.12">
                  <p:embed/>
                </p:oleObj>
              </mc:Choice>
              <mc:Fallback>
                <p:oleObj name="Worksheet" r:id="rId4" imgW="19469100" imgH="7607300" progId="Excel.Sheet.12">
                  <p:embed/>
                  <p:pic>
                    <p:nvPicPr>
                      <p:cNvPr id="0" name=""/>
                      <p:cNvPicPr/>
                      <p:nvPr/>
                    </p:nvPicPr>
                    <p:blipFill>
                      <a:blip r:embed="rId5"/>
                      <a:stretch>
                        <a:fillRect/>
                      </a:stretch>
                    </p:blipFill>
                    <p:spPr>
                      <a:xfrm>
                        <a:off x="5715617" y="3097965"/>
                        <a:ext cx="16230600" cy="4360949"/>
                      </a:xfrm>
                      <a:prstGeom prst="rect">
                        <a:avLst/>
                      </a:prstGeom>
                    </p:spPr>
                  </p:pic>
                </p:oleObj>
              </mc:Fallback>
            </mc:AlternateContent>
          </a:graphicData>
        </a:graphic>
      </p:graphicFrame>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Uji Parameter Jumlah</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13 | BERTopic Model</a:t>
            </a:r>
          </a:p>
        </p:txBody>
      </p:sp>
      <p:grpSp>
        <p:nvGrpSpPr>
          <p:cNvPr id="19" name="Group 19"/>
          <p:cNvGrpSpPr/>
          <p:nvPr/>
        </p:nvGrpSpPr>
        <p:grpSpPr>
          <a:xfrm>
            <a:off x="794026" y="3067588"/>
            <a:ext cx="4744620" cy="1828038"/>
            <a:chOff x="0" y="0"/>
            <a:chExt cx="3213566" cy="1238144"/>
          </a:xfrm>
        </p:grpSpPr>
        <p:sp>
          <p:nvSpPr>
            <p:cNvPr id="20" name="Freeform 20"/>
            <p:cNvSpPr/>
            <p:nvPr/>
          </p:nvSpPr>
          <p:spPr>
            <a:xfrm>
              <a:off x="0" y="0"/>
              <a:ext cx="3213566" cy="1238144"/>
            </a:xfrm>
            <a:custGeom>
              <a:avLst/>
              <a:gdLst/>
              <a:ahLst/>
              <a:cxnLst/>
              <a:rect l="l" t="t" r="r" b="b"/>
              <a:pathLst>
                <a:path w="3213566" h="1238144">
                  <a:moveTo>
                    <a:pt x="42425" y="0"/>
                  </a:moveTo>
                  <a:lnTo>
                    <a:pt x="3171142" y="0"/>
                  </a:lnTo>
                  <a:cubicBezTo>
                    <a:pt x="3182393" y="0"/>
                    <a:pt x="3193184" y="4470"/>
                    <a:pt x="3201140" y="12426"/>
                  </a:cubicBezTo>
                  <a:cubicBezTo>
                    <a:pt x="3209097" y="20382"/>
                    <a:pt x="3213566" y="31173"/>
                    <a:pt x="3213566" y="42425"/>
                  </a:cubicBezTo>
                  <a:lnTo>
                    <a:pt x="3213566" y="1195719"/>
                  </a:lnTo>
                  <a:cubicBezTo>
                    <a:pt x="3213566" y="1206971"/>
                    <a:pt x="3209097" y="1217762"/>
                    <a:pt x="3201140" y="1225718"/>
                  </a:cubicBezTo>
                  <a:cubicBezTo>
                    <a:pt x="3193184" y="1233674"/>
                    <a:pt x="3182393" y="1238144"/>
                    <a:pt x="3171142" y="1238144"/>
                  </a:cubicBezTo>
                  <a:lnTo>
                    <a:pt x="42425" y="1238144"/>
                  </a:lnTo>
                  <a:cubicBezTo>
                    <a:pt x="31173" y="1238144"/>
                    <a:pt x="20382" y="1233674"/>
                    <a:pt x="12426" y="1225718"/>
                  </a:cubicBezTo>
                  <a:cubicBezTo>
                    <a:pt x="4470" y="1217762"/>
                    <a:pt x="0" y="1206971"/>
                    <a:pt x="0" y="1195719"/>
                  </a:cubicBezTo>
                  <a:lnTo>
                    <a:pt x="0" y="42425"/>
                  </a:lnTo>
                  <a:cubicBezTo>
                    <a:pt x="0" y="31173"/>
                    <a:pt x="4470" y="20382"/>
                    <a:pt x="12426" y="12426"/>
                  </a:cubicBezTo>
                  <a:cubicBezTo>
                    <a:pt x="20382" y="4470"/>
                    <a:pt x="31173" y="0"/>
                    <a:pt x="42425" y="0"/>
                  </a:cubicBezTo>
                  <a:close/>
                </a:path>
              </a:pathLst>
            </a:custGeom>
            <a:solidFill>
              <a:srgbClr val="FFFFFF"/>
            </a:solidFill>
            <a:ln w="38100" cap="rnd">
              <a:solidFill>
                <a:srgbClr val="1800AD"/>
              </a:solidFill>
              <a:prstDash val="solid"/>
              <a:round/>
            </a:ln>
          </p:spPr>
        </p:sp>
        <p:sp>
          <p:nvSpPr>
            <p:cNvPr id="21" name="TextBox 21"/>
            <p:cNvSpPr txBox="1"/>
            <p:nvPr/>
          </p:nvSpPr>
          <p:spPr>
            <a:xfrm>
              <a:off x="0" y="-47625"/>
              <a:ext cx="3213566" cy="1285769"/>
            </a:xfrm>
            <a:prstGeom prst="rect">
              <a:avLst/>
            </a:prstGeom>
          </p:spPr>
          <p:txBody>
            <a:bodyPr lIns="19754" tIns="19754" rIns="19754" bIns="19754" rtlCol="0" anchor="ctr"/>
            <a:lstStyle/>
            <a:p>
              <a:pPr algn="ctr">
                <a:lnSpc>
                  <a:spcPts val="2659"/>
                </a:lnSpc>
              </a:pPr>
              <a:endParaRPr/>
            </a:p>
          </p:txBody>
        </p:sp>
      </p:grpSp>
      <p:sp>
        <p:nvSpPr>
          <p:cNvPr id="22" name="TextBox 22"/>
          <p:cNvSpPr txBox="1"/>
          <p:nvPr/>
        </p:nvSpPr>
        <p:spPr>
          <a:xfrm>
            <a:off x="1206889" y="3214009"/>
            <a:ext cx="4275272" cy="1296669"/>
          </a:xfrm>
          <a:prstGeom prst="rect">
            <a:avLst/>
          </a:prstGeom>
        </p:spPr>
        <p:txBody>
          <a:bodyPr lIns="0" tIns="0" rIns="0" bIns="0" rtlCol="0" anchor="t">
            <a:spAutoFit/>
          </a:bodyPr>
          <a:lstStyle/>
          <a:p>
            <a:pPr algn="ctr">
              <a:lnSpc>
                <a:spcPts val="3256"/>
              </a:lnSpc>
            </a:pPr>
            <a:r>
              <a:rPr lang="en-US" sz="2325" b="1">
                <a:solidFill>
                  <a:srgbClr val="CF4119"/>
                </a:solidFill>
                <a:latin typeface="Canva Sans Bold"/>
                <a:ea typeface="Canva Sans Bold"/>
                <a:cs typeface="Canva Sans Bold"/>
                <a:sym typeface="Canva Sans Bold"/>
              </a:rPr>
              <a:t>Topic size 25 </a:t>
            </a:r>
          </a:p>
          <a:p>
            <a:pPr algn="ctr">
              <a:lnSpc>
                <a:spcPts val="3256"/>
              </a:lnSpc>
            </a:pPr>
            <a:r>
              <a:rPr lang="en-US" sz="2325" b="1">
                <a:solidFill>
                  <a:srgbClr val="000000"/>
                </a:solidFill>
                <a:latin typeface="Canva Sans Bold"/>
                <a:ea typeface="Canva Sans Bold"/>
                <a:cs typeface="Canva Sans Bold"/>
                <a:sym typeface="Canva Sans Bold"/>
              </a:rPr>
              <a:t>(keseimbangan terbaik)</a:t>
            </a:r>
          </a:p>
          <a:p>
            <a:pPr algn="ctr">
              <a:lnSpc>
                <a:spcPts val="3953"/>
              </a:lnSpc>
            </a:pPr>
            <a:r>
              <a:rPr lang="en-US" sz="2824" b="1">
                <a:solidFill>
                  <a:srgbClr val="000000"/>
                </a:solidFill>
                <a:latin typeface="Canva Sans Bold"/>
                <a:ea typeface="Canva Sans Bold"/>
                <a:cs typeface="Canva Sans Bold"/>
                <a:sym typeface="Canva Sans Bold"/>
              </a:rPr>
              <a:t>Final Score 0.87 </a:t>
            </a:r>
          </a:p>
        </p:txBody>
      </p:sp>
      <p:grpSp>
        <p:nvGrpSpPr>
          <p:cNvPr id="23" name="Group 23"/>
          <p:cNvGrpSpPr/>
          <p:nvPr/>
        </p:nvGrpSpPr>
        <p:grpSpPr>
          <a:xfrm>
            <a:off x="737541" y="5043560"/>
            <a:ext cx="4744620" cy="1828038"/>
            <a:chOff x="0" y="0"/>
            <a:chExt cx="3213566" cy="1238144"/>
          </a:xfrm>
        </p:grpSpPr>
        <p:sp>
          <p:nvSpPr>
            <p:cNvPr id="24" name="Freeform 24"/>
            <p:cNvSpPr/>
            <p:nvPr/>
          </p:nvSpPr>
          <p:spPr>
            <a:xfrm>
              <a:off x="0" y="0"/>
              <a:ext cx="3213566" cy="1238144"/>
            </a:xfrm>
            <a:custGeom>
              <a:avLst/>
              <a:gdLst/>
              <a:ahLst/>
              <a:cxnLst/>
              <a:rect l="l" t="t" r="r" b="b"/>
              <a:pathLst>
                <a:path w="3213566" h="1238144">
                  <a:moveTo>
                    <a:pt x="42425" y="0"/>
                  </a:moveTo>
                  <a:lnTo>
                    <a:pt x="3171142" y="0"/>
                  </a:lnTo>
                  <a:cubicBezTo>
                    <a:pt x="3182393" y="0"/>
                    <a:pt x="3193184" y="4470"/>
                    <a:pt x="3201140" y="12426"/>
                  </a:cubicBezTo>
                  <a:cubicBezTo>
                    <a:pt x="3209097" y="20382"/>
                    <a:pt x="3213566" y="31173"/>
                    <a:pt x="3213566" y="42425"/>
                  </a:cubicBezTo>
                  <a:lnTo>
                    <a:pt x="3213566" y="1195719"/>
                  </a:lnTo>
                  <a:cubicBezTo>
                    <a:pt x="3213566" y="1206971"/>
                    <a:pt x="3209097" y="1217762"/>
                    <a:pt x="3201140" y="1225718"/>
                  </a:cubicBezTo>
                  <a:cubicBezTo>
                    <a:pt x="3193184" y="1233674"/>
                    <a:pt x="3182393" y="1238144"/>
                    <a:pt x="3171142" y="1238144"/>
                  </a:cubicBezTo>
                  <a:lnTo>
                    <a:pt x="42425" y="1238144"/>
                  </a:lnTo>
                  <a:cubicBezTo>
                    <a:pt x="31173" y="1238144"/>
                    <a:pt x="20382" y="1233674"/>
                    <a:pt x="12426" y="1225718"/>
                  </a:cubicBezTo>
                  <a:cubicBezTo>
                    <a:pt x="4470" y="1217762"/>
                    <a:pt x="0" y="1206971"/>
                    <a:pt x="0" y="1195719"/>
                  </a:cubicBezTo>
                  <a:lnTo>
                    <a:pt x="0" y="42425"/>
                  </a:lnTo>
                  <a:cubicBezTo>
                    <a:pt x="0" y="31173"/>
                    <a:pt x="4470" y="20382"/>
                    <a:pt x="12426" y="12426"/>
                  </a:cubicBezTo>
                  <a:cubicBezTo>
                    <a:pt x="20382" y="4470"/>
                    <a:pt x="31173" y="0"/>
                    <a:pt x="42425" y="0"/>
                  </a:cubicBezTo>
                  <a:close/>
                </a:path>
              </a:pathLst>
            </a:custGeom>
            <a:solidFill>
              <a:srgbClr val="FFFFFF"/>
            </a:solidFill>
            <a:ln w="38100" cap="rnd">
              <a:solidFill>
                <a:srgbClr val="FF751F"/>
              </a:solidFill>
              <a:prstDash val="solid"/>
              <a:round/>
            </a:ln>
          </p:spPr>
        </p:sp>
        <p:sp>
          <p:nvSpPr>
            <p:cNvPr id="25" name="TextBox 25"/>
            <p:cNvSpPr txBox="1"/>
            <p:nvPr/>
          </p:nvSpPr>
          <p:spPr>
            <a:xfrm>
              <a:off x="0" y="-47625"/>
              <a:ext cx="3213566" cy="1285769"/>
            </a:xfrm>
            <a:prstGeom prst="rect">
              <a:avLst/>
            </a:prstGeom>
          </p:spPr>
          <p:txBody>
            <a:bodyPr lIns="19754" tIns="19754" rIns="19754" bIns="19754" rtlCol="0" anchor="ctr"/>
            <a:lstStyle/>
            <a:p>
              <a:pPr algn="ctr">
                <a:lnSpc>
                  <a:spcPts val="2659"/>
                </a:lnSpc>
              </a:pPr>
              <a:endParaRPr/>
            </a:p>
          </p:txBody>
        </p:sp>
      </p:grpSp>
      <p:sp>
        <p:nvSpPr>
          <p:cNvPr id="26" name="TextBox 26"/>
          <p:cNvSpPr txBox="1"/>
          <p:nvPr/>
        </p:nvSpPr>
        <p:spPr>
          <a:xfrm>
            <a:off x="1028700" y="5095875"/>
            <a:ext cx="4275272" cy="2611119"/>
          </a:xfrm>
          <a:prstGeom prst="rect">
            <a:avLst/>
          </a:prstGeom>
        </p:spPr>
        <p:txBody>
          <a:bodyPr lIns="0" tIns="0" rIns="0" bIns="0" rtlCol="0" anchor="t">
            <a:spAutoFit/>
          </a:bodyPr>
          <a:lstStyle/>
          <a:p>
            <a:pPr algn="ctr">
              <a:lnSpc>
                <a:spcPts val="3256"/>
              </a:lnSpc>
            </a:pPr>
            <a:r>
              <a:rPr lang="en-US" sz="2325" b="1">
                <a:solidFill>
                  <a:srgbClr val="CF4119"/>
                </a:solidFill>
                <a:latin typeface="Canva Sans Bold"/>
                <a:ea typeface="Canva Sans Bold"/>
                <a:cs typeface="Canva Sans Bold"/>
                <a:sym typeface="Canva Sans Bold"/>
              </a:rPr>
              <a:t>C_v = 0.5735</a:t>
            </a:r>
          </a:p>
          <a:p>
            <a:pPr algn="ctr">
              <a:lnSpc>
                <a:spcPts val="3256"/>
              </a:lnSpc>
            </a:pPr>
            <a:r>
              <a:rPr lang="en-US" sz="2325" b="1">
                <a:solidFill>
                  <a:srgbClr val="CF4119"/>
                </a:solidFill>
                <a:latin typeface="Canva Sans Bold"/>
                <a:ea typeface="Canva Sans Bold"/>
                <a:cs typeface="Canva Sans Bold"/>
                <a:sym typeface="Canva Sans Bold"/>
              </a:rPr>
              <a:t>NPMI = 0.0530 </a:t>
            </a:r>
          </a:p>
          <a:p>
            <a:pPr algn="ctr">
              <a:lnSpc>
                <a:spcPts val="3256"/>
              </a:lnSpc>
            </a:pPr>
            <a:r>
              <a:rPr lang="en-US" sz="2325" b="1">
                <a:solidFill>
                  <a:srgbClr val="CF4119"/>
                </a:solidFill>
                <a:latin typeface="Canva Sans Bold"/>
                <a:ea typeface="Canva Sans Bold"/>
                <a:cs typeface="Canva Sans Bold"/>
                <a:sym typeface="Canva Sans Bold"/>
              </a:rPr>
              <a:t>UMass yang paling mendekati nol (-5.3257)</a:t>
            </a:r>
          </a:p>
          <a:p>
            <a:pPr algn="ctr">
              <a:lnSpc>
                <a:spcPts val="3953"/>
              </a:lnSpc>
            </a:pPr>
            <a:endParaRPr lang="en-US" sz="2325" b="1">
              <a:solidFill>
                <a:srgbClr val="CF4119"/>
              </a:solidFill>
              <a:latin typeface="Canva Sans Bold"/>
              <a:ea typeface="Canva Sans Bold"/>
              <a:cs typeface="Canva Sans Bold"/>
              <a:sym typeface="Canva Sans Bold"/>
            </a:endParaRPr>
          </a:p>
          <a:p>
            <a:pPr algn="ctr">
              <a:lnSpc>
                <a:spcPts val="3953"/>
              </a:lnSpc>
            </a:pPr>
            <a:endParaRPr lang="en-US" sz="2325" b="1">
              <a:solidFill>
                <a:srgbClr val="CF4119"/>
              </a:solidFill>
              <a:latin typeface="Canva Sans Bold"/>
              <a:ea typeface="Canva Sans Bold"/>
              <a:cs typeface="Canva Sans Bold"/>
              <a:sym typeface="Canva Sans Bold"/>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6" name="Freeform 16"/>
          <p:cNvSpPr/>
          <p:nvPr/>
        </p:nvSpPr>
        <p:spPr>
          <a:xfrm>
            <a:off x="1442846" y="6414494"/>
            <a:ext cx="6258307" cy="2843806"/>
          </a:xfrm>
          <a:custGeom>
            <a:avLst/>
            <a:gdLst/>
            <a:ahLst/>
            <a:cxnLst/>
            <a:rect l="l" t="t" r="r" b="b"/>
            <a:pathLst>
              <a:path w="6258307" h="2843806">
                <a:moveTo>
                  <a:pt x="0" y="0"/>
                </a:moveTo>
                <a:lnTo>
                  <a:pt x="6258308" y="0"/>
                </a:lnTo>
                <a:lnTo>
                  <a:pt x="6258308" y="2843806"/>
                </a:lnTo>
                <a:lnTo>
                  <a:pt x="0" y="2843806"/>
                </a:lnTo>
                <a:lnTo>
                  <a:pt x="0" y="0"/>
                </a:lnTo>
                <a:close/>
              </a:path>
            </a:pathLst>
          </a:custGeom>
          <a:blipFill>
            <a:blip r:embed="rId4"/>
            <a:stretch>
              <a:fillRect/>
            </a:stretch>
          </a:blipFill>
        </p:spPr>
      </p:sp>
      <p:sp>
        <p:nvSpPr>
          <p:cNvPr id="17" name="Freeform 17"/>
          <p:cNvSpPr/>
          <p:nvPr/>
        </p:nvSpPr>
        <p:spPr>
          <a:xfrm>
            <a:off x="2691998" y="2954273"/>
            <a:ext cx="13295787" cy="2712302"/>
          </a:xfrm>
          <a:custGeom>
            <a:avLst/>
            <a:gdLst/>
            <a:ahLst/>
            <a:cxnLst/>
            <a:rect l="l" t="t" r="r" b="b"/>
            <a:pathLst>
              <a:path w="13295787" h="2712302">
                <a:moveTo>
                  <a:pt x="0" y="0"/>
                </a:moveTo>
                <a:lnTo>
                  <a:pt x="13295787" y="0"/>
                </a:lnTo>
                <a:lnTo>
                  <a:pt x="13295787" y="2712302"/>
                </a:lnTo>
                <a:lnTo>
                  <a:pt x="0" y="2712302"/>
                </a:lnTo>
                <a:lnTo>
                  <a:pt x="0" y="0"/>
                </a:lnTo>
                <a:close/>
              </a:path>
            </a:pathLst>
          </a:custGeom>
          <a:blipFill>
            <a:blip r:embed="rId5"/>
            <a:stretch>
              <a:fillRect t="-8824" b="-8824"/>
            </a:stretch>
          </a:blipFill>
        </p:spPr>
      </p:sp>
      <p:sp>
        <p:nvSpPr>
          <p:cNvPr id="18" name="TextBox 18"/>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Evaluasi Model</a:t>
            </a:r>
          </a:p>
        </p:txBody>
      </p:sp>
      <p:sp>
        <p:nvSpPr>
          <p:cNvPr id="19" name="TextBox 19"/>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14 | BERTopic Model</a:t>
            </a:r>
          </a:p>
        </p:txBody>
      </p:sp>
      <p:sp>
        <p:nvSpPr>
          <p:cNvPr id="20" name="TextBox 20"/>
          <p:cNvSpPr txBox="1"/>
          <p:nvPr/>
        </p:nvSpPr>
        <p:spPr>
          <a:xfrm>
            <a:off x="2691998" y="6548957"/>
            <a:ext cx="3985545" cy="632877"/>
          </a:xfrm>
          <a:prstGeom prst="rect">
            <a:avLst/>
          </a:prstGeom>
        </p:spPr>
        <p:txBody>
          <a:bodyPr lIns="0" tIns="0" rIns="0" bIns="0" rtlCol="0" anchor="t">
            <a:spAutoFit/>
          </a:bodyPr>
          <a:lstStyle/>
          <a:p>
            <a:pPr algn="ctr">
              <a:lnSpc>
                <a:spcPts val="2792"/>
              </a:lnSpc>
            </a:pPr>
            <a:r>
              <a:rPr lang="en-US" sz="1994" b="1">
                <a:solidFill>
                  <a:srgbClr val="FEFCFB"/>
                </a:solidFill>
                <a:latin typeface="Canva Sans Bold"/>
                <a:ea typeface="Canva Sans Bold"/>
                <a:cs typeface="Canva Sans Bold"/>
                <a:sym typeface="Canva Sans Bold"/>
              </a:rPr>
              <a:t>Parameter Optimal BERTopic</a:t>
            </a:r>
          </a:p>
          <a:p>
            <a:pPr algn="ctr">
              <a:lnSpc>
                <a:spcPts val="2327"/>
              </a:lnSpc>
            </a:pPr>
            <a:endParaRPr lang="en-US" sz="1994" b="1">
              <a:solidFill>
                <a:srgbClr val="FEFCFB"/>
              </a:solidFill>
              <a:latin typeface="Canva Sans Bold"/>
              <a:ea typeface="Canva Sans Bold"/>
              <a:cs typeface="Canva Sans Bold"/>
              <a:sym typeface="Canva Sans Bold"/>
            </a:endParaRPr>
          </a:p>
        </p:txBody>
      </p:sp>
      <p:sp>
        <p:nvSpPr>
          <p:cNvPr id="21" name="TextBox 21"/>
          <p:cNvSpPr txBox="1"/>
          <p:nvPr/>
        </p:nvSpPr>
        <p:spPr>
          <a:xfrm>
            <a:off x="1659117" y="7143734"/>
            <a:ext cx="2394352" cy="335752"/>
          </a:xfrm>
          <a:prstGeom prst="rect">
            <a:avLst/>
          </a:prstGeom>
        </p:spPr>
        <p:txBody>
          <a:bodyPr lIns="0" tIns="0" rIns="0" bIns="0" rtlCol="0" anchor="t">
            <a:spAutoFit/>
          </a:bodyPr>
          <a:lstStyle/>
          <a:p>
            <a:pPr algn="ctr">
              <a:lnSpc>
                <a:spcPts val="2792"/>
              </a:lnSpc>
            </a:pPr>
            <a:r>
              <a:rPr lang="en-US" sz="1994" b="1">
                <a:solidFill>
                  <a:srgbClr val="FEFCFB"/>
                </a:solidFill>
                <a:latin typeface="Canva Sans Bold"/>
                <a:ea typeface="Canva Sans Bold"/>
                <a:cs typeface="Canva Sans Bold"/>
                <a:sym typeface="Canva Sans Bold"/>
              </a:rPr>
              <a:t>Min Topic Size </a:t>
            </a:r>
          </a:p>
        </p:txBody>
      </p:sp>
      <p:sp>
        <p:nvSpPr>
          <p:cNvPr id="22" name="TextBox 22"/>
          <p:cNvSpPr txBox="1"/>
          <p:nvPr/>
        </p:nvSpPr>
        <p:spPr>
          <a:xfrm>
            <a:off x="4684770" y="7076275"/>
            <a:ext cx="2394352" cy="335752"/>
          </a:xfrm>
          <a:prstGeom prst="rect">
            <a:avLst/>
          </a:prstGeom>
        </p:spPr>
        <p:txBody>
          <a:bodyPr lIns="0" tIns="0" rIns="0" bIns="0" rtlCol="0" anchor="t">
            <a:spAutoFit/>
          </a:bodyPr>
          <a:lstStyle/>
          <a:p>
            <a:pPr algn="ctr">
              <a:lnSpc>
                <a:spcPts val="2792"/>
              </a:lnSpc>
            </a:pPr>
            <a:r>
              <a:rPr lang="en-US" sz="1994" b="1">
                <a:solidFill>
                  <a:srgbClr val="FEFCFB"/>
                </a:solidFill>
                <a:latin typeface="Canva Sans Bold"/>
                <a:ea typeface="Canva Sans Bold"/>
                <a:cs typeface="Canva Sans Bold"/>
                <a:sym typeface="Canva Sans Bold"/>
              </a:rPr>
              <a:t>25</a:t>
            </a:r>
          </a:p>
        </p:txBody>
      </p:sp>
      <p:sp>
        <p:nvSpPr>
          <p:cNvPr id="23" name="TextBox 23"/>
          <p:cNvSpPr txBox="1"/>
          <p:nvPr/>
        </p:nvSpPr>
        <p:spPr>
          <a:xfrm>
            <a:off x="1819391" y="7649471"/>
            <a:ext cx="2394352" cy="335752"/>
          </a:xfrm>
          <a:prstGeom prst="rect">
            <a:avLst/>
          </a:prstGeom>
        </p:spPr>
        <p:txBody>
          <a:bodyPr lIns="0" tIns="0" rIns="0" bIns="0" rtlCol="0" anchor="t">
            <a:spAutoFit/>
          </a:bodyPr>
          <a:lstStyle/>
          <a:p>
            <a:pPr algn="ctr">
              <a:lnSpc>
                <a:spcPts val="2792"/>
              </a:lnSpc>
            </a:pPr>
            <a:r>
              <a:rPr lang="en-US" sz="1994" b="1">
                <a:solidFill>
                  <a:srgbClr val="FEFCFB"/>
                </a:solidFill>
                <a:latin typeface="Canva Sans Bold"/>
                <a:ea typeface="Canva Sans Bold"/>
                <a:cs typeface="Canva Sans Bold"/>
                <a:sym typeface="Canva Sans Bold"/>
              </a:rPr>
              <a:t>Sentence Model</a:t>
            </a:r>
          </a:p>
        </p:txBody>
      </p:sp>
      <p:sp>
        <p:nvSpPr>
          <p:cNvPr id="24" name="TextBox 24"/>
          <p:cNvSpPr txBox="1"/>
          <p:nvPr/>
        </p:nvSpPr>
        <p:spPr>
          <a:xfrm>
            <a:off x="4803309" y="7623620"/>
            <a:ext cx="2519708" cy="685106"/>
          </a:xfrm>
          <a:prstGeom prst="rect">
            <a:avLst/>
          </a:prstGeom>
        </p:spPr>
        <p:txBody>
          <a:bodyPr lIns="0" tIns="0" rIns="0" bIns="0" rtlCol="0" anchor="t">
            <a:spAutoFit/>
          </a:bodyPr>
          <a:lstStyle/>
          <a:p>
            <a:pPr algn="ctr">
              <a:lnSpc>
                <a:spcPts val="1817"/>
              </a:lnSpc>
            </a:pPr>
            <a:r>
              <a:rPr lang="en-US" sz="1298" b="1">
                <a:solidFill>
                  <a:srgbClr val="FEFCFB"/>
                </a:solidFill>
                <a:latin typeface="Canva Sans Bold"/>
                <a:ea typeface="Canva Sans Bold"/>
                <a:cs typeface="Canva Sans Bold"/>
                <a:sym typeface="Canva Sans Bold"/>
              </a:rPr>
              <a:t>paraphrase-multilingual-MiniLM-L12paraphrase-multilingual-MiniLM-L12</a:t>
            </a:r>
          </a:p>
        </p:txBody>
      </p:sp>
      <p:sp>
        <p:nvSpPr>
          <p:cNvPr id="25" name="Freeform 25"/>
          <p:cNvSpPr/>
          <p:nvPr/>
        </p:nvSpPr>
        <p:spPr>
          <a:xfrm>
            <a:off x="8291704" y="6414494"/>
            <a:ext cx="2429525" cy="2843806"/>
          </a:xfrm>
          <a:custGeom>
            <a:avLst/>
            <a:gdLst/>
            <a:ahLst/>
            <a:cxnLst/>
            <a:rect l="l" t="t" r="r" b="b"/>
            <a:pathLst>
              <a:path w="2429525" h="2843806">
                <a:moveTo>
                  <a:pt x="0" y="0"/>
                </a:moveTo>
                <a:lnTo>
                  <a:pt x="2429525" y="0"/>
                </a:lnTo>
                <a:lnTo>
                  <a:pt x="2429525" y="2843806"/>
                </a:lnTo>
                <a:lnTo>
                  <a:pt x="0" y="2843806"/>
                </a:lnTo>
                <a:lnTo>
                  <a:pt x="0" y="0"/>
                </a:lnTo>
                <a:close/>
              </a:path>
            </a:pathLst>
          </a:custGeom>
          <a:blipFill>
            <a:blip r:embed="rId4"/>
            <a:stretch>
              <a:fillRect r="-157593"/>
            </a:stretch>
          </a:blipFill>
        </p:spPr>
      </p:sp>
      <p:sp>
        <p:nvSpPr>
          <p:cNvPr id="26" name="Freeform 26"/>
          <p:cNvSpPr/>
          <p:nvPr/>
        </p:nvSpPr>
        <p:spPr>
          <a:xfrm>
            <a:off x="11026306" y="6414494"/>
            <a:ext cx="2429525" cy="2843806"/>
          </a:xfrm>
          <a:custGeom>
            <a:avLst/>
            <a:gdLst/>
            <a:ahLst/>
            <a:cxnLst/>
            <a:rect l="l" t="t" r="r" b="b"/>
            <a:pathLst>
              <a:path w="2429525" h="2843806">
                <a:moveTo>
                  <a:pt x="0" y="0"/>
                </a:moveTo>
                <a:lnTo>
                  <a:pt x="2429525" y="0"/>
                </a:lnTo>
                <a:lnTo>
                  <a:pt x="2429525" y="2843806"/>
                </a:lnTo>
                <a:lnTo>
                  <a:pt x="0" y="2843806"/>
                </a:lnTo>
                <a:lnTo>
                  <a:pt x="0" y="0"/>
                </a:lnTo>
                <a:close/>
              </a:path>
            </a:pathLst>
          </a:custGeom>
          <a:blipFill>
            <a:blip r:embed="rId4"/>
            <a:stretch>
              <a:fillRect r="-157593"/>
            </a:stretch>
          </a:blipFill>
        </p:spPr>
      </p:sp>
      <p:sp>
        <p:nvSpPr>
          <p:cNvPr id="27" name="Freeform 27"/>
          <p:cNvSpPr/>
          <p:nvPr/>
        </p:nvSpPr>
        <p:spPr>
          <a:xfrm>
            <a:off x="13716000" y="6414494"/>
            <a:ext cx="2429525" cy="2843806"/>
          </a:xfrm>
          <a:custGeom>
            <a:avLst/>
            <a:gdLst/>
            <a:ahLst/>
            <a:cxnLst/>
            <a:rect l="l" t="t" r="r" b="b"/>
            <a:pathLst>
              <a:path w="2429525" h="2843806">
                <a:moveTo>
                  <a:pt x="0" y="0"/>
                </a:moveTo>
                <a:lnTo>
                  <a:pt x="2429525" y="0"/>
                </a:lnTo>
                <a:lnTo>
                  <a:pt x="2429525" y="2843806"/>
                </a:lnTo>
                <a:lnTo>
                  <a:pt x="0" y="2843806"/>
                </a:lnTo>
                <a:lnTo>
                  <a:pt x="0" y="0"/>
                </a:lnTo>
                <a:close/>
              </a:path>
            </a:pathLst>
          </a:custGeom>
          <a:blipFill>
            <a:blip r:embed="rId4"/>
            <a:stretch>
              <a:fillRect r="-157593"/>
            </a:stretch>
          </a:blipFill>
        </p:spPr>
      </p:sp>
      <p:sp>
        <p:nvSpPr>
          <p:cNvPr id="28" name="TextBox 28"/>
          <p:cNvSpPr txBox="1"/>
          <p:nvPr/>
        </p:nvSpPr>
        <p:spPr>
          <a:xfrm>
            <a:off x="8765702" y="6607703"/>
            <a:ext cx="1481529" cy="276743"/>
          </a:xfrm>
          <a:prstGeom prst="rect">
            <a:avLst/>
          </a:prstGeom>
        </p:spPr>
        <p:txBody>
          <a:bodyPr lIns="0" tIns="0" rIns="0" bIns="0" rtlCol="0" anchor="t">
            <a:spAutoFit/>
          </a:bodyPr>
          <a:lstStyle/>
          <a:p>
            <a:pPr algn="ctr">
              <a:lnSpc>
                <a:spcPts val="2299"/>
              </a:lnSpc>
            </a:pPr>
            <a:r>
              <a:rPr lang="en-US" sz="1642">
                <a:solidFill>
                  <a:srgbClr val="FFFFFF"/>
                </a:solidFill>
                <a:latin typeface="Canva Sans"/>
                <a:ea typeface="Canva Sans"/>
                <a:cs typeface="Canva Sans"/>
                <a:sym typeface="Canva Sans"/>
              </a:rPr>
              <a:t>C_v Coherence</a:t>
            </a:r>
          </a:p>
        </p:txBody>
      </p:sp>
      <p:sp>
        <p:nvSpPr>
          <p:cNvPr id="29" name="TextBox 29"/>
          <p:cNvSpPr txBox="1"/>
          <p:nvPr/>
        </p:nvSpPr>
        <p:spPr>
          <a:xfrm>
            <a:off x="11632255" y="6607703"/>
            <a:ext cx="1172719" cy="276743"/>
          </a:xfrm>
          <a:prstGeom prst="rect">
            <a:avLst/>
          </a:prstGeom>
        </p:spPr>
        <p:txBody>
          <a:bodyPr lIns="0" tIns="0" rIns="0" bIns="0" rtlCol="0" anchor="t">
            <a:spAutoFit/>
          </a:bodyPr>
          <a:lstStyle/>
          <a:p>
            <a:pPr algn="ctr">
              <a:lnSpc>
                <a:spcPts val="2299"/>
              </a:lnSpc>
            </a:pPr>
            <a:r>
              <a:rPr lang="en-US" sz="1642">
                <a:solidFill>
                  <a:srgbClr val="FFFFFF"/>
                </a:solidFill>
                <a:latin typeface="Canva Sans"/>
                <a:ea typeface="Canva Sans"/>
                <a:cs typeface="Canva Sans"/>
                <a:sym typeface="Canva Sans"/>
              </a:rPr>
              <a:t>NPMI Score</a:t>
            </a:r>
          </a:p>
        </p:txBody>
      </p:sp>
      <p:sp>
        <p:nvSpPr>
          <p:cNvPr id="30" name="TextBox 30"/>
          <p:cNvSpPr txBox="1"/>
          <p:nvPr/>
        </p:nvSpPr>
        <p:spPr>
          <a:xfrm>
            <a:off x="14257207" y="6558482"/>
            <a:ext cx="1347111" cy="276743"/>
          </a:xfrm>
          <a:prstGeom prst="rect">
            <a:avLst/>
          </a:prstGeom>
        </p:spPr>
        <p:txBody>
          <a:bodyPr lIns="0" tIns="0" rIns="0" bIns="0" rtlCol="0" anchor="t">
            <a:spAutoFit/>
          </a:bodyPr>
          <a:lstStyle/>
          <a:p>
            <a:pPr algn="ctr">
              <a:lnSpc>
                <a:spcPts val="2299"/>
              </a:lnSpc>
            </a:pPr>
            <a:r>
              <a:rPr lang="en-US" sz="1642">
                <a:solidFill>
                  <a:srgbClr val="FFFFFF"/>
                </a:solidFill>
                <a:latin typeface="Canva Sans"/>
                <a:ea typeface="Canva Sans"/>
                <a:cs typeface="Canva Sans"/>
                <a:sym typeface="Canva Sans"/>
              </a:rPr>
              <a:t>Umass  Score</a:t>
            </a:r>
          </a:p>
        </p:txBody>
      </p:sp>
      <p:sp>
        <p:nvSpPr>
          <p:cNvPr id="31" name="TextBox 31"/>
          <p:cNvSpPr txBox="1"/>
          <p:nvPr/>
        </p:nvSpPr>
        <p:spPr>
          <a:xfrm>
            <a:off x="8649693" y="7040837"/>
            <a:ext cx="1713548" cy="711794"/>
          </a:xfrm>
          <a:prstGeom prst="rect">
            <a:avLst/>
          </a:prstGeom>
        </p:spPr>
        <p:txBody>
          <a:bodyPr lIns="0" tIns="0" rIns="0" bIns="0" rtlCol="0" anchor="t">
            <a:spAutoFit/>
          </a:bodyPr>
          <a:lstStyle/>
          <a:p>
            <a:pPr algn="ctr">
              <a:lnSpc>
                <a:spcPts val="5917"/>
              </a:lnSpc>
            </a:pPr>
            <a:r>
              <a:rPr lang="en-US" sz="4226" b="1">
                <a:solidFill>
                  <a:srgbClr val="FF751F"/>
                </a:solidFill>
                <a:latin typeface="Canva Sans Bold"/>
                <a:ea typeface="Canva Sans Bold"/>
                <a:cs typeface="Canva Sans Bold"/>
                <a:sym typeface="Canva Sans Bold"/>
              </a:rPr>
              <a:t>0.5735</a:t>
            </a:r>
          </a:p>
        </p:txBody>
      </p:sp>
      <p:sp>
        <p:nvSpPr>
          <p:cNvPr id="32" name="TextBox 32"/>
          <p:cNvSpPr txBox="1"/>
          <p:nvPr/>
        </p:nvSpPr>
        <p:spPr>
          <a:xfrm>
            <a:off x="11417558" y="7141620"/>
            <a:ext cx="1854637" cy="711794"/>
          </a:xfrm>
          <a:prstGeom prst="rect">
            <a:avLst/>
          </a:prstGeom>
        </p:spPr>
        <p:txBody>
          <a:bodyPr lIns="0" tIns="0" rIns="0" bIns="0" rtlCol="0" anchor="t">
            <a:spAutoFit/>
          </a:bodyPr>
          <a:lstStyle/>
          <a:p>
            <a:pPr algn="ctr">
              <a:lnSpc>
                <a:spcPts val="5917"/>
              </a:lnSpc>
            </a:pPr>
            <a:r>
              <a:rPr lang="en-US" sz="4226" b="1">
                <a:solidFill>
                  <a:srgbClr val="FF751F"/>
                </a:solidFill>
                <a:latin typeface="Canva Sans Bold"/>
                <a:ea typeface="Canva Sans Bold"/>
                <a:cs typeface="Canva Sans Bold"/>
                <a:sym typeface="Canva Sans Bold"/>
              </a:rPr>
              <a:t>0.0530</a:t>
            </a:r>
          </a:p>
        </p:txBody>
      </p:sp>
      <p:sp>
        <p:nvSpPr>
          <p:cNvPr id="33" name="TextBox 33"/>
          <p:cNvSpPr txBox="1"/>
          <p:nvPr/>
        </p:nvSpPr>
        <p:spPr>
          <a:xfrm>
            <a:off x="14039713" y="7141620"/>
            <a:ext cx="1867972" cy="711794"/>
          </a:xfrm>
          <a:prstGeom prst="rect">
            <a:avLst/>
          </a:prstGeom>
        </p:spPr>
        <p:txBody>
          <a:bodyPr lIns="0" tIns="0" rIns="0" bIns="0" rtlCol="0" anchor="t">
            <a:spAutoFit/>
          </a:bodyPr>
          <a:lstStyle/>
          <a:p>
            <a:pPr algn="ctr">
              <a:lnSpc>
                <a:spcPts val="5917"/>
              </a:lnSpc>
            </a:pPr>
            <a:r>
              <a:rPr lang="en-US" sz="4226" b="1">
                <a:solidFill>
                  <a:srgbClr val="FF751F"/>
                </a:solidFill>
                <a:latin typeface="Canva Sans Bold"/>
                <a:ea typeface="Canva Sans Bold"/>
                <a:cs typeface="Canva Sans Bold"/>
                <a:sym typeface="Canva Sans Bold"/>
              </a:rPr>
              <a:t>-5.3257</a:t>
            </a:r>
          </a:p>
        </p:txBody>
      </p:sp>
      <p:sp>
        <p:nvSpPr>
          <p:cNvPr id="34" name="TextBox 34"/>
          <p:cNvSpPr txBox="1"/>
          <p:nvPr/>
        </p:nvSpPr>
        <p:spPr>
          <a:xfrm>
            <a:off x="8563607" y="8019331"/>
            <a:ext cx="1885718" cy="904332"/>
          </a:xfrm>
          <a:prstGeom prst="rect">
            <a:avLst/>
          </a:prstGeom>
        </p:spPr>
        <p:txBody>
          <a:bodyPr lIns="0" tIns="0" rIns="0" bIns="0" rtlCol="0" anchor="t">
            <a:spAutoFit/>
          </a:bodyPr>
          <a:lstStyle/>
          <a:p>
            <a:pPr algn="ctr">
              <a:lnSpc>
                <a:spcPts val="1843"/>
              </a:lnSpc>
            </a:pPr>
            <a:r>
              <a:rPr lang="en-US" sz="1316">
                <a:solidFill>
                  <a:srgbClr val="FCEE16"/>
                </a:solidFill>
                <a:latin typeface="Canva Sans"/>
                <a:ea typeface="Canva Sans"/>
                <a:cs typeface="Canva Sans"/>
                <a:sym typeface="Canva Sans"/>
              </a:rPr>
              <a:t>topik yang dihasilkan memiliki tingkat koherensi yang cukup baik.</a:t>
            </a:r>
          </a:p>
        </p:txBody>
      </p:sp>
      <p:sp>
        <p:nvSpPr>
          <p:cNvPr id="35" name="TextBox 35"/>
          <p:cNvSpPr txBox="1"/>
          <p:nvPr/>
        </p:nvSpPr>
        <p:spPr>
          <a:xfrm>
            <a:off x="11310199" y="8019331"/>
            <a:ext cx="2069355" cy="1131632"/>
          </a:xfrm>
          <a:prstGeom prst="rect">
            <a:avLst/>
          </a:prstGeom>
        </p:spPr>
        <p:txBody>
          <a:bodyPr lIns="0" tIns="0" rIns="0" bIns="0" rtlCol="0" anchor="t">
            <a:spAutoFit/>
          </a:bodyPr>
          <a:lstStyle/>
          <a:p>
            <a:pPr algn="ctr">
              <a:lnSpc>
                <a:spcPts val="1843"/>
              </a:lnSpc>
            </a:pPr>
            <a:r>
              <a:rPr lang="en-US" sz="1316">
                <a:solidFill>
                  <a:srgbClr val="FCEE16"/>
                </a:solidFill>
                <a:latin typeface="Canva Sans"/>
                <a:ea typeface="Canva Sans"/>
                <a:cs typeface="Canva Sans"/>
                <a:sym typeface="Canva Sans"/>
              </a:rPr>
              <a:t>bernilai positif menunjukkan bahwa terdapat asosiasi statistik yang bermakna antar kata dalam topik</a:t>
            </a:r>
          </a:p>
        </p:txBody>
      </p:sp>
      <p:sp>
        <p:nvSpPr>
          <p:cNvPr id="36" name="TextBox 36"/>
          <p:cNvSpPr txBox="1"/>
          <p:nvPr/>
        </p:nvSpPr>
        <p:spPr>
          <a:xfrm>
            <a:off x="13896085" y="8132981"/>
            <a:ext cx="2069355" cy="904332"/>
          </a:xfrm>
          <a:prstGeom prst="rect">
            <a:avLst/>
          </a:prstGeom>
        </p:spPr>
        <p:txBody>
          <a:bodyPr lIns="0" tIns="0" rIns="0" bIns="0" rtlCol="0" anchor="t">
            <a:spAutoFit/>
          </a:bodyPr>
          <a:lstStyle/>
          <a:p>
            <a:pPr algn="ctr">
              <a:lnSpc>
                <a:spcPts val="1843"/>
              </a:lnSpc>
            </a:pPr>
            <a:r>
              <a:rPr lang="en-US" sz="1316">
                <a:solidFill>
                  <a:srgbClr val="FCEE16"/>
                </a:solidFill>
                <a:latin typeface="Canva Sans"/>
                <a:ea typeface="Canva Sans"/>
                <a:cs typeface="Canva Sans"/>
                <a:sym typeface="Canva Sans"/>
              </a:rPr>
              <a:t>bahwa model memiliki konsistensi probabilistik yang baik terhadap distribusi dokumen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708804"/>
            <a:ext cx="9144000" cy="560871"/>
            <a:chOff x="0" y="0"/>
            <a:chExt cx="2408296" cy="147719"/>
          </a:xfrm>
        </p:grpSpPr>
        <p:sp>
          <p:nvSpPr>
            <p:cNvPr id="3" name="Freeform 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4" name="TextBox 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028700" y="2479309"/>
            <a:ext cx="8115300" cy="137058"/>
            <a:chOff x="0" y="0"/>
            <a:chExt cx="2137363" cy="36097"/>
          </a:xfrm>
        </p:grpSpPr>
        <p:sp>
          <p:nvSpPr>
            <p:cNvPr id="6" name="Freeform 6"/>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7" name="TextBox 7"/>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9144000" y="2479309"/>
            <a:ext cx="8115300" cy="137058"/>
            <a:chOff x="0" y="0"/>
            <a:chExt cx="2137363" cy="36097"/>
          </a:xfrm>
        </p:grpSpPr>
        <p:sp>
          <p:nvSpPr>
            <p:cNvPr id="9" name="Freeform 9"/>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0" name="TextBox 10"/>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1" name="Freeform 11"/>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2"/>
            <a:stretch>
              <a:fillRect/>
            </a:stretch>
          </a:blipFill>
        </p:spPr>
      </p:sp>
      <p:grpSp>
        <p:nvGrpSpPr>
          <p:cNvPr id="12" name="Group 12"/>
          <p:cNvGrpSpPr/>
          <p:nvPr/>
        </p:nvGrpSpPr>
        <p:grpSpPr>
          <a:xfrm>
            <a:off x="9144000" y="9708804"/>
            <a:ext cx="9144000" cy="560871"/>
            <a:chOff x="0" y="0"/>
            <a:chExt cx="2408296" cy="147719"/>
          </a:xfrm>
        </p:grpSpPr>
        <p:sp>
          <p:nvSpPr>
            <p:cNvPr id="13" name="Freeform 1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4" name="TextBox 1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5" name="Freeform 15"/>
          <p:cNvSpPr/>
          <p:nvPr/>
        </p:nvSpPr>
        <p:spPr>
          <a:xfrm>
            <a:off x="2435555" y="2911642"/>
            <a:ext cx="7197292" cy="6310018"/>
          </a:xfrm>
          <a:custGeom>
            <a:avLst/>
            <a:gdLst/>
            <a:ahLst/>
            <a:cxnLst/>
            <a:rect l="l" t="t" r="r" b="b"/>
            <a:pathLst>
              <a:path w="7197292" h="6310018">
                <a:moveTo>
                  <a:pt x="0" y="0"/>
                </a:moveTo>
                <a:lnTo>
                  <a:pt x="7197291" y="0"/>
                </a:lnTo>
                <a:lnTo>
                  <a:pt x="7197291" y="6310018"/>
                </a:lnTo>
                <a:lnTo>
                  <a:pt x="0" y="6310018"/>
                </a:lnTo>
                <a:lnTo>
                  <a:pt x="0" y="0"/>
                </a:lnTo>
                <a:close/>
              </a:path>
            </a:pathLst>
          </a:custGeom>
          <a:blipFill>
            <a:blip r:embed="rId3"/>
            <a:stretch>
              <a:fillRect r="-5966"/>
            </a:stretch>
          </a:blipFill>
        </p:spPr>
      </p:sp>
      <p:sp>
        <p:nvSpPr>
          <p:cNvPr id="16" name="TextBox 16"/>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Grafik Topic Word Scores</a:t>
            </a:r>
          </a:p>
        </p:txBody>
      </p:sp>
      <p:sp>
        <p:nvSpPr>
          <p:cNvPr id="17" name="TextBox 17"/>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15 | BERTopic Model</a:t>
            </a:r>
          </a:p>
        </p:txBody>
      </p:sp>
      <p:sp>
        <p:nvSpPr>
          <p:cNvPr id="18" name="TextBox 18"/>
          <p:cNvSpPr txBox="1"/>
          <p:nvPr/>
        </p:nvSpPr>
        <p:spPr>
          <a:xfrm>
            <a:off x="10945284" y="4693571"/>
            <a:ext cx="6022255" cy="2601234"/>
          </a:xfrm>
          <a:prstGeom prst="rect">
            <a:avLst/>
          </a:prstGeom>
        </p:spPr>
        <p:txBody>
          <a:bodyPr lIns="0" tIns="0" rIns="0" bIns="0" rtlCol="0" anchor="t">
            <a:spAutoFit/>
          </a:bodyPr>
          <a:lstStyle/>
          <a:p>
            <a:pPr algn="ctr">
              <a:lnSpc>
                <a:spcPts val="4149"/>
              </a:lnSpc>
            </a:pPr>
            <a:r>
              <a:rPr lang="en-US" sz="2964" b="1">
                <a:solidFill>
                  <a:srgbClr val="000000"/>
                </a:solidFill>
                <a:latin typeface="Canva Sans Bold"/>
                <a:ea typeface="Canva Sans Bold"/>
                <a:cs typeface="Canva Sans Bold"/>
                <a:sym typeface="Canva Sans Bold"/>
              </a:rPr>
              <a:t>Grafik Topic Word Scores secara khusus fungsi menampilkan topik berdasarkan tingkat dominansi atau frekuensi kemunculannya dalam dokumen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708804"/>
            <a:ext cx="9144000" cy="560871"/>
            <a:chOff x="0" y="0"/>
            <a:chExt cx="2408296" cy="147719"/>
          </a:xfrm>
        </p:grpSpPr>
        <p:sp>
          <p:nvSpPr>
            <p:cNvPr id="3" name="Freeform 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4" name="TextBox 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028700" y="2479309"/>
            <a:ext cx="8115300" cy="137058"/>
            <a:chOff x="0" y="0"/>
            <a:chExt cx="2137363" cy="36097"/>
          </a:xfrm>
        </p:grpSpPr>
        <p:sp>
          <p:nvSpPr>
            <p:cNvPr id="6" name="Freeform 6"/>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7" name="TextBox 7"/>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9144000" y="2479309"/>
            <a:ext cx="8115300" cy="137058"/>
            <a:chOff x="0" y="0"/>
            <a:chExt cx="2137363" cy="36097"/>
          </a:xfrm>
        </p:grpSpPr>
        <p:sp>
          <p:nvSpPr>
            <p:cNvPr id="9" name="Freeform 9"/>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0" name="TextBox 10"/>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1" name="Freeform 11"/>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2"/>
            <a:stretch>
              <a:fillRect/>
            </a:stretch>
          </a:blipFill>
        </p:spPr>
      </p:sp>
      <p:grpSp>
        <p:nvGrpSpPr>
          <p:cNvPr id="12" name="Group 12"/>
          <p:cNvGrpSpPr/>
          <p:nvPr/>
        </p:nvGrpSpPr>
        <p:grpSpPr>
          <a:xfrm>
            <a:off x="9144000" y="9708804"/>
            <a:ext cx="9144000" cy="560871"/>
            <a:chOff x="0" y="0"/>
            <a:chExt cx="2408296" cy="147719"/>
          </a:xfrm>
        </p:grpSpPr>
        <p:sp>
          <p:nvSpPr>
            <p:cNvPr id="13" name="Freeform 1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4" name="TextBox 1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5" name="Object 15"/>
          <p:cNvGraphicFramePr/>
          <p:nvPr/>
        </p:nvGraphicFramePr>
        <p:xfrm>
          <a:off x="1830232" y="2659237"/>
          <a:ext cx="6686550" cy="8229600"/>
        </p:xfrm>
        <a:graphic>
          <a:graphicData uri="http://schemas.openxmlformats.org/presentationml/2006/ole">
            <mc:AlternateContent xmlns:mc="http://schemas.openxmlformats.org/markup-compatibility/2006">
              <mc:Choice xmlns:v="urn:schemas-microsoft-com:vml" Requires="v">
                <p:oleObj name="Worksheet" r:id="rId3" imgW="8331200" imgH="9867900" progId="Excel.Sheet.12">
                  <p:embed/>
                </p:oleObj>
              </mc:Choice>
              <mc:Fallback>
                <p:oleObj name="Worksheet" r:id="rId3" imgW="8331200" imgH="9867900" progId="Excel.Sheet.12">
                  <p:embed/>
                  <p:pic>
                    <p:nvPicPr>
                      <p:cNvPr id="0" name=""/>
                      <p:cNvPicPr/>
                      <p:nvPr/>
                    </p:nvPicPr>
                    <p:blipFill>
                      <a:blip r:embed="rId4"/>
                      <a:stretch>
                        <a:fillRect/>
                      </a:stretch>
                    </p:blipFill>
                    <p:spPr>
                      <a:xfrm>
                        <a:off x="1830232" y="2659237"/>
                        <a:ext cx="6686550" cy="8229600"/>
                      </a:xfrm>
                      <a:prstGeom prst="rect">
                        <a:avLst/>
                      </a:prstGeom>
                    </p:spPr>
                  </p:pic>
                </p:oleObj>
              </mc:Fallback>
            </mc:AlternateContent>
          </a:graphicData>
        </a:graphic>
      </p:graphicFrame>
      <p:graphicFrame>
        <p:nvGraphicFramePr>
          <p:cNvPr id="16" name="Object 16"/>
          <p:cNvGraphicFramePr/>
          <p:nvPr/>
        </p:nvGraphicFramePr>
        <p:xfrm>
          <a:off x="9800719" y="2659237"/>
          <a:ext cx="7243762" cy="7738110"/>
        </p:xfrm>
        <a:graphic>
          <a:graphicData uri="http://schemas.openxmlformats.org/presentationml/2006/ole">
            <mc:AlternateContent xmlns:mc="http://schemas.openxmlformats.org/markup-compatibility/2006">
              <mc:Choice xmlns:v="urn:schemas-microsoft-com:vml" Requires="v">
                <p:oleObj name="Worksheet" r:id="rId5" imgW="8788400" imgH="9283700" progId="Excel.Sheet.12">
                  <p:embed/>
                </p:oleObj>
              </mc:Choice>
              <mc:Fallback>
                <p:oleObj name="Worksheet" r:id="rId5" imgW="8788400" imgH="9283700" progId="Excel.Sheet.12">
                  <p:embed/>
                  <p:pic>
                    <p:nvPicPr>
                      <p:cNvPr id="0" name=""/>
                      <p:cNvPicPr/>
                      <p:nvPr/>
                    </p:nvPicPr>
                    <p:blipFill>
                      <a:blip r:embed="rId6"/>
                      <a:stretch>
                        <a:fillRect/>
                      </a:stretch>
                    </p:blipFill>
                    <p:spPr>
                      <a:xfrm>
                        <a:off x="9800719" y="2659237"/>
                        <a:ext cx="7243762" cy="7738110"/>
                      </a:xfrm>
                      <a:prstGeom prst="rect">
                        <a:avLst/>
                      </a:prstGeom>
                    </p:spPr>
                  </p:pic>
                </p:oleObj>
              </mc:Fallback>
            </mc:AlternateContent>
          </a:graphicData>
        </a:graphic>
      </p:graphicFrame>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Hasil Topik Model BERTopic</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16 | BERTopic Model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708804"/>
            <a:ext cx="9144000" cy="560871"/>
            <a:chOff x="0" y="0"/>
            <a:chExt cx="2408296" cy="147719"/>
          </a:xfrm>
        </p:grpSpPr>
        <p:sp>
          <p:nvSpPr>
            <p:cNvPr id="3" name="Freeform 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4" name="TextBox 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028700" y="2479309"/>
            <a:ext cx="8115300" cy="137058"/>
            <a:chOff x="0" y="0"/>
            <a:chExt cx="2137363" cy="36097"/>
          </a:xfrm>
        </p:grpSpPr>
        <p:sp>
          <p:nvSpPr>
            <p:cNvPr id="6" name="Freeform 6"/>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7" name="TextBox 7"/>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9144000" y="2479309"/>
            <a:ext cx="8115300" cy="137058"/>
            <a:chOff x="0" y="0"/>
            <a:chExt cx="2137363" cy="36097"/>
          </a:xfrm>
        </p:grpSpPr>
        <p:sp>
          <p:nvSpPr>
            <p:cNvPr id="9" name="Freeform 9"/>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0" name="TextBox 10"/>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1" name="Freeform 11"/>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2"/>
            <a:stretch>
              <a:fillRect/>
            </a:stretch>
          </a:blipFill>
        </p:spPr>
      </p:sp>
      <p:grpSp>
        <p:nvGrpSpPr>
          <p:cNvPr id="12" name="Group 12"/>
          <p:cNvGrpSpPr/>
          <p:nvPr/>
        </p:nvGrpSpPr>
        <p:grpSpPr>
          <a:xfrm>
            <a:off x="9144000" y="9708804"/>
            <a:ext cx="9144000" cy="560871"/>
            <a:chOff x="0" y="0"/>
            <a:chExt cx="2408296" cy="147719"/>
          </a:xfrm>
        </p:grpSpPr>
        <p:sp>
          <p:nvSpPr>
            <p:cNvPr id="13" name="Freeform 1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4" name="TextBox 1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5" name="Object 15"/>
          <p:cNvGraphicFramePr/>
          <p:nvPr/>
        </p:nvGraphicFramePr>
        <p:xfrm>
          <a:off x="950119" y="2805886"/>
          <a:ext cx="7243762" cy="7463790"/>
        </p:xfrm>
        <a:graphic>
          <a:graphicData uri="http://schemas.openxmlformats.org/presentationml/2006/ole">
            <mc:AlternateContent xmlns:mc="http://schemas.openxmlformats.org/markup-compatibility/2006">
              <mc:Choice xmlns:v="urn:schemas-microsoft-com:vml" Requires="v">
                <p:oleObj name="Worksheet" r:id="rId3" imgW="8724900" imgH="8953500" progId="Excel.Sheet.12">
                  <p:embed/>
                </p:oleObj>
              </mc:Choice>
              <mc:Fallback>
                <p:oleObj name="Worksheet" r:id="rId3" imgW="8724900" imgH="8953500" progId="Excel.Sheet.12">
                  <p:embed/>
                  <p:pic>
                    <p:nvPicPr>
                      <p:cNvPr id="0" name=""/>
                      <p:cNvPicPr/>
                      <p:nvPr/>
                    </p:nvPicPr>
                    <p:blipFill>
                      <a:blip r:embed="rId4"/>
                      <a:stretch>
                        <a:fillRect/>
                      </a:stretch>
                    </p:blipFill>
                    <p:spPr>
                      <a:xfrm>
                        <a:off x="950119" y="2805886"/>
                        <a:ext cx="7243762" cy="7463790"/>
                      </a:xfrm>
                      <a:prstGeom prst="rect">
                        <a:avLst/>
                      </a:prstGeom>
                    </p:spPr>
                  </p:pic>
                </p:oleObj>
              </mc:Fallback>
            </mc:AlternateContent>
          </a:graphicData>
        </a:graphic>
      </p:graphicFrame>
      <p:graphicFrame>
        <p:nvGraphicFramePr>
          <p:cNvPr id="16" name="Object 16"/>
          <p:cNvGraphicFramePr/>
          <p:nvPr/>
        </p:nvGraphicFramePr>
        <p:xfrm>
          <a:off x="9405519" y="2805886"/>
          <a:ext cx="7243762" cy="7463790"/>
        </p:xfrm>
        <a:graphic>
          <a:graphicData uri="http://schemas.openxmlformats.org/presentationml/2006/ole">
            <mc:AlternateContent xmlns:mc="http://schemas.openxmlformats.org/markup-compatibility/2006">
              <mc:Choice xmlns:v="urn:schemas-microsoft-com:vml" Requires="v">
                <p:oleObj name="Worksheet" r:id="rId5" imgW="8724900" imgH="8953500" progId="Excel.Sheet.12">
                  <p:embed/>
                </p:oleObj>
              </mc:Choice>
              <mc:Fallback>
                <p:oleObj name="Worksheet" r:id="rId5" imgW="8724900" imgH="8953500" progId="Excel.Sheet.12">
                  <p:embed/>
                  <p:pic>
                    <p:nvPicPr>
                      <p:cNvPr id="0" name=""/>
                      <p:cNvPicPr/>
                      <p:nvPr/>
                    </p:nvPicPr>
                    <p:blipFill>
                      <a:blip r:embed="rId6"/>
                      <a:stretch>
                        <a:fillRect/>
                      </a:stretch>
                    </p:blipFill>
                    <p:spPr>
                      <a:xfrm>
                        <a:off x="9405519" y="2805886"/>
                        <a:ext cx="7243762" cy="7463790"/>
                      </a:xfrm>
                      <a:prstGeom prst="rect">
                        <a:avLst/>
                      </a:prstGeom>
                    </p:spPr>
                  </p:pic>
                </p:oleObj>
              </mc:Fallback>
            </mc:AlternateContent>
          </a:graphicData>
        </a:graphic>
      </p:graphicFrame>
      <p:sp>
        <p:nvSpPr>
          <p:cNvPr id="17" name="TextBox 17"/>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Hasil Topik Model BERTopic</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17 | BERTopic Model</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708804"/>
            <a:ext cx="9144000" cy="560871"/>
            <a:chOff x="0" y="0"/>
            <a:chExt cx="2408296" cy="147719"/>
          </a:xfrm>
        </p:grpSpPr>
        <p:sp>
          <p:nvSpPr>
            <p:cNvPr id="3" name="Freeform 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4" name="TextBox 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028700" y="2479309"/>
            <a:ext cx="8115300" cy="137058"/>
            <a:chOff x="0" y="0"/>
            <a:chExt cx="2137363" cy="36097"/>
          </a:xfrm>
        </p:grpSpPr>
        <p:sp>
          <p:nvSpPr>
            <p:cNvPr id="6" name="Freeform 6"/>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7" name="TextBox 7"/>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a:off x="9144000" y="2479309"/>
            <a:ext cx="8115300" cy="137058"/>
            <a:chOff x="0" y="0"/>
            <a:chExt cx="2137363" cy="36097"/>
          </a:xfrm>
        </p:grpSpPr>
        <p:sp>
          <p:nvSpPr>
            <p:cNvPr id="9" name="Freeform 9"/>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0" name="TextBox 10"/>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1" name="Freeform 11"/>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2"/>
            <a:stretch>
              <a:fillRect/>
            </a:stretch>
          </a:blipFill>
        </p:spPr>
      </p:sp>
      <p:grpSp>
        <p:nvGrpSpPr>
          <p:cNvPr id="12" name="Group 12"/>
          <p:cNvGrpSpPr/>
          <p:nvPr/>
        </p:nvGrpSpPr>
        <p:grpSpPr>
          <a:xfrm>
            <a:off x="9144000" y="9708804"/>
            <a:ext cx="9144000" cy="560871"/>
            <a:chOff x="0" y="0"/>
            <a:chExt cx="2408296" cy="147719"/>
          </a:xfrm>
        </p:grpSpPr>
        <p:sp>
          <p:nvSpPr>
            <p:cNvPr id="13" name="Freeform 1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4" name="TextBox 1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5" name="Object 15"/>
          <p:cNvGraphicFramePr/>
          <p:nvPr/>
        </p:nvGraphicFramePr>
        <p:xfrm>
          <a:off x="1190016" y="2911642"/>
          <a:ext cx="7243762" cy="7658100"/>
        </p:xfrm>
        <a:graphic>
          <a:graphicData uri="http://schemas.openxmlformats.org/presentationml/2006/ole">
            <mc:AlternateContent xmlns:mc="http://schemas.openxmlformats.org/markup-compatibility/2006">
              <mc:Choice xmlns:v="urn:schemas-microsoft-com:vml" Requires="v">
                <p:oleObj name="Worksheet" r:id="rId3" imgW="8763000" imgH="9182100" progId="Excel.Sheet.12">
                  <p:embed/>
                </p:oleObj>
              </mc:Choice>
              <mc:Fallback>
                <p:oleObj name="Worksheet" r:id="rId3" imgW="8763000" imgH="9182100" progId="Excel.Sheet.12">
                  <p:embed/>
                  <p:pic>
                    <p:nvPicPr>
                      <p:cNvPr id="0" name=""/>
                      <p:cNvPicPr/>
                      <p:nvPr/>
                    </p:nvPicPr>
                    <p:blipFill>
                      <a:blip r:embed="rId4"/>
                      <a:stretch>
                        <a:fillRect/>
                      </a:stretch>
                    </p:blipFill>
                    <p:spPr>
                      <a:xfrm>
                        <a:off x="1190016" y="2911642"/>
                        <a:ext cx="7243762" cy="7658100"/>
                      </a:xfrm>
                      <a:prstGeom prst="rect">
                        <a:avLst/>
                      </a:prstGeom>
                    </p:spPr>
                  </p:pic>
                </p:oleObj>
              </mc:Fallback>
            </mc:AlternateContent>
          </a:graphicData>
        </a:graphic>
      </p:graphicFrame>
      <p:sp>
        <p:nvSpPr>
          <p:cNvPr id="16" name="TextBox 16"/>
          <p:cNvSpPr txBox="1"/>
          <p:nvPr/>
        </p:nvSpPr>
        <p:spPr>
          <a:xfrm>
            <a:off x="1028700" y="1210387"/>
            <a:ext cx="11543683" cy="995966"/>
          </a:xfrm>
          <a:prstGeom prst="rect">
            <a:avLst/>
          </a:prstGeom>
        </p:spPr>
        <p:txBody>
          <a:bodyPr lIns="0" tIns="0" rIns="0" bIns="0" rtlCol="0" anchor="t">
            <a:spAutoFit/>
          </a:bodyPr>
          <a:lstStyle/>
          <a:p>
            <a:pPr algn="l">
              <a:lnSpc>
                <a:spcPts val="8160"/>
              </a:lnSpc>
              <a:spcBef>
                <a:spcPct val="0"/>
              </a:spcBef>
            </a:pPr>
            <a:r>
              <a:rPr lang="en-US" sz="5828" b="1">
                <a:solidFill>
                  <a:srgbClr val="1800AD"/>
                </a:solidFill>
                <a:latin typeface="Archivo Narrow Bold"/>
                <a:ea typeface="Archivo Narrow Bold"/>
                <a:cs typeface="Archivo Narrow Bold"/>
                <a:sym typeface="Archivo Narrow Bold"/>
              </a:rPr>
              <a:t>Hasil Topik Model BERTopic</a:t>
            </a:r>
          </a:p>
        </p:txBody>
      </p:sp>
      <p:sp>
        <p:nvSpPr>
          <p:cNvPr id="17" name="TextBox 17"/>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18 | BERTopic Model</a:t>
            </a:r>
          </a:p>
        </p:txBody>
      </p:sp>
      <p:grpSp>
        <p:nvGrpSpPr>
          <p:cNvPr id="18" name="Group 18"/>
          <p:cNvGrpSpPr/>
          <p:nvPr/>
        </p:nvGrpSpPr>
        <p:grpSpPr>
          <a:xfrm>
            <a:off x="8813294" y="3685979"/>
            <a:ext cx="8446006" cy="4243868"/>
            <a:chOff x="0" y="0"/>
            <a:chExt cx="5720543" cy="2874403"/>
          </a:xfrm>
        </p:grpSpPr>
        <p:sp>
          <p:nvSpPr>
            <p:cNvPr id="19" name="Freeform 19"/>
            <p:cNvSpPr/>
            <p:nvPr/>
          </p:nvSpPr>
          <p:spPr>
            <a:xfrm>
              <a:off x="0" y="0"/>
              <a:ext cx="5720543" cy="2874403"/>
            </a:xfrm>
            <a:custGeom>
              <a:avLst/>
              <a:gdLst/>
              <a:ahLst/>
              <a:cxnLst/>
              <a:rect l="l" t="t" r="r" b="b"/>
              <a:pathLst>
                <a:path w="5720543" h="2874403">
                  <a:moveTo>
                    <a:pt x="23833" y="0"/>
                  </a:moveTo>
                  <a:lnTo>
                    <a:pt x="5696710" y="0"/>
                  </a:lnTo>
                  <a:cubicBezTo>
                    <a:pt x="5709872" y="0"/>
                    <a:pt x="5720543" y="10670"/>
                    <a:pt x="5720543" y="23833"/>
                  </a:cubicBezTo>
                  <a:lnTo>
                    <a:pt x="5720543" y="2850571"/>
                  </a:lnTo>
                  <a:cubicBezTo>
                    <a:pt x="5720543" y="2863733"/>
                    <a:pt x="5709872" y="2874403"/>
                    <a:pt x="5696710" y="2874403"/>
                  </a:cubicBezTo>
                  <a:lnTo>
                    <a:pt x="23833" y="2874403"/>
                  </a:lnTo>
                  <a:cubicBezTo>
                    <a:pt x="10670" y="2874403"/>
                    <a:pt x="0" y="2863733"/>
                    <a:pt x="0" y="2850571"/>
                  </a:cubicBezTo>
                  <a:lnTo>
                    <a:pt x="0" y="23833"/>
                  </a:lnTo>
                  <a:cubicBezTo>
                    <a:pt x="0" y="10670"/>
                    <a:pt x="10670" y="0"/>
                    <a:pt x="23833" y="0"/>
                  </a:cubicBezTo>
                  <a:close/>
                </a:path>
              </a:pathLst>
            </a:custGeom>
            <a:solidFill>
              <a:srgbClr val="FFFFFF"/>
            </a:solidFill>
            <a:ln w="38100" cap="rnd">
              <a:solidFill>
                <a:srgbClr val="FF751F"/>
              </a:solidFill>
              <a:prstDash val="solid"/>
              <a:round/>
            </a:ln>
          </p:spPr>
        </p:sp>
        <p:sp>
          <p:nvSpPr>
            <p:cNvPr id="20" name="TextBox 20"/>
            <p:cNvSpPr txBox="1"/>
            <p:nvPr/>
          </p:nvSpPr>
          <p:spPr>
            <a:xfrm>
              <a:off x="0" y="-47625"/>
              <a:ext cx="5720543" cy="2922028"/>
            </a:xfrm>
            <a:prstGeom prst="rect">
              <a:avLst/>
            </a:prstGeom>
          </p:spPr>
          <p:txBody>
            <a:bodyPr lIns="19754" tIns="19754" rIns="19754" bIns="19754" rtlCol="0" anchor="ctr"/>
            <a:lstStyle/>
            <a:p>
              <a:pPr algn="ctr">
                <a:lnSpc>
                  <a:spcPts val="2659"/>
                </a:lnSpc>
              </a:pPr>
              <a:endParaRPr/>
            </a:p>
          </p:txBody>
        </p:sp>
      </p:grpSp>
      <p:sp>
        <p:nvSpPr>
          <p:cNvPr id="21" name="TextBox 21"/>
          <p:cNvSpPr txBox="1"/>
          <p:nvPr/>
        </p:nvSpPr>
        <p:spPr>
          <a:xfrm>
            <a:off x="9032564" y="3970186"/>
            <a:ext cx="8007466" cy="3714749"/>
          </a:xfrm>
          <a:prstGeom prst="rect">
            <a:avLst/>
          </a:prstGeom>
        </p:spPr>
        <p:txBody>
          <a:bodyPr lIns="0" tIns="0" rIns="0" bIns="0" rtlCol="0" anchor="t">
            <a:spAutoFit/>
          </a:bodyPr>
          <a:lstStyle/>
          <a:p>
            <a:pPr algn="ctr">
              <a:lnSpc>
                <a:spcPts val="4200"/>
              </a:lnSpc>
            </a:pPr>
            <a:r>
              <a:rPr lang="en-US" sz="3000" b="1">
                <a:solidFill>
                  <a:srgbClr val="000000"/>
                </a:solidFill>
                <a:latin typeface="Canva Sans Bold"/>
                <a:ea typeface="Canva Sans Bold"/>
                <a:cs typeface="Canva Sans Bold"/>
                <a:sym typeface="Canva Sans Bold"/>
              </a:rPr>
              <a:t>Topik-topik yang dihasilkan memiliki koherensi semantik yang jelas dan mencerminkan tema-tema seperti ketuhanan, kenabian, keimanan, akhlak, eskatologi (hari kiamat, surga, dan neraka), ilmu pengetahuan (science), sosial, dan hukum</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9708804"/>
            <a:ext cx="9144000" cy="560871"/>
            <a:chOff x="0" y="0"/>
            <a:chExt cx="2408296" cy="147719"/>
          </a:xfrm>
        </p:grpSpPr>
        <p:sp>
          <p:nvSpPr>
            <p:cNvPr id="3" name="Freeform 3"/>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4" name="TextBox 4"/>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a:off x="1028700" y="2180455"/>
            <a:ext cx="16230600" cy="137058"/>
            <a:chOff x="0" y="0"/>
            <a:chExt cx="21640800" cy="182743"/>
          </a:xfrm>
        </p:grpSpPr>
        <p:grpSp>
          <p:nvGrpSpPr>
            <p:cNvPr id="6" name="Group 6"/>
            <p:cNvGrpSpPr/>
            <p:nvPr/>
          </p:nvGrpSpPr>
          <p:grpSpPr>
            <a:xfrm>
              <a:off x="0" y="0"/>
              <a:ext cx="10820400" cy="182743"/>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10820400" y="0"/>
              <a:ext cx="10820400" cy="182743"/>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2"/>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6" name="Object 16"/>
          <p:cNvGraphicFramePr/>
          <p:nvPr>
            <p:extLst>
              <p:ext uri="{D42A27DB-BD31-4B8C-83A1-F6EECF244321}">
                <p14:modId xmlns:p14="http://schemas.microsoft.com/office/powerpoint/2010/main" val="2484431996"/>
              </p:ext>
            </p:extLst>
          </p:nvPr>
        </p:nvGraphicFramePr>
        <p:xfrm>
          <a:off x="2133600" y="2422809"/>
          <a:ext cx="14773275" cy="7543800"/>
        </p:xfrm>
        <a:graphic>
          <a:graphicData uri="http://schemas.openxmlformats.org/presentationml/2006/ole">
            <mc:AlternateContent xmlns:mc="http://schemas.openxmlformats.org/markup-compatibility/2006">
              <mc:Choice xmlns:v="urn:schemas-microsoft-com:vml" Requires="v">
                <p:oleObj name="Worksheet" r:id="rId3" imgW="17716500" imgH="10490200" progId="Excel.Sheet.12">
                  <p:embed/>
                </p:oleObj>
              </mc:Choice>
              <mc:Fallback>
                <p:oleObj name="Worksheet" r:id="rId3" imgW="17716500" imgH="10490200" progId="Excel.Sheet.12">
                  <p:embed/>
                  <p:pic>
                    <p:nvPicPr>
                      <p:cNvPr id="0" name=""/>
                      <p:cNvPicPr/>
                      <p:nvPr/>
                    </p:nvPicPr>
                    <p:blipFill>
                      <a:blip r:embed="rId4"/>
                      <a:stretch>
                        <a:fillRect/>
                      </a:stretch>
                    </p:blipFill>
                    <p:spPr>
                      <a:xfrm>
                        <a:off x="2133600" y="2422809"/>
                        <a:ext cx="14773275" cy="7543800"/>
                      </a:xfrm>
                      <a:prstGeom prst="rect">
                        <a:avLst/>
                      </a:prstGeom>
                    </p:spPr>
                  </p:pic>
                </p:oleObj>
              </mc:Fallback>
            </mc:AlternateContent>
          </a:graphicData>
        </a:graphic>
      </p:graphicFrame>
      <p:sp>
        <p:nvSpPr>
          <p:cNvPr id="17" name="TextBox 17"/>
          <p:cNvSpPr txBox="1"/>
          <p:nvPr/>
        </p:nvSpPr>
        <p:spPr>
          <a:xfrm>
            <a:off x="1028700" y="1219912"/>
            <a:ext cx="15290653" cy="862867"/>
          </a:xfrm>
          <a:prstGeom prst="rect">
            <a:avLst/>
          </a:prstGeom>
        </p:spPr>
        <p:txBody>
          <a:bodyPr lIns="0" tIns="0" rIns="0" bIns="0" rtlCol="0" anchor="t">
            <a:spAutoFit/>
          </a:bodyPr>
          <a:lstStyle/>
          <a:p>
            <a:pPr algn="l">
              <a:lnSpc>
                <a:spcPts val="7040"/>
              </a:lnSpc>
              <a:spcBef>
                <a:spcPct val="0"/>
              </a:spcBef>
            </a:pPr>
            <a:r>
              <a:rPr lang="en-US" sz="5028" b="1">
                <a:solidFill>
                  <a:srgbClr val="1800AD"/>
                </a:solidFill>
                <a:latin typeface="Archivo Narrow Bold"/>
                <a:ea typeface="Archivo Narrow Bold"/>
                <a:cs typeface="Archivo Narrow Bold"/>
                <a:sym typeface="Archivo Narrow Bold"/>
              </a:rPr>
              <a:t>Penggabungan hasil topik model CTM dan BERTopic</a:t>
            </a: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19 | BERTopic Model</a:t>
            </a:r>
          </a:p>
        </p:txBody>
      </p:sp>
      <p:sp>
        <p:nvSpPr>
          <p:cNvPr id="19" name="TextBox 19"/>
          <p:cNvSpPr txBox="1"/>
          <p:nvPr/>
        </p:nvSpPr>
        <p:spPr>
          <a:xfrm>
            <a:off x="6540484" y="2520485"/>
            <a:ext cx="4267084" cy="505508"/>
          </a:xfrm>
          <a:prstGeom prst="rect">
            <a:avLst/>
          </a:prstGeom>
        </p:spPr>
        <p:txBody>
          <a:bodyPr lIns="0" tIns="0" rIns="0" bIns="0" rtlCol="0" anchor="t">
            <a:spAutoFit/>
          </a:bodyPr>
          <a:lstStyle/>
          <a:p>
            <a:pPr algn="ctr">
              <a:lnSpc>
                <a:spcPts val="4162"/>
              </a:lnSpc>
            </a:pPr>
            <a:r>
              <a:rPr lang="en-US" sz="2973" b="1" dirty="0">
                <a:solidFill>
                  <a:srgbClr val="000000"/>
                </a:solidFill>
                <a:latin typeface="Canva Sans Bold"/>
                <a:ea typeface="Canva Sans Bold"/>
                <a:cs typeface="Canva Sans Bold"/>
                <a:sym typeface="Canva Sans Bold"/>
              </a:rPr>
              <a:t>Jaccard similarity </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aphicFrame>
        <p:nvGraphicFramePr>
          <p:cNvPr id="16" name="Object 16"/>
          <p:cNvGraphicFramePr/>
          <p:nvPr/>
        </p:nvGraphicFramePr>
        <p:xfrm>
          <a:off x="2389763" y="2892592"/>
          <a:ext cx="7185280" cy="8229600"/>
        </p:xfrm>
        <a:graphic>
          <a:graphicData uri="http://schemas.openxmlformats.org/presentationml/2006/ole">
            <mc:AlternateContent xmlns:mc="http://schemas.openxmlformats.org/markup-compatibility/2006">
              <mc:Choice xmlns:v="urn:schemas-microsoft-com:vml" Requires="v">
                <p:oleObj name="Worksheet" r:id="rId4" imgW="8826500" imgH="9867900" progId="Excel.Sheet.12">
                  <p:embed/>
                </p:oleObj>
              </mc:Choice>
              <mc:Fallback>
                <p:oleObj name="Worksheet" r:id="rId4" imgW="8826500" imgH="9867900" progId="Excel.Sheet.12">
                  <p:embed/>
                  <p:pic>
                    <p:nvPicPr>
                      <p:cNvPr id="0" name=""/>
                      <p:cNvPicPr/>
                      <p:nvPr/>
                    </p:nvPicPr>
                    <p:blipFill>
                      <a:blip r:embed="rId5"/>
                      <a:stretch>
                        <a:fillRect/>
                      </a:stretch>
                    </p:blipFill>
                    <p:spPr>
                      <a:xfrm>
                        <a:off x="2389763" y="2892592"/>
                        <a:ext cx="7185280" cy="8229600"/>
                      </a:xfrm>
                      <a:prstGeom prst="rect">
                        <a:avLst/>
                      </a:prstGeom>
                    </p:spPr>
                  </p:pic>
                </p:oleObj>
              </mc:Fallback>
            </mc:AlternateContent>
          </a:graphicData>
        </a:graphic>
      </p:graphicFrame>
      <p:sp>
        <p:nvSpPr>
          <p:cNvPr id="17" name="TextBox 17"/>
          <p:cNvSpPr txBox="1"/>
          <p:nvPr/>
        </p:nvSpPr>
        <p:spPr>
          <a:xfrm>
            <a:off x="1028700" y="1210387"/>
            <a:ext cx="11543683" cy="2025684"/>
          </a:xfrm>
          <a:prstGeom prst="rect">
            <a:avLst/>
          </a:prstGeom>
        </p:spPr>
        <p:txBody>
          <a:bodyPr lIns="0" tIns="0" rIns="0" bIns="0" rtlCol="0" anchor="t">
            <a:spAutoFit/>
          </a:bodyPr>
          <a:lstStyle/>
          <a:p>
            <a:pPr algn="l">
              <a:lnSpc>
                <a:spcPts val="8160"/>
              </a:lnSpc>
            </a:pPr>
            <a:r>
              <a:rPr lang="en-US" sz="5828" b="1">
                <a:solidFill>
                  <a:srgbClr val="1800AD"/>
                </a:solidFill>
                <a:latin typeface="Archivo Narrow Bold"/>
                <a:ea typeface="Archivo Narrow Bold"/>
                <a:cs typeface="Archivo Narrow Bold"/>
                <a:sym typeface="Archivo Narrow Bold"/>
              </a:rPr>
              <a:t>Human Interpretability Analysis</a:t>
            </a:r>
          </a:p>
          <a:p>
            <a:pPr algn="l">
              <a:lnSpc>
                <a:spcPts val="8160"/>
              </a:lnSpc>
              <a:spcBef>
                <a:spcPct val="0"/>
              </a:spcBef>
            </a:pPr>
            <a:endParaRPr lang="en-US" sz="5828" b="1">
              <a:solidFill>
                <a:srgbClr val="1800AD"/>
              </a:solidFill>
              <a:latin typeface="Archivo Narrow Bold"/>
              <a:ea typeface="Archivo Narrow Bold"/>
              <a:cs typeface="Archivo Narrow Bold"/>
              <a:sym typeface="Archivo Narrow Bold"/>
            </a:endParaRP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20 | Correlated Topic Model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5434946" y="547167"/>
            <a:ext cx="6313412" cy="11932565"/>
          </a:xfrm>
          <a:custGeom>
            <a:avLst/>
            <a:gdLst/>
            <a:ahLst/>
            <a:cxnLst/>
            <a:rect l="l" t="t" r="r" b="b"/>
            <a:pathLst>
              <a:path w="6313412" h="11932565">
                <a:moveTo>
                  <a:pt x="0" y="11932565"/>
                </a:moveTo>
                <a:lnTo>
                  <a:pt x="6313412" y="11932565"/>
                </a:lnTo>
                <a:lnTo>
                  <a:pt x="6313412" y="0"/>
                </a:lnTo>
                <a:lnTo>
                  <a:pt x="0" y="0"/>
                </a:lnTo>
                <a:lnTo>
                  <a:pt x="0" y="11932565"/>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6" name="Freeform 16"/>
          <p:cNvSpPr/>
          <p:nvPr/>
        </p:nvSpPr>
        <p:spPr>
          <a:xfrm>
            <a:off x="1028700" y="3000781"/>
            <a:ext cx="8458954" cy="4416150"/>
          </a:xfrm>
          <a:custGeom>
            <a:avLst/>
            <a:gdLst/>
            <a:ahLst/>
            <a:cxnLst/>
            <a:rect l="l" t="t" r="r" b="b"/>
            <a:pathLst>
              <a:path w="8458954" h="4416150">
                <a:moveTo>
                  <a:pt x="0" y="0"/>
                </a:moveTo>
                <a:lnTo>
                  <a:pt x="8458954" y="0"/>
                </a:lnTo>
                <a:lnTo>
                  <a:pt x="8458954" y="4416150"/>
                </a:lnTo>
                <a:lnTo>
                  <a:pt x="0" y="4416150"/>
                </a:lnTo>
                <a:lnTo>
                  <a:pt x="0" y="0"/>
                </a:lnTo>
                <a:close/>
              </a:path>
            </a:pathLst>
          </a:custGeom>
          <a:blipFill>
            <a:blip r:embed="rId4"/>
            <a:stretch>
              <a:fillRect/>
            </a:stretch>
          </a:blipFill>
        </p:spPr>
      </p:sp>
      <p:sp>
        <p:nvSpPr>
          <p:cNvPr id="17" name="TextBox 17"/>
          <p:cNvSpPr txBox="1"/>
          <p:nvPr/>
        </p:nvSpPr>
        <p:spPr>
          <a:xfrm>
            <a:off x="1028700" y="1210387"/>
            <a:ext cx="11543683" cy="2025684"/>
          </a:xfrm>
          <a:prstGeom prst="rect">
            <a:avLst/>
          </a:prstGeom>
        </p:spPr>
        <p:txBody>
          <a:bodyPr lIns="0" tIns="0" rIns="0" bIns="0" rtlCol="0" anchor="t">
            <a:spAutoFit/>
          </a:bodyPr>
          <a:lstStyle/>
          <a:p>
            <a:pPr algn="l">
              <a:lnSpc>
                <a:spcPts val="8160"/>
              </a:lnSpc>
            </a:pPr>
            <a:r>
              <a:rPr lang="en-US" sz="5828" b="1" dirty="0">
                <a:solidFill>
                  <a:srgbClr val="1800AD"/>
                </a:solidFill>
                <a:latin typeface="Archivo Narrow Bold"/>
                <a:ea typeface="Archivo Narrow Bold"/>
                <a:cs typeface="Archivo Narrow Bold"/>
                <a:sym typeface="Archivo Narrow Bold"/>
              </a:rPr>
              <a:t>Human Interpretability Analysis</a:t>
            </a:r>
          </a:p>
          <a:p>
            <a:pPr algn="l">
              <a:lnSpc>
                <a:spcPts val="8160"/>
              </a:lnSpc>
              <a:spcBef>
                <a:spcPct val="0"/>
              </a:spcBef>
            </a:pPr>
            <a:endParaRPr lang="en-US" sz="5828" b="1" dirty="0">
              <a:solidFill>
                <a:srgbClr val="1800AD"/>
              </a:solidFill>
              <a:latin typeface="Archivo Narrow Bold"/>
              <a:ea typeface="Archivo Narrow Bold"/>
              <a:cs typeface="Archivo Narrow Bold"/>
              <a:sym typeface="Archivo Narrow Bold"/>
            </a:endParaRPr>
          </a:p>
        </p:txBody>
      </p:sp>
      <p:sp>
        <p:nvSpPr>
          <p:cNvPr id="18" name="TextBox 18"/>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21 | Correlated Topic Model</a:t>
            </a:r>
          </a:p>
        </p:txBody>
      </p:sp>
      <p:grpSp>
        <p:nvGrpSpPr>
          <p:cNvPr id="19" name="Group 19"/>
          <p:cNvGrpSpPr/>
          <p:nvPr/>
        </p:nvGrpSpPr>
        <p:grpSpPr>
          <a:xfrm>
            <a:off x="9792944" y="3685979"/>
            <a:ext cx="7466356" cy="2574010"/>
            <a:chOff x="0" y="0"/>
            <a:chExt cx="5057019" cy="1743396"/>
          </a:xfrm>
        </p:grpSpPr>
        <p:sp>
          <p:nvSpPr>
            <p:cNvPr id="20" name="Freeform 20"/>
            <p:cNvSpPr/>
            <p:nvPr/>
          </p:nvSpPr>
          <p:spPr>
            <a:xfrm>
              <a:off x="0" y="0"/>
              <a:ext cx="5057019" cy="1743396"/>
            </a:xfrm>
            <a:custGeom>
              <a:avLst/>
              <a:gdLst/>
              <a:ahLst/>
              <a:cxnLst/>
              <a:rect l="l" t="t" r="r" b="b"/>
              <a:pathLst>
                <a:path w="5057019" h="1743396">
                  <a:moveTo>
                    <a:pt x="26960" y="0"/>
                  </a:moveTo>
                  <a:lnTo>
                    <a:pt x="5030059" y="0"/>
                  </a:lnTo>
                  <a:cubicBezTo>
                    <a:pt x="5037209" y="0"/>
                    <a:pt x="5044067" y="2840"/>
                    <a:pt x="5049122" y="7896"/>
                  </a:cubicBezTo>
                  <a:cubicBezTo>
                    <a:pt x="5054178" y="12952"/>
                    <a:pt x="5057019" y="19809"/>
                    <a:pt x="5057019" y="26960"/>
                  </a:cubicBezTo>
                  <a:lnTo>
                    <a:pt x="5057019" y="1716437"/>
                  </a:lnTo>
                  <a:cubicBezTo>
                    <a:pt x="5057019" y="1723587"/>
                    <a:pt x="5054178" y="1730444"/>
                    <a:pt x="5049122" y="1735500"/>
                  </a:cubicBezTo>
                  <a:cubicBezTo>
                    <a:pt x="5044067" y="1740556"/>
                    <a:pt x="5037209" y="1743396"/>
                    <a:pt x="5030059" y="1743396"/>
                  </a:cubicBezTo>
                  <a:lnTo>
                    <a:pt x="26960" y="1743396"/>
                  </a:lnTo>
                  <a:cubicBezTo>
                    <a:pt x="19809" y="1743396"/>
                    <a:pt x="12952" y="1740556"/>
                    <a:pt x="7896" y="1735500"/>
                  </a:cubicBezTo>
                  <a:cubicBezTo>
                    <a:pt x="2840" y="1730444"/>
                    <a:pt x="0" y="1723587"/>
                    <a:pt x="0" y="1716437"/>
                  </a:cubicBezTo>
                  <a:lnTo>
                    <a:pt x="0" y="26960"/>
                  </a:lnTo>
                  <a:cubicBezTo>
                    <a:pt x="0" y="19809"/>
                    <a:pt x="2840" y="12952"/>
                    <a:pt x="7896" y="7896"/>
                  </a:cubicBezTo>
                  <a:cubicBezTo>
                    <a:pt x="12952" y="2840"/>
                    <a:pt x="19809" y="0"/>
                    <a:pt x="26960" y="0"/>
                  </a:cubicBezTo>
                  <a:close/>
                </a:path>
              </a:pathLst>
            </a:custGeom>
            <a:solidFill>
              <a:srgbClr val="FFFFFF"/>
            </a:solidFill>
            <a:ln w="38100" cap="rnd">
              <a:solidFill>
                <a:srgbClr val="FF751F"/>
              </a:solidFill>
              <a:prstDash val="solid"/>
              <a:round/>
            </a:ln>
          </p:spPr>
        </p:sp>
        <p:sp>
          <p:nvSpPr>
            <p:cNvPr id="21" name="TextBox 21"/>
            <p:cNvSpPr txBox="1"/>
            <p:nvPr/>
          </p:nvSpPr>
          <p:spPr>
            <a:xfrm>
              <a:off x="0" y="-47625"/>
              <a:ext cx="5057019" cy="1791021"/>
            </a:xfrm>
            <a:prstGeom prst="rect">
              <a:avLst/>
            </a:prstGeom>
          </p:spPr>
          <p:txBody>
            <a:bodyPr lIns="19754" tIns="19754" rIns="19754" bIns="19754" rtlCol="0" anchor="ctr"/>
            <a:lstStyle/>
            <a:p>
              <a:pPr algn="ctr">
                <a:lnSpc>
                  <a:spcPts val="2659"/>
                </a:lnSpc>
              </a:pPr>
              <a:endParaRPr/>
            </a:p>
          </p:txBody>
        </p:sp>
      </p:grpSp>
      <p:sp>
        <p:nvSpPr>
          <p:cNvPr id="22" name="TextBox 22"/>
          <p:cNvSpPr txBox="1"/>
          <p:nvPr/>
        </p:nvSpPr>
        <p:spPr>
          <a:xfrm>
            <a:off x="10036875" y="4355739"/>
            <a:ext cx="5972225" cy="1126074"/>
          </a:xfrm>
          <a:prstGeom prst="rect">
            <a:avLst/>
          </a:prstGeom>
        </p:spPr>
        <p:txBody>
          <a:bodyPr lIns="0" tIns="0" rIns="0" bIns="0" rtlCol="0" anchor="t">
            <a:spAutoFit/>
          </a:bodyPr>
          <a:lstStyle/>
          <a:p>
            <a:pPr algn="ctr">
              <a:lnSpc>
                <a:spcPts val="3032"/>
              </a:lnSpc>
            </a:pPr>
            <a:r>
              <a:rPr lang="en-US" sz="2166" b="1">
                <a:solidFill>
                  <a:srgbClr val="000000"/>
                </a:solidFill>
                <a:latin typeface="Canva Sans Bold"/>
                <a:ea typeface="Canva Sans Bold"/>
                <a:cs typeface="Canva Sans Bold"/>
                <a:sym typeface="Canva Sans Bold"/>
              </a:rPr>
              <a:t>Contoh distribusi topik terhadap ayat pada tiga surat, yaitu Surat Al-Fatihah (Surat 1), Al-Baqarah (Surat 2), dan Ali Imran (Surat 3). </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6899734" y="5748474"/>
            <a:ext cx="6313412" cy="11932565"/>
          </a:xfrm>
          <a:custGeom>
            <a:avLst/>
            <a:gdLst/>
            <a:ahLst/>
            <a:cxnLst/>
            <a:rect l="l" t="t" r="r" b="b"/>
            <a:pathLst>
              <a:path w="6313412" h="11932565">
                <a:moveTo>
                  <a:pt x="0" y="11932564"/>
                </a:moveTo>
                <a:lnTo>
                  <a:pt x="6313412" y="11932564"/>
                </a:lnTo>
                <a:lnTo>
                  <a:pt x="6313412" y="0"/>
                </a:lnTo>
                <a:lnTo>
                  <a:pt x="0" y="0"/>
                </a:lnTo>
                <a:lnTo>
                  <a:pt x="0" y="11932564"/>
                </a:lnTo>
                <a:close/>
              </a:path>
            </a:pathLst>
          </a:custGeom>
          <a:blipFill>
            <a:blip>
              <a:alphaModFix amt="7999"/>
              <a:extLst>
                <a:ext uri="{96DAC541-7B7A-43D3-8B79-37D633B846F1}">
                  <asvg:svgBlip xmlns:asvg="http://schemas.microsoft.com/office/drawing/2016/SVG/main" r:embed="rId2"/>
                </a:ext>
              </a:extLst>
            </a:blip>
            <a:stretch>
              <a:fillRect/>
            </a:stretch>
          </a:blipFill>
        </p:spPr>
      </p:sp>
      <p:grpSp>
        <p:nvGrpSpPr>
          <p:cNvPr id="3" name="Group 3"/>
          <p:cNvGrpSpPr/>
          <p:nvPr/>
        </p:nvGrpSpPr>
        <p:grpSpPr>
          <a:xfrm>
            <a:off x="0" y="9708804"/>
            <a:ext cx="9144000" cy="560871"/>
            <a:chOff x="0" y="0"/>
            <a:chExt cx="2408296" cy="147719"/>
          </a:xfrm>
        </p:grpSpPr>
        <p:sp>
          <p:nvSpPr>
            <p:cNvPr id="4" name="Freeform 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1800AD"/>
            </a:solidFill>
          </p:spPr>
        </p:sp>
        <p:sp>
          <p:nvSpPr>
            <p:cNvPr id="5" name="TextBox 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grpSp>
        <p:nvGrpSpPr>
          <p:cNvPr id="6" name="Group 6"/>
          <p:cNvGrpSpPr/>
          <p:nvPr/>
        </p:nvGrpSpPr>
        <p:grpSpPr>
          <a:xfrm>
            <a:off x="1028700" y="2479309"/>
            <a:ext cx="8115300" cy="137058"/>
            <a:chOff x="0" y="0"/>
            <a:chExt cx="2137363" cy="36097"/>
          </a:xfrm>
        </p:grpSpPr>
        <p:sp>
          <p:nvSpPr>
            <p:cNvPr id="7" name="Freeform 7"/>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8" name="TextBox 8"/>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9" name="Group 9"/>
          <p:cNvGrpSpPr/>
          <p:nvPr/>
        </p:nvGrpSpPr>
        <p:grpSpPr>
          <a:xfrm>
            <a:off x="9144000" y="2479309"/>
            <a:ext cx="8115300" cy="137058"/>
            <a:chOff x="0" y="0"/>
            <a:chExt cx="2137363" cy="36097"/>
          </a:xfrm>
        </p:grpSpPr>
        <p:sp>
          <p:nvSpPr>
            <p:cNvPr id="10" name="Freeform 10"/>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11" name="TextBox 11"/>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5487240" y="516545"/>
            <a:ext cx="1664226" cy="1616285"/>
          </a:xfrm>
          <a:custGeom>
            <a:avLst/>
            <a:gdLst/>
            <a:ahLst/>
            <a:cxnLst/>
            <a:rect l="l" t="t" r="r" b="b"/>
            <a:pathLst>
              <a:path w="1664226" h="1616285">
                <a:moveTo>
                  <a:pt x="0" y="0"/>
                </a:moveTo>
                <a:lnTo>
                  <a:pt x="1664226" y="0"/>
                </a:lnTo>
                <a:lnTo>
                  <a:pt x="1664226" y="1616285"/>
                </a:lnTo>
                <a:lnTo>
                  <a:pt x="0" y="1616285"/>
                </a:lnTo>
                <a:lnTo>
                  <a:pt x="0" y="0"/>
                </a:lnTo>
                <a:close/>
              </a:path>
            </a:pathLst>
          </a:custGeom>
          <a:blipFill>
            <a:blip r:embed="rId3"/>
            <a:stretch>
              <a:fillRect/>
            </a:stretch>
          </a:blipFill>
        </p:spPr>
      </p:sp>
      <p:grpSp>
        <p:nvGrpSpPr>
          <p:cNvPr id="13" name="Group 13"/>
          <p:cNvGrpSpPr/>
          <p:nvPr/>
        </p:nvGrpSpPr>
        <p:grpSpPr>
          <a:xfrm>
            <a:off x="9144000" y="9708804"/>
            <a:ext cx="9144000" cy="560871"/>
            <a:chOff x="0" y="0"/>
            <a:chExt cx="2408296" cy="147719"/>
          </a:xfrm>
        </p:grpSpPr>
        <p:sp>
          <p:nvSpPr>
            <p:cNvPr id="14" name="Freeform 14"/>
            <p:cNvSpPr/>
            <p:nvPr/>
          </p:nvSpPr>
          <p:spPr>
            <a:xfrm>
              <a:off x="0" y="0"/>
              <a:ext cx="2408296" cy="147719"/>
            </a:xfrm>
            <a:custGeom>
              <a:avLst/>
              <a:gdLst/>
              <a:ahLst/>
              <a:cxnLst/>
              <a:rect l="l" t="t" r="r" b="b"/>
              <a:pathLst>
                <a:path w="2408296" h="147719">
                  <a:moveTo>
                    <a:pt x="0" y="0"/>
                  </a:moveTo>
                  <a:lnTo>
                    <a:pt x="2408296" y="0"/>
                  </a:lnTo>
                  <a:lnTo>
                    <a:pt x="2408296" y="147719"/>
                  </a:lnTo>
                  <a:lnTo>
                    <a:pt x="0" y="147719"/>
                  </a:lnTo>
                  <a:close/>
                </a:path>
              </a:pathLst>
            </a:custGeom>
            <a:solidFill>
              <a:srgbClr val="FFDE59"/>
            </a:solidFill>
          </p:spPr>
        </p:sp>
        <p:sp>
          <p:nvSpPr>
            <p:cNvPr id="15" name="TextBox 15"/>
            <p:cNvSpPr txBox="1"/>
            <p:nvPr/>
          </p:nvSpPr>
          <p:spPr>
            <a:xfrm>
              <a:off x="0" y="-47625"/>
              <a:ext cx="2408296" cy="195344"/>
            </a:xfrm>
            <a:prstGeom prst="rect">
              <a:avLst/>
            </a:prstGeom>
          </p:spPr>
          <p:txBody>
            <a:bodyPr lIns="50800" tIns="50800" rIns="50800" bIns="50800" rtlCol="0" anchor="ctr"/>
            <a:lstStyle/>
            <a:p>
              <a:pPr algn="ctr">
                <a:lnSpc>
                  <a:spcPts val="2659"/>
                </a:lnSpc>
              </a:pPr>
              <a:endParaRPr/>
            </a:p>
          </p:txBody>
        </p:sp>
      </p:grpSp>
      <p:sp>
        <p:nvSpPr>
          <p:cNvPr id="16" name="TextBox 16"/>
          <p:cNvSpPr txBox="1"/>
          <p:nvPr/>
        </p:nvSpPr>
        <p:spPr>
          <a:xfrm>
            <a:off x="2140233" y="1285638"/>
            <a:ext cx="11543683" cy="2025684"/>
          </a:xfrm>
          <a:prstGeom prst="rect">
            <a:avLst/>
          </a:prstGeom>
        </p:spPr>
        <p:txBody>
          <a:bodyPr lIns="0" tIns="0" rIns="0" bIns="0" rtlCol="0" anchor="t">
            <a:spAutoFit/>
          </a:bodyPr>
          <a:lstStyle/>
          <a:p>
            <a:pPr algn="l">
              <a:lnSpc>
                <a:spcPts val="8160"/>
              </a:lnSpc>
            </a:pPr>
            <a:r>
              <a:rPr lang="en-US" sz="5828" b="1" dirty="0">
                <a:solidFill>
                  <a:srgbClr val="1800AD"/>
                </a:solidFill>
                <a:latin typeface="Archivo Narrow Bold"/>
                <a:ea typeface="Archivo Narrow Bold"/>
                <a:cs typeface="Archivo Narrow Bold"/>
                <a:sym typeface="Archivo Narrow Bold"/>
              </a:rPr>
              <a:t>Human Interpretability Analysis</a:t>
            </a:r>
          </a:p>
          <a:p>
            <a:pPr algn="l">
              <a:lnSpc>
                <a:spcPts val="8160"/>
              </a:lnSpc>
              <a:spcBef>
                <a:spcPct val="0"/>
              </a:spcBef>
            </a:pPr>
            <a:endParaRPr lang="en-US" sz="5828" b="1" dirty="0">
              <a:solidFill>
                <a:srgbClr val="1800AD"/>
              </a:solidFill>
              <a:latin typeface="Archivo Narrow Bold"/>
              <a:ea typeface="Archivo Narrow Bold"/>
              <a:cs typeface="Archivo Narrow Bold"/>
              <a:sym typeface="Archivo Narrow Bold"/>
            </a:endParaRPr>
          </a:p>
        </p:txBody>
      </p:sp>
      <p:sp>
        <p:nvSpPr>
          <p:cNvPr id="17" name="TextBox 17"/>
          <p:cNvSpPr txBox="1"/>
          <p:nvPr/>
        </p:nvSpPr>
        <p:spPr>
          <a:xfrm>
            <a:off x="1028700" y="215814"/>
            <a:ext cx="10960228" cy="812886"/>
          </a:xfrm>
          <a:prstGeom prst="rect">
            <a:avLst/>
          </a:prstGeom>
        </p:spPr>
        <p:txBody>
          <a:bodyPr lIns="0" tIns="0" rIns="0" bIns="0" rtlCol="0" anchor="t">
            <a:spAutoFit/>
          </a:bodyPr>
          <a:lstStyle/>
          <a:p>
            <a:pPr algn="l">
              <a:lnSpc>
                <a:spcPts val="6645"/>
              </a:lnSpc>
              <a:spcBef>
                <a:spcPct val="0"/>
              </a:spcBef>
            </a:pPr>
            <a:r>
              <a:rPr lang="en-US" sz="4746" b="1">
                <a:solidFill>
                  <a:srgbClr val="FF751F"/>
                </a:solidFill>
                <a:latin typeface="Montserrat Bold"/>
                <a:ea typeface="Montserrat Bold"/>
                <a:cs typeface="Montserrat Bold"/>
                <a:sym typeface="Montserrat Bold"/>
              </a:rPr>
              <a:t>22 | Kesimpulan</a:t>
            </a:r>
          </a:p>
        </p:txBody>
      </p:sp>
      <p:sp>
        <p:nvSpPr>
          <p:cNvPr id="18" name="TextBox 18"/>
          <p:cNvSpPr txBox="1"/>
          <p:nvPr/>
        </p:nvSpPr>
        <p:spPr>
          <a:xfrm>
            <a:off x="1002433" y="3493247"/>
            <a:ext cx="16256867" cy="1289905"/>
          </a:xfrm>
          <a:prstGeom prst="rect">
            <a:avLst/>
          </a:prstGeom>
        </p:spPr>
        <p:txBody>
          <a:bodyPr lIns="0" tIns="0" rIns="0" bIns="0" rtlCol="0" anchor="t">
            <a:spAutoFit/>
          </a:bodyPr>
          <a:lstStyle/>
          <a:p>
            <a:pPr algn="ctr">
              <a:lnSpc>
                <a:spcPts val="3452"/>
              </a:lnSpc>
            </a:pPr>
            <a:r>
              <a:rPr lang="en-US" sz="2466" b="1">
                <a:solidFill>
                  <a:srgbClr val="000000"/>
                </a:solidFill>
                <a:latin typeface="Canva Sans Bold"/>
                <a:ea typeface="Canva Sans Bold"/>
                <a:cs typeface="Canva Sans Bold"/>
                <a:sym typeface="Canva Sans Bold"/>
              </a:rPr>
              <a:t>Secara keseluruhan model CTM mampu menghasilkan topik yang representatif meski dengan korelasi antar topik yang belum benar-benar optimal (berdasarkan nilai Cv = 0.517, NPMI= -0.226, Umass = -5.0661, UCI = -2.1370 dan Perplexity 1720.28)</a:t>
            </a:r>
          </a:p>
        </p:txBody>
      </p:sp>
      <p:sp>
        <p:nvSpPr>
          <p:cNvPr id="19" name="TextBox 19"/>
          <p:cNvSpPr txBox="1"/>
          <p:nvPr/>
        </p:nvSpPr>
        <p:spPr>
          <a:xfrm>
            <a:off x="1028700" y="5234272"/>
            <a:ext cx="16256867" cy="1325465"/>
          </a:xfrm>
          <a:prstGeom prst="rect">
            <a:avLst/>
          </a:prstGeom>
        </p:spPr>
        <p:txBody>
          <a:bodyPr lIns="0" tIns="0" rIns="0" bIns="0" rtlCol="0" anchor="t">
            <a:spAutoFit/>
          </a:bodyPr>
          <a:lstStyle/>
          <a:p>
            <a:pPr algn="ctr">
              <a:lnSpc>
                <a:spcPts val="3592"/>
              </a:lnSpc>
            </a:pPr>
            <a:r>
              <a:rPr lang="en-US" sz="2566" b="1">
                <a:solidFill>
                  <a:srgbClr val="000000"/>
                </a:solidFill>
                <a:latin typeface="Canva Sans Bold"/>
                <a:ea typeface="Canva Sans Bold"/>
                <a:cs typeface="Canva Sans Bold"/>
                <a:sym typeface="Canva Sans Bold"/>
              </a:rPr>
              <a:t>Model BERTopic mampu menghasilkan topik dengan koherensi semantik yang cukup baik dengan nilai 0.5735 (C_v &gt; 0,5), Nilai NPMI = 0.0530 yang bernilai positif menunjukkan bahwa terdapat asosiasi statistik yang bermakna antar kata dalam topik</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rot="5033559" flipV="1">
            <a:off x="3863225" y="-4766268"/>
            <a:ext cx="9848495" cy="18613993"/>
          </a:xfrm>
          <a:custGeom>
            <a:avLst/>
            <a:gdLst/>
            <a:ahLst/>
            <a:cxnLst/>
            <a:rect l="l" t="t" r="r" b="b"/>
            <a:pathLst>
              <a:path w="9848495" h="18613993">
                <a:moveTo>
                  <a:pt x="0" y="18613994"/>
                </a:moveTo>
                <a:lnTo>
                  <a:pt x="9848494" y="18613994"/>
                </a:lnTo>
                <a:lnTo>
                  <a:pt x="9848494" y="0"/>
                </a:lnTo>
                <a:lnTo>
                  <a:pt x="0" y="0"/>
                </a:lnTo>
                <a:lnTo>
                  <a:pt x="0" y="18613994"/>
                </a:lnTo>
                <a:close/>
              </a:path>
            </a:pathLst>
          </a:custGeom>
          <a:blipFill>
            <a:blip>
              <a:alphaModFix amt="6999"/>
              <a:extLst>
                <a:ext uri="{96DAC541-7B7A-43D3-8B79-37D633B846F1}">
                  <asvg:svgBlip xmlns:asvg="http://schemas.microsoft.com/office/drawing/2016/SVG/main" r:embed="rId2"/>
                </a:ext>
              </a:extLst>
            </a:blip>
            <a:stretch>
              <a:fillRect/>
            </a:stretch>
          </a:blipFill>
        </p:spPr>
      </p:sp>
      <p:sp>
        <p:nvSpPr>
          <p:cNvPr id="3" name="Freeform 3"/>
          <p:cNvSpPr/>
          <p:nvPr/>
        </p:nvSpPr>
        <p:spPr>
          <a:xfrm>
            <a:off x="2341902" y="516545"/>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4" name="Freeform 4"/>
          <p:cNvSpPr/>
          <p:nvPr/>
        </p:nvSpPr>
        <p:spPr>
          <a:xfrm>
            <a:off x="15946098" y="9371229"/>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3"/>
                </a:ext>
              </a:extLst>
            </a:blip>
            <a:stretch>
              <a:fillRect/>
            </a:stretch>
          </a:blipFill>
        </p:spPr>
      </p:sp>
      <p:sp>
        <p:nvSpPr>
          <p:cNvPr id="5" name="Freeform 5"/>
          <p:cNvSpPr/>
          <p:nvPr/>
        </p:nvSpPr>
        <p:spPr>
          <a:xfrm>
            <a:off x="1028700" y="516545"/>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4"/>
                </a:ext>
              </a:extLst>
            </a:blip>
            <a:stretch>
              <a:fillRect/>
            </a:stretch>
          </a:blipFill>
        </p:spPr>
      </p:sp>
      <p:sp>
        <p:nvSpPr>
          <p:cNvPr id="6" name="Freeform 6"/>
          <p:cNvSpPr/>
          <p:nvPr/>
        </p:nvSpPr>
        <p:spPr>
          <a:xfrm>
            <a:off x="14632896" y="9371229"/>
            <a:ext cx="1313202" cy="434551"/>
          </a:xfrm>
          <a:custGeom>
            <a:avLst/>
            <a:gdLst/>
            <a:ahLst/>
            <a:cxnLst/>
            <a:rect l="l" t="t" r="r" b="b"/>
            <a:pathLst>
              <a:path w="1313202" h="434551">
                <a:moveTo>
                  <a:pt x="0" y="0"/>
                </a:moveTo>
                <a:lnTo>
                  <a:pt x="1313202" y="0"/>
                </a:lnTo>
                <a:lnTo>
                  <a:pt x="1313202" y="434550"/>
                </a:lnTo>
                <a:lnTo>
                  <a:pt x="0" y="434550"/>
                </a:lnTo>
                <a:lnTo>
                  <a:pt x="0" y="0"/>
                </a:lnTo>
                <a:close/>
              </a:path>
            </a:pathLst>
          </a:custGeom>
          <a:blipFill>
            <a:blip>
              <a:extLst>
                <a:ext uri="{96DAC541-7B7A-43D3-8B79-37D633B846F1}">
                  <asvg:svgBlip xmlns:asvg="http://schemas.microsoft.com/office/drawing/2016/SVG/main" r:embed="rId4"/>
                </a:ext>
              </a:extLst>
            </a:blip>
            <a:stretch>
              <a:fillRect/>
            </a:stretch>
          </a:blipFill>
        </p:spPr>
      </p:sp>
      <p:grpSp>
        <p:nvGrpSpPr>
          <p:cNvPr id="7" name="Group 7"/>
          <p:cNvGrpSpPr/>
          <p:nvPr/>
        </p:nvGrpSpPr>
        <p:grpSpPr>
          <a:xfrm>
            <a:off x="1028700" y="3648296"/>
            <a:ext cx="16230600" cy="2625312"/>
            <a:chOff x="0" y="0"/>
            <a:chExt cx="4274726" cy="691440"/>
          </a:xfrm>
        </p:grpSpPr>
        <p:sp>
          <p:nvSpPr>
            <p:cNvPr id="8" name="Freeform 8"/>
            <p:cNvSpPr/>
            <p:nvPr/>
          </p:nvSpPr>
          <p:spPr>
            <a:xfrm>
              <a:off x="0" y="0"/>
              <a:ext cx="4274726" cy="691440"/>
            </a:xfrm>
            <a:custGeom>
              <a:avLst/>
              <a:gdLst/>
              <a:ahLst/>
              <a:cxnLst/>
              <a:rect l="l" t="t" r="r" b="b"/>
              <a:pathLst>
                <a:path w="4274726" h="691440">
                  <a:moveTo>
                    <a:pt x="0" y="0"/>
                  </a:moveTo>
                  <a:lnTo>
                    <a:pt x="4274726" y="0"/>
                  </a:lnTo>
                  <a:lnTo>
                    <a:pt x="4274726" y="691440"/>
                  </a:lnTo>
                  <a:lnTo>
                    <a:pt x="0" y="691440"/>
                  </a:lnTo>
                  <a:close/>
                </a:path>
              </a:pathLst>
            </a:custGeom>
            <a:solidFill>
              <a:srgbClr val="3C6295"/>
            </a:solidFill>
          </p:spPr>
        </p:sp>
        <p:sp>
          <p:nvSpPr>
            <p:cNvPr id="9" name="TextBox 9"/>
            <p:cNvSpPr txBox="1"/>
            <p:nvPr/>
          </p:nvSpPr>
          <p:spPr>
            <a:xfrm>
              <a:off x="0" y="-47625"/>
              <a:ext cx="4274726" cy="739065"/>
            </a:xfrm>
            <a:prstGeom prst="rect">
              <a:avLst/>
            </a:prstGeom>
          </p:spPr>
          <p:txBody>
            <a:bodyPr lIns="50800" tIns="50800" rIns="50800" bIns="50800" rtlCol="0" anchor="ctr"/>
            <a:lstStyle/>
            <a:p>
              <a:pPr algn="ctr">
                <a:lnSpc>
                  <a:spcPts val="2659"/>
                </a:lnSpc>
              </a:pPr>
              <a:endParaRPr>
                <a:highlight>
                  <a:srgbClr val="FFFF00"/>
                </a:highlight>
              </a:endParaRPr>
            </a:p>
          </p:txBody>
        </p:sp>
      </p:grpSp>
      <p:sp>
        <p:nvSpPr>
          <p:cNvPr id="16" name="TextBox 16"/>
          <p:cNvSpPr txBox="1"/>
          <p:nvPr/>
        </p:nvSpPr>
        <p:spPr>
          <a:xfrm>
            <a:off x="4604432" y="3391121"/>
            <a:ext cx="10413877" cy="2299217"/>
          </a:xfrm>
          <a:prstGeom prst="rect">
            <a:avLst/>
          </a:prstGeom>
        </p:spPr>
        <p:txBody>
          <a:bodyPr lIns="0" tIns="0" rIns="0" bIns="0" rtlCol="0" anchor="t">
            <a:spAutoFit/>
          </a:bodyPr>
          <a:lstStyle/>
          <a:p>
            <a:pPr algn="ctr">
              <a:lnSpc>
                <a:spcPts val="18878"/>
              </a:lnSpc>
              <a:spcBef>
                <a:spcPct val="0"/>
              </a:spcBef>
            </a:pPr>
            <a:r>
              <a:rPr lang="en-US" sz="13484" b="1" dirty="0" err="1">
                <a:solidFill>
                  <a:srgbClr val="FFFFFF"/>
                </a:solidFill>
                <a:latin typeface="Archivo Narrow Bold"/>
                <a:ea typeface="Archivo Narrow Bold"/>
                <a:cs typeface="Archivo Narrow Bold"/>
                <a:sym typeface="Archivo Narrow Bold"/>
              </a:rPr>
              <a:t>Terimakasih</a:t>
            </a:r>
            <a:endParaRPr lang="en-US" sz="13484" b="1" dirty="0">
              <a:solidFill>
                <a:srgbClr val="FFFFFF"/>
              </a:solidFill>
              <a:latin typeface="Archivo Narrow Bold"/>
              <a:ea typeface="Archivo Narrow Bold"/>
              <a:cs typeface="Archivo Narrow Bold"/>
              <a:sym typeface="Archivo Narrow Bold"/>
            </a:endParaRPr>
          </a:p>
        </p:txBody>
      </p:sp>
      <p:grpSp>
        <p:nvGrpSpPr>
          <p:cNvPr id="20" name="Group 9">
            <a:extLst>
              <a:ext uri="{FF2B5EF4-FFF2-40B4-BE49-F238E27FC236}">
                <a16:creationId xmlns:a16="http://schemas.microsoft.com/office/drawing/2014/main" id="{9836C6D6-414B-80BC-DBC0-44A0EEDDB8DC}"/>
              </a:ext>
            </a:extLst>
          </p:cNvPr>
          <p:cNvGrpSpPr/>
          <p:nvPr/>
        </p:nvGrpSpPr>
        <p:grpSpPr>
          <a:xfrm>
            <a:off x="9601200" y="1333500"/>
            <a:ext cx="8115300" cy="137058"/>
            <a:chOff x="0" y="0"/>
            <a:chExt cx="2137363" cy="36097"/>
          </a:xfrm>
        </p:grpSpPr>
        <p:sp>
          <p:nvSpPr>
            <p:cNvPr id="21" name="Freeform 10">
              <a:extLst>
                <a:ext uri="{FF2B5EF4-FFF2-40B4-BE49-F238E27FC236}">
                  <a16:creationId xmlns:a16="http://schemas.microsoft.com/office/drawing/2014/main" id="{0F83FDBB-916C-145C-DCE5-A15919895C0C}"/>
                </a:ext>
              </a:extLst>
            </p:cNvPr>
            <p:cNvSpPr/>
            <p:nvPr/>
          </p:nvSpPr>
          <p:spPr>
            <a:xfrm>
              <a:off x="0" y="0"/>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1800AD"/>
            </a:solidFill>
          </p:spPr>
        </p:sp>
        <p:sp>
          <p:nvSpPr>
            <p:cNvPr id="22" name="TextBox 11">
              <a:extLst>
                <a:ext uri="{FF2B5EF4-FFF2-40B4-BE49-F238E27FC236}">
                  <a16:creationId xmlns:a16="http://schemas.microsoft.com/office/drawing/2014/main" id="{C48EBB66-B018-E494-025F-737493D26662}"/>
                </a:ext>
              </a:extLst>
            </p:cNvPr>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grpSp>
        <p:nvGrpSpPr>
          <p:cNvPr id="23" name="Group 6">
            <a:extLst>
              <a:ext uri="{FF2B5EF4-FFF2-40B4-BE49-F238E27FC236}">
                <a16:creationId xmlns:a16="http://schemas.microsoft.com/office/drawing/2014/main" id="{4B9F312A-8671-864C-53DD-A75DB7EEEA73}"/>
              </a:ext>
            </a:extLst>
          </p:cNvPr>
          <p:cNvGrpSpPr/>
          <p:nvPr/>
        </p:nvGrpSpPr>
        <p:grpSpPr>
          <a:xfrm>
            <a:off x="1028700" y="1356361"/>
            <a:ext cx="8572501" cy="1260006"/>
            <a:chOff x="0" y="-295751"/>
            <a:chExt cx="2257778" cy="331848"/>
          </a:xfrm>
        </p:grpSpPr>
        <p:sp>
          <p:nvSpPr>
            <p:cNvPr id="24" name="Freeform 7">
              <a:extLst>
                <a:ext uri="{FF2B5EF4-FFF2-40B4-BE49-F238E27FC236}">
                  <a16:creationId xmlns:a16="http://schemas.microsoft.com/office/drawing/2014/main" id="{7F4AD406-32B5-B7C2-CCF6-9C5203AC05F3}"/>
                </a:ext>
              </a:extLst>
            </p:cNvPr>
            <p:cNvSpPr/>
            <p:nvPr/>
          </p:nvSpPr>
          <p:spPr>
            <a:xfrm>
              <a:off x="120415" y="-295751"/>
              <a:ext cx="2137363" cy="36097"/>
            </a:xfrm>
            <a:custGeom>
              <a:avLst/>
              <a:gdLst/>
              <a:ahLst/>
              <a:cxnLst/>
              <a:rect l="l" t="t" r="r" b="b"/>
              <a:pathLst>
                <a:path w="2137363" h="36097">
                  <a:moveTo>
                    <a:pt x="0" y="0"/>
                  </a:moveTo>
                  <a:lnTo>
                    <a:pt x="2137363" y="0"/>
                  </a:lnTo>
                  <a:lnTo>
                    <a:pt x="2137363" y="36097"/>
                  </a:lnTo>
                  <a:lnTo>
                    <a:pt x="0" y="36097"/>
                  </a:lnTo>
                  <a:close/>
                </a:path>
              </a:pathLst>
            </a:custGeom>
            <a:solidFill>
              <a:srgbClr val="FFDE59"/>
            </a:solidFill>
          </p:spPr>
        </p:sp>
        <p:sp>
          <p:nvSpPr>
            <p:cNvPr id="25" name="TextBox 8">
              <a:extLst>
                <a:ext uri="{FF2B5EF4-FFF2-40B4-BE49-F238E27FC236}">
                  <a16:creationId xmlns:a16="http://schemas.microsoft.com/office/drawing/2014/main" id="{10475774-DB31-4BBC-17B0-D7C157CF3C2C}"/>
                </a:ext>
              </a:extLst>
            </p:cNvPr>
            <p:cNvSpPr txBox="1"/>
            <p:nvPr/>
          </p:nvSpPr>
          <p:spPr>
            <a:xfrm>
              <a:off x="0" y="-47625"/>
              <a:ext cx="2137363" cy="83722"/>
            </a:xfrm>
            <a:prstGeom prst="rect">
              <a:avLst/>
            </a:prstGeom>
          </p:spPr>
          <p:txBody>
            <a:bodyPr lIns="50800" tIns="50800" rIns="50800" bIns="50800" rtlCol="0" anchor="ctr"/>
            <a:lstStyle/>
            <a:p>
              <a:pPr algn="ctr">
                <a:lnSpc>
                  <a:spcPts val="2659"/>
                </a:lnSpc>
              </a:pPr>
              <a:endParaRP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41</TotalTime>
  <Words>1368</Words>
  <Application>Microsoft Office PowerPoint</Application>
  <PresentationFormat>Custom</PresentationFormat>
  <Paragraphs>261</Paragraphs>
  <Slides>24</Slides>
  <Notes>1</Notes>
  <HiddenSlides>0</HiddenSlides>
  <MMClips>0</MMClips>
  <ScaleCrop>false</ScaleCrop>
  <HeadingPairs>
    <vt:vector size="8" baseType="variant">
      <vt:variant>
        <vt:lpstr>Fonts Used</vt:lpstr>
      </vt:variant>
      <vt:variant>
        <vt:i4>11</vt:i4>
      </vt:variant>
      <vt:variant>
        <vt:lpstr>Theme</vt:lpstr>
      </vt:variant>
      <vt:variant>
        <vt:i4>1</vt:i4>
      </vt:variant>
      <vt:variant>
        <vt:lpstr>Embedded OLE Servers</vt:lpstr>
      </vt:variant>
      <vt:variant>
        <vt:i4>1</vt:i4>
      </vt:variant>
      <vt:variant>
        <vt:lpstr>Slide Titles</vt:lpstr>
      </vt:variant>
      <vt:variant>
        <vt:i4>24</vt:i4>
      </vt:variant>
    </vt:vector>
  </HeadingPairs>
  <TitlesOfParts>
    <vt:vector size="37" baseType="lpstr">
      <vt:lpstr>Montserrat Bold</vt:lpstr>
      <vt:lpstr>Canva Sans</vt:lpstr>
      <vt:lpstr>Arimo Bold</vt:lpstr>
      <vt:lpstr>Antic</vt:lpstr>
      <vt:lpstr>Canva Sans Bold</vt:lpstr>
      <vt:lpstr>Arial</vt:lpstr>
      <vt:lpstr>Archivo Narrow Bold</vt:lpstr>
      <vt:lpstr>Open Sauce Bold</vt:lpstr>
      <vt:lpstr>Calibri</vt:lpstr>
      <vt:lpstr>Antic Bold</vt:lpstr>
      <vt:lpstr>Montserrat</vt:lpstr>
      <vt:lpstr>Office Theme</vt:lpstr>
      <vt:lpstr>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presentasi tesis</dc:title>
  <dc:creator>rido mr</dc:creator>
  <cp:lastModifiedBy>rido mr</cp:lastModifiedBy>
  <cp:revision>6</cp:revision>
  <dcterms:created xsi:type="dcterms:W3CDTF">2006-08-16T00:00:00Z</dcterms:created>
  <dcterms:modified xsi:type="dcterms:W3CDTF">2026-07-14T23:37:30Z</dcterms:modified>
  <dc:identifier>DAHLdvlc6Pk</dc:identifier>
</cp:coreProperties>
</file>