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Antic" panose="020B0604020202020204" charset="0"/>
      <p:regular r:id="rId26"/>
    </p:embeddedFont>
    <p:embeddedFont>
      <p:font typeface="Antic Bold" panose="020B0604020202020204" charset="0"/>
      <p:regular r:id="rId27"/>
    </p:embeddedFont>
    <p:embeddedFont>
      <p:font typeface="Archivo Narrow Bold" panose="020B0604020202020204" charset="0"/>
      <p:regular r:id="rId28"/>
    </p:embeddedFont>
    <p:embeddedFont>
      <p:font typeface="Arimo Bold" panose="020B0604020202020204" charset="0"/>
      <p:regular r:id="rId29"/>
    </p:embeddedFont>
    <p:embeddedFont>
      <p:font typeface="Canva Sans" panose="020B0604020202020204" charset="0"/>
      <p:regular r:id="rId30"/>
    </p:embeddedFont>
    <p:embeddedFont>
      <p:font typeface="Canva Sans Bold" panose="020B0604020202020204" charset="0"/>
      <p:regular r:id="rId31"/>
    </p:embeddedFont>
    <p:embeddedFont>
      <p:font typeface="Montserrat" panose="00000500000000000000" pitchFamily="2" charset="0"/>
      <p:regular r:id="rId32"/>
    </p:embeddedFont>
    <p:embeddedFont>
      <p:font typeface="Montserrat Bold" panose="020B0604020202020204" charset="0"/>
      <p:regular r:id="rId33"/>
    </p:embeddedFont>
    <p:embeddedFont>
      <p:font typeface="Open Sauce Bold" panose="020B0604020202020204" charset="0"/>
      <p:regular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0" d="100"/>
          <a:sy n="50" d="100"/>
        </p:scale>
        <p:origin x="874"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jpeg"/><Relationship Id="rId7" Type="http://schemas.openxmlformats.org/officeDocument/2006/relationships/image" Target="../media/image8.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4.pn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sv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5.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4.png"/><Relationship Id="rId7" Type="http://schemas.openxmlformats.org/officeDocument/2006/relationships/image" Target="../media/image21.svg"/><Relationship Id="rId12" Type="http://schemas.openxmlformats.org/officeDocument/2006/relationships/image" Target="../media/image26.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sv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27.jpe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9.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oleObject" Target="../embeddings/oleObject1.bin"/></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9.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oleObject" Target="../embeddings/oleObject2.bin"/></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oleObject" Target="../embeddings/oleObject3.bin"/></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6.sv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38.png"/><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oleObject" Target="../embeddings/oleObject6.bin"/><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oleObject" Target="../embeddings/oleObject8.bin"/><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package" Target="../embeddings/Microsoft_Excel_Worksheet.xlsx"/></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a:off x="4219753" y="-4163497"/>
            <a:ext cx="9848495" cy="18613993"/>
          </a:xfrm>
          <a:custGeom>
            <a:avLst/>
            <a:gdLst/>
            <a:ahLst/>
            <a:cxnLst/>
            <a:rect l="l" t="t" r="r" b="b"/>
            <a:pathLst>
              <a:path w="9848495" h="18613993">
                <a:moveTo>
                  <a:pt x="0" y="0"/>
                </a:moveTo>
                <a:lnTo>
                  <a:pt x="9848494" y="0"/>
                </a:lnTo>
                <a:lnTo>
                  <a:pt x="9848494" y="18613994"/>
                </a:lnTo>
                <a:lnTo>
                  <a:pt x="0" y="18613994"/>
                </a:lnTo>
                <a:lnTo>
                  <a:pt x="0" y="0"/>
                </a:lnTo>
                <a:close/>
              </a:path>
            </a:pathLst>
          </a:custGeom>
          <a:blipFill>
            <a:blip>
              <a:alphaModFix amt="15000"/>
              <a:extLst>
                <a:ext uri="{96DAC541-7B7A-43D3-8B79-37D633B846F1}">
                  <asvg:svgBlip xmlns:asvg="http://schemas.microsoft.com/office/drawing/2016/SVG/main" r:embed="rId2"/>
                </a:ext>
              </a:extLst>
            </a:blip>
            <a:stretch>
              <a:fillRect/>
            </a:stretch>
          </a:blipFill>
        </p:spPr>
      </p:sp>
      <p:sp>
        <p:nvSpPr>
          <p:cNvPr id="3" name="Freeform 3"/>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5" name="Group 5"/>
          <p:cNvGrpSpPr/>
          <p:nvPr/>
        </p:nvGrpSpPr>
        <p:grpSpPr>
          <a:xfrm>
            <a:off x="2524960" y="6689452"/>
            <a:ext cx="13888698" cy="1935104"/>
            <a:chOff x="0" y="0"/>
            <a:chExt cx="3657929" cy="509657"/>
          </a:xfrm>
        </p:grpSpPr>
        <p:sp>
          <p:nvSpPr>
            <p:cNvPr id="6" name="Freeform 6"/>
            <p:cNvSpPr/>
            <p:nvPr/>
          </p:nvSpPr>
          <p:spPr>
            <a:xfrm>
              <a:off x="0" y="0"/>
              <a:ext cx="3657929" cy="509657"/>
            </a:xfrm>
            <a:custGeom>
              <a:avLst/>
              <a:gdLst/>
              <a:ahLst/>
              <a:cxnLst/>
              <a:rect l="l" t="t" r="r" b="b"/>
              <a:pathLst>
                <a:path w="3657929" h="509657">
                  <a:moveTo>
                    <a:pt x="0" y="0"/>
                  </a:moveTo>
                  <a:lnTo>
                    <a:pt x="3657929" y="0"/>
                  </a:lnTo>
                  <a:lnTo>
                    <a:pt x="3657929" y="509657"/>
                  </a:lnTo>
                  <a:lnTo>
                    <a:pt x="0" y="509657"/>
                  </a:lnTo>
                  <a:close/>
                </a:path>
              </a:pathLst>
            </a:custGeom>
            <a:solidFill>
              <a:srgbClr val="FFDE59">
                <a:alpha val="27843"/>
              </a:srgbClr>
            </a:solidFill>
          </p:spPr>
        </p:sp>
        <p:sp>
          <p:nvSpPr>
            <p:cNvPr id="7" name="TextBox 7"/>
            <p:cNvSpPr txBox="1"/>
            <p:nvPr/>
          </p:nvSpPr>
          <p:spPr>
            <a:xfrm>
              <a:off x="0" y="-47625"/>
              <a:ext cx="3657929" cy="557282"/>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1975885" y="670534"/>
            <a:ext cx="16312115" cy="2062447"/>
          </a:xfrm>
          <a:prstGeom prst="rect">
            <a:avLst/>
          </a:prstGeom>
        </p:spPr>
        <p:txBody>
          <a:bodyPr lIns="0" tIns="0" rIns="0" bIns="0" rtlCol="0" anchor="t">
            <a:spAutoFit/>
          </a:bodyPr>
          <a:lstStyle/>
          <a:p>
            <a:pPr algn="ctr">
              <a:lnSpc>
                <a:spcPts val="5496"/>
              </a:lnSpc>
              <a:spcBef>
                <a:spcPct val="0"/>
              </a:spcBef>
            </a:pPr>
            <a:r>
              <a:rPr lang="en-US" sz="3926" b="1">
                <a:solidFill>
                  <a:srgbClr val="FF751F"/>
                </a:solidFill>
                <a:latin typeface="Archivo Narrow Bold"/>
                <a:ea typeface="Archivo Narrow Bold"/>
                <a:cs typeface="Archivo Narrow Bold"/>
                <a:sym typeface="Archivo Narrow Bold"/>
              </a:rPr>
              <a:t>ANALISIS PEMODELAN TOPIK PADA TEKS TERJEMAHAN AL-QUR’AN BERBAHASA INDONESIA DENGAN METODE CORRELATED TOPIC MODELING (CTM)  DAN BERTOPIC </a:t>
            </a:r>
          </a:p>
        </p:txBody>
      </p:sp>
      <p:sp>
        <p:nvSpPr>
          <p:cNvPr id="9" name="TextBox 9"/>
          <p:cNvSpPr txBox="1"/>
          <p:nvPr/>
        </p:nvSpPr>
        <p:spPr>
          <a:xfrm>
            <a:off x="6964317" y="6803504"/>
            <a:ext cx="5854846" cy="697929"/>
          </a:xfrm>
          <a:prstGeom prst="rect">
            <a:avLst/>
          </a:prstGeom>
        </p:spPr>
        <p:txBody>
          <a:bodyPr lIns="0" tIns="0" rIns="0" bIns="0" rtlCol="0" anchor="t">
            <a:spAutoFit/>
          </a:bodyPr>
          <a:lstStyle/>
          <a:p>
            <a:pPr algn="ctr">
              <a:lnSpc>
                <a:spcPts val="5659"/>
              </a:lnSpc>
              <a:spcBef>
                <a:spcPct val="0"/>
              </a:spcBef>
            </a:pPr>
            <a:r>
              <a:rPr lang="en-US" sz="4042" b="1">
                <a:solidFill>
                  <a:srgbClr val="3C6295"/>
                </a:solidFill>
                <a:latin typeface="Archivo Narrow Bold"/>
                <a:ea typeface="Archivo Narrow Bold"/>
                <a:cs typeface="Archivo Narrow Bold"/>
                <a:sym typeface="Archivo Narrow Bold"/>
              </a:rPr>
              <a:t>ASEP RIDWAN HIDAYAT</a:t>
            </a:r>
          </a:p>
        </p:txBody>
      </p:sp>
      <p:sp>
        <p:nvSpPr>
          <p:cNvPr id="10" name="Freeform 10"/>
          <p:cNvSpPr/>
          <p:nvPr/>
        </p:nvSpPr>
        <p:spPr>
          <a:xfrm>
            <a:off x="650459" y="746734"/>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5"/>
            <a:stretch>
              <a:fillRect/>
            </a:stretch>
          </a:blipFill>
        </p:spPr>
      </p:sp>
      <p:sp>
        <p:nvSpPr>
          <p:cNvPr id="11" name="TextBox 11"/>
          <p:cNvSpPr txBox="1"/>
          <p:nvPr/>
        </p:nvSpPr>
        <p:spPr>
          <a:xfrm>
            <a:off x="6600264" y="5064473"/>
            <a:ext cx="7063357" cy="1624980"/>
          </a:xfrm>
          <a:prstGeom prst="rect">
            <a:avLst/>
          </a:prstGeom>
        </p:spPr>
        <p:txBody>
          <a:bodyPr lIns="0" tIns="0" rIns="0" bIns="0" rtlCol="0" anchor="t">
            <a:spAutoFit/>
          </a:bodyPr>
          <a:lstStyle/>
          <a:p>
            <a:pPr algn="ctr">
              <a:lnSpc>
                <a:spcPts val="3260"/>
              </a:lnSpc>
            </a:pPr>
            <a:r>
              <a:rPr lang="en-US" sz="2328" b="1">
                <a:solidFill>
                  <a:srgbClr val="3C6295"/>
                </a:solidFill>
                <a:latin typeface="Open Sauce Bold"/>
                <a:ea typeface="Open Sauce Bold"/>
                <a:cs typeface="Open Sauce Bold"/>
                <a:sym typeface="Open Sauce Bold"/>
              </a:rPr>
              <a:t>Dosen Pembimbing :</a:t>
            </a:r>
          </a:p>
          <a:p>
            <a:pPr algn="ctr">
              <a:lnSpc>
                <a:spcPts val="3260"/>
              </a:lnSpc>
            </a:pPr>
            <a:r>
              <a:rPr lang="en-US" sz="2328" b="1">
                <a:solidFill>
                  <a:srgbClr val="3C6295"/>
                </a:solidFill>
                <a:latin typeface="Open Sauce Bold"/>
                <a:ea typeface="Open Sauce Bold"/>
                <a:cs typeface="Open Sauce Bold"/>
                <a:sym typeface="Open Sauce Bold"/>
              </a:rPr>
              <a:t>Dr. Sajarwo Anggai, S.ST., M.T.</a:t>
            </a:r>
          </a:p>
          <a:p>
            <a:pPr algn="ctr">
              <a:lnSpc>
                <a:spcPts val="3260"/>
              </a:lnSpc>
            </a:pPr>
            <a:r>
              <a:rPr lang="en-US" sz="2328" b="1">
                <a:solidFill>
                  <a:srgbClr val="3C6295"/>
                </a:solidFill>
                <a:latin typeface="Open Sauce Bold"/>
                <a:ea typeface="Open Sauce Bold"/>
                <a:cs typeface="Open Sauce Bold"/>
                <a:sym typeface="Open Sauce Bold"/>
              </a:rPr>
              <a:t>Dr. Arya Adhyaksa Waskita, S.Si.,M.Si</a:t>
            </a:r>
          </a:p>
          <a:p>
            <a:pPr algn="ctr">
              <a:lnSpc>
                <a:spcPts val="3260"/>
              </a:lnSpc>
              <a:spcBef>
                <a:spcPct val="0"/>
              </a:spcBef>
            </a:pPr>
            <a:endParaRPr lang="en-US" sz="2328" b="1">
              <a:solidFill>
                <a:srgbClr val="3C6295"/>
              </a:solidFill>
              <a:latin typeface="Open Sauce Bold"/>
              <a:ea typeface="Open Sauce Bold"/>
              <a:cs typeface="Open Sauce Bold"/>
              <a:sym typeface="Open Sauce Bold"/>
            </a:endParaRPr>
          </a:p>
        </p:txBody>
      </p:sp>
      <p:sp>
        <p:nvSpPr>
          <p:cNvPr id="12" name="TextBox 12"/>
          <p:cNvSpPr txBox="1"/>
          <p:nvPr/>
        </p:nvSpPr>
        <p:spPr>
          <a:xfrm>
            <a:off x="6964317" y="7671949"/>
            <a:ext cx="5854846" cy="697929"/>
          </a:xfrm>
          <a:prstGeom prst="rect">
            <a:avLst/>
          </a:prstGeom>
        </p:spPr>
        <p:txBody>
          <a:bodyPr lIns="0" tIns="0" rIns="0" bIns="0" rtlCol="0" anchor="t">
            <a:spAutoFit/>
          </a:bodyPr>
          <a:lstStyle/>
          <a:p>
            <a:pPr algn="ctr">
              <a:lnSpc>
                <a:spcPts val="5659"/>
              </a:lnSpc>
              <a:spcBef>
                <a:spcPct val="0"/>
              </a:spcBef>
            </a:pPr>
            <a:r>
              <a:rPr lang="en-US" sz="4042" b="1">
                <a:solidFill>
                  <a:srgbClr val="3C6295"/>
                </a:solidFill>
                <a:latin typeface="Archivo Narrow Bold"/>
                <a:ea typeface="Archivo Narrow Bold"/>
                <a:cs typeface="Archivo Narrow Bold"/>
                <a:sym typeface="Archivo Narrow Bold"/>
              </a:rPr>
              <a:t>231012050036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028700" y="2729780"/>
            <a:ext cx="7684248" cy="4064375"/>
          </a:xfrm>
          <a:custGeom>
            <a:avLst/>
            <a:gdLst/>
            <a:ahLst/>
            <a:cxnLst/>
            <a:rect l="l" t="t" r="r" b="b"/>
            <a:pathLst>
              <a:path w="7684248" h="4064375">
                <a:moveTo>
                  <a:pt x="0" y="0"/>
                </a:moveTo>
                <a:lnTo>
                  <a:pt x="7684248" y="0"/>
                </a:lnTo>
                <a:lnTo>
                  <a:pt x="7684248" y="4064375"/>
                </a:lnTo>
                <a:lnTo>
                  <a:pt x="0" y="4064375"/>
                </a:lnTo>
                <a:lnTo>
                  <a:pt x="0" y="0"/>
                </a:lnTo>
                <a:close/>
              </a:path>
            </a:pathLst>
          </a:custGeom>
          <a:blipFill>
            <a:blip r:embed="rId3"/>
            <a:stretch>
              <a:fillRect t="-17748" b="-8215"/>
            </a:stretch>
          </a:blipFill>
        </p:spPr>
      </p:sp>
      <p:sp>
        <p:nvSpPr>
          <p:cNvPr id="13" name="Freeform 13"/>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4" name="Group 14"/>
          <p:cNvGrpSpPr/>
          <p:nvPr/>
        </p:nvGrpSpPr>
        <p:grpSpPr>
          <a:xfrm>
            <a:off x="10355839" y="4397077"/>
            <a:ext cx="6903461" cy="1228734"/>
            <a:chOff x="0" y="0"/>
            <a:chExt cx="2330355" cy="414776"/>
          </a:xfrm>
        </p:grpSpPr>
        <p:sp>
          <p:nvSpPr>
            <p:cNvPr id="15" name="Freeform 15"/>
            <p:cNvSpPr/>
            <p:nvPr/>
          </p:nvSpPr>
          <p:spPr>
            <a:xfrm>
              <a:off x="0" y="0"/>
              <a:ext cx="2330355" cy="414776"/>
            </a:xfrm>
            <a:custGeom>
              <a:avLst/>
              <a:gdLst/>
              <a:ahLst/>
              <a:cxnLst/>
              <a:rect l="l" t="t" r="r" b="b"/>
              <a:pathLst>
                <a:path w="2330355" h="414776">
                  <a:moveTo>
                    <a:pt x="45980" y="0"/>
                  </a:moveTo>
                  <a:lnTo>
                    <a:pt x="2284376" y="0"/>
                  </a:lnTo>
                  <a:cubicBezTo>
                    <a:pt x="2296570" y="0"/>
                    <a:pt x="2308266" y="4844"/>
                    <a:pt x="2316888" y="13467"/>
                  </a:cubicBezTo>
                  <a:cubicBezTo>
                    <a:pt x="2325511" y="22090"/>
                    <a:pt x="2330355" y="33785"/>
                    <a:pt x="2330355" y="45980"/>
                  </a:cubicBezTo>
                  <a:lnTo>
                    <a:pt x="2330355" y="368796"/>
                  </a:lnTo>
                  <a:cubicBezTo>
                    <a:pt x="2330355" y="380991"/>
                    <a:pt x="2325511" y="392686"/>
                    <a:pt x="2316888" y="401309"/>
                  </a:cubicBezTo>
                  <a:cubicBezTo>
                    <a:pt x="2308266" y="409931"/>
                    <a:pt x="2296570" y="414776"/>
                    <a:pt x="2284376" y="414776"/>
                  </a:cubicBezTo>
                  <a:lnTo>
                    <a:pt x="45980" y="414776"/>
                  </a:lnTo>
                  <a:cubicBezTo>
                    <a:pt x="20586" y="414776"/>
                    <a:pt x="0" y="394190"/>
                    <a:pt x="0" y="36879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16" name="TextBox 16"/>
            <p:cNvSpPr txBox="1"/>
            <p:nvPr/>
          </p:nvSpPr>
          <p:spPr>
            <a:xfrm>
              <a:off x="0" y="-47625"/>
              <a:ext cx="2330355" cy="46240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355839" y="2664890"/>
            <a:ext cx="6903461" cy="1513113"/>
            <a:chOff x="0" y="0"/>
            <a:chExt cx="2336122" cy="512035"/>
          </a:xfrm>
        </p:grpSpPr>
        <p:sp>
          <p:nvSpPr>
            <p:cNvPr id="18" name="Freeform 18"/>
            <p:cNvSpPr/>
            <p:nvPr/>
          </p:nvSpPr>
          <p:spPr>
            <a:xfrm>
              <a:off x="0" y="0"/>
              <a:ext cx="2336122" cy="512035"/>
            </a:xfrm>
            <a:custGeom>
              <a:avLst/>
              <a:gdLst/>
              <a:ahLst/>
              <a:cxnLst/>
              <a:rect l="l" t="t" r="r" b="b"/>
              <a:pathLst>
                <a:path w="2336122" h="512035">
                  <a:moveTo>
                    <a:pt x="45980" y="0"/>
                  </a:moveTo>
                  <a:lnTo>
                    <a:pt x="2290142" y="0"/>
                  </a:lnTo>
                  <a:cubicBezTo>
                    <a:pt x="2302337" y="0"/>
                    <a:pt x="2314032" y="4844"/>
                    <a:pt x="2322655" y="13467"/>
                  </a:cubicBezTo>
                  <a:cubicBezTo>
                    <a:pt x="2331278" y="22090"/>
                    <a:pt x="2336122" y="33785"/>
                    <a:pt x="2336122" y="45980"/>
                  </a:cubicBezTo>
                  <a:lnTo>
                    <a:pt x="2336122" y="466056"/>
                  </a:lnTo>
                  <a:cubicBezTo>
                    <a:pt x="2336122" y="491450"/>
                    <a:pt x="2315536" y="512035"/>
                    <a:pt x="2290142" y="512035"/>
                  </a:cubicBezTo>
                  <a:lnTo>
                    <a:pt x="45980" y="512035"/>
                  </a:lnTo>
                  <a:cubicBezTo>
                    <a:pt x="33785" y="512035"/>
                    <a:pt x="22090" y="507191"/>
                    <a:pt x="13467" y="498568"/>
                  </a:cubicBezTo>
                  <a:cubicBezTo>
                    <a:pt x="4844" y="489945"/>
                    <a:pt x="0" y="478250"/>
                    <a:pt x="0" y="46605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432C7">
                    <a:alpha val="100000"/>
                  </a:srgbClr>
                </a:gs>
              </a:gsLst>
              <a:lin ang="16200000"/>
            </a:gradFill>
          </p:spPr>
        </p:sp>
        <p:sp>
          <p:nvSpPr>
            <p:cNvPr id="19" name="TextBox 19"/>
            <p:cNvSpPr txBox="1"/>
            <p:nvPr/>
          </p:nvSpPr>
          <p:spPr>
            <a:xfrm>
              <a:off x="0" y="-47625"/>
              <a:ext cx="2336122" cy="559660"/>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10355839" y="7520733"/>
            <a:ext cx="6903461" cy="1415475"/>
            <a:chOff x="0" y="0"/>
            <a:chExt cx="2075061" cy="425467"/>
          </a:xfrm>
        </p:grpSpPr>
        <p:sp>
          <p:nvSpPr>
            <p:cNvPr id="21" name="Freeform 21"/>
            <p:cNvSpPr/>
            <p:nvPr/>
          </p:nvSpPr>
          <p:spPr>
            <a:xfrm>
              <a:off x="0" y="0"/>
              <a:ext cx="2075061" cy="425467"/>
            </a:xfrm>
            <a:custGeom>
              <a:avLst/>
              <a:gdLst/>
              <a:ahLst/>
              <a:cxnLst/>
              <a:rect l="l" t="t" r="r" b="b"/>
              <a:pathLst>
                <a:path w="2075061" h="425467">
                  <a:moveTo>
                    <a:pt x="45980" y="0"/>
                  </a:moveTo>
                  <a:lnTo>
                    <a:pt x="2029081" y="0"/>
                  </a:lnTo>
                  <a:cubicBezTo>
                    <a:pt x="2041276" y="0"/>
                    <a:pt x="2052971" y="4844"/>
                    <a:pt x="2061594" y="13467"/>
                  </a:cubicBezTo>
                  <a:cubicBezTo>
                    <a:pt x="2070216" y="22090"/>
                    <a:pt x="2075061" y="33785"/>
                    <a:pt x="2075061" y="45980"/>
                  </a:cubicBezTo>
                  <a:lnTo>
                    <a:pt x="2075061" y="379488"/>
                  </a:lnTo>
                  <a:cubicBezTo>
                    <a:pt x="2075061" y="391682"/>
                    <a:pt x="2070216" y="403377"/>
                    <a:pt x="2061594" y="412000"/>
                  </a:cubicBezTo>
                  <a:cubicBezTo>
                    <a:pt x="2052971" y="420623"/>
                    <a:pt x="2041276" y="425467"/>
                    <a:pt x="202908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a:ln w="38100" cap="rnd">
              <a:solidFill>
                <a:srgbClr val="FFDE59"/>
              </a:solidFill>
              <a:prstDash val="solid"/>
              <a:round/>
            </a:ln>
          </p:spPr>
        </p:sp>
        <p:sp>
          <p:nvSpPr>
            <p:cNvPr id="22" name="TextBox 22"/>
            <p:cNvSpPr txBox="1"/>
            <p:nvPr/>
          </p:nvSpPr>
          <p:spPr>
            <a:xfrm>
              <a:off x="0" y="-47625"/>
              <a:ext cx="2075061" cy="473092"/>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0355839" y="6016337"/>
            <a:ext cx="6903461" cy="1228171"/>
            <a:chOff x="0" y="0"/>
            <a:chExt cx="2391521" cy="425467"/>
          </a:xfrm>
        </p:grpSpPr>
        <p:sp>
          <p:nvSpPr>
            <p:cNvPr id="24" name="Freeform 24"/>
            <p:cNvSpPr/>
            <p:nvPr/>
          </p:nvSpPr>
          <p:spPr>
            <a:xfrm>
              <a:off x="0" y="0"/>
              <a:ext cx="2391520" cy="425467"/>
            </a:xfrm>
            <a:custGeom>
              <a:avLst/>
              <a:gdLst/>
              <a:ahLst/>
              <a:cxnLst/>
              <a:rect l="l" t="t" r="r" b="b"/>
              <a:pathLst>
                <a:path w="2391520" h="425467">
                  <a:moveTo>
                    <a:pt x="45980" y="0"/>
                  </a:moveTo>
                  <a:lnTo>
                    <a:pt x="2345541" y="0"/>
                  </a:lnTo>
                  <a:cubicBezTo>
                    <a:pt x="2370935" y="0"/>
                    <a:pt x="2391520" y="20586"/>
                    <a:pt x="2391520" y="45980"/>
                  </a:cubicBezTo>
                  <a:lnTo>
                    <a:pt x="2391520" y="379488"/>
                  </a:lnTo>
                  <a:cubicBezTo>
                    <a:pt x="2391520" y="391682"/>
                    <a:pt x="2386676" y="403377"/>
                    <a:pt x="2378053" y="412000"/>
                  </a:cubicBezTo>
                  <a:cubicBezTo>
                    <a:pt x="2369431" y="420623"/>
                    <a:pt x="2357735" y="425467"/>
                    <a:pt x="234554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25" name="TextBox 25"/>
            <p:cNvSpPr txBox="1"/>
            <p:nvPr/>
          </p:nvSpPr>
          <p:spPr>
            <a:xfrm>
              <a:off x="0" y="-47625"/>
              <a:ext cx="2391521" cy="473092"/>
            </a:xfrm>
            <a:prstGeom prst="rect">
              <a:avLst/>
            </a:prstGeom>
          </p:spPr>
          <p:txBody>
            <a:bodyPr lIns="50800" tIns="50800" rIns="50800" bIns="50800" rtlCol="0" anchor="ctr"/>
            <a:lstStyle/>
            <a:p>
              <a:pPr algn="ctr">
                <a:lnSpc>
                  <a:spcPts val="2659"/>
                </a:lnSpc>
              </a:pPr>
              <a:endParaRPr/>
            </a:p>
          </p:txBody>
        </p:sp>
      </p:grpSp>
      <p:sp>
        <p:nvSpPr>
          <p:cNvPr id="26" name="Freeform 26"/>
          <p:cNvSpPr/>
          <p:nvPr/>
        </p:nvSpPr>
        <p:spPr>
          <a:xfrm>
            <a:off x="1028700" y="6832255"/>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5"/>
            <a:stretch>
              <a:fillRect r="-29648"/>
            </a:stretch>
          </a:blipFill>
        </p:spPr>
      </p:sp>
      <p:sp>
        <p:nvSpPr>
          <p:cNvPr id="27" name="Freeform 27"/>
          <p:cNvSpPr/>
          <p:nvPr/>
        </p:nvSpPr>
        <p:spPr>
          <a:xfrm>
            <a:off x="5080191" y="6832255"/>
            <a:ext cx="3632756" cy="1554408"/>
          </a:xfrm>
          <a:custGeom>
            <a:avLst/>
            <a:gdLst/>
            <a:ahLst/>
            <a:cxnLst/>
            <a:rect l="l" t="t" r="r" b="b"/>
            <a:pathLst>
              <a:path w="3632756" h="1554408">
                <a:moveTo>
                  <a:pt x="0" y="0"/>
                </a:moveTo>
                <a:lnTo>
                  <a:pt x="3632757" y="0"/>
                </a:lnTo>
                <a:lnTo>
                  <a:pt x="3632757" y="1554407"/>
                </a:lnTo>
                <a:lnTo>
                  <a:pt x="0" y="1554407"/>
                </a:lnTo>
                <a:lnTo>
                  <a:pt x="0" y="0"/>
                </a:lnTo>
                <a:close/>
              </a:path>
            </a:pathLst>
          </a:custGeom>
          <a:blipFill>
            <a:blip r:embed="rId6"/>
            <a:stretch>
              <a:fillRect l="-16518" r="-16518"/>
            </a:stretch>
          </a:blipFill>
        </p:spPr>
      </p:sp>
      <p:grpSp>
        <p:nvGrpSpPr>
          <p:cNvPr id="28" name="Group 28"/>
          <p:cNvGrpSpPr/>
          <p:nvPr/>
        </p:nvGrpSpPr>
        <p:grpSpPr>
          <a:xfrm>
            <a:off x="9144000" y="9708804"/>
            <a:ext cx="9144000" cy="560871"/>
            <a:chOff x="0" y="0"/>
            <a:chExt cx="2408296" cy="147719"/>
          </a:xfrm>
        </p:grpSpPr>
        <p:sp>
          <p:nvSpPr>
            <p:cNvPr id="29" name="Freeform 29"/>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30" name="TextBox 30"/>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9144000" y="5984215"/>
            <a:ext cx="1138016" cy="1138016"/>
          </a:xfrm>
          <a:custGeom>
            <a:avLst/>
            <a:gdLst/>
            <a:ahLst/>
            <a:cxnLst/>
            <a:rect l="l" t="t" r="r" b="b"/>
            <a:pathLst>
              <a:path w="1138016" h="1138016">
                <a:moveTo>
                  <a:pt x="0" y="0"/>
                </a:moveTo>
                <a:lnTo>
                  <a:pt x="1138016" y="0"/>
                </a:lnTo>
                <a:lnTo>
                  <a:pt x="1138016" y="1138016"/>
                </a:lnTo>
                <a:lnTo>
                  <a:pt x="0" y="1138016"/>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2" name="Freeform 32"/>
          <p:cNvSpPr/>
          <p:nvPr/>
        </p:nvSpPr>
        <p:spPr>
          <a:xfrm>
            <a:off x="9137362" y="7708747"/>
            <a:ext cx="1029460" cy="1103709"/>
          </a:xfrm>
          <a:custGeom>
            <a:avLst/>
            <a:gdLst/>
            <a:ahLst/>
            <a:cxnLst/>
            <a:rect l="l" t="t" r="r" b="b"/>
            <a:pathLst>
              <a:path w="1029460" h="1103709">
                <a:moveTo>
                  <a:pt x="0" y="0"/>
                </a:moveTo>
                <a:lnTo>
                  <a:pt x="1029459" y="0"/>
                </a:lnTo>
                <a:lnTo>
                  <a:pt x="1029459" y="1103709"/>
                </a:lnTo>
                <a:lnTo>
                  <a:pt x="0" y="1103709"/>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3" name="Freeform 33"/>
          <p:cNvSpPr/>
          <p:nvPr/>
        </p:nvSpPr>
        <p:spPr>
          <a:xfrm>
            <a:off x="9144000" y="2823729"/>
            <a:ext cx="1038944" cy="1021943"/>
          </a:xfrm>
          <a:custGeom>
            <a:avLst/>
            <a:gdLst/>
            <a:ahLst/>
            <a:cxnLst/>
            <a:rect l="l" t="t" r="r" b="b"/>
            <a:pathLst>
              <a:path w="1038944" h="1021943">
                <a:moveTo>
                  <a:pt x="0" y="0"/>
                </a:moveTo>
                <a:lnTo>
                  <a:pt x="1038944" y="0"/>
                </a:lnTo>
                <a:lnTo>
                  <a:pt x="1038944" y="1021943"/>
                </a:lnTo>
                <a:lnTo>
                  <a:pt x="0" y="1021943"/>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4" name="Freeform 34"/>
          <p:cNvSpPr/>
          <p:nvPr/>
        </p:nvSpPr>
        <p:spPr>
          <a:xfrm>
            <a:off x="9160123" y="4432187"/>
            <a:ext cx="1000060" cy="965513"/>
          </a:xfrm>
          <a:custGeom>
            <a:avLst/>
            <a:gdLst/>
            <a:ahLst/>
            <a:cxnLst/>
            <a:rect l="l" t="t" r="r" b="b"/>
            <a:pathLst>
              <a:path w="1000060" h="965513">
                <a:moveTo>
                  <a:pt x="0" y="0"/>
                </a:moveTo>
                <a:lnTo>
                  <a:pt x="1000060" y="0"/>
                </a:lnTo>
                <a:lnTo>
                  <a:pt x="1000060" y="965513"/>
                </a:lnTo>
                <a:lnTo>
                  <a:pt x="0" y="965513"/>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35" name="TextBox 35"/>
          <p:cNvSpPr txBox="1"/>
          <p:nvPr/>
        </p:nvSpPr>
        <p:spPr>
          <a:xfrm>
            <a:off x="1028700" y="215814"/>
            <a:ext cx="636007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01 | Latar Belakang</a:t>
            </a:r>
          </a:p>
        </p:txBody>
      </p:sp>
      <p:sp>
        <p:nvSpPr>
          <p:cNvPr id="36" name="TextBox 36"/>
          <p:cNvSpPr txBox="1"/>
          <p:nvPr/>
        </p:nvSpPr>
        <p:spPr>
          <a:xfrm>
            <a:off x="11985570" y="4611073"/>
            <a:ext cx="3654391" cy="962343"/>
          </a:xfrm>
          <a:prstGeom prst="rect">
            <a:avLst/>
          </a:prstGeom>
        </p:spPr>
        <p:txBody>
          <a:bodyPr lIns="0" tIns="0" rIns="0" bIns="0" rtlCol="0" anchor="t">
            <a:spAutoFit/>
          </a:bodyPr>
          <a:lstStyle/>
          <a:p>
            <a:pPr algn="ctr">
              <a:lnSpc>
                <a:spcPts val="2607"/>
              </a:lnSpc>
            </a:pPr>
            <a:r>
              <a:rPr lang="en-US" sz="1862" b="1">
                <a:solidFill>
                  <a:srgbClr val="FF751F"/>
                </a:solidFill>
                <a:latin typeface="Canva Sans Bold"/>
                <a:ea typeface="Canva Sans Bold"/>
                <a:cs typeface="Canva Sans Bold"/>
                <a:sym typeface="Canva Sans Bold"/>
              </a:rPr>
              <a:t>Teks Al-Qur’an kompleks dan kontekstual</a:t>
            </a:r>
          </a:p>
          <a:p>
            <a:pPr algn="ctr">
              <a:lnSpc>
                <a:spcPts val="2607"/>
              </a:lnSpc>
            </a:pPr>
            <a:endParaRPr lang="en-US" sz="1862" b="1">
              <a:solidFill>
                <a:srgbClr val="FF751F"/>
              </a:solidFill>
              <a:latin typeface="Canva Sans Bold"/>
              <a:ea typeface="Canva Sans Bold"/>
              <a:cs typeface="Canva Sans Bold"/>
              <a:sym typeface="Canva Sans Bold"/>
            </a:endParaRPr>
          </a:p>
        </p:txBody>
      </p:sp>
      <p:sp>
        <p:nvSpPr>
          <p:cNvPr id="37" name="TextBox 37"/>
          <p:cNvSpPr txBox="1"/>
          <p:nvPr/>
        </p:nvSpPr>
        <p:spPr>
          <a:xfrm>
            <a:off x="10586074" y="2805388"/>
            <a:ext cx="6453382" cy="1203541"/>
          </a:xfrm>
          <a:prstGeom prst="rect">
            <a:avLst/>
          </a:prstGeom>
        </p:spPr>
        <p:txBody>
          <a:bodyPr lIns="0" tIns="0" rIns="0" bIns="0" rtlCol="0" anchor="t">
            <a:spAutoFit/>
          </a:bodyPr>
          <a:lstStyle/>
          <a:p>
            <a:pPr algn="ctr">
              <a:lnSpc>
                <a:spcPts val="2438"/>
              </a:lnSpc>
            </a:pPr>
            <a:r>
              <a:rPr lang="en-US" sz="1741" b="1">
                <a:solidFill>
                  <a:srgbClr val="FF751F"/>
                </a:solidFill>
                <a:latin typeface="Canva Sans Bold"/>
                <a:ea typeface="Canva Sans Bold"/>
                <a:cs typeface="Canva Sans Bold"/>
                <a:sym typeface="Canva Sans Bold"/>
              </a:rPr>
              <a:t>Pemodelan topik merupakan pendekatan penting dalam analisis teks untuk menemukan tema tersembunyi dalam kumpulan dokumen besar secara otomatis (Blei et al., 2003a).</a:t>
            </a:r>
          </a:p>
        </p:txBody>
      </p:sp>
      <p:sp>
        <p:nvSpPr>
          <p:cNvPr id="38" name="TextBox 38"/>
          <p:cNvSpPr txBox="1"/>
          <p:nvPr/>
        </p:nvSpPr>
        <p:spPr>
          <a:xfrm>
            <a:off x="10737164" y="7749333"/>
            <a:ext cx="6302292" cy="1055934"/>
          </a:xfrm>
          <a:prstGeom prst="rect">
            <a:avLst/>
          </a:prstGeom>
        </p:spPr>
        <p:txBody>
          <a:bodyPr lIns="0" tIns="0" rIns="0" bIns="0" rtlCol="0" anchor="t">
            <a:spAutoFit/>
          </a:bodyPr>
          <a:lstStyle/>
          <a:p>
            <a:pPr algn="ctr">
              <a:lnSpc>
                <a:spcPts val="2173"/>
              </a:lnSpc>
            </a:pPr>
            <a:r>
              <a:rPr lang="en-US" sz="1552" b="1">
                <a:solidFill>
                  <a:srgbClr val="FF751F"/>
                </a:solidFill>
                <a:latin typeface="Canva Sans Bold"/>
                <a:ea typeface="Canva Sans Bold"/>
                <a:cs typeface="Canva Sans Bold"/>
                <a:sym typeface="Canva Sans Bold"/>
              </a:rPr>
              <a:t>penerapan kedua metode ini pada korpus teks religius terutama teks terjemahan Al-Qur’an dalam bahasa Indonesia belum banyak digunakan</a:t>
            </a:r>
          </a:p>
          <a:p>
            <a:pPr algn="ctr">
              <a:lnSpc>
                <a:spcPts val="2173"/>
              </a:lnSpc>
            </a:pPr>
            <a:endParaRPr lang="en-US" sz="1552" b="1">
              <a:solidFill>
                <a:srgbClr val="FF751F"/>
              </a:solidFill>
              <a:latin typeface="Canva Sans Bold"/>
              <a:ea typeface="Canva Sans Bold"/>
              <a:cs typeface="Canva Sans Bold"/>
              <a:sym typeface="Canva Sans Bold"/>
            </a:endParaRPr>
          </a:p>
        </p:txBody>
      </p:sp>
      <p:sp>
        <p:nvSpPr>
          <p:cNvPr id="39" name="TextBox 39"/>
          <p:cNvSpPr txBox="1"/>
          <p:nvPr/>
        </p:nvSpPr>
        <p:spPr>
          <a:xfrm>
            <a:off x="10586074" y="6235412"/>
            <a:ext cx="6453382" cy="558743"/>
          </a:xfrm>
          <a:prstGeom prst="rect">
            <a:avLst/>
          </a:prstGeom>
        </p:spPr>
        <p:txBody>
          <a:bodyPr lIns="0" tIns="0" rIns="0" bIns="0" rtlCol="0" anchor="t">
            <a:spAutoFit/>
          </a:bodyPr>
          <a:lstStyle/>
          <a:p>
            <a:pPr algn="ctr">
              <a:lnSpc>
                <a:spcPts val="2278"/>
              </a:lnSpc>
            </a:pPr>
            <a:r>
              <a:rPr lang="en-US" sz="1627" b="1">
                <a:solidFill>
                  <a:srgbClr val="FF751F"/>
                </a:solidFill>
                <a:latin typeface="Canva Sans Bold"/>
                <a:ea typeface="Canva Sans Bold"/>
                <a:cs typeface="Canva Sans Bold"/>
                <a:sym typeface="Canva Sans Bold"/>
              </a:rPr>
              <a:t>CTM &amp; BERTopic sebagai solusi alternatif terbaruan dalam menganalisis Teks Al-Qur’an</a:t>
            </a:r>
          </a:p>
        </p:txBody>
      </p:sp>
      <p:sp>
        <p:nvSpPr>
          <p:cNvPr id="40" name="TextBox 40"/>
          <p:cNvSpPr txBox="1"/>
          <p:nvPr/>
        </p:nvSpPr>
        <p:spPr>
          <a:xfrm>
            <a:off x="2121610" y="6839530"/>
            <a:ext cx="1832790" cy="76427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6.236</a:t>
            </a:r>
          </a:p>
        </p:txBody>
      </p:sp>
      <p:sp>
        <p:nvSpPr>
          <p:cNvPr id="41" name="TextBox 41"/>
          <p:cNvSpPr txBox="1"/>
          <p:nvPr/>
        </p:nvSpPr>
        <p:spPr>
          <a:xfrm>
            <a:off x="1238068" y="7557159"/>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Ayat Al-Qur’an</a:t>
            </a:r>
          </a:p>
        </p:txBody>
      </p:sp>
      <p:sp>
        <p:nvSpPr>
          <p:cNvPr id="42" name="TextBox 42"/>
          <p:cNvSpPr txBox="1"/>
          <p:nvPr/>
        </p:nvSpPr>
        <p:spPr>
          <a:xfrm>
            <a:off x="6426910" y="6856492"/>
            <a:ext cx="1232995" cy="757817"/>
          </a:xfrm>
          <a:prstGeom prst="rect">
            <a:avLst/>
          </a:prstGeom>
        </p:spPr>
        <p:txBody>
          <a:bodyPr wrap="square" lIns="0" tIns="0" rIns="0" bIns="0" rtlCol="0" anchor="t">
            <a:spAutoFit/>
          </a:bodyPr>
          <a:lstStyle/>
          <a:p>
            <a:pPr algn="ctr">
              <a:lnSpc>
                <a:spcPts val="6179"/>
              </a:lnSpc>
            </a:pPr>
            <a:r>
              <a:rPr lang="en-US" sz="4413" b="1" dirty="0">
                <a:solidFill>
                  <a:srgbClr val="5CE1E6"/>
                </a:solidFill>
                <a:latin typeface="Canva Sans Bold"/>
                <a:ea typeface="Canva Sans Bold"/>
                <a:cs typeface="Canva Sans Bold"/>
                <a:sym typeface="Canva Sans Bold"/>
              </a:rPr>
              <a:t>114</a:t>
            </a:r>
          </a:p>
        </p:txBody>
      </p:sp>
      <p:sp>
        <p:nvSpPr>
          <p:cNvPr id="43" name="TextBox 43"/>
          <p:cNvSpPr txBox="1"/>
          <p:nvPr/>
        </p:nvSpPr>
        <p:spPr>
          <a:xfrm>
            <a:off x="5080191" y="7541960"/>
            <a:ext cx="3632756" cy="481330"/>
          </a:xfrm>
          <a:prstGeom prst="rect">
            <a:avLst/>
          </a:prstGeom>
        </p:spPr>
        <p:txBody>
          <a:bodyPr lIns="0" tIns="0" rIns="0" bIns="0" rtlCol="0" anchor="t">
            <a:spAutoFit/>
          </a:bodyPr>
          <a:lstStyle/>
          <a:p>
            <a:pPr algn="ctr">
              <a:lnSpc>
                <a:spcPts val="3920"/>
              </a:lnSpc>
            </a:pPr>
            <a:r>
              <a:rPr lang="en-US" sz="2800">
                <a:solidFill>
                  <a:srgbClr val="FF751F"/>
                </a:solidFill>
                <a:latin typeface="Canva Sans"/>
                <a:ea typeface="Canva Sans"/>
                <a:cs typeface="Canva Sans"/>
                <a:sym typeface="Canva Sans"/>
              </a:rPr>
              <a:t>Surat</a:t>
            </a:r>
          </a:p>
        </p:txBody>
      </p:sp>
      <p:sp>
        <p:nvSpPr>
          <p:cNvPr id="44" name="TextBox 44"/>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Mengapa Peneletian Ini Penting?</a:t>
            </a:r>
          </a:p>
        </p:txBody>
      </p:sp>
      <p:sp>
        <p:nvSpPr>
          <p:cNvPr id="45" name="TextBox 45"/>
          <p:cNvSpPr txBox="1"/>
          <p:nvPr/>
        </p:nvSpPr>
        <p:spPr>
          <a:xfrm>
            <a:off x="14532285" y="9745882"/>
            <a:ext cx="3574137" cy="439092"/>
          </a:xfrm>
          <a:prstGeom prst="rect">
            <a:avLst/>
          </a:prstGeom>
        </p:spPr>
        <p:txBody>
          <a:bodyPr lIns="0" tIns="0" rIns="0" bIns="0" rtlCol="0" anchor="t">
            <a:spAutoFit/>
          </a:bodyPr>
          <a:lstStyle/>
          <a:p>
            <a:pPr algn="ctr">
              <a:lnSpc>
                <a:spcPts val="3623"/>
              </a:lnSpc>
            </a:pPr>
            <a:r>
              <a:rPr lang="en-US" sz="2587">
                <a:solidFill>
                  <a:srgbClr val="000000"/>
                </a:solidFill>
                <a:latin typeface="Montserrat"/>
                <a:ea typeface="Montserrat"/>
                <a:cs typeface="Montserrat"/>
                <a:sym typeface="Montserrat"/>
              </a:rPr>
              <a:t>universitas pamulang</a:t>
            </a:r>
          </a:p>
        </p:txBody>
      </p:sp>
      <p:sp>
        <p:nvSpPr>
          <p:cNvPr id="46" name="Freeform 46"/>
          <p:cNvSpPr/>
          <p:nvPr/>
        </p:nvSpPr>
        <p:spPr>
          <a:xfrm>
            <a:off x="2949762" y="8228471"/>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5"/>
            <a:stretch>
              <a:fillRect r="-29648"/>
            </a:stretch>
          </a:blipFill>
        </p:spPr>
      </p:sp>
      <p:sp>
        <p:nvSpPr>
          <p:cNvPr id="47" name="TextBox 47"/>
          <p:cNvSpPr txBox="1"/>
          <p:nvPr/>
        </p:nvSpPr>
        <p:spPr>
          <a:xfrm>
            <a:off x="3954400" y="8235746"/>
            <a:ext cx="1836800" cy="1544884"/>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77.439</a:t>
            </a:r>
          </a:p>
          <a:p>
            <a:pPr algn="ctr">
              <a:lnSpc>
                <a:spcPts val="6150"/>
              </a:lnSpc>
            </a:pPr>
            <a:endParaRPr lang="en-US" sz="4393" b="1" dirty="0">
              <a:solidFill>
                <a:srgbClr val="FF751F"/>
              </a:solidFill>
              <a:latin typeface="Canva Sans Bold"/>
              <a:ea typeface="Canva Sans Bold"/>
              <a:cs typeface="Canva Sans Bold"/>
              <a:sym typeface="Canva Sans Bold"/>
            </a:endParaRPr>
          </a:p>
        </p:txBody>
      </p:sp>
      <p:sp>
        <p:nvSpPr>
          <p:cNvPr id="48" name="TextBox 48"/>
          <p:cNvSpPr txBox="1"/>
          <p:nvPr/>
        </p:nvSpPr>
        <p:spPr>
          <a:xfrm>
            <a:off x="3159129" y="8953375"/>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Kata Terjemah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965541" y="3421446"/>
            <a:ext cx="8337260" cy="1670231"/>
            <a:chOff x="0" y="0"/>
            <a:chExt cx="2195822" cy="439896"/>
          </a:xfrm>
        </p:grpSpPr>
        <p:sp>
          <p:nvSpPr>
            <p:cNvPr id="17" name="Freeform 17"/>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18" name="TextBox 18"/>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2221" y="5327470"/>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5541" y="7283014"/>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sp>
        <p:nvSpPr>
          <p:cNvPr id="25" name="Freeform 25"/>
          <p:cNvSpPr/>
          <p:nvPr/>
        </p:nvSpPr>
        <p:spPr>
          <a:xfrm>
            <a:off x="1102579" y="3752539"/>
            <a:ext cx="1008045" cy="1008045"/>
          </a:xfrm>
          <a:custGeom>
            <a:avLst/>
            <a:gdLst/>
            <a:ahLst/>
            <a:cxnLst/>
            <a:rect l="l" t="t" r="r" b="b"/>
            <a:pathLst>
              <a:path w="1008045" h="1008045">
                <a:moveTo>
                  <a:pt x="0" y="0"/>
                </a:moveTo>
                <a:lnTo>
                  <a:pt x="1008045" y="0"/>
                </a:lnTo>
                <a:lnTo>
                  <a:pt x="1008045" y="1008045"/>
                </a:lnTo>
                <a:lnTo>
                  <a:pt x="0" y="1008045"/>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6" name="Freeform 26"/>
          <p:cNvSpPr/>
          <p:nvPr/>
        </p:nvSpPr>
        <p:spPr>
          <a:xfrm>
            <a:off x="1123797" y="5715447"/>
            <a:ext cx="965608" cy="1038437"/>
          </a:xfrm>
          <a:custGeom>
            <a:avLst/>
            <a:gdLst/>
            <a:ahLst/>
            <a:cxnLst/>
            <a:rect l="l" t="t" r="r" b="b"/>
            <a:pathLst>
              <a:path w="965608" h="1038437">
                <a:moveTo>
                  <a:pt x="0" y="0"/>
                </a:moveTo>
                <a:lnTo>
                  <a:pt x="965608" y="0"/>
                </a:lnTo>
                <a:lnTo>
                  <a:pt x="965608" y="1038437"/>
                </a:lnTo>
                <a:lnTo>
                  <a:pt x="0" y="1038437"/>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a:off x="1102579" y="7708747"/>
            <a:ext cx="1008045" cy="649147"/>
          </a:xfrm>
          <a:custGeom>
            <a:avLst/>
            <a:gdLst/>
            <a:ahLst/>
            <a:cxnLst/>
            <a:rect l="l" t="t" r="r" b="b"/>
            <a:pathLst>
              <a:path w="1008045" h="649147">
                <a:moveTo>
                  <a:pt x="0" y="0"/>
                </a:moveTo>
                <a:lnTo>
                  <a:pt x="1008045" y="0"/>
                </a:lnTo>
                <a:lnTo>
                  <a:pt x="1008045" y="649147"/>
                </a:lnTo>
                <a:lnTo>
                  <a:pt x="0" y="649147"/>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28" name="Group 28"/>
          <p:cNvGrpSpPr/>
          <p:nvPr/>
        </p:nvGrpSpPr>
        <p:grpSpPr>
          <a:xfrm>
            <a:off x="9553792" y="3394681"/>
            <a:ext cx="8337260" cy="1372624"/>
            <a:chOff x="0" y="0"/>
            <a:chExt cx="2195822" cy="361514"/>
          </a:xfrm>
        </p:grpSpPr>
        <p:sp>
          <p:nvSpPr>
            <p:cNvPr id="29" name="Freeform 29"/>
            <p:cNvSpPr/>
            <p:nvPr/>
          </p:nvSpPr>
          <p:spPr>
            <a:xfrm>
              <a:off x="0" y="0"/>
              <a:ext cx="2195822" cy="361514"/>
            </a:xfrm>
            <a:custGeom>
              <a:avLst/>
              <a:gdLst/>
              <a:ahLst/>
              <a:cxnLst/>
              <a:rect l="l" t="t" r="r" b="b"/>
              <a:pathLst>
                <a:path w="2195822" h="361514">
                  <a:moveTo>
                    <a:pt x="0" y="0"/>
                  </a:moveTo>
                  <a:lnTo>
                    <a:pt x="2195822" y="0"/>
                  </a:lnTo>
                  <a:lnTo>
                    <a:pt x="2195822" y="361514"/>
                  </a:lnTo>
                  <a:lnTo>
                    <a:pt x="0" y="3615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409139"/>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9547370" y="4957805"/>
            <a:ext cx="8337260" cy="1222119"/>
            <a:chOff x="0" y="0"/>
            <a:chExt cx="2195822" cy="321875"/>
          </a:xfrm>
        </p:grpSpPr>
        <p:sp>
          <p:nvSpPr>
            <p:cNvPr id="32" name="Freeform 32"/>
            <p:cNvSpPr/>
            <p:nvPr/>
          </p:nvSpPr>
          <p:spPr>
            <a:xfrm>
              <a:off x="0" y="0"/>
              <a:ext cx="2195822" cy="321875"/>
            </a:xfrm>
            <a:custGeom>
              <a:avLst/>
              <a:gdLst/>
              <a:ahLst/>
              <a:cxnLst/>
              <a:rect l="l" t="t" r="r" b="b"/>
              <a:pathLst>
                <a:path w="2195822" h="321875">
                  <a:moveTo>
                    <a:pt x="0" y="0"/>
                  </a:moveTo>
                  <a:lnTo>
                    <a:pt x="2195822" y="0"/>
                  </a:lnTo>
                  <a:lnTo>
                    <a:pt x="2195822" y="321875"/>
                  </a:lnTo>
                  <a:lnTo>
                    <a:pt x="0" y="321875"/>
                  </a:lnTo>
                  <a:close/>
                </a:path>
              </a:pathLst>
            </a:custGeom>
            <a:solidFill>
              <a:srgbClr val="1800AD"/>
            </a:solidFill>
            <a:ln w="38100" cap="sq">
              <a:solidFill>
                <a:srgbClr val="FFDE59"/>
              </a:solidFill>
              <a:prstDash val="solid"/>
              <a:miter/>
            </a:ln>
          </p:spPr>
        </p:sp>
        <p:sp>
          <p:nvSpPr>
            <p:cNvPr id="33" name="TextBox 33"/>
            <p:cNvSpPr txBox="1"/>
            <p:nvPr/>
          </p:nvSpPr>
          <p:spPr>
            <a:xfrm>
              <a:off x="0" y="-47625"/>
              <a:ext cx="2195822" cy="369500"/>
            </a:xfrm>
            <a:prstGeom prst="rect">
              <a:avLst/>
            </a:prstGeom>
          </p:spPr>
          <p:txBody>
            <a:bodyPr lIns="50800" tIns="50800" rIns="50800" bIns="50800" rtlCol="0" anchor="ctr"/>
            <a:lstStyle/>
            <a:p>
              <a:pPr algn="ctr">
                <a:lnSpc>
                  <a:spcPts val="2659"/>
                </a:lnSpc>
              </a:pPr>
              <a:endParaRPr/>
            </a:p>
          </p:txBody>
        </p:sp>
      </p:grpSp>
      <p:grpSp>
        <p:nvGrpSpPr>
          <p:cNvPr id="34" name="Group 34"/>
          <p:cNvGrpSpPr/>
          <p:nvPr/>
        </p:nvGrpSpPr>
        <p:grpSpPr>
          <a:xfrm>
            <a:off x="9553792" y="6370424"/>
            <a:ext cx="8337260" cy="1167838"/>
            <a:chOff x="0" y="0"/>
            <a:chExt cx="2195822" cy="307579"/>
          </a:xfrm>
        </p:grpSpPr>
        <p:sp>
          <p:nvSpPr>
            <p:cNvPr id="35" name="Freeform 35"/>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00BF63"/>
              </a:solidFill>
              <a:prstDash val="solid"/>
              <a:miter/>
            </a:ln>
          </p:spPr>
        </p:sp>
        <p:sp>
          <p:nvSpPr>
            <p:cNvPr id="36" name="TextBox 36"/>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37" name="TextBox 37"/>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02 | Rumusan Masalah</a:t>
            </a:r>
          </a:p>
        </p:txBody>
      </p:sp>
      <p:sp>
        <p:nvSpPr>
          <p:cNvPr id="38" name="TextBox 38"/>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Permasalahan Penelitian</a:t>
            </a:r>
          </a:p>
        </p:txBody>
      </p:sp>
      <p:sp>
        <p:nvSpPr>
          <p:cNvPr id="39" name="TextBox 39"/>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Identifikasi Masalah</a:t>
            </a:r>
          </a:p>
        </p:txBody>
      </p:sp>
      <p:sp>
        <p:nvSpPr>
          <p:cNvPr id="40" name="TextBox 40"/>
          <p:cNvSpPr txBox="1"/>
          <p:nvPr/>
        </p:nvSpPr>
        <p:spPr>
          <a:xfrm>
            <a:off x="2276322" y="3566911"/>
            <a:ext cx="6830081" cy="1355723"/>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Teks terjemahan Al-Qur'an memiliki kompleksitas linguistik tinggi yang menyulitkan pemodelan semantik</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1" name="TextBox 41"/>
          <p:cNvSpPr txBox="1"/>
          <p:nvPr/>
        </p:nvSpPr>
        <p:spPr>
          <a:xfrm>
            <a:off x="2304897" y="565141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CTM &amp; BERTopic memiliki keterbatasan berbeda: performa, komputasi, dan interpretabilitas</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2" name="TextBox 42"/>
          <p:cNvSpPr txBox="1"/>
          <p:nvPr/>
        </p:nvSpPr>
        <p:spPr>
          <a:xfrm>
            <a:off x="2247747" y="7670647"/>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Belum ada perbandingan komprehensif kedua metode pada korpus teks religius bahasa Indonesia</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3" name="TextBox 43"/>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Rumusan Masalah</a:t>
            </a:r>
          </a:p>
        </p:txBody>
      </p:sp>
      <p:sp>
        <p:nvSpPr>
          <p:cNvPr id="44" name="TextBox 44"/>
          <p:cNvSpPr txBox="1"/>
          <p:nvPr/>
        </p:nvSpPr>
        <p:spPr>
          <a:xfrm>
            <a:off x="10893148" y="3709006"/>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membangun model CTM &amp; BERTopic untuk teks terjemahan Al-Qur'an?</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5" name="TextBox 45"/>
          <p:cNvSpPr txBox="1"/>
          <p:nvPr/>
        </p:nvSpPr>
        <p:spPr>
          <a:xfrm>
            <a:off x="10835998" y="5122195"/>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mengukur kualitas topik berdasarkan metrik koherensi (C_V, UMass, NPMI)?</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6" name="TextBox 46"/>
          <p:cNvSpPr txBox="1"/>
          <p:nvPr/>
        </p:nvSpPr>
        <p:spPr>
          <a:xfrm>
            <a:off x="10835998" y="6418049"/>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menginterpretasikan &amp; mengelompokkan tema dari kedua metode?</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7" name="TextBox 47"/>
          <p:cNvSpPr txBox="1"/>
          <p:nvPr/>
        </p:nvSpPr>
        <p:spPr>
          <a:xfrm>
            <a:off x="9970938" y="3481186"/>
            <a:ext cx="4478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1</a:t>
            </a:r>
          </a:p>
        </p:txBody>
      </p:sp>
      <p:sp>
        <p:nvSpPr>
          <p:cNvPr id="48" name="TextBox 48"/>
          <p:cNvSpPr txBox="1"/>
          <p:nvPr/>
        </p:nvSpPr>
        <p:spPr>
          <a:xfrm>
            <a:off x="9945217" y="4833980"/>
            <a:ext cx="473550"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2</a:t>
            </a:r>
          </a:p>
        </p:txBody>
      </p:sp>
      <p:sp>
        <p:nvSpPr>
          <p:cNvPr id="49" name="TextBox 49"/>
          <p:cNvSpPr txBox="1"/>
          <p:nvPr/>
        </p:nvSpPr>
        <p:spPr>
          <a:xfrm>
            <a:off x="9956649" y="6246599"/>
            <a:ext cx="5021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3</a:t>
            </a:r>
          </a:p>
        </p:txBody>
      </p:sp>
      <p:grpSp>
        <p:nvGrpSpPr>
          <p:cNvPr id="50" name="Group 50"/>
          <p:cNvGrpSpPr/>
          <p:nvPr/>
        </p:nvGrpSpPr>
        <p:grpSpPr>
          <a:xfrm>
            <a:off x="9553792" y="7662087"/>
            <a:ext cx="8337260" cy="1167838"/>
            <a:chOff x="0" y="0"/>
            <a:chExt cx="2195822" cy="307579"/>
          </a:xfrm>
        </p:grpSpPr>
        <p:sp>
          <p:nvSpPr>
            <p:cNvPr id="51" name="Freeform 51"/>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CF4119"/>
              </a:solidFill>
              <a:prstDash val="solid"/>
              <a:miter/>
            </a:ln>
          </p:spPr>
        </p:sp>
        <p:sp>
          <p:nvSpPr>
            <p:cNvPr id="52" name="TextBox 52"/>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9903344" y="7584922"/>
            <a:ext cx="528717"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4</a:t>
            </a:r>
          </a:p>
        </p:txBody>
      </p:sp>
      <p:sp>
        <p:nvSpPr>
          <p:cNvPr id="54" name="TextBox 54"/>
          <p:cNvSpPr txBox="1"/>
          <p:nvPr/>
        </p:nvSpPr>
        <p:spPr>
          <a:xfrm>
            <a:off x="10835998" y="776686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Apa tema utama yang terbentuk dari hasil kedua model pada terjemahan Al-Qur'an?</a:t>
            </a:r>
          </a:p>
          <a:p>
            <a:pPr algn="just">
              <a:lnSpc>
                <a:spcPts val="1960"/>
              </a:lnSpc>
            </a:pPr>
            <a:endParaRPr lang="en-US" sz="2100" b="1">
              <a:solidFill>
                <a:srgbClr val="FFFFFF"/>
              </a:solidFill>
              <a:latin typeface="Canva Sans Bold"/>
              <a:ea typeface="Canva Sans Bold"/>
              <a:cs typeface="Canva Sans Bold"/>
              <a:sym typeface="Canva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53792" y="5920701"/>
            <a:ext cx="8337260" cy="1077000"/>
            <a:chOff x="0" y="0"/>
            <a:chExt cx="2195822" cy="283654"/>
          </a:xfrm>
        </p:grpSpPr>
        <p:sp>
          <p:nvSpPr>
            <p:cNvPr id="3" name="Freeform 3"/>
            <p:cNvSpPr/>
            <p:nvPr/>
          </p:nvSpPr>
          <p:spPr>
            <a:xfrm>
              <a:off x="0" y="0"/>
              <a:ext cx="2195822" cy="283654"/>
            </a:xfrm>
            <a:custGeom>
              <a:avLst/>
              <a:gdLst/>
              <a:ahLst/>
              <a:cxnLst/>
              <a:rect l="l" t="t" r="r" b="b"/>
              <a:pathLst>
                <a:path w="2195822" h="283654">
                  <a:moveTo>
                    <a:pt x="0" y="0"/>
                  </a:moveTo>
                  <a:lnTo>
                    <a:pt x="2195822" y="0"/>
                  </a:lnTo>
                  <a:lnTo>
                    <a:pt x="2195822" y="283654"/>
                  </a:lnTo>
                  <a:lnTo>
                    <a:pt x="0" y="283654"/>
                  </a:lnTo>
                  <a:close/>
                </a:path>
              </a:pathLst>
            </a:custGeom>
            <a:solidFill>
              <a:srgbClr val="081F8C"/>
            </a:solidFill>
            <a:ln w="38100" cap="sq">
              <a:solidFill>
                <a:srgbClr val="FF751F"/>
              </a:solidFill>
              <a:prstDash val="solid"/>
              <a:miter/>
            </a:ln>
          </p:spPr>
        </p:sp>
        <p:sp>
          <p:nvSpPr>
            <p:cNvPr id="4" name="TextBox 4"/>
            <p:cNvSpPr txBox="1"/>
            <p:nvPr/>
          </p:nvSpPr>
          <p:spPr>
            <a:xfrm>
              <a:off x="0" y="-47625"/>
              <a:ext cx="2195822" cy="331279"/>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5033559" flipV="1">
            <a:off x="3743699" y="-3979526"/>
            <a:ext cx="9848495" cy="18613993"/>
          </a:xfrm>
          <a:custGeom>
            <a:avLst/>
            <a:gdLst/>
            <a:ahLst/>
            <a:cxnLst/>
            <a:rect l="l" t="t" r="r" b="b"/>
            <a:pathLst>
              <a:path w="9848495" h="18613993">
                <a:moveTo>
                  <a:pt x="0" y="18613993"/>
                </a:moveTo>
                <a:lnTo>
                  <a:pt x="9848495" y="18613993"/>
                </a:lnTo>
                <a:lnTo>
                  <a:pt x="9848495" y="0"/>
                </a:lnTo>
                <a:lnTo>
                  <a:pt x="0" y="0"/>
                </a:lnTo>
                <a:lnTo>
                  <a:pt x="0" y="18613993"/>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6" name="Group 6"/>
          <p:cNvGrpSpPr/>
          <p:nvPr/>
        </p:nvGrpSpPr>
        <p:grpSpPr>
          <a:xfrm>
            <a:off x="0" y="9708804"/>
            <a:ext cx="9144000" cy="560871"/>
            <a:chOff x="0" y="0"/>
            <a:chExt cx="2408296" cy="147719"/>
          </a:xfrm>
        </p:grpSpPr>
        <p:sp>
          <p:nvSpPr>
            <p:cNvPr id="7" name="Freeform 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8" name="TextBox 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287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9144000" y="2479309"/>
            <a:ext cx="8115300" cy="137058"/>
            <a:chOff x="0" y="0"/>
            <a:chExt cx="2137363" cy="36097"/>
          </a:xfrm>
        </p:grpSpPr>
        <p:sp>
          <p:nvSpPr>
            <p:cNvPr id="13" name="Freeform 13"/>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4" name="TextBox 14"/>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6" name="Group 16"/>
          <p:cNvGrpSpPr/>
          <p:nvPr/>
        </p:nvGrpSpPr>
        <p:grpSpPr>
          <a:xfrm>
            <a:off x="9144000" y="9708804"/>
            <a:ext cx="9144000" cy="560871"/>
            <a:chOff x="0" y="0"/>
            <a:chExt cx="2408296" cy="147719"/>
          </a:xfrm>
        </p:grpSpPr>
        <p:sp>
          <p:nvSpPr>
            <p:cNvPr id="17" name="Freeform 1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8" name="TextBox 1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5541" y="3421446"/>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2221" y="5327470"/>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5" name="Group 25"/>
          <p:cNvGrpSpPr/>
          <p:nvPr/>
        </p:nvGrpSpPr>
        <p:grpSpPr>
          <a:xfrm>
            <a:off x="1028700" y="7292919"/>
            <a:ext cx="8337260" cy="1670231"/>
            <a:chOff x="0" y="0"/>
            <a:chExt cx="2195822" cy="439896"/>
          </a:xfrm>
        </p:grpSpPr>
        <p:sp>
          <p:nvSpPr>
            <p:cNvPr id="26" name="Freeform 26"/>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7" name="TextBox 27"/>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8" name="Group 28"/>
          <p:cNvGrpSpPr/>
          <p:nvPr/>
        </p:nvGrpSpPr>
        <p:grpSpPr>
          <a:xfrm>
            <a:off x="9553792" y="3394681"/>
            <a:ext cx="8337260" cy="601099"/>
            <a:chOff x="0" y="0"/>
            <a:chExt cx="2195822" cy="158314"/>
          </a:xfrm>
        </p:grpSpPr>
        <p:sp>
          <p:nvSpPr>
            <p:cNvPr id="29" name="Freeform 29"/>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1123797" y="3669196"/>
            <a:ext cx="905799" cy="905799"/>
          </a:xfrm>
          <a:custGeom>
            <a:avLst/>
            <a:gdLst/>
            <a:ahLst/>
            <a:cxnLst/>
            <a:rect l="l" t="t" r="r" b="b"/>
            <a:pathLst>
              <a:path w="905799" h="905799">
                <a:moveTo>
                  <a:pt x="0" y="0"/>
                </a:moveTo>
                <a:lnTo>
                  <a:pt x="905800" y="0"/>
                </a:lnTo>
                <a:lnTo>
                  <a:pt x="905800" y="905799"/>
                </a:lnTo>
                <a:lnTo>
                  <a:pt x="0" y="90579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32" name="Freeform 32"/>
          <p:cNvSpPr/>
          <p:nvPr/>
        </p:nvSpPr>
        <p:spPr>
          <a:xfrm>
            <a:off x="1117793" y="5440219"/>
            <a:ext cx="911804" cy="1107047"/>
          </a:xfrm>
          <a:custGeom>
            <a:avLst/>
            <a:gdLst/>
            <a:ahLst/>
            <a:cxnLst/>
            <a:rect l="l" t="t" r="r" b="b"/>
            <a:pathLst>
              <a:path w="911804" h="1107047">
                <a:moveTo>
                  <a:pt x="0" y="0"/>
                </a:moveTo>
                <a:lnTo>
                  <a:pt x="911804" y="0"/>
                </a:lnTo>
                <a:lnTo>
                  <a:pt x="911804" y="1107046"/>
                </a:lnTo>
                <a:lnTo>
                  <a:pt x="0" y="1107046"/>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3" name="Freeform 33"/>
          <p:cNvSpPr/>
          <p:nvPr/>
        </p:nvSpPr>
        <p:spPr>
          <a:xfrm>
            <a:off x="1238008" y="7538262"/>
            <a:ext cx="803616" cy="803616"/>
          </a:xfrm>
          <a:custGeom>
            <a:avLst/>
            <a:gdLst/>
            <a:ahLst/>
            <a:cxnLst/>
            <a:rect l="l" t="t" r="r" b="b"/>
            <a:pathLst>
              <a:path w="803616" h="803616">
                <a:moveTo>
                  <a:pt x="0" y="0"/>
                </a:moveTo>
                <a:lnTo>
                  <a:pt x="803616" y="0"/>
                </a:lnTo>
                <a:lnTo>
                  <a:pt x="803616" y="803616"/>
                </a:lnTo>
                <a:lnTo>
                  <a:pt x="0" y="803616"/>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4" name="TextBox 34"/>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03 | Tujuan dan Manfaat</a:t>
            </a:r>
          </a:p>
        </p:txBody>
      </p:sp>
      <p:sp>
        <p:nvSpPr>
          <p:cNvPr id="35" name="TextBox 35"/>
          <p:cNvSpPr txBox="1"/>
          <p:nvPr/>
        </p:nvSpPr>
        <p:spPr>
          <a:xfrm>
            <a:off x="1028700" y="1129213"/>
            <a:ext cx="10183956" cy="2158452"/>
          </a:xfrm>
          <a:prstGeom prst="rect">
            <a:avLst/>
          </a:prstGeom>
        </p:spPr>
        <p:txBody>
          <a:bodyPr lIns="0" tIns="0" rIns="0" bIns="0" rtlCol="0" anchor="t">
            <a:spAutoFit/>
          </a:bodyPr>
          <a:lstStyle/>
          <a:p>
            <a:pPr algn="l">
              <a:lnSpc>
                <a:spcPts val="8605"/>
              </a:lnSpc>
            </a:pPr>
            <a:r>
              <a:rPr lang="en-US" sz="6146" b="1">
                <a:solidFill>
                  <a:srgbClr val="1800AD"/>
                </a:solidFill>
                <a:latin typeface="Archivo Narrow Bold"/>
                <a:ea typeface="Archivo Narrow Bold"/>
                <a:cs typeface="Archivo Narrow Bold"/>
                <a:sym typeface="Archivo Narrow Bold"/>
              </a:rPr>
              <a:t>Research Goals &amp; Kontribusi</a:t>
            </a:r>
          </a:p>
          <a:p>
            <a:pPr algn="l">
              <a:lnSpc>
                <a:spcPts val="8605"/>
              </a:lnSpc>
              <a:spcBef>
                <a:spcPct val="0"/>
              </a:spcBef>
            </a:pPr>
            <a:endParaRPr lang="en-US" sz="6146" b="1">
              <a:solidFill>
                <a:srgbClr val="1800AD"/>
              </a:solidFill>
              <a:latin typeface="Archivo Narrow Bold"/>
              <a:ea typeface="Archivo Narrow Bold"/>
              <a:cs typeface="Archivo Narrow Bold"/>
              <a:sym typeface="Archivo Narrow Bold"/>
            </a:endParaRPr>
          </a:p>
        </p:txBody>
      </p:sp>
      <p:sp>
        <p:nvSpPr>
          <p:cNvPr id="36" name="TextBox 36"/>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Tujuan Penelitian</a:t>
            </a:r>
          </a:p>
        </p:txBody>
      </p:sp>
      <p:sp>
        <p:nvSpPr>
          <p:cNvPr id="37" name="TextBox 37"/>
          <p:cNvSpPr txBox="1"/>
          <p:nvPr/>
        </p:nvSpPr>
        <p:spPr>
          <a:xfrm>
            <a:off x="2276322" y="3519286"/>
            <a:ext cx="6830081" cy="790573"/>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Analisis Efektivitas</a:t>
            </a:r>
          </a:p>
          <a:p>
            <a:pPr algn="just">
              <a:lnSpc>
                <a:spcPts val="2660"/>
              </a:lnSpc>
            </a:pPr>
            <a:endParaRPr lang="en-US" sz="2600" b="1">
              <a:solidFill>
                <a:srgbClr val="FFFFFF"/>
              </a:solidFill>
              <a:latin typeface="Canva Sans Bold"/>
              <a:ea typeface="Canva Sans Bold"/>
              <a:cs typeface="Canva Sans Bold"/>
              <a:sym typeface="Canva Sans Bold"/>
            </a:endParaRPr>
          </a:p>
        </p:txBody>
      </p:sp>
      <p:sp>
        <p:nvSpPr>
          <p:cNvPr id="38" name="TextBox 38"/>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Manfaat Peneletian</a:t>
            </a:r>
          </a:p>
        </p:txBody>
      </p:sp>
      <p:sp>
        <p:nvSpPr>
          <p:cNvPr id="39" name="TextBox 39"/>
          <p:cNvSpPr txBox="1"/>
          <p:nvPr/>
        </p:nvSpPr>
        <p:spPr>
          <a:xfrm>
            <a:off x="2276322" y="4093521"/>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Menganalisis efektivitas CTM &amp; BERTopic dalam pemodelan topik teks terjemahan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0" name="TextBox 40"/>
          <p:cNvSpPr txBox="1"/>
          <p:nvPr/>
        </p:nvSpPr>
        <p:spPr>
          <a:xfrm>
            <a:off x="2336288" y="5408038"/>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Identifikasi Kemampuan</a:t>
            </a:r>
          </a:p>
        </p:txBody>
      </p:sp>
      <p:sp>
        <p:nvSpPr>
          <p:cNvPr id="41" name="TextBox 41"/>
          <p:cNvSpPr txBox="1"/>
          <p:nvPr/>
        </p:nvSpPr>
        <p:spPr>
          <a:xfrm>
            <a:off x="2336288" y="5961186"/>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Mengidentifikasi kemampuan kedua metode dalam menangkap konteks &amp; tema utama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2" name="TextBox 42"/>
          <p:cNvSpPr txBox="1"/>
          <p:nvPr/>
        </p:nvSpPr>
        <p:spPr>
          <a:xfrm>
            <a:off x="2336288" y="7386009"/>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Metode Evaluasi</a:t>
            </a:r>
          </a:p>
        </p:txBody>
      </p:sp>
      <p:sp>
        <p:nvSpPr>
          <p:cNvPr id="43" name="TextBox 43"/>
          <p:cNvSpPr txBox="1"/>
          <p:nvPr/>
        </p:nvSpPr>
        <p:spPr>
          <a:xfrm>
            <a:off x="2336288" y="7931669"/>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Merumuskan metode evaluasi yang tepat untuk menilai kualitas topik dalam konteks kajian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4" name="TextBox 44"/>
          <p:cNvSpPr txBox="1"/>
          <p:nvPr/>
        </p:nvSpPr>
        <p:spPr>
          <a:xfrm>
            <a:off x="10048345" y="3442501"/>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Akademik</a:t>
            </a:r>
          </a:p>
        </p:txBody>
      </p:sp>
      <p:grpSp>
        <p:nvGrpSpPr>
          <p:cNvPr id="45" name="Group 45"/>
          <p:cNvGrpSpPr/>
          <p:nvPr/>
        </p:nvGrpSpPr>
        <p:grpSpPr>
          <a:xfrm>
            <a:off x="9553792" y="3973896"/>
            <a:ext cx="8337260" cy="1107776"/>
            <a:chOff x="0" y="0"/>
            <a:chExt cx="2195822" cy="291760"/>
          </a:xfrm>
        </p:grpSpPr>
        <p:sp>
          <p:nvSpPr>
            <p:cNvPr id="46" name="Freeform 46"/>
            <p:cNvSpPr/>
            <p:nvPr/>
          </p:nvSpPr>
          <p:spPr>
            <a:xfrm>
              <a:off x="0" y="0"/>
              <a:ext cx="2195822" cy="291760"/>
            </a:xfrm>
            <a:custGeom>
              <a:avLst/>
              <a:gdLst/>
              <a:ahLst/>
              <a:cxnLst/>
              <a:rect l="l" t="t" r="r" b="b"/>
              <a:pathLst>
                <a:path w="2195822" h="291760">
                  <a:moveTo>
                    <a:pt x="0" y="0"/>
                  </a:moveTo>
                  <a:lnTo>
                    <a:pt x="2195822" y="0"/>
                  </a:lnTo>
                  <a:lnTo>
                    <a:pt x="2195822" y="291760"/>
                  </a:lnTo>
                  <a:lnTo>
                    <a:pt x="0" y="291760"/>
                  </a:lnTo>
                  <a:close/>
                </a:path>
              </a:pathLst>
            </a:custGeom>
            <a:solidFill>
              <a:srgbClr val="081F8C"/>
            </a:solidFill>
            <a:ln w="38100" cap="sq">
              <a:solidFill>
                <a:srgbClr val="FF751F"/>
              </a:solidFill>
              <a:prstDash val="solid"/>
              <a:miter/>
            </a:ln>
          </p:spPr>
        </p:sp>
        <p:sp>
          <p:nvSpPr>
            <p:cNvPr id="47" name="TextBox 47"/>
            <p:cNvSpPr txBox="1"/>
            <p:nvPr/>
          </p:nvSpPr>
          <p:spPr>
            <a:xfrm>
              <a:off x="0" y="-47625"/>
              <a:ext cx="2195822" cy="339385"/>
            </a:xfrm>
            <a:prstGeom prst="rect">
              <a:avLst/>
            </a:prstGeom>
          </p:spPr>
          <p:txBody>
            <a:bodyPr lIns="50800" tIns="50800" rIns="50800" bIns="50800" rtlCol="0" anchor="ctr"/>
            <a:lstStyle/>
            <a:p>
              <a:pPr algn="ctr">
                <a:lnSpc>
                  <a:spcPts val="2659"/>
                </a:lnSpc>
              </a:pPr>
              <a:endParaRPr/>
            </a:p>
          </p:txBody>
        </p:sp>
      </p:grpSp>
      <p:sp>
        <p:nvSpPr>
          <p:cNvPr id="48" name="TextBox 48"/>
          <p:cNvSpPr txBox="1"/>
          <p:nvPr/>
        </p:nvSpPr>
        <p:spPr>
          <a:xfrm>
            <a:off x="10048345" y="4139877"/>
            <a:ext cx="537549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Kontribusi ilmiah pemodelan topik berbasis konteks pada teks keagamaan</a:t>
            </a:r>
          </a:p>
          <a:p>
            <a:pPr algn="ctr">
              <a:lnSpc>
                <a:spcPts val="980"/>
              </a:lnSpc>
            </a:pPr>
            <a:endParaRPr lang="en-US" sz="1200">
              <a:solidFill>
                <a:srgbClr val="FFFFFF"/>
              </a:solidFill>
              <a:latin typeface="Canva Sans"/>
              <a:ea typeface="Canva Sans"/>
              <a:cs typeface="Canva Sans"/>
              <a:sym typeface="Canva Sans"/>
            </a:endParaRPr>
          </a:p>
        </p:txBody>
      </p:sp>
      <p:sp>
        <p:nvSpPr>
          <p:cNvPr id="49" name="TextBox 49"/>
          <p:cNvSpPr txBox="1"/>
          <p:nvPr/>
        </p:nvSpPr>
        <p:spPr>
          <a:xfrm>
            <a:off x="10048345" y="4508734"/>
            <a:ext cx="4056325" cy="320914"/>
          </a:xfrm>
          <a:prstGeom prst="rect">
            <a:avLst/>
          </a:prstGeom>
        </p:spPr>
        <p:txBody>
          <a:bodyPr lIns="0" tIns="0" rIns="0" bIns="0" rtlCol="0" anchor="t">
            <a:spAutoFit/>
          </a:bodyPr>
          <a:lstStyle/>
          <a:p>
            <a:pPr algn="l">
              <a:lnSpc>
                <a:spcPts val="1680"/>
              </a:lnSpc>
            </a:pPr>
            <a:r>
              <a:rPr lang="en-US" sz="1200">
                <a:solidFill>
                  <a:srgbClr val="FFFFFF"/>
                </a:solidFill>
                <a:latin typeface="Canva Sans"/>
                <a:ea typeface="Canva Sans"/>
                <a:cs typeface="Canva Sans"/>
                <a:sym typeface="Canva Sans"/>
              </a:rPr>
              <a:t>Referensi penelitian NLP pada korpus bahasa Indonesia</a:t>
            </a:r>
          </a:p>
          <a:p>
            <a:pPr algn="l">
              <a:lnSpc>
                <a:spcPts val="980"/>
              </a:lnSpc>
            </a:pPr>
            <a:endParaRPr lang="en-US" sz="1200">
              <a:solidFill>
                <a:srgbClr val="FFFFFF"/>
              </a:solidFill>
              <a:latin typeface="Canva Sans"/>
              <a:ea typeface="Canva Sans"/>
              <a:cs typeface="Canva Sans"/>
              <a:sym typeface="Canva Sans"/>
            </a:endParaRPr>
          </a:p>
        </p:txBody>
      </p:sp>
      <p:grpSp>
        <p:nvGrpSpPr>
          <p:cNvPr id="50" name="Group 50"/>
          <p:cNvGrpSpPr/>
          <p:nvPr/>
        </p:nvGrpSpPr>
        <p:grpSpPr>
          <a:xfrm>
            <a:off x="9553792" y="5338847"/>
            <a:ext cx="8337260" cy="601099"/>
            <a:chOff x="0" y="0"/>
            <a:chExt cx="2195822" cy="158314"/>
          </a:xfrm>
        </p:grpSpPr>
        <p:sp>
          <p:nvSpPr>
            <p:cNvPr id="51" name="Freeform 51"/>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52" name="TextBox 52"/>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10048345" y="5386668"/>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Praktis</a:t>
            </a:r>
          </a:p>
        </p:txBody>
      </p:sp>
      <p:sp>
        <p:nvSpPr>
          <p:cNvPr id="54" name="TextBox 54"/>
          <p:cNvSpPr txBox="1"/>
          <p:nvPr/>
        </p:nvSpPr>
        <p:spPr>
          <a:xfrm>
            <a:off x="10048345" y="6082821"/>
            <a:ext cx="532622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Mempermudah pemahaman struktur tematik Al-Qur'an secara sistematis</a:t>
            </a:r>
          </a:p>
          <a:p>
            <a:pPr algn="ctr">
              <a:lnSpc>
                <a:spcPts val="980"/>
              </a:lnSpc>
            </a:pPr>
            <a:endParaRPr lang="en-US" sz="1200">
              <a:solidFill>
                <a:srgbClr val="FFFFFF"/>
              </a:solidFill>
              <a:latin typeface="Canva Sans"/>
              <a:ea typeface="Canva Sans"/>
              <a:cs typeface="Canva Sans"/>
              <a:sym typeface="Canva Sans"/>
            </a:endParaRPr>
          </a:p>
        </p:txBody>
      </p:sp>
      <p:sp>
        <p:nvSpPr>
          <p:cNvPr id="55" name="TextBox 55"/>
          <p:cNvSpPr txBox="1"/>
          <p:nvPr/>
        </p:nvSpPr>
        <p:spPr>
          <a:xfrm>
            <a:off x="10048345" y="6518035"/>
            <a:ext cx="5283438"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Mendukung kajian tafsir dengan pendekatan teknologi informasi modern</a:t>
            </a:r>
          </a:p>
          <a:p>
            <a:pPr algn="ctr">
              <a:lnSpc>
                <a:spcPts val="980"/>
              </a:lnSpc>
            </a:pPr>
            <a:endParaRPr lang="en-US" sz="1200">
              <a:solidFill>
                <a:srgbClr val="FFFFFF"/>
              </a:solidFill>
              <a:latin typeface="Canva Sans"/>
              <a:ea typeface="Canva Sans"/>
              <a:cs typeface="Canva Sans"/>
              <a:sym typeface="Canva Sans"/>
            </a:endParaRPr>
          </a:p>
        </p:txBody>
      </p:sp>
      <p:grpSp>
        <p:nvGrpSpPr>
          <p:cNvPr id="56" name="Group 56"/>
          <p:cNvGrpSpPr/>
          <p:nvPr/>
        </p:nvGrpSpPr>
        <p:grpSpPr>
          <a:xfrm>
            <a:off x="9598076" y="7862229"/>
            <a:ext cx="8337260" cy="1091016"/>
            <a:chOff x="0" y="0"/>
            <a:chExt cx="2195822" cy="287346"/>
          </a:xfrm>
        </p:grpSpPr>
        <p:sp>
          <p:nvSpPr>
            <p:cNvPr id="57" name="Freeform 57"/>
            <p:cNvSpPr/>
            <p:nvPr/>
          </p:nvSpPr>
          <p:spPr>
            <a:xfrm>
              <a:off x="0" y="0"/>
              <a:ext cx="2195822" cy="287346"/>
            </a:xfrm>
            <a:custGeom>
              <a:avLst/>
              <a:gdLst/>
              <a:ahLst/>
              <a:cxnLst/>
              <a:rect l="l" t="t" r="r" b="b"/>
              <a:pathLst>
                <a:path w="2195822" h="287346">
                  <a:moveTo>
                    <a:pt x="0" y="0"/>
                  </a:moveTo>
                  <a:lnTo>
                    <a:pt x="2195822" y="0"/>
                  </a:lnTo>
                  <a:lnTo>
                    <a:pt x="2195822" y="287346"/>
                  </a:lnTo>
                  <a:lnTo>
                    <a:pt x="0" y="287346"/>
                  </a:lnTo>
                  <a:close/>
                </a:path>
              </a:pathLst>
            </a:custGeom>
            <a:solidFill>
              <a:srgbClr val="081F8C"/>
            </a:solidFill>
            <a:ln w="38100" cap="sq">
              <a:solidFill>
                <a:srgbClr val="FF751F"/>
              </a:solidFill>
              <a:prstDash val="solid"/>
              <a:miter/>
            </a:ln>
          </p:spPr>
        </p:sp>
        <p:sp>
          <p:nvSpPr>
            <p:cNvPr id="58" name="TextBox 58"/>
            <p:cNvSpPr txBox="1"/>
            <p:nvPr/>
          </p:nvSpPr>
          <p:spPr>
            <a:xfrm>
              <a:off x="0" y="-47625"/>
              <a:ext cx="2195822" cy="334971"/>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9598076" y="7283014"/>
            <a:ext cx="8337260" cy="601099"/>
            <a:chOff x="0" y="0"/>
            <a:chExt cx="2195822" cy="158314"/>
          </a:xfrm>
        </p:grpSpPr>
        <p:sp>
          <p:nvSpPr>
            <p:cNvPr id="60" name="Freeform 60"/>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61" name="TextBox 61"/>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62" name="TextBox 62"/>
          <p:cNvSpPr txBox="1"/>
          <p:nvPr/>
        </p:nvSpPr>
        <p:spPr>
          <a:xfrm>
            <a:off x="10048345" y="7330834"/>
            <a:ext cx="7880570"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Teknologi</a:t>
            </a:r>
          </a:p>
        </p:txBody>
      </p:sp>
      <p:sp>
        <p:nvSpPr>
          <p:cNvPr id="63" name="TextBox 63"/>
          <p:cNvSpPr txBox="1"/>
          <p:nvPr/>
        </p:nvSpPr>
        <p:spPr>
          <a:xfrm>
            <a:off x="10048345" y="7998413"/>
            <a:ext cx="4636727"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Referensi pengembangan aplikasi pencarian ayat berbasis tema</a:t>
            </a:r>
          </a:p>
          <a:p>
            <a:pPr algn="ctr">
              <a:lnSpc>
                <a:spcPts val="980"/>
              </a:lnSpc>
            </a:pPr>
            <a:endParaRPr lang="en-US" sz="1200">
              <a:solidFill>
                <a:srgbClr val="FFFFFF"/>
              </a:solidFill>
              <a:latin typeface="Canva Sans"/>
              <a:ea typeface="Canva Sans"/>
              <a:cs typeface="Canva Sans"/>
              <a:sym typeface="Canva Sans"/>
            </a:endParaRPr>
          </a:p>
        </p:txBody>
      </p:sp>
      <p:sp>
        <p:nvSpPr>
          <p:cNvPr id="64" name="TextBox 64"/>
          <p:cNvSpPr txBox="1"/>
          <p:nvPr/>
        </p:nvSpPr>
        <p:spPr>
          <a:xfrm>
            <a:off x="10048345" y="8386002"/>
            <a:ext cx="350963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Dasar sistem analisis tematik teks religius digital</a:t>
            </a:r>
          </a:p>
          <a:p>
            <a:pPr algn="ctr">
              <a:lnSpc>
                <a:spcPts val="980"/>
              </a:lnSpc>
            </a:pPr>
            <a:endParaRPr lang="en-US" sz="1200">
              <a:solidFill>
                <a:srgbClr val="FFFFFF"/>
              </a:solidFill>
              <a:latin typeface="Canva Sans"/>
              <a:ea typeface="Canva Sans"/>
              <a:cs typeface="Canva Sans"/>
              <a:sym typeface="Canva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91389" y="3611822"/>
            <a:ext cx="16167911" cy="2545516"/>
            <a:chOff x="0" y="0"/>
            <a:chExt cx="21557214" cy="3394022"/>
          </a:xfrm>
        </p:grpSpPr>
        <p:grpSp>
          <p:nvGrpSpPr>
            <p:cNvPr id="17" name="Group 17"/>
            <p:cNvGrpSpPr/>
            <p:nvPr/>
          </p:nvGrpSpPr>
          <p:grpSpPr>
            <a:xfrm>
              <a:off x="0" y="77004"/>
              <a:ext cx="2471350" cy="3163011"/>
              <a:chOff x="0" y="0"/>
              <a:chExt cx="713513" cy="913205"/>
            </a:xfrm>
          </p:grpSpPr>
          <p:sp>
            <p:nvSpPr>
              <p:cNvPr id="18" name="Freeform 18"/>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FFDE59"/>
                </a:solidFill>
                <a:prstDash val="solid"/>
                <a:round/>
              </a:ln>
            </p:spPr>
          </p:sp>
          <p:sp>
            <p:nvSpPr>
              <p:cNvPr id="19" name="TextBox 19"/>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0" name="Freeform 20"/>
            <p:cNvSpPr/>
            <p:nvPr/>
          </p:nvSpPr>
          <p:spPr>
            <a:xfrm>
              <a:off x="660492" y="911760"/>
              <a:ext cx="1150367" cy="1274077"/>
            </a:xfrm>
            <a:custGeom>
              <a:avLst/>
              <a:gdLst/>
              <a:ahLst/>
              <a:cxnLst/>
              <a:rect l="l" t="t" r="r" b="b"/>
              <a:pathLst>
                <a:path w="1150367" h="1274077">
                  <a:moveTo>
                    <a:pt x="0" y="0"/>
                  </a:moveTo>
                  <a:lnTo>
                    <a:pt x="1150366" y="0"/>
                  </a:lnTo>
                  <a:lnTo>
                    <a:pt x="1150366" y="1274078"/>
                  </a:lnTo>
                  <a:lnTo>
                    <a:pt x="0" y="127407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1" name="TextBox 21"/>
            <p:cNvSpPr txBox="1"/>
            <p:nvPr/>
          </p:nvSpPr>
          <p:spPr>
            <a:xfrm>
              <a:off x="274438" y="2352787"/>
              <a:ext cx="1922474" cy="730255"/>
            </a:xfrm>
            <a:prstGeom prst="rect">
              <a:avLst/>
            </a:prstGeom>
          </p:spPr>
          <p:txBody>
            <a:bodyPr lIns="0" tIns="0" rIns="0" bIns="0" rtlCol="0" anchor="t">
              <a:spAutoFit/>
            </a:bodyPr>
            <a:lstStyle/>
            <a:p>
              <a:pPr algn="ctr">
                <a:lnSpc>
                  <a:spcPts val="1490"/>
                </a:lnSpc>
              </a:pPr>
              <a:r>
                <a:rPr lang="en-US" sz="1064" b="1">
                  <a:solidFill>
                    <a:srgbClr val="1800AD"/>
                  </a:solidFill>
                  <a:latin typeface="Canva Sans Bold"/>
                  <a:ea typeface="Canva Sans Bold"/>
                  <a:cs typeface="Canva Sans Bold"/>
                  <a:sym typeface="Canva Sans Bold"/>
                </a:rPr>
                <a:t>Terjemahan Al-Qur’an</a:t>
              </a:r>
            </a:p>
            <a:p>
              <a:pPr algn="ctr">
                <a:lnSpc>
                  <a:spcPts val="1490"/>
                </a:lnSpc>
              </a:pPr>
              <a:r>
                <a:rPr lang="en-US" sz="1064" b="1">
                  <a:solidFill>
                    <a:srgbClr val="1800AD"/>
                  </a:solidFill>
                  <a:latin typeface="Canva Sans Bold"/>
                  <a:ea typeface="Canva Sans Bold"/>
                  <a:cs typeface="Canva Sans Bold"/>
                  <a:sym typeface="Canva Sans Bold"/>
                </a:rPr>
                <a:t>Bahasa Indonesia</a:t>
              </a:r>
            </a:p>
            <a:p>
              <a:pPr algn="ctr">
                <a:lnSpc>
                  <a:spcPts val="1490"/>
                </a:lnSpc>
              </a:pPr>
              <a:r>
                <a:rPr lang="en-US" sz="1064" b="1">
                  <a:solidFill>
                    <a:srgbClr val="1800AD"/>
                  </a:solidFill>
                  <a:latin typeface="Canva Sans Bold"/>
                  <a:ea typeface="Canva Sans Bold"/>
                  <a:cs typeface="Canva Sans Bold"/>
                  <a:sym typeface="Canva Sans Bold"/>
                </a:rPr>
                <a:t>(114 Surat)</a:t>
              </a:r>
            </a:p>
          </p:txBody>
        </p:sp>
        <p:sp>
          <p:nvSpPr>
            <p:cNvPr id="22" name="TextBox 22"/>
            <p:cNvSpPr txBox="1"/>
            <p:nvPr/>
          </p:nvSpPr>
          <p:spPr>
            <a:xfrm>
              <a:off x="242437" y="347303"/>
              <a:ext cx="1922474"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DATASET</a:t>
              </a:r>
            </a:p>
          </p:txBody>
        </p:sp>
        <p:grpSp>
          <p:nvGrpSpPr>
            <p:cNvPr id="23" name="Group 23"/>
            <p:cNvGrpSpPr/>
            <p:nvPr/>
          </p:nvGrpSpPr>
          <p:grpSpPr>
            <a:xfrm>
              <a:off x="3227743" y="154007"/>
              <a:ext cx="2471350" cy="3163011"/>
              <a:chOff x="0" y="0"/>
              <a:chExt cx="713513" cy="913205"/>
            </a:xfrm>
          </p:grpSpPr>
          <p:sp>
            <p:nvSpPr>
              <p:cNvPr id="24" name="Freeform 24"/>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25" name="TextBox 25"/>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6" name="Freeform 26"/>
            <p:cNvSpPr/>
            <p:nvPr/>
          </p:nvSpPr>
          <p:spPr>
            <a:xfrm>
              <a:off x="3482379" y="867796"/>
              <a:ext cx="240167" cy="311737"/>
            </a:xfrm>
            <a:custGeom>
              <a:avLst/>
              <a:gdLst/>
              <a:ahLst/>
              <a:cxnLst/>
              <a:rect l="l" t="t" r="r" b="b"/>
              <a:pathLst>
                <a:path w="240167" h="311737">
                  <a:moveTo>
                    <a:pt x="0" y="0"/>
                  </a:moveTo>
                  <a:lnTo>
                    <a:pt x="240168" y="0"/>
                  </a:lnTo>
                  <a:lnTo>
                    <a:pt x="240168" y="311737"/>
                  </a:lnTo>
                  <a:lnTo>
                    <a:pt x="0" y="311737"/>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a:off x="3444279" y="1312313"/>
              <a:ext cx="278267" cy="320581"/>
            </a:xfrm>
            <a:custGeom>
              <a:avLst/>
              <a:gdLst/>
              <a:ahLst/>
              <a:cxnLst/>
              <a:rect l="l" t="t" r="r" b="b"/>
              <a:pathLst>
                <a:path w="278267" h="320581">
                  <a:moveTo>
                    <a:pt x="0" y="0"/>
                  </a:moveTo>
                  <a:lnTo>
                    <a:pt x="278268" y="0"/>
                  </a:lnTo>
                  <a:lnTo>
                    <a:pt x="278268" y="320581"/>
                  </a:lnTo>
                  <a:lnTo>
                    <a:pt x="0" y="320581"/>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8" name="Freeform 28"/>
            <p:cNvSpPr/>
            <p:nvPr/>
          </p:nvSpPr>
          <p:spPr>
            <a:xfrm>
              <a:off x="3444279" y="1735513"/>
              <a:ext cx="278267" cy="354275"/>
            </a:xfrm>
            <a:custGeom>
              <a:avLst/>
              <a:gdLst/>
              <a:ahLst/>
              <a:cxnLst/>
              <a:rect l="l" t="t" r="r" b="b"/>
              <a:pathLst>
                <a:path w="278267" h="354275">
                  <a:moveTo>
                    <a:pt x="0" y="0"/>
                  </a:moveTo>
                  <a:lnTo>
                    <a:pt x="278268" y="0"/>
                  </a:lnTo>
                  <a:lnTo>
                    <a:pt x="278268" y="354275"/>
                  </a:lnTo>
                  <a:lnTo>
                    <a:pt x="0" y="354275"/>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9" name="Freeform 29"/>
            <p:cNvSpPr/>
            <p:nvPr/>
          </p:nvSpPr>
          <p:spPr>
            <a:xfrm>
              <a:off x="3444279" y="2191388"/>
              <a:ext cx="278267" cy="372377"/>
            </a:xfrm>
            <a:custGeom>
              <a:avLst/>
              <a:gdLst/>
              <a:ahLst/>
              <a:cxnLst/>
              <a:rect l="l" t="t" r="r" b="b"/>
              <a:pathLst>
                <a:path w="278267" h="372377">
                  <a:moveTo>
                    <a:pt x="0" y="0"/>
                  </a:moveTo>
                  <a:lnTo>
                    <a:pt x="278268" y="0"/>
                  </a:lnTo>
                  <a:lnTo>
                    <a:pt x="278268" y="372377"/>
                  </a:lnTo>
                  <a:lnTo>
                    <a:pt x="0" y="372377"/>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0" name="TextBox 30"/>
            <p:cNvSpPr txBox="1"/>
            <p:nvPr/>
          </p:nvSpPr>
          <p:spPr>
            <a:xfrm>
              <a:off x="3273396" y="409514"/>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PREPROCESSING</a:t>
              </a:r>
            </a:p>
          </p:txBody>
        </p:sp>
        <p:sp>
          <p:nvSpPr>
            <p:cNvPr id="31" name="TextBox 31"/>
            <p:cNvSpPr txBox="1"/>
            <p:nvPr/>
          </p:nvSpPr>
          <p:spPr>
            <a:xfrm>
              <a:off x="3808121" y="940749"/>
              <a:ext cx="1162732" cy="156307"/>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Case Folding</a:t>
              </a:r>
            </a:p>
          </p:txBody>
        </p:sp>
        <p:sp>
          <p:nvSpPr>
            <p:cNvPr id="32" name="TextBox 32"/>
            <p:cNvSpPr txBox="1"/>
            <p:nvPr/>
          </p:nvSpPr>
          <p:spPr>
            <a:xfrm>
              <a:off x="3808121" y="1360459"/>
              <a:ext cx="1350206"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Tokenezation</a:t>
              </a:r>
            </a:p>
          </p:txBody>
        </p:sp>
        <p:sp>
          <p:nvSpPr>
            <p:cNvPr id="33" name="TextBox 33"/>
            <p:cNvSpPr txBox="1"/>
            <p:nvPr/>
          </p:nvSpPr>
          <p:spPr>
            <a:xfrm>
              <a:off x="3808121" y="1829734"/>
              <a:ext cx="1350206"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Stopword Removal</a:t>
              </a:r>
            </a:p>
          </p:txBody>
        </p:sp>
        <p:sp>
          <p:nvSpPr>
            <p:cNvPr id="34" name="TextBox 34"/>
            <p:cNvSpPr txBox="1"/>
            <p:nvPr/>
          </p:nvSpPr>
          <p:spPr>
            <a:xfrm>
              <a:off x="3770021" y="2306717"/>
              <a:ext cx="1723743"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Stemming/Lemmatization</a:t>
              </a:r>
            </a:p>
          </p:txBody>
        </p:sp>
        <p:sp>
          <p:nvSpPr>
            <p:cNvPr id="35" name="TextBox 35"/>
            <p:cNvSpPr txBox="1"/>
            <p:nvPr/>
          </p:nvSpPr>
          <p:spPr>
            <a:xfrm>
              <a:off x="3510478" y="2671715"/>
              <a:ext cx="1905881" cy="452945"/>
            </a:xfrm>
            <a:prstGeom prst="rect">
              <a:avLst/>
            </a:prstGeom>
          </p:spPr>
          <p:txBody>
            <a:bodyPr lIns="0" tIns="0" rIns="0" bIns="0" rtlCol="0" anchor="t">
              <a:spAutoFit/>
            </a:bodyPr>
            <a:lstStyle/>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Basic</a:t>
              </a:r>
            </a:p>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No Steam</a:t>
              </a:r>
            </a:p>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Advances</a:t>
              </a:r>
            </a:p>
          </p:txBody>
        </p:sp>
        <p:grpSp>
          <p:nvGrpSpPr>
            <p:cNvPr id="36" name="Group 36"/>
            <p:cNvGrpSpPr/>
            <p:nvPr/>
          </p:nvGrpSpPr>
          <p:grpSpPr>
            <a:xfrm>
              <a:off x="6461093" y="154007"/>
              <a:ext cx="5118401" cy="3163011"/>
              <a:chOff x="0" y="0"/>
              <a:chExt cx="1477754" cy="913205"/>
            </a:xfrm>
          </p:grpSpPr>
          <p:sp>
            <p:nvSpPr>
              <p:cNvPr id="37" name="Freeform 37"/>
              <p:cNvSpPr/>
              <p:nvPr/>
            </p:nvSpPr>
            <p:spPr>
              <a:xfrm>
                <a:off x="0" y="0"/>
                <a:ext cx="1477754" cy="913205"/>
              </a:xfrm>
              <a:custGeom>
                <a:avLst/>
                <a:gdLst/>
                <a:ahLst/>
                <a:cxnLst/>
                <a:rect l="l" t="t" r="r" b="b"/>
                <a:pathLst>
                  <a:path w="1477754" h="913205">
                    <a:moveTo>
                      <a:pt x="52436" y="0"/>
                    </a:moveTo>
                    <a:lnTo>
                      <a:pt x="1425318" y="0"/>
                    </a:lnTo>
                    <a:cubicBezTo>
                      <a:pt x="1454278" y="0"/>
                      <a:pt x="1477754" y="23476"/>
                      <a:pt x="1477754" y="52436"/>
                    </a:cubicBezTo>
                    <a:lnTo>
                      <a:pt x="1477754" y="860769"/>
                    </a:lnTo>
                    <a:cubicBezTo>
                      <a:pt x="1477754" y="889729"/>
                      <a:pt x="1454278" y="913205"/>
                      <a:pt x="1425318" y="913205"/>
                    </a:cubicBezTo>
                    <a:lnTo>
                      <a:pt x="52436" y="913205"/>
                    </a:lnTo>
                    <a:cubicBezTo>
                      <a:pt x="23476" y="913205"/>
                      <a:pt x="0" y="889729"/>
                      <a:pt x="0" y="860769"/>
                    </a:cubicBezTo>
                    <a:lnTo>
                      <a:pt x="0" y="52436"/>
                    </a:lnTo>
                    <a:cubicBezTo>
                      <a:pt x="0" y="23476"/>
                      <a:pt x="23476" y="0"/>
                      <a:pt x="52436" y="0"/>
                    </a:cubicBezTo>
                    <a:close/>
                  </a:path>
                </a:pathLst>
              </a:custGeom>
              <a:solidFill>
                <a:srgbClr val="FFFFFF"/>
              </a:solidFill>
              <a:ln w="38100" cap="rnd">
                <a:solidFill>
                  <a:srgbClr val="FF751F"/>
                </a:solidFill>
                <a:prstDash val="solid"/>
                <a:round/>
              </a:ln>
            </p:spPr>
          </p:sp>
          <p:sp>
            <p:nvSpPr>
              <p:cNvPr id="38" name="TextBox 38"/>
              <p:cNvSpPr txBox="1"/>
              <p:nvPr/>
            </p:nvSpPr>
            <p:spPr>
              <a:xfrm>
                <a:off x="0" y="-47625"/>
                <a:ext cx="1477754" cy="960830"/>
              </a:xfrm>
              <a:prstGeom prst="rect">
                <a:avLst/>
              </a:prstGeom>
            </p:spPr>
            <p:txBody>
              <a:bodyPr lIns="34756" tIns="34756" rIns="34756" bIns="34756" rtlCol="0" anchor="ctr"/>
              <a:lstStyle/>
              <a:p>
                <a:pPr algn="ctr">
                  <a:lnSpc>
                    <a:spcPts val="2659"/>
                  </a:lnSpc>
                </a:pPr>
                <a:endParaRPr/>
              </a:p>
            </p:txBody>
          </p:sp>
        </p:grpSp>
        <p:sp>
          <p:nvSpPr>
            <p:cNvPr id="39" name="Freeform 39"/>
            <p:cNvSpPr/>
            <p:nvPr/>
          </p:nvSpPr>
          <p:spPr>
            <a:xfrm>
              <a:off x="7224593" y="1229167"/>
              <a:ext cx="902216" cy="1012691"/>
            </a:xfrm>
            <a:custGeom>
              <a:avLst/>
              <a:gdLst/>
              <a:ahLst/>
              <a:cxnLst/>
              <a:rect l="l" t="t" r="r" b="b"/>
              <a:pathLst>
                <a:path w="902216" h="1012691">
                  <a:moveTo>
                    <a:pt x="0" y="0"/>
                  </a:moveTo>
                  <a:lnTo>
                    <a:pt x="902216" y="0"/>
                  </a:lnTo>
                  <a:lnTo>
                    <a:pt x="902216" y="1012691"/>
                  </a:lnTo>
                  <a:lnTo>
                    <a:pt x="0" y="1012691"/>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0" name="TextBox 40"/>
            <p:cNvSpPr txBox="1"/>
            <p:nvPr/>
          </p:nvSpPr>
          <p:spPr>
            <a:xfrm>
              <a:off x="7830271" y="276194"/>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TOPIC MODELING</a:t>
              </a:r>
            </a:p>
          </p:txBody>
        </p:sp>
        <p:sp>
          <p:nvSpPr>
            <p:cNvPr id="41" name="TextBox 41"/>
            <p:cNvSpPr txBox="1"/>
            <p:nvPr/>
          </p:nvSpPr>
          <p:spPr>
            <a:xfrm>
              <a:off x="6803689" y="2384733"/>
              <a:ext cx="2216605" cy="691224"/>
            </a:xfrm>
            <a:prstGeom prst="rect">
              <a:avLst/>
            </a:prstGeom>
          </p:spPr>
          <p:txBody>
            <a:bodyPr lIns="0" tIns="0" rIns="0" bIns="0" rtlCol="0" anchor="t">
              <a:spAutoFit/>
            </a:bodyPr>
            <a:lstStyle/>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Optimasi Jumlah Topik (K)</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Varitional Inference</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Logistic Normal Distribution</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Topic Correlation</a:t>
              </a:r>
            </a:p>
          </p:txBody>
        </p:sp>
        <p:sp>
          <p:nvSpPr>
            <p:cNvPr id="42" name="TextBox 42"/>
            <p:cNvSpPr txBox="1"/>
            <p:nvPr/>
          </p:nvSpPr>
          <p:spPr>
            <a:xfrm>
              <a:off x="6714464" y="738393"/>
              <a:ext cx="1922474" cy="343879"/>
            </a:xfrm>
            <a:prstGeom prst="rect">
              <a:avLst/>
            </a:prstGeom>
          </p:spPr>
          <p:txBody>
            <a:bodyPr lIns="0" tIns="0" rIns="0" bIns="0" rtlCol="0" anchor="t">
              <a:spAutoFit/>
            </a:bodyPr>
            <a:lstStyle/>
            <a:p>
              <a:pPr algn="ctr">
                <a:lnSpc>
                  <a:spcPts val="2190"/>
                </a:lnSpc>
              </a:pPr>
              <a:r>
                <a:rPr lang="en-US" sz="1564" b="1">
                  <a:solidFill>
                    <a:srgbClr val="CF4119"/>
                  </a:solidFill>
                  <a:latin typeface="Canva Sans Bold"/>
                  <a:ea typeface="Canva Sans Bold"/>
                  <a:cs typeface="Canva Sans Bold"/>
                  <a:sym typeface="Canva Sans Bold"/>
                </a:rPr>
                <a:t>CTM</a:t>
              </a:r>
            </a:p>
          </p:txBody>
        </p:sp>
        <p:sp>
          <p:nvSpPr>
            <p:cNvPr id="43" name="TextBox 43"/>
            <p:cNvSpPr txBox="1"/>
            <p:nvPr/>
          </p:nvSpPr>
          <p:spPr>
            <a:xfrm>
              <a:off x="9106838" y="738393"/>
              <a:ext cx="1922474" cy="343879"/>
            </a:xfrm>
            <a:prstGeom prst="rect">
              <a:avLst/>
            </a:prstGeom>
          </p:spPr>
          <p:txBody>
            <a:bodyPr lIns="0" tIns="0" rIns="0" bIns="0" rtlCol="0" anchor="t">
              <a:spAutoFit/>
            </a:bodyPr>
            <a:lstStyle/>
            <a:p>
              <a:pPr algn="ctr">
                <a:lnSpc>
                  <a:spcPts val="2190"/>
                </a:lnSpc>
              </a:pPr>
              <a:r>
                <a:rPr lang="en-US" sz="1564" b="1">
                  <a:solidFill>
                    <a:srgbClr val="FF751F"/>
                  </a:solidFill>
                  <a:latin typeface="Canva Sans Bold"/>
                  <a:ea typeface="Canva Sans Bold"/>
                  <a:cs typeface="Canva Sans Bold"/>
                  <a:sym typeface="Canva Sans Bold"/>
                </a:rPr>
                <a:t>BERTopic</a:t>
              </a:r>
            </a:p>
          </p:txBody>
        </p:sp>
        <p:sp>
          <p:nvSpPr>
            <p:cNvPr id="44" name="Freeform 44"/>
            <p:cNvSpPr/>
            <p:nvPr/>
          </p:nvSpPr>
          <p:spPr>
            <a:xfrm>
              <a:off x="9572770" y="1134517"/>
              <a:ext cx="450045" cy="505152"/>
            </a:xfrm>
            <a:custGeom>
              <a:avLst/>
              <a:gdLst/>
              <a:ahLst/>
              <a:cxnLst/>
              <a:rect l="l" t="t" r="r" b="b"/>
              <a:pathLst>
                <a:path w="450045" h="505152">
                  <a:moveTo>
                    <a:pt x="0" y="0"/>
                  </a:moveTo>
                  <a:lnTo>
                    <a:pt x="450044" y="0"/>
                  </a:lnTo>
                  <a:lnTo>
                    <a:pt x="450044"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5" name="Freeform 45"/>
            <p:cNvSpPr/>
            <p:nvPr/>
          </p:nvSpPr>
          <p:spPr>
            <a:xfrm>
              <a:off x="10138736" y="1134517"/>
              <a:ext cx="450045" cy="505152"/>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6" name="Freeform 46"/>
            <p:cNvSpPr/>
            <p:nvPr/>
          </p:nvSpPr>
          <p:spPr>
            <a:xfrm>
              <a:off x="9797792" y="1535181"/>
              <a:ext cx="450045" cy="505152"/>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7" name="TextBox 47"/>
            <p:cNvSpPr txBox="1"/>
            <p:nvPr/>
          </p:nvSpPr>
          <p:spPr>
            <a:xfrm>
              <a:off x="9020294" y="2384733"/>
              <a:ext cx="2549061" cy="691224"/>
            </a:xfrm>
            <a:prstGeom prst="rect">
              <a:avLst/>
            </a:prstGeom>
          </p:spPr>
          <p:txBody>
            <a:bodyPr lIns="0" tIns="0" rIns="0" bIns="0" rtlCol="0" anchor="t">
              <a:spAutoFit/>
            </a:bodyPr>
            <a:lstStyle/>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UMAP (Dimensionality Reduction)</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HDBSCAN (Clustering)</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C-TF-IDF (Topic Representation</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Topic Extraction</a:t>
              </a:r>
            </a:p>
          </p:txBody>
        </p:sp>
        <p:sp>
          <p:nvSpPr>
            <p:cNvPr id="48" name="AutoShape 48"/>
            <p:cNvSpPr/>
            <p:nvPr/>
          </p:nvSpPr>
          <p:spPr>
            <a:xfrm flipV="1">
              <a:off x="8982194" y="937320"/>
              <a:ext cx="0" cy="2107625"/>
            </a:xfrm>
            <a:prstGeom prst="line">
              <a:avLst/>
            </a:prstGeom>
            <a:ln w="12700" cap="flat">
              <a:solidFill>
                <a:srgbClr val="658DEF"/>
              </a:solidFill>
              <a:prstDash val="solid"/>
              <a:headEnd type="none" w="sm" len="sm"/>
              <a:tailEnd type="none" w="sm" len="sm"/>
            </a:ln>
          </p:spPr>
        </p:sp>
        <p:grpSp>
          <p:nvGrpSpPr>
            <p:cNvPr id="49" name="Group 49"/>
            <p:cNvGrpSpPr/>
            <p:nvPr/>
          </p:nvGrpSpPr>
          <p:grpSpPr>
            <a:xfrm>
              <a:off x="12341495" y="231011"/>
              <a:ext cx="2471350" cy="3163011"/>
              <a:chOff x="0" y="0"/>
              <a:chExt cx="713513" cy="913205"/>
            </a:xfrm>
          </p:grpSpPr>
          <p:sp>
            <p:nvSpPr>
              <p:cNvPr id="50" name="Freeform 50"/>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52" name="Freeform 52"/>
            <p:cNvSpPr/>
            <p:nvPr/>
          </p:nvSpPr>
          <p:spPr>
            <a:xfrm>
              <a:off x="12798362" y="892287"/>
              <a:ext cx="1486810" cy="1059690"/>
            </a:xfrm>
            <a:custGeom>
              <a:avLst/>
              <a:gdLst/>
              <a:ahLst/>
              <a:cxnLst/>
              <a:rect l="l" t="t" r="r" b="b"/>
              <a:pathLst>
                <a:path w="1486810" h="1059690">
                  <a:moveTo>
                    <a:pt x="0" y="0"/>
                  </a:moveTo>
                  <a:lnTo>
                    <a:pt x="1486810" y="0"/>
                  </a:lnTo>
                  <a:lnTo>
                    <a:pt x="1486810" y="1059690"/>
                  </a:lnTo>
                  <a:lnTo>
                    <a:pt x="0" y="1059690"/>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53" name="TextBox 53"/>
            <p:cNvSpPr txBox="1"/>
            <p:nvPr/>
          </p:nvSpPr>
          <p:spPr>
            <a:xfrm>
              <a:off x="12432799" y="441690"/>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EVALUATION</a:t>
              </a:r>
            </a:p>
          </p:txBody>
        </p:sp>
        <p:sp>
          <p:nvSpPr>
            <p:cNvPr id="54" name="TextBox 54"/>
            <p:cNvSpPr txBox="1"/>
            <p:nvPr/>
          </p:nvSpPr>
          <p:spPr>
            <a:xfrm>
              <a:off x="12615932" y="2159596"/>
              <a:ext cx="1922474" cy="596964"/>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Coherence Score</a:t>
              </a:r>
            </a:p>
            <a:p>
              <a:pPr algn="ctr">
                <a:lnSpc>
                  <a:spcPts val="930"/>
                </a:lnSpc>
              </a:pPr>
              <a:r>
                <a:rPr lang="en-US" sz="664" b="1">
                  <a:solidFill>
                    <a:srgbClr val="1800AD"/>
                  </a:solidFill>
                  <a:latin typeface="Canva Sans Bold"/>
                  <a:ea typeface="Canva Sans Bold"/>
                  <a:cs typeface="Canva Sans Bold"/>
                  <a:sym typeface="Canva Sans Bold"/>
                </a:rPr>
                <a:t>Diversity Score</a:t>
              </a:r>
            </a:p>
            <a:p>
              <a:pPr algn="ctr">
                <a:lnSpc>
                  <a:spcPts val="930"/>
                </a:lnSpc>
              </a:pPr>
              <a:r>
                <a:rPr lang="en-US" sz="664" b="1">
                  <a:solidFill>
                    <a:srgbClr val="1800AD"/>
                  </a:solidFill>
                  <a:latin typeface="Canva Sans Bold"/>
                  <a:ea typeface="Canva Sans Bold"/>
                  <a:cs typeface="Canva Sans Bold"/>
                  <a:sym typeface="Canva Sans Bold"/>
                </a:rPr>
                <a:t>NPMI</a:t>
              </a:r>
            </a:p>
            <a:p>
              <a:pPr algn="ctr">
                <a:lnSpc>
                  <a:spcPts val="930"/>
                </a:lnSpc>
              </a:pPr>
              <a:r>
                <a:rPr lang="en-US" sz="664" b="1">
                  <a:solidFill>
                    <a:srgbClr val="1800AD"/>
                  </a:solidFill>
                  <a:latin typeface="Canva Sans Bold"/>
                  <a:ea typeface="Canva Sans Bold"/>
                  <a:cs typeface="Canva Sans Bold"/>
                  <a:sym typeface="Canva Sans Bold"/>
                </a:rPr>
                <a:t>UMass</a:t>
              </a:r>
            </a:p>
          </p:txBody>
        </p:sp>
        <p:sp>
          <p:nvSpPr>
            <p:cNvPr id="55" name="TextBox 55"/>
            <p:cNvSpPr txBox="1"/>
            <p:nvPr/>
          </p:nvSpPr>
          <p:spPr>
            <a:xfrm>
              <a:off x="12615932" y="2833250"/>
              <a:ext cx="1922474" cy="296749"/>
            </a:xfrm>
            <a:prstGeom prst="rect">
              <a:avLst/>
            </a:prstGeom>
          </p:spPr>
          <p:txBody>
            <a:bodyPr lIns="0" tIns="0" rIns="0" bIns="0" rtlCol="0" anchor="t">
              <a:spAutoFit/>
            </a:bodyPr>
            <a:lstStyle/>
            <a:p>
              <a:pPr algn="ctr">
                <a:lnSpc>
                  <a:spcPts val="930"/>
                </a:lnSpc>
              </a:pPr>
              <a:r>
                <a:rPr lang="en-US" sz="664" b="1">
                  <a:solidFill>
                    <a:srgbClr val="00BF63"/>
                  </a:solidFill>
                  <a:latin typeface="Canva Sans Bold"/>
                  <a:ea typeface="Canva Sans Bold"/>
                  <a:cs typeface="Canva Sans Bold"/>
                  <a:sym typeface="Canva Sans Bold"/>
                </a:rPr>
                <a:t>Menilai Kualitas dan Keragaman Topik dari Kedua Model</a:t>
              </a:r>
            </a:p>
          </p:txBody>
        </p:sp>
        <p:grpSp>
          <p:nvGrpSpPr>
            <p:cNvPr id="56" name="Group 56"/>
            <p:cNvGrpSpPr/>
            <p:nvPr/>
          </p:nvGrpSpPr>
          <p:grpSpPr>
            <a:xfrm>
              <a:off x="15574845" y="77004"/>
              <a:ext cx="2610185" cy="3317018"/>
              <a:chOff x="0" y="0"/>
              <a:chExt cx="825973" cy="1049645"/>
            </a:xfrm>
          </p:grpSpPr>
          <p:sp>
            <p:nvSpPr>
              <p:cNvPr id="57" name="Freeform 57"/>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58" name="TextBox 58"/>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59" name="Freeform 59"/>
            <p:cNvSpPr/>
            <p:nvPr/>
          </p:nvSpPr>
          <p:spPr>
            <a:xfrm>
              <a:off x="16187225" y="1042801"/>
              <a:ext cx="1385424" cy="1385424"/>
            </a:xfrm>
            <a:custGeom>
              <a:avLst/>
              <a:gdLst/>
              <a:ahLst/>
              <a:cxnLst/>
              <a:rect l="l" t="t" r="r" b="b"/>
              <a:pathLst>
                <a:path w="1385424" h="1385424">
                  <a:moveTo>
                    <a:pt x="0" y="0"/>
                  </a:moveTo>
                  <a:lnTo>
                    <a:pt x="1385424" y="0"/>
                  </a:lnTo>
                  <a:lnTo>
                    <a:pt x="1385424" y="1385424"/>
                  </a:lnTo>
                  <a:lnTo>
                    <a:pt x="0" y="1385424"/>
                  </a:lnTo>
                  <a:lnTo>
                    <a:pt x="0" y="0"/>
                  </a:lnTo>
                  <a:close/>
                </a:path>
              </a:pathLst>
            </a:custGeom>
            <a:blipFill>
              <a:blip r:embed="rId11"/>
              <a:stretch>
                <a:fillRect/>
              </a:stretch>
            </a:blipFill>
          </p:spPr>
        </p:sp>
        <p:sp>
          <p:nvSpPr>
            <p:cNvPr id="60" name="TextBox 60"/>
            <p:cNvSpPr txBox="1"/>
            <p:nvPr/>
          </p:nvSpPr>
          <p:spPr>
            <a:xfrm>
              <a:off x="15629757" y="363313"/>
              <a:ext cx="2500360"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 GABUNGAN</a:t>
              </a:r>
            </a:p>
          </p:txBody>
        </p:sp>
        <p:sp>
          <p:nvSpPr>
            <p:cNvPr id="61" name="TextBox 61"/>
            <p:cNvSpPr txBox="1"/>
            <p:nvPr/>
          </p:nvSpPr>
          <p:spPr>
            <a:xfrm>
              <a:off x="16054649" y="2293779"/>
              <a:ext cx="1922474" cy="44685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Menggabungkan hasil topik CTM dan BERTopic dengan model Jaccard Similiarity</a:t>
              </a:r>
            </a:p>
          </p:txBody>
        </p:sp>
        <p:grpSp>
          <p:nvGrpSpPr>
            <p:cNvPr id="62" name="Group 62"/>
            <p:cNvGrpSpPr/>
            <p:nvPr/>
          </p:nvGrpSpPr>
          <p:grpSpPr>
            <a:xfrm>
              <a:off x="18947029" y="0"/>
              <a:ext cx="2610185" cy="3317018"/>
              <a:chOff x="0" y="0"/>
              <a:chExt cx="825973" cy="1049645"/>
            </a:xfrm>
          </p:grpSpPr>
          <p:sp>
            <p:nvSpPr>
              <p:cNvPr id="63" name="Freeform 63"/>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64" name="TextBox 64"/>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65" name="Freeform 65"/>
            <p:cNvSpPr/>
            <p:nvPr/>
          </p:nvSpPr>
          <p:spPr>
            <a:xfrm>
              <a:off x="19626004" y="871515"/>
              <a:ext cx="1187609" cy="1187609"/>
            </a:xfrm>
            <a:custGeom>
              <a:avLst/>
              <a:gdLst/>
              <a:ahLst/>
              <a:cxnLst/>
              <a:rect l="l" t="t" r="r" b="b"/>
              <a:pathLst>
                <a:path w="1187609" h="1187609">
                  <a:moveTo>
                    <a:pt x="0" y="0"/>
                  </a:moveTo>
                  <a:lnTo>
                    <a:pt x="1187609" y="0"/>
                  </a:lnTo>
                  <a:lnTo>
                    <a:pt x="1187609" y="1187610"/>
                  </a:lnTo>
                  <a:lnTo>
                    <a:pt x="0" y="1187610"/>
                  </a:lnTo>
                  <a:lnTo>
                    <a:pt x="0" y="0"/>
                  </a:lnTo>
                  <a:close/>
                </a:path>
              </a:pathLst>
            </a:custGeom>
            <a:blipFill>
              <a:blip r:embed="rId12"/>
              <a:stretch>
                <a:fillRect/>
              </a:stretch>
            </a:blipFill>
          </p:spPr>
        </p:sp>
        <p:sp>
          <p:nvSpPr>
            <p:cNvPr id="66" name="TextBox 66"/>
            <p:cNvSpPr txBox="1"/>
            <p:nvPr/>
          </p:nvSpPr>
          <p:spPr>
            <a:xfrm>
              <a:off x="19001942" y="286309"/>
              <a:ext cx="2500360"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INTEPPRETASI</a:t>
              </a:r>
            </a:p>
          </p:txBody>
        </p:sp>
        <p:sp>
          <p:nvSpPr>
            <p:cNvPr id="67" name="TextBox 67"/>
            <p:cNvSpPr txBox="1"/>
            <p:nvPr/>
          </p:nvSpPr>
          <p:spPr>
            <a:xfrm>
              <a:off x="19426834" y="2216775"/>
              <a:ext cx="1922474" cy="44685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Menginterpretasikan Kata kunci yang terbentuk sesuai dengan tema </a:t>
              </a:r>
            </a:p>
          </p:txBody>
        </p:sp>
      </p:grpSp>
      <p:sp>
        <p:nvSpPr>
          <p:cNvPr id="68" name="TextBox 68"/>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69" name="TextBox 69"/>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3421339" y="2796810"/>
            <a:ext cx="11203811" cy="673155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4"/>
            <a:stretch>
              <a:fillRect t="-8902" b="-1985"/>
            </a:stretch>
          </a:blipFill>
        </p:spPr>
      </p:sp>
      <p:sp>
        <p:nvSpPr>
          <p:cNvPr id="17" name="TextBox 17"/>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66368"/>
            <a:ext cx="7204666" cy="801526"/>
            <a:chOff x="0" y="0"/>
            <a:chExt cx="2773450" cy="308549"/>
          </a:xfrm>
        </p:grpSpPr>
        <p:sp>
          <p:nvSpPr>
            <p:cNvPr id="17" name="Freeform 17"/>
            <p:cNvSpPr/>
            <p:nvPr/>
          </p:nvSpPr>
          <p:spPr>
            <a:xfrm>
              <a:off x="0" y="0"/>
              <a:ext cx="2773450" cy="308549"/>
            </a:xfrm>
            <a:custGeom>
              <a:avLst/>
              <a:gdLst/>
              <a:ahLst/>
              <a:cxnLst/>
              <a:rect l="l" t="t" r="r" b="b"/>
              <a:pathLst>
                <a:path w="2773450" h="308549">
                  <a:moveTo>
                    <a:pt x="27939" y="0"/>
                  </a:moveTo>
                  <a:lnTo>
                    <a:pt x="2745511" y="0"/>
                  </a:lnTo>
                  <a:cubicBezTo>
                    <a:pt x="2760941" y="0"/>
                    <a:pt x="2773450" y="12509"/>
                    <a:pt x="2773450" y="27939"/>
                  </a:cubicBezTo>
                  <a:lnTo>
                    <a:pt x="2773450" y="280610"/>
                  </a:lnTo>
                  <a:cubicBezTo>
                    <a:pt x="2773450" y="288020"/>
                    <a:pt x="2770506" y="295126"/>
                    <a:pt x="2765267" y="300366"/>
                  </a:cubicBezTo>
                  <a:cubicBezTo>
                    <a:pt x="2760027" y="305605"/>
                    <a:pt x="2752921" y="308549"/>
                    <a:pt x="2745511" y="308549"/>
                  </a:cubicBezTo>
                  <a:lnTo>
                    <a:pt x="27939" y="308549"/>
                  </a:lnTo>
                  <a:cubicBezTo>
                    <a:pt x="20529" y="308549"/>
                    <a:pt x="13423" y="305605"/>
                    <a:pt x="8183" y="300366"/>
                  </a:cubicBezTo>
                  <a:cubicBezTo>
                    <a:pt x="2944" y="295126"/>
                    <a:pt x="0" y="288020"/>
                    <a:pt x="0" y="280610"/>
                  </a:cubicBezTo>
                  <a:lnTo>
                    <a:pt x="0" y="27939"/>
                  </a:lnTo>
                  <a:cubicBezTo>
                    <a:pt x="0" y="20529"/>
                    <a:pt x="2944" y="13423"/>
                    <a:pt x="8183" y="8183"/>
                  </a:cubicBezTo>
                  <a:cubicBezTo>
                    <a:pt x="13423" y="2944"/>
                    <a:pt x="20529" y="0"/>
                    <a:pt x="27939" y="0"/>
                  </a:cubicBezTo>
                  <a:close/>
                </a:path>
              </a:pathLst>
            </a:custGeom>
            <a:solidFill>
              <a:srgbClr val="FFFFFF"/>
            </a:solidFill>
            <a:ln w="38100" cap="rnd">
              <a:solidFill>
                <a:srgbClr val="00BF63"/>
              </a:solidFill>
              <a:prstDash val="solid"/>
              <a:round/>
            </a:ln>
          </p:spPr>
        </p:sp>
        <p:sp>
          <p:nvSpPr>
            <p:cNvPr id="18" name="TextBox 18"/>
            <p:cNvSpPr txBox="1"/>
            <p:nvPr/>
          </p:nvSpPr>
          <p:spPr>
            <a:xfrm>
              <a:off x="0" y="-47625"/>
              <a:ext cx="2773450" cy="356174"/>
            </a:xfrm>
            <a:prstGeom prst="rect">
              <a:avLst/>
            </a:prstGeom>
          </p:spPr>
          <p:txBody>
            <a:bodyPr lIns="34756" tIns="34756" rIns="34756" bIns="34756" rtlCol="0" anchor="ctr"/>
            <a:lstStyle/>
            <a:p>
              <a:pPr algn="ctr">
                <a:lnSpc>
                  <a:spcPts val="2659"/>
                </a:lnSpc>
              </a:pPr>
              <a:endParaRPr/>
            </a:p>
          </p:txBody>
        </p:sp>
      </p:grpSp>
      <p:sp>
        <p:nvSpPr>
          <p:cNvPr id="19" name="Freeform 19"/>
          <p:cNvSpPr/>
          <p:nvPr/>
        </p:nvSpPr>
        <p:spPr>
          <a:xfrm>
            <a:off x="1156363"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20" name="Group 20"/>
          <p:cNvGrpSpPr/>
          <p:nvPr/>
        </p:nvGrpSpPr>
        <p:grpSpPr>
          <a:xfrm>
            <a:off x="9144000" y="2866368"/>
            <a:ext cx="8115300" cy="801526"/>
            <a:chOff x="0" y="0"/>
            <a:chExt cx="3124000" cy="308549"/>
          </a:xfrm>
        </p:grpSpPr>
        <p:sp>
          <p:nvSpPr>
            <p:cNvPr id="21" name="Freeform 21"/>
            <p:cNvSpPr/>
            <p:nvPr/>
          </p:nvSpPr>
          <p:spPr>
            <a:xfrm>
              <a:off x="0" y="0"/>
              <a:ext cx="3124000" cy="308549"/>
            </a:xfrm>
            <a:custGeom>
              <a:avLst/>
              <a:gdLst/>
              <a:ahLst/>
              <a:cxnLst/>
              <a:rect l="l" t="t" r="r" b="b"/>
              <a:pathLst>
                <a:path w="3124000" h="308549">
                  <a:moveTo>
                    <a:pt x="24804" y="0"/>
                  </a:moveTo>
                  <a:lnTo>
                    <a:pt x="3099196" y="0"/>
                  </a:lnTo>
                  <a:cubicBezTo>
                    <a:pt x="3105775" y="0"/>
                    <a:pt x="3112083" y="2613"/>
                    <a:pt x="3116735" y="7265"/>
                  </a:cubicBezTo>
                  <a:cubicBezTo>
                    <a:pt x="3121387" y="11916"/>
                    <a:pt x="3124000" y="18225"/>
                    <a:pt x="3124000" y="24804"/>
                  </a:cubicBezTo>
                  <a:lnTo>
                    <a:pt x="3124000" y="283745"/>
                  </a:lnTo>
                  <a:cubicBezTo>
                    <a:pt x="3124000" y="290324"/>
                    <a:pt x="3121387" y="296633"/>
                    <a:pt x="3116735" y="301284"/>
                  </a:cubicBezTo>
                  <a:cubicBezTo>
                    <a:pt x="3112083" y="305936"/>
                    <a:pt x="3105775" y="308549"/>
                    <a:pt x="3099196" y="308549"/>
                  </a:cubicBezTo>
                  <a:lnTo>
                    <a:pt x="24804" y="308549"/>
                  </a:lnTo>
                  <a:cubicBezTo>
                    <a:pt x="18225" y="308549"/>
                    <a:pt x="11916" y="305936"/>
                    <a:pt x="7265" y="301284"/>
                  </a:cubicBezTo>
                  <a:cubicBezTo>
                    <a:pt x="2613" y="296633"/>
                    <a:pt x="0" y="290324"/>
                    <a:pt x="0" y="283745"/>
                  </a:cubicBezTo>
                  <a:lnTo>
                    <a:pt x="0" y="24804"/>
                  </a:lnTo>
                  <a:cubicBezTo>
                    <a:pt x="0" y="18225"/>
                    <a:pt x="2613" y="11916"/>
                    <a:pt x="7265" y="7265"/>
                  </a:cubicBezTo>
                  <a:cubicBezTo>
                    <a:pt x="11916" y="2613"/>
                    <a:pt x="18225" y="0"/>
                    <a:pt x="24804" y="0"/>
                  </a:cubicBezTo>
                  <a:close/>
                </a:path>
              </a:pathLst>
            </a:custGeom>
            <a:solidFill>
              <a:srgbClr val="FFFFFF"/>
            </a:solidFill>
            <a:ln w="38100" cap="rnd">
              <a:solidFill>
                <a:srgbClr val="00BF63"/>
              </a:solidFill>
              <a:prstDash val="solid"/>
              <a:round/>
            </a:ln>
          </p:spPr>
        </p:sp>
        <p:sp>
          <p:nvSpPr>
            <p:cNvPr id="22" name="TextBox 22"/>
            <p:cNvSpPr txBox="1"/>
            <p:nvPr/>
          </p:nvSpPr>
          <p:spPr>
            <a:xfrm>
              <a:off x="0" y="-47625"/>
              <a:ext cx="3124000" cy="356174"/>
            </a:xfrm>
            <a:prstGeom prst="rect">
              <a:avLst/>
            </a:prstGeom>
          </p:spPr>
          <p:txBody>
            <a:bodyPr lIns="34756" tIns="34756" rIns="34756" bIns="34756" rtlCol="0" anchor="ctr"/>
            <a:lstStyle/>
            <a:p>
              <a:pPr algn="ctr">
                <a:lnSpc>
                  <a:spcPts val="2659"/>
                </a:lnSpc>
              </a:pPr>
              <a:endParaRPr/>
            </a:p>
          </p:txBody>
        </p:sp>
      </p:grpSp>
      <p:sp>
        <p:nvSpPr>
          <p:cNvPr id="23" name="Freeform 23"/>
          <p:cNvSpPr/>
          <p:nvPr/>
        </p:nvSpPr>
        <p:spPr>
          <a:xfrm>
            <a:off x="9415186"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24" name="Group 24"/>
          <p:cNvGrpSpPr/>
          <p:nvPr/>
        </p:nvGrpSpPr>
        <p:grpSpPr>
          <a:xfrm>
            <a:off x="8447614" y="3091555"/>
            <a:ext cx="482138" cy="482138"/>
            <a:chOff x="0" y="0"/>
            <a:chExt cx="812800" cy="812800"/>
          </a:xfrm>
        </p:grpSpPr>
        <p:sp>
          <p:nvSpPr>
            <p:cNvPr id="25" name="Freeform 25"/>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FFFFF"/>
            </a:solidFill>
            <a:ln w="38100" cap="sq">
              <a:solidFill>
                <a:srgbClr val="00BF63"/>
              </a:solidFill>
              <a:prstDash val="solid"/>
              <a:miter/>
            </a:ln>
          </p:spPr>
        </p:sp>
        <p:sp>
          <p:nvSpPr>
            <p:cNvPr id="26" name="TextBox 26"/>
            <p:cNvSpPr txBox="1"/>
            <p:nvPr/>
          </p:nvSpPr>
          <p:spPr>
            <a:xfrm>
              <a:off x="0" y="155575"/>
              <a:ext cx="711200" cy="454025"/>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1156363" y="3906020"/>
            <a:ext cx="4065711" cy="1980318"/>
            <a:chOff x="0" y="0"/>
            <a:chExt cx="1565103" cy="762327"/>
          </a:xfrm>
        </p:grpSpPr>
        <p:sp>
          <p:nvSpPr>
            <p:cNvPr id="28" name="Freeform 28"/>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29" name="TextBox 29"/>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0" name="Group 30"/>
          <p:cNvGrpSpPr/>
          <p:nvPr/>
        </p:nvGrpSpPr>
        <p:grpSpPr>
          <a:xfrm>
            <a:off x="5501523" y="3906020"/>
            <a:ext cx="4065711" cy="1980318"/>
            <a:chOff x="0" y="0"/>
            <a:chExt cx="1565103" cy="762327"/>
          </a:xfrm>
        </p:grpSpPr>
        <p:sp>
          <p:nvSpPr>
            <p:cNvPr id="31" name="Freeform 31"/>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2" name="TextBox 32"/>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3" name="Group 33"/>
          <p:cNvGrpSpPr/>
          <p:nvPr/>
        </p:nvGrpSpPr>
        <p:grpSpPr>
          <a:xfrm>
            <a:off x="9586604" y="3906020"/>
            <a:ext cx="4065711" cy="1980318"/>
            <a:chOff x="0" y="0"/>
            <a:chExt cx="1565103" cy="762327"/>
          </a:xfrm>
        </p:grpSpPr>
        <p:sp>
          <p:nvSpPr>
            <p:cNvPr id="34" name="Freeform 34"/>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801725" y="3906020"/>
            <a:ext cx="3457575" cy="1980318"/>
            <a:chOff x="0" y="0"/>
            <a:chExt cx="1331000" cy="762327"/>
          </a:xfrm>
        </p:grpSpPr>
        <p:sp>
          <p:nvSpPr>
            <p:cNvPr id="37" name="Freeform 37"/>
            <p:cNvSpPr/>
            <p:nvPr/>
          </p:nvSpPr>
          <p:spPr>
            <a:xfrm>
              <a:off x="0" y="0"/>
              <a:ext cx="1331000" cy="762327"/>
            </a:xfrm>
            <a:custGeom>
              <a:avLst/>
              <a:gdLst/>
              <a:ahLst/>
              <a:cxnLst/>
              <a:rect l="l" t="t" r="r" b="b"/>
              <a:pathLst>
                <a:path w="1331000" h="762327">
                  <a:moveTo>
                    <a:pt x="58217" y="0"/>
                  </a:moveTo>
                  <a:lnTo>
                    <a:pt x="1272783" y="0"/>
                  </a:lnTo>
                  <a:cubicBezTo>
                    <a:pt x="1304935" y="0"/>
                    <a:pt x="1331000" y="26065"/>
                    <a:pt x="1331000" y="58217"/>
                  </a:cubicBezTo>
                  <a:lnTo>
                    <a:pt x="1331000" y="704110"/>
                  </a:lnTo>
                  <a:cubicBezTo>
                    <a:pt x="1331000" y="719550"/>
                    <a:pt x="1324867" y="734358"/>
                    <a:pt x="1313949" y="745276"/>
                  </a:cubicBezTo>
                  <a:cubicBezTo>
                    <a:pt x="1303031" y="756194"/>
                    <a:pt x="1288223" y="762327"/>
                    <a:pt x="1272783" y="762327"/>
                  </a:cubicBezTo>
                  <a:lnTo>
                    <a:pt x="58217" y="762327"/>
                  </a:lnTo>
                  <a:cubicBezTo>
                    <a:pt x="26065" y="762327"/>
                    <a:pt x="0" y="736263"/>
                    <a:pt x="0" y="704110"/>
                  </a:cubicBezTo>
                  <a:lnTo>
                    <a:pt x="0" y="58217"/>
                  </a:lnTo>
                  <a:cubicBezTo>
                    <a:pt x="0" y="26065"/>
                    <a:pt x="26065" y="0"/>
                    <a:pt x="58217" y="0"/>
                  </a:cubicBezTo>
                  <a:close/>
                </a:path>
              </a:pathLst>
            </a:custGeom>
            <a:solidFill>
              <a:srgbClr val="FFFFFF"/>
            </a:solidFill>
            <a:ln w="38100" cap="rnd">
              <a:solidFill>
                <a:srgbClr val="00BF63"/>
              </a:solidFill>
              <a:prstDash val="solid"/>
              <a:round/>
            </a:ln>
          </p:spPr>
        </p:sp>
        <p:sp>
          <p:nvSpPr>
            <p:cNvPr id="38" name="TextBox 38"/>
            <p:cNvSpPr txBox="1"/>
            <p:nvPr/>
          </p:nvSpPr>
          <p:spPr>
            <a:xfrm>
              <a:off x="0" y="-47625"/>
              <a:ext cx="1331000" cy="809952"/>
            </a:xfrm>
            <a:prstGeom prst="rect">
              <a:avLst/>
            </a:prstGeom>
          </p:spPr>
          <p:txBody>
            <a:bodyPr lIns="34756" tIns="34756" rIns="34756" bIns="34756" rtlCol="0" anchor="ctr"/>
            <a:lstStyle/>
            <a:p>
              <a:pPr algn="ctr">
                <a:lnSpc>
                  <a:spcPts val="2659"/>
                </a:lnSpc>
              </a:pPr>
              <a:endParaRPr/>
            </a:p>
          </p:txBody>
        </p:sp>
      </p:grpSp>
      <p:graphicFrame>
        <p:nvGraphicFramePr>
          <p:cNvPr id="39" name="Table 39"/>
          <p:cNvGraphicFramePr>
            <a:graphicFrameLocks noGrp="1"/>
          </p:cNvGraphicFramePr>
          <p:nvPr/>
        </p:nvGraphicFramePr>
        <p:xfrm>
          <a:off x="3189219" y="6298576"/>
          <a:ext cx="11077473" cy="3124200"/>
        </p:xfrm>
        <a:graphic>
          <a:graphicData uri="http://schemas.openxmlformats.org/drawingml/2006/table">
            <a:tbl>
              <a:tblPr/>
              <a:tblGrid>
                <a:gridCol w="2075514">
                  <a:extLst>
                    <a:ext uri="{9D8B030D-6E8A-4147-A177-3AD203B41FA5}">
                      <a16:colId xmlns:a16="http://schemas.microsoft.com/office/drawing/2014/main" val="20000"/>
                    </a:ext>
                  </a:extLst>
                </a:gridCol>
                <a:gridCol w="2075514">
                  <a:extLst>
                    <a:ext uri="{9D8B030D-6E8A-4147-A177-3AD203B41FA5}">
                      <a16:colId xmlns:a16="http://schemas.microsoft.com/office/drawing/2014/main" val="20001"/>
                    </a:ext>
                  </a:extLst>
                </a:gridCol>
                <a:gridCol w="6926445">
                  <a:extLst>
                    <a:ext uri="{9D8B030D-6E8A-4147-A177-3AD203B41FA5}">
                      <a16:colId xmlns:a16="http://schemas.microsoft.com/office/drawing/2014/main" val="20002"/>
                    </a:ext>
                  </a:extLst>
                </a:gridCol>
              </a:tblGrid>
              <a:tr h="781050">
                <a:tc>
                  <a:txBody>
                    <a:bodyPr/>
                    <a:lstStyle/>
                    <a:p>
                      <a:pPr algn="ctr">
                        <a:lnSpc>
                          <a:spcPts val="2659"/>
                        </a:lnSpc>
                        <a:defRPr/>
                      </a:pPr>
                      <a:r>
                        <a:rPr lang="en-US" sz="1899">
                          <a:solidFill>
                            <a:srgbClr val="000000"/>
                          </a:solidFill>
                          <a:latin typeface="Antic Bold"/>
                          <a:ea typeface="Antic Bold"/>
                          <a:cs typeface="Antic Bold"/>
                          <a:sym typeface="Antic Bold"/>
                        </a:rPr>
                        <a:t>Kolom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Tipe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Deskripsi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extLst>
                  <a:ext uri="{0D108BD9-81ED-4DB2-BD59-A6C34878D82A}">
                    <a16:rowId xmlns:a16="http://schemas.microsoft.com/office/drawing/2014/main" val="10000"/>
                  </a:ext>
                </a:extLst>
              </a:tr>
              <a:tr h="781050">
                <a:tc>
                  <a:txBody>
                    <a:bodyPr/>
                    <a:lstStyle/>
                    <a:p>
                      <a:pPr algn="ctr">
                        <a:lnSpc>
                          <a:spcPts val="2659"/>
                        </a:lnSpc>
                        <a:defRPr/>
                      </a:pPr>
                      <a:r>
                        <a:rPr lang="en-US" sz="1899">
                          <a:solidFill>
                            <a:srgbClr val="000000"/>
                          </a:solidFill>
                          <a:latin typeface="Antic"/>
                          <a:ea typeface="Antic"/>
                          <a:cs typeface="Antic"/>
                          <a:sym typeface="Antic"/>
                        </a:rPr>
                        <a:t>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781050">
                <a:tc>
                  <a:txBody>
                    <a:bodyPr/>
                    <a:lstStyle/>
                    <a:p>
                      <a:pPr algn="ctr">
                        <a:lnSpc>
                          <a:spcPts val="2659"/>
                        </a:lnSpc>
                        <a:defRPr/>
                      </a:pPr>
                      <a:r>
                        <a:rPr lang="en-US" sz="1899">
                          <a:solidFill>
                            <a:srgbClr val="000000"/>
                          </a:solidFill>
                          <a:latin typeface="Antic"/>
                          <a:ea typeface="Antic"/>
                          <a:cs typeface="Antic"/>
                          <a:sym typeface="Antic"/>
                        </a:rPr>
                        <a:t>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781050">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 Terjemahan </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0" name="TextBox 40"/>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Terjemahan Al-Quran Bahasa Indonesia</a:t>
            </a:r>
          </a:p>
        </p:txBody>
      </p:sp>
      <p:sp>
        <p:nvSpPr>
          <p:cNvPr id="41" name="TextBox 41"/>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05 | Dataset</a:t>
            </a:r>
          </a:p>
        </p:txBody>
      </p:sp>
      <p:sp>
        <p:nvSpPr>
          <p:cNvPr id="42" name="TextBox 42"/>
          <p:cNvSpPr txBox="1"/>
          <p:nvPr/>
        </p:nvSpPr>
        <p:spPr>
          <a:xfrm>
            <a:off x="2026168" y="2951854"/>
            <a:ext cx="6056920" cy="563879"/>
          </a:xfrm>
          <a:prstGeom prst="rect">
            <a:avLst/>
          </a:prstGeom>
        </p:spPr>
        <p:txBody>
          <a:bodyPr lIns="0" tIns="0" rIns="0" bIns="0" rtlCol="0" anchor="t">
            <a:spAutoFit/>
          </a:bodyPr>
          <a:lstStyle/>
          <a:p>
            <a:pPr algn="l">
              <a:lnSpc>
                <a:spcPts val="4620"/>
              </a:lnSpc>
            </a:pPr>
            <a:r>
              <a:rPr lang="en-US" sz="3300" b="1">
                <a:solidFill>
                  <a:srgbClr val="000000"/>
                </a:solidFill>
                <a:latin typeface="Canva Sans Bold"/>
                <a:ea typeface="Canva Sans Bold"/>
                <a:cs typeface="Canva Sans Bold"/>
                <a:sym typeface="Canva Sans Bold"/>
              </a:rPr>
              <a:t>https ://quran.kemenag.go.id</a:t>
            </a:r>
          </a:p>
        </p:txBody>
      </p:sp>
      <p:sp>
        <p:nvSpPr>
          <p:cNvPr id="43" name="TextBox 43"/>
          <p:cNvSpPr txBox="1"/>
          <p:nvPr/>
        </p:nvSpPr>
        <p:spPr>
          <a:xfrm>
            <a:off x="10364147" y="3034405"/>
            <a:ext cx="6556966" cy="454548"/>
          </a:xfrm>
          <a:prstGeom prst="rect">
            <a:avLst/>
          </a:prstGeom>
        </p:spPr>
        <p:txBody>
          <a:bodyPr lIns="0" tIns="0" rIns="0" bIns="0" rtlCol="0" anchor="t">
            <a:spAutoFit/>
          </a:bodyPr>
          <a:lstStyle/>
          <a:p>
            <a:pPr algn="l">
              <a:lnSpc>
                <a:spcPts val="3920"/>
              </a:lnSpc>
            </a:pPr>
            <a:r>
              <a:rPr lang="en-US" sz="2400" b="1" dirty="0">
                <a:solidFill>
                  <a:srgbClr val="000000"/>
                </a:solidFill>
                <a:latin typeface="Canva Sans Bold"/>
                <a:ea typeface="Canva Sans Bold"/>
                <a:cs typeface="Canva Sans Bold"/>
                <a:sym typeface="Canva Sans Bold"/>
              </a:rPr>
              <a:t>https ://pustakalajnah.kemenag.go.id/</a:t>
            </a:r>
          </a:p>
        </p:txBody>
      </p:sp>
      <p:sp>
        <p:nvSpPr>
          <p:cNvPr id="44" name="TextBox 44"/>
          <p:cNvSpPr txBox="1"/>
          <p:nvPr/>
        </p:nvSpPr>
        <p:spPr>
          <a:xfrm>
            <a:off x="1700394" y="3890840"/>
            <a:ext cx="2695598"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6.236</a:t>
            </a:r>
          </a:p>
        </p:txBody>
      </p:sp>
      <p:sp>
        <p:nvSpPr>
          <p:cNvPr id="45" name="TextBox 45"/>
          <p:cNvSpPr txBox="1"/>
          <p:nvPr/>
        </p:nvSpPr>
        <p:spPr>
          <a:xfrm>
            <a:off x="6658467" y="3991309"/>
            <a:ext cx="2028333" cy="1243318"/>
          </a:xfrm>
          <a:prstGeom prst="rect">
            <a:avLst/>
          </a:prstGeom>
        </p:spPr>
        <p:txBody>
          <a:bodyPr wrap="square" lIns="0" tIns="0" rIns="0" bIns="0" rtlCol="0" anchor="t">
            <a:spAutoFit/>
          </a:bodyPr>
          <a:lstStyle/>
          <a:p>
            <a:pPr algn="ctr">
              <a:lnSpc>
                <a:spcPts val="10220"/>
              </a:lnSpc>
            </a:pPr>
            <a:r>
              <a:rPr lang="en-US" sz="7300" b="1" dirty="0">
                <a:solidFill>
                  <a:srgbClr val="000000"/>
                </a:solidFill>
                <a:latin typeface="Canva Sans Bold"/>
                <a:ea typeface="Canva Sans Bold"/>
                <a:cs typeface="Canva Sans Bold"/>
                <a:sym typeface="Canva Sans Bold"/>
              </a:rPr>
              <a:t>114</a:t>
            </a:r>
          </a:p>
        </p:txBody>
      </p:sp>
      <p:sp>
        <p:nvSpPr>
          <p:cNvPr id="46" name="TextBox 46"/>
          <p:cNvSpPr txBox="1"/>
          <p:nvPr/>
        </p:nvSpPr>
        <p:spPr>
          <a:xfrm>
            <a:off x="10269054" y="4016893"/>
            <a:ext cx="2989746"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77.439</a:t>
            </a:r>
          </a:p>
        </p:txBody>
      </p:sp>
      <p:sp>
        <p:nvSpPr>
          <p:cNvPr id="47" name="TextBox 47"/>
          <p:cNvSpPr txBox="1"/>
          <p:nvPr/>
        </p:nvSpPr>
        <p:spPr>
          <a:xfrm>
            <a:off x="14179227" y="4016893"/>
            <a:ext cx="2952409"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18.742</a:t>
            </a:r>
          </a:p>
        </p:txBody>
      </p:sp>
      <p:sp>
        <p:nvSpPr>
          <p:cNvPr id="48" name="TextBox 48"/>
          <p:cNvSpPr txBox="1"/>
          <p:nvPr/>
        </p:nvSpPr>
        <p:spPr>
          <a:xfrm>
            <a:off x="1156363"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Ayat</a:t>
            </a:r>
          </a:p>
        </p:txBody>
      </p:sp>
      <p:sp>
        <p:nvSpPr>
          <p:cNvPr id="49" name="TextBox 49"/>
          <p:cNvSpPr txBox="1"/>
          <p:nvPr/>
        </p:nvSpPr>
        <p:spPr>
          <a:xfrm>
            <a:off x="5402420"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Surat</a:t>
            </a:r>
          </a:p>
        </p:txBody>
      </p:sp>
      <p:sp>
        <p:nvSpPr>
          <p:cNvPr id="50" name="TextBox 50"/>
          <p:cNvSpPr txBox="1"/>
          <p:nvPr/>
        </p:nvSpPr>
        <p:spPr>
          <a:xfrm>
            <a:off x="9576919"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Kata</a:t>
            </a:r>
          </a:p>
        </p:txBody>
      </p:sp>
      <p:sp>
        <p:nvSpPr>
          <p:cNvPr id="51" name="TextBox 51"/>
          <p:cNvSpPr txBox="1"/>
          <p:nvPr/>
        </p:nvSpPr>
        <p:spPr>
          <a:xfrm>
            <a:off x="13801725" y="5200973"/>
            <a:ext cx="3457575"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Kosakata Unik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665705" y="2735430"/>
            <a:ext cx="2527223" cy="3192650"/>
            <a:chOff x="0" y="0"/>
            <a:chExt cx="3369631" cy="4256867"/>
          </a:xfrm>
        </p:grpSpPr>
        <p:grpSp>
          <p:nvGrpSpPr>
            <p:cNvPr id="17" name="Group 17"/>
            <p:cNvGrpSpPr/>
            <p:nvPr/>
          </p:nvGrpSpPr>
          <p:grpSpPr>
            <a:xfrm>
              <a:off x="0" y="0"/>
              <a:ext cx="3369631" cy="4256867"/>
              <a:chOff x="0" y="0"/>
              <a:chExt cx="972859" cy="1229017"/>
            </a:xfrm>
          </p:grpSpPr>
          <p:sp>
            <p:nvSpPr>
              <p:cNvPr id="18" name="Freeform 18"/>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19" name="TextBox 19"/>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20" name="Group 20"/>
            <p:cNvGrpSpPr/>
            <p:nvPr/>
          </p:nvGrpSpPr>
          <p:grpSpPr>
            <a:xfrm>
              <a:off x="133238" y="2501322"/>
              <a:ext cx="3143320" cy="1551800"/>
              <a:chOff x="0" y="0"/>
              <a:chExt cx="907520" cy="448026"/>
            </a:xfrm>
          </p:grpSpPr>
          <p:sp>
            <p:nvSpPr>
              <p:cNvPr id="21" name="Freeform 21"/>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22" name="TextBox 22"/>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23" name="Group 23"/>
            <p:cNvGrpSpPr/>
            <p:nvPr/>
          </p:nvGrpSpPr>
          <p:grpSpPr>
            <a:xfrm>
              <a:off x="1305083" y="126975"/>
              <a:ext cx="925422" cy="923447"/>
              <a:chOff x="0" y="0"/>
              <a:chExt cx="551635" cy="550458"/>
            </a:xfrm>
          </p:grpSpPr>
          <p:sp>
            <p:nvSpPr>
              <p:cNvPr id="24" name="Freeform 24"/>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25" name="TextBox 25"/>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1</a:t>
                </a:r>
              </a:p>
            </p:txBody>
          </p:sp>
        </p:grpSp>
        <p:grpSp>
          <p:nvGrpSpPr>
            <p:cNvPr id="26" name="Group 26"/>
            <p:cNvGrpSpPr/>
            <p:nvPr/>
          </p:nvGrpSpPr>
          <p:grpSpPr>
            <a:xfrm>
              <a:off x="1517182" y="3094338"/>
              <a:ext cx="263312" cy="263312"/>
              <a:chOff x="0" y="0"/>
              <a:chExt cx="812800" cy="812800"/>
            </a:xfrm>
          </p:grpSpPr>
          <p:sp>
            <p:nvSpPr>
              <p:cNvPr id="27" name="Freeform 27"/>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28" name="TextBox 28"/>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29" name="TextBox 29"/>
            <p:cNvSpPr txBox="1"/>
            <p:nvPr/>
          </p:nvSpPr>
          <p:spPr>
            <a:xfrm>
              <a:off x="255227"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Case Folding</a:t>
              </a:r>
            </a:p>
          </p:txBody>
        </p:sp>
        <p:sp>
          <p:nvSpPr>
            <p:cNvPr id="30" name="TextBox 30"/>
            <p:cNvSpPr txBox="1"/>
            <p:nvPr/>
          </p:nvSpPr>
          <p:spPr>
            <a:xfrm>
              <a:off x="531654" y="25175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31" name="TextBox 31"/>
            <p:cNvSpPr txBox="1"/>
            <p:nvPr/>
          </p:nvSpPr>
          <p:spPr>
            <a:xfrm>
              <a:off x="501901" y="340210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grpSp>
      <p:grpSp>
        <p:nvGrpSpPr>
          <p:cNvPr id="32" name="Group 32"/>
          <p:cNvGrpSpPr/>
          <p:nvPr/>
        </p:nvGrpSpPr>
        <p:grpSpPr>
          <a:xfrm>
            <a:off x="7560145" y="2735430"/>
            <a:ext cx="2527223" cy="3192650"/>
            <a:chOff x="0" y="0"/>
            <a:chExt cx="3369631" cy="4256867"/>
          </a:xfrm>
        </p:grpSpPr>
        <p:grpSp>
          <p:nvGrpSpPr>
            <p:cNvPr id="33" name="Group 33"/>
            <p:cNvGrpSpPr/>
            <p:nvPr/>
          </p:nvGrpSpPr>
          <p:grpSpPr>
            <a:xfrm>
              <a:off x="0" y="0"/>
              <a:ext cx="3369631" cy="4256867"/>
              <a:chOff x="0" y="0"/>
              <a:chExt cx="972859" cy="1229017"/>
            </a:xfrm>
          </p:grpSpPr>
          <p:sp>
            <p:nvSpPr>
              <p:cNvPr id="34" name="Freeform 34"/>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3238" y="2490587"/>
              <a:ext cx="3143320" cy="1551800"/>
              <a:chOff x="0" y="0"/>
              <a:chExt cx="907520" cy="448026"/>
            </a:xfrm>
          </p:grpSpPr>
          <p:sp>
            <p:nvSpPr>
              <p:cNvPr id="37" name="Freeform 37"/>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38" name="TextBox 38"/>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39" name="Group 39"/>
            <p:cNvGrpSpPr/>
            <p:nvPr/>
          </p:nvGrpSpPr>
          <p:grpSpPr>
            <a:xfrm>
              <a:off x="1305083" y="126975"/>
              <a:ext cx="925422" cy="923447"/>
              <a:chOff x="0" y="0"/>
              <a:chExt cx="551635" cy="550458"/>
            </a:xfrm>
          </p:grpSpPr>
          <p:sp>
            <p:nvSpPr>
              <p:cNvPr id="40" name="Freeform 40"/>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41" name="TextBox 41"/>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3</a:t>
                </a:r>
              </a:p>
            </p:txBody>
          </p:sp>
        </p:grpSp>
        <p:grpSp>
          <p:nvGrpSpPr>
            <p:cNvPr id="42" name="Group 42"/>
            <p:cNvGrpSpPr/>
            <p:nvPr/>
          </p:nvGrpSpPr>
          <p:grpSpPr>
            <a:xfrm>
              <a:off x="1517182" y="3107038"/>
              <a:ext cx="263312" cy="263312"/>
              <a:chOff x="0" y="0"/>
              <a:chExt cx="812800" cy="812800"/>
            </a:xfrm>
          </p:grpSpPr>
          <p:sp>
            <p:nvSpPr>
              <p:cNvPr id="43" name="Freeform 43"/>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44" name="TextBox 44"/>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45" name="TextBox 45"/>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Tokenization</a:t>
              </a:r>
            </a:p>
          </p:txBody>
        </p:sp>
        <p:sp>
          <p:nvSpPr>
            <p:cNvPr id="46" name="TextBox 46"/>
            <p:cNvSpPr txBox="1"/>
            <p:nvPr/>
          </p:nvSpPr>
          <p:spPr>
            <a:xfrm>
              <a:off x="531654" y="25302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47" name="TextBox 47"/>
            <p:cNvSpPr txBox="1"/>
            <p:nvPr/>
          </p:nvSpPr>
          <p:spPr>
            <a:xfrm>
              <a:off x="501901" y="3414800"/>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48" name="Group 48"/>
          <p:cNvGrpSpPr/>
          <p:nvPr/>
        </p:nvGrpSpPr>
        <p:grpSpPr>
          <a:xfrm>
            <a:off x="4555854" y="2735430"/>
            <a:ext cx="2527223" cy="3192650"/>
            <a:chOff x="0" y="0"/>
            <a:chExt cx="3369631" cy="4256867"/>
          </a:xfrm>
        </p:grpSpPr>
        <p:grpSp>
          <p:nvGrpSpPr>
            <p:cNvPr id="49" name="Group 49"/>
            <p:cNvGrpSpPr/>
            <p:nvPr/>
          </p:nvGrpSpPr>
          <p:grpSpPr>
            <a:xfrm>
              <a:off x="0" y="0"/>
              <a:ext cx="3369631" cy="4256867"/>
              <a:chOff x="0" y="0"/>
              <a:chExt cx="972859" cy="1229017"/>
            </a:xfrm>
          </p:grpSpPr>
          <p:sp>
            <p:nvSpPr>
              <p:cNvPr id="50" name="Freeform 50"/>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52" name="Group 52"/>
            <p:cNvGrpSpPr/>
            <p:nvPr/>
          </p:nvGrpSpPr>
          <p:grpSpPr>
            <a:xfrm>
              <a:off x="133238" y="2537885"/>
              <a:ext cx="3143320" cy="1551800"/>
              <a:chOff x="0" y="0"/>
              <a:chExt cx="907520" cy="448026"/>
            </a:xfrm>
          </p:grpSpPr>
          <p:sp>
            <p:nvSpPr>
              <p:cNvPr id="53" name="Freeform 53"/>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54" name="TextBox 54"/>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55" name="Group 55"/>
            <p:cNvGrpSpPr/>
            <p:nvPr/>
          </p:nvGrpSpPr>
          <p:grpSpPr>
            <a:xfrm>
              <a:off x="1305083" y="126975"/>
              <a:ext cx="925422" cy="923447"/>
              <a:chOff x="0" y="0"/>
              <a:chExt cx="551635" cy="550458"/>
            </a:xfrm>
          </p:grpSpPr>
          <p:sp>
            <p:nvSpPr>
              <p:cNvPr id="56" name="Freeform 56"/>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57" name="TextBox 57"/>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2</a:t>
                </a:r>
              </a:p>
            </p:txBody>
          </p:sp>
        </p:grpSp>
        <p:grpSp>
          <p:nvGrpSpPr>
            <p:cNvPr id="58" name="Group 58"/>
            <p:cNvGrpSpPr/>
            <p:nvPr/>
          </p:nvGrpSpPr>
          <p:grpSpPr>
            <a:xfrm>
              <a:off x="1517182" y="3154336"/>
              <a:ext cx="263312" cy="263312"/>
              <a:chOff x="0" y="0"/>
              <a:chExt cx="812800" cy="812800"/>
            </a:xfrm>
          </p:grpSpPr>
          <p:sp>
            <p:nvSpPr>
              <p:cNvPr id="59" name="Freeform 59"/>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60" name="TextBox 60"/>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33238" y="1170351"/>
              <a:ext cx="3143320"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Stopwords Removal</a:t>
              </a:r>
            </a:p>
          </p:txBody>
        </p:sp>
        <p:sp>
          <p:nvSpPr>
            <p:cNvPr id="62" name="TextBox 62"/>
            <p:cNvSpPr txBox="1"/>
            <p:nvPr/>
          </p:nvSpPr>
          <p:spPr>
            <a:xfrm>
              <a:off x="531654" y="257754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63" name="TextBox 63"/>
            <p:cNvSpPr txBox="1"/>
            <p:nvPr/>
          </p:nvSpPr>
          <p:spPr>
            <a:xfrm>
              <a:off x="501901" y="346209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64" name="Group 64"/>
          <p:cNvGrpSpPr/>
          <p:nvPr/>
        </p:nvGrpSpPr>
        <p:grpSpPr>
          <a:xfrm>
            <a:off x="10449318" y="2735430"/>
            <a:ext cx="2527223" cy="3192650"/>
            <a:chOff x="0" y="0"/>
            <a:chExt cx="3369631" cy="4256867"/>
          </a:xfrm>
        </p:grpSpPr>
        <p:grpSp>
          <p:nvGrpSpPr>
            <p:cNvPr id="65" name="Group 65"/>
            <p:cNvGrpSpPr/>
            <p:nvPr/>
          </p:nvGrpSpPr>
          <p:grpSpPr>
            <a:xfrm>
              <a:off x="0" y="0"/>
              <a:ext cx="3369631" cy="4256867"/>
              <a:chOff x="0" y="0"/>
              <a:chExt cx="972859" cy="1229017"/>
            </a:xfrm>
          </p:grpSpPr>
          <p:sp>
            <p:nvSpPr>
              <p:cNvPr id="66" name="Freeform 66"/>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67" name="TextBox 67"/>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68" name="Group 68"/>
            <p:cNvGrpSpPr/>
            <p:nvPr/>
          </p:nvGrpSpPr>
          <p:grpSpPr>
            <a:xfrm>
              <a:off x="133238" y="2471613"/>
              <a:ext cx="3143320" cy="1551800"/>
              <a:chOff x="0" y="0"/>
              <a:chExt cx="907520" cy="448026"/>
            </a:xfrm>
          </p:grpSpPr>
          <p:sp>
            <p:nvSpPr>
              <p:cNvPr id="69" name="Freeform 69"/>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70" name="TextBox 70"/>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71" name="Group 71"/>
            <p:cNvGrpSpPr/>
            <p:nvPr/>
          </p:nvGrpSpPr>
          <p:grpSpPr>
            <a:xfrm>
              <a:off x="1335285" y="126975"/>
              <a:ext cx="890418" cy="888518"/>
              <a:chOff x="0" y="0"/>
              <a:chExt cx="551635" cy="550458"/>
            </a:xfrm>
          </p:grpSpPr>
          <p:sp>
            <p:nvSpPr>
              <p:cNvPr id="72" name="Freeform 72"/>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73" name="TextBox 73"/>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4</a:t>
                </a:r>
              </a:p>
            </p:txBody>
          </p:sp>
        </p:grpSp>
        <p:grpSp>
          <p:nvGrpSpPr>
            <p:cNvPr id="74" name="Group 74"/>
            <p:cNvGrpSpPr/>
            <p:nvPr/>
          </p:nvGrpSpPr>
          <p:grpSpPr>
            <a:xfrm>
              <a:off x="1517182" y="3088064"/>
              <a:ext cx="263312" cy="263312"/>
              <a:chOff x="0" y="0"/>
              <a:chExt cx="812800" cy="812800"/>
            </a:xfrm>
          </p:grpSpPr>
          <p:sp>
            <p:nvSpPr>
              <p:cNvPr id="75" name="Freeform 75"/>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76" name="TextBox 76"/>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77" name="TextBox 77"/>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Stemming</a:t>
              </a:r>
            </a:p>
          </p:txBody>
        </p:sp>
        <p:sp>
          <p:nvSpPr>
            <p:cNvPr id="78" name="TextBox 78"/>
            <p:cNvSpPr txBox="1"/>
            <p:nvPr/>
          </p:nvSpPr>
          <p:spPr>
            <a:xfrm>
              <a:off x="531654" y="2511276"/>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79" name="TextBox 79"/>
            <p:cNvSpPr txBox="1"/>
            <p:nvPr/>
          </p:nvSpPr>
          <p:spPr>
            <a:xfrm>
              <a:off x="501901" y="3395826"/>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80" name="Group 80"/>
          <p:cNvGrpSpPr/>
          <p:nvPr/>
        </p:nvGrpSpPr>
        <p:grpSpPr>
          <a:xfrm>
            <a:off x="13452791" y="2735430"/>
            <a:ext cx="2591203" cy="3192650"/>
            <a:chOff x="0" y="0"/>
            <a:chExt cx="3454938" cy="4256867"/>
          </a:xfrm>
        </p:grpSpPr>
        <p:grpSp>
          <p:nvGrpSpPr>
            <p:cNvPr id="81" name="Group 81"/>
            <p:cNvGrpSpPr/>
            <p:nvPr/>
          </p:nvGrpSpPr>
          <p:grpSpPr>
            <a:xfrm>
              <a:off x="0" y="0"/>
              <a:ext cx="3454938" cy="4256867"/>
              <a:chOff x="0" y="0"/>
              <a:chExt cx="972859" cy="1198671"/>
            </a:xfrm>
          </p:grpSpPr>
          <p:sp>
            <p:nvSpPr>
              <p:cNvPr id="82" name="Freeform 82"/>
              <p:cNvSpPr/>
              <p:nvPr/>
            </p:nvSpPr>
            <p:spPr>
              <a:xfrm>
                <a:off x="0" y="0"/>
                <a:ext cx="972859" cy="1198671"/>
              </a:xfrm>
              <a:custGeom>
                <a:avLst/>
                <a:gdLst/>
                <a:ahLst/>
                <a:cxnLst/>
                <a:rect l="l" t="t" r="r" b="b"/>
                <a:pathLst>
                  <a:path w="972859" h="1198671">
                    <a:moveTo>
                      <a:pt x="77682" y="0"/>
                    </a:moveTo>
                    <a:lnTo>
                      <a:pt x="895177" y="0"/>
                    </a:lnTo>
                    <a:cubicBezTo>
                      <a:pt x="938080" y="0"/>
                      <a:pt x="972859" y="34779"/>
                      <a:pt x="972859" y="77682"/>
                    </a:cubicBezTo>
                    <a:lnTo>
                      <a:pt x="972859" y="1120989"/>
                    </a:lnTo>
                    <a:cubicBezTo>
                      <a:pt x="972859" y="1163891"/>
                      <a:pt x="938080" y="1198671"/>
                      <a:pt x="895177" y="1198671"/>
                    </a:cubicBezTo>
                    <a:lnTo>
                      <a:pt x="77682" y="1198671"/>
                    </a:lnTo>
                    <a:cubicBezTo>
                      <a:pt x="34779" y="1198671"/>
                      <a:pt x="0" y="1163891"/>
                      <a:pt x="0" y="1120989"/>
                    </a:cubicBezTo>
                    <a:lnTo>
                      <a:pt x="0" y="77682"/>
                    </a:lnTo>
                    <a:cubicBezTo>
                      <a:pt x="0" y="34779"/>
                      <a:pt x="34779" y="0"/>
                      <a:pt x="77682" y="0"/>
                    </a:cubicBezTo>
                    <a:close/>
                  </a:path>
                </a:pathLst>
              </a:custGeom>
              <a:solidFill>
                <a:srgbClr val="FFFFFF"/>
              </a:solidFill>
              <a:ln w="38100" cap="rnd">
                <a:solidFill>
                  <a:srgbClr val="00BF63"/>
                </a:solidFill>
                <a:prstDash val="solid"/>
                <a:round/>
              </a:ln>
            </p:spPr>
          </p:sp>
          <p:sp>
            <p:nvSpPr>
              <p:cNvPr id="83" name="TextBox 83"/>
              <p:cNvSpPr txBox="1"/>
              <p:nvPr/>
            </p:nvSpPr>
            <p:spPr>
              <a:xfrm>
                <a:off x="0" y="-47625"/>
                <a:ext cx="972859" cy="1246296"/>
              </a:xfrm>
              <a:prstGeom prst="rect">
                <a:avLst/>
              </a:prstGeom>
            </p:spPr>
            <p:txBody>
              <a:bodyPr lIns="35636" tIns="35636" rIns="35636" bIns="35636" rtlCol="0" anchor="ctr"/>
              <a:lstStyle/>
              <a:p>
                <a:pPr algn="ctr">
                  <a:lnSpc>
                    <a:spcPts val="2659"/>
                  </a:lnSpc>
                </a:pPr>
                <a:endParaRPr/>
              </a:p>
            </p:txBody>
          </p:sp>
        </p:grpSp>
        <p:grpSp>
          <p:nvGrpSpPr>
            <p:cNvPr id="84" name="Group 84"/>
            <p:cNvGrpSpPr/>
            <p:nvPr/>
          </p:nvGrpSpPr>
          <p:grpSpPr>
            <a:xfrm>
              <a:off x="136611" y="2432327"/>
              <a:ext cx="3222897" cy="1591086"/>
              <a:chOff x="0" y="0"/>
              <a:chExt cx="907520" cy="448026"/>
            </a:xfrm>
          </p:grpSpPr>
          <p:sp>
            <p:nvSpPr>
              <p:cNvPr id="85" name="Freeform 85"/>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86" name="TextBox 86"/>
              <p:cNvSpPr txBox="1"/>
              <p:nvPr/>
            </p:nvSpPr>
            <p:spPr>
              <a:xfrm>
                <a:off x="0" y="-47625"/>
                <a:ext cx="907520" cy="495651"/>
              </a:xfrm>
              <a:prstGeom prst="rect">
                <a:avLst/>
              </a:prstGeom>
            </p:spPr>
            <p:txBody>
              <a:bodyPr lIns="35636" tIns="35636" rIns="35636" bIns="35636" rtlCol="0" anchor="ctr"/>
              <a:lstStyle/>
              <a:p>
                <a:pPr algn="ctr">
                  <a:lnSpc>
                    <a:spcPts val="2659"/>
                  </a:lnSpc>
                </a:pPr>
                <a:endParaRPr/>
              </a:p>
            </p:txBody>
          </p:sp>
        </p:grpSp>
        <p:grpSp>
          <p:nvGrpSpPr>
            <p:cNvPr id="87" name="Group 87"/>
            <p:cNvGrpSpPr/>
            <p:nvPr/>
          </p:nvGrpSpPr>
          <p:grpSpPr>
            <a:xfrm>
              <a:off x="1369090" y="130190"/>
              <a:ext cx="912960" cy="911012"/>
              <a:chOff x="0" y="0"/>
              <a:chExt cx="551635" cy="550458"/>
            </a:xfrm>
          </p:grpSpPr>
          <p:sp>
            <p:nvSpPr>
              <p:cNvPr id="88" name="Freeform 88"/>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89" name="TextBox 89"/>
              <p:cNvSpPr txBox="1"/>
              <p:nvPr/>
            </p:nvSpPr>
            <p:spPr>
              <a:xfrm>
                <a:off x="51716" y="13505"/>
                <a:ext cx="448204" cy="485347"/>
              </a:xfrm>
              <a:prstGeom prst="rect">
                <a:avLst/>
              </a:prstGeom>
            </p:spPr>
            <p:txBody>
              <a:bodyPr lIns="52086" tIns="52086" rIns="52086" bIns="52086" rtlCol="0" anchor="ctr"/>
              <a:lstStyle/>
              <a:p>
                <a:pPr algn="ctr">
                  <a:lnSpc>
                    <a:spcPts val="2799"/>
                  </a:lnSpc>
                </a:pPr>
                <a:r>
                  <a:rPr lang="en-US" sz="1999">
                    <a:solidFill>
                      <a:srgbClr val="000000"/>
                    </a:solidFill>
                    <a:latin typeface="Antic"/>
                    <a:ea typeface="Antic"/>
                    <a:cs typeface="Antic"/>
                    <a:sym typeface="Antic"/>
                  </a:rPr>
                  <a:t>5</a:t>
                </a:r>
              </a:p>
            </p:txBody>
          </p:sp>
        </p:grpSp>
        <p:grpSp>
          <p:nvGrpSpPr>
            <p:cNvPr id="90" name="Group 90"/>
            <p:cNvGrpSpPr/>
            <p:nvPr/>
          </p:nvGrpSpPr>
          <p:grpSpPr>
            <a:xfrm>
              <a:off x="1555592" y="3064384"/>
              <a:ext cx="269978" cy="269978"/>
              <a:chOff x="0" y="0"/>
              <a:chExt cx="812800" cy="812800"/>
            </a:xfrm>
          </p:grpSpPr>
          <p:sp>
            <p:nvSpPr>
              <p:cNvPr id="91" name="Freeform 91"/>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92" name="TextBox 92"/>
              <p:cNvSpPr txBox="1"/>
              <p:nvPr/>
            </p:nvSpPr>
            <p:spPr>
              <a:xfrm>
                <a:off x="203200" y="-47625"/>
                <a:ext cx="406400" cy="758825"/>
              </a:xfrm>
              <a:prstGeom prst="rect">
                <a:avLst/>
              </a:prstGeom>
            </p:spPr>
            <p:txBody>
              <a:bodyPr lIns="52086" tIns="52086" rIns="52086" bIns="52086" rtlCol="0" anchor="ctr"/>
              <a:lstStyle/>
              <a:p>
                <a:pPr algn="ctr">
                  <a:lnSpc>
                    <a:spcPts val="2659"/>
                  </a:lnSpc>
                </a:pPr>
                <a:endParaRPr/>
              </a:p>
            </p:txBody>
          </p:sp>
        </p:grpSp>
        <p:sp>
          <p:nvSpPr>
            <p:cNvPr id="93" name="TextBox 93"/>
            <p:cNvSpPr txBox="1"/>
            <p:nvPr/>
          </p:nvSpPr>
          <p:spPr>
            <a:xfrm>
              <a:off x="318802" y="1160826"/>
              <a:ext cx="3040706" cy="418962"/>
            </a:xfrm>
            <a:prstGeom prst="rect">
              <a:avLst/>
            </a:prstGeom>
          </p:spPr>
          <p:txBody>
            <a:bodyPr lIns="0" tIns="0" rIns="0" bIns="0" rtlCol="0" anchor="t">
              <a:spAutoFit/>
            </a:bodyPr>
            <a:lstStyle/>
            <a:p>
              <a:pPr algn="ctr">
                <a:lnSpc>
                  <a:spcPts val="2630"/>
                </a:lnSpc>
              </a:pPr>
              <a:r>
                <a:rPr lang="en-US" sz="1879" b="1">
                  <a:solidFill>
                    <a:srgbClr val="1800AD"/>
                  </a:solidFill>
                  <a:latin typeface="Canva Sans Bold"/>
                  <a:ea typeface="Canva Sans Bold"/>
                  <a:cs typeface="Canva Sans Bold"/>
                  <a:sym typeface="Canva Sans Bold"/>
                </a:rPr>
                <a:t>Lemmatization</a:t>
              </a:r>
            </a:p>
          </p:txBody>
        </p:sp>
        <p:sp>
          <p:nvSpPr>
            <p:cNvPr id="94" name="TextBox 94"/>
            <p:cNvSpPr txBox="1"/>
            <p:nvPr/>
          </p:nvSpPr>
          <p:spPr>
            <a:xfrm>
              <a:off x="545114" y="2473477"/>
              <a:ext cx="2534869" cy="525800"/>
            </a:xfrm>
            <a:prstGeom prst="rect">
              <a:avLst/>
            </a:prstGeom>
          </p:spPr>
          <p:txBody>
            <a:bodyPr lIns="0" tIns="0" rIns="0" bIns="0" rtlCol="0" anchor="t">
              <a:spAutoFit/>
            </a:bodyPr>
            <a:lstStyle/>
            <a:p>
              <a:pPr algn="ctr">
                <a:lnSpc>
                  <a:spcPts val="1659"/>
                </a:lnSpc>
              </a:pPr>
              <a:r>
                <a:rPr lang="en-US" sz="1185">
                  <a:solidFill>
                    <a:srgbClr val="FFFFFF"/>
                  </a:solidFill>
                  <a:latin typeface="Canva Sans"/>
                  <a:ea typeface="Canva Sans"/>
                  <a:cs typeface="Canva Sans"/>
                  <a:sym typeface="Canva Sans"/>
                </a:rPr>
                <a:t>Segala puji bagi Allah, Tuhan semesta alam</a:t>
              </a:r>
            </a:p>
          </p:txBody>
        </p:sp>
        <p:sp>
          <p:nvSpPr>
            <p:cNvPr id="95" name="TextBox 95"/>
            <p:cNvSpPr txBox="1"/>
            <p:nvPr/>
          </p:nvSpPr>
          <p:spPr>
            <a:xfrm>
              <a:off x="514607" y="3380420"/>
              <a:ext cx="2534869" cy="525800"/>
            </a:xfrm>
            <a:prstGeom prst="rect">
              <a:avLst/>
            </a:prstGeom>
          </p:spPr>
          <p:txBody>
            <a:bodyPr lIns="0" tIns="0" rIns="0" bIns="0" rtlCol="0" anchor="t">
              <a:spAutoFit/>
            </a:bodyPr>
            <a:lstStyle/>
            <a:p>
              <a:pPr algn="just">
                <a:lnSpc>
                  <a:spcPts val="1659"/>
                </a:lnSpc>
              </a:pPr>
              <a:r>
                <a:rPr lang="en-US" sz="1185">
                  <a:solidFill>
                    <a:srgbClr val="FFFFFF"/>
                  </a:solidFill>
                  <a:latin typeface="Canva Sans"/>
                  <a:ea typeface="Canva Sans"/>
                  <a:cs typeface="Canva Sans"/>
                  <a:sym typeface="Canva Sans"/>
                </a:rPr>
                <a:t>puji allah tuhan semesta alam                                      </a:t>
              </a:r>
            </a:p>
          </p:txBody>
        </p:sp>
      </p:grpSp>
      <p:graphicFrame>
        <p:nvGraphicFramePr>
          <p:cNvPr id="96" name="Table 96"/>
          <p:cNvGraphicFramePr>
            <a:graphicFrameLocks noGrp="1"/>
          </p:cNvGraphicFramePr>
          <p:nvPr>
            <p:extLst>
              <p:ext uri="{D42A27DB-BD31-4B8C-83A1-F6EECF244321}">
                <p14:modId xmlns:p14="http://schemas.microsoft.com/office/powerpoint/2010/main" val="2434727855"/>
              </p:ext>
            </p:extLst>
          </p:nvPr>
        </p:nvGraphicFramePr>
        <p:xfrm>
          <a:off x="1665705" y="6101585"/>
          <a:ext cx="10539337" cy="3433714"/>
        </p:xfrm>
        <a:graphic>
          <a:graphicData uri="http://schemas.openxmlformats.org/drawingml/2006/table">
            <a:tbl>
              <a:tblPr/>
              <a:tblGrid>
                <a:gridCol w="3674517">
                  <a:extLst>
                    <a:ext uri="{9D8B030D-6E8A-4147-A177-3AD203B41FA5}">
                      <a16:colId xmlns:a16="http://schemas.microsoft.com/office/drawing/2014/main" val="20000"/>
                    </a:ext>
                  </a:extLst>
                </a:gridCol>
                <a:gridCol w="2405683">
                  <a:extLst>
                    <a:ext uri="{9D8B030D-6E8A-4147-A177-3AD203B41FA5}">
                      <a16:colId xmlns:a16="http://schemas.microsoft.com/office/drawing/2014/main" val="20001"/>
                    </a:ext>
                  </a:extLst>
                </a:gridCol>
                <a:gridCol w="2228991">
                  <a:extLst>
                    <a:ext uri="{9D8B030D-6E8A-4147-A177-3AD203B41FA5}">
                      <a16:colId xmlns:a16="http://schemas.microsoft.com/office/drawing/2014/main" val="20002"/>
                    </a:ext>
                  </a:extLst>
                </a:gridCol>
                <a:gridCol w="2230146">
                  <a:extLst>
                    <a:ext uri="{9D8B030D-6E8A-4147-A177-3AD203B41FA5}">
                      <a16:colId xmlns:a16="http://schemas.microsoft.com/office/drawing/2014/main" val="20003"/>
                    </a:ext>
                  </a:extLst>
                </a:gridCol>
              </a:tblGrid>
              <a:tr h="965512">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Variasi Preprocessing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Token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Kosatakata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Preservasi Makna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extLst>
                  <a:ext uri="{0D108BD9-81ED-4DB2-BD59-A6C34878D82A}">
                    <a16:rowId xmlns:a16="http://schemas.microsoft.com/office/drawing/2014/main" val="10000"/>
                  </a:ext>
                </a:extLst>
              </a:tr>
              <a:tr h="1005564">
                <a:tc>
                  <a:txBody>
                    <a:bodyPr/>
                    <a:lstStyle/>
                    <a:p>
                      <a:pPr algn="l">
                        <a:lnSpc>
                          <a:spcPts val="1679"/>
                        </a:lnSpc>
                        <a:defRPr/>
                      </a:pPr>
                      <a:r>
                        <a:rPr lang="en-US" sz="1200" b="1">
                          <a:solidFill>
                            <a:srgbClr val="000000"/>
                          </a:solidFill>
                          <a:latin typeface="Arimo Bold"/>
                          <a:ea typeface="Arimo Bold"/>
                          <a:cs typeface="Arimo Bold"/>
                          <a:sym typeface="Arimo Bold"/>
                        </a:rPr>
                        <a:t>preprocessed Basic (tanpa Stopword, dan steming)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58.43</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68.61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1"/>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no steam (tanpa stemming)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55.7</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59.31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74.45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2"/>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advance</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55.6</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83.75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73.20</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3"/>
                  </a:ext>
                </a:extLst>
              </a:tr>
            </a:tbl>
          </a:graphicData>
        </a:graphic>
      </p:graphicFrame>
      <p:sp>
        <p:nvSpPr>
          <p:cNvPr id="97" name="TextBox 9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Tahapan Text Preprocessing</a:t>
            </a:r>
          </a:p>
        </p:txBody>
      </p:sp>
      <p:sp>
        <p:nvSpPr>
          <p:cNvPr id="98" name="TextBox 9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06 | Preprocessing Teks</a:t>
            </a:r>
          </a:p>
        </p:txBody>
      </p:sp>
      <p:grpSp>
        <p:nvGrpSpPr>
          <p:cNvPr id="99" name="Group 99"/>
          <p:cNvGrpSpPr/>
          <p:nvPr/>
        </p:nvGrpSpPr>
        <p:grpSpPr>
          <a:xfrm>
            <a:off x="13516772" y="6270980"/>
            <a:ext cx="2527223" cy="3192650"/>
            <a:chOff x="0" y="0"/>
            <a:chExt cx="3369631" cy="4256867"/>
          </a:xfrm>
        </p:grpSpPr>
        <p:grpSp>
          <p:nvGrpSpPr>
            <p:cNvPr id="100" name="Group 100"/>
            <p:cNvGrpSpPr/>
            <p:nvPr/>
          </p:nvGrpSpPr>
          <p:grpSpPr>
            <a:xfrm>
              <a:off x="0" y="0"/>
              <a:ext cx="3369631" cy="4256867"/>
              <a:chOff x="0" y="0"/>
              <a:chExt cx="972859" cy="1229017"/>
            </a:xfrm>
          </p:grpSpPr>
          <p:sp>
            <p:nvSpPr>
              <p:cNvPr id="101" name="Freeform 101"/>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FF751F"/>
                </a:solidFill>
                <a:prstDash val="solid"/>
                <a:round/>
              </a:ln>
            </p:spPr>
          </p:sp>
          <p:sp>
            <p:nvSpPr>
              <p:cNvPr id="102" name="TextBox 102"/>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103" name="Group 103"/>
            <p:cNvGrpSpPr/>
            <p:nvPr/>
          </p:nvGrpSpPr>
          <p:grpSpPr>
            <a:xfrm>
              <a:off x="133238" y="2501322"/>
              <a:ext cx="3143320" cy="1551800"/>
              <a:chOff x="0" y="0"/>
              <a:chExt cx="907520" cy="448026"/>
            </a:xfrm>
          </p:grpSpPr>
          <p:sp>
            <p:nvSpPr>
              <p:cNvPr id="104" name="Freeform 104"/>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FF751F"/>
              </a:solidFill>
              <a:ln w="38100" cap="sq">
                <a:solidFill>
                  <a:srgbClr val="FF751F"/>
                </a:solidFill>
                <a:prstDash val="solid"/>
                <a:miter/>
              </a:ln>
            </p:spPr>
          </p:sp>
          <p:sp>
            <p:nvSpPr>
              <p:cNvPr id="105" name="TextBox 105"/>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sp>
          <p:nvSpPr>
            <p:cNvPr id="106" name="Freeform 106"/>
            <p:cNvSpPr/>
            <p:nvPr/>
          </p:nvSpPr>
          <p:spPr>
            <a:xfrm>
              <a:off x="1173878" y="241584"/>
              <a:ext cx="957342" cy="957342"/>
            </a:xfrm>
            <a:custGeom>
              <a:avLst/>
              <a:gdLst/>
              <a:ahLst/>
              <a:cxnLst/>
              <a:rect l="l" t="t" r="r" b="b"/>
              <a:pathLst>
                <a:path w="957342" h="957342">
                  <a:moveTo>
                    <a:pt x="0" y="0"/>
                  </a:moveTo>
                  <a:lnTo>
                    <a:pt x="957341" y="0"/>
                  </a:lnTo>
                  <a:lnTo>
                    <a:pt x="957341" y="957342"/>
                  </a:lnTo>
                  <a:lnTo>
                    <a:pt x="0" y="957342"/>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07" name="TextBox 107"/>
            <p:cNvSpPr txBox="1"/>
            <p:nvPr/>
          </p:nvSpPr>
          <p:spPr>
            <a:xfrm>
              <a:off x="202002" y="1338348"/>
              <a:ext cx="2965627" cy="12242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Preprocessed Advanced</a:t>
              </a:r>
            </a:p>
            <a:p>
              <a:pPr algn="ctr">
                <a:lnSpc>
                  <a:spcPts val="2548"/>
                </a:lnSpc>
              </a:pPr>
              <a:endParaRPr lang="en-US" sz="1820" b="1">
                <a:solidFill>
                  <a:srgbClr val="1800AD"/>
                </a:solidFill>
                <a:latin typeface="Canva Sans Bold"/>
                <a:ea typeface="Canva Sans Bold"/>
                <a:cs typeface="Canva Sans Bold"/>
                <a:sym typeface="Canva Sans Bold"/>
              </a:endParaRPr>
            </a:p>
          </p:txBody>
        </p:sp>
        <p:sp>
          <p:nvSpPr>
            <p:cNvPr id="108" name="TextBox 108"/>
            <p:cNvSpPr txBox="1"/>
            <p:nvPr/>
          </p:nvSpPr>
          <p:spPr>
            <a:xfrm>
              <a:off x="531654" y="2739735"/>
              <a:ext cx="2472279" cy="13133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Keseimbangan terbaik antara reduksi noise dan preservasi makna semantik teks Al-Qur'an</a:t>
              </a:r>
            </a:p>
            <a:p>
              <a:pPr algn="ctr">
                <a:lnSpc>
                  <a:spcPts val="1618"/>
                </a:lnSpc>
              </a:pPr>
              <a:endParaRPr lang="en-US" sz="1156">
                <a:solidFill>
                  <a:srgbClr val="FFFFFF"/>
                </a:solidFill>
                <a:latin typeface="Canva Sans"/>
                <a:ea typeface="Canva Sans"/>
                <a:cs typeface="Canva Sans"/>
                <a:sym typeface="Canva Sans"/>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54732"/>
            <a:ext cx="4423258" cy="793726"/>
            <a:chOff x="0" y="0"/>
            <a:chExt cx="5897677" cy="1058301"/>
          </a:xfrm>
        </p:grpSpPr>
        <p:grpSp>
          <p:nvGrpSpPr>
            <p:cNvPr id="17" name="Group 17"/>
            <p:cNvGrpSpPr/>
            <p:nvPr/>
          </p:nvGrpSpPr>
          <p:grpSpPr>
            <a:xfrm>
              <a:off x="0" y="0"/>
              <a:ext cx="5897677" cy="1058301"/>
              <a:chOff x="0" y="0"/>
              <a:chExt cx="2496752" cy="448026"/>
            </a:xfrm>
          </p:grpSpPr>
          <p:sp>
            <p:nvSpPr>
              <p:cNvPr id="18" name="Freeform 18"/>
              <p:cNvSpPr/>
              <p:nvPr/>
            </p:nvSpPr>
            <p:spPr>
              <a:xfrm>
                <a:off x="0" y="0"/>
                <a:ext cx="2496752" cy="448026"/>
              </a:xfrm>
              <a:custGeom>
                <a:avLst/>
                <a:gdLst/>
                <a:ahLst/>
                <a:cxnLst/>
                <a:rect l="l" t="t" r="r" b="b"/>
                <a:pathLst>
                  <a:path w="2496752" h="448026">
                    <a:moveTo>
                      <a:pt x="0" y="0"/>
                    </a:moveTo>
                    <a:lnTo>
                      <a:pt x="2496752" y="0"/>
                    </a:lnTo>
                    <a:lnTo>
                      <a:pt x="2496752" y="448026"/>
                    </a:lnTo>
                    <a:lnTo>
                      <a:pt x="0" y="448026"/>
                    </a:lnTo>
                    <a:close/>
                  </a:path>
                </a:pathLst>
              </a:custGeom>
              <a:solidFill>
                <a:srgbClr val="FEFCFB"/>
              </a:solidFill>
              <a:ln w="38100" cap="sq">
                <a:solidFill>
                  <a:srgbClr val="FF751F"/>
                </a:solidFill>
                <a:prstDash val="solid"/>
                <a:miter/>
              </a:ln>
            </p:spPr>
          </p:sp>
          <p:sp>
            <p:nvSpPr>
              <p:cNvPr id="19" name="TextBox 19"/>
              <p:cNvSpPr txBox="1"/>
              <p:nvPr/>
            </p:nvSpPr>
            <p:spPr>
              <a:xfrm>
                <a:off x="0" y="-47625"/>
                <a:ext cx="2496752" cy="495651"/>
              </a:xfrm>
              <a:prstGeom prst="rect">
                <a:avLst/>
              </a:prstGeom>
            </p:spPr>
            <p:txBody>
              <a:bodyPr lIns="34756" tIns="34756" rIns="34756" bIns="34756" rtlCol="0" anchor="ctr"/>
              <a:lstStyle/>
              <a:p>
                <a:pPr algn="ctr">
                  <a:lnSpc>
                    <a:spcPts val="2659"/>
                  </a:lnSpc>
                </a:pPr>
                <a:endParaRPr/>
              </a:p>
            </p:txBody>
          </p:sp>
        </p:grpSp>
        <p:sp>
          <p:nvSpPr>
            <p:cNvPr id="20" name="TextBox 20"/>
            <p:cNvSpPr txBox="1"/>
            <p:nvPr/>
          </p:nvSpPr>
          <p:spPr>
            <a:xfrm>
              <a:off x="613466" y="245303"/>
              <a:ext cx="4340416" cy="548645"/>
            </a:xfrm>
            <a:prstGeom prst="rect">
              <a:avLst/>
            </a:prstGeom>
          </p:spPr>
          <p:txBody>
            <a:bodyPr lIns="0" tIns="0" rIns="0" bIns="0" rtlCol="0" anchor="t">
              <a:spAutoFit/>
            </a:bodyPr>
            <a:lstStyle/>
            <a:p>
              <a:pPr algn="ctr">
                <a:lnSpc>
                  <a:spcPts val="1738"/>
                </a:lnSpc>
              </a:pPr>
              <a:r>
                <a:rPr lang="en-US" sz="1241" b="1">
                  <a:solidFill>
                    <a:srgbClr val="CF4119"/>
                  </a:solidFill>
                  <a:latin typeface="Canva Sans Bold"/>
                  <a:ea typeface="Canva Sans Bold"/>
                  <a:cs typeface="Canva Sans Bold"/>
                  <a:sym typeface="Canva Sans Bold"/>
                </a:rPr>
                <a:t>Optimasi parameter jumlah topik (K)</a:t>
              </a:r>
            </a:p>
            <a:p>
              <a:pPr algn="ctr">
                <a:lnSpc>
                  <a:spcPts val="1738"/>
                </a:lnSpc>
              </a:pPr>
              <a:r>
                <a:rPr lang="en-US" sz="1241" b="1">
                  <a:solidFill>
                    <a:srgbClr val="CF4119"/>
                  </a:solidFill>
                  <a:latin typeface="Canva Sans Bold"/>
                  <a:ea typeface="Canva Sans Bold"/>
                  <a:cs typeface="Canva Sans Bold"/>
                  <a:sym typeface="Canva Sans Bold"/>
                </a:rPr>
                <a:t>K = 8 sampai K=19</a:t>
              </a:r>
            </a:p>
          </p:txBody>
        </p:sp>
      </p:grpSp>
      <p:grpSp>
        <p:nvGrpSpPr>
          <p:cNvPr id="21" name="Group 21"/>
          <p:cNvGrpSpPr/>
          <p:nvPr/>
        </p:nvGrpSpPr>
        <p:grpSpPr>
          <a:xfrm>
            <a:off x="5661322" y="2800148"/>
            <a:ext cx="6608985" cy="947517"/>
            <a:chOff x="0" y="0"/>
            <a:chExt cx="8811980" cy="1263356"/>
          </a:xfrm>
        </p:grpSpPr>
        <p:grpSp>
          <p:nvGrpSpPr>
            <p:cNvPr id="22" name="Group 22"/>
            <p:cNvGrpSpPr/>
            <p:nvPr/>
          </p:nvGrpSpPr>
          <p:grpSpPr>
            <a:xfrm>
              <a:off x="0" y="0"/>
              <a:ext cx="8811980" cy="1263356"/>
              <a:chOff x="0" y="0"/>
              <a:chExt cx="3165274" cy="453799"/>
            </a:xfrm>
          </p:grpSpPr>
          <p:sp>
            <p:nvSpPr>
              <p:cNvPr id="23" name="Freeform 23"/>
              <p:cNvSpPr/>
              <p:nvPr/>
            </p:nvSpPr>
            <p:spPr>
              <a:xfrm>
                <a:off x="0" y="0"/>
                <a:ext cx="3165274" cy="453799"/>
              </a:xfrm>
              <a:custGeom>
                <a:avLst/>
                <a:gdLst/>
                <a:ahLst/>
                <a:cxnLst/>
                <a:rect l="l" t="t" r="r" b="b"/>
                <a:pathLst>
                  <a:path w="3165274" h="453799">
                    <a:moveTo>
                      <a:pt x="0" y="0"/>
                    </a:moveTo>
                    <a:lnTo>
                      <a:pt x="3165274" y="0"/>
                    </a:lnTo>
                    <a:lnTo>
                      <a:pt x="3165274" y="453799"/>
                    </a:lnTo>
                    <a:lnTo>
                      <a:pt x="0" y="453799"/>
                    </a:lnTo>
                    <a:close/>
                  </a:path>
                </a:pathLst>
              </a:custGeom>
              <a:solidFill>
                <a:srgbClr val="FFFFFF"/>
              </a:solidFill>
              <a:ln w="38100" cap="sq">
                <a:solidFill>
                  <a:srgbClr val="FF751F"/>
                </a:solidFill>
                <a:prstDash val="solid"/>
                <a:miter/>
              </a:ln>
            </p:spPr>
          </p:sp>
          <p:sp>
            <p:nvSpPr>
              <p:cNvPr id="24" name="TextBox 24"/>
              <p:cNvSpPr txBox="1"/>
              <p:nvPr/>
            </p:nvSpPr>
            <p:spPr>
              <a:xfrm>
                <a:off x="0" y="-38100"/>
                <a:ext cx="3165274" cy="491899"/>
              </a:xfrm>
              <a:prstGeom prst="rect">
                <a:avLst/>
              </a:prstGeom>
            </p:spPr>
            <p:txBody>
              <a:bodyPr lIns="36010" tIns="36010" rIns="36010" bIns="36010" rtlCol="0" anchor="ctr"/>
              <a:lstStyle/>
              <a:p>
                <a:pPr algn="ctr">
                  <a:lnSpc>
                    <a:spcPts val="2799"/>
                  </a:lnSpc>
                </a:pPr>
                <a:endParaRPr/>
              </a:p>
            </p:txBody>
          </p:sp>
        </p:grpSp>
        <p:sp>
          <p:nvSpPr>
            <p:cNvPr id="25" name="TextBox 25"/>
            <p:cNvSpPr txBox="1"/>
            <p:nvPr/>
          </p:nvSpPr>
          <p:spPr>
            <a:xfrm>
              <a:off x="348122" y="261272"/>
              <a:ext cx="8115737" cy="712237"/>
            </a:xfrm>
            <a:prstGeom prst="rect">
              <a:avLst/>
            </a:prstGeom>
          </p:spPr>
          <p:txBody>
            <a:bodyPr lIns="0" tIns="0" rIns="0" bIns="0" rtlCol="0" anchor="t">
              <a:spAutoFit/>
            </a:bodyPr>
            <a:lstStyle/>
            <a:p>
              <a:pPr algn="ctr">
                <a:lnSpc>
                  <a:spcPts val="2188"/>
                </a:lnSpc>
              </a:pPr>
              <a:r>
                <a:rPr lang="en-US" sz="1563" b="1">
                  <a:solidFill>
                    <a:srgbClr val="FF751F"/>
                  </a:solidFill>
                  <a:latin typeface="Canva Sans Bold"/>
                  <a:ea typeface="Canva Sans Bold"/>
                  <a:cs typeface="Canva Sans Bold"/>
                  <a:sym typeface="Canva Sans Bold"/>
                </a:rPr>
                <a:t>114 Dokumen</a:t>
              </a:r>
            </a:p>
            <a:p>
              <a:pPr algn="ctr">
                <a:lnSpc>
                  <a:spcPts val="2188"/>
                </a:lnSpc>
              </a:pPr>
              <a:r>
                <a:rPr lang="en-US" sz="1563" b="1">
                  <a:solidFill>
                    <a:srgbClr val="FF751F"/>
                  </a:solidFill>
                  <a:latin typeface="Canva Sans Bold"/>
                  <a:ea typeface="Canva Sans Bold"/>
                  <a:cs typeface="Canva Sans Bold"/>
                  <a:sym typeface="Canva Sans Bold"/>
                </a:rPr>
                <a:t> 75.940 token</a:t>
              </a:r>
            </a:p>
          </p:txBody>
        </p:sp>
      </p:grpSp>
      <p:graphicFrame>
        <p:nvGraphicFramePr>
          <p:cNvPr id="26" name="Object 26"/>
          <p:cNvGraphicFramePr/>
          <p:nvPr/>
        </p:nvGraphicFramePr>
        <p:xfrm>
          <a:off x="1028700" y="3833520"/>
          <a:ext cx="11315700" cy="8172450"/>
        </p:xfrm>
        <a:graphic>
          <a:graphicData uri="http://schemas.openxmlformats.org/presentationml/2006/ole">
            <mc:AlternateContent xmlns:mc="http://schemas.openxmlformats.org/markup-compatibility/2006">
              <mc:Choice xmlns:v="urn:schemas-microsoft-com:vml" Requires="v">
                <p:oleObj name="Worksheet" r:id="rId4" imgW="13576300" imgH="10439400" progId="Excel.Sheet.12">
                  <p:embed/>
                </p:oleObj>
              </mc:Choice>
              <mc:Fallback>
                <p:oleObj name="Worksheet" r:id="rId4" imgW="13576300" imgH="10439400" progId="Excel.Sheet.12">
                  <p:embed/>
                  <p:pic>
                    <p:nvPicPr>
                      <p:cNvPr id="0" name=""/>
                      <p:cNvPicPr/>
                      <p:nvPr/>
                    </p:nvPicPr>
                    <p:blipFill>
                      <a:blip r:embed="rId5"/>
                      <a:stretch>
                        <a:fillRect/>
                      </a:stretch>
                    </p:blipFill>
                    <p:spPr>
                      <a:xfrm>
                        <a:off x="1028700" y="3833520"/>
                        <a:ext cx="11315700" cy="8172450"/>
                      </a:xfrm>
                      <a:prstGeom prst="rect">
                        <a:avLst/>
                      </a:prstGeom>
                    </p:spPr>
                  </p:pic>
                </p:oleObj>
              </mc:Fallback>
            </mc:AlternateContent>
          </a:graphicData>
        </a:graphic>
      </p:graphicFrame>
      <p:sp>
        <p:nvSpPr>
          <p:cNvPr id="27" name="Freeform 27"/>
          <p:cNvSpPr/>
          <p:nvPr/>
        </p:nvSpPr>
        <p:spPr>
          <a:xfrm>
            <a:off x="12479857" y="3563830"/>
            <a:ext cx="5356464" cy="3720450"/>
          </a:xfrm>
          <a:custGeom>
            <a:avLst/>
            <a:gdLst/>
            <a:ahLst/>
            <a:cxnLst/>
            <a:rect l="l" t="t" r="r" b="b"/>
            <a:pathLst>
              <a:path w="5356464" h="3720450">
                <a:moveTo>
                  <a:pt x="0" y="0"/>
                </a:moveTo>
                <a:lnTo>
                  <a:pt x="5356463" y="0"/>
                </a:lnTo>
                <a:lnTo>
                  <a:pt x="5356463" y="3720449"/>
                </a:lnTo>
                <a:lnTo>
                  <a:pt x="0" y="3720449"/>
                </a:lnTo>
                <a:lnTo>
                  <a:pt x="0" y="0"/>
                </a:lnTo>
                <a:close/>
              </a:path>
            </a:pathLst>
          </a:custGeom>
          <a:blipFill>
            <a:blip r:embed="rId6"/>
            <a:stretch>
              <a:fillRect l="-233" r="-233"/>
            </a:stretch>
          </a:blipFill>
        </p:spPr>
      </p:sp>
      <p:sp>
        <p:nvSpPr>
          <p:cNvPr id="28" name="TextBox 2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9" name="TextBox 2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07 | Correlated Topic Model</a:t>
            </a:r>
          </a:p>
        </p:txBody>
      </p:sp>
      <p:grpSp>
        <p:nvGrpSpPr>
          <p:cNvPr id="30" name="Group 30"/>
          <p:cNvGrpSpPr/>
          <p:nvPr/>
        </p:nvGrpSpPr>
        <p:grpSpPr>
          <a:xfrm>
            <a:off x="12658490" y="7324461"/>
            <a:ext cx="5177830" cy="1814562"/>
            <a:chOff x="0" y="0"/>
            <a:chExt cx="6903774" cy="2419417"/>
          </a:xfrm>
        </p:grpSpPr>
        <p:grpSp>
          <p:nvGrpSpPr>
            <p:cNvPr id="31" name="Group 31"/>
            <p:cNvGrpSpPr/>
            <p:nvPr/>
          </p:nvGrpSpPr>
          <p:grpSpPr>
            <a:xfrm>
              <a:off x="0" y="0"/>
              <a:ext cx="6903774" cy="2419417"/>
              <a:chOff x="0" y="0"/>
              <a:chExt cx="3506983" cy="1229017"/>
            </a:xfrm>
          </p:grpSpPr>
          <p:sp>
            <p:nvSpPr>
              <p:cNvPr id="32" name="Freeform 32"/>
              <p:cNvSpPr/>
              <p:nvPr/>
            </p:nvSpPr>
            <p:spPr>
              <a:xfrm>
                <a:off x="0" y="0"/>
                <a:ext cx="3506983" cy="1229017"/>
              </a:xfrm>
              <a:custGeom>
                <a:avLst/>
                <a:gdLst/>
                <a:ahLst/>
                <a:cxnLst/>
                <a:rect l="l" t="t" r="r" b="b"/>
                <a:pathLst>
                  <a:path w="3506983" h="1229017">
                    <a:moveTo>
                      <a:pt x="38875" y="0"/>
                    </a:moveTo>
                    <a:lnTo>
                      <a:pt x="3468108" y="0"/>
                    </a:lnTo>
                    <a:cubicBezTo>
                      <a:pt x="3478418" y="0"/>
                      <a:pt x="3488306" y="4096"/>
                      <a:pt x="3495597" y="11386"/>
                    </a:cubicBezTo>
                    <a:cubicBezTo>
                      <a:pt x="3502887" y="18677"/>
                      <a:pt x="3506983" y="28565"/>
                      <a:pt x="3506983" y="38875"/>
                    </a:cubicBezTo>
                    <a:lnTo>
                      <a:pt x="3506983" y="1190141"/>
                    </a:lnTo>
                    <a:cubicBezTo>
                      <a:pt x="3506983" y="1200452"/>
                      <a:pt x="3502887" y="1210340"/>
                      <a:pt x="3495597" y="1217630"/>
                    </a:cubicBezTo>
                    <a:cubicBezTo>
                      <a:pt x="3488306" y="1224921"/>
                      <a:pt x="3478418" y="1229017"/>
                      <a:pt x="3468108" y="1229017"/>
                    </a:cubicBezTo>
                    <a:lnTo>
                      <a:pt x="38875" y="1229017"/>
                    </a:lnTo>
                    <a:cubicBezTo>
                      <a:pt x="17405" y="1229017"/>
                      <a:pt x="0" y="1211612"/>
                      <a:pt x="0" y="1190141"/>
                    </a:cubicBezTo>
                    <a:lnTo>
                      <a:pt x="0" y="38875"/>
                    </a:lnTo>
                    <a:cubicBezTo>
                      <a:pt x="0" y="28565"/>
                      <a:pt x="4096" y="18677"/>
                      <a:pt x="11386" y="11386"/>
                    </a:cubicBezTo>
                    <a:cubicBezTo>
                      <a:pt x="18677" y="4096"/>
                      <a:pt x="28565" y="0"/>
                      <a:pt x="38875" y="0"/>
                    </a:cubicBezTo>
                    <a:close/>
                  </a:path>
                </a:pathLst>
              </a:custGeom>
              <a:solidFill>
                <a:srgbClr val="FFFFFF"/>
              </a:solidFill>
              <a:ln w="38100" cap="rnd">
                <a:solidFill>
                  <a:srgbClr val="FF751F"/>
                </a:solidFill>
                <a:prstDash val="solid"/>
                <a:round/>
              </a:ln>
            </p:spPr>
          </p:sp>
          <p:sp>
            <p:nvSpPr>
              <p:cNvPr id="33" name="TextBox 33"/>
              <p:cNvSpPr txBox="1"/>
              <p:nvPr/>
            </p:nvSpPr>
            <p:spPr>
              <a:xfrm>
                <a:off x="0" y="-47625"/>
                <a:ext cx="3506983" cy="1276642"/>
              </a:xfrm>
              <a:prstGeom prst="rect">
                <a:avLst/>
              </a:prstGeom>
            </p:spPr>
            <p:txBody>
              <a:bodyPr lIns="19754" tIns="19754" rIns="19754" bIns="19754" rtlCol="0" anchor="ctr"/>
              <a:lstStyle/>
              <a:p>
                <a:pPr algn="ctr">
                  <a:lnSpc>
                    <a:spcPts val="2659"/>
                  </a:lnSpc>
                </a:pPr>
                <a:endParaRPr/>
              </a:p>
            </p:txBody>
          </p:sp>
        </p:grpSp>
        <p:grpSp>
          <p:nvGrpSpPr>
            <p:cNvPr id="34" name="Group 34"/>
            <p:cNvGrpSpPr/>
            <p:nvPr/>
          </p:nvGrpSpPr>
          <p:grpSpPr>
            <a:xfrm>
              <a:off x="1756112" y="1057861"/>
              <a:ext cx="4560625" cy="1128792"/>
              <a:chOff x="0" y="0"/>
              <a:chExt cx="2316709" cy="573404"/>
            </a:xfrm>
          </p:grpSpPr>
          <p:sp>
            <p:nvSpPr>
              <p:cNvPr id="35" name="Freeform 35"/>
              <p:cNvSpPr/>
              <p:nvPr/>
            </p:nvSpPr>
            <p:spPr>
              <a:xfrm>
                <a:off x="0" y="0"/>
                <a:ext cx="2316709" cy="573404"/>
              </a:xfrm>
              <a:custGeom>
                <a:avLst/>
                <a:gdLst/>
                <a:ahLst/>
                <a:cxnLst/>
                <a:rect l="l" t="t" r="r" b="b"/>
                <a:pathLst>
                  <a:path w="2316709" h="573404">
                    <a:moveTo>
                      <a:pt x="0" y="0"/>
                    </a:moveTo>
                    <a:lnTo>
                      <a:pt x="2316709" y="0"/>
                    </a:lnTo>
                    <a:lnTo>
                      <a:pt x="2316709" y="573404"/>
                    </a:lnTo>
                    <a:lnTo>
                      <a:pt x="0" y="573404"/>
                    </a:lnTo>
                    <a:close/>
                  </a:path>
                </a:pathLst>
              </a:custGeom>
              <a:solidFill>
                <a:srgbClr val="FF751F"/>
              </a:solidFill>
              <a:ln w="38100" cap="sq">
                <a:solidFill>
                  <a:srgbClr val="FF751F"/>
                </a:solidFill>
                <a:prstDash val="solid"/>
                <a:miter/>
              </a:ln>
            </p:spPr>
          </p:sp>
          <p:sp>
            <p:nvSpPr>
              <p:cNvPr id="36" name="TextBox 36"/>
              <p:cNvSpPr txBox="1"/>
              <p:nvPr/>
            </p:nvSpPr>
            <p:spPr>
              <a:xfrm>
                <a:off x="0" y="-47625"/>
                <a:ext cx="2316709" cy="621029"/>
              </a:xfrm>
              <a:prstGeom prst="rect">
                <a:avLst/>
              </a:prstGeom>
            </p:spPr>
            <p:txBody>
              <a:bodyPr lIns="19754" tIns="19754" rIns="19754" bIns="19754" rtlCol="0" anchor="ctr"/>
              <a:lstStyle/>
              <a:p>
                <a:pPr algn="ctr">
                  <a:lnSpc>
                    <a:spcPts val="2659"/>
                  </a:lnSpc>
                </a:pPr>
                <a:endParaRPr/>
              </a:p>
            </p:txBody>
          </p:sp>
        </p:grpSp>
        <p:sp>
          <p:nvSpPr>
            <p:cNvPr id="37" name="Freeform 37"/>
            <p:cNvSpPr/>
            <p:nvPr/>
          </p:nvSpPr>
          <p:spPr>
            <a:xfrm>
              <a:off x="335610" y="822326"/>
              <a:ext cx="1176319" cy="1176319"/>
            </a:xfrm>
            <a:custGeom>
              <a:avLst/>
              <a:gdLst/>
              <a:ahLst/>
              <a:cxnLst/>
              <a:rect l="l" t="t" r="r" b="b"/>
              <a:pathLst>
                <a:path w="1176319" h="1176319">
                  <a:moveTo>
                    <a:pt x="0" y="0"/>
                  </a:moveTo>
                  <a:lnTo>
                    <a:pt x="1176318" y="0"/>
                  </a:lnTo>
                  <a:lnTo>
                    <a:pt x="1176318" y="1176319"/>
                  </a:lnTo>
                  <a:lnTo>
                    <a:pt x="0" y="117631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8" name="TextBox 38"/>
            <p:cNvSpPr txBox="1"/>
            <p:nvPr/>
          </p:nvSpPr>
          <p:spPr>
            <a:xfrm>
              <a:off x="2680509" y="90698"/>
              <a:ext cx="2182316" cy="848037"/>
            </a:xfrm>
            <a:prstGeom prst="rect">
              <a:avLst/>
            </a:prstGeom>
          </p:spPr>
          <p:txBody>
            <a:bodyPr lIns="0" tIns="0" rIns="0" bIns="0" rtlCol="0" anchor="t">
              <a:spAutoFit/>
            </a:bodyPr>
            <a:lstStyle/>
            <a:p>
              <a:pPr algn="ctr">
                <a:lnSpc>
                  <a:spcPts val="5368"/>
                </a:lnSpc>
              </a:pPr>
              <a:r>
                <a:rPr lang="en-US" sz="3834" b="1">
                  <a:solidFill>
                    <a:srgbClr val="1800AD"/>
                  </a:solidFill>
                  <a:latin typeface="Canva Sans Bold"/>
                  <a:ea typeface="Canva Sans Bold"/>
                  <a:cs typeface="Canva Sans Bold"/>
                  <a:sym typeface="Canva Sans Bold"/>
                </a:rPr>
                <a:t>K = 14</a:t>
              </a:r>
            </a:p>
          </p:txBody>
        </p:sp>
        <p:sp>
          <p:nvSpPr>
            <p:cNvPr id="39" name="TextBox 39"/>
            <p:cNvSpPr txBox="1"/>
            <p:nvPr/>
          </p:nvSpPr>
          <p:spPr>
            <a:xfrm>
              <a:off x="1894811" y="1222752"/>
              <a:ext cx="4283227" cy="779959"/>
            </a:xfrm>
            <a:prstGeom prst="rect">
              <a:avLst/>
            </a:prstGeom>
          </p:spPr>
          <p:txBody>
            <a:bodyPr lIns="0" tIns="0" rIns="0" bIns="0" rtlCol="0" anchor="t">
              <a:spAutoFit/>
            </a:bodyPr>
            <a:lstStyle/>
            <a:p>
              <a:pPr algn="ctr">
                <a:lnSpc>
                  <a:spcPts val="1620"/>
                </a:lnSpc>
              </a:pPr>
              <a:r>
                <a:rPr lang="en-US" sz="1157" b="1">
                  <a:solidFill>
                    <a:srgbClr val="FFFFFF"/>
                  </a:solidFill>
                  <a:latin typeface="Canva Sans Bold"/>
                  <a:ea typeface="Canva Sans Bold"/>
                  <a:cs typeface="Canva Sans Bold"/>
                  <a:sym typeface="Canva Sans Bold"/>
                </a:rPr>
                <a:t>hampir seluruh metrik berada pada posisi yang relatif tinggi dan seimbang dibandingkan jumlah topik lainnya</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314450" y="4423935"/>
          <a:ext cx="3771900" cy="3771900"/>
        </p:xfrm>
        <a:graphic>
          <a:graphicData uri="http://schemas.openxmlformats.org/presentationml/2006/ole">
            <mc:AlternateContent xmlns:mc="http://schemas.openxmlformats.org/markup-compatibility/2006">
              <mc:Choice xmlns:v="urn:schemas-microsoft-com:vml" Requires="v">
                <p:oleObj name="Worksheet" r:id="rId4" imgW="4521200" imgH="4521200" progId="Excel.Sheet.12">
                  <p:embed/>
                </p:oleObj>
              </mc:Choice>
              <mc:Fallback>
                <p:oleObj name="Worksheet" r:id="rId4" imgW="4521200" imgH="4521200" progId="Excel.Sheet.12">
                  <p:embed/>
                  <p:pic>
                    <p:nvPicPr>
                      <p:cNvPr id="0" name=""/>
                      <p:cNvPicPr/>
                      <p:nvPr/>
                    </p:nvPicPr>
                    <p:blipFill>
                      <a:blip r:embed="rId5"/>
                      <a:stretch>
                        <a:fillRect/>
                      </a:stretch>
                    </p:blipFill>
                    <p:spPr>
                      <a:xfrm>
                        <a:off x="1314450" y="4423935"/>
                        <a:ext cx="3771900" cy="3771900"/>
                      </a:xfrm>
                      <a:prstGeom prst="rect">
                        <a:avLst/>
                      </a:prstGeom>
                    </p:spPr>
                  </p:pic>
                </p:oleObj>
              </mc:Fallback>
            </mc:AlternateContent>
          </a:graphicData>
        </a:graphic>
      </p:graphicFrame>
      <p:grpSp>
        <p:nvGrpSpPr>
          <p:cNvPr id="17" name="Group 17"/>
          <p:cNvGrpSpPr/>
          <p:nvPr/>
        </p:nvGrpSpPr>
        <p:grpSpPr>
          <a:xfrm>
            <a:off x="5657782" y="3229788"/>
            <a:ext cx="6331146" cy="6160194"/>
            <a:chOff x="0" y="0"/>
            <a:chExt cx="1667462" cy="1622438"/>
          </a:xfrm>
        </p:grpSpPr>
        <p:sp>
          <p:nvSpPr>
            <p:cNvPr id="18" name="Freeform 18"/>
            <p:cNvSpPr/>
            <p:nvPr/>
          </p:nvSpPr>
          <p:spPr>
            <a:xfrm>
              <a:off x="0" y="0"/>
              <a:ext cx="1667462" cy="1622438"/>
            </a:xfrm>
            <a:custGeom>
              <a:avLst/>
              <a:gdLst/>
              <a:ahLst/>
              <a:cxnLst/>
              <a:rect l="l" t="t" r="r" b="b"/>
              <a:pathLst>
                <a:path w="1667462" h="1622438">
                  <a:moveTo>
                    <a:pt x="0" y="0"/>
                  </a:moveTo>
                  <a:lnTo>
                    <a:pt x="1667462" y="0"/>
                  </a:lnTo>
                  <a:lnTo>
                    <a:pt x="1667462" y="1622438"/>
                  </a:lnTo>
                  <a:lnTo>
                    <a:pt x="0" y="1622438"/>
                  </a:lnTo>
                  <a:close/>
                </a:path>
              </a:pathLst>
            </a:custGeom>
            <a:solidFill>
              <a:srgbClr val="FFFFFF"/>
            </a:solidFill>
            <a:ln w="38100" cap="sq">
              <a:solidFill>
                <a:srgbClr val="FF751F"/>
              </a:solidFill>
              <a:prstDash val="solid"/>
              <a:miter/>
            </a:ln>
          </p:spPr>
        </p:sp>
        <p:sp>
          <p:nvSpPr>
            <p:cNvPr id="19" name="TextBox 19"/>
            <p:cNvSpPr txBox="1"/>
            <p:nvPr/>
          </p:nvSpPr>
          <p:spPr>
            <a:xfrm>
              <a:off x="0" y="-47625"/>
              <a:ext cx="1667462" cy="1670063"/>
            </a:xfrm>
            <a:prstGeom prst="rect">
              <a:avLst/>
            </a:prstGeom>
          </p:spPr>
          <p:txBody>
            <a:bodyPr lIns="50800" tIns="50800" rIns="50800" bIns="50800" rtlCol="0" anchor="ctr"/>
            <a:lstStyle/>
            <a:p>
              <a:pPr algn="ctr">
                <a:lnSpc>
                  <a:spcPts val="2659"/>
                </a:lnSpc>
              </a:pPr>
              <a:endParaRPr/>
            </a:p>
          </p:txBody>
        </p:sp>
      </p:grpSp>
      <p:pic>
        <p:nvPicPr>
          <p:cNvPr id="20" name="Picture 20"/>
          <p:cNvPicPr>
            <a:picLocks noChangeAspect="1"/>
          </p:cNvPicPr>
          <p:nvPr/>
        </p:nvPicPr>
        <p:blipFill>
          <a:blip r:embed="rId6"/>
          <a:stretch>
            <a:fillRect/>
          </a:stretch>
        </p:blipFill>
        <p:spPr>
          <a:xfrm>
            <a:off x="5264555" y="2779207"/>
            <a:ext cx="7117601" cy="7061358"/>
          </a:xfrm>
          <a:prstGeom prst="rect">
            <a:avLst/>
          </a:prstGeom>
        </p:spPr>
      </p:pic>
      <p:sp>
        <p:nvSpPr>
          <p:cNvPr id="21" name="TextBox 21"/>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2" name="TextBox 22"/>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08 | Correlated Topic Model</a:t>
            </a:r>
          </a:p>
        </p:txBody>
      </p:sp>
      <p:grpSp>
        <p:nvGrpSpPr>
          <p:cNvPr id="23" name="Group 23"/>
          <p:cNvGrpSpPr/>
          <p:nvPr/>
        </p:nvGrpSpPr>
        <p:grpSpPr>
          <a:xfrm>
            <a:off x="12309225" y="4486816"/>
            <a:ext cx="4388356" cy="2915042"/>
            <a:chOff x="0" y="0"/>
            <a:chExt cx="2972266" cy="1974380"/>
          </a:xfrm>
        </p:grpSpPr>
        <p:sp>
          <p:nvSpPr>
            <p:cNvPr id="24" name="Freeform 24"/>
            <p:cNvSpPr/>
            <p:nvPr/>
          </p:nvSpPr>
          <p:spPr>
            <a:xfrm>
              <a:off x="0" y="0"/>
              <a:ext cx="2972266" cy="1974380"/>
            </a:xfrm>
            <a:custGeom>
              <a:avLst/>
              <a:gdLst/>
              <a:ahLst/>
              <a:cxnLst/>
              <a:rect l="l" t="t" r="r" b="b"/>
              <a:pathLst>
                <a:path w="2972266" h="1974380">
                  <a:moveTo>
                    <a:pt x="45869" y="0"/>
                  </a:moveTo>
                  <a:lnTo>
                    <a:pt x="2926397" y="0"/>
                  </a:lnTo>
                  <a:cubicBezTo>
                    <a:pt x="2938562" y="0"/>
                    <a:pt x="2950229" y="4833"/>
                    <a:pt x="2958831" y="13435"/>
                  </a:cubicBezTo>
                  <a:cubicBezTo>
                    <a:pt x="2967433" y="22037"/>
                    <a:pt x="2972266" y="33704"/>
                    <a:pt x="2972266" y="45869"/>
                  </a:cubicBezTo>
                  <a:lnTo>
                    <a:pt x="2972266" y="1928511"/>
                  </a:lnTo>
                  <a:cubicBezTo>
                    <a:pt x="2972266" y="1953844"/>
                    <a:pt x="2951730" y="1974380"/>
                    <a:pt x="2926397" y="1974380"/>
                  </a:cubicBezTo>
                  <a:lnTo>
                    <a:pt x="45869" y="1974380"/>
                  </a:lnTo>
                  <a:cubicBezTo>
                    <a:pt x="20536" y="1974380"/>
                    <a:pt x="0" y="1953844"/>
                    <a:pt x="0" y="1928511"/>
                  </a:cubicBezTo>
                  <a:lnTo>
                    <a:pt x="0" y="45869"/>
                  </a:lnTo>
                  <a:cubicBezTo>
                    <a:pt x="0" y="20536"/>
                    <a:pt x="20536" y="0"/>
                    <a:pt x="45869"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2972266" cy="2022005"/>
            </a:xfrm>
            <a:prstGeom prst="rect">
              <a:avLst/>
            </a:prstGeom>
          </p:spPr>
          <p:txBody>
            <a:bodyPr lIns="19754" tIns="19754" rIns="19754" bIns="19754" rtlCol="0" anchor="ctr"/>
            <a:lstStyle/>
            <a:p>
              <a:pPr algn="ctr">
                <a:lnSpc>
                  <a:spcPts val="2659"/>
                </a:lnSpc>
              </a:pPr>
              <a:endParaRPr/>
            </a:p>
          </p:txBody>
        </p:sp>
      </p:grpSp>
      <p:grpSp>
        <p:nvGrpSpPr>
          <p:cNvPr id="26" name="Group 26"/>
          <p:cNvGrpSpPr/>
          <p:nvPr/>
        </p:nvGrpSpPr>
        <p:grpSpPr>
          <a:xfrm>
            <a:off x="12824091" y="4729972"/>
            <a:ext cx="3420469" cy="2434764"/>
            <a:chOff x="0" y="0"/>
            <a:chExt cx="2316709" cy="1649084"/>
          </a:xfrm>
        </p:grpSpPr>
        <p:sp>
          <p:nvSpPr>
            <p:cNvPr id="27" name="Freeform 27"/>
            <p:cNvSpPr/>
            <p:nvPr/>
          </p:nvSpPr>
          <p:spPr>
            <a:xfrm>
              <a:off x="0" y="0"/>
              <a:ext cx="2316709" cy="1649084"/>
            </a:xfrm>
            <a:custGeom>
              <a:avLst/>
              <a:gdLst/>
              <a:ahLst/>
              <a:cxnLst/>
              <a:rect l="l" t="t" r="r" b="b"/>
              <a:pathLst>
                <a:path w="2316709" h="1649084">
                  <a:moveTo>
                    <a:pt x="0" y="0"/>
                  </a:moveTo>
                  <a:lnTo>
                    <a:pt x="2316709" y="0"/>
                  </a:lnTo>
                  <a:lnTo>
                    <a:pt x="2316709" y="1649084"/>
                  </a:lnTo>
                  <a:lnTo>
                    <a:pt x="0" y="1649084"/>
                  </a:lnTo>
                  <a:close/>
                </a:path>
              </a:pathLst>
            </a:custGeom>
            <a:solidFill>
              <a:srgbClr val="FF751F"/>
            </a:solidFill>
            <a:ln w="38100" cap="sq">
              <a:solidFill>
                <a:srgbClr val="FF751F"/>
              </a:solidFill>
              <a:prstDash val="solid"/>
              <a:miter/>
            </a:ln>
          </p:spPr>
        </p:sp>
        <p:sp>
          <p:nvSpPr>
            <p:cNvPr id="28" name="TextBox 28"/>
            <p:cNvSpPr txBox="1"/>
            <p:nvPr/>
          </p:nvSpPr>
          <p:spPr>
            <a:xfrm>
              <a:off x="0" y="-47625"/>
              <a:ext cx="2316709" cy="1696709"/>
            </a:xfrm>
            <a:prstGeom prst="rect">
              <a:avLst/>
            </a:prstGeom>
          </p:spPr>
          <p:txBody>
            <a:bodyPr lIns="19754" tIns="19754" rIns="19754" bIns="19754" rtlCol="0" anchor="ctr"/>
            <a:lstStyle/>
            <a:p>
              <a:pPr algn="ctr">
                <a:lnSpc>
                  <a:spcPts val="2659"/>
                </a:lnSpc>
              </a:pPr>
              <a:endParaRPr/>
            </a:p>
          </p:txBody>
        </p:sp>
      </p:grpSp>
      <p:sp>
        <p:nvSpPr>
          <p:cNvPr id="29" name="Freeform 29"/>
          <p:cNvSpPr/>
          <p:nvPr/>
        </p:nvSpPr>
        <p:spPr>
          <a:xfrm>
            <a:off x="13716000" y="3438814"/>
            <a:ext cx="882239" cy="882239"/>
          </a:xfrm>
          <a:custGeom>
            <a:avLst/>
            <a:gdLst/>
            <a:ahLst/>
            <a:cxnLst/>
            <a:rect l="l" t="t" r="r" b="b"/>
            <a:pathLst>
              <a:path w="882239" h="882239">
                <a:moveTo>
                  <a:pt x="0" y="0"/>
                </a:moveTo>
                <a:lnTo>
                  <a:pt x="882239" y="0"/>
                </a:lnTo>
                <a:lnTo>
                  <a:pt x="882239" y="882239"/>
                </a:lnTo>
                <a:lnTo>
                  <a:pt x="0" y="88223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0" name="TextBox 30"/>
          <p:cNvSpPr txBox="1"/>
          <p:nvPr/>
        </p:nvSpPr>
        <p:spPr>
          <a:xfrm>
            <a:off x="12928115" y="5105400"/>
            <a:ext cx="3212420" cy="1888307"/>
          </a:xfrm>
          <a:prstGeom prst="rect">
            <a:avLst/>
          </a:prstGeom>
        </p:spPr>
        <p:txBody>
          <a:bodyPr lIns="0" tIns="0" rIns="0" bIns="0" rtlCol="0" anchor="t">
            <a:spAutoFit/>
          </a:bodyPr>
          <a:lstStyle/>
          <a:p>
            <a:pPr algn="ctr">
              <a:lnSpc>
                <a:spcPts val="3020"/>
              </a:lnSpc>
            </a:pPr>
            <a:r>
              <a:rPr lang="en-US" sz="2157" b="1">
                <a:solidFill>
                  <a:srgbClr val="FFFFFF"/>
                </a:solidFill>
                <a:latin typeface="Canva Sans Bold"/>
                <a:ea typeface="Canva Sans Bold"/>
                <a:cs typeface="Canva Sans Bold"/>
                <a:sym typeface="Canva Sans Bold"/>
              </a:rPr>
              <a:t>model telah mencapai kondisi konvergensi (menuju satu titik pemusatan) pada iterasi ke-100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028700" y="3205137"/>
          <a:ext cx="3291840" cy="8229600"/>
        </p:xfrm>
        <a:graphic>
          <a:graphicData uri="http://schemas.openxmlformats.org/presentationml/2006/ole">
            <mc:AlternateContent xmlns:mc="http://schemas.openxmlformats.org/markup-compatibility/2006">
              <mc:Choice xmlns:v="urn:schemas-microsoft-com:vml" Requires="v">
                <p:oleObj name="Worksheet" r:id="rId4" imgW="4927600" imgH="9867900" progId="Excel.Sheet.12">
                  <p:embed/>
                </p:oleObj>
              </mc:Choice>
              <mc:Fallback>
                <p:oleObj name="Worksheet" r:id="rId4" imgW="4927600" imgH="9867900" progId="Excel.Sheet.12">
                  <p:embed/>
                  <p:pic>
                    <p:nvPicPr>
                      <p:cNvPr id="0" name=""/>
                      <p:cNvPicPr/>
                      <p:nvPr/>
                    </p:nvPicPr>
                    <p:blipFill>
                      <a:blip r:embed="rId5"/>
                      <a:stretch>
                        <a:fillRect/>
                      </a:stretch>
                    </p:blipFill>
                    <p:spPr>
                      <a:xfrm>
                        <a:off x="1028700" y="3205137"/>
                        <a:ext cx="3291840" cy="822960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CTM</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09 | Correlated Topic Model</a:t>
            </a:r>
          </a:p>
        </p:txBody>
      </p:sp>
      <p:sp>
        <p:nvSpPr>
          <p:cNvPr id="19" name="Freeform 19"/>
          <p:cNvSpPr/>
          <p:nvPr/>
        </p:nvSpPr>
        <p:spPr>
          <a:xfrm>
            <a:off x="6800542" y="3151433"/>
            <a:ext cx="6448822" cy="5844904"/>
          </a:xfrm>
          <a:custGeom>
            <a:avLst/>
            <a:gdLst/>
            <a:ahLst/>
            <a:cxnLst/>
            <a:rect l="l" t="t" r="r" b="b"/>
            <a:pathLst>
              <a:path w="6448822" h="5844904">
                <a:moveTo>
                  <a:pt x="0" y="0"/>
                </a:moveTo>
                <a:lnTo>
                  <a:pt x="6448822" y="0"/>
                </a:lnTo>
                <a:lnTo>
                  <a:pt x="6448822" y="5844904"/>
                </a:lnTo>
                <a:lnTo>
                  <a:pt x="0" y="5844904"/>
                </a:lnTo>
                <a:lnTo>
                  <a:pt x="0" y="0"/>
                </a:lnTo>
                <a:close/>
              </a:path>
            </a:pathLst>
          </a:custGeom>
          <a:blipFill>
            <a:blip r:embed="rId6"/>
            <a:stretch>
              <a:fillRect b="-918"/>
            </a:stretch>
          </a:blipFill>
        </p:spPr>
      </p:sp>
      <p:grpSp>
        <p:nvGrpSpPr>
          <p:cNvPr id="20" name="Group 20"/>
          <p:cNvGrpSpPr/>
          <p:nvPr/>
        </p:nvGrpSpPr>
        <p:grpSpPr>
          <a:xfrm>
            <a:off x="13354734" y="3572398"/>
            <a:ext cx="4270876" cy="5423939"/>
            <a:chOff x="0" y="0"/>
            <a:chExt cx="2892696" cy="3673674"/>
          </a:xfrm>
        </p:grpSpPr>
        <p:sp>
          <p:nvSpPr>
            <p:cNvPr id="21" name="Freeform 21"/>
            <p:cNvSpPr/>
            <p:nvPr/>
          </p:nvSpPr>
          <p:spPr>
            <a:xfrm>
              <a:off x="0" y="0"/>
              <a:ext cx="2892696" cy="3673674"/>
            </a:xfrm>
            <a:custGeom>
              <a:avLst/>
              <a:gdLst/>
              <a:ahLst/>
              <a:cxnLst/>
              <a:rect l="l" t="t" r="r" b="b"/>
              <a:pathLst>
                <a:path w="2892696" h="3673674">
                  <a:moveTo>
                    <a:pt x="47131" y="0"/>
                  </a:moveTo>
                  <a:lnTo>
                    <a:pt x="2845565" y="0"/>
                  </a:lnTo>
                  <a:cubicBezTo>
                    <a:pt x="2858065" y="0"/>
                    <a:pt x="2870053" y="4966"/>
                    <a:pt x="2878892" y="13804"/>
                  </a:cubicBezTo>
                  <a:cubicBezTo>
                    <a:pt x="2887730" y="22643"/>
                    <a:pt x="2892696" y="34631"/>
                    <a:pt x="2892696" y="47131"/>
                  </a:cubicBezTo>
                  <a:lnTo>
                    <a:pt x="2892696" y="3626543"/>
                  </a:lnTo>
                  <a:cubicBezTo>
                    <a:pt x="2892696" y="3639043"/>
                    <a:pt x="2887730" y="3651031"/>
                    <a:pt x="2878892" y="3659870"/>
                  </a:cubicBezTo>
                  <a:cubicBezTo>
                    <a:pt x="2870053" y="3668709"/>
                    <a:pt x="2858065" y="3673674"/>
                    <a:pt x="2845565" y="3673674"/>
                  </a:cubicBezTo>
                  <a:lnTo>
                    <a:pt x="47131" y="3673674"/>
                  </a:lnTo>
                  <a:cubicBezTo>
                    <a:pt x="34631" y="3673674"/>
                    <a:pt x="22643" y="3668709"/>
                    <a:pt x="13804" y="3659870"/>
                  </a:cubicBezTo>
                  <a:cubicBezTo>
                    <a:pt x="4966" y="3651031"/>
                    <a:pt x="0" y="3639043"/>
                    <a:pt x="0" y="3626543"/>
                  </a:cubicBezTo>
                  <a:lnTo>
                    <a:pt x="0" y="47131"/>
                  </a:lnTo>
                  <a:cubicBezTo>
                    <a:pt x="0" y="34631"/>
                    <a:pt x="4966" y="22643"/>
                    <a:pt x="13804" y="13804"/>
                  </a:cubicBezTo>
                  <a:cubicBezTo>
                    <a:pt x="22643" y="4966"/>
                    <a:pt x="34631" y="0"/>
                    <a:pt x="47131" y="0"/>
                  </a:cubicBezTo>
                  <a:close/>
                </a:path>
              </a:pathLst>
            </a:custGeom>
            <a:solidFill>
              <a:srgbClr val="FFFFFF"/>
            </a:solidFill>
            <a:ln w="38100" cap="rnd">
              <a:solidFill>
                <a:srgbClr val="FF751F"/>
              </a:solidFill>
              <a:prstDash val="solid"/>
              <a:round/>
            </a:ln>
          </p:spPr>
        </p:sp>
        <p:sp>
          <p:nvSpPr>
            <p:cNvPr id="22" name="TextBox 22"/>
            <p:cNvSpPr txBox="1"/>
            <p:nvPr/>
          </p:nvSpPr>
          <p:spPr>
            <a:xfrm>
              <a:off x="0" y="-47625"/>
              <a:ext cx="2892696" cy="3721299"/>
            </a:xfrm>
            <a:prstGeom prst="rect">
              <a:avLst/>
            </a:prstGeom>
          </p:spPr>
          <p:txBody>
            <a:bodyPr lIns="19754" tIns="19754" rIns="19754" bIns="19754" rtlCol="0" anchor="ctr"/>
            <a:lstStyle/>
            <a:p>
              <a:pPr algn="ctr">
                <a:lnSpc>
                  <a:spcPts val="2659"/>
                </a:lnSpc>
              </a:pPr>
              <a:endParaRPr/>
            </a:p>
          </p:txBody>
        </p:sp>
      </p:grpSp>
      <p:sp>
        <p:nvSpPr>
          <p:cNvPr id="23" name="TextBox 23"/>
          <p:cNvSpPr txBox="1"/>
          <p:nvPr/>
        </p:nvSpPr>
        <p:spPr>
          <a:xfrm>
            <a:off x="13487489" y="3839331"/>
            <a:ext cx="2098358" cy="248697"/>
          </a:xfrm>
          <a:prstGeom prst="rect">
            <a:avLst/>
          </a:prstGeom>
        </p:spPr>
        <p:txBody>
          <a:bodyPr lIns="0" tIns="0" rIns="0" bIns="0" rtlCol="0" anchor="t">
            <a:spAutoFit/>
          </a:bodyPr>
          <a:lstStyle/>
          <a:p>
            <a:pPr algn="ctr">
              <a:lnSpc>
                <a:spcPts val="2042"/>
              </a:lnSpc>
            </a:pPr>
            <a:r>
              <a:rPr lang="en-US" sz="1458" b="1">
                <a:solidFill>
                  <a:srgbClr val="000000"/>
                </a:solidFill>
                <a:latin typeface="Canva Sans Bold"/>
                <a:ea typeface="Canva Sans Bold"/>
                <a:cs typeface="Canva Sans Bold"/>
                <a:sym typeface="Canva Sans Bold"/>
              </a:rPr>
              <a:t> Topic 1 ↔ Topic 2 = 0.12</a:t>
            </a:r>
          </a:p>
        </p:txBody>
      </p:sp>
      <p:sp>
        <p:nvSpPr>
          <p:cNvPr id="24" name="TextBox 24"/>
          <p:cNvSpPr txBox="1"/>
          <p:nvPr/>
        </p:nvSpPr>
        <p:spPr>
          <a:xfrm>
            <a:off x="13665479" y="5732351"/>
            <a:ext cx="2103358" cy="248697"/>
          </a:xfrm>
          <a:prstGeom prst="rect">
            <a:avLst/>
          </a:prstGeom>
        </p:spPr>
        <p:txBody>
          <a:bodyPr lIns="0" tIns="0" rIns="0" bIns="0" rtlCol="0" anchor="t">
            <a:spAutoFit/>
          </a:bodyPr>
          <a:lstStyle/>
          <a:p>
            <a:pPr algn="ctr">
              <a:lnSpc>
                <a:spcPts val="2042"/>
              </a:lnSpc>
            </a:pPr>
            <a:r>
              <a:rPr lang="en-US" sz="1458" b="1">
                <a:solidFill>
                  <a:srgbClr val="000000"/>
                </a:solidFill>
                <a:latin typeface="Canva Sans Bold"/>
                <a:ea typeface="Canva Sans Bold"/>
                <a:cs typeface="Canva Sans Bold"/>
                <a:sym typeface="Canva Sans Bold"/>
              </a:rPr>
              <a:t>Topic 0 ↔ Topic 1 = 0.10</a:t>
            </a:r>
          </a:p>
        </p:txBody>
      </p:sp>
      <p:sp>
        <p:nvSpPr>
          <p:cNvPr id="25" name="TextBox 25"/>
          <p:cNvSpPr txBox="1"/>
          <p:nvPr/>
        </p:nvSpPr>
        <p:spPr>
          <a:xfrm>
            <a:off x="13606656" y="4187264"/>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Kebenaran - Rosul</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Janji Allah - Bukti Kerasulan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Pendusta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Ajaran - Datang Pembuktian</a:t>
            </a:r>
          </a:p>
        </p:txBody>
      </p:sp>
      <p:sp>
        <p:nvSpPr>
          <p:cNvPr id="26" name="Freeform 26"/>
          <p:cNvSpPr/>
          <p:nvPr/>
        </p:nvSpPr>
        <p:spPr>
          <a:xfrm>
            <a:off x="13354734" y="2903515"/>
            <a:ext cx="621491" cy="621491"/>
          </a:xfrm>
          <a:custGeom>
            <a:avLst/>
            <a:gdLst/>
            <a:ahLst/>
            <a:cxnLst/>
            <a:rect l="l" t="t" r="r" b="b"/>
            <a:pathLst>
              <a:path w="621491" h="621491">
                <a:moveTo>
                  <a:pt x="0" y="0"/>
                </a:moveTo>
                <a:lnTo>
                  <a:pt x="621490" y="0"/>
                </a:lnTo>
                <a:lnTo>
                  <a:pt x="621490" y="621491"/>
                </a:lnTo>
                <a:lnTo>
                  <a:pt x="0" y="621491"/>
                </a:lnTo>
                <a:lnTo>
                  <a:pt x="0" y="0"/>
                </a:lnTo>
                <a:close/>
              </a:path>
            </a:pathLst>
          </a:custGeom>
          <a:blipFill>
            <a:blip r:embed="rId7"/>
            <a:stretch>
              <a:fillRect/>
            </a:stretch>
          </a:blipFill>
        </p:spPr>
      </p:sp>
      <p:sp>
        <p:nvSpPr>
          <p:cNvPr id="27" name="TextBox 27"/>
          <p:cNvSpPr txBox="1"/>
          <p:nvPr/>
        </p:nvSpPr>
        <p:spPr>
          <a:xfrm>
            <a:off x="14080999" y="3008373"/>
            <a:ext cx="2934799" cy="345902"/>
          </a:xfrm>
          <a:prstGeom prst="rect">
            <a:avLst/>
          </a:prstGeom>
        </p:spPr>
        <p:txBody>
          <a:bodyPr lIns="0" tIns="0" rIns="0" bIns="0" rtlCol="0" anchor="t">
            <a:spAutoFit/>
          </a:bodyPr>
          <a:lstStyle/>
          <a:p>
            <a:pPr algn="ctr">
              <a:lnSpc>
                <a:spcPts val="2742"/>
              </a:lnSpc>
            </a:pPr>
            <a:r>
              <a:rPr lang="en-US" sz="1958" b="1">
                <a:solidFill>
                  <a:srgbClr val="CF4119"/>
                </a:solidFill>
                <a:latin typeface="Canva Sans Bold"/>
                <a:ea typeface="Canva Sans Bold"/>
                <a:cs typeface="Canva Sans Bold"/>
                <a:sym typeface="Canva Sans Bold"/>
              </a:rPr>
              <a:t>CONTOH INTERPRETASI</a:t>
            </a:r>
          </a:p>
        </p:txBody>
      </p:sp>
      <p:sp>
        <p:nvSpPr>
          <p:cNvPr id="28" name="TextBox 28"/>
          <p:cNvSpPr txBox="1"/>
          <p:nvPr/>
        </p:nvSpPr>
        <p:spPr>
          <a:xfrm>
            <a:off x="13606656" y="6004692"/>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Ayat - Kebenaran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Perbuatan Dosa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Ingat -  Ajaran Allah</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Baca dan Dengan - Ambil dari kebenaran </a:t>
            </a:r>
          </a:p>
        </p:txBody>
      </p:sp>
      <p:sp>
        <p:nvSpPr>
          <p:cNvPr id="29" name="TextBox 29"/>
          <p:cNvSpPr txBox="1"/>
          <p:nvPr/>
        </p:nvSpPr>
        <p:spPr>
          <a:xfrm>
            <a:off x="13785606" y="502137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Ketika Al-Quran  Membahas Rosul sering juga </a:t>
            </a:r>
          </a:p>
          <a:p>
            <a:pPr algn="l">
              <a:lnSpc>
                <a:spcPts val="1762"/>
              </a:lnSpc>
            </a:pPr>
            <a:r>
              <a:rPr lang="en-US" sz="1258" b="1">
                <a:solidFill>
                  <a:srgbClr val="CF4119"/>
                </a:solidFill>
                <a:latin typeface="Canva Sans Bold"/>
                <a:ea typeface="Canva Sans Bold"/>
                <a:cs typeface="Canva Sans Bold"/>
                <a:sym typeface="Canva Sans Bold"/>
              </a:rPr>
              <a:t> dibahas Pembenaran Ajaran, Gangguan Setan, </a:t>
            </a:r>
          </a:p>
          <a:p>
            <a:pPr algn="l">
              <a:lnSpc>
                <a:spcPts val="1762"/>
              </a:lnSpc>
            </a:pPr>
            <a:r>
              <a:rPr lang="en-US" sz="1258" b="1">
                <a:solidFill>
                  <a:srgbClr val="CF4119"/>
                </a:solidFill>
                <a:latin typeface="Canva Sans Bold"/>
                <a:ea typeface="Canva Sans Bold"/>
                <a:cs typeface="Canva Sans Bold"/>
                <a:sym typeface="Canva Sans Bold"/>
              </a:rPr>
              <a:t>Pendustaan orang-orang kafi </a:t>
            </a:r>
          </a:p>
        </p:txBody>
      </p:sp>
      <p:sp>
        <p:nvSpPr>
          <p:cNvPr id="30" name="TextBox 30"/>
          <p:cNvSpPr txBox="1"/>
          <p:nvPr/>
        </p:nvSpPr>
        <p:spPr>
          <a:xfrm>
            <a:off x="13785606" y="680393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Ayat-ayat Allah  merupakan kebenaran yang harus </a:t>
            </a:r>
          </a:p>
          <a:p>
            <a:pPr algn="l">
              <a:lnSpc>
                <a:spcPts val="1762"/>
              </a:lnSpc>
            </a:pPr>
            <a:r>
              <a:rPr lang="en-US" sz="1258" b="1">
                <a:solidFill>
                  <a:srgbClr val="CF4119"/>
                </a:solidFill>
                <a:latin typeface="Canva Sans Bold"/>
                <a:ea typeface="Canva Sans Bold"/>
                <a:cs typeface="Canva Sans Bold"/>
                <a:sym typeface="Canva Sans Bold"/>
              </a:rPr>
              <a:t>dibaca </a:t>
            </a:r>
          </a:p>
        </p:txBody>
      </p:sp>
      <p:sp>
        <p:nvSpPr>
          <p:cNvPr id="31" name="TextBox 31"/>
          <p:cNvSpPr txBox="1"/>
          <p:nvPr/>
        </p:nvSpPr>
        <p:spPr>
          <a:xfrm>
            <a:off x="13515811" y="7448235"/>
            <a:ext cx="2097286" cy="248697"/>
          </a:xfrm>
          <a:prstGeom prst="rect">
            <a:avLst/>
          </a:prstGeom>
        </p:spPr>
        <p:txBody>
          <a:bodyPr lIns="0" tIns="0" rIns="0" bIns="0" rtlCol="0" anchor="t">
            <a:spAutoFit/>
          </a:bodyPr>
          <a:lstStyle/>
          <a:p>
            <a:pPr algn="ctr">
              <a:lnSpc>
                <a:spcPts val="2042"/>
              </a:lnSpc>
            </a:pPr>
            <a:r>
              <a:rPr lang="en-US" sz="1458" b="1">
                <a:solidFill>
                  <a:srgbClr val="000000"/>
                </a:solidFill>
                <a:latin typeface="Canva Sans Bold"/>
                <a:ea typeface="Canva Sans Bold"/>
                <a:cs typeface="Canva Sans Bold"/>
                <a:sym typeface="Canva Sans Bold"/>
              </a:rPr>
              <a:t>Topic 5 ↔ Topic 3 = 0.10</a:t>
            </a:r>
          </a:p>
        </p:txBody>
      </p:sp>
      <p:sp>
        <p:nvSpPr>
          <p:cNvPr id="32" name="TextBox 32"/>
          <p:cNvSpPr txBox="1"/>
          <p:nvPr/>
        </p:nvSpPr>
        <p:spPr>
          <a:xfrm>
            <a:off x="13665479" y="7754082"/>
            <a:ext cx="4018953" cy="118976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bumi - langit</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Hidup - mati, waktu</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tanda kekuasaan Allah</a:t>
            </a:r>
          </a:p>
          <a:p>
            <a:pPr algn="l">
              <a:lnSpc>
                <a:spcPts val="1622"/>
              </a:lnSpc>
            </a:pPr>
            <a:r>
              <a:rPr lang="en-US" sz="1158" b="1">
                <a:solidFill>
                  <a:srgbClr val="CF4119"/>
                </a:solidFill>
                <a:latin typeface="Canva Sans Bold"/>
                <a:ea typeface="Canva Sans Bold"/>
                <a:cs typeface="Canva Sans Bold"/>
                <a:sym typeface="Canva Sans Bold"/>
              </a:rPr>
              <a:t>Menbahas Penciptaan Alam Dan kekuasaan Allah</a:t>
            </a:r>
          </a:p>
          <a:p>
            <a:pPr algn="l">
              <a:lnSpc>
                <a:spcPts val="1622"/>
              </a:lnSpc>
            </a:pPr>
            <a:endParaRPr lang="en-US" sz="1158" b="1">
              <a:solidFill>
                <a:srgbClr val="CF4119"/>
              </a:solidFill>
              <a:latin typeface="Canva Sans Bold"/>
              <a:ea typeface="Canva Sans Bold"/>
              <a:cs typeface="Canva Sans Bold"/>
              <a:sym typeface="Canva Sans Bold"/>
            </a:endParaRPr>
          </a:p>
          <a:p>
            <a:pPr algn="l">
              <a:lnSpc>
                <a:spcPts val="1622"/>
              </a:lnSpc>
            </a:pPr>
            <a:endParaRPr lang="en-US" sz="1158" b="1">
              <a:solidFill>
                <a:srgbClr val="CF4119"/>
              </a:solidFill>
              <a:latin typeface="Canva Sans Bold"/>
              <a:ea typeface="Canva Sans Bold"/>
              <a:cs typeface="Canva Sans Bold"/>
              <a:sym typeface="Canva Sans Bo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56467" y="4000466"/>
            <a:ext cx="318524" cy="318524"/>
          </a:xfrm>
          <a:custGeom>
            <a:avLst/>
            <a:gdLst/>
            <a:ahLst/>
            <a:cxnLst/>
            <a:rect l="l" t="t" r="r" b="b"/>
            <a:pathLst>
              <a:path w="318524" h="318524">
                <a:moveTo>
                  <a:pt x="0" y="0"/>
                </a:moveTo>
                <a:lnTo>
                  <a:pt x="318525" y="0"/>
                </a:lnTo>
                <a:lnTo>
                  <a:pt x="318525" y="318524"/>
                </a:lnTo>
                <a:lnTo>
                  <a:pt x="0" y="31852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11 | Correlated Topic Model</a:t>
            </a:r>
          </a:p>
        </p:txBody>
      </p:sp>
      <p:grpSp>
        <p:nvGrpSpPr>
          <p:cNvPr id="19" name="Group 19"/>
          <p:cNvGrpSpPr/>
          <p:nvPr/>
        </p:nvGrpSpPr>
        <p:grpSpPr>
          <a:xfrm>
            <a:off x="930705" y="2760342"/>
            <a:ext cx="3044503" cy="1643868"/>
            <a:chOff x="0" y="0"/>
            <a:chExt cx="4059338" cy="2191824"/>
          </a:xfrm>
        </p:grpSpPr>
        <p:grpSp>
          <p:nvGrpSpPr>
            <p:cNvPr id="20" name="Group 20"/>
            <p:cNvGrpSpPr/>
            <p:nvPr/>
          </p:nvGrpSpPr>
          <p:grpSpPr>
            <a:xfrm>
              <a:off x="0" y="1387472"/>
              <a:ext cx="4059338" cy="804352"/>
              <a:chOff x="0" y="0"/>
              <a:chExt cx="2062065" cy="408595"/>
            </a:xfrm>
          </p:grpSpPr>
          <p:sp>
            <p:nvSpPr>
              <p:cNvPr id="21" name="Freeform 21"/>
              <p:cNvSpPr/>
              <p:nvPr/>
            </p:nvSpPr>
            <p:spPr>
              <a:xfrm>
                <a:off x="0" y="0"/>
                <a:ext cx="2062065" cy="408595"/>
              </a:xfrm>
              <a:custGeom>
                <a:avLst/>
                <a:gdLst/>
                <a:ahLst/>
                <a:cxnLst/>
                <a:rect l="l" t="t" r="r" b="b"/>
                <a:pathLst>
                  <a:path w="2062065" h="408595">
                    <a:moveTo>
                      <a:pt x="20946" y="0"/>
                    </a:moveTo>
                    <a:lnTo>
                      <a:pt x="2041119" y="0"/>
                    </a:lnTo>
                    <a:cubicBezTo>
                      <a:pt x="2046674" y="0"/>
                      <a:pt x="2052002" y="2207"/>
                      <a:pt x="2055930" y="6135"/>
                    </a:cubicBezTo>
                    <a:cubicBezTo>
                      <a:pt x="2059858" y="10063"/>
                      <a:pt x="2062065" y="15390"/>
                      <a:pt x="2062065" y="20946"/>
                    </a:cubicBezTo>
                    <a:lnTo>
                      <a:pt x="2062065" y="387650"/>
                    </a:lnTo>
                    <a:cubicBezTo>
                      <a:pt x="2062065" y="393205"/>
                      <a:pt x="2059858" y="398532"/>
                      <a:pt x="2055930" y="402460"/>
                    </a:cubicBezTo>
                    <a:cubicBezTo>
                      <a:pt x="2052002" y="406388"/>
                      <a:pt x="2046674" y="408595"/>
                      <a:pt x="2041119" y="408595"/>
                    </a:cubicBezTo>
                    <a:lnTo>
                      <a:pt x="20946" y="408595"/>
                    </a:lnTo>
                    <a:cubicBezTo>
                      <a:pt x="9378" y="408595"/>
                      <a:pt x="0" y="399218"/>
                      <a:pt x="0" y="387650"/>
                    </a:cubicBezTo>
                    <a:lnTo>
                      <a:pt x="0" y="20946"/>
                    </a:lnTo>
                    <a:cubicBezTo>
                      <a:pt x="0" y="15390"/>
                      <a:pt x="2207" y="10063"/>
                      <a:pt x="6135" y="6135"/>
                    </a:cubicBezTo>
                    <a:cubicBezTo>
                      <a:pt x="10063" y="2207"/>
                      <a:pt x="15390" y="0"/>
                      <a:pt x="20946" y="0"/>
                    </a:cubicBezTo>
                    <a:close/>
                  </a:path>
                </a:pathLst>
              </a:custGeom>
              <a:solidFill>
                <a:srgbClr val="FFFFFF"/>
              </a:solidFill>
              <a:ln w="38100" cap="sq">
                <a:solidFill>
                  <a:srgbClr val="FF751F"/>
                </a:solidFill>
                <a:prstDash val="solid"/>
                <a:miter/>
              </a:ln>
            </p:spPr>
          </p:sp>
          <p:sp>
            <p:nvSpPr>
              <p:cNvPr id="22" name="TextBox 22"/>
              <p:cNvSpPr txBox="1"/>
              <p:nvPr/>
            </p:nvSpPr>
            <p:spPr>
              <a:xfrm>
                <a:off x="0" y="-47625"/>
                <a:ext cx="2062065" cy="456220"/>
              </a:xfrm>
              <a:prstGeom prst="rect">
                <a:avLst/>
              </a:prstGeom>
            </p:spPr>
            <p:txBody>
              <a:bodyPr lIns="21584" tIns="21584" rIns="21584" bIns="21584" rtlCol="0" anchor="ctr"/>
              <a:lstStyle/>
              <a:p>
                <a:pPr algn="ctr">
                  <a:lnSpc>
                    <a:spcPts val="2659"/>
                  </a:lnSpc>
                </a:pPr>
                <a:endParaRPr/>
              </a:p>
            </p:txBody>
          </p:sp>
        </p:grpSp>
        <p:grpSp>
          <p:nvGrpSpPr>
            <p:cNvPr id="23" name="Group 23"/>
            <p:cNvGrpSpPr/>
            <p:nvPr/>
          </p:nvGrpSpPr>
          <p:grpSpPr>
            <a:xfrm>
              <a:off x="0" y="0"/>
              <a:ext cx="4059338" cy="1591018"/>
              <a:chOff x="0" y="0"/>
              <a:chExt cx="2253126" cy="883091"/>
            </a:xfrm>
          </p:grpSpPr>
          <p:sp>
            <p:nvSpPr>
              <p:cNvPr id="24" name="Freeform 24"/>
              <p:cNvSpPr/>
              <p:nvPr/>
            </p:nvSpPr>
            <p:spPr>
              <a:xfrm>
                <a:off x="0" y="0"/>
                <a:ext cx="2253126" cy="883091"/>
              </a:xfrm>
              <a:custGeom>
                <a:avLst/>
                <a:gdLst/>
                <a:ahLst/>
                <a:cxnLst/>
                <a:rect l="l" t="t" r="r" b="b"/>
                <a:pathLst>
                  <a:path w="2253126" h="883091">
                    <a:moveTo>
                      <a:pt x="20946" y="0"/>
                    </a:moveTo>
                    <a:lnTo>
                      <a:pt x="2232180" y="0"/>
                    </a:lnTo>
                    <a:cubicBezTo>
                      <a:pt x="2237735" y="0"/>
                      <a:pt x="2243063" y="2207"/>
                      <a:pt x="2246991" y="6135"/>
                    </a:cubicBezTo>
                    <a:cubicBezTo>
                      <a:pt x="2250919" y="10063"/>
                      <a:pt x="2253126" y="15390"/>
                      <a:pt x="2253126" y="20946"/>
                    </a:cubicBezTo>
                    <a:lnTo>
                      <a:pt x="2253126" y="862145"/>
                    </a:lnTo>
                    <a:cubicBezTo>
                      <a:pt x="2253126" y="867700"/>
                      <a:pt x="2250919" y="873028"/>
                      <a:pt x="2246991" y="876956"/>
                    </a:cubicBezTo>
                    <a:cubicBezTo>
                      <a:pt x="2243063" y="880884"/>
                      <a:pt x="2237735" y="883091"/>
                      <a:pt x="2232180" y="883091"/>
                    </a:cubicBezTo>
                    <a:lnTo>
                      <a:pt x="20946" y="883091"/>
                    </a:lnTo>
                    <a:cubicBezTo>
                      <a:pt x="15390" y="883091"/>
                      <a:pt x="10063" y="880884"/>
                      <a:pt x="6135" y="876956"/>
                    </a:cubicBezTo>
                    <a:cubicBezTo>
                      <a:pt x="2207" y="873028"/>
                      <a:pt x="0" y="867700"/>
                      <a:pt x="0" y="862145"/>
                    </a:cubicBezTo>
                    <a:lnTo>
                      <a:pt x="0" y="20946"/>
                    </a:lnTo>
                    <a:cubicBezTo>
                      <a:pt x="0" y="15390"/>
                      <a:pt x="2207" y="10063"/>
                      <a:pt x="6135" y="6135"/>
                    </a:cubicBezTo>
                    <a:cubicBezTo>
                      <a:pt x="10063" y="2207"/>
                      <a:pt x="15390" y="0"/>
                      <a:pt x="20946" y="0"/>
                    </a:cubicBezTo>
                    <a:close/>
                  </a:path>
                </a:pathLst>
              </a:custGeom>
              <a:solidFill>
                <a:srgbClr val="FF751F"/>
              </a:solidFill>
              <a:ln w="38100" cap="sq">
                <a:solidFill>
                  <a:srgbClr val="FF751F"/>
                </a:solidFill>
                <a:prstDash val="solid"/>
                <a:miter/>
              </a:ln>
            </p:spPr>
          </p:sp>
          <p:sp>
            <p:nvSpPr>
              <p:cNvPr id="25" name="TextBox 25"/>
              <p:cNvSpPr txBox="1"/>
              <p:nvPr/>
            </p:nvSpPr>
            <p:spPr>
              <a:xfrm>
                <a:off x="0" y="-47625"/>
                <a:ext cx="2253126" cy="930716"/>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776403" y="599310"/>
              <a:ext cx="2506531" cy="782205"/>
            </a:xfrm>
            <a:prstGeom prst="rect">
              <a:avLst/>
            </a:prstGeom>
          </p:spPr>
          <p:txBody>
            <a:bodyPr lIns="0" tIns="0" rIns="0" bIns="0" rtlCol="0" anchor="t">
              <a:spAutoFit/>
            </a:bodyPr>
            <a:lstStyle/>
            <a:p>
              <a:pPr algn="ctr">
                <a:lnSpc>
                  <a:spcPts val="4954"/>
                </a:lnSpc>
              </a:pPr>
              <a:r>
                <a:rPr lang="en-US" sz="3538" b="1">
                  <a:solidFill>
                    <a:srgbClr val="1800AD"/>
                  </a:solidFill>
                  <a:latin typeface="Canva Sans Bold"/>
                  <a:ea typeface="Canva Sans Bold"/>
                  <a:cs typeface="Canva Sans Bold"/>
                  <a:sym typeface="Canva Sans Bold"/>
                </a:rPr>
                <a:t>0.517</a:t>
              </a:r>
            </a:p>
          </p:txBody>
        </p:sp>
        <p:sp>
          <p:nvSpPr>
            <p:cNvPr id="27" name="TextBox 27"/>
            <p:cNvSpPr txBox="1"/>
            <p:nvPr/>
          </p:nvSpPr>
          <p:spPr>
            <a:xfrm>
              <a:off x="1461971" y="-38100"/>
              <a:ext cx="1135396" cy="529739"/>
            </a:xfrm>
            <a:prstGeom prst="rect">
              <a:avLst/>
            </a:prstGeom>
          </p:spPr>
          <p:txBody>
            <a:bodyPr lIns="0" tIns="0" rIns="0" bIns="0" rtlCol="0" anchor="t">
              <a:spAutoFit/>
            </a:bodyPr>
            <a:lstStyle/>
            <a:p>
              <a:pPr algn="ctr">
                <a:lnSpc>
                  <a:spcPts val="3389"/>
                </a:lnSpc>
              </a:pPr>
              <a:r>
                <a:rPr lang="en-US" sz="2421" b="1">
                  <a:solidFill>
                    <a:srgbClr val="FFFFFF"/>
                  </a:solidFill>
                  <a:latin typeface="Canva Sans Bold"/>
                  <a:ea typeface="Canva Sans Bold"/>
                  <a:cs typeface="Canva Sans Bold"/>
                  <a:sym typeface="Canva Sans Bold"/>
                </a:rPr>
                <a:t>C_v</a:t>
              </a:r>
            </a:p>
          </p:txBody>
        </p:sp>
      </p:grpSp>
      <p:grpSp>
        <p:nvGrpSpPr>
          <p:cNvPr id="28" name="Group 28"/>
          <p:cNvGrpSpPr/>
          <p:nvPr/>
        </p:nvGrpSpPr>
        <p:grpSpPr>
          <a:xfrm>
            <a:off x="4343362" y="3800946"/>
            <a:ext cx="3044503" cy="603264"/>
            <a:chOff x="0" y="0"/>
            <a:chExt cx="2062065" cy="408595"/>
          </a:xfrm>
        </p:grpSpPr>
        <p:sp>
          <p:nvSpPr>
            <p:cNvPr id="29" name="Freeform 29"/>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30" name="TextBox 30"/>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grpSp>
        <p:nvGrpSpPr>
          <p:cNvPr id="31" name="Group 31"/>
          <p:cNvGrpSpPr/>
          <p:nvPr/>
        </p:nvGrpSpPr>
        <p:grpSpPr>
          <a:xfrm>
            <a:off x="4343362" y="2760342"/>
            <a:ext cx="3044503" cy="1240124"/>
            <a:chOff x="0" y="0"/>
            <a:chExt cx="2253126" cy="917770"/>
          </a:xfrm>
        </p:grpSpPr>
        <p:sp>
          <p:nvSpPr>
            <p:cNvPr id="32" name="Freeform 3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3" name="TextBox 3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4" name="TextBox 34"/>
          <p:cNvSpPr txBox="1"/>
          <p:nvPr/>
        </p:nvSpPr>
        <p:spPr>
          <a:xfrm>
            <a:off x="5152244" y="3224029"/>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-0.022</a:t>
            </a:r>
          </a:p>
        </p:txBody>
      </p:sp>
      <p:sp>
        <p:nvSpPr>
          <p:cNvPr id="35" name="TextBox 35"/>
          <p:cNvSpPr txBox="1"/>
          <p:nvPr/>
        </p:nvSpPr>
        <p:spPr>
          <a:xfrm>
            <a:off x="5330129" y="2854492"/>
            <a:ext cx="1070971"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NPMI</a:t>
            </a:r>
          </a:p>
        </p:txBody>
      </p:sp>
      <p:grpSp>
        <p:nvGrpSpPr>
          <p:cNvPr id="36" name="Group 36"/>
          <p:cNvGrpSpPr/>
          <p:nvPr/>
        </p:nvGrpSpPr>
        <p:grpSpPr>
          <a:xfrm>
            <a:off x="7750718" y="2760342"/>
            <a:ext cx="3044503" cy="1240124"/>
            <a:chOff x="0" y="0"/>
            <a:chExt cx="2253126" cy="917770"/>
          </a:xfrm>
        </p:grpSpPr>
        <p:sp>
          <p:nvSpPr>
            <p:cNvPr id="37" name="Freeform 37"/>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8" name="TextBox 38"/>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9" name="TextBox 39"/>
          <p:cNvSpPr txBox="1"/>
          <p:nvPr/>
        </p:nvSpPr>
        <p:spPr>
          <a:xfrm>
            <a:off x="8568966" y="3185434"/>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-5.066</a:t>
            </a:r>
          </a:p>
        </p:txBody>
      </p:sp>
      <p:sp>
        <p:nvSpPr>
          <p:cNvPr id="40" name="TextBox 40"/>
          <p:cNvSpPr txBox="1"/>
          <p:nvPr/>
        </p:nvSpPr>
        <p:spPr>
          <a:xfrm>
            <a:off x="1989779" y="3982945"/>
            <a:ext cx="911709" cy="336045"/>
          </a:xfrm>
          <a:prstGeom prst="rect">
            <a:avLst/>
          </a:prstGeom>
        </p:spPr>
        <p:txBody>
          <a:bodyPr lIns="0" tIns="0" rIns="0" bIns="0" rtlCol="0" anchor="t">
            <a:spAutoFit/>
          </a:bodyPr>
          <a:lstStyle/>
          <a:p>
            <a:pPr algn="ctr">
              <a:lnSpc>
                <a:spcPts val="2795"/>
              </a:lnSpc>
            </a:pPr>
            <a:r>
              <a:rPr lang="en-US" sz="1996" b="1">
                <a:solidFill>
                  <a:srgbClr val="000000"/>
                </a:solidFill>
                <a:latin typeface="Canva Sans Bold"/>
                <a:ea typeface="Canva Sans Bold"/>
                <a:cs typeface="Canva Sans Bold"/>
                <a:sym typeface="Canva Sans Bold"/>
              </a:rPr>
              <a:t>&gt; 0.5</a:t>
            </a:r>
          </a:p>
        </p:txBody>
      </p:sp>
      <p:grpSp>
        <p:nvGrpSpPr>
          <p:cNvPr id="41" name="Group 41"/>
          <p:cNvGrpSpPr/>
          <p:nvPr/>
        </p:nvGrpSpPr>
        <p:grpSpPr>
          <a:xfrm>
            <a:off x="930705" y="4546868"/>
            <a:ext cx="3105810" cy="1358020"/>
            <a:chOff x="0" y="0"/>
            <a:chExt cx="2103588" cy="919797"/>
          </a:xfrm>
        </p:grpSpPr>
        <p:sp>
          <p:nvSpPr>
            <p:cNvPr id="42" name="Freeform 42"/>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3" name="TextBox 43"/>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4" name="TextBox 44"/>
          <p:cNvSpPr txBox="1"/>
          <p:nvPr/>
        </p:nvSpPr>
        <p:spPr>
          <a:xfrm>
            <a:off x="1028700" y="4703812"/>
            <a:ext cx="2689206" cy="10363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koherensi topik  kategori sedang ( artinya kata-kata dalam setiap topik sudah cukup saling berkaitan secara semantik dan dapat diinterpretasikan dengan baik)</a:t>
            </a:r>
          </a:p>
        </p:txBody>
      </p:sp>
      <p:grpSp>
        <p:nvGrpSpPr>
          <p:cNvPr id="45" name="Group 45"/>
          <p:cNvGrpSpPr/>
          <p:nvPr/>
        </p:nvGrpSpPr>
        <p:grpSpPr>
          <a:xfrm>
            <a:off x="4343362" y="4546868"/>
            <a:ext cx="3105810" cy="1358020"/>
            <a:chOff x="0" y="0"/>
            <a:chExt cx="2103588" cy="919797"/>
          </a:xfrm>
        </p:grpSpPr>
        <p:sp>
          <p:nvSpPr>
            <p:cNvPr id="46" name="Freeform 46"/>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7" name="TextBox 47"/>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8" name="TextBox 48"/>
          <p:cNvSpPr txBox="1"/>
          <p:nvPr/>
        </p:nvSpPr>
        <p:spPr>
          <a:xfrm>
            <a:off x="4572000" y="4703812"/>
            <a:ext cx="2689206" cy="6172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mendekati nol dengan nilai  negatif menunjukkan bahwa keterkaitan antar kata dalam topik relatif lemah</a:t>
            </a:r>
          </a:p>
        </p:txBody>
      </p:sp>
      <p:grpSp>
        <p:nvGrpSpPr>
          <p:cNvPr id="49" name="Group 49"/>
          <p:cNvGrpSpPr/>
          <p:nvPr/>
        </p:nvGrpSpPr>
        <p:grpSpPr>
          <a:xfrm>
            <a:off x="7750718" y="3800946"/>
            <a:ext cx="3044503" cy="603264"/>
            <a:chOff x="0" y="0"/>
            <a:chExt cx="2062065" cy="408595"/>
          </a:xfrm>
        </p:grpSpPr>
        <p:sp>
          <p:nvSpPr>
            <p:cNvPr id="50" name="Freeform 50"/>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1" name="TextBox 51"/>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2" name="TextBox 52"/>
          <p:cNvSpPr txBox="1"/>
          <p:nvPr/>
        </p:nvSpPr>
        <p:spPr>
          <a:xfrm>
            <a:off x="8740416"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UMASS</a:t>
            </a:r>
          </a:p>
        </p:txBody>
      </p:sp>
      <p:grpSp>
        <p:nvGrpSpPr>
          <p:cNvPr id="53" name="Group 53"/>
          <p:cNvGrpSpPr/>
          <p:nvPr/>
        </p:nvGrpSpPr>
        <p:grpSpPr>
          <a:xfrm>
            <a:off x="11050132" y="2760342"/>
            <a:ext cx="3044503" cy="1240124"/>
            <a:chOff x="0" y="0"/>
            <a:chExt cx="2253126" cy="917770"/>
          </a:xfrm>
        </p:grpSpPr>
        <p:sp>
          <p:nvSpPr>
            <p:cNvPr id="54" name="Freeform 54"/>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55" name="TextBox 55"/>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56" name="Group 56"/>
          <p:cNvGrpSpPr/>
          <p:nvPr/>
        </p:nvGrpSpPr>
        <p:grpSpPr>
          <a:xfrm>
            <a:off x="11050132" y="3800946"/>
            <a:ext cx="3044503" cy="603264"/>
            <a:chOff x="0" y="0"/>
            <a:chExt cx="2062065" cy="408595"/>
          </a:xfrm>
        </p:grpSpPr>
        <p:sp>
          <p:nvSpPr>
            <p:cNvPr id="57" name="Freeform 57"/>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8" name="TextBox 58"/>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9" name="TextBox 59"/>
          <p:cNvSpPr txBox="1"/>
          <p:nvPr/>
        </p:nvSpPr>
        <p:spPr>
          <a:xfrm>
            <a:off x="12039830"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UCl</a:t>
            </a:r>
          </a:p>
        </p:txBody>
      </p:sp>
      <p:sp>
        <p:nvSpPr>
          <p:cNvPr id="60" name="TextBox 60"/>
          <p:cNvSpPr txBox="1"/>
          <p:nvPr/>
        </p:nvSpPr>
        <p:spPr>
          <a:xfrm>
            <a:off x="11774910" y="3204731"/>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-2.137</a:t>
            </a:r>
          </a:p>
        </p:txBody>
      </p:sp>
      <p:grpSp>
        <p:nvGrpSpPr>
          <p:cNvPr id="61" name="Group 61"/>
          <p:cNvGrpSpPr/>
          <p:nvPr/>
        </p:nvGrpSpPr>
        <p:grpSpPr>
          <a:xfrm>
            <a:off x="14252600" y="2760342"/>
            <a:ext cx="3044503" cy="1240124"/>
            <a:chOff x="0" y="0"/>
            <a:chExt cx="2253126" cy="917770"/>
          </a:xfrm>
        </p:grpSpPr>
        <p:sp>
          <p:nvSpPr>
            <p:cNvPr id="62" name="Freeform 6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63" name="TextBox 6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64" name="Group 64"/>
          <p:cNvGrpSpPr/>
          <p:nvPr/>
        </p:nvGrpSpPr>
        <p:grpSpPr>
          <a:xfrm>
            <a:off x="14252600" y="3800946"/>
            <a:ext cx="3044503" cy="603264"/>
            <a:chOff x="0" y="0"/>
            <a:chExt cx="2062065" cy="408595"/>
          </a:xfrm>
        </p:grpSpPr>
        <p:sp>
          <p:nvSpPr>
            <p:cNvPr id="65" name="Freeform 65"/>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66" name="TextBox 66"/>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67" name="TextBox 67"/>
          <p:cNvSpPr txBox="1"/>
          <p:nvPr/>
        </p:nvSpPr>
        <p:spPr>
          <a:xfrm>
            <a:off x="15001084" y="2853989"/>
            <a:ext cx="1909168"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Perplexity</a:t>
            </a:r>
          </a:p>
        </p:txBody>
      </p:sp>
      <p:sp>
        <p:nvSpPr>
          <p:cNvPr id="68" name="TextBox 68"/>
          <p:cNvSpPr txBox="1"/>
          <p:nvPr/>
        </p:nvSpPr>
        <p:spPr>
          <a:xfrm>
            <a:off x="15242298" y="3261131"/>
            <a:ext cx="1426740" cy="464118"/>
          </a:xfrm>
          <a:prstGeom prst="rect">
            <a:avLst/>
          </a:prstGeom>
        </p:spPr>
        <p:txBody>
          <a:bodyPr lIns="0" tIns="0" rIns="0" bIns="0" rtlCol="0" anchor="t">
            <a:spAutoFit/>
          </a:bodyPr>
          <a:lstStyle/>
          <a:p>
            <a:pPr algn="ctr">
              <a:lnSpc>
                <a:spcPts val="3818"/>
              </a:lnSpc>
            </a:pPr>
            <a:r>
              <a:rPr lang="en-US" sz="2727" b="1">
                <a:solidFill>
                  <a:srgbClr val="1800AD"/>
                </a:solidFill>
                <a:latin typeface="Canva Sans Bold"/>
                <a:ea typeface="Canva Sans Bold"/>
                <a:cs typeface="Canva Sans Bold"/>
                <a:sym typeface="Canva Sans Bold"/>
              </a:rPr>
              <a:t>1720.28</a:t>
            </a:r>
          </a:p>
        </p:txBody>
      </p:sp>
      <p:grpSp>
        <p:nvGrpSpPr>
          <p:cNvPr id="69" name="Group 69"/>
          <p:cNvGrpSpPr/>
          <p:nvPr/>
        </p:nvGrpSpPr>
        <p:grpSpPr>
          <a:xfrm>
            <a:off x="7810473" y="4546868"/>
            <a:ext cx="6284162" cy="1358020"/>
            <a:chOff x="0" y="0"/>
            <a:chExt cx="4256310" cy="919797"/>
          </a:xfrm>
        </p:grpSpPr>
        <p:sp>
          <p:nvSpPr>
            <p:cNvPr id="70" name="Freeform 70"/>
            <p:cNvSpPr/>
            <p:nvPr/>
          </p:nvSpPr>
          <p:spPr>
            <a:xfrm>
              <a:off x="0" y="0"/>
              <a:ext cx="4256310" cy="919797"/>
            </a:xfrm>
            <a:custGeom>
              <a:avLst/>
              <a:gdLst/>
              <a:ahLst/>
              <a:cxnLst/>
              <a:rect l="l" t="t" r="r" b="b"/>
              <a:pathLst>
                <a:path w="4256310" h="919797">
                  <a:moveTo>
                    <a:pt x="11088" y="0"/>
                  </a:moveTo>
                  <a:lnTo>
                    <a:pt x="4245222" y="0"/>
                  </a:lnTo>
                  <a:cubicBezTo>
                    <a:pt x="4248163" y="0"/>
                    <a:pt x="4250983" y="1168"/>
                    <a:pt x="4253062" y="3248"/>
                  </a:cubicBezTo>
                  <a:cubicBezTo>
                    <a:pt x="4255142" y="5327"/>
                    <a:pt x="4256310" y="8147"/>
                    <a:pt x="4256310" y="11088"/>
                  </a:cubicBezTo>
                  <a:lnTo>
                    <a:pt x="4256310" y="908709"/>
                  </a:lnTo>
                  <a:cubicBezTo>
                    <a:pt x="4256310" y="914833"/>
                    <a:pt x="4251346" y="919797"/>
                    <a:pt x="4245222" y="919797"/>
                  </a:cubicBezTo>
                  <a:lnTo>
                    <a:pt x="11088" y="919797"/>
                  </a:lnTo>
                  <a:cubicBezTo>
                    <a:pt x="8147" y="919797"/>
                    <a:pt x="5327" y="918629"/>
                    <a:pt x="3248" y="916550"/>
                  </a:cubicBezTo>
                  <a:cubicBezTo>
                    <a:pt x="1168" y="914470"/>
                    <a:pt x="0" y="911650"/>
                    <a:pt x="0" y="908709"/>
                  </a:cubicBezTo>
                  <a:lnTo>
                    <a:pt x="0" y="11088"/>
                  </a:lnTo>
                  <a:cubicBezTo>
                    <a:pt x="0" y="8147"/>
                    <a:pt x="1168" y="5327"/>
                    <a:pt x="3248" y="3248"/>
                  </a:cubicBezTo>
                  <a:cubicBezTo>
                    <a:pt x="5327" y="1168"/>
                    <a:pt x="8147" y="0"/>
                    <a:pt x="11088" y="0"/>
                  </a:cubicBezTo>
                  <a:close/>
                </a:path>
              </a:pathLst>
            </a:custGeom>
            <a:solidFill>
              <a:srgbClr val="081F8C"/>
            </a:solidFill>
            <a:ln w="38100" cap="sq">
              <a:solidFill>
                <a:srgbClr val="FF751F"/>
              </a:solidFill>
              <a:prstDash val="solid"/>
              <a:miter/>
            </a:ln>
          </p:spPr>
        </p:sp>
        <p:sp>
          <p:nvSpPr>
            <p:cNvPr id="71" name="TextBox 71"/>
            <p:cNvSpPr txBox="1"/>
            <p:nvPr/>
          </p:nvSpPr>
          <p:spPr>
            <a:xfrm>
              <a:off x="0" y="-47625"/>
              <a:ext cx="4256310" cy="967422"/>
            </a:xfrm>
            <a:prstGeom prst="rect">
              <a:avLst/>
            </a:prstGeom>
          </p:spPr>
          <p:txBody>
            <a:bodyPr lIns="19754" tIns="19754" rIns="19754" bIns="19754" rtlCol="0" anchor="ctr"/>
            <a:lstStyle/>
            <a:p>
              <a:pPr algn="ctr">
                <a:lnSpc>
                  <a:spcPts val="2659"/>
                </a:lnSpc>
              </a:pPr>
              <a:endParaRPr/>
            </a:p>
          </p:txBody>
        </p:sp>
      </p:grpSp>
      <p:sp>
        <p:nvSpPr>
          <p:cNvPr id="72" name="TextBox 72"/>
          <p:cNvSpPr txBox="1"/>
          <p:nvPr/>
        </p:nvSpPr>
        <p:spPr>
          <a:xfrm>
            <a:off x="7982572" y="4703812"/>
            <a:ext cx="5881378"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UMass  dan UCI  keduanya bernilai negatif dan mengindikasikan bahwa dari perspektif probabilistik berbasis corpus, hubungan antar kata dalam topik masih kurang kuat atau kurang konsisten muncul bersama dalam dokumen yang sama</a:t>
            </a:r>
          </a:p>
        </p:txBody>
      </p:sp>
      <p:grpSp>
        <p:nvGrpSpPr>
          <p:cNvPr id="73" name="Group 73"/>
          <p:cNvGrpSpPr/>
          <p:nvPr/>
        </p:nvGrpSpPr>
        <p:grpSpPr>
          <a:xfrm>
            <a:off x="14252600" y="4546868"/>
            <a:ext cx="3105810" cy="1358020"/>
            <a:chOff x="0" y="0"/>
            <a:chExt cx="2103588" cy="919797"/>
          </a:xfrm>
        </p:grpSpPr>
        <p:sp>
          <p:nvSpPr>
            <p:cNvPr id="74" name="Freeform 74"/>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75" name="TextBox 75"/>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76" name="TextBox 76"/>
          <p:cNvSpPr txBox="1"/>
          <p:nvPr/>
        </p:nvSpPr>
        <p:spPr>
          <a:xfrm>
            <a:off x="14460902" y="4703812"/>
            <a:ext cx="2689206"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menunjukkan yang digunakan masih belum optimal dalam menangkap struktur distribusi kata pada dataset</a:t>
            </a:r>
          </a:p>
        </p:txBody>
      </p:sp>
      <p:sp>
        <p:nvSpPr>
          <p:cNvPr id="77" name="TextBox 77"/>
          <p:cNvSpPr txBox="1"/>
          <p:nvPr/>
        </p:nvSpPr>
        <p:spPr>
          <a:xfrm>
            <a:off x="4781256" y="4023611"/>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&lt; 0 = hubungan lemah</a:t>
            </a:r>
          </a:p>
        </p:txBody>
      </p:sp>
      <p:sp>
        <p:nvSpPr>
          <p:cNvPr id="78" name="TextBox 78"/>
          <p:cNvSpPr txBox="1"/>
          <p:nvPr/>
        </p:nvSpPr>
        <p:spPr>
          <a:xfrm>
            <a:off x="8281670" y="3956172"/>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-4 s/d -6 (sedang)</a:t>
            </a:r>
          </a:p>
        </p:txBody>
      </p:sp>
      <p:sp>
        <p:nvSpPr>
          <p:cNvPr id="79" name="TextBox 79"/>
          <p:cNvSpPr txBox="1"/>
          <p:nvPr/>
        </p:nvSpPr>
        <p:spPr>
          <a:xfrm>
            <a:off x="930705" y="6581163"/>
            <a:ext cx="16427705" cy="1190310"/>
          </a:xfrm>
          <a:prstGeom prst="rect">
            <a:avLst/>
          </a:prstGeom>
        </p:spPr>
        <p:txBody>
          <a:bodyPr lIns="0" tIns="0" rIns="0" bIns="0" rtlCol="0" anchor="t">
            <a:spAutoFit/>
          </a:bodyPr>
          <a:lstStyle/>
          <a:p>
            <a:pPr algn="ctr">
              <a:lnSpc>
                <a:spcPts val="3209"/>
              </a:lnSpc>
            </a:pPr>
            <a:r>
              <a:rPr lang="en-US" sz="2292" b="1">
                <a:solidFill>
                  <a:srgbClr val="000000"/>
                </a:solidFill>
                <a:latin typeface="Canva Sans Bold"/>
                <a:ea typeface="Canva Sans Bold"/>
                <a:cs typeface="Canva Sans Bold"/>
                <a:sym typeface="Canva Sans Bold"/>
              </a:rPr>
              <a:t>model Correlated Topic Model (CTM) menghasilkan kualitas topik yang cukup baik dan dapat diinterpretasikan, Nilai NPMI mendekati nol menunjukkan adanya hubungan semantik antar kata dalam topik meskipun belum terlalu kuat,nilai UMass dan UCl  mengindikasikan bahwa koherensi topik masih berada pada tingkat sedang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884998" y="3004234"/>
            <a:ext cx="8259002" cy="5906689"/>
          </a:xfrm>
          <a:custGeom>
            <a:avLst/>
            <a:gdLst/>
            <a:ahLst/>
            <a:cxnLst/>
            <a:rect l="l" t="t" r="r" b="b"/>
            <a:pathLst>
              <a:path w="8259002" h="5906689">
                <a:moveTo>
                  <a:pt x="0" y="0"/>
                </a:moveTo>
                <a:lnTo>
                  <a:pt x="8259002" y="0"/>
                </a:lnTo>
                <a:lnTo>
                  <a:pt x="8259002" y="5906689"/>
                </a:lnTo>
                <a:lnTo>
                  <a:pt x="0" y="5906689"/>
                </a:lnTo>
                <a:lnTo>
                  <a:pt x="0" y="0"/>
                </a:lnTo>
                <a:close/>
              </a:path>
            </a:pathLst>
          </a:custGeom>
          <a:blipFill>
            <a:blip r:embed="rId4"/>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Distribusi Topik Pada 20 Surat Pertama</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12 | Correlated Topic Model</a:t>
            </a:r>
          </a:p>
        </p:txBody>
      </p:sp>
      <p:sp>
        <p:nvSpPr>
          <p:cNvPr id="19" name="TextBox 19"/>
          <p:cNvSpPr txBox="1"/>
          <p:nvPr/>
        </p:nvSpPr>
        <p:spPr>
          <a:xfrm>
            <a:off x="9299426" y="3326131"/>
            <a:ext cx="7852040" cy="4563110"/>
          </a:xfrm>
          <a:prstGeom prst="rect">
            <a:avLst/>
          </a:prstGeom>
        </p:spPr>
        <p:txBody>
          <a:bodyPr lIns="0" tIns="0" rIns="0" bIns="0" rtlCol="0" anchor="t">
            <a:spAutoFit/>
          </a:bodyPr>
          <a:lstStyle/>
          <a:p>
            <a:pPr algn="just">
              <a:lnSpc>
                <a:spcPts val="3639"/>
              </a:lnSpc>
            </a:pPr>
            <a:r>
              <a:rPr lang="en-US" sz="2599" b="1">
                <a:solidFill>
                  <a:srgbClr val="000000"/>
                </a:solidFill>
                <a:latin typeface="Canva Sans Bold"/>
                <a:ea typeface="Canva Sans Bold"/>
                <a:cs typeface="Canva Sans Bold"/>
                <a:sym typeface="Canva Sans Bold"/>
              </a:rPr>
              <a:t>Secara umum, distribusi topik terlihat tidak merata, yang mengindikasikan bahwa setiap surat memiliki kecenderungan kuat terhadap topik tertentu. </a:t>
            </a:r>
          </a:p>
          <a:p>
            <a:pPr algn="just">
              <a:lnSpc>
                <a:spcPts val="3639"/>
              </a:lnSpc>
            </a:pPr>
            <a:endParaRPr lang="en-US" sz="2599" b="1">
              <a:solidFill>
                <a:srgbClr val="000000"/>
              </a:solidFill>
              <a:latin typeface="Canva Sans Bold"/>
              <a:ea typeface="Canva Sans Bold"/>
              <a:cs typeface="Canva Sans Bold"/>
              <a:sym typeface="Canva Sans Bold"/>
            </a:endParaRPr>
          </a:p>
          <a:p>
            <a:pPr algn="just">
              <a:lnSpc>
                <a:spcPts val="3639"/>
              </a:lnSpc>
            </a:pPr>
            <a:r>
              <a:rPr lang="en-US" sz="2599" b="1">
                <a:solidFill>
                  <a:srgbClr val="000000"/>
                </a:solidFill>
                <a:latin typeface="Canva Sans Bold"/>
                <a:ea typeface="Canva Sans Bold"/>
                <a:cs typeface="Canva Sans Bold"/>
                <a:sym typeface="Canva Sans Bold"/>
              </a:rPr>
              <a:t>Beberapa topik seperti Topik 12 dan 13 tampak memiliki nilai yang relatif tinggi dan konsisten di banyak surat (misalnya mencapai kisaran 0.15–0.26), sehingga dapat diasumsikan sebagai topik dominan global dalam korpus 20 surat pertama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5715617" y="3097965"/>
          <a:ext cx="16230600" cy="4360949"/>
        </p:xfrm>
        <a:graphic>
          <a:graphicData uri="http://schemas.openxmlformats.org/presentationml/2006/ole">
            <mc:AlternateContent xmlns:mc="http://schemas.openxmlformats.org/markup-compatibility/2006">
              <mc:Choice xmlns:v="urn:schemas-microsoft-com:vml" Requires="v">
                <p:oleObj name="Worksheet" r:id="rId4" imgW="19469100" imgH="7607300" progId="Excel.Sheet.12">
                  <p:embed/>
                </p:oleObj>
              </mc:Choice>
              <mc:Fallback>
                <p:oleObj name="Worksheet" r:id="rId4" imgW="19469100" imgH="7607300" progId="Excel.Sheet.12">
                  <p:embed/>
                  <p:pic>
                    <p:nvPicPr>
                      <p:cNvPr id="0" name=""/>
                      <p:cNvPicPr/>
                      <p:nvPr/>
                    </p:nvPicPr>
                    <p:blipFill>
                      <a:blip r:embed="rId5"/>
                      <a:stretch>
                        <a:fillRect/>
                      </a:stretch>
                    </p:blipFill>
                    <p:spPr>
                      <a:xfrm>
                        <a:off x="5715617" y="3097965"/>
                        <a:ext cx="16230600" cy="4360949"/>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Uji Parameter Jumlah</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13 | BERTopic Model</a:t>
            </a:r>
          </a:p>
        </p:txBody>
      </p:sp>
      <p:grpSp>
        <p:nvGrpSpPr>
          <p:cNvPr id="19" name="Group 19"/>
          <p:cNvGrpSpPr/>
          <p:nvPr/>
        </p:nvGrpSpPr>
        <p:grpSpPr>
          <a:xfrm>
            <a:off x="794026" y="3067588"/>
            <a:ext cx="4744620" cy="1828038"/>
            <a:chOff x="0" y="0"/>
            <a:chExt cx="3213566" cy="1238144"/>
          </a:xfrm>
        </p:grpSpPr>
        <p:sp>
          <p:nvSpPr>
            <p:cNvPr id="20" name="Freeform 20"/>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1800AD"/>
              </a:solidFill>
              <a:prstDash val="solid"/>
              <a:round/>
            </a:ln>
          </p:spPr>
        </p:sp>
        <p:sp>
          <p:nvSpPr>
            <p:cNvPr id="21" name="TextBox 21"/>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206889" y="3214009"/>
            <a:ext cx="4275272" cy="129666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Topic size 25 </a:t>
            </a:r>
          </a:p>
          <a:p>
            <a:pPr algn="ctr">
              <a:lnSpc>
                <a:spcPts val="3256"/>
              </a:lnSpc>
            </a:pPr>
            <a:r>
              <a:rPr lang="en-US" sz="2325" b="1">
                <a:solidFill>
                  <a:srgbClr val="000000"/>
                </a:solidFill>
                <a:latin typeface="Canva Sans Bold"/>
                <a:ea typeface="Canva Sans Bold"/>
                <a:cs typeface="Canva Sans Bold"/>
                <a:sym typeface="Canva Sans Bold"/>
              </a:rPr>
              <a:t>(keseimbangan terbaik)</a:t>
            </a:r>
          </a:p>
          <a:p>
            <a:pPr algn="ctr">
              <a:lnSpc>
                <a:spcPts val="3953"/>
              </a:lnSpc>
            </a:pPr>
            <a:r>
              <a:rPr lang="en-US" sz="2824" b="1">
                <a:solidFill>
                  <a:srgbClr val="000000"/>
                </a:solidFill>
                <a:latin typeface="Canva Sans Bold"/>
                <a:ea typeface="Canva Sans Bold"/>
                <a:cs typeface="Canva Sans Bold"/>
                <a:sym typeface="Canva Sans Bold"/>
              </a:rPr>
              <a:t>Final Score 0.87 </a:t>
            </a:r>
          </a:p>
        </p:txBody>
      </p:sp>
      <p:grpSp>
        <p:nvGrpSpPr>
          <p:cNvPr id="23" name="Group 23"/>
          <p:cNvGrpSpPr/>
          <p:nvPr/>
        </p:nvGrpSpPr>
        <p:grpSpPr>
          <a:xfrm>
            <a:off x="737541" y="5043560"/>
            <a:ext cx="4744620" cy="1828038"/>
            <a:chOff x="0" y="0"/>
            <a:chExt cx="3213566" cy="1238144"/>
          </a:xfrm>
        </p:grpSpPr>
        <p:sp>
          <p:nvSpPr>
            <p:cNvPr id="24" name="Freeform 24"/>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1028700" y="5095875"/>
            <a:ext cx="4275272" cy="261111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C_v = 0.5735</a:t>
            </a:r>
          </a:p>
          <a:p>
            <a:pPr algn="ctr">
              <a:lnSpc>
                <a:spcPts val="3256"/>
              </a:lnSpc>
            </a:pPr>
            <a:r>
              <a:rPr lang="en-US" sz="2325" b="1">
                <a:solidFill>
                  <a:srgbClr val="CF4119"/>
                </a:solidFill>
                <a:latin typeface="Canva Sans Bold"/>
                <a:ea typeface="Canva Sans Bold"/>
                <a:cs typeface="Canva Sans Bold"/>
                <a:sym typeface="Canva Sans Bold"/>
              </a:rPr>
              <a:t>NPMI = 0.0530 </a:t>
            </a:r>
          </a:p>
          <a:p>
            <a:pPr algn="ctr">
              <a:lnSpc>
                <a:spcPts val="3256"/>
              </a:lnSpc>
            </a:pPr>
            <a:r>
              <a:rPr lang="en-US" sz="2325" b="1">
                <a:solidFill>
                  <a:srgbClr val="CF4119"/>
                </a:solidFill>
                <a:latin typeface="Canva Sans Bold"/>
                <a:ea typeface="Canva Sans Bold"/>
                <a:cs typeface="Canva Sans Bold"/>
                <a:sym typeface="Canva Sans Bold"/>
              </a:rPr>
              <a:t>UMass yang paling mendekati nol (-5.3257)</a:t>
            </a:r>
          </a:p>
          <a:p>
            <a:pPr algn="ctr">
              <a:lnSpc>
                <a:spcPts val="3953"/>
              </a:lnSpc>
            </a:pPr>
            <a:endParaRPr lang="en-US" sz="2325" b="1">
              <a:solidFill>
                <a:srgbClr val="CF4119"/>
              </a:solidFill>
              <a:latin typeface="Canva Sans Bold"/>
              <a:ea typeface="Canva Sans Bold"/>
              <a:cs typeface="Canva Sans Bold"/>
              <a:sym typeface="Canva Sans Bold"/>
            </a:endParaRPr>
          </a:p>
          <a:p>
            <a:pPr algn="ctr">
              <a:lnSpc>
                <a:spcPts val="3953"/>
              </a:lnSpc>
            </a:pPr>
            <a:endParaRPr lang="en-US" sz="2325" b="1">
              <a:solidFill>
                <a:srgbClr val="CF4119"/>
              </a:solidFill>
              <a:latin typeface="Canva Sans Bold"/>
              <a:ea typeface="Canva Sans Bold"/>
              <a:cs typeface="Canva Sans Bold"/>
              <a:sym typeface="Canva Sans Bo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42846" y="6414494"/>
            <a:ext cx="6258307" cy="2843806"/>
          </a:xfrm>
          <a:custGeom>
            <a:avLst/>
            <a:gdLst/>
            <a:ahLst/>
            <a:cxnLst/>
            <a:rect l="l" t="t" r="r" b="b"/>
            <a:pathLst>
              <a:path w="6258307" h="2843806">
                <a:moveTo>
                  <a:pt x="0" y="0"/>
                </a:moveTo>
                <a:lnTo>
                  <a:pt x="6258308" y="0"/>
                </a:lnTo>
                <a:lnTo>
                  <a:pt x="6258308" y="2843806"/>
                </a:lnTo>
                <a:lnTo>
                  <a:pt x="0" y="2843806"/>
                </a:lnTo>
                <a:lnTo>
                  <a:pt x="0" y="0"/>
                </a:lnTo>
                <a:close/>
              </a:path>
            </a:pathLst>
          </a:custGeom>
          <a:blipFill>
            <a:blip r:embed="rId4"/>
            <a:stretch>
              <a:fillRect/>
            </a:stretch>
          </a:blipFill>
        </p:spPr>
      </p:sp>
      <p:sp>
        <p:nvSpPr>
          <p:cNvPr id="17" name="Freeform 17"/>
          <p:cNvSpPr/>
          <p:nvPr/>
        </p:nvSpPr>
        <p:spPr>
          <a:xfrm>
            <a:off x="2691998" y="2954273"/>
            <a:ext cx="13295787" cy="2712302"/>
          </a:xfrm>
          <a:custGeom>
            <a:avLst/>
            <a:gdLst/>
            <a:ahLst/>
            <a:cxnLst/>
            <a:rect l="l" t="t" r="r" b="b"/>
            <a:pathLst>
              <a:path w="13295787" h="2712302">
                <a:moveTo>
                  <a:pt x="0" y="0"/>
                </a:moveTo>
                <a:lnTo>
                  <a:pt x="13295787" y="0"/>
                </a:lnTo>
                <a:lnTo>
                  <a:pt x="13295787" y="2712302"/>
                </a:lnTo>
                <a:lnTo>
                  <a:pt x="0" y="2712302"/>
                </a:lnTo>
                <a:lnTo>
                  <a:pt x="0" y="0"/>
                </a:lnTo>
                <a:close/>
              </a:path>
            </a:pathLst>
          </a:custGeom>
          <a:blipFill>
            <a:blip r:embed="rId5"/>
            <a:stretch>
              <a:fillRect t="-8824" b="-8824"/>
            </a:stretch>
          </a:blipFill>
        </p:spPr>
      </p:sp>
      <p:sp>
        <p:nvSpPr>
          <p:cNvPr id="18" name="TextBox 1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9" name="TextBox 1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14 | BERTopic Model</a:t>
            </a:r>
          </a:p>
        </p:txBody>
      </p:sp>
      <p:sp>
        <p:nvSpPr>
          <p:cNvPr id="20" name="TextBox 20"/>
          <p:cNvSpPr txBox="1"/>
          <p:nvPr/>
        </p:nvSpPr>
        <p:spPr>
          <a:xfrm>
            <a:off x="2691998" y="6548957"/>
            <a:ext cx="3985545" cy="632877"/>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Parameter Optimal BERTopic</a:t>
            </a:r>
          </a:p>
          <a:p>
            <a:pPr algn="ctr">
              <a:lnSpc>
                <a:spcPts val="2327"/>
              </a:lnSpc>
            </a:pPr>
            <a:endParaRPr lang="en-US" sz="1994" b="1">
              <a:solidFill>
                <a:srgbClr val="FEFCFB"/>
              </a:solidFill>
              <a:latin typeface="Canva Sans Bold"/>
              <a:ea typeface="Canva Sans Bold"/>
              <a:cs typeface="Canva Sans Bold"/>
              <a:sym typeface="Canva Sans Bold"/>
            </a:endParaRPr>
          </a:p>
        </p:txBody>
      </p:sp>
      <p:sp>
        <p:nvSpPr>
          <p:cNvPr id="21" name="TextBox 21"/>
          <p:cNvSpPr txBox="1"/>
          <p:nvPr/>
        </p:nvSpPr>
        <p:spPr>
          <a:xfrm>
            <a:off x="1659117" y="7143734"/>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Min Topic Size </a:t>
            </a:r>
          </a:p>
        </p:txBody>
      </p:sp>
      <p:sp>
        <p:nvSpPr>
          <p:cNvPr id="22" name="TextBox 22"/>
          <p:cNvSpPr txBox="1"/>
          <p:nvPr/>
        </p:nvSpPr>
        <p:spPr>
          <a:xfrm>
            <a:off x="4684770" y="7076275"/>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25</a:t>
            </a:r>
          </a:p>
        </p:txBody>
      </p:sp>
      <p:sp>
        <p:nvSpPr>
          <p:cNvPr id="23" name="TextBox 23"/>
          <p:cNvSpPr txBox="1"/>
          <p:nvPr/>
        </p:nvSpPr>
        <p:spPr>
          <a:xfrm>
            <a:off x="1819391" y="7649471"/>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Sentence Model</a:t>
            </a:r>
          </a:p>
        </p:txBody>
      </p:sp>
      <p:sp>
        <p:nvSpPr>
          <p:cNvPr id="24" name="TextBox 24"/>
          <p:cNvSpPr txBox="1"/>
          <p:nvPr/>
        </p:nvSpPr>
        <p:spPr>
          <a:xfrm>
            <a:off x="4803309" y="7623620"/>
            <a:ext cx="2519708" cy="685106"/>
          </a:xfrm>
          <a:prstGeom prst="rect">
            <a:avLst/>
          </a:prstGeom>
        </p:spPr>
        <p:txBody>
          <a:bodyPr lIns="0" tIns="0" rIns="0" bIns="0" rtlCol="0" anchor="t">
            <a:spAutoFit/>
          </a:bodyPr>
          <a:lstStyle/>
          <a:p>
            <a:pPr algn="ctr">
              <a:lnSpc>
                <a:spcPts val="1817"/>
              </a:lnSpc>
            </a:pPr>
            <a:r>
              <a:rPr lang="en-US" sz="1298" b="1">
                <a:solidFill>
                  <a:srgbClr val="FEFCFB"/>
                </a:solidFill>
                <a:latin typeface="Canva Sans Bold"/>
                <a:ea typeface="Canva Sans Bold"/>
                <a:cs typeface="Canva Sans Bold"/>
                <a:sym typeface="Canva Sans Bold"/>
              </a:rPr>
              <a:t>paraphrase-multilingual-MiniLM-L12paraphrase-multilingual-MiniLM-L12</a:t>
            </a:r>
          </a:p>
        </p:txBody>
      </p:sp>
      <p:sp>
        <p:nvSpPr>
          <p:cNvPr id="25" name="Freeform 25"/>
          <p:cNvSpPr/>
          <p:nvPr/>
        </p:nvSpPr>
        <p:spPr>
          <a:xfrm>
            <a:off x="8291704"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6" name="Freeform 26"/>
          <p:cNvSpPr/>
          <p:nvPr/>
        </p:nvSpPr>
        <p:spPr>
          <a:xfrm>
            <a:off x="11026306"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7" name="Freeform 27"/>
          <p:cNvSpPr/>
          <p:nvPr/>
        </p:nvSpPr>
        <p:spPr>
          <a:xfrm>
            <a:off x="13716000"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8" name="TextBox 28"/>
          <p:cNvSpPr txBox="1"/>
          <p:nvPr/>
        </p:nvSpPr>
        <p:spPr>
          <a:xfrm>
            <a:off x="8765702" y="6607703"/>
            <a:ext cx="148152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C_v Coherence</a:t>
            </a:r>
          </a:p>
        </p:txBody>
      </p:sp>
      <p:sp>
        <p:nvSpPr>
          <p:cNvPr id="29" name="TextBox 29"/>
          <p:cNvSpPr txBox="1"/>
          <p:nvPr/>
        </p:nvSpPr>
        <p:spPr>
          <a:xfrm>
            <a:off x="11632255" y="6607703"/>
            <a:ext cx="117271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NPMI Score</a:t>
            </a:r>
          </a:p>
        </p:txBody>
      </p:sp>
      <p:sp>
        <p:nvSpPr>
          <p:cNvPr id="30" name="TextBox 30"/>
          <p:cNvSpPr txBox="1"/>
          <p:nvPr/>
        </p:nvSpPr>
        <p:spPr>
          <a:xfrm>
            <a:off x="14257207" y="6558482"/>
            <a:ext cx="1347111"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Umass  Score</a:t>
            </a:r>
          </a:p>
        </p:txBody>
      </p:sp>
      <p:sp>
        <p:nvSpPr>
          <p:cNvPr id="31" name="TextBox 31"/>
          <p:cNvSpPr txBox="1"/>
          <p:nvPr/>
        </p:nvSpPr>
        <p:spPr>
          <a:xfrm>
            <a:off x="8649693" y="7040837"/>
            <a:ext cx="1713548"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0.5735</a:t>
            </a:r>
          </a:p>
        </p:txBody>
      </p:sp>
      <p:sp>
        <p:nvSpPr>
          <p:cNvPr id="32" name="TextBox 32"/>
          <p:cNvSpPr txBox="1"/>
          <p:nvPr/>
        </p:nvSpPr>
        <p:spPr>
          <a:xfrm>
            <a:off x="11417558" y="7141620"/>
            <a:ext cx="1854637"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0.0530</a:t>
            </a:r>
          </a:p>
        </p:txBody>
      </p:sp>
      <p:sp>
        <p:nvSpPr>
          <p:cNvPr id="33" name="TextBox 33"/>
          <p:cNvSpPr txBox="1"/>
          <p:nvPr/>
        </p:nvSpPr>
        <p:spPr>
          <a:xfrm>
            <a:off x="14039713" y="7141620"/>
            <a:ext cx="1867972"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-5.3257</a:t>
            </a:r>
          </a:p>
        </p:txBody>
      </p:sp>
      <p:sp>
        <p:nvSpPr>
          <p:cNvPr id="34" name="TextBox 34"/>
          <p:cNvSpPr txBox="1"/>
          <p:nvPr/>
        </p:nvSpPr>
        <p:spPr>
          <a:xfrm>
            <a:off x="8563607" y="8019331"/>
            <a:ext cx="1885718"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topik yang dihasilkan memiliki tingkat koherensi yang cukup baik.</a:t>
            </a:r>
          </a:p>
        </p:txBody>
      </p:sp>
      <p:sp>
        <p:nvSpPr>
          <p:cNvPr id="35" name="TextBox 35"/>
          <p:cNvSpPr txBox="1"/>
          <p:nvPr/>
        </p:nvSpPr>
        <p:spPr>
          <a:xfrm>
            <a:off x="11310199" y="8019331"/>
            <a:ext cx="2069355" cy="11316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bernilai positif menunjukkan bahwa terdapat asosiasi statistik yang bermakna antar kata dalam topik</a:t>
            </a:r>
          </a:p>
        </p:txBody>
      </p:sp>
      <p:sp>
        <p:nvSpPr>
          <p:cNvPr id="36" name="TextBox 36"/>
          <p:cNvSpPr txBox="1"/>
          <p:nvPr/>
        </p:nvSpPr>
        <p:spPr>
          <a:xfrm>
            <a:off x="13896085" y="8132981"/>
            <a:ext cx="2069355"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bahwa model memiliki konsistensi probabilistik yang baik terhadap distribusi dokumen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2435555" y="2911642"/>
            <a:ext cx="7197292" cy="6310018"/>
          </a:xfrm>
          <a:custGeom>
            <a:avLst/>
            <a:gdLst/>
            <a:ahLst/>
            <a:cxnLst/>
            <a:rect l="l" t="t" r="r" b="b"/>
            <a:pathLst>
              <a:path w="7197292" h="6310018">
                <a:moveTo>
                  <a:pt x="0" y="0"/>
                </a:moveTo>
                <a:lnTo>
                  <a:pt x="7197291" y="0"/>
                </a:lnTo>
                <a:lnTo>
                  <a:pt x="7197291" y="6310018"/>
                </a:lnTo>
                <a:lnTo>
                  <a:pt x="0" y="6310018"/>
                </a:lnTo>
                <a:lnTo>
                  <a:pt x="0" y="0"/>
                </a:lnTo>
                <a:close/>
              </a:path>
            </a:pathLst>
          </a:custGeom>
          <a:blipFill>
            <a:blip r:embed="rId3"/>
            <a:stretch>
              <a:fillRect r="-5966"/>
            </a:stretch>
          </a:blipFill>
        </p:spPr>
      </p:sp>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Grafik Topic Word Scores</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15 | BERTopic Model</a:t>
            </a:r>
          </a:p>
        </p:txBody>
      </p:sp>
      <p:sp>
        <p:nvSpPr>
          <p:cNvPr id="18" name="TextBox 18"/>
          <p:cNvSpPr txBox="1"/>
          <p:nvPr/>
        </p:nvSpPr>
        <p:spPr>
          <a:xfrm>
            <a:off x="10945284" y="4693571"/>
            <a:ext cx="6022255" cy="2601234"/>
          </a:xfrm>
          <a:prstGeom prst="rect">
            <a:avLst/>
          </a:prstGeom>
        </p:spPr>
        <p:txBody>
          <a:bodyPr lIns="0" tIns="0" rIns="0" bIns="0" rtlCol="0" anchor="t">
            <a:spAutoFit/>
          </a:bodyPr>
          <a:lstStyle/>
          <a:p>
            <a:pPr algn="ctr">
              <a:lnSpc>
                <a:spcPts val="4149"/>
              </a:lnSpc>
            </a:pPr>
            <a:r>
              <a:rPr lang="en-US" sz="2964" b="1">
                <a:solidFill>
                  <a:srgbClr val="000000"/>
                </a:solidFill>
                <a:latin typeface="Canva Sans Bold"/>
                <a:ea typeface="Canva Sans Bold"/>
                <a:cs typeface="Canva Sans Bold"/>
                <a:sym typeface="Canva Sans Bold"/>
              </a:rPr>
              <a:t>Grafik Topic Word Scores secara khusus fungsi menampilkan topik berdasarkan tingkat dominansi atau frekuensi kemunculannya dalam dokumen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830232" y="2659237"/>
          <a:ext cx="6686550" cy="8229600"/>
        </p:xfrm>
        <a:graphic>
          <a:graphicData uri="http://schemas.openxmlformats.org/presentationml/2006/ole">
            <mc:AlternateContent xmlns:mc="http://schemas.openxmlformats.org/markup-compatibility/2006">
              <mc:Choice xmlns:v="urn:schemas-microsoft-com:vml" Requires="v">
                <p:oleObj name="Worksheet" r:id="rId3" imgW="8331200" imgH="9867900" progId="Excel.Sheet.12">
                  <p:embed/>
                </p:oleObj>
              </mc:Choice>
              <mc:Fallback>
                <p:oleObj name="Worksheet" r:id="rId3" imgW="8331200" imgH="9867900" progId="Excel.Sheet.12">
                  <p:embed/>
                  <p:pic>
                    <p:nvPicPr>
                      <p:cNvPr id="0" name=""/>
                      <p:cNvPicPr/>
                      <p:nvPr/>
                    </p:nvPicPr>
                    <p:blipFill>
                      <a:blip r:embed="rId4"/>
                      <a:stretch>
                        <a:fillRect/>
                      </a:stretch>
                    </p:blipFill>
                    <p:spPr>
                      <a:xfrm>
                        <a:off x="1830232" y="2659237"/>
                        <a:ext cx="6686550" cy="8229600"/>
                      </a:xfrm>
                      <a:prstGeom prst="rect">
                        <a:avLst/>
                      </a:prstGeom>
                    </p:spPr>
                  </p:pic>
                </p:oleObj>
              </mc:Fallback>
            </mc:AlternateContent>
          </a:graphicData>
        </a:graphic>
      </p:graphicFrame>
      <p:graphicFrame>
        <p:nvGraphicFramePr>
          <p:cNvPr id="16" name="Object 16"/>
          <p:cNvGraphicFramePr/>
          <p:nvPr/>
        </p:nvGraphicFramePr>
        <p:xfrm>
          <a:off x="9800719" y="2659237"/>
          <a:ext cx="7243762" cy="7738110"/>
        </p:xfrm>
        <a:graphic>
          <a:graphicData uri="http://schemas.openxmlformats.org/presentationml/2006/ole">
            <mc:AlternateContent xmlns:mc="http://schemas.openxmlformats.org/markup-compatibility/2006">
              <mc:Choice xmlns:v="urn:schemas-microsoft-com:vml" Requires="v">
                <p:oleObj name="Worksheet" r:id="rId5" imgW="8788400" imgH="9283700" progId="Excel.Sheet.12">
                  <p:embed/>
                </p:oleObj>
              </mc:Choice>
              <mc:Fallback>
                <p:oleObj name="Worksheet" r:id="rId5" imgW="8788400" imgH="9283700" progId="Excel.Sheet.12">
                  <p:embed/>
                  <p:pic>
                    <p:nvPicPr>
                      <p:cNvPr id="0" name=""/>
                      <p:cNvPicPr/>
                      <p:nvPr/>
                    </p:nvPicPr>
                    <p:blipFill>
                      <a:blip r:embed="rId6"/>
                      <a:stretch>
                        <a:fillRect/>
                      </a:stretch>
                    </p:blipFill>
                    <p:spPr>
                      <a:xfrm>
                        <a:off x="9800719" y="2659237"/>
                        <a:ext cx="7243762" cy="773811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16 | BERTopic Model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950119" y="2805886"/>
          <a:ext cx="7243762" cy="7463790"/>
        </p:xfrm>
        <a:graphic>
          <a:graphicData uri="http://schemas.openxmlformats.org/presentationml/2006/ole">
            <mc:AlternateContent xmlns:mc="http://schemas.openxmlformats.org/markup-compatibility/2006">
              <mc:Choice xmlns:v="urn:schemas-microsoft-com:vml" Requires="v">
                <p:oleObj name="Worksheet" r:id="rId3" imgW="8724900" imgH="8953500" progId="Excel.Sheet.12">
                  <p:embed/>
                </p:oleObj>
              </mc:Choice>
              <mc:Fallback>
                <p:oleObj name="Worksheet" r:id="rId3" imgW="8724900" imgH="8953500" progId="Excel.Sheet.12">
                  <p:embed/>
                  <p:pic>
                    <p:nvPicPr>
                      <p:cNvPr id="0" name=""/>
                      <p:cNvPicPr/>
                      <p:nvPr/>
                    </p:nvPicPr>
                    <p:blipFill>
                      <a:blip r:embed="rId4"/>
                      <a:stretch>
                        <a:fillRect/>
                      </a:stretch>
                    </p:blipFill>
                    <p:spPr>
                      <a:xfrm>
                        <a:off x="950119" y="2805886"/>
                        <a:ext cx="7243762" cy="7463790"/>
                      </a:xfrm>
                      <a:prstGeom prst="rect">
                        <a:avLst/>
                      </a:prstGeom>
                    </p:spPr>
                  </p:pic>
                </p:oleObj>
              </mc:Fallback>
            </mc:AlternateContent>
          </a:graphicData>
        </a:graphic>
      </p:graphicFrame>
      <p:graphicFrame>
        <p:nvGraphicFramePr>
          <p:cNvPr id="16" name="Object 16"/>
          <p:cNvGraphicFramePr/>
          <p:nvPr/>
        </p:nvGraphicFramePr>
        <p:xfrm>
          <a:off x="9405519" y="2805886"/>
          <a:ext cx="7243762" cy="7463790"/>
        </p:xfrm>
        <a:graphic>
          <a:graphicData uri="http://schemas.openxmlformats.org/presentationml/2006/ole">
            <mc:AlternateContent xmlns:mc="http://schemas.openxmlformats.org/markup-compatibility/2006">
              <mc:Choice xmlns:v="urn:schemas-microsoft-com:vml" Requires="v">
                <p:oleObj name="Worksheet" r:id="rId5" imgW="8724900" imgH="8953500" progId="Excel.Sheet.12">
                  <p:embed/>
                </p:oleObj>
              </mc:Choice>
              <mc:Fallback>
                <p:oleObj name="Worksheet" r:id="rId5" imgW="8724900" imgH="8953500" progId="Excel.Sheet.12">
                  <p:embed/>
                  <p:pic>
                    <p:nvPicPr>
                      <p:cNvPr id="0" name=""/>
                      <p:cNvPicPr/>
                      <p:nvPr/>
                    </p:nvPicPr>
                    <p:blipFill>
                      <a:blip r:embed="rId6"/>
                      <a:stretch>
                        <a:fillRect/>
                      </a:stretch>
                    </p:blipFill>
                    <p:spPr>
                      <a:xfrm>
                        <a:off x="9405519" y="2805886"/>
                        <a:ext cx="7243762" cy="746379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17 | BERTopic 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190016" y="2911642"/>
          <a:ext cx="7243762" cy="7658100"/>
        </p:xfrm>
        <a:graphic>
          <a:graphicData uri="http://schemas.openxmlformats.org/presentationml/2006/ole">
            <mc:AlternateContent xmlns:mc="http://schemas.openxmlformats.org/markup-compatibility/2006">
              <mc:Choice xmlns:v="urn:schemas-microsoft-com:vml" Requires="v">
                <p:oleObj name="Worksheet" r:id="rId3" imgW="8763000" imgH="9182100" progId="Excel.Sheet.12">
                  <p:embed/>
                </p:oleObj>
              </mc:Choice>
              <mc:Fallback>
                <p:oleObj name="Worksheet" r:id="rId3" imgW="8763000" imgH="9182100" progId="Excel.Sheet.12">
                  <p:embed/>
                  <p:pic>
                    <p:nvPicPr>
                      <p:cNvPr id="0" name=""/>
                      <p:cNvPicPr/>
                      <p:nvPr/>
                    </p:nvPicPr>
                    <p:blipFill>
                      <a:blip r:embed="rId4"/>
                      <a:stretch>
                        <a:fillRect/>
                      </a:stretch>
                    </p:blipFill>
                    <p:spPr>
                      <a:xfrm>
                        <a:off x="1190016" y="2911642"/>
                        <a:ext cx="7243762" cy="7658100"/>
                      </a:xfrm>
                      <a:prstGeom prst="rect">
                        <a:avLst/>
                      </a:prstGeom>
                    </p:spPr>
                  </p:pic>
                </p:oleObj>
              </mc:Fallback>
            </mc:AlternateContent>
          </a:graphicData>
        </a:graphic>
      </p:graphicFrame>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18 | BERTopic Model</a:t>
            </a:r>
          </a:p>
        </p:txBody>
      </p:sp>
      <p:grpSp>
        <p:nvGrpSpPr>
          <p:cNvPr id="18" name="Group 18"/>
          <p:cNvGrpSpPr/>
          <p:nvPr/>
        </p:nvGrpSpPr>
        <p:grpSpPr>
          <a:xfrm>
            <a:off x="8813294" y="3685979"/>
            <a:ext cx="8446006" cy="4243868"/>
            <a:chOff x="0" y="0"/>
            <a:chExt cx="5720543" cy="2874403"/>
          </a:xfrm>
        </p:grpSpPr>
        <p:sp>
          <p:nvSpPr>
            <p:cNvPr id="19" name="Freeform 19"/>
            <p:cNvSpPr/>
            <p:nvPr/>
          </p:nvSpPr>
          <p:spPr>
            <a:xfrm>
              <a:off x="0" y="0"/>
              <a:ext cx="5720543" cy="2874403"/>
            </a:xfrm>
            <a:custGeom>
              <a:avLst/>
              <a:gdLst/>
              <a:ahLst/>
              <a:cxnLst/>
              <a:rect l="l" t="t" r="r" b="b"/>
              <a:pathLst>
                <a:path w="5720543" h="2874403">
                  <a:moveTo>
                    <a:pt x="23833" y="0"/>
                  </a:moveTo>
                  <a:lnTo>
                    <a:pt x="5696710" y="0"/>
                  </a:lnTo>
                  <a:cubicBezTo>
                    <a:pt x="5709872" y="0"/>
                    <a:pt x="5720543" y="10670"/>
                    <a:pt x="5720543" y="23833"/>
                  </a:cubicBezTo>
                  <a:lnTo>
                    <a:pt x="5720543" y="2850571"/>
                  </a:lnTo>
                  <a:cubicBezTo>
                    <a:pt x="5720543" y="2863733"/>
                    <a:pt x="5709872" y="2874403"/>
                    <a:pt x="5696710" y="2874403"/>
                  </a:cubicBezTo>
                  <a:lnTo>
                    <a:pt x="23833" y="2874403"/>
                  </a:lnTo>
                  <a:cubicBezTo>
                    <a:pt x="10670" y="2874403"/>
                    <a:pt x="0" y="2863733"/>
                    <a:pt x="0" y="2850571"/>
                  </a:cubicBezTo>
                  <a:lnTo>
                    <a:pt x="0" y="23833"/>
                  </a:lnTo>
                  <a:cubicBezTo>
                    <a:pt x="0" y="10670"/>
                    <a:pt x="10670" y="0"/>
                    <a:pt x="23833" y="0"/>
                  </a:cubicBezTo>
                  <a:close/>
                </a:path>
              </a:pathLst>
            </a:custGeom>
            <a:solidFill>
              <a:srgbClr val="FFFFFF"/>
            </a:solidFill>
            <a:ln w="38100" cap="rnd">
              <a:solidFill>
                <a:srgbClr val="FF751F"/>
              </a:solidFill>
              <a:prstDash val="solid"/>
              <a:round/>
            </a:ln>
          </p:spPr>
        </p:sp>
        <p:sp>
          <p:nvSpPr>
            <p:cNvPr id="20" name="TextBox 20"/>
            <p:cNvSpPr txBox="1"/>
            <p:nvPr/>
          </p:nvSpPr>
          <p:spPr>
            <a:xfrm>
              <a:off x="0" y="-47625"/>
              <a:ext cx="5720543" cy="2922028"/>
            </a:xfrm>
            <a:prstGeom prst="rect">
              <a:avLst/>
            </a:prstGeom>
          </p:spPr>
          <p:txBody>
            <a:bodyPr lIns="19754" tIns="19754" rIns="19754" bIns="19754" rtlCol="0" anchor="ctr"/>
            <a:lstStyle/>
            <a:p>
              <a:pPr algn="ctr">
                <a:lnSpc>
                  <a:spcPts val="2659"/>
                </a:lnSpc>
              </a:pPr>
              <a:endParaRPr/>
            </a:p>
          </p:txBody>
        </p:sp>
      </p:grpSp>
      <p:sp>
        <p:nvSpPr>
          <p:cNvPr id="21" name="TextBox 21"/>
          <p:cNvSpPr txBox="1"/>
          <p:nvPr/>
        </p:nvSpPr>
        <p:spPr>
          <a:xfrm>
            <a:off x="9032564" y="3970186"/>
            <a:ext cx="8007466" cy="3714749"/>
          </a:xfrm>
          <a:prstGeom prst="rect">
            <a:avLst/>
          </a:prstGeom>
        </p:spPr>
        <p:txBody>
          <a:bodyPr lIns="0" tIns="0" rIns="0" bIns="0" rtlCol="0" anchor="t">
            <a:spAutoFit/>
          </a:bodyPr>
          <a:lstStyle/>
          <a:p>
            <a:pPr algn="ctr">
              <a:lnSpc>
                <a:spcPts val="4200"/>
              </a:lnSpc>
            </a:pPr>
            <a:r>
              <a:rPr lang="en-US" sz="3000" b="1">
                <a:solidFill>
                  <a:srgbClr val="000000"/>
                </a:solidFill>
                <a:latin typeface="Canva Sans Bold"/>
                <a:ea typeface="Canva Sans Bold"/>
                <a:cs typeface="Canva Sans Bold"/>
                <a:sym typeface="Canva Sans Bold"/>
              </a:rPr>
              <a:t>Topik-topik yang dihasilkan memiliki koherensi semantik yang jelas dan mencerminkan tema-tema seperti ketuhanan, kenabian, keimanan, akhlak, eskatologi (hari kiamat, surga, dan neraka), ilmu pengetahuan (science), sosial, dan hukum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180455"/>
            <a:ext cx="16230600" cy="137058"/>
            <a:chOff x="0" y="0"/>
            <a:chExt cx="21640800" cy="182743"/>
          </a:xfrm>
        </p:grpSpPr>
        <p:grpSp>
          <p:nvGrpSpPr>
            <p:cNvPr id="6" name="Group 6"/>
            <p:cNvGrpSpPr/>
            <p:nvPr/>
          </p:nvGrpSpPr>
          <p:grpSpPr>
            <a:xfrm>
              <a:off x="0" y="0"/>
              <a:ext cx="10820400" cy="182743"/>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820400" y="0"/>
              <a:ext cx="10820400" cy="182743"/>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484431996"/>
              </p:ext>
            </p:extLst>
          </p:nvPr>
        </p:nvGraphicFramePr>
        <p:xfrm>
          <a:off x="2133600" y="2422809"/>
          <a:ext cx="14773275" cy="7543800"/>
        </p:xfrm>
        <a:graphic>
          <a:graphicData uri="http://schemas.openxmlformats.org/presentationml/2006/ole">
            <mc:AlternateContent xmlns:mc="http://schemas.openxmlformats.org/markup-compatibility/2006">
              <mc:Choice xmlns:v="urn:schemas-microsoft-com:vml" Requires="v">
                <p:oleObj name="Worksheet" r:id="rId3" imgW="17716500" imgH="10490200" progId="Excel.Sheet.12">
                  <p:embed/>
                </p:oleObj>
              </mc:Choice>
              <mc:Fallback>
                <p:oleObj name="Worksheet" r:id="rId3" imgW="17716500" imgH="10490200" progId="Excel.Sheet.12">
                  <p:embed/>
                  <p:pic>
                    <p:nvPicPr>
                      <p:cNvPr id="0" name=""/>
                      <p:cNvPicPr/>
                      <p:nvPr/>
                    </p:nvPicPr>
                    <p:blipFill>
                      <a:blip r:embed="rId4"/>
                      <a:stretch>
                        <a:fillRect/>
                      </a:stretch>
                    </p:blipFill>
                    <p:spPr>
                      <a:xfrm>
                        <a:off x="2133600" y="2422809"/>
                        <a:ext cx="14773275" cy="7543800"/>
                      </a:xfrm>
                      <a:prstGeom prst="rect">
                        <a:avLst/>
                      </a:prstGeom>
                    </p:spPr>
                  </p:pic>
                </p:oleObj>
              </mc:Fallback>
            </mc:AlternateContent>
          </a:graphicData>
        </a:graphic>
      </p:graphicFrame>
      <p:sp>
        <p:nvSpPr>
          <p:cNvPr id="17" name="TextBox 17"/>
          <p:cNvSpPr txBox="1"/>
          <p:nvPr/>
        </p:nvSpPr>
        <p:spPr>
          <a:xfrm>
            <a:off x="1028700" y="1219912"/>
            <a:ext cx="15290653" cy="862867"/>
          </a:xfrm>
          <a:prstGeom prst="rect">
            <a:avLst/>
          </a:prstGeom>
        </p:spPr>
        <p:txBody>
          <a:bodyPr lIns="0" tIns="0" rIns="0" bIns="0" rtlCol="0" anchor="t">
            <a:spAutoFit/>
          </a:bodyPr>
          <a:lstStyle/>
          <a:p>
            <a:pPr algn="l">
              <a:lnSpc>
                <a:spcPts val="7040"/>
              </a:lnSpc>
              <a:spcBef>
                <a:spcPct val="0"/>
              </a:spcBef>
            </a:pPr>
            <a:r>
              <a:rPr lang="en-US" sz="5028" b="1">
                <a:solidFill>
                  <a:srgbClr val="1800AD"/>
                </a:solidFill>
                <a:latin typeface="Archivo Narrow Bold"/>
                <a:ea typeface="Archivo Narrow Bold"/>
                <a:cs typeface="Archivo Narrow Bold"/>
                <a:sym typeface="Archivo Narrow Bold"/>
              </a:rPr>
              <a:t>Penggabungan hasil topik model CTM dan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19 | BERTopic Model</a:t>
            </a:r>
          </a:p>
        </p:txBody>
      </p:sp>
      <p:sp>
        <p:nvSpPr>
          <p:cNvPr id="19" name="TextBox 19"/>
          <p:cNvSpPr txBox="1"/>
          <p:nvPr/>
        </p:nvSpPr>
        <p:spPr>
          <a:xfrm>
            <a:off x="6540484" y="2520485"/>
            <a:ext cx="4267084" cy="505508"/>
          </a:xfrm>
          <a:prstGeom prst="rect">
            <a:avLst/>
          </a:prstGeom>
        </p:spPr>
        <p:txBody>
          <a:bodyPr lIns="0" tIns="0" rIns="0" bIns="0" rtlCol="0" anchor="t">
            <a:spAutoFit/>
          </a:bodyPr>
          <a:lstStyle/>
          <a:p>
            <a:pPr algn="ctr">
              <a:lnSpc>
                <a:spcPts val="4162"/>
              </a:lnSpc>
            </a:pPr>
            <a:r>
              <a:rPr lang="en-US" sz="2973" b="1" dirty="0">
                <a:solidFill>
                  <a:srgbClr val="000000"/>
                </a:solidFill>
                <a:latin typeface="Canva Sans Bold"/>
                <a:ea typeface="Canva Sans Bold"/>
                <a:cs typeface="Canva Sans Bold"/>
                <a:sym typeface="Canva Sans Bold"/>
              </a:rPr>
              <a:t>Jaccard similarity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2389763" y="2892592"/>
          <a:ext cx="7185280" cy="8229600"/>
        </p:xfrm>
        <a:graphic>
          <a:graphicData uri="http://schemas.openxmlformats.org/presentationml/2006/ole">
            <mc:AlternateContent xmlns:mc="http://schemas.openxmlformats.org/markup-compatibility/2006">
              <mc:Choice xmlns:v="urn:schemas-microsoft-com:vml" Requires="v">
                <p:oleObj name="Worksheet" r:id="rId4" imgW="8826500" imgH="9867900" progId="Excel.Sheet.12">
                  <p:embed/>
                </p:oleObj>
              </mc:Choice>
              <mc:Fallback>
                <p:oleObj name="Worksheet" r:id="rId4" imgW="8826500" imgH="9867900" progId="Excel.Sheet.12">
                  <p:embed/>
                  <p:pic>
                    <p:nvPicPr>
                      <p:cNvPr id="0" name=""/>
                      <p:cNvPicPr/>
                      <p:nvPr/>
                    </p:nvPicPr>
                    <p:blipFill>
                      <a:blip r:embed="rId5"/>
                      <a:stretch>
                        <a:fillRect/>
                      </a:stretch>
                    </p:blipFill>
                    <p:spPr>
                      <a:xfrm>
                        <a:off x="2389763" y="2892592"/>
                        <a:ext cx="7185280" cy="8229600"/>
                      </a:xfrm>
                      <a:prstGeom prst="rect">
                        <a:avLst/>
                      </a:prstGeom>
                    </p:spPr>
                  </p:pic>
                </p:oleObj>
              </mc:Fallback>
            </mc:AlternateContent>
          </a:graphicData>
        </a:graphic>
      </p:graphicFrame>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20 | Correlated Topic Model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5434946" y="547167"/>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28700" y="3000781"/>
            <a:ext cx="8458954" cy="4416150"/>
          </a:xfrm>
          <a:custGeom>
            <a:avLst/>
            <a:gdLst/>
            <a:ahLst/>
            <a:cxnLst/>
            <a:rect l="l" t="t" r="r" b="b"/>
            <a:pathLst>
              <a:path w="8458954" h="4416150">
                <a:moveTo>
                  <a:pt x="0" y="0"/>
                </a:moveTo>
                <a:lnTo>
                  <a:pt x="8458954" y="0"/>
                </a:lnTo>
                <a:lnTo>
                  <a:pt x="8458954" y="4416150"/>
                </a:lnTo>
                <a:lnTo>
                  <a:pt x="0" y="4416150"/>
                </a:lnTo>
                <a:lnTo>
                  <a:pt x="0" y="0"/>
                </a:lnTo>
                <a:close/>
              </a:path>
            </a:pathLst>
          </a:custGeom>
          <a:blipFill>
            <a:blip r:embed="rId4"/>
            <a:stretch>
              <a:fillRect/>
            </a:stretch>
          </a:blipFill>
        </p:spPr>
      </p:sp>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dirty="0">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21 | Correlated Topic Model</a:t>
            </a:r>
          </a:p>
        </p:txBody>
      </p:sp>
      <p:grpSp>
        <p:nvGrpSpPr>
          <p:cNvPr id="19" name="Group 19"/>
          <p:cNvGrpSpPr/>
          <p:nvPr/>
        </p:nvGrpSpPr>
        <p:grpSpPr>
          <a:xfrm>
            <a:off x="9792944" y="3685979"/>
            <a:ext cx="7466356" cy="2574010"/>
            <a:chOff x="0" y="0"/>
            <a:chExt cx="5057019" cy="1743396"/>
          </a:xfrm>
        </p:grpSpPr>
        <p:sp>
          <p:nvSpPr>
            <p:cNvPr id="20" name="Freeform 20"/>
            <p:cNvSpPr/>
            <p:nvPr/>
          </p:nvSpPr>
          <p:spPr>
            <a:xfrm>
              <a:off x="0" y="0"/>
              <a:ext cx="5057019" cy="1743396"/>
            </a:xfrm>
            <a:custGeom>
              <a:avLst/>
              <a:gdLst/>
              <a:ahLst/>
              <a:cxnLst/>
              <a:rect l="l" t="t" r="r" b="b"/>
              <a:pathLst>
                <a:path w="5057019" h="1743396">
                  <a:moveTo>
                    <a:pt x="26960" y="0"/>
                  </a:moveTo>
                  <a:lnTo>
                    <a:pt x="5030059" y="0"/>
                  </a:lnTo>
                  <a:cubicBezTo>
                    <a:pt x="5037209" y="0"/>
                    <a:pt x="5044067" y="2840"/>
                    <a:pt x="5049122" y="7896"/>
                  </a:cubicBezTo>
                  <a:cubicBezTo>
                    <a:pt x="5054178" y="12952"/>
                    <a:pt x="5057019" y="19809"/>
                    <a:pt x="5057019" y="26960"/>
                  </a:cubicBezTo>
                  <a:lnTo>
                    <a:pt x="5057019" y="1716437"/>
                  </a:lnTo>
                  <a:cubicBezTo>
                    <a:pt x="5057019" y="1723587"/>
                    <a:pt x="5054178" y="1730444"/>
                    <a:pt x="5049122" y="1735500"/>
                  </a:cubicBezTo>
                  <a:cubicBezTo>
                    <a:pt x="5044067" y="1740556"/>
                    <a:pt x="5037209" y="1743396"/>
                    <a:pt x="5030059" y="1743396"/>
                  </a:cubicBezTo>
                  <a:lnTo>
                    <a:pt x="26960" y="1743396"/>
                  </a:lnTo>
                  <a:cubicBezTo>
                    <a:pt x="19809" y="1743396"/>
                    <a:pt x="12952" y="1740556"/>
                    <a:pt x="7896" y="1735500"/>
                  </a:cubicBezTo>
                  <a:cubicBezTo>
                    <a:pt x="2840" y="1730444"/>
                    <a:pt x="0" y="1723587"/>
                    <a:pt x="0" y="1716437"/>
                  </a:cubicBezTo>
                  <a:lnTo>
                    <a:pt x="0" y="26960"/>
                  </a:lnTo>
                  <a:cubicBezTo>
                    <a:pt x="0" y="19809"/>
                    <a:pt x="2840" y="12952"/>
                    <a:pt x="7896" y="7896"/>
                  </a:cubicBezTo>
                  <a:cubicBezTo>
                    <a:pt x="12952" y="2840"/>
                    <a:pt x="19809" y="0"/>
                    <a:pt x="26960" y="0"/>
                  </a:cubicBezTo>
                  <a:close/>
                </a:path>
              </a:pathLst>
            </a:custGeom>
            <a:solidFill>
              <a:srgbClr val="FFFFFF"/>
            </a:solidFill>
            <a:ln w="38100" cap="rnd">
              <a:solidFill>
                <a:srgbClr val="FF751F"/>
              </a:solidFill>
              <a:prstDash val="solid"/>
              <a:round/>
            </a:ln>
          </p:spPr>
        </p:sp>
        <p:sp>
          <p:nvSpPr>
            <p:cNvPr id="21" name="TextBox 21"/>
            <p:cNvSpPr txBox="1"/>
            <p:nvPr/>
          </p:nvSpPr>
          <p:spPr>
            <a:xfrm>
              <a:off x="0" y="-47625"/>
              <a:ext cx="5057019" cy="1791021"/>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0036875" y="4355739"/>
            <a:ext cx="5972225" cy="1126074"/>
          </a:xfrm>
          <a:prstGeom prst="rect">
            <a:avLst/>
          </a:prstGeom>
        </p:spPr>
        <p:txBody>
          <a:bodyPr lIns="0" tIns="0" rIns="0" bIns="0" rtlCol="0" anchor="t">
            <a:spAutoFit/>
          </a:bodyPr>
          <a:lstStyle/>
          <a:p>
            <a:pPr algn="ctr">
              <a:lnSpc>
                <a:spcPts val="3032"/>
              </a:lnSpc>
            </a:pPr>
            <a:r>
              <a:rPr lang="en-US" sz="2166" b="1">
                <a:solidFill>
                  <a:srgbClr val="000000"/>
                </a:solidFill>
                <a:latin typeface="Canva Sans Bold"/>
                <a:ea typeface="Canva Sans Bold"/>
                <a:cs typeface="Canva Sans Bold"/>
                <a:sym typeface="Canva Sans Bold"/>
              </a:rPr>
              <a:t>Contoh distribusi topik terhadap ayat pada tiga surat, yaitu Surat Al-Fatihah (Surat 1), Al-Baqarah (Surat 2), dan Ali Imran (Surat 3).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TextBox 16"/>
          <p:cNvSpPr txBox="1"/>
          <p:nvPr/>
        </p:nvSpPr>
        <p:spPr>
          <a:xfrm>
            <a:off x="2140233" y="1285638"/>
            <a:ext cx="11543683" cy="2025684"/>
          </a:xfrm>
          <a:prstGeom prst="rect">
            <a:avLst/>
          </a:prstGeom>
        </p:spPr>
        <p:txBody>
          <a:bodyPr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dirty="0">
              <a:solidFill>
                <a:srgbClr val="1800AD"/>
              </a:solidFill>
              <a:latin typeface="Archivo Narrow Bold"/>
              <a:ea typeface="Archivo Narrow Bold"/>
              <a:cs typeface="Archivo Narrow Bold"/>
              <a:sym typeface="Archivo Narrow Bold"/>
            </a:endParaRP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22 | Kesimpulan</a:t>
            </a:r>
          </a:p>
        </p:txBody>
      </p:sp>
      <p:sp>
        <p:nvSpPr>
          <p:cNvPr id="18" name="TextBox 18"/>
          <p:cNvSpPr txBox="1"/>
          <p:nvPr/>
        </p:nvSpPr>
        <p:spPr>
          <a:xfrm>
            <a:off x="1002433" y="3493247"/>
            <a:ext cx="16256867" cy="1289905"/>
          </a:xfrm>
          <a:prstGeom prst="rect">
            <a:avLst/>
          </a:prstGeom>
        </p:spPr>
        <p:txBody>
          <a:bodyPr lIns="0" tIns="0" rIns="0" bIns="0" rtlCol="0" anchor="t">
            <a:spAutoFit/>
          </a:bodyPr>
          <a:lstStyle/>
          <a:p>
            <a:pPr algn="ctr">
              <a:lnSpc>
                <a:spcPts val="3452"/>
              </a:lnSpc>
            </a:pPr>
            <a:r>
              <a:rPr lang="en-US" sz="2466" b="1">
                <a:solidFill>
                  <a:srgbClr val="000000"/>
                </a:solidFill>
                <a:latin typeface="Canva Sans Bold"/>
                <a:ea typeface="Canva Sans Bold"/>
                <a:cs typeface="Canva Sans Bold"/>
                <a:sym typeface="Canva Sans Bold"/>
              </a:rPr>
              <a:t>Secara keseluruhan model CTM mampu menghasilkan topik yang representatif meski dengan korelasi antar topik yang belum benar-benar optimal (berdasarkan nilai Cv = 0.517, NPMI= -0.226, Umass = -5.0661, UCI = -2.1370 dan Perplexity 1720.28)</a:t>
            </a:r>
          </a:p>
        </p:txBody>
      </p:sp>
      <p:sp>
        <p:nvSpPr>
          <p:cNvPr id="19" name="TextBox 19"/>
          <p:cNvSpPr txBox="1"/>
          <p:nvPr/>
        </p:nvSpPr>
        <p:spPr>
          <a:xfrm>
            <a:off x="1028700" y="5234272"/>
            <a:ext cx="16256867" cy="1325465"/>
          </a:xfrm>
          <a:prstGeom prst="rect">
            <a:avLst/>
          </a:prstGeom>
        </p:spPr>
        <p:txBody>
          <a:bodyPr lIns="0" tIns="0" rIns="0" bIns="0" rtlCol="0" anchor="t">
            <a:spAutoFit/>
          </a:bodyPr>
          <a:lstStyle/>
          <a:p>
            <a:pPr algn="ctr">
              <a:lnSpc>
                <a:spcPts val="3592"/>
              </a:lnSpc>
            </a:pPr>
            <a:r>
              <a:rPr lang="en-US" sz="2566" b="1">
                <a:solidFill>
                  <a:srgbClr val="000000"/>
                </a:solidFill>
                <a:latin typeface="Canva Sans Bold"/>
                <a:ea typeface="Canva Sans Bold"/>
                <a:cs typeface="Canva Sans Bold"/>
                <a:sym typeface="Canva Sans Bold"/>
              </a:rPr>
              <a:t>Model BERTopic mampu menghasilkan topik dengan koherensi semantik yang cukup baik dengan nilai 0.5735 (C_v &gt; 0,5), Nilai NPMI = 0.0530 yang bernilai positif menunjukkan bahwa terdapat asosiasi statistik yang bermakna antar kata dalam topik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3863225" y="-4766268"/>
            <a:ext cx="9848495" cy="18613993"/>
          </a:xfrm>
          <a:custGeom>
            <a:avLst/>
            <a:gdLst/>
            <a:ahLst/>
            <a:cxnLst/>
            <a:rect l="l" t="t" r="r" b="b"/>
            <a:pathLst>
              <a:path w="9848495" h="18613993">
                <a:moveTo>
                  <a:pt x="0" y="18613994"/>
                </a:moveTo>
                <a:lnTo>
                  <a:pt x="9848494" y="18613994"/>
                </a:lnTo>
                <a:lnTo>
                  <a:pt x="9848494" y="0"/>
                </a:lnTo>
                <a:lnTo>
                  <a:pt x="0" y="0"/>
                </a:lnTo>
                <a:lnTo>
                  <a:pt x="0" y="18613994"/>
                </a:lnTo>
                <a:close/>
              </a:path>
            </a:pathLst>
          </a:custGeom>
          <a:blipFill>
            <a:blip>
              <a:alphaModFix amt="6999"/>
              <a:extLst>
                <a:ext uri="{96DAC541-7B7A-43D3-8B79-37D633B846F1}">
                  <asvg:svgBlip xmlns:asvg="http://schemas.microsoft.com/office/drawing/2016/SVG/main" r:embed="rId2"/>
                </a:ext>
              </a:extLst>
            </a:blip>
            <a:stretch>
              <a:fillRect/>
            </a:stretch>
          </a:blipFill>
        </p:spPr>
      </p:sp>
      <p:sp>
        <p:nvSpPr>
          <p:cNvPr id="3" name="Freeform 3"/>
          <p:cNvSpPr/>
          <p:nvPr/>
        </p:nvSpPr>
        <p:spPr>
          <a:xfrm>
            <a:off x="2341902"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028700"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7" name="Group 7"/>
          <p:cNvGrpSpPr/>
          <p:nvPr/>
        </p:nvGrpSpPr>
        <p:grpSpPr>
          <a:xfrm>
            <a:off x="1028700" y="3648296"/>
            <a:ext cx="16230600" cy="2625312"/>
            <a:chOff x="0" y="0"/>
            <a:chExt cx="4274726" cy="691440"/>
          </a:xfrm>
        </p:grpSpPr>
        <p:sp>
          <p:nvSpPr>
            <p:cNvPr id="8" name="Freeform 8"/>
            <p:cNvSpPr/>
            <p:nvPr/>
          </p:nvSpPr>
          <p:spPr>
            <a:xfrm>
              <a:off x="0" y="0"/>
              <a:ext cx="4274726" cy="691440"/>
            </a:xfrm>
            <a:custGeom>
              <a:avLst/>
              <a:gdLst/>
              <a:ahLst/>
              <a:cxnLst/>
              <a:rect l="l" t="t" r="r" b="b"/>
              <a:pathLst>
                <a:path w="4274726" h="691440">
                  <a:moveTo>
                    <a:pt x="0" y="0"/>
                  </a:moveTo>
                  <a:lnTo>
                    <a:pt x="4274726" y="0"/>
                  </a:lnTo>
                  <a:lnTo>
                    <a:pt x="4274726" y="691440"/>
                  </a:lnTo>
                  <a:lnTo>
                    <a:pt x="0" y="691440"/>
                  </a:lnTo>
                  <a:close/>
                </a:path>
              </a:pathLst>
            </a:custGeom>
            <a:solidFill>
              <a:srgbClr val="3C6295"/>
            </a:solidFill>
          </p:spPr>
        </p:sp>
        <p:sp>
          <p:nvSpPr>
            <p:cNvPr id="9" name="TextBox 9"/>
            <p:cNvSpPr txBox="1"/>
            <p:nvPr/>
          </p:nvSpPr>
          <p:spPr>
            <a:xfrm>
              <a:off x="0" y="-47625"/>
              <a:ext cx="4274726" cy="739065"/>
            </a:xfrm>
            <a:prstGeom prst="rect">
              <a:avLst/>
            </a:prstGeom>
          </p:spPr>
          <p:txBody>
            <a:bodyPr lIns="50800" tIns="50800" rIns="50800" bIns="50800" rtlCol="0" anchor="ctr"/>
            <a:lstStyle/>
            <a:p>
              <a:pPr algn="ctr">
                <a:lnSpc>
                  <a:spcPts val="2659"/>
                </a:lnSpc>
              </a:pPr>
              <a:endParaRPr>
                <a:highlight>
                  <a:srgbClr val="FFFF00"/>
                </a:highlight>
              </a:endParaRPr>
            </a:p>
          </p:txBody>
        </p:sp>
      </p:grpSp>
      <p:sp>
        <p:nvSpPr>
          <p:cNvPr id="16" name="TextBox 16"/>
          <p:cNvSpPr txBox="1"/>
          <p:nvPr/>
        </p:nvSpPr>
        <p:spPr>
          <a:xfrm>
            <a:off x="4604432" y="3391121"/>
            <a:ext cx="10413877" cy="2299217"/>
          </a:xfrm>
          <a:prstGeom prst="rect">
            <a:avLst/>
          </a:prstGeom>
        </p:spPr>
        <p:txBody>
          <a:bodyPr lIns="0" tIns="0" rIns="0" bIns="0" rtlCol="0" anchor="t">
            <a:spAutoFit/>
          </a:bodyPr>
          <a:lstStyle/>
          <a:p>
            <a:pPr algn="ctr">
              <a:lnSpc>
                <a:spcPts val="18878"/>
              </a:lnSpc>
              <a:spcBef>
                <a:spcPct val="0"/>
              </a:spcBef>
            </a:pPr>
            <a:r>
              <a:rPr lang="en-US" sz="13484" b="1" dirty="0" err="1">
                <a:solidFill>
                  <a:srgbClr val="FFFFFF"/>
                </a:solidFill>
                <a:latin typeface="Archivo Narrow Bold"/>
                <a:ea typeface="Archivo Narrow Bold"/>
                <a:cs typeface="Archivo Narrow Bold"/>
                <a:sym typeface="Archivo Narrow Bold"/>
              </a:rPr>
              <a:t>Terimakasih</a:t>
            </a:r>
            <a:endParaRPr lang="en-US" sz="13484" b="1" dirty="0">
              <a:solidFill>
                <a:srgbClr val="FFFFFF"/>
              </a:solidFill>
              <a:latin typeface="Archivo Narrow Bold"/>
              <a:ea typeface="Archivo Narrow Bold"/>
              <a:cs typeface="Archivo Narrow Bold"/>
              <a:sym typeface="Archivo Narrow Bold"/>
            </a:endParaRPr>
          </a:p>
        </p:txBody>
      </p:sp>
      <p:grpSp>
        <p:nvGrpSpPr>
          <p:cNvPr id="20" name="Group 9">
            <a:extLst>
              <a:ext uri="{FF2B5EF4-FFF2-40B4-BE49-F238E27FC236}">
                <a16:creationId xmlns:a16="http://schemas.microsoft.com/office/drawing/2014/main" id="{9836C6D6-414B-80BC-DBC0-44A0EEDDB8DC}"/>
              </a:ext>
            </a:extLst>
          </p:cNvPr>
          <p:cNvGrpSpPr/>
          <p:nvPr/>
        </p:nvGrpSpPr>
        <p:grpSpPr>
          <a:xfrm>
            <a:off x="9601200" y="1333500"/>
            <a:ext cx="8115300" cy="137058"/>
            <a:chOff x="0" y="0"/>
            <a:chExt cx="2137363" cy="36097"/>
          </a:xfrm>
        </p:grpSpPr>
        <p:sp>
          <p:nvSpPr>
            <p:cNvPr id="21" name="Freeform 10">
              <a:extLst>
                <a:ext uri="{FF2B5EF4-FFF2-40B4-BE49-F238E27FC236}">
                  <a16:creationId xmlns:a16="http://schemas.microsoft.com/office/drawing/2014/main" id="{0F83FDBB-916C-145C-DCE5-A15919895C0C}"/>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22" name="TextBox 11">
              <a:extLst>
                <a:ext uri="{FF2B5EF4-FFF2-40B4-BE49-F238E27FC236}">
                  <a16:creationId xmlns:a16="http://schemas.microsoft.com/office/drawing/2014/main" id="{C48EBB66-B018-E494-025F-737493D26662}"/>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23" name="Group 6">
            <a:extLst>
              <a:ext uri="{FF2B5EF4-FFF2-40B4-BE49-F238E27FC236}">
                <a16:creationId xmlns:a16="http://schemas.microsoft.com/office/drawing/2014/main" id="{4B9F312A-8671-864C-53DD-A75DB7EEEA73}"/>
              </a:ext>
            </a:extLst>
          </p:cNvPr>
          <p:cNvGrpSpPr/>
          <p:nvPr/>
        </p:nvGrpSpPr>
        <p:grpSpPr>
          <a:xfrm>
            <a:off x="1028700" y="1356361"/>
            <a:ext cx="8572501" cy="1260006"/>
            <a:chOff x="0" y="-295751"/>
            <a:chExt cx="2257778" cy="331848"/>
          </a:xfrm>
        </p:grpSpPr>
        <p:sp>
          <p:nvSpPr>
            <p:cNvPr id="24" name="Freeform 7">
              <a:extLst>
                <a:ext uri="{FF2B5EF4-FFF2-40B4-BE49-F238E27FC236}">
                  <a16:creationId xmlns:a16="http://schemas.microsoft.com/office/drawing/2014/main" id="{7F4AD406-32B5-B7C2-CCF6-9C5203AC05F3}"/>
                </a:ext>
              </a:extLst>
            </p:cNvPr>
            <p:cNvSpPr/>
            <p:nvPr/>
          </p:nvSpPr>
          <p:spPr>
            <a:xfrm>
              <a:off x="120415" y="-295751"/>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25" name="TextBox 8">
              <a:extLst>
                <a:ext uri="{FF2B5EF4-FFF2-40B4-BE49-F238E27FC236}">
                  <a16:creationId xmlns:a16="http://schemas.microsoft.com/office/drawing/2014/main" id="{10475774-DB31-4BBC-17B0-D7C157CF3C2C}"/>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1367</Words>
  <Application>Microsoft Office PowerPoint</Application>
  <PresentationFormat>Custom</PresentationFormat>
  <Paragraphs>260</Paragraphs>
  <Slides>24</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2</vt:i4>
      </vt:variant>
      <vt:variant>
        <vt:lpstr>Slide Titles</vt:lpstr>
      </vt:variant>
      <vt:variant>
        <vt:i4>24</vt:i4>
      </vt:variant>
    </vt:vector>
  </HeadingPairs>
  <TitlesOfParts>
    <vt:vector size="38" baseType="lpstr">
      <vt:lpstr>Calibri</vt:lpstr>
      <vt:lpstr>Montserrat Bold</vt:lpstr>
      <vt:lpstr>Antic</vt:lpstr>
      <vt:lpstr>Open Sauce Bold</vt:lpstr>
      <vt:lpstr>Antic Bold</vt:lpstr>
      <vt:lpstr>Montserrat</vt:lpstr>
      <vt:lpstr>Canva Sans</vt:lpstr>
      <vt:lpstr>Archivo Narrow Bold</vt:lpstr>
      <vt:lpstr>Arial</vt:lpstr>
      <vt:lpstr>Canva Sans Bold</vt:lpstr>
      <vt:lpstr>Arimo Bold</vt:lpstr>
      <vt:lpstr>Office Theme</vt:lpstr>
      <vt:lpstr>Worksheet</vt:lpstr>
      <vt:lpstr>Microsoft Excel 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tesis</dc:title>
  <dc:creator>rido mr</dc:creator>
  <cp:lastModifiedBy>rido mr</cp:lastModifiedBy>
  <cp:revision>4</cp:revision>
  <dcterms:created xsi:type="dcterms:W3CDTF">2006-08-16T00:00:00Z</dcterms:created>
  <dcterms:modified xsi:type="dcterms:W3CDTF">2026-06-10T15:16:14Z</dcterms:modified>
  <dc:identifier>DAHLdvlc6Pk</dc:identifier>
</cp:coreProperties>
</file>